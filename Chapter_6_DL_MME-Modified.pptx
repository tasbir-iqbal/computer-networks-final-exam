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12192000"/>
  <p:notesSz cx="6858000" cy="9144000"/>
  <p:embeddedFontLst>
    <p:embeddedFont>
      <p:font typeface="Tahoma"/>
      <p:regular r:id="rId48"/>
      <p:bold r:id="rId49"/>
    </p:embeddedFont>
    <p:embeddedFont>
      <p:font typeface="Gill Sans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56">
          <p15:clr>
            <a:srgbClr val="A4A3A4"/>
          </p15:clr>
        </p15:guide>
        <p15:guide id="2" orient="horz" pos="3312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jVP2xaV4FgkGDjePDXD7pBqdG9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56"/>
        <p:guide pos="33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Tahoma-regular.fntdata"/><Relationship Id="rId47" Type="http://schemas.openxmlformats.org/officeDocument/2006/relationships/slide" Target="slides/slide41.xml"/><Relationship Id="rId49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illSans-bold.fntdata"/><Relationship Id="rId50" Type="http://schemas.openxmlformats.org/officeDocument/2006/relationships/font" Target="fonts/GillSans-regular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8" name="Google Shape;1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6" name="Google Shape;1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2" name="Google Shape;16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9" name="Google Shape;16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8" name="Google Shape;16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7" name="Google Shape;17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2" name="Google Shape;17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5" name="Google Shape;17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7" name="Google Shape;18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3" name="Google Shape;19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0" name="Google Shape;205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8" name="Google Shape;21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1" name="Google Shape;225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5" name="Google Shape;234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5" name="Google Shape;244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4" name="Google Shape;254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3" name="Google Shape;260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4" name="Google Shape;26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1" name="Google Shape;272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9" name="Google Shape;27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2" name="Google Shape;291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4" name="Google Shape;35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3" name="Google Shape;369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2" name="Google Shape;399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3" name="Google Shape;399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4" name="Google Shape;399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Google Shape;430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7" name="Google Shape;430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8" name="Google Shape;430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3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None/>
              <a:defRPr/>
            </a:lvl1pPr>
            <a:lvl2pPr lvl="1" algn="ctr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1" type="body"/>
          </p:nvPr>
        </p:nvSpPr>
        <p:spPr>
          <a:xfrm>
            <a:off x="711200" y="1611313"/>
            <a:ext cx="10363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4" name="Google Shape;34;p52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3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" type="body"/>
          </p:nvPr>
        </p:nvSpPr>
        <p:spPr>
          <a:xfrm>
            <a:off x="711200" y="1611313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0" name="Google Shape;40;p53"/>
          <p:cNvSpPr txBox="1"/>
          <p:nvPr>
            <p:ph idx="2" type="body"/>
          </p:nvPr>
        </p:nvSpPr>
        <p:spPr>
          <a:xfrm>
            <a:off x="5994400" y="1611313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1" name="Google Shape;41;p53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3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7" name="Google Shape;47;p5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8" name="Google Shape;48;p5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9" name="Google Shape;49;p5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indent="-355600" lvl="1" marL="9144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0" name="Google Shape;50;p54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5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5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SzPts val="2080"/>
              <a:buChar char="❖"/>
              <a:defRPr sz="3200"/>
            </a:lvl1pPr>
            <a:lvl2pPr indent="-406400" lvl="1" marL="9144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61" name="Google Shape;61;p5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2" name="Google Shape;62;p56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6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9" name="Google Shape;69;p57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" type="body"/>
          </p:nvPr>
        </p:nvSpPr>
        <p:spPr>
          <a:xfrm rot="5400000">
            <a:off x="3568700" y="-1246187"/>
            <a:ext cx="46482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9"/>
          <p:cNvSpPr txBox="1"/>
          <p:nvPr>
            <p:ph type="title"/>
          </p:nvPr>
        </p:nvSpPr>
        <p:spPr>
          <a:xfrm rot="5400000">
            <a:off x="6763544" y="1948657"/>
            <a:ext cx="6030913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1" type="body"/>
          </p:nvPr>
        </p:nvSpPr>
        <p:spPr>
          <a:xfrm rot="5400000">
            <a:off x="1480344" y="-540543"/>
            <a:ext cx="6030913" cy="7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0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0"/>
          <p:cNvSpPr txBox="1"/>
          <p:nvPr>
            <p:ph idx="1" type="body"/>
          </p:nvPr>
        </p:nvSpPr>
        <p:spPr>
          <a:xfrm>
            <a:off x="711200" y="1611313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7" name="Google Shape;87;p60"/>
          <p:cNvSpPr txBox="1"/>
          <p:nvPr>
            <p:ph idx="2" type="body"/>
          </p:nvPr>
        </p:nvSpPr>
        <p:spPr>
          <a:xfrm>
            <a:off x="5994400" y="1611313"/>
            <a:ext cx="50800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8" name="Google Shape;88;p60"/>
          <p:cNvSpPr txBox="1"/>
          <p:nvPr>
            <p:ph idx="3" type="body"/>
          </p:nvPr>
        </p:nvSpPr>
        <p:spPr>
          <a:xfrm>
            <a:off x="5994400" y="4011613"/>
            <a:ext cx="50800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indent="-342900" lvl="1" marL="9144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9" name="Google Shape;89;p60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0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0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l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711200" y="1611313"/>
            <a:ext cx="10363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4" name="Google Shape;94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22.jpg"/><Relationship Id="rId5" Type="http://schemas.openxmlformats.org/officeDocument/2006/relationships/hyperlink" Target="http://meet.google.com/rca-cwkd-cm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11" Type="http://schemas.openxmlformats.org/officeDocument/2006/relationships/image" Target="../media/image8.png"/><Relationship Id="rId22" Type="http://schemas.openxmlformats.org/officeDocument/2006/relationships/image" Target="../media/image18.png"/><Relationship Id="rId10" Type="http://schemas.openxmlformats.org/officeDocument/2006/relationships/image" Target="../media/image10.png"/><Relationship Id="rId21" Type="http://schemas.openxmlformats.org/officeDocument/2006/relationships/image" Target="../media/image26.png"/><Relationship Id="rId13" Type="http://schemas.openxmlformats.org/officeDocument/2006/relationships/image" Target="../media/image9.png"/><Relationship Id="rId12" Type="http://schemas.openxmlformats.org/officeDocument/2006/relationships/image" Target="../media/image14.png"/><Relationship Id="rId23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7.png"/><Relationship Id="rId15" Type="http://schemas.openxmlformats.org/officeDocument/2006/relationships/image" Target="../media/image11.png"/><Relationship Id="rId14" Type="http://schemas.openxmlformats.org/officeDocument/2006/relationships/image" Target="../media/image7.png"/><Relationship Id="rId17" Type="http://schemas.openxmlformats.org/officeDocument/2006/relationships/image" Target="../media/image15.png"/><Relationship Id="rId16" Type="http://schemas.openxmlformats.org/officeDocument/2006/relationships/image" Target="../media/image13.png"/><Relationship Id="rId5" Type="http://schemas.openxmlformats.org/officeDocument/2006/relationships/image" Target="../media/image4.png"/><Relationship Id="rId19" Type="http://schemas.openxmlformats.org/officeDocument/2006/relationships/image" Target="../media/image17.png"/><Relationship Id="rId6" Type="http://schemas.openxmlformats.org/officeDocument/2006/relationships/image" Target="../media/image6.png"/><Relationship Id="rId18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gif"/><Relationship Id="rId4" Type="http://schemas.openxmlformats.org/officeDocument/2006/relationships/image" Target="../media/image31.jpg"/><Relationship Id="rId9" Type="http://schemas.openxmlformats.org/officeDocument/2006/relationships/image" Target="../media/image18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idx="11" type="ftr"/>
          </p:nvPr>
        </p:nvSpPr>
        <p:spPr>
          <a:xfrm>
            <a:off x="7435851" y="6467475"/>
            <a:ext cx="3860800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</p:txBody>
      </p:sp>
      <p:sp>
        <p:nvSpPr>
          <p:cNvPr id="121" name="Google Shape;121;p1"/>
          <p:cNvSpPr txBox="1"/>
          <p:nvPr>
            <p:ph idx="12" type="sldNum"/>
          </p:nvPr>
        </p:nvSpPr>
        <p:spPr>
          <a:xfrm>
            <a:off x="11099801" y="6462714"/>
            <a:ext cx="901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1895476" y="180976"/>
            <a:ext cx="5688013" cy="222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Noto Sans Symbols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Chapter 6</a:t>
            </a:r>
            <a:b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Data Link Layer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Noto Sans Symbols"/>
              <a:buNone/>
            </a:pPr>
            <a:r>
              <a:rPr b="0" i="0" lang="en-US" sz="40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(</a:t>
            </a:r>
            <a:r>
              <a:rPr b="0" i="0" lang="en-US" sz="40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Sec – 6.1.1, 6.3, 6.4.1 &amp; 6.7</a:t>
            </a:r>
            <a:r>
              <a:rPr b="0" i="0" lang="en-US" sz="40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0" i="0" sz="4000" u="none" cap="none" strike="noStrik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7708901" y="3078164"/>
            <a:ext cx="2881313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7</a:t>
            </a:r>
            <a:r>
              <a:rPr b="0" baseline="3000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th</a:t>
            </a:r>
            <a: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 edition </a:t>
            </a:r>
            <a:b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Jim Kurose, Keith Ross</a:t>
            </a:r>
            <a:b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Addison-Wesley</a:t>
            </a:r>
            <a:b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000" u="none" cap="none" strike="noStrike">
                <a:solidFill>
                  <a:srgbClr val="008000"/>
                </a:solidFill>
                <a:latin typeface="Gill Sans"/>
                <a:ea typeface="Gill Sans"/>
                <a:cs typeface="Gill Sans"/>
                <a:sym typeface="Gill Sans"/>
              </a:rPr>
              <a:t>March 2017</a:t>
            </a:r>
            <a:endParaRPr/>
          </a:p>
        </p:txBody>
      </p:sp>
      <p:pic>
        <p:nvPicPr>
          <p:cNvPr descr="underline_base" id="124" name="Google Shape;1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5476" y="2329962"/>
            <a:ext cx="54705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e_cover.jpg" id="125" name="Google Shape;1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525" y="511176"/>
            <a:ext cx="2306638" cy="277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/>
          <p:nvPr/>
        </p:nvSpPr>
        <p:spPr>
          <a:xfrm>
            <a:off x="1826419" y="2647840"/>
            <a:ext cx="5826125" cy="379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Instructor: </a:t>
            </a:r>
            <a:r>
              <a:rPr b="0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Mohammad Mamun Elahi</a:t>
            </a:r>
            <a:endParaRPr b="0" i="0" sz="2000" u="none" cap="none" strike="noStrike">
              <a:solidFill>
                <a:srgbClr val="3333C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Office: </a:t>
            </a:r>
            <a:r>
              <a:rPr b="0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r>
              <a:rPr b="0" baseline="30000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th</a:t>
            </a:r>
            <a:r>
              <a:rPr b="0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 Floor (Room # 522)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Email: </a:t>
            </a:r>
            <a:r>
              <a:rPr b="0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mmelahi@cse.uiu.ac.bd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Class Location: </a:t>
            </a:r>
            <a:r>
              <a:rPr b="0" i="0" lang="en-US" sz="2000" u="sng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http://meet.google.com/rca-cwkd-cmh</a:t>
            </a:r>
            <a:r>
              <a:rPr b="0" i="0" lang="en-US" sz="20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Lectures: </a:t>
            </a:r>
            <a:r>
              <a:rPr b="0" i="0" lang="en-US" sz="18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S W 12:10 pm (Sec A),  2-00 pm (Sec C)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Notes derived from “</a:t>
            </a:r>
            <a:r>
              <a:rPr b="0" i="1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Computer Networking: A Top Down Approach</a:t>
            </a:r>
            <a:r>
              <a:rPr b="0" i="1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Jim Kurose, Keith Ross, Addison-Wesley.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Slides are adapted from the companion web site of the book, as modified by </a:t>
            </a:r>
            <a:r>
              <a:rPr b="1" i="0" lang="en-US" sz="2000" u="none" cap="none" strike="noStrike">
                <a:solidFill>
                  <a:srgbClr val="3333CC"/>
                </a:solidFill>
                <a:latin typeface="Gill Sans"/>
                <a:ea typeface="Gill Sans"/>
                <a:cs typeface="Gill Sans"/>
                <a:sym typeface="Gill Sans"/>
              </a:rPr>
              <a:t>Mohammad Mamun Elahi</a:t>
            </a:r>
            <a:r>
              <a:rPr b="1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 and LANs: our goals</a:t>
            </a:r>
            <a:endParaRPr/>
          </a:p>
        </p:txBody>
      </p:sp>
      <p:sp>
        <p:nvSpPr>
          <p:cNvPr id="133" name="Google Shape;133;p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link layer services: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error detection, correction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sharing a broadcast channel: multiple access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link layer addressing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local area networks: Ethernet, VLANs</a:t>
            </a:r>
            <a:endParaRPr/>
          </a:p>
          <a:p>
            <a:pPr indent="-21272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datacenter networks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of various link layer technologies</a:t>
            </a:r>
            <a:endParaRPr sz="2800"/>
          </a:p>
        </p:txBody>
      </p:sp>
      <p:pic>
        <p:nvPicPr>
          <p:cNvPr descr="A train crossing a bridge over a body of water&#10;&#10;Description automatically generated"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543" y="349894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36" name="Google Shape;136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44" name="Google Shape;144;p3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980265" y="1388119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introduction</a:t>
            </a:r>
            <a:endParaRPr sz="4400"/>
          </a:p>
        </p:txBody>
      </p:sp>
      <p:sp>
        <p:nvSpPr>
          <p:cNvPr id="153" name="Google Shape;153;p4"/>
          <p:cNvSpPr txBox="1"/>
          <p:nvPr/>
        </p:nvSpPr>
        <p:spPr>
          <a:xfrm>
            <a:off x="1104900" y="1257300"/>
            <a:ext cx="5622601" cy="41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terminology: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and routers: nodes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channels that connect adjacent nodes along communication path: links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wired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layer-2 packet: </a:t>
            </a:r>
            <a:r>
              <a:rPr b="0" i="1" lang="en-US" sz="3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encapsulates datagram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4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57" name="Google Shape;157;p4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4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9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4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64" name="Google Shape;164;p4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6" name="Google Shape;166;p4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4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4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4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171" name="Google Shape;171;p4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172" name="Google Shape;172;p4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73" name="Google Shape;173;p4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4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6" name="Google Shape;176;p4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4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4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4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4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81" name="Google Shape;181;p4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185" name="Google Shape;185;p4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6" name="Google Shape;186;p4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7" name="Google Shape;187;p4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" name="Google Shape;188;p4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9" name="Google Shape;189;p4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0" name="Google Shape;190;p4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1" name="Google Shape;191;p4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2" name="Google Shape;192;p4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3" name="Google Shape;193;p4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6" name="Google Shape;196;p4"/>
          <p:cNvCxnSpPr/>
          <p:nvPr/>
        </p:nvCxnSpPr>
        <p:spPr>
          <a:xfrm flipH="1" rot="5400000">
            <a:off x="9789609" y="5251739"/>
            <a:ext cx="388062" cy="756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4"/>
          <p:cNvCxnSpPr/>
          <p:nvPr/>
        </p:nvCxnSpPr>
        <p:spPr>
          <a:xfrm rot="10800000">
            <a:off x="10209926" y="5405286"/>
            <a:ext cx="0" cy="1143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4"/>
          <p:cNvCxnSpPr/>
          <p:nvPr/>
        </p:nvCxnSpPr>
        <p:spPr>
          <a:xfrm>
            <a:off x="9432959" y="4838517"/>
            <a:ext cx="524483" cy="26153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4"/>
          <p:cNvCxnSpPr/>
          <p:nvPr/>
        </p:nvCxnSpPr>
        <p:spPr>
          <a:xfrm flipH="1" rot="10800000">
            <a:off x="8850066" y="4838517"/>
            <a:ext cx="569255" cy="24626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4"/>
          <p:cNvCxnSpPr/>
          <p:nvPr/>
        </p:nvCxnSpPr>
        <p:spPr>
          <a:xfrm>
            <a:off x="8821744" y="5108876"/>
            <a:ext cx="1030502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4"/>
          <p:cNvCxnSpPr/>
          <p:nvPr/>
        </p:nvCxnSpPr>
        <p:spPr>
          <a:xfrm>
            <a:off x="8210207" y="5117334"/>
            <a:ext cx="226800" cy="1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4"/>
          <p:cNvCxnSpPr/>
          <p:nvPr/>
        </p:nvCxnSpPr>
        <p:spPr>
          <a:xfrm flipH="1" rot="10800000">
            <a:off x="7948367" y="5290470"/>
            <a:ext cx="412750" cy="1270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4"/>
          <p:cNvCxnSpPr/>
          <p:nvPr/>
        </p:nvCxnSpPr>
        <p:spPr>
          <a:xfrm flipH="1">
            <a:off x="8373817" y="5282252"/>
            <a:ext cx="68080" cy="29396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4"/>
          <p:cNvCxnSpPr/>
          <p:nvPr/>
        </p:nvCxnSpPr>
        <p:spPr>
          <a:xfrm rot="10800000">
            <a:off x="8488731" y="5307931"/>
            <a:ext cx="280374" cy="26987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4"/>
          <p:cNvCxnSpPr/>
          <p:nvPr/>
        </p:nvCxnSpPr>
        <p:spPr>
          <a:xfrm>
            <a:off x="8488731" y="5258048"/>
            <a:ext cx="914184" cy="468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4"/>
          <p:cNvCxnSpPr/>
          <p:nvPr/>
        </p:nvCxnSpPr>
        <p:spPr>
          <a:xfrm>
            <a:off x="8247778" y="3829970"/>
            <a:ext cx="0" cy="13176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4"/>
          <p:cNvCxnSpPr/>
          <p:nvPr/>
        </p:nvCxnSpPr>
        <p:spPr>
          <a:xfrm flipH="1" rot="10800000">
            <a:off x="7896666" y="4041107"/>
            <a:ext cx="168275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4"/>
          <p:cNvCxnSpPr/>
          <p:nvPr/>
        </p:nvCxnSpPr>
        <p:spPr>
          <a:xfrm flipH="1" rot="5400000">
            <a:off x="9885545" y="5583471"/>
            <a:ext cx="366793" cy="148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4"/>
          <p:cNvCxnSpPr/>
          <p:nvPr/>
        </p:nvCxnSpPr>
        <p:spPr>
          <a:xfrm flipH="1" rot="10800000">
            <a:off x="8459425" y="5036562"/>
            <a:ext cx="404236" cy="20777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4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1" name="Google Shape;211;p4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2" name="Google Shape;212;p4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3" name="Google Shape;213;p4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4" name="Google Shape;214;p4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5" name="Google Shape;215;p4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6" name="Google Shape;216;p4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7" name="Google Shape;217;p4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8" name="Google Shape;218;p4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4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tenna_radiation_stylized" id="220" name="Google Shape;2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238" y="3813930"/>
            <a:ext cx="506412" cy="106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enna_radiation_stylized" id="221" name="Google Shape;2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2073" y="5480938"/>
            <a:ext cx="452014" cy="95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tower_radiation copy"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0866" y="2158167"/>
            <a:ext cx="457200" cy="33276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4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ccess_point_stylized_small" id="225" name="Google Shape;22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226" name="Google Shape;2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4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228" name="Google Shape;228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" name="Google Shape;230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" name="Google Shape;231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5" name="Google Shape;235;p4"/>
          <p:cNvGrpSpPr/>
          <p:nvPr/>
        </p:nvGrpSpPr>
        <p:grpSpPr>
          <a:xfrm>
            <a:off x="8311829" y="5180504"/>
            <a:ext cx="309187" cy="167750"/>
            <a:chOff x="3668110" y="2448910"/>
            <a:chExt cx="3794234" cy="2165130"/>
          </a:xfrm>
        </p:grpSpPr>
        <p:sp>
          <p:nvSpPr>
            <p:cNvPr id="236" name="Google Shape;236;p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" name="Google Shape;238;p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39" name="Google Shape;239;p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3" name="Google Shape;243;p4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244" name="Google Shape;244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6" name="Google Shape;246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7" name="Google Shape;247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1" name="Google Shape;251;p4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52" name="Google Shape;252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4" name="Google Shape;254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5" name="Google Shape;255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4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60" name="Google Shape;260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2" name="Google Shape;262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7" name="Google Shape;267;p4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68" name="Google Shape;268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0" name="Google Shape;270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1" name="Google Shape;271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4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76" name="Google Shape;276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" name="Google Shape;278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" name="Google Shape;279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3" name="Google Shape;283;p4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84" name="Google Shape;284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6" name="Google Shape;286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7" name="Google Shape;287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1" name="Google Shape;291;p4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92" name="Google Shape;292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" name="Google Shape;294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" name="Google Shape;295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9" name="Google Shape;299;p4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00" name="Google Shape;300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2" name="Google Shape;302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3" name="Google Shape;303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7" name="Google Shape;307;p4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08" name="Google Shape;308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0" name="Google Shape;310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1" name="Google Shape;311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5" name="Google Shape;315;p4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316" name="Google Shape;316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8" name="Google Shape;318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" name="Google Shape;319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" name="Google Shape;323;p4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324" name="Google Shape;32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25" name="Google Shape;325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7" name="Google Shape;3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" name="Google Shape;334;p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35" name="Google Shape;335;p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1" name="Google Shape;341;p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4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48" name="Google Shape;34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9" name="Google Shape;349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" name="Google Shape;350;p4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51" name="Google Shape;35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52" name="Google Shape;352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4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54" name="Google Shape;354;p4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55" name="Google Shape;355;p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56" name="Google Shape;356;p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p4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58" name="Google Shape;358;p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9" name="Google Shape;359;p4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4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4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4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4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4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5" name="Google Shape;365;p4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66" name="Google Shape;366;p4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4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4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4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4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2" name="Google Shape;372;p4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4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4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4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4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4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79" name="Google Shape;379;p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0" name="Google Shape;380;p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" name="Google Shape;381;p4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82" name="Google Shape;382;p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83" name="Google Shape;383;p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4" name="Google Shape;384;p4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85" name="Google Shape;385;p4"/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386" name="Google Shape;386;p4"/>
              <p:cNvCxnSpPr/>
              <p:nvPr/>
            </p:nvCxnSpPr>
            <p:spPr>
              <a:xfrm>
                <a:off x="5182936" y="2914214"/>
                <a:ext cx="153344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387" name="Google Shape;387;p4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88" name="Google Shape;388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9" name="Google Shape;389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90" name="Google Shape;390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91" name="Google Shape;391;p4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2" name="Google Shape;392;p4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393" name="Google Shape;393;p4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94" name="Google Shape;394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95" name="Google Shape;395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96" name="Google Shape;396;p4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97" name="Google Shape;397;p4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98" name="Google Shape;398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4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401" name="Google Shape;401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2" name="Google Shape;402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4" name="Google Shape;404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" name="Google Shape;411;p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12" name="Google Shape;412;p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8" name="Google Shape;418;p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4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25" name="Google Shape;425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4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28" name="Google Shape;428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4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31" name="Google Shape;431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2" name="Google Shape;432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4" name="Google Shape;434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" name="Google Shape;441;p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42" name="Google Shape;442;p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8" name="Google Shape;448;p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4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4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59" name="Google Shape;459;p4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4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4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63" name="Google Shape;463;p4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4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4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68" name="Google Shape;468;p4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4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4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72" name="Google Shape;472;p4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4" name="Google Shape;474;p4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4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86" name="Google Shape;486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4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89" name="Google Shape;489;p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90" name="Google Shape;490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" name="Google Shape;491;p4"/>
          <p:cNvGrpSpPr/>
          <p:nvPr/>
        </p:nvGrpSpPr>
        <p:grpSpPr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492" name="Google Shape;492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7" name="Google Shape;497;p4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98" name="Google Shape;498;p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4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4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" name="Google Shape;501;p4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02" name="Google Shape;502;p4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4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6" name="Google Shape;506;p4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07" name="Google Shape;507;p4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" name="Google Shape;509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0" name="Google Shape;510;p4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1" name="Google Shape;511;p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4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3" name="Google Shape;513;p4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4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25" name="Google Shape;525;p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0" name="Google Shape;530;p4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31" name="Google Shape;531;p4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3" name="Google Shape;533;p4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4" name="Google Shape;534;p4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35" name="Google Shape;535;p4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7" name="Google Shape;537;p4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9" name="Google Shape;539;p4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40" name="Google Shape;540;p4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4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2" name="Google Shape;542;p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3" name="Google Shape;543;p4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44" name="Google Shape;544;p4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4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6" name="Google Shape;546;p4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4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8" name="Google Shape;558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9" name="Google Shape;559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60" name="Google Shape;560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61" name="Google Shape;561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5" name="Google Shape;565;p4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66" name="Google Shape;566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67" name="Google Shape;567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68" name="Google Shape;568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69" name="Google Shape;569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3" name="Google Shape;573;p4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74" name="Google Shape;574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5" name="Google Shape;575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6" name="Google Shape;576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7" name="Google Shape;577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1" name="Google Shape;581;p4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82" name="Google Shape;582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3" name="Google Shape;583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4" name="Google Shape;584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" name="Google Shape;585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9" name="Google Shape;589;p4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90" name="Google Shape;590;p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1" name="Google Shape;591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2" name="Google Shape;592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Google Shape;593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7" name="Google Shape;597;p4"/>
          <p:cNvGrpSpPr/>
          <p:nvPr/>
        </p:nvGrpSpPr>
        <p:grpSpPr>
          <a:xfrm>
            <a:off x="7566349" y="3812814"/>
            <a:ext cx="496588" cy="96676"/>
            <a:chOff x="2199" y="955"/>
            <a:chExt cx="2547" cy="506"/>
          </a:xfrm>
        </p:grpSpPr>
        <p:sp>
          <p:nvSpPr>
            <p:cNvPr id="598" name="Google Shape;598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4"/>
          <p:cNvGrpSpPr/>
          <p:nvPr/>
        </p:nvGrpSpPr>
        <p:grpSpPr>
          <a:xfrm>
            <a:off x="7801777" y="3327400"/>
            <a:ext cx="269073" cy="46492"/>
            <a:chOff x="2199" y="955"/>
            <a:chExt cx="2547" cy="506"/>
          </a:xfrm>
        </p:grpSpPr>
        <p:sp>
          <p:nvSpPr>
            <p:cNvPr id="605" name="Google Shape;605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4"/>
          <p:cNvGrpSpPr/>
          <p:nvPr/>
        </p:nvGrpSpPr>
        <p:grpSpPr>
          <a:xfrm>
            <a:off x="7493802" y="3422650"/>
            <a:ext cx="269073" cy="46492"/>
            <a:chOff x="2199" y="955"/>
            <a:chExt cx="2547" cy="506"/>
          </a:xfrm>
        </p:grpSpPr>
        <p:sp>
          <p:nvSpPr>
            <p:cNvPr id="612" name="Google Shape;612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8" name="Google Shape;618;p4"/>
          <p:cNvGrpSpPr/>
          <p:nvPr/>
        </p:nvGrpSpPr>
        <p:grpSpPr>
          <a:xfrm>
            <a:off x="7439349" y="2355850"/>
            <a:ext cx="399726" cy="74090"/>
            <a:chOff x="2199" y="955"/>
            <a:chExt cx="2547" cy="506"/>
          </a:xfrm>
        </p:grpSpPr>
        <p:sp>
          <p:nvSpPr>
            <p:cNvPr id="619" name="Google Shape;619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" name="Google Shape;625;p4"/>
          <p:cNvGrpSpPr/>
          <p:nvPr/>
        </p:nvGrpSpPr>
        <p:grpSpPr>
          <a:xfrm>
            <a:off x="7756849" y="1863725"/>
            <a:ext cx="399726" cy="74090"/>
            <a:chOff x="2199" y="955"/>
            <a:chExt cx="2547" cy="506"/>
          </a:xfrm>
        </p:grpSpPr>
        <p:sp>
          <p:nvSpPr>
            <p:cNvPr id="626" name="Google Shape;626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4"/>
          <p:cNvGrpSpPr/>
          <p:nvPr/>
        </p:nvGrpSpPr>
        <p:grpSpPr>
          <a:xfrm>
            <a:off x="8709349" y="2057400"/>
            <a:ext cx="399726" cy="74090"/>
            <a:chOff x="2199" y="955"/>
            <a:chExt cx="2547" cy="506"/>
          </a:xfrm>
        </p:grpSpPr>
        <p:sp>
          <p:nvSpPr>
            <p:cNvPr id="633" name="Google Shape;633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9" name="Google Shape;639;p4"/>
          <p:cNvGrpSpPr/>
          <p:nvPr/>
        </p:nvGrpSpPr>
        <p:grpSpPr>
          <a:xfrm>
            <a:off x="8639499" y="2320925"/>
            <a:ext cx="399726" cy="74090"/>
            <a:chOff x="2199" y="955"/>
            <a:chExt cx="2547" cy="506"/>
          </a:xfrm>
        </p:grpSpPr>
        <p:sp>
          <p:nvSpPr>
            <p:cNvPr id="640" name="Google Shape;640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6" name="Google Shape;646;p4"/>
          <p:cNvGrpSpPr/>
          <p:nvPr/>
        </p:nvGrpSpPr>
        <p:grpSpPr>
          <a:xfrm>
            <a:off x="9245924" y="5476874"/>
            <a:ext cx="450526" cy="96315"/>
            <a:chOff x="2199" y="955"/>
            <a:chExt cx="2547" cy="506"/>
          </a:xfrm>
        </p:grpSpPr>
        <p:sp>
          <p:nvSpPr>
            <p:cNvPr id="647" name="Google Shape;647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4"/>
          <p:cNvGrpSpPr/>
          <p:nvPr/>
        </p:nvGrpSpPr>
        <p:grpSpPr>
          <a:xfrm>
            <a:off x="9195602" y="5857875"/>
            <a:ext cx="230973" cy="45719"/>
            <a:chOff x="2199" y="955"/>
            <a:chExt cx="2547" cy="506"/>
          </a:xfrm>
        </p:grpSpPr>
        <p:sp>
          <p:nvSpPr>
            <p:cNvPr id="654" name="Google Shape;654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0" name="Google Shape;660;p4"/>
          <p:cNvGrpSpPr/>
          <p:nvPr/>
        </p:nvGrpSpPr>
        <p:grpSpPr>
          <a:xfrm>
            <a:off x="9538502" y="5794375"/>
            <a:ext cx="230973" cy="45719"/>
            <a:chOff x="2199" y="955"/>
            <a:chExt cx="2547" cy="506"/>
          </a:xfrm>
        </p:grpSpPr>
        <p:sp>
          <p:nvSpPr>
            <p:cNvPr id="661" name="Google Shape;661;p4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4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4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4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4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p4"/>
          <p:cNvGrpSpPr/>
          <p:nvPr/>
        </p:nvGrpSpPr>
        <p:grpSpPr>
          <a:xfrm>
            <a:off x="7975063" y="2094561"/>
            <a:ext cx="466245" cy="434369"/>
            <a:chOff x="2920" y="1424"/>
            <a:chExt cx="326" cy="320"/>
          </a:xfrm>
        </p:grpSpPr>
        <p:sp>
          <p:nvSpPr>
            <p:cNvPr id="668" name="Google Shape;668;p4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9" name="Google Shape;669;p4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670" name="Google Shape;670;p4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4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4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4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4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5" name="Google Shape;675;p4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6" name="Google Shape;676;p4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77" name="Google Shape;677;p4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4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4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4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4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4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4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8" name="Google Shape;688;p4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9" name="Google Shape;689;p4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" name="Google Shape;690;p4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" name="Google Shape;691;p4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2" name="Google Shape;692;p4"/>
          <p:cNvGrpSpPr/>
          <p:nvPr/>
        </p:nvGrpSpPr>
        <p:grpSpPr>
          <a:xfrm>
            <a:off x="9885167" y="5352639"/>
            <a:ext cx="309187" cy="167750"/>
            <a:chOff x="3668110" y="2448910"/>
            <a:chExt cx="3794234" cy="2165130"/>
          </a:xfrm>
        </p:grpSpPr>
        <p:sp>
          <p:nvSpPr>
            <p:cNvPr id="693" name="Google Shape;693;p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" name="Google Shape;695;p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6" name="Google Shape;696;p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0" name="Google Shape;700;p4"/>
          <p:cNvSpPr txBox="1"/>
          <p:nvPr/>
        </p:nvSpPr>
        <p:spPr>
          <a:xfrm>
            <a:off x="1188030" y="5368348"/>
            <a:ext cx="4933787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layer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responsibility of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transferring datagram from one node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physically adjacent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over a li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nk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"/>
          <p:cNvSpPr/>
          <p:nvPr/>
        </p:nvSpPr>
        <p:spPr>
          <a:xfrm>
            <a:off x="1104900" y="5320145"/>
            <a:ext cx="5226627" cy="1233055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context</a:t>
            </a:r>
            <a:endParaRPr sz="4400"/>
          </a:p>
        </p:txBody>
      </p:sp>
      <p:sp>
        <p:nvSpPr>
          <p:cNvPr id="709" name="Google Shape;709;p5"/>
          <p:cNvSpPr txBox="1"/>
          <p:nvPr/>
        </p:nvSpPr>
        <p:spPr>
          <a:xfrm>
            <a:off x="959573" y="1533959"/>
            <a:ext cx="4873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transferred by different link protocols over different links: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WiFi on first link, Ethernet on next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 link protocol provides different services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may or may not provide reliable data transfer over link</a:t>
            </a:r>
            <a:endParaRPr/>
          </a:p>
        </p:txBody>
      </p:sp>
      <p:sp>
        <p:nvSpPr>
          <p:cNvPr id="710" name="Google Shape;710;p5"/>
          <p:cNvSpPr txBox="1"/>
          <p:nvPr/>
        </p:nvSpPr>
        <p:spPr>
          <a:xfrm>
            <a:off x="6904038" y="1493405"/>
            <a:ext cx="4664507" cy="46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transportation analogy: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 from Princeton to Lausanne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limo: Princeton to JFK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plane: JFK to Geneva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train: Geneva to Lausanne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tourist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 segment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communication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transportation mode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agent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 algorithm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1" name="Google Shape;711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</a:t>
            </a:r>
            <a:endParaRPr sz="4400"/>
          </a:p>
        </p:txBody>
      </p:sp>
      <p:sp>
        <p:nvSpPr>
          <p:cNvPr id="718" name="Google Shape;718;p6"/>
          <p:cNvSpPr txBox="1"/>
          <p:nvPr/>
        </p:nvSpPr>
        <p:spPr>
          <a:xfrm>
            <a:off x="1201882" y="1425142"/>
            <a:ext cx="6529676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framing, link access: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 datagram into frame, adding header, trailer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access if shared medium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“MAC” addresses in frame headers identify source, destination (different from IP address!)</a:t>
            </a:r>
            <a:endParaRPr/>
          </a:p>
          <a:p>
            <a:pPr indent="-284163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delivery between adjacent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already know how to do this!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seldom used on low bit-error links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links: high error rates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both link-level and end-end reliability?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"/>
          <p:cNvSpPr/>
          <p:nvPr/>
        </p:nvSpPr>
        <p:spPr>
          <a:xfrm>
            <a:off x="9285510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0" name="Google Shape;720;p6"/>
          <p:cNvGrpSpPr/>
          <p:nvPr/>
        </p:nvGrpSpPr>
        <p:grpSpPr>
          <a:xfrm>
            <a:off x="9022376" y="3275911"/>
            <a:ext cx="615031" cy="694531"/>
            <a:chOff x="2920" y="1424"/>
            <a:chExt cx="326" cy="320"/>
          </a:xfrm>
        </p:grpSpPr>
        <p:sp>
          <p:nvSpPr>
            <p:cNvPr id="721" name="Google Shape;721;p6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2" name="Google Shape;722;p6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723" name="Google Shape;723;p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8" name="Google Shape;728;p6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6"/>
          <p:cNvGrpSpPr/>
          <p:nvPr/>
        </p:nvGrpSpPr>
        <p:grpSpPr>
          <a:xfrm>
            <a:off x="9122147" y="3619386"/>
            <a:ext cx="393690" cy="1049595"/>
            <a:chOff x="3130" y="3288"/>
            <a:chExt cx="410" cy="742"/>
          </a:xfrm>
        </p:grpSpPr>
        <p:cxnSp>
          <p:nvCxnSpPr>
            <p:cNvPr id="730" name="Google Shape;730;p6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6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6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6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6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p6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6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6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6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6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" name="Google Shape;740;p6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6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6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6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6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5" name="Google Shape;745;p6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746" name="Google Shape;74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7" name="Google Shape;747;p6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748" name="Google Shape;748;p6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6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4" name="Google Shape;754;p6"/>
          <p:cNvGrpSpPr/>
          <p:nvPr/>
        </p:nvGrpSpPr>
        <p:grpSpPr>
          <a:xfrm>
            <a:off x="7891681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755" name="Google Shape;75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6" name="Google Shape;756;p6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757" name="Google Shape;757;p6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6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6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63" name="Google Shape;763;p6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764" name="Google Shape;764;p6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765" name="Google Shape;765;p6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766" name="Google Shape;766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7" name="Google Shape;767;p6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68" name="Google Shape;768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9" name="Google Shape;769;p6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6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6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6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5" name="Google Shape;775;p6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76" name="Google Shape;776;p6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6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6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6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6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82" name="Google Shape;782;p6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6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6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6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789" name="Google Shape;789;p6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6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6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6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95" name="Google Shape;795;p6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cxnSp>
        <p:nvCxnSpPr>
          <p:cNvPr id="796" name="Google Shape;796;p6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6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6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9" name="Google Shape;799;p6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800" name="Google Shape;800;p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2" name="Google Shape;802;p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3" name="Google Shape;803;p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" name="Google Shape;807;p6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808" name="Google Shape;808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0" name="Google Shape;810;p6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811" name="Google Shape;81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3" name="Google Shape;813;p6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814" name="Google Shape;814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6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817" name="Google Shape;817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818" name="Google Shape;818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9" name="Google Shape;819;p6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820" name="Google Shape;820;p6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6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6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6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6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6" name="Google Shape;826;p6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827" name="Google Shape;827;p6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828" name="Google Shape;828;p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9" name="Google Shape;829;p6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830" name="Google Shape;830;p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1" name="Google Shape;831;p6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6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6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6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6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6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7" name="Google Shape;837;p6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838" name="Google Shape;838;p6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9" name="Google Shape;839;p6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" name="Google Shape;840;p6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" name="Google Shape;841;p6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2" name="Google Shape;842;p6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" name="Google Shape;843;p6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44" name="Google Shape;844;p6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6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6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6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6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6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0" name="Google Shape;850;p6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851" name="Google Shape;851;p6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6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6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6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6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6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57" name="Google Shape;857;p6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58" name="Google Shape;858;p6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859" name="Google Shape;859;p6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860" name="Google Shape;860;p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61" name="Google Shape;861;p6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862" name="Google Shape;862;p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63" name="Google Shape;863;p6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6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6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6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6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6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9" name="Google Shape;869;p6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870" name="Google Shape;870;p6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871;p6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" name="Google Shape;872;p6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3" name="Google Shape;873;p6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" name="Google Shape;874;p6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6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76" name="Google Shape;876;p6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6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6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6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6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6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2" name="Google Shape;882;p6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883" name="Google Shape;883;p6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6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6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6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6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6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89" name="Google Shape;889;p6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90" name="Google Shape;890;p6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891" name="Google Shape;891;p6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892" name="Google Shape;892;p6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3" name="Google Shape;893;p6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894" name="Google Shape;894;p6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95" name="Google Shape;895;p6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896" name="Google Shape;896;p6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897" name="Google Shape;897;p6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8" name="Google Shape;898;p6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9" name="Google Shape;899;p6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0" name="Google Shape;900;p6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1" name="Google Shape;901;p6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" name="Google Shape;902;p6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903" name="Google Shape;903;p6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04" name="Google Shape;904;p6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Google Shape;905;p6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906" name="Google Shape;906;p6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907" name="Google Shape;907;p6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8" name="Google Shape;908;p6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909" name="Google Shape;909;p6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910" name="Google Shape;910;p6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911" name="Google Shape;911;p6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2" name="Google Shape;912;p6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913" name="Google Shape;913;p6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914" name="Google Shape;914;p6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15" name="Google Shape;915;p6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916" name="Google Shape;916;p6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7" name="Google Shape;917;p6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8" name="Google Shape;918;p6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9" name="Google Shape;919;p6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20" name="Google Shape;920;p6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21" name="Google Shape;921;p6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922" name="Google Shape;922;p6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923" name="Google Shape;923;p6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4" name="Google Shape;924;p6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925" name="Google Shape;925;p6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926" name="Google Shape;926;p6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7" name="Google Shape;927;p6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8" name="Google Shape;928;p6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6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0" name="Google Shape;930;p6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6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2" name="Google Shape;932;p6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6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6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5" name="Google Shape;935;p6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936" name="Google Shape;936;p6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937" name="Google Shape;937;p6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8" name="Google Shape;938;p6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939" name="Google Shape;939;p6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940" name="Google Shape;940;p6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41" name="Google Shape;941;p6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942" name="Google Shape;942;p6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43" name="Google Shape;943;p6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44" name="Google Shape;944;p6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45" name="Google Shape;945;p6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46" name="Google Shape;946;p6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47" name="Google Shape;947;p6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948" name="Google Shape;948;p6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949" name="Google Shape;949;p6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0" name="Google Shape;950;p6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951" name="Google Shape;951;p6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952" name="Google Shape;952;p6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cxnSp>
          <p:nvCxnSpPr>
            <p:cNvPr id="953" name="Google Shape;953;p6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954" name="Google Shape;954;p6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955" name="Google Shape;955;p6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956" name="Google Shape;956;p6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57" name="Google Shape;957;p6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958" name="Google Shape;958;p6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959" name="Google Shape;959;p6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60" name="Google Shape;960;p6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961" name="Google Shape;961;p6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62" name="Google Shape;962;p6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63" name="Google Shape;963;p6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64" name="Google Shape;964;p6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65" name="Google Shape;965;p6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66" name="Google Shape;966;p6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967" name="Google Shape;967;p6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968" name="Google Shape;968;p6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9" name="Google Shape;969;p6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970" name="Google Shape;970;p6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971" name="Google Shape;971;p6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2" name="Google Shape;972;p6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973" name="Google Shape;973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 (more)</a:t>
            </a:r>
            <a:endParaRPr sz="4400"/>
          </a:p>
        </p:txBody>
      </p:sp>
      <p:sp>
        <p:nvSpPr>
          <p:cNvPr id="980" name="Google Shape;980;p7"/>
          <p:cNvSpPr txBox="1"/>
          <p:nvPr/>
        </p:nvSpPr>
        <p:spPr>
          <a:xfrm>
            <a:off x="1215015" y="1383579"/>
            <a:ext cx="6141748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pacing between adjacent sending and receiving nodes</a:t>
            </a:r>
            <a:endParaRPr/>
          </a:p>
          <a:p>
            <a:pPr indent="-276225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detection: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errors caused by signal attenuation, noise.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detects errors, signals retransmission, or drops frame 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correction: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identifies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error(s) without retransmission</a:t>
            </a:r>
            <a:endParaRPr/>
          </a:p>
          <a:p>
            <a:pPr indent="-331788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half-duplex and full-duplex: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half duplex, nodes at both ends of link can transmit, but not at same time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7"/>
          <p:cNvSpPr/>
          <p:nvPr/>
        </p:nvSpPr>
        <p:spPr>
          <a:xfrm>
            <a:off x="9243945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2" name="Google Shape;982;p7"/>
          <p:cNvGrpSpPr/>
          <p:nvPr/>
        </p:nvGrpSpPr>
        <p:grpSpPr>
          <a:xfrm>
            <a:off x="8980811" y="3275911"/>
            <a:ext cx="615031" cy="694531"/>
            <a:chOff x="2920" y="1424"/>
            <a:chExt cx="326" cy="320"/>
          </a:xfrm>
        </p:grpSpPr>
        <p:sp>
          <p:nvSpPr>
            <p:cNvPr id="983" name="Google Shape;983;p7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4" name="Google Shape;984;p7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985" name="Google Shape;985;p7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7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7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7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0" name="Google Shape;990;p7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7"/>
          <p:cNvGrpSpPr/>
          <p:nvPr/>
        </p:nvGrpSpPr>
        <p:grpSpPr>
          <a:xfrm>
            <a:off x="9080582" y="3619386"/>
            <a:ext cx="393690" cy="1049595"/>
            <a:chOff x="3130" y="3288"/>
            <a:chExt cx="410" cy="742"/>
          </a:xfrm>
        </p:grpSpPr>
        <p:cxnSp>
          <p:nvCxnSpPr>
            <p:cNvPr id="992" name="Google Shape;992;p7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3" name="Google Shape;993;p7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4" name="Google Shape;994;p7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5" name="Google Shape;995;p7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6" name="Google Shape;996;p7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7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7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7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7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7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7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7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" name="Google Shape;1004;p7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5" name="Google Shape;1005;p7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7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7" name="Google Shape;1007;p7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1008" name="Google Shape;100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9" name="Google Shape;1009;p7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1010" name="Google Shape;1010;p7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7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7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7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7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7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6" name="Google Shape;1016;p7"/>
          <p:cNvGrpSpPr/>
          <p:nvPr/>
        </p:nvGrpSpPr>
        <p:grpSpPr>
          <a:xfrm>
            <a:off x="7822406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1017" name="Google Shape;101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8" name="Google Shape;1018;p7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1019" name="Google Shape;1019;p7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7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7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7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7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7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25" name="Google Shape;1025;p7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1026" name="Google Shape;1026;p7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1027" name="Google Shape;1027;p7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1028" name="Google Shape;1028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9" name="Google Shape;1029;p7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030" name="Google Shape;1030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7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7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7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7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7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7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37" name="Google Shape;1037;p7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038" name="Google Shape;1038;p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7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7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4" name="Google Shape;1044;p7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7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7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7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7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7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7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1051" name="Google Shape;1051;p7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7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7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7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7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7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7" name="Google Shape;1057;p7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cxnSp>
        <p:nvCxnSpPr>
          <p:cNvPr id="1058" name="Google Shape;1058;p7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7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7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61" name="Google Shape;1061;p7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1062" name="Google Shape;1062;p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4" name="Google Shape;1064;p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65" name="Google Shape;1065;p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9" name="Google Shape;1069;p7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1070" name="Google Shape;107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2" name="Google Shape;1072;p7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1073" name="Google Shape;107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5" name="Google Shape;1075;p7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1076" name="Google Shape;1076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7" name="Google Shape;1077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8" name="Google Shape;1078;p7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1079" name="Google Shape;107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080" name="Google Shape;1080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1" name="Google Shape;1081;p7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1082" name="Google Shape;1082;p7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7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7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7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7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7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8" name="Google Shape;1088;p7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1089" name="Google Shape;1089;p7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090" name="Google Shape;1090;p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1" name="Google Shape;1091;p7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092" name="Google Shape;1092;p7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3" name="Google Shape;1093;p7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7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7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7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7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7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99" name="Google Shape;1099;p7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100" name="Google Shape;1100;p7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1" name="Google Shape;1101;p7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2" name="Google Shape;1102;p7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3" name="Google Shape;1103;p7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4" name="Google Shape;1104;p7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5" name="Google Shape;1105;p7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06" name="Google Shape;1106;p7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7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7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7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7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7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12" name="Google Shape;1112;p7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113" name="Google Shape;1113;p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119" name="Google Shape;1119;p7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1120" name="Google Shape;1120;p7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1121" name="Google Shape;1121;p7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122" name="Google Shape;1122;p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3" name="Google Shape;1123;p7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124" name="Google Shape;1124;p7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5" name="Google Shape;1125;p7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7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7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7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9" name="Google Shape;1129;p7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7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31" name="Google Shape;1131;p7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132" name="Google Shape;1132;p7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3" name="Google Shape;1133;p7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4" name="Google Shape;1134;p7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5" name="Google Shape;1135;p7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6" name="Google Shape;1136;p7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7" name="Google Shape;1137;p7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38" name="Google Shape;1138;p7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9" name="Google Shape;1139;p7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7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7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7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7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44" name="Google Shape;1144;p7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145" name="Google Shape;1145;p7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6" name="Google Shape;1146;p7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7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8" name="Google Shape;1148;p7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7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7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151" name="Google Shape;1151;p7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52" name="Google Shape;1152;p7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1153" name="Google Shape;1153;p7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1154" name="Google Shape;1154;p7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55" name="Google Shape;1155;p7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156" name="Google Shape;1156;p7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57" name="Google Shape;1157;p7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158" name="Google Shape;1158;p7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1159" name="Google Shape;1159;p7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0" name="Google Shape;1160;p7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1" name="Google Shape;1161;p7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2" name="Google Shape;1162;p7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3" name="Google Shape;1163;p7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4" name="Google Shape;1164;p7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1165" name="Google Shape;1165;p7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66" name="Google Shape;1166;p7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7" name="Google Shape;1167;p7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1168" name="Google Shape;1168;p7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169" name="Google Shape;1169;p7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0" name="Google Shape;1170;p7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1171" name="Google Shape;1171;p7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1172" name="Google Shape;1172;p7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173" name="Google Shape;1173;p7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4" name="Google Shape;1174;p7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175" name="Google Shape;1175;p7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76" name="Google Shape;1176;p7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77" name="Google Shape;1177;p7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78" name="Google Shape;1178;p7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9" name="Google Shape;1179;p7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80" name="Google Shape;1180;p7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81" name="Google Shape;1181;p7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82" name="Google Shape;1182;p7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83" name="Google Shape;1183;p7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84" name="Google Shape;1184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85" name="Google Shape;1185;p7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6" name="Google Shape;1186;p7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87" name="Google Shape;1187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88" name="Google Shape;1188;p7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9" name="Google Shape;1189;p7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0" name="Google Shape;1190;p7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7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2" name="Google Shape;1192;p7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7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4" name="Google Shape;1194;p7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7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7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7" name="Google Shape;1197;p7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1198" name="Google Shape;1198;p7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1199" name="Google Shape;1199;p7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00" name="Google Shape;1200;p7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201" name="Google Shape;1201;p7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202" name="Google Shape;1202;p7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203" name="Google Shape;1203;p7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204" name="Google Shape;1204;p7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5" name="Google Shape;1205;p7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6" name="Google Shape;1206;p7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7" name="Google Shape;1207;p7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8" name="Google Shape;1208;p7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9" name="Google Shape;1209;p7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210" name="Google Shape;1210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211" name="Google Shape;1211;p7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2" name="Google Shape;1212;p7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213" name="Google Shape;1213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1214" name="Google Shape;1214;p7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cxnSp>
          <p:nvCxnSpPr>
            <p:cNvPr id="1215" name="Google Shape;1215;p7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216" name="Google Shape;1216;p7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1217" name="Google Shape;1217;p7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218" name="Google Shape;1218;p7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19" name="Google Shape;1219;p7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220" name="Google Shape;1220;p7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221" name="Google Shape;1221;p7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222" name="Google Shape;1222;p7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223" name="Google Shape;1223;p7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24" name="Google Shape;1224;p7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25" name="Google Shape;1225;p7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26" name="Google Shape;1226;p7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27" name="Google Shape;1227;p7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28" name="Google Shape;1228;p7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229" name="Google Shape;1229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230" name="Google Shape;1230;p7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1" name="Google Shape;1231;p7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232" name="Google Shape;1232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233" name="Google Shape;1233;p7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4" name="Google Shape;1234;p7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1235" name="Google Shape;12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8"/>
          <p:cNvSpPr txBox="1"/>
          <p:nvPr>
            <p:ph type="title"/>
          </p:nvPr>
        </p:nvSpPr>
        <p:spPr>
          <a:xfrm>
            <a:off x="91093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Where is the link layer implemented?</a:t>
            </a:r>
            <a:endParaRPr sz="4400"/>
          </a:p>
        </p:txBody>
      </p:sp>
      <p:sp>
        <p:nvSpPr>
          <p:cNvPr id="1242" name="Google Shape;1242;p8"/>
          <p:cNvSpPr txBox="1"/>
          <p:nvPr/>
        </p:nvSpPr>
        <p:spPr>
          <a:xfrm>
            <a:off x="980353" y="1561667"/>
            <a:ext cx="5808373" cy="465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416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each-and-every host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layer implemented in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interface card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(NIC) or on a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Ethernet, WiFi card or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link, physical layer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attaches into host’s system buses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combination of hardware, software, firmware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3" name="Google Shape;1243;p8"/>
          <p:cNvSpPr/>
          <p:nvPr/>
        </p:nvSpPr>
        <p:spPr>
          <a:xfrm>
            <a:off x="8482590" y="5121168"/>
            <a:ext cx="2308225" cy="797490"/>
          </a:xfrm>
          <a:custGeom>
            <a:rect b="b" l="l" r="r" t="t"/>
            <a:pathLst>
              <a:path extrusionOk="0" h="12103" w="10000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8"/>
          <p:cNvSpPr/>
          <p:nvPr/>
        </p:nvSpPr>
        <p:spPr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8"/>
          <p:cNvSpPr/>
          <p:nvPr/>
        </p:nvSpPr>
        <p:spPr>
          <a:xfrm>
            <a:off x="9404927" y="4687887"/>
            <a:ext cx="666750" cy="2825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8"/>
          <p:cNvSpPr/>
          <p:nvPr/>
        </p:nvSpPr>
        <p:spPr>
          <a:xfrm>
            <a:off x="9404927" y="410051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247" name="Google Shape;1247;p8"/>
          <p:cNvSpPr txBox="1"/>
          <p:nvPr/>
        </p:nvSpPr>
        <p:spPr>
          <a:xfrm>
            <a:off x="9360720" y="4697412"/>
            <a:ext cx="737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8"/>
          <p:cNvSpPr/>
          <p:nvPr/>
        </p:nvSpPr>
        <p:spPr>
          <a:xfrm>
            <a:off x="9457315" y="3619500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9" name="Google Shape;1249;p8"/>
          <p:cNvCxnSpPr/>
          <p:nvPr/>
        </p:nvCxnSpPr>
        <p:spPr>
          <a:xfrm>
            <a:off x="9322377" y="3792537"/>
            <a:ext cx="135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8"/>
          <p:cNvCxnSpPr/>
          <p:nvPr/>
        </p:nvCxnSpPr>
        <p:spPr>
          <a:xfrm rot="10800000">
            <a:off x="9717665" y="3800475"/>
            <a:ext cx="0" cy="3000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8"/>
          <p:cNvSpPr/>
          <p:nvPr/>
        </p:nvSpPr>
        <p:spPr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sp>
        <p:nvSpPr>
          <p:cNvPr id="1252" name="Google Shape;1252;p8"/>
          <p:cNvSpPr/>
          <p:nvPr/>
        </p:nvSpPr>
        <p:spPr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cxnSp>
        <p:nvCxnSpPr>
          <p:cNvPr id="1253" name="Google Shape;1253;p8"/>
          <p:cNvCxnSpPr/>
          <p:nvPr/>
        </p:nvCxnSpPr>
        <p:spPr>
          <a:xfrm rot="10800000">
            <a:off x="9514465" y="3622675"/>
            <a:ext cx="1587" cy="169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8"/>
          <p:cNvCxnSpPr/>
          <p:nvPr/>
        </p:nvCxnSpPr>
        <p:spPr>
          <a:xfrm rot="10800000">
            <a:off x="10387590" y="3624262"/>
            <a:ext cx="1587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8"/>
          <p:cNvSpPr txBox="1"/>
          <p:nvPr/>
        </p:nvSpPr>
        <p:spPr>
          <a:xfrm>
            <a:off x="10835265" y="3921125"/>
            <a:ext cx="10383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bus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/>
          </a:p>
        </p:txBody>
      </p:sp>
      <p:cxnSp>
        <p:nvCxnSpPr>
          <p:cNvPr id="1256" name="Google Shape;1256;p8"/>
          <p:cNvCxnSpPr/>
          <p:nvPr/>
        </p:nvCxnSpPr>
        <p:spPr>
          <a:xfrm flipH="1">
            <a:off x="9717665" y="4408487"/>
            <a:ext cx="12700" cy="339725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7" name="Google Shape;1257;p8"/>
          <p:cNvCxnSpPr/>
          <p:nvPr/>
        </p:nvCxnSpPr>
        <p:spPr>
          <a:xfrm>
            <a:off x="9719463" y="4992686"/>
            <a:ext cx="0" cy="366713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8" name="Google Shape;1258;p8"/>
          <p:cNvCxnSpPr/>
          <p:nvPr/>
        </p:nvCxnSpPr>
        <p:spPr>
          <a:xfrm rot="10800000">
            <a:off x="10513002" y="3797300"/>
            <a:ext cx="382588" cy="2682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8"/>
          <p:cNvSpPr txBox="1"/>
          <p:nvPr/>
        </p:nvSpPr>
        <p:spPr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interface</a:t>
            </a:r>
            <a:endParaRPr/>
          </a:p>
        </p:txBody>
      </p:sp>
      <p:cxnSp>
        <p:nvCxnSpPr>
          <p:cNvPr id="1260" name="Google Shape;1260;p8"/>
          <p:cNvCxnSpPr/>
          <p:nvPr/>
        </p:nvCxnSpPr>
        <p:spPr>
          <a:xfrm rot="10800000">
            <a:off x="10330440" y="4814887"/>
            <a:ext cx="271462" cy="750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1" name="Google Shape;1261;p8"/>
          <p:cNvSpPr/>
          <p:nvPr/>
        </p:nvSpPr>
        <p:spPr>
          <a:xfrm>
            <a:off x="9177915" y="3989387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2" name="Google Shape;1262;p8"/>
          <p:cNvGrpSpPr/>
          <p:nvPr/>
        </p:nvGrpSpPr>
        <p:grpSpPr>
          <a:xfrm>
            <a:off x="7926967" y="2941636"/>
            <a:ext cx="1470026" cy="2035175"/>
            <a:chOff x="2695" y="1742"/>
            <a:chExt cx="926" cy="1282"/>
          </a:xfrm>
        </p:grpSpPr>
        <p:sp>
          <p:nvSpPr>
            <p:cNvPr id="1263" name="Google Shape;1263;p8"/>
            <p:cNvSpPr/>
            <p:nvPr/>
          </p:nvSpPr>
          <p:spPr>
            <a:xfrm>
              <a:off x="3228" y="2488"/>
              <a:ext cx="393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8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68" name="Google Shape;1268;p8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8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8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8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2" name="Google Shape;1272;p8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8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74" name="Google Shape;1274;p8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75" name="Google Shape;1275;p8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6" name="Google Shape;1276;p8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8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278" name="Google Shape;12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9409" y="1312716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1327" y="1452562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8"/>
          <p:cNvGrpSpPr/>
          <p:nvPr/>
        </p:nvGrpSpPr>
        <p:grpSpPr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descr="desktop_computer_stylized_medium" id="1281" name="Google Shape;128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3" name="Google Shape;1283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links, protocols</a:t>
            </a:r>
            <a:endParaRPr sz="4400"/>
          </a:p>
        </p:txBody>
      </p:sp>
      <p:sp>
        <p:nvSpPr>
          <p:cNvPr id="1290" name="Google Shape;1290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1" name="Google Shape;1291;p9"/>
          <p:cNvSpPr txBox="1"/>
          <p:nvPr/>
        </p:nvSpPr>
        <p:spPr>
          <a:xfrm>
            <a:off x="979694" y="1096411"/>
            <a:ext cx="77724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“links”: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 link between Ethernet switch, host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PPP for dial-up access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broadcast (shared wire or medium)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old-fashioned Ethernet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upstream HFC in cable-based access network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wireless LAN, 4G/4G. satellite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2" name="Google Shape;1292;p9"/>
          <p:cNvSpPr txBox="1"/>
          <p:nvPr/>
        </p:nvSpPr>
        <p:spPr>
          <a:xfrm>
            <a:off x="1211750" y="5747371"/>
            <a:ext cx="160178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wire (e.g.,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cabled Ethernet)</a:t>
            </a:r>
            <a:endParaRPr/>
          </a:p>
        </p:txBody>
      </p:sp>
      <p:sp>
        <p:nvSpPr>
          <p:cNvPr id="1293" name="Google Shape;1293;p9"/>
          <p:cNvSpPr txBox="1"/>
          <p:nvPr/>
        </p:nvSpPr>
        <p:spPr>
          <a:xfrm>
            <a:off x="5137386" y="5842275"/>
            <a:ext cx="1696298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WiFi</a:t>
            </a:r>
            <a:endParaRPr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9"/>
          <p:cNvSpPr txBox="1"/>
          <p:nvPr/>
        </p:nvSpPr>
        <p:spPr>
          <a:xfrm>
            <a:off x="6927657" y="5847044"/>
            <a:ext cx="1935146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satellite </a:t>
            </a:r>
            <a:endParaRPr/>
          </a:p>
        </p:txBody>
      </p:sp>
      <p:sp>
        <p:nvSpPr>
          <p:cNvPr id="1295" name="Google Shape;1295;p9"/>
          <p:cNvSpPr txBox="1"/>
          <p:nvPr/>
        </p:nvSpPr>
        <p:spPr>
          <a:xfrm>
            <a:off x="8862810" y="5780226"/>
            <a:ext cx="2666586" cy="45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at a cocktail party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(shared air, acoustical)</a:t>
            </a:r>
            <a:endParaRPr/>
          </a:p>
        </p:txBody>
      </p:sp>
      <p:cxnSp>
        <p:nvCxnSpPr>
          <p:cNvPr id="1296" name="Google Shape;1296;p9"/>
          <p:cNvCxnSpPr/>
          <p:nvPr/>
        </p:nvCxnSpPr>
        <p:spPr>
          <a:xfrm flipH="1">
            <a:off x="1822938" y="4575796"/>
            <a:ext cx="466725" cy="890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9"/>
          <p:cNvCxnSpPr/>
          <p:nvPr/>
        </p:nvCxnSpPr>
        <p:spPr>
          <a:xfrm>
            <a:off x="1805475" y="5047283"/>
            <a:ext cx="242888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9"/>
          <p:cNvCxnSpPr/>
          <p:nvPr/>
        </p:nvCxnSpPr>
        <p:spPr>
          <a:xfrm>
            <a:off x="1670538" y="5383833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9"/>
          <p:cNvCxnSpPr/>
          <p:nvPr/>
        </p:nvCxnSpPr>
        <p:spPr>
          <a:xfrm flipH="1" rot="10800000">
            <a:off x="2115038" y="4907583"/>
            <a:ext cx="177800" cy="7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00" name="Google Shape;1300;p9"/>
          <p:cNvGrpSpPr/>
          <p:nvPr/>
        </p:nvGrpSpPr>
        <p:grpSpPr>
          <a:xfrm>
            <a:off x="7127673" y="5455340"/>
            <a:ext cx="288925" cy="220663"/>
            <a:chOff x="2274" y="2821"/>
            <a:chExt cx="215" cy="238"/>
          </a:xfrm>
        </p:grpSpPr>
        <p:sp>
          <p:nvSpPr>
            <p:cNvPr id="1301" name="Google Shape;1301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2" name="Google Shape;1302;p9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3" name="Google Shape;1303;p9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4" name="Google Shape;1304;p9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5" name="Google Shape;1305;p9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6" name="Google Shape;1306;p9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7" name="Google Shape;1307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9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9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9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1" name="Google Shape;1311;p9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2" name="Google Shape;1312;p9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3" name="Google Shape;1313;p9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4" name="Google Shape;1314;p9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5" name="Google Shape;1315;p9"/>
          <p:cNvGrpSpPr/>
          <p:nvPr/>
        </p:nvGrpSpPr>
        <p:grpSpPr>
          <a:xfrm>
            <a:off x="7634085" y="5436290"/>
            <a:ext cx="223838" cy="254000"/>
            <a:chOff x="2274" y="2821"/>
            <a:chExt cx="215" cy="238"/>
          </a:xfrm>
        </p:grpSpPr>
        <p:sp>
          <p:nvSpPr>
            <p:cNvPr id="1316" name="Google Shape;1316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7" name="Google Shape;1317;p9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8" name="Google Shape;1318;p9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9" name="Google Shape;1319;p9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0" name="Google Shape;1320;p9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1" name="Google Shape;1321;p9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2" name="Google Shape;1322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9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9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9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6" name="Google Shape;1326;p9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7" name="Google Shape;1327;p9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8" name="Google Shape;1328;p9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9" name="Google Shape;1329;p9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0" name="Google Shape;1330;p9"/>
          <p:cNvGrpSpPr/>
          <p:nvPr/>
        </p:nvGrpSpPr>
        <p:grpSpPr>
          <a:xfrm flipH="1">
            <a:off x="8013498" y="5464865"/>
            <a:ext cx="298450" cy="211138"/>
            <a:chOff x="2274" y="2821"/>
            <a:chExt cx="215" cy="238"/>
          </a:xfrm>
        </p:grpSpPr>
        <p:sp>
          <p:nvSpPr>
            <p:cNvPr id="1331" name="Google Shape;1331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2" name="Google Shape;1332;p9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3" name="Google Shape;1333;p9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4" name="Google Shape;1334;p9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5" name="Google Shape;1335;p9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6" name="Google Shape;1336;p9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7" name="Google Shape;1337;p9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9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9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9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1" name="Google Shape;1341;p9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2" name="Google Shape;1342;p9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3" name="Google Shape;1343;p9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4" name="Google Shape;1344;p9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Mj03957750000[1]" id="1345" name="Google Shape;13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3" y="4742553"/>
            <a:ext cx="56197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ktail" id="1346" name="Google Shape;13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6005" y="4661590"/>
            <a:ext cx="2030412" cy="104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7" name="Google Shape;1347;p9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9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9"/>
          <p:cNvCxnSpPr/>
          <p:nvPr/>
        </p:nvCxnSpPr>
        <p:spPr>
          <a:xfrm>
            <a:off x="1918188" y="5317158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0" name="Google Shape;1350;p9"/>
          <p:cNvGrpSpPr/>
          <p:nvPr/>
        </p:nvGrpSpPr>
        <p:grpSpPr>
          <a:xfrm flipH="1">
            <a:off x="1256200" y="5193333"/>
            <a:ext cx="501650" cy="512763"/>
            <a:chOff x="2839" y="3501"/>
            <a:chExt cx="755" cy="803"/>
          </a:xfrm>
        </p:grpSpPr>
        <p:pic>
          <p:nvPicPr>
            <p:cNvPr descr="desktop_computer_stylized_medium" id="1351" name="Google Shape;135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2" name="Google Shape;1352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3" name="Google Shape;1353;p9"/>
          <p:cNvGrpSpPr/>
          <p:nvPr/>
        </p:nvGrpSpPr>
        <p:grpSpPr>
          <a:xfrm>
            <a:off x="5370862" y="4385019"/>
            <a:ext cx="635000" cy="491904"/>
            <a:chOff x="3061" y="2530"/>
            <a:chExt cx="400" cy="310"/>
          </a:xfrm>
        </p:grpSpPr>
        <p:grpSp>
          <p:nvGrpSpPr>
            <p:cNvPr id="1354" name="Google Shape;1354;p9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355" name="Google Shape;1355;p9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9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9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9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9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9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361" name="Google Shape;1361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9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363" name="Google Shape;136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9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9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9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9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9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9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0" name="Google Shape;1370;p9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371" name="Google Shape;1371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7" name="Google Shape;1377;p9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9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9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9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9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9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9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9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5" name="Google Shape;1385;p9"/>
          <p:cNvGrpSpPr/>
          <p:nvPr/>
        </p:nvGrpSpPr>
        <p:grpSpPr>
          <a:xfrm>
            <a:off x="6258275" y="4553294"/>
            <a:ext cx="536575" cy="407766"/>
            <a:chOff x="3328" y="2543"/>
            <a:chExt cx="338" cy="257"/>
          </a:xfrm>
        </p:grpSpPr>
        <p:grpSp>
          <p:nvGrpSpPr>
            <p:cNvPr id="1386" name="Google Shape;1386;p9"/>
            <p:cNvGrpSpPr/>
            <p:nvPr/>
          </p:nvGrpSpPr>
          <p:grpSpPr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1387" name="Google Shape;1387;p9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9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9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9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9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9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393" name="Google Shape;1393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9"/>
            <p:cNvSpPr/>
            <p:nvPr/>
          </p:nvSpPr>
          <p:spPr>
            <a:xfrm>
              <a:off x="3462" y="259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395" name="Google Shape;1395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6" name="Google Shape;1396;p9"/>
            <p:cNvSpPr/>
            <p:nvPr/>
          </p:nvSpPr>
          <p:spPr>
            <a:xfrm>
              <a:off x="3498" y="259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3461" y="259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3614" y="261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3460" y="269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3619" y="261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3460" y="269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2" name="Google Shape;1402;p9"/>
            <p:cNvGrpSpPr/>
            <p:nvPr/>
          </p:nvGrpSpPr>
          <p:grpSpPr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1403" name="Google Shape;1403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9" name="Google Shape;1409;p9"/>
            <p:cNvSpPr/>
            <p:nvPr/>
          </p:nvSpPr>
          <p:spPr>
            <a:xfrm>
              <a:off x="3552" y="274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3381" y="274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3387" y="273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9"/>
            <p:cNvSpPr/>
            <p:nvPr/>
          </p:nvSpPr>
          <p:spPr>
            <a:xfrm flipH="1" rot="10800000">
              <a:off x="3549" y="273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3" name="Google Shape;1413;p9"/>
          <p:cNvGrpSpPr/>
          <p:nvPr/>
        </p:nvGrpSpPr>
        <p:grpSpPr>
          <a:xfrm>
            <a:off x="5640737" y="4813644"/>
            <a:ext cx="585788" cy="419100"/>
            <a:chOff x="5096" y="2218"/>
            <a:chExt cx="369" cy="264"/>
          </a:xfrm>
        </p:grpSpPr>
        <p:grpSp>
          <p:nvGrpSpPr>
            <p:cNvPr id="1414" name="Google Shape;1414;p9"/>
            <p:cNvGrpSpPr/>
            <p:nvPr/>
          </p:nvGrpSpPr>
          <p:grpSpPr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1415" name="Google Shape;1415;p9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9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9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9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9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9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access_point_stylized_small" id="1421" name="Google Shape;1421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22" name="Google Shape;1422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3" name="Google Shape;1423;p9"/>
          <p:cNvGrpSpPr/>
          <p:nvPr/>
        </p:nvGrpSpPr>
        <p:grpSpPr>
          <a:xfrm>
            <a:off x="5342287" y="5239094"/>
            <a:ext cx="635000" cy="491904"/>
            <a:chOff x="3061" y="2530"/>
            <a:chExt cx="400" cy="310"/>
          </a:xfrm>
        </p:grpSpPr>
        <p:grpSp>
          <p:nvGrpSpPr>
            <p:cNvPr id="1424" name="Google Shape;1424;p9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425" name="Google Shape;1425;p9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9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9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9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9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9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431" name="Google Shape;1431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9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433" name="Google Shape;143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4" name="Google Shape;1434;p9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0" name="Google Shape;1440;p9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441" name="Google Shape;1441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7" name="Google Shape;1447;p9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9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5" name="Google Shape;1455;p9"/>
          <p:cNvGrpSpPr/>
          <p:nvPr/>
        </p:nvGrpSpPr>
        <p:grpSpPr>
          <a:xfrm>
            <a:off x="5824887" y="5294656"/>
            <a:ext cx="635000" cy="491904"/>
            <a:chOff x="3061" y="2530"/>
            <a:chExt cx="400" cy="310"/>
          </a:xfrm>
        </p:grpSpPr>
        <p:grpSp>
          <p:nvGrpSpPr>
            <p:cNvPr id="1456" name="Google Shape;1456;p9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457" name="Google Shape;1457;p9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9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9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9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9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9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463" name="Google Shape;1463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4" name="Google Shape;1464;p9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465" name="Google Shape;1465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9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9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9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9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2" name="Google Shape;1472;p9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473" name="Google Shape;1473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9" name="Google Shape;1479;p9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9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9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9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9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9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9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7" name="Google Shape;1487;p9"/>
          <p:cNvGrpSpPr/>
          <p:nvPr/>
        </p:nvGrpSpPr>
        <p:grpSpPr>
          <a:xfrm flipH="1">
            <a:off x="1410188" y="4748833"/>
            <a:ext cx="501650" cy="512763"/>
            <a:chOff x="2839" y="3501"/>
            <a:chExt cx="755" cy="803"/>
          </a:xfrm>
        </p:grpSpPr>
        <p:pic>
          <p:nvPicPr>
            <p:cNvPr descr="desktop_computer_stylized_medium" id="1488" name="Google Shape;148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9" name="Google Shape;1489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0" name="Google Shape;1490;p9"/>
          <p:cNvGrpSpPr/>
          <p:nvPr/>
        </p:nvGrpSpPr>
        <p:grpSpPr>
          <a:xfrm flipH="1">
            <a:off x="1561000" y="4321796"/>
            <a:ext cx="501650" cy="512762"/>
            <a:chOff x="2839" y="3501"/>
            <a:chExt cx="755" cy="803"/>
          </a:xfrm>
        </p:grpSpPr>
        <p:pic>
          <p:nvPicPr>
            <p:cNvPr descr="desktop_computer_stylized_medium" id="1491" name="Google Shape;149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2" name="Google Shape;1492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3" name="Google Shape;1493;p9"/>
          <p:cNvGrpSpPr/>
          <p:nvPr/>
        </p:nvGrpSpPr>
        <p:grpSpPr>
          <a:xfrm>
            <a:off x="2234100" y="4709146"/>
            <a:ext cx="501650" cy="512762"/>
            <a:chOff x="2839" y="3501"/>
            <a:chExt cx="755" cy="803"/>
          </a:xfrm>
        </p:grpSpPr>
        <p:pic>
          <p:nvPicPr>
            <p:cNvPr descr="desktop_computer_stylized_medium" id="1494" name="Google Shape;1494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5" name="Google Shape;1495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6" name="Google Shape;1496;p9"/>
          <p:cNvGrpSpPr/>
          <p:nvPr/>
        </p:nvGrpSpPr>
        <p:grpSpPr>
          <a:xfrm>
            <a:off x="2035663" y="5148883"/>
            <a:ext cx="501650" cy="512763"/>
            <a:chOff x="2839" y="3501"/>
            <a:chExt cx="755" cy="803"/>
          </a:xfrm>
        </p:grpSpPr>
        <p:pic>
          <p:nvPicPr>
            <p:cNvPr descr="desktop_computer_stylized_medium" id="1497" name="Google Shape;149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8" name="Google Shape;1498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9" name="Google Shape;1499;p9"/>
          <p:cNvGrpSpPr/>
          <p:nvPr/>
        </p:nvGrpSpPr>
        <p:grpSpPr>
          <a:xfrm>
            <a:off x="3021501" y="4492486"/>
            <a:ext cx="1951525" cy="1263172"/>
            <a:chOff x="7891681" y="3099042"/>
            <a:chExt cx="2342453" cy="1569939"/>
          </a:xfrm>
        </p:grpSpPr>
        <p:sp>
          <p:nvSpPr>
            <p:cNvPr id="1500" name="Google Shape;1500;p9"/>
            <p:cNvSpPr/>
            <p:nvPr/>
          </p:nvSpPr>
          <p:spPr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1" name="Google Shape;1501;p9"/>
            <p:cNvGrpSpPr/>
            <p:nvPr/>
          </p:nvGrpSpPr>
          <p:grpSpPr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1502" name="Google Shape;1502;p9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03" name="Google Shape;1503;p9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1504" name="Google Shape;1504;p9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9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9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9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9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09" name="Google Shape;1509;p9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0" name="Google Shape;1510;p9"/>
            <p:cNvGrpSpPr/>
            <p:nvPr/>
          </p:nvGrpSpPr>
          <p:grpSpPr>
            <a:xfrm>
              <a:off x="9122147" y="3619386"/>
              <a:ext cx="393690" cy="1049595"/>
              <a:chOff x="3130" y="3288"/>
              <a:chExt cx="410" cy="742"/>
            </a:xfrm>
          </p:grpSpPr>
          <p:cxnSp>
            <p:nvCxnSpPr>
              <p:cNvPr id="1511" name="Google Shape;1511;p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2" name="Google Shape;1512;p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3" name="Google Shape;1513;p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4" name="Google Shape;1514;p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5" name="Google Shape;1515;p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6" name="Google Shape;1516;p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7" name="Google Shape;1517;p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8" name="Google Shape;1518;p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9" name="Google Shape;1519;p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0" name="Google Shape;1520;p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1" name="Google Shape;1521;p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2" name="Google Shape;1522;p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3" name="Google Shape;1523;p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4" name="Google Shape;1524;p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5" name="Google Shape;1525;p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26" name="Google Shape;1526;p9"/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descr="iphone_stylized_small" id="1527" name="Google Shape;1527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28" name="Google Shape;1528;p9"/>
              <p:cNvGrpSpPr/>
              <p:nvPr/>
            </p:nvGrpSpPr>
            <p:grpSpPr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1529" name="Google Shape;1529;p9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9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9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2" name="Google Shape;1532;p9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3" name="Google Shape;1533;p9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4" name="Google Shape;1534;p9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5" name="Google Shape;1535;p9"/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descr="car_icon_small" id="1536" name="Google Shape;1536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37" name="Google Shape;1537;p9"/>
              <p:cNvGrpSpPr/>
              <p:nvPr/>
            </p:nvGrpSpPr>
            <p:grpSpPr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1538" name="Google Shape;1538;p9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9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9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9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9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3" name="Google Shape;1543;p9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544" name="Google Shape;1544;p9"/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1545" name="Google Shape;1545;p9"/>
            <p:cNvGrpSpPr/>
            <p:nvPr/>
          </p:nvGrpSpPr>
          <p:grpSpPr>
            <a:xfrm>
              <a:off x="9729378" y="3463179"/>
              <a:ext cx="504756" cy="520384"/>
              <a:chOff x="7339071" y="2307905"/>
              <a:chExt cx="511700" cy="446467"/>
            </a:xfrm>
          </p:grpSpPr>
          <p:grpSp>
            <p:nvGrpSpPr>
              <p:cNvPr id="1546" name="Google Shape;1546;p9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547" name="Google Shape;1547;p9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48" name="Google Shape;1548;p9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549" name="Google Shape;1549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50" name="Google Shape;1550;p9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1" name="Google Shape;1551;p9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2" name="Google Shape;1552;p9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9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9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9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6" name="Google Shape;1556;p9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557" name="Google Shape;1557;p9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8" name="Google Shape;1558;p9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9" name="Google Shape;1559;p9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0" name="Google Shape;1560;p9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1" name="Google Shape;1561;p9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2" name="Google Shape;1562;p9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63" name="Google Shape;1563;p9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9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9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9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9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8" name="Google Shape;1568;p9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69" name="Google Shape;1569;p9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570" name="Google Shape;1570;p9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9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9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3" name="Google Shape;1573;p9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4" name="Google Shape;1574;p9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9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576" name="Google Shape;1576;p9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1577" name="Google Shape;1577;p9"/>
          <p:cNvSpPr txBox="1"/>
          <p:nvPr/>
        </p:nvSpPr>
        <p:spPr>
          <a:xfrm>
            <a:off x="3117702" y="5846761"/>
            <a:ext cx="1805302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4G/5G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MAC protocols: taxonomy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5" name="Google Shape;1585;p10"/>
          <p:cNvSpPr txBox="1"/>
          <p:nvPr/>
        </p:nvSpPr>
        <p:spPr>
          <a:xfrm>
            <a:off x="811696" y="1356210"/>
            <a:ext cx="11141765" cy="4938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broad classes: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channel into smaller “pieces” (time slots, frequency, code)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piece to node for exclusive use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not divided, allow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“recover” from collisions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take turns, but nodes with more to send can take longer turns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TDMA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3" name="Google Shape;1593;p11"/>
          <p:cNvSpPr txBox="1"/>
          <p:nvPr/>
        </p:nvSpPr>
        <p:spPr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TDMA: time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to channel in “rounds”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gets fixed length slot (length = packet transmission time) in each round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slots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packets to send, slots 2,5,6 idle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4" name="Google Shape;1594;p11"/>
          <p:cNvCxnSpPr/>
          <p:nvPr/>
        </p:nvCxnSpPr>
        <p:spPr>
          <a:xfrm>
            <a:off x="2497001" y="5652397"/>
            <a:ext cx="60848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5" name="Google Shape;1595;p11"/>
          <p:cNvSpPr/>
          <p:nvPr/>
        </p:nvSpPr>
        <p:spPr>
          <a:xfrm>
            <a:off x="2719251" y="5425384"/>
            <a:ext cx="479425" cy="230188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11"/>
          <p:cNvSpPr/>
          <p:nvPr/>
        </p:nvSpPr>
        <p:spPr>
          <a:xfrm>
            <a:off x="3678101" y="5425384"/>
            <a:ext cx="479425" cy="230188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11"/>
          <p:cNvSpPr/>
          <p:nvPr/>
        </p:nvSpPr>
        <p:spPr>
          <a:xfrm>
            <a:off x="4152763" y="5425384"/>
            <a:ext cx="479425" cy="230188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8" name="Google Shape;1598;p11"/>
          <p:cNvCxnSpPr/>
          <p:nvPr/>
        </p:nvCxnSpPr>
        <p:spPr>
          <a:xfrm>
            <a:off x="2720838" y="5312672"/>
            <a:ext cx="0" cy="33813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11"/>
          <p:cNvCxnSpPr/>
          <p:nvPr/>
        </p:nvCxnSpPr>
        <p:spPr>
          <a:xfrm>
            <a:off x="5586276" y="5315847"/>
            <a:ext cx="0" cy="3381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11"/>
          <p:cNvSpPr txBox="1"/>
          <p:nvPr/>
        </p:nvSpPr>
        <p:spPr>
          <a:xfrm>
            <a:off x="2819263" y="539204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01" name="Google Shape;1601;p11"/>
          <p:cNvSpPr txBox="1"/>
          <p:nvPr/>
        </p:nvSpPr>
        <p:spPr>
          <a:xfrm>
            <a:off x="3765413" y="5377759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02" name="Google Shape;1602;p11"/>
          <p:cNvSpPr txBox="1"/>
          <p:nvPr/>
        </p:nvSpPr>
        <p:spPr>
          <a:xfrm>
            <a:off x="4230551" y="5384109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03" name="Google Shape;1603;p11"/>
          <p:cNvSpPr/>
          <p:nvPr/>
        </p:nvSpPr>
        <p:spPr>
          <a:xfrm>
            <a:off x="5576751" y="5420622"/>
            <a:ext cx="479425" cy="230187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1"/>
          <p:cNvSpPr/>
          <p:nvPr/>
        </p:nvSpPr>
        <p:spPr>
          <a:xfrm>
            <a:off x="6535601" y="5420622"/>
            <a:ext cx="479425" cy="230187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11"/>
          <p:cNvSpPr/>
          <p:nvPr/>
        </p:nvSpPr>
        <p:spPr>
          <a:xfrm>
            <a:off x="7010263" y="5420622"/>
            <a:ext cx="479425" cy="230187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11"/>
          <p:cNvCxnSpPr/>
          <p:nvPr/>
        </p:nvCxnSpPr>
        <p:spPr>
          <a:xfrm>
            <a:off x="5578338" y="5307909"/>
            <a:ext cx="0" cy="33813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11"/>
          <p:cNvSpPr txBox="1"/>
          <p:nvPr/>
        </p:nvSpPr>
        <p:spPr>
          <a:xfrm>
            <a:off x="5676763" y="5387284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08" name="Google Shape;1608;p11"/>
          <p:cNvSpPr txBox="1"/>
          <p:nvPr/>
        </p:nvSpPr>
        <p:spPr>
          <a:xfrm>
            <a:off x="6622913" y="537299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09" name="Google Shape;1609;p11"/>
          <p:cNvSpPr txBox="1"/>
          <p:nvPr/>
        </p:nvSpPr>
        <p:spPr>
          <a:xfrm>
            <a:off x="7088051" y="5379347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610" name="Google Shape;1610;p11"/>
          <p:cNvCxnSpPr/>
          <p:nvPr/>
        </p:nvCxnSpPr>
        <p:spPr>
          <a:xfrm>
            <a:off x="32018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11"/>
          <p:cNvCxnSpPr/>
          <p:nvPr/>
        </p:nvCxnSpPr>
        <p:spPr>
          <a:xfrm>
            <a:off x="36781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11"/>
          <p:cNvCxnSpPr/>
          <p:nvPr/>
        </p:nvCxnSpPr>
        <p:spPr>
          <a:xfrm>
            <a:off x="415435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11"/>
          <p:cNvCxnSpPr/>
          <p:nvPr/>
        </p:nvCxnSpPr>
        <p:spPr>
          <a:xfrm>
            <a:off x="46306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11"/>
          <p:cNvCxnSpPr/>
          <p:nvPr/>
        </p:nvCxnSpPr>
        <p:spPr>
          <a:xfrm>
            <a:off x="5111613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11"/>
          <p:cNvCxnSpPr/>
          <p:nvPr/>
        </p:nvCxnSpPr>
        <p:spPr>
          <a:xfrm>
            <a:off x="60593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1"/>
          <p:cNvCxnSpPr/>
          <p:nvPr/>
        </p:nvCxnSpPr>
        <p:spPr>
          <a:xfrm>
            <a:off x="7007088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11"/>
          <p:cNvCxnSpPr/>
          <p:nvPr/>
        </p:nvCxnSpPr>
        <p:spPr>
          <a:xfrm>
            <a:off x="7954826" y="5407922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11"/>
          <p:cNvCxnSpPr/>
          <p:nvPr/>
        </p:nvCxnSpPr>
        <p:spPr>
          <a:xfrm>
            <a:off x="74881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11"/>
          <p:cNvCxnSpPr/>
          <p:nvPr/>
        </p:nvCxnSpPr>
        <p:spPr>
          <a:xfrm>
            <a:off x="8435838" y="5322197"/>
            <a:ext cx="0" cy="33813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11"/>
          <p:cNvCxnSpPr/>
          <p:nvPr/>
        </p:nvCxnSpPr>
        <p:spPr>
          <a:xfrm>
            <a:off x="65356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11"/>
          <p:cNvSpPr txBox="1"/>
          <p:nvPr/>
        </p:nvSpPr>
        <p:spPr>
          <a:xfrm>
            <a:off x="3765413" y="4793559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622" name="Google Shape;1622;p11"/>
          <p:cNvCxnSpPr/>
          <p:nvPr/>
        </p:nvCxnSpPr>
        <p:spPr>
          <a:xfrm>
            <a:off x="4576626" y="513010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3" name="Google Shape;1623;p11"/>
          <p:cNvCxnSpPr/>
          <p:nvPr/>
        </p:nvCxnSpPr>
        <p:spPr>
          <a:xfrm rot="10800000">
            <a:off x="2731951" y="512534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4" name="Google Shape;1624;p11"/>
          <p:cNvCxnSpPr/>
          <p:nvPr/>
        </p:nvCxnSpPr>
        <p:spPr>
          <a:xfrm>
            <a:off x="2711313" y="5038034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1"/>
          <p:cNvCxnSpPr/>
          <p:nvPr/>
        </p:nvCxnSpPr>
        <p:spPr>
          <a:xfrm>
            <a:off x="5570401" y="5028509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26" name="Google Shape;1626;p11"/>
          <p:cNvSpPr txBox="1"/>
          <p:nvPr/>
        </p:nvSpPr>
        <p:spPr>
          <a:xfrm>
            <a:off x="6629263" y="4766572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627" name="Google Shape;1627;p11"/>
          <p:cNvCxnSpPr/>
          <p:nvPr/>
        </p:nvCxnSpPr>
        <p:spPr>
          <a:xfrm>
            <a:off x="7440476" y="513645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8" name="Google Shape;1628;p11"/>
          <p:cNvCxnSpPr/>
          <p:nvPr/>
        </p:nvCxnSpPr>
        <p:spPr>
          <a:xfrm rot="10800000">
            <a:off x="5595801" y="513169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11"/>
          <p:cNvCxnSpPr/>
          <p:nvPr/>
        </p:nvCxnSpPr>
        <p:spPr>
          <a:xfrm>
            <a:off x="8434251" y="5001522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FDMA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7" name="Google Shape;1637;p12"/>
          <p:cNvSpPr txBox="1"/>
          <p:nvPr/>
        </p:nvSpPr>
        <p:spPr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FDMA: frequency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spectrum divided into frequency bands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assigned fixed frequency band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transmission time in frequency bands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 to send, frequency bands 2,5,6 idle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2"/>
          <p:cNvSpPr/>
          <p:nvPr/>
        </p:nvSpPr>
        <p:spPr>
          <a:xfrm>
            <a:off x="6774416" y="4019343"/>
            <a:ext cx="627062" cy="2251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9" name="Google Shape;1639;p12"/>
          <p:cNvCxnSpPr/>
          <p:nvPr/>
        </p:nvCxnSpPr>
        <p:spPr>
          <a:xfrm flipH="1" rot="10800000">
            <a:off x="6772828" y="5124243"/>
            <a:ext cx="622300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12"/>
          <p:cNvCxnSpPr/>
          <p:nvPr/>
        </p:nvCxnSpPr>
        <p:spPr>
          <a:xfrm flipH="1" rot="10800000">
            <a:off x="6768066" y="5516355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1" name="Google Shape;1641;p12"/>
          <p:cNvCxnSpPr/>
          <p:nvPr/>
        </p:nvCxnSpPr>
        <p:spPr>
          <a:xfrm flipH="1" rot="10800000">
            <a:off x="6772828" y="5902118"/>
            <a:ext cx="627063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2" name="Google Shape;1642;p12"/>
          <p:cNvCxnSpPr/>
          <p:nvPr/>
        </p:nvCxnSpPr>
        <p:spPr>
          <a:xfrm flipH="1" rot="10800000">
            <a:off x="6768066" y="4738480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12"/>
          <p:cNvCxnSpPr/>
          <p:nvPr/>
        </p:nvCxnSpPr>
        <p:spPr>
          <a:xfrm flipH="1" rot="10800000">
            <a:off x="6772828" y="4352718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4" name="Google Shape;1644;p12"/>
          <p:cNvCxnSpPr/>
          <p:nvPr/>
        </p:nvCxnSpPr>
        <p:spPr>
          <a:xfrm>
            <a:off x="7493553" y="42923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5" name="Google Shape;1645;p12"/>
          <p:cNvSpPr/>
          <p:nvPr/>
        </p:nvSpPr>
        <p:spPr>
          <a:xfrm>
            <a:off x="7641191" y="4173330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6" name="Google Shape;1646;p12"/>
          <p:cNvCxnSpPr/>
          <p:nvPr/>
        </p:nvCxnSpPr>
        <p:spPr>
          <a:xfrm>
            <a:off x="7541178" y="4695618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7" name="Google Shape;1647;p12"/>
          <p:cNvCxnSpPr/>
          <p:nvPr/>
        </p:nvCxnSpPr>
        <p:spPr>
          <a:xfrm>
            <a:off x="7541178" y="5094080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8" name="Google Shape;1648;p12"/>
          <p:cNvSpPr/>
          <p:nvPr/>
        </p:nvSpPr>
        <p:spPr>
          <a:xfrm>
            <a:off x="7688816" y="4975018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9" name="Google Shape;1649;p12"/>
          <p:cNvGrpSpPr/>
          <p:nvPr/>
        </p:nvGrpSpPr>
        <p:grpSpPr>
          <a:xfrm>
            <a:off x="7558641" y="5379830"/>
            <a:ext cx="2228850" cy="119063"/>
            <a:chOff x="1884" y="2826"/>
            <a:chExt cx="1404" cy="75"/>
          </a:xfrm>
        </p:grpSpPr>
        <p:cxnSp>
          <p:nvCxnSpPr>
            <p:cNvPr id="1650" name="Google Shape;1650;p12"/>
            <p:cNvCxnSpPr/>
            <p:nvPr/>
          </p:nvCxnSpPr>
          <p:spPr>
            <a:xfrm>
              <a:off x="1884" y="2901"/>
              <a:ext cx="1404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651" name="Google Shape;1651;p12"/>
            <p:cNvSpPr/>
            <p:nvPr/>
          </p:nvSpPr>
          <p:spPr>
            <a:xfrm>
              <a:off x="1977" y="2826"/>
              <a:ext cx="1089" cy="72"/>
            </a:xfrm>
            <a:custGeom>
              <a:rect b="b" l="l" r="r" t="t"/>
              <a:pathLst>
                <a:path extrusionOk="0" h="72" w="1089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52" name="Google Shape;1652;p12"/>
          <p:cNvCxnSpPr/>
          <p:nvPr/>
        </p:nvCxnSpPr>
        <p:spPr>
          <a:xfrm>
            <a:off x="7588803" y="59052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3" name="Google Shape;1653;p12"/>
          <p:cNvSpPr txBox="1"/>
          <p:nvPr/>
        </p:nvSpPr>
        <p:spPr>
          <a:xfrm rot="-5400000">
            <a:off x="5570297" y="4899612"/>
            <a:ext cx="1873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 bands</a:t>
            </a:r>
            <a:endParaRPr/>
          </a:p>
        </p:txBody>
      </p:sp>
      <p:sp>
        <p:nvSpPr>
          <p:cNvPr id="1654" name="Google Shape;1654;p12"/>
          <p:cNvSpPr txBox="1"/>
          <p:nvPr/>
        </p:nvSpPr>
        <p:spPr>
          <a:xfrm rot="67766">
            <a:off x="9479516" y="3841543"/>
            <a:ext cx="615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1655" name="Google Shape;1655;p12"/>
          <p:cNvSpPr/>
          <p:nvPr/>
        </p:nvSpPr>
        <p:spPr>
          <a:xfrm>
            <a:off x="4178853" y="4228893"/>
            <a:ext cx="595313" cy="1538287"/>
          </a:xfrm>
          <a:custGeom>
            <a:rect b="b" l="l" r="r" t="t"/>
            <a:pathLst>
              <a:path extrusionOk="0" h="969" w="375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6" name="Google Shape;1656;p12"/>
          <p:cNvGrpSpPr/>
          <p:nvPr/>
        </p:nvGrpSpPr>
        <p:grpSpPr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1657" name="Google Shape;1657;p12"/>
            <p:cNvSpPr/>
            <p:nvPr/>
          </p:nvSpPr>
          <p:spPr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"/>
            <p:cNvSpPr/>
            <p:nvPr/>
          </p:nvSpPr>
          <p:spPr>
            <a:xfrm>
              <a:off x="1614" y="1494"/>
              <a:ext cx="896" cy="198"/>
            </a:xfrm>
            <a:custGeom>
              <a:rect b="b" l="l" r="r" t="t"/>
              <a:pathLst>
                <a:path extrusionOk="0" h="198" w="896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"/>
            <p:cNvSpPr/>
            <p:nvPr/>
          </p:nvSpPr>
          <p:spPr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0" name="Google Shape;1660;p12"/>
            <p:cNvCxnSpPr/>
            <p:nvPr/>
          </p:nvCxnSpPr>
          <p:spPr>
            <a:xfrm>
              <a:off x="2526" y="1584"/>
              <a:ext cx="1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61" name="Google Shape;1661;p12"/>
          <p:cNvSpPr txBox="1"/>
          <p:nvPr/>
        </p:nvSpPr>
        <p:spPr>
          <a:xfrm>
            <a:off x="2589766" y="5579855"/>
            <a:ext cx="1289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FDM cable</a:t>
            </a:r>
            <a:endParaRPr/>
          </a:p>
        </p:txBody>
      </p:sp>
      <p:sp>
        <p:nvSpPr>
          <p:cNvPr id="1662" name="Google Shape;1662;p12"/>
          <p:cNvSpPr/>
          <p:nvPr/>
        </p:nvSpPr>
        <p:spPr>
          <a:xfrm>
            <a:off x="5002905" y="5527821"/>
            <a:ext cx="1003515" cy="275129"/>
          </a:xfrm>
          <a:custGeom>
            <a:rect b="b" l="l" r="r" t="t"/>
            <a:pathLst>
              <a:path extrusionOk="0" h="437864" w="1937289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3" name="Google Shape;1663;p12"/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1664" name="Google Shape;1664;p12"/>
            <p:cNvSpPr/>
            <p:nvPr/>
          </p:nvSpPr>
          <p:spPr>
            <a:xfrm>
              <a:off x="4298196" y="6444710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12"/>
            <p:cNvSpPr/>
            <p:nvPr/>
          </p:nvSpPr>
          <p:spPr>
            <a:xfrm>
              <a:off x="4749638" y="6449877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6" name="Google Shape;1666;p12"/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1667" name="Google Shape;1667;p12"/>
            <p:cNvSpPr/>
            <p:nvPr/>
          </p:nvSpPr>
          <p:spPr>
            <a:xfrm>
              <a:off x="4343400" y="5348498"/>
              <a:ext cx="614122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2"/>
            <p:cNvSpPr/>
            <p:nvPr/>
          </p:nvSpPr>
          <p:spPr>
            <a:xfrm>
              <a:off x="4951503" y="5353664"/>
              <a:ext cx="385251" cy="272673"/>
            </a:xfrm>
            <a:custGeom>
              <a:rect b="b" l="l" r="r" t="t"/>
              <a:pathLst>
                <a:path extrusionOk="0" h="433956" w="1215300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Random access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6" name="Google Shape;1676;p13"/>
          <p:cNvSpPr txBox="1"/>
          <p:nvPr/>
        </p:nvSpPr>
        <p:spPr>
          <a:xfrm>
            <a:off x="904460" y="1438619"/>
            <a:ext cx="11393557" cy="489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28733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node has packet to send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 at full channel data rate R.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priori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coordination among nodes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 more transmitting nodes: “collision” 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MAC protocol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specifies: 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detect collisions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recover from collisions (e.g., via delayed retransmissions)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random access MAC protocols: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ALOHA, slotted ALOHA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CSMA, CSMA/CD, CSMA/CA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 (carrier sense multiple access)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4" name="Google Shape;1684;p14"/>
          <p:cNvSpPr txBox="1"/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listen before transmit: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idle: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transmit entire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busy: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defer transmission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don’t interrupt others!</a:t>
            </a:r>
            <a:endParaRPr/>
          </a:p>
        </p:txBody>
      </p:sp>
      <p:sp>
        <p:nvSpPr>
          <p:cNvPr id="1685" name="Google Shape;1685;p14"/>
          <p:cNvSpPr txBox="1"/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 with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 detection</a:t>
            </a:r>
            <a:endParaRPr i="1" sz="28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short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colliding transmissions aborted, reducing channel wastage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detection easy in wired, difficult with 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the polite conversationalist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3" name="Google Shape;1693;p15"/>
          <p:cNvSpPr txBox="1"/>
          <p:nvPr/>
        </p:nvSpPr>
        <p:spPr>
          <a:xfrm>
            <a:off x="997225" y="1454426"/>
            <a:ext cx="105984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channel partitioning MAC protocols: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channel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high load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inefficient at low load: delay in channel access, 1/N bandwidth allocated even if only 1 active node!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random access MAC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at low load: single node can fully utilize channel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load: collision overhead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best of both worlds!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01" name="Google Shape;1701;p16"/>
          <p:cNvGrpSpPr/>
          <p:nvPr/>
        </p:nvGrpSpPr>
        <p:grpSpPr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descr="desktop_computer_stylized_medium" id="1702" name="Google Shape;170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3" name="Google Shape;1703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4" name="Google Shape;1704;p16"/>
          <p:cNvGrpSpPr/>
          <p:nvPr/>
        </p:nvGrpSpPr>
        <p:grpSpPr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descr="desktop_computer_stylized_medium" id="1705" name="Google Shape;170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6" name="Google Shape;1706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7" name="Google Shape;1707;p16"/>
          <p:cNvGrpSpPr/>
          <p:nvPr/>
        </p:nvGrpSpPr>
        <p:grpSpPr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descr="desktop_computer_stylized_medium" id="1708" name="Google Shape;170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9" name="Google Shape;1709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0" name="Google Shape;1710;p16"/>
          <p:cNvGrpSpPr/>
          <p:nvPr/>
        </p:nvGrpSpPr>
        <p:grpSpPr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descr="desktop_computer_stylized_medium" id="1711" name="Google Shape;171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3" name="Google Shape;1713;p16"/>
          <p:cNvGrpSpPr/>
          <p:nvPr/>
        </p:nvGrpSpPr>
        <p:grpSpPr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descr="desktop_computer_stylized_medium" id="1714" name="Google Shape;171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5" name="Google Shape;1715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6" name="Google Shape;1716;p16"/>
          <p:cNvSpPr txBox="1"/>
          <p:nvPr/>
        </p:nvSpPr>
        <p:spPr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polling:</a:t>
            </a:r>
            <a:r>
              <a:rPr b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node “invites” other nodes to transmit in turn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used with “dumb” devices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polling overhead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(master)</a:t>
            </a:r>
            <a:endParaRPr/>
          </a:p>
        </p:txBody>
      </p:sp>
      <p:cxnSp>
        <p:nvCxnSpPr>
          <p:cNvPr id="1717" name="Google Shape;1717;p16"/>
          <p:cNvCxnSpPr/>
          <p:nvPr/>
        </p:nvCxnSpPr>
        <p:spPr>
          <a:xfrm>
            <a:off x="8909464" y="2675834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8" name="Google Shape;1718;p16"/>
          <p:cNvSpPr txBox="1"/>
          <p:nvPr/>
        </p:nvSpPr>
        <p:spPr>
          <a:xfrm>
            <a:off x="10071237" y="3129859"/>
            <a:ext cx="9588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/>
          </a:p>
        </p:txBody>
      </p:sp>
      <p:sp>
        <p:nvSpPr>
          <p:cNvPr id="1719" name="Google Shape;1719;p16"/>
          <p:cNvSpPr txBox="1"/>
          <p:nvPr/>
        </p:nvSpPr>
        <p:spPr>
          <a:xfrm>
            <a:off x="7445789" y="4715772"/>
            <a:ext cx="904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slaves</a:t>
            </a:r>
            <a:endParaRPr/>
          </a:p>
        </p:txBody>
      </p:sp>
      <p:grpSp>
        <p:nvGrpSpPr>
          <p:cNvPr id="1720" name="Google Shape;1720;p16"/>
          <p:cNvGrpSpPr/>
          <p:nvPr/>
        </p:nvGrpSpPr>
        <p:grpSpPr>
          <a:xfrm>
            <a:off x="9804814" y="2544072"/>
            <a:ext cx="560388" cy="336550"/>
            <a:chOff x="4212" y="2864"/>
            <a:chExt cx="353" cy="212"/>
          </a:xfrm>
        </p:grpSpPr>
        <p:sp>
          <p:nvSpPr>
            <p:cNvPr id="1721" name="Google Shape;1721;p16"/>
            <p:cNvSpPr/>
            <p:nvPr/>
          </p:nvSpPr>
          <p:spPr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6"/>
            <p:cNvSpPr txBox="1"/>
            <p:nvPr/>
          </p:nvSpPr>
          <p:spPr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poll</a:t>
              </a:r>
              <a:endParaRPr/>
            </a:p>
          </p:txBody>
        </p:sp>
      </p:grpSp>
      <p:grpSp>
        <p:nvGrpSpPr>
          <p:cNvPr id="1723" name="Google Shape;1723;p16"/>
          <p:cNvGrpSpPr/>
          <p:nvPr/>
        </p:nvGrpSpPr>
        <p:grpSpPr>
          <a:xfrm>
            <a:off x="7853777" y="3466409"/>
            <a:ext cx="595312" cy="336550"/>
            <a:chOff x="4415" y="2364"/>
            <a:chExt cx="375" cy="212"/>
          </a:xfrm>
        </p:grpSpPr>
        <p:sp>
          <p:nvSpPr>
            <p:cNvPr id="1724" name="Google Shape;1724;p16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6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grpSp>
        <p:nvGrpSpPr>
          <p:cNvPr id="1726" name="Google Shape;1726;p16"/>
          <p:cNvGrpSpPr/>
          <p:nvPr/>
        </p:nvGrpSpPr>
        <p:grpSpPr>
          <a:xfrm>
            <a:off x="8360189" y="2348809"/>
            <a:ext cx="595313" cy="336550"/>
            <a:chOff x="4415" y="2364"/>
            <a:chExt cx="375" cy="212"/>
          </a:xfrm>
        </p:grpSpPr>
        <p:sp>
          <p:nvSpPr>
            <p:cNvPr id="1727" name="Google Shape;1727;p16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6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cxnSp>
        <p:nvCxnSpPr>
          <p:cNvPr id="1729" name="Google Shape;1729;p16"/>
          <p:cNvCxnSpPr/>
          <p:nvPr/>
        </p:nvCxnSpPr>
        <p:spPr>
          <a:xfrm>
            <a:off x="9003957" y="3002692"/>
            <a:ext cx="12933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30" name="Google Shape;1730;p16"/>
          <p:cNvCxnSpPr>
            <a:endCxn id="1717" idx="1"/>
          </p:cNvCxnSpPr>
          <p:nvPr/>
        </p:nvCxnSpPr>
        <p:spPr>
          <a:xfrm flipH="1" rot="10800000">
            <a:off x="8896147" y="2675797"/>
            <a:ext cx="267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31" name="Google Shape;1731;p16"/>
          <p:cNvCxnSpPr/>
          <p:nvPr/>
        </p:nvCxnSpPr>
        <p:spPr>
          <a:xfrm flipH="1" rot="10800000">
            <a:off x="8311979" y="2673178"/>
            <a:ext cx="848497" cy="177525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32" name="Google Shape;1732;p16"/>
          <p:cNvCxnSpPr/>
          <p:nvPr/>
        </p:nvCxnSpPr>
        <p:spPr>
          <a:xfrm flipH="1" rot="10800000">
            <a:off x="8607823" y="3240127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33" name="Google Shape;1733;p16"/>
          <p:cNvCxnSpPr/>
          <p:nvPr/>
        </p:nvCxnSpPr>
        <p:spPr>
          <a:xfrm flipH="1" rot="10800000">
            <a:off x="8327736" y="3862084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34" name="Google Shape;1734;p16"/>
          <p:cNvCxnSpPr/>
          <p:nvPr/>
        </p:nvCxnSpPr>
        <p:spPr>
          <a:xfrm flipH="1" rot="10800000">
            <a:off x="8051769" y="4446971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2" name="Google Shape;1742;p17"/>
          <p:cNvSpPr/>
          <p:nvPr/>
        </p:nvSpPr>
        <p:spPr>
          <a:xfrm>
            <a:off x="1244600" y="1490663"/>
            <a:ext cx="5194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 passing:</a:t>
            </a:r>
            <a:endParaRPr b="1"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937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b="1"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passed from one node to next sequentially.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message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overhead 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(token)</a:t>
            </a:r>
            <a:endParaRPr/>
          </a:p>
        </p:txBody>
      </p:sp>
      <p:grpSp>
        <p:nvGrpSpPr>
          <p:cNvPr id="1743" name="Google Shape;1743;p17"/>
          <p:cNvGrpSpPr/>
          <p:nvPr/>
        </p:nvGrpSpPr>
        <p:grpSpPr>
          <a:xfrm>
            <a:off x="9718675" y="3262312"/>
            <a:ext cx="781050" cy="681038"/>
            <a:chOff x="-44" y="1473"/>
            <a:chExt cx="981" cy="1105"/>
          </a:xfrm>
        </p:grpSpPr>
        <p:pic>
          <p:nvPicPr>
            <p:cNvPr descr="desktop_computer_stylized_medium" id="1744" name="Google Shape;174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5" name="Google Shape;1745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6" name="Google Shape;1746;p17"/>
          <p:cNvGrpSpPr/>
          <p:nvPr/>
        </p:nvGrpSpPr>
        <p:grpSpPr>
          <a:xfrm>
            <a:off x="7004050" y="3219450"/>
            <a:ext cx="781050" cy="681037"/>
            <a:chOff x="-44" y="1473"/>
            <a:chExt cx="981" cy="1105"/>
          </a:xfrm>
        </p:grpSpPr>
        <p:pic>
          <p:nvPicPr>
            <p:cNvPr descr="desktop_computer_stylized_medium" id="1747" name="Google Shape;174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8" name="Google Shape;1748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9" name="Google Shape;1749;p17"/>
          <p:cNvGrpSpPr/>
          <p:nvPr/>
        </p:nvGrpSpPr>
        <p:grpSpPr>
          <a:xfrm>
            <a:off x="8321675" y="1555750"/>
            <a:ext cx="781050" cy="681037"/>
            <a:chOff x="-44" y="1473"/>
            <a:chExt cx="981" cy="1105"/>
          </a:xfrm>
        </p:grpSpPr>
        <p:pic>
          <p:nvPicPr>
            <p:cNvPr descr="desktop_computer_stylized_medium" id="1750" name="Google Shape;175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1" name="Google Shape;1751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2" name="Google Shape;1752;p17"/>
          <p:cNvGrpSpPr/>
          <p:nvPr/>
        </p:nvGrpSpPr>
        <p:grpSpPr>
          <a:xfrm>
            <a:off x="8375650" y="5003800"/>
            <a:ext cx="781050" cy="681037"/>
            <a:chOff x="-44" y="1473"/>
            <a:chExt cx="981" cy="1105"/>
          </a:xfrm>
        </p:grpSpPr>
        <p:pic>
          <p:nvPicPr>
            <p:cNvPr descr="desktop_computer_stylized_medium" id="1753" name="Google Shape;175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4" name="Google Shape;1754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5" name="Google Shape;1755;p17"/>
          <p:cNvSpPr/>
          <p:nvPr/>
        </p:nvSpPr>
        <p:spPr>
          <a:xfrm>
            <a:off x="7850188" y="2212975"/>
            <a:ext cx="2046287" cy="2778125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7"/>
          <p:cNvSpPr/>
          <p:nvPr/>
        </p:nvSpPr>
        <p:spPr>
          <a:xfrm>
            <a:off x="8694738" y="1320800"/>
            <a:ext cx="274637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1757" name="Google Shape;1757;p17"/>
          <p:cNvSpPr/>
          <p:nvPr/>
        </p:nvSpPr>
        <p:spPr>
          <a:xfrm>
            <a:off x="8439150" y="5603875"/>
            <a:ext cx="811213" cy="32067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1758" name="Google Shape;1758;p17"/>
          <p:cNvSpPr txBox="1"/>
          <p:nvPr/>
        </p:nvSpPr>
        <p:spPr>
          <a:xfrm>
            <a:off x="6831013" y="2674937"/>
            <a:ext cx="1009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send)</a:t>
            </a:r>
            <a:endParaRPr/>
          </a:p>
        </p:txBody>
      </p:sp>
      <p:sp>
        <p:nvSpPr>
          <p:cNvPr id="1759" name="Google Shape;1759;p17"/>
          <p:cNvSpPr/>
          <p:nvPr/>
        </p:nvSpPr>
        <p:spPr>
          <a:xfrm>
            <a:off x="7327900" y="3338512"/>
            <a:ext cx="274638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7" name="Google Shape;1767;p18"/>
          <p:cNvSpPr txBox="1"/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32-bit IP address: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address for interface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layer 3 (network layer) forwarding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128.119.40.136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8" name="Google Shape;1768;p18"/>
          <p:cNvSpPr txBox="1"/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(or LAN or physical or Ethernet) address: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used “locally” to get frame from one interface to another physically-connected interface (same subnet, in IP-addressing sense)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48-bit MAC address (for most LANs) burned in NIC ROM, also sometimes software settable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69" name="Google Shape;1769;p18"/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1770" name="Google Shape;1770;p18"/>
            <p:cNvSpPr txBox="1"/>
            <p:nvPr/>
          </p:nvSpPr>
          <p:spPr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hexadecimal (base 16) notation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(each “numeral” represents 4 bits)</a:t>
              </a:r>
              <a:endParaRPr/>
            </a:p>
          </p:txBody>
        </p:sp>
        <p:cxnSp>
          <p:nvCxnSpPr>
            <p:cNvPr id="1771" name="Google Shape;1771;p18"/>
            <p:cNvCxnSpPr/>
            <p:nvPr/>
          </p:nvCxnSpPr>
          <p:spPr>
            <a:xfrm rot="10800000">
              <a:off x="5021744" y="5895906"/>
              <a:ext cx="623681" cy="2133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2" name="Google Shape;1772;p18"/>
            <p:cNvSpPr txBox="1"/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31775" lvl="1" marL="695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e.g.: 1A-2F-BB-76-09-AD</a:t>
              </a:r>
              <a:endParaRPr/>
            </a:p>
            <a:p>
              <a:pPr indent="-793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8" name="Google Shape;1778;p19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9" name="Google Shape;1779;p19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19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1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3" name="Google Shape;1783;p19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4" name="Google Shape;1784;p19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19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6" name="Google Shape;1786;p19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1787" name="Google Shape;1787;p19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788" name="Google Shape;1788;p19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1789" name="Google Shape;178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0" name="Google Shape;1790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1" name="Google Shape;1791;p19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92" name="Google Shape;1792;p19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793" name="Google Shape;1793;p19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1794" name="Google Shape;179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5" name="Google Shape;1795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6" name="Google Shape;1796;p19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1797" name="Google Shape;179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8" name="Google Shape;1798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9" name="Google Shape;1799;p19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1800" name="Google Shape;1800;p19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801" name="Google Shape;1801;p19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802" name="Google Shape;1802;p19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803" name="Google Shape;1803;p19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1804" name="Google Shape;1804;p19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5" name="Google Shape;1805;p19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1806" name="Google Shape;1806;p19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07" name="Google Shape;1807;p19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1808" name="Google Shape;180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9" name="Google Shape;1809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0" name="Google Shape;1810;p19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1811" name="Google Shape;1811;p19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1812" name="Google Shape;1812;p19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813" name="Google Shape;1813;p19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4" name="Google Shape;1814;p19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1815" name="Google Shape;1815;p19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19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1817" name="Google Shape;1817;p19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818" name="Google Shape;1818;p19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19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20" name="Google Shape;1820;p19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821" name="Google Shape;1821;p19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822" name="Google Shape;1822;p19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1823" name="Google Shape;1823;p19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9"/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1825" name="Google Shape;1825;p19"/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broadcasts ARP query, containing B's IP addr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MAC address = FF-FF-FF-FF-FF-FF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nodes on LAN receive ARP query </a:t>
              </a:r>
              <a:endParaRPr/>
            </a:p>
          </p:txBody>
        </p:sp>
        <p:grpSp>
          <p:nvGrpSpPr>
            <p:cNvPr id="1826" name="Google Shape;1826;p19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1827" name="Google Shape;1827;p19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19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829" name="Google Shape;1829;p19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1830" name="Google Shape;1830;p19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9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9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MAC:  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IP: 137.196.7.23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1833" name="Google Shape;1833;p19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1834" name="Google Shape;1834;p19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9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9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37" name="Google Shape;1837;p19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1838" name="Google Shape;1838;p1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1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1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1" name="Google Shape;1841;p19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1842" name="Google Shape;1842;p19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19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1844" name="Google Shape;1844;p19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frame (sent to FF-FF-FF-FF-FF-FF)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0" name="Google Shape;1850;p20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20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2" name="Google Shape;1852;p20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3" name="Google Shape;1853;p2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5" name="Google Shape;1855;p20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6" name="Google Shape;1856;p20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7" name="Google Shape;1857;p20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8" name="Google Shape;1858;p20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1859" name="Google Shape;1859;p20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60" name="Google Shape;1860;p20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1861" name="Google Shape;186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2" name="Google Shape;1862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3" name="Google Shape;1863;p20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64" name="Google Shape;1864;p20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65" name="Google Shape;1865;p20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1866" name="Google Shape;186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8" name="Google Shape;1868;p20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1869" name="Google Shape;186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1" name="Google Shape;1871;p20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1872" name="Google Shape;1872;p20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873" name="Google Shape;1873;p20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874" name="Google Shape;1874;p20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875" name="Google Shape;1875;p20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1876" name="Google Shape;1876;p20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7" name="Google Shape;1877;p20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1878" name="Google Shape;1878;p20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879" name="Google Shape;1879;p20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1880" name="Google Shape;188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1" name="Google Shape;1881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2" name="Google Shape;1882;p20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1883" name="Google Shape;1883;p20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1884" name="Google Shape;1884;p20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885" name="Google Shape;1885;p20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6" name="Google Shape;1886;p20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1887" name="Google Shape;1887;p20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20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1889" name="Google Shape;1889;p20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890" name="Google Shape;1890;p20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0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92" name="Google Shape;1892;p20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893" name="Google Shape;1893;p20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894" name="Google Shape;1894;p20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1895" name="Google Shape;1895;p20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6" name="Google Shape;1896;p20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1897" name="Google Shape;1897;p20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/>
            </a:p>
          </p:txBody>
        </p:sp>
        <p:grpSp>
          <p:nvGrpSpPr>
            <p:cNvPr id="1898" name="Google Shape;1898;p20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1899" name="Google Shape;1899;p20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0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901" name="Google Shape;1901;p20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1902" name="Google Shape;1902;p20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20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58-23-D7-FA-20-B0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1905" name="Google Shape;1905;p20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1906" name="Google Shape;1906;p20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07" name="Google Shape;1907;p20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908" name="Google Shape;1908;p20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20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0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1" name="Google Shape;1911;p20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1912" name="Google Shape;1912;p20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20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1914" name="Google Shape;1914;p20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71-65-F7-2B-08-53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0" name="Google Shape;1920;p21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21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21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3" name="Google Shape;1923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5" name="Google Shape;1925;p21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6" name="Google Shape;1926;p21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21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8" name="Google Shape;1928;p21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1929" name="Google Shape;1929;p21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930" name="Google Shape;1930;p21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1931" name="Google Shape;1931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3" name="Google Shape;1933;p21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34" name="Google Shape;1934;p21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935" name="Google Shape;1935;p21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1936" name="Google Shape;193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7" name="Google Shape;1937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8" name="Google Shape;1938;p21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1939" name="Google Shape;193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0" name="Google Shape;1940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1" name="Google Shape;1941;p21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1942" name="Google Shape;1942;p21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943" name="Google Shape;1943;p21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944" name="Google Shape;1944;p21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945" name="Google Shape;1945;p21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1946" name="Google Shape;1946;p21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7" name="Google Shape;1947;p21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1948" name="Google Shape;1948;p21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949" name="Google Shape;1949;p21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1950" name="Google Shape;195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1" name="Google Shape;1951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2" name="Google Shape;1952;p21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1953" name="Google Shape;1953;p21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1954" name="Google Shape;1954;p21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955" name="Google Shape;1955;p21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56" name="Google Shape;1956;p21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1957" name="Google Shape;1957;p21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21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1959" name="Google Shape;1959;p21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60" name="Google Shape;1960;p21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1" name="Google Shape;1961;p21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62" name="Google Shape;1962;p21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963" name="Google Shape;1963;p21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64" name="Google Shape;1964;p21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1965" name="Google Shape;1965;p21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6" name="Google Shape;1966;p21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1967" name="Google Shape;1967;p21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/>
            </a:p>
          </p:txBody>
        </p:sp>
        <p:grpSp>
          <p:nvGrpSpPr>
            <p:cNvPr id="1968" name="Google Shape;1968;p21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1969" name="Google Shape;1969;p21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21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1971" name="Google Shape;1971;p21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1972" name="Google Shape;1972;p21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3" name="Google Shape;1973;p21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974" name="Google Shape;1974;p21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1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21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77" name="Google Shape;1977;p21"/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1978" name="Google Shape;1978;p21"/>
            <p:cNvSpPr txBox="1"/>
            <p:nvPr/>
          </p:nvSpPr>
          <p:spPr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137.196.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7.14</a:t>
              </a:r>
              <a:endParaRPr/>
            </a:p>
          </p:txBody>
        </p:sp>
        <p:sp>
          <p:nvSpPr>
            <p:cNvPr id="1979" name="Google Shape;1979;p21"/>
            <p:cNvSpPr txBox="1"/>
            <p:nvPr/>
          </p:nvSpPr>
          <p:spPr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/>
            </a:p>
          </p:txBody>
        </p:sp>
        <p:sp>
          <p:nvSpPr>
            <p:cNvPr id="1980" name="Google Shape;1980;p21"/>
            <p:cNvSpPr txBox="1"/>
            <p:nvPr/>
          </p:nvSpPr>
          <p:spPr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8" name="Google Shape;1988;p22"/>
          <p:cNvSpPr txBox="1"/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25" lvl="0" marL="111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walkthrough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sending a  datagram from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-225425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addressing – at IP (datagram) and MAC layer (frame) levels</a:t>
            </a:r>
            <a:endParaRPr/>
          </a:p>
        </p:txBody>
      </p:sp>
      <p:cxnSp>
        <p:nvCxnSpPr>
          <p:cNvPr id="1989" name="Google Shape;1989;p22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0" name="Google Shape;1990;p22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22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2" name="Google Shape;1992;p22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22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4" name="Google Shape;1994;p22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1995" name="Google Shape;1995;p22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22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7" name="Google Shape;1997;p22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22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1999" name="Google Shape;1999;p22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000" name="Google Shape;2000;p22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001" name="Google Shape;2001;p22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002" name="Google Shape;2002;p22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003" name="Google Shape;2003;p2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04" name="Google Shape;2004;p2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05" name="Google Shape;2005;p2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06" name="Google Shape;2006;p2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2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2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010" name="Google Shape;2010;p22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011" name="Google Shape;2011;p22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012" name="Google Shape;201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3" name="Google Shape;2013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4" name="Google Shape;2014;p22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015" name="Google Shape;2015;p22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016" name="Google Shape;201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7" name="Google Shape;2017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8" name="Google Shape;2018;p22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9" name="Google Shape;2019;p22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020" name="Google Shape;2020;p22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021" name="Google Shape;202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2" name="Google Shape;2022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3" name="Google Shape;2023;p22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024" name="Google Shape;202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5" name="Google Shape;2025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6" name="Google Shape;2026;p22"/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027" name="Google Shape;2027;p22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028" name="Google Shape;2028;p22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029" name="Google Shape;2029;p22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030" name="Google Shape;2030;p22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031" name="Google Shape;2031;p22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032" name="Google Shape;2032;p22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033" name="Google Shape;2033;p22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034" name="Google Shape;2034;p22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035" name="Google Shape;2035;p22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cxnSp>
          <p:nvCxnSpPr>
            <p:cNvPr id="2036" name="Google Shape;2036;p22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37" name="Google Shape;2037;p22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38" name="Google Shape;2038;p22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039" name="Google Shape;2039;p22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040" name="Google Shape;2040;p22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041" name="Google Shape;2041;p22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042" name="Google Shape;2042;p22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sp>
          <p:nvSpPr>
            <p:cNvPr id="2043" name="Google Shape;2043;p22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044" name="Google Shape;2044;p22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045" name="Google Shape;2045;p22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046" name="Google Shape;2046;p22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2047" name="Google Shape;2047;p22"/>
          <p:cNvSpPr txBox="1"/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that: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B’s IP address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IP address of first hop router, R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R’s MAC address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2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55" name="Google Shape;2055;p23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2056" name="Google Shape;2056;p23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057" name="Google Shape;2057;p23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23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059" name="Google Shape;2059;p23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060" name="Google Shape;2060;p23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061" name="Google Shape;2061;p23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062" name="Google Shape;2062;p23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063" name="Google Shape;2063;p23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064" name="Google Shape;2064;p23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065" name="Google Shape;2065;p23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066" name="Google Shape;2066;p23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8" name="Google Shape;2068;p23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9" name="Google Shape;2069;p23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0" name="Google Shape;2070;p23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71" name="Google Shape;2071;p23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72" name="Google Shape;2072;p23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073" name="Google Shape;2073;p23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4" name="Google Shape;2074;p23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2075" name="Google Shape;2075;p23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076" name="Google Shape;2076;p23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077" name="Google Shape;2077;p23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2078" name="Google Shape;2078;p23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9" name="Google Shape;2079;p23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080" name="Google Shape;2080;p23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081" name="Google Shape;2081;p23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2" name="Google Shape;2082;p23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23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2084" name="Google Shape;2084;p23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2085" name="Google Shape;2085;p23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086" name="Google Shape;2086;p23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2087" name="Google Shape;2087;p23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2088" name="Google Shape;2088;p23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089" name="Google Shape;2089;p23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90" name="Google Shape;2090;p23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91" name="Google Shape;2091;p23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92" name="Google Shape;2092;p23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93" name="Google Shape;2093;p23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94" name="Google Shape;2094;p23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095" name="Google Shape;2095;p23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096" name="Google Shape;2096;p23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2097" name="Google Shape;2097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8" name="Google Shape;2098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9" name="Google Shape;2099;p23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100" name="Google Shape;2100;p23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2101" name="Google Shape;2101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2" name="Google Shape;2102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3" name="Google Shape;2103;p23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104" name="Google Shape;2104;p23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105" name="Google Shape;2105;p23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2106" name="Google Shape;2106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7" name="Google Shape;2107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8" name="Google Shape;2108;p23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2109" name="Google Shape;2109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0" name="Google Shape;2110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11" name="Google Shape;2111;p23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112" name="Google Shape;2112;p23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2113" name="Google Shape;2113;p23"/>
          <p:cNvSpPr/>
          <p:nvPr/>
        </p:nvSpPr>
        <p:spPr>
          <a:xfrm>
            <a:off x="3527282" y="3404150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4" name="Google Shape;2114;p23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2115" name="Google Shape;2115;p23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23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23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2118" name="Google Shape;2118;p23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9" name="Google Shape;2119;p23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0" name="Google Shape;2120;p23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1" name="Google Shape;2121;p23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22" name="Google Shape;2122;p23"/>
          <p:cNvGrpSpPr/>
          <p:nvPr/>
        </p:nvGrpSpPr>
        <p:grpSpPr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2123" name="Google Shape;2123;p23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2124" name="Google Shape;2124;p23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5" name="Google Shape;2125;p23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6" name="Google Shape;2126;p23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27" name="Google Shape;2127;p23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2128" name="Google Shape;2128;p23"/>
          <p:cNvGrpSpPr/>
          <p:nvPr/>
        </p:nvGrpSpPr>
        <p:grpSpPr>
          <a:xfrm>
            <a:off x="3166920" y="3221588"/>
            <a:ext cx="146050" cy="385762"/>
            <a:chOff x="1272" y="1762"/>
            <a:chExt cx="92" cy="243"/>
          </a:xfrm>
        </p:grpSpPr>
        <p:cxnSp>
          <p:nvCxnSpPr>
            <p:cNvPr id="2129" name="Google Shape;2129;p23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0" name="Google Shape;2130;p23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31" name="Google Shape;2131;p23"/>
          <p:cNvSpPr/>
          <p:nvPr/>
        </p:nvSpPr>
        <p:spPr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IP datagram with IP source A, destination B </a:t>
            </a:r>
            <a:endParaRPr/>
          </a:p>
        </p:txBody>
      </p:sp>
      <p:sp>
        <p:nvSpPr>
          <p:cNvPr id="2132" name="Google Shape;2132;p23"/>
          <p:cNvSpPr/>
          <p:nvPr/>
        </p:nvSpPr>
        <p:spPr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link-layer frame containing A-to-B IP datagram</a:t>
            </a:r>
            <a:endParaRPr/>
          </a:p>
          <a:p>
            <a:pPr indent="-231775" lvl="1" marL="57467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R's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is frame’s destination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3" name="Google Shape;2133;p23"/>
          <p:cNvGrpSpPr/>
          <p:nvPr/>
        </p:nvGrpSpPr>
        <p:grpSpPr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134" name="Google Shape;2134;p23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/>
            </a:p>
          </p:txBody>
        </p:sp>
        <p:grpSp>
          <p:nvGrpSpPr>
            <p:cNvPr id="2135" name="Google Shape;2135;p23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136" name="Google Shape;2136;p23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38" name="Google Shape;2138;p23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9" name="Google Shape;2139;p23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0" name="Google Shape;2140;p23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1" name="Google Shape;2141;p23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42" name="Google Shape;2142;p23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43" name="Google Shape;2143;p23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44" name="Google Shape;2144;p23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45" name="Google Shape;2145;p23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2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53" name="Google Shape;2153;p24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2154" name="Google Shape;2154;p24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155" name="Google Shape;2155;p24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24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157" name="Google Shape;2157;p24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158" name="Google Shape;2158;p24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159" name="Google Shape;2159;p24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160" name="Google Shape;2160;p24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161" name="Google Shape;2161;p24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162" name="Google Shape;2162;p24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163" name="Google Shape;2163;p24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164" name="Google Shape;2164;p24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66" name="Google Shape;2166;p24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7" name="Google Shape;2167;p24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8" name="Google Shape;2168;p24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9" name="Google Shape;2169;p24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70" name="Google Shape;2170;p24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171" name="Google Shape;2171;p24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72" name="Google Shape;2172;p24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2173" name="Google Shape;2173;p24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174" name="Google Shape;2174;p24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175" name="Google Shape;2175;p24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2176" name="Google Shape;2176;p24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77" name="Google Shape;2177;p24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178" name="Google Shape;2178;p24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179" name="Google Shape;2179;p24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0" name="Google Shape;2180;p24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24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2182" name="Google Shape;2182;p24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2183" name="Google Shape;2183;p24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184" name="Google Shape;2184;p24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2185" name="Google Shape;2185;p24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2186" name="Google Shape;2186;p24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187" name="Google Shape;2187;p24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188" name="Google Shape;2188;p24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189" name="Google Shape;2189;p24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0" name="Google Shape;2190;p24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1" name="Google Shape;2191;p24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2" name="Google Shape;2192;p24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193" name="Google Shape;2193;p24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194" name="Google Shape;2194;p24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2195" name="Google Shape;2195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6" name="Google Shape;2196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97" name="Google Shape;2197;p24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198" name="Google Shape;2198;p24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2199" name="Google Shape;2199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0" name="Google Shape;2200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1" name="Google Shape;2201;p24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202" name="Google Shape;2202;p24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203" name="Google Shape;2203;p24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2204" name="Google Shape;2204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5" name="Google Shape;2205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6" name="Google Shape;2206;p24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2207" name="Google Shape;2207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8" name="Google Shape;2208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09" name="Google Shape;2209;p24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210" name="Google Shape;2210;p24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grpSp>
        <p:nvGrpSpPr>
          <p:cNvPr id="2211" name="Google Shape;2211;p24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2212" name="Google Shape;2212;p24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24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24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2215" name="Google Shape;2215;p24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6" name="Google Shape;2216;p24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7" name="Google Shape;2217;p24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8" name="Google Shape;2218;p24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19" name="Google Shape;2219;p24"/>
          <p:cNvSpPr/>
          <p:nvPr/>
        </p:nvSpPr>
        <p:spPr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from A to R</a:t>
            </a:r>
            <a:endParaRPr/>
          </a:p>
        </p:txBody>
      </p:sp>
      <p:grpSp>
        <p:nvGrpSpPr>
          <p:cNvPr id="2220" name="Google Shape;2220;p24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221" name="Google Shape;2221;p24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215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4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4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224" name="Google Shape;2224;p24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5" name="Google Shape;2225;p24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6" name="Google Shape;2226;p24"/>
          <p:cNvSpPr/>
          <p:nvPr/>
        </p:nvSpPr>
        <p:spPr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received at R, datagram removed, passed up to IP</a:t>
            </a:r>
            <a:endParaRPr/>
          </a:p>
        </p:txBody>
      </p:sp>
      <p:grpSp>
        <p:nvGrpSpPr>
          <p:cNvPr id="2227" name="Google Shape;2227;p24"/>
          <p:cNvGrpSpPr/>
          <p:nvPr/>
        </p:nvGrpSpPr>
        <p:grpSpPr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28" name="Google Shape;2228;p24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/>
            </a:p>
          </p:txBody>
        </p:sp>
        <p:grpSp>
          <p:nvGrpSpPr>
            <p:cNvPr id="2229" name="Google Shape;2229;p24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230" name="Google Shape;2230;p24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24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2" name="Google Shape;2232;p24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3" name="Google Shape;2233;p24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4" name="Google Shape;2234;p24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5" name="Google Shape;2235;p24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236" name="Google Shape;2236;p24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37" name="Google Shape;2237;p24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38" name="Google Shape;2238;p24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39" name="Google Shape;2239;p24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0" name="Google Shape;2240;p24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2241" name="Google Shape;2241;p24"/>
          <p:cNvGrpSpPr/>
          <p:nvPr/>
        </p:nvGrpSpPr>
        <p:grpSpPr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242" name="Google Shape;2242;p24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3" name="Google Shape;2243;p24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4" name="Google Shape;2244;p24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45" name="Google Shape;2245;p24"/>
          <p:cNvGrpSpPr/>
          <p:nvPr/>
        </p:nvGrpSpPr>
        <p:grpSpPr>
          <a:xfrm>
            <a:off x="4139501" y="2695932"/>
            <a:ext cx="2011363" cy="979488"/>
            <a:chOff x="4493" y="1480"/>
            <a:chExt cx="1267" cy="617"/>
          </a:xfrm>
        </p:grpSpPr>
        <p:cxnSp>
          <p:nvCxnSpPr>
            <p:cNvPr id="2246" name="Google Shape;2246;p24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247" name="Google Shape;2247;p24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8" name="Google Shape;2248;p24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2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56" name="Google Shape;2256;p25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57" name="Google Shape;2257;p25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5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2259" name="Google Shape;2259;p25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2260" name="Google Shape;2260;p25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2261" name="Google Shape;2261;p25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2262" name="Google Shape;2262;p25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2263" name="Google Shape;2263;p25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2264" name="Google Shape;2264;p25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2265" name="Google Shape;2265;p25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2266" name="Google Shape;2266;p25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2267" name="Google Shape;2267;p25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8" name="Google Shape;2268;p25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9" name="Google Shape;2269;p25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0" name="Google Shape;2270;p25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1" name="Google Shape;2271;p25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2" name="Google Shape;2272;p25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73" name="Google Shape;2273;p25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4" name="Google Shape;2274;p25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275" name="Google Shape;2275;p25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2276" name="Google Shape;2276;p25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2277" name="Google Shape;2277;p25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2278" name="Google Shape;2278;p25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25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2280" name="Google Shape;2280;p25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2281" name="Google Shape;2281;p25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2" name="Google Shape;2282;p25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25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2284" name="Google Shape;2284;p25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285" name="Google Shape;2285;p25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286" name="Google Shape;2286;p25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287" name="Google Shape;2287;p25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288" name="Google Shape;2288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289" name="Google Shape;2289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290" name="Google Shape;2290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91" name="Google Shape;2291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2" name="Google Shape;2292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3" name="Google Shape;2293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4" name="Google Shape;2294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295" name="Google Shape;2295;p25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296" name="Google Shape;2296;p25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297" name="Google Shape;229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8" name="Google Shape;2298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9" name="Google Shape;2299;p25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00" name="Google Shape;2300;p25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301" name="Google Shape;230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2" name="Google Shape;2302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3" name="Google Shape;2303;p25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04" name="Google Shape;2304;p25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05" name="Google Shape;2305;p25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306" name="Google Shape;230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7" name="Google Shape;2307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08" name="Google Shape;2308;p25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309" name="Google Shape;2309;p25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310" name="Google Shape;2310;p25"/>
          <p:cNvSpPr/>
          <p:nvPr/>
        </p:nvSpPr>
        <p:spPr>
          <a:xfrm>
            <a:off x="7008951" y="3383377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1" name="Google Shape;2311;p25"/>
          <p:cNvGrpSpPr/>
          <p:nvPr/>
        </p:nvGrpSpPr>
        <p:grpSpPr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312" name="Google Shape;2312;p25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3" name="Google Shape;2313;p25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4" name="Google Shape;2314;p25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5" name="Google Shape;2315;p25"/>
          <p:cNvSpPr txBox="1"/>
          <p:nvPr/>
        </p:nvSpPr>
        <p:spPr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src: 111.111.111.111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IP dest: 222.222.222.222</a:t>
            </a:r>
            <a:endParaRPr/>
          </a:p>
        </p:txBody>
      </p:sp>
      <p:grpSp>
        <p:nvGrpSpPr>
          <p:cNvPr id="2316" name="Google Shape;2316;p25"/>
          <p:cNvGrpSpPr/>
          <p:nvPr/>
        </p:nvGrpSpPr>
        <p:grpSpPr>
          <a:xfrm>
            <a:off x="6639063" y="3191289"/>
            <a:ext cx="146050" cy="385763"/>
            <a:chOff x="1272" y="1762"/>
            <a:chExt cx="92" cy="243"/>
          </a:xfrm>
        </p:grpSpPr>
        <p:cxnSp>
          <p:nvCxnSpPr>
            <p:cNvPr id="2317" name="Google Shape;2317;p25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18" name="Google Shape;2318;p25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319" name="Google Shape;2319;p25"/>
          <p:cNvGrpSpPr/>
          <p:nvPr/>
        </p:nvGrpSpPr>
        <p:grpSpPr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320" name="Google Shape;2320;p25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1" name="Google Shape;2321;p25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2" name="Google Shape;2322;p25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p25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24" name="Google Shape;2324;p25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5" name="Google Shape;2325;p25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6" name="Google Shape;2326;p25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7" name="Google Shape;2327;p25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28" name="Google Shape;2328;p25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329" name="Google Shape;2329;p25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330" name="Google Shape;2330;p25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331" name="Google Shape;2331;p25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332" name="Google Shape;2332;p25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333" name="Google Shape;233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4" name="Google Shape;2334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5" name="Google Shape;2335;p25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2336" name="Google Shape;2336;p25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7" name="Google Shape;2337;p25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338" name="Google Shape;2338;p25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215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5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341" name="Google Shape;2341;p25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2" name="Google Shape;2342;p25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2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50" name="Google Shape;2350;p26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51" name="Google Shape;2351;p26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26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2353" name="Google Shape;2353;p26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2354" name="Google Shape;2354;p26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2355" name="Google Shape;2355;p26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2356" name="Google Shape;2356;p26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2357" name="Google Shape;2357;p26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2358" name="Google Shape;2358;p26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2359" name="Google Shape;2359;p26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2360" name="Google Shape;2360;p26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2361" name="Google Shape;2361;p26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2" name="Google Shape;2362;p26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3" name="Google Shape;2363;p26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4" name="Google Shape;2364;p26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5" name="Google Shape;2365;p26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6" name="Google Shape;2366;p26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67" name="Google Shape;2367;p26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8" name="Google Shape;2368;p26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369" name="Google Shape;2369;p26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2370" name="Google Shape;2370;p26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2371" name="Google Shape;2371;p26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2372" name="Google Shape;2372;p26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3" name="Google Shape;2373;p26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2374" name="Google Shape;2374;p26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2375" name="Google Shape;2375;p26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6" name="Google Shape;2376;p26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26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2378" name="Google Shape;2378;p26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379" name="Google Shape;2379;p26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380" name="Google Shape;2380;p26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381" name="Google Shape;2381;p26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382" name="Google Shape;2382;p2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83" name="Google Shape;2383;p2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84" name="Google Shape;2384;p2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85" name="Google Shape;2385;p2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6" name="Google Shape;2386;p2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7" name="Google Shape;2387;p2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8" name="Google Shape;2388;p2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89" name="Google Shape;2389;p26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90" name="Google Shape;2390;p26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391" name="Google Shape;239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2" name="Google Shape;2392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3" name="Google Shape;2393;p26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94" name="Google Shape;2394;p26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395" name="Google Shape;239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6" name="Google Shape;2396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7" name="Google Shape;2397;p26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98" name="Google Shape;2398;p26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99" name="Google Shape;2399;p26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400" name="Google Shape;240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1" name="Google Shape;2401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02" name="Google Shape;2402;p26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03" name="Google Shape;2403;p26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2404" name="Google Shape;2404;p26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05" name="Google Shape;2405;p26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6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6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408" name="Google Shape;2408;p26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9" name="Google Shape;2409;p26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0" name="Google Shape;2410;p26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1" name="Google Shape;2411;p26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12" name="Google Shape;2412;p26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413" name="Google Shape;2413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4" name="Google Shape;2414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5" name="Google Shape;2415;p26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416" name="Google Shape;2416;p26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215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6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6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419" name="Google Shape;2419;p26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0" name="Google Shape;2420;p26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21" name="Google Shape;2421;p26"/>
          <p:cNvGrpSpPr/>
          <p:nvPr/>
        </p:nvGrpSpPr>
        <p:grpSpPr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2422" name="Google Shape;2422;p26"/>
            <p:cNvGrpSpPr/>
            <p:nvPr/>
          </p:nvGrpSpPr>
          <p:grpSpPr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423" name="Google Shape;2423;p26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2424" name="Google Shape;2424;p26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5" name="Google Shape;2425;p26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26" name="Google Shape;2426;p26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grpSp>
          <p:nvGrpSpPr>
            <p:cNvPr id="2427" name="Google Shape;2427;p26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2428" name="Google Shape;2428;p26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omic Sans MS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429" name="Google Shape;2429;p26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2430" name="Google Shape;2430;p26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1" name="Google Shape;2431;p26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32" name="Google Shape;2432;p26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3" name="Google Shape;2433;p26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4" name="Google Shape;2434;p26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5" name="Google Shape;2435;p26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436" name="Google Shape;2436;p26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2437" name="Google Shape;2437;p26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2438" name="Google Shape;2438;p26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2439" name="Google Shape;2439;p26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2440" name="Google Shape;2440;p26"/>
          <p:cNvSpPr/>
          <p:nvPr/>
        </p:nvSpPr>
        <p:spPr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transmits link-layer frame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26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2442" name="Google Shape;2442;p26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2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50" name="Google Shape;2450;p27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51" name="Google Shape;2451;p27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27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2453" name="Google Shape;2453;p27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2454" name="Google Shape;2454;p27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2455" name="Google Shape;2455;p27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2456" name="Google Shape;2456;p27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2457" name="Google Shape;2457;p27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2458" name="Google Shape;2458;p27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2459" name="Google Shape;2459;p27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2460" name="Google Shape;2460;p27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2461" name="Google Shape;2461;p27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2" name="Google Shape;2462;p27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27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27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5" name="Google Shape;2465;p27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6" name="Google Shape;2466;p27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67" name="Google Shape;2467;p27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8" name="Google Shape;2468;p27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469" name="Google Shape;2469;p27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2470" name="Google Shape;2470;p27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2471" name="Google Shape;2471;p27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2472" name="Google Shape;2472;p27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3" name="Google Shape;2473;p27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2474" name="Google Shape;2474;p27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2475" name="Google Shape;2475;p27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6" name="Google Shape;2476;p27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27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2478" name="Google Shape;2478;p27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479" name="Google Shape;2479;p27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480" name="Google Shape;2480;p27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481" name="Google Shape;2481;p27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482" name="Google Shape;2482;p2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483" name="Google Shape;2483;p2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484" name="Google Shape;2484;p2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85" name="Google Shape;2485;p2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6" name="Google Shape;2486;p2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7" name="Google Shape;2487;p2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8" name="Google Shape;2488;p2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489" name="Google Shape;2489;p27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490" name="Google Shape;2490;p27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491" name="Google Shape;249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2" name="Google Shape;2492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3" name="Google Shape;2493;p27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494" name="Google Shape;2494;p27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495" name="Google Shape;249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6" name="Google Shape;2496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7" name="Google Shape;2497;p27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98" name="Google Shape;2498;p27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499" name="Google Shape;2499;p27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500" name="Google Shape;250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1" name="Google Shape;2501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02" name="Google Shape;2502;p27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03" name="Google Shape;2503;p27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2504" name="Google Shape;2504;p27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505" name="Google Shape;2505;p27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27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27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508" name="Google Shape;2508;p2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9" name="Google Shape;2509;p2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0" name="Google Shape;2510;p2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1" name="Google Shape;2511;p27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2" name="Google Shape;2512;p27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513" name="Google Shape;251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4" name="Google Shape;2514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5" name="Google Shape;2515;p27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516" name="Google Shape;2516;p27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2157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27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27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2519" name="Google Shape;2519;p27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0" name="Google Shape;2520;p27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1" name="Google Shape;2521;p27"/>
          <p:cNvSpPr/>
          <p:nvPr/>
        </p:nvSpPr>
        <p:spPr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frame, extracts IP datagram destination B </a:t>
            </a:r>
            <a:endParaRPr/>
          </a:p>
        </p:txBody>
      </p:sp>
      <p:sp>
        <p:nvSpPr>
          <p:cNvPr id="2522" name="Google Shape;2522;p27"/>
          <p:cNvSpPr/>
          <p:nvPr/>
        </p:nvSpPr>
        <p:spPr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passes datagram up protocol stack to IP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3" name="Google Shape;2523;p27"/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2524" name="Google Shape;2524;p27"/>
            <p:cNvGrpSpPr/>
            <p:nvPr/>
          </p:nvGrpSpPr>
          <p:grpSpPr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2525" name="Google Shape;2525;p27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2526" name="Google Shape;2526;p27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27" name="Google Shape;2527;p27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528" name="Google Shape;2528;p27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sp>
          <p:nvSpPr>
            <p:cNvPr id="2529" name="Google Shape;2529;p27"/>
            <p:cNvSpPr/>
            <p:nvPr/>
          </p:nvSpPr>
          <p:spPr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0" name="Google Shape;2530;p27"/>
            <p:cNvCxnSpPr/>
            <p:nvPr/>
          </p:nvCxnSpPr>
          <p:spPr>
            <a:xfrm>
              <a:off x="12598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1" name="Google Shape;2531;p27"/>
            <p:cNvCxnSpPr/>
            <p:nvPr/>
          </p:nvCxnSpPr>
          <p:spPr>
            <a:xfrm>
              <a:off x="14122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2" name="Google Shape;2532;p27"/>
            <p:cNvCxnSpPr/>
            <p:nvPr/>
          </p:nvCxnSpPr>
          <p:spPr>
            <a:xfrm rot="10800000">
              <a:off x="1170948" y="3182110"/>
              <a:ext cx="3175" cy="7461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533" name="Google Shape;2533;p27"/>
            <p:cNvCxnSpPr/>
            <p:nvPr/>
          </p:nvCxnSpPr>
          <p:spPr>
            <a:xfrm>
              <a:off x="1316998" y="3359910"/>
              <a:ext cx="3175" cy="568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2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sp>
        <p:nvSpPr>
          <p:cNvPr id="2541" name="Google Shape;2541;p28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2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grpSp>
        <p:nvGrpSpPr>
          <p:cNvPr id="2549" name="Google Shape;2549;p29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2550" name="Google Shape;2550;p29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551" name="Google Shape;2551;p29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i="0" lang="en-US"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2552" name="Google Shape;2552;p29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553" name="Google Shape;2553;p29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554" name="Google Shape;2554;p29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555" name="Google Shape;2555;p29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556" name="Google Shape;2556;p29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557" name="Google Shape;2557;p29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558" name="Google Shape;2558;p29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559" name="Google Shape;2559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0" name="Google Shape;2560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1" name="Google Shape;2561;p29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562" name="Google Shape;2562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3" name="Google Shape;2563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64" name="Google Shape;2564;p29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565" name="Google Shape;2565;p29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566" name="Google Shape;2566;p29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567" name="Google Shape;2567;p29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568" name="Google Shape;2568;p29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569" name="Google Shape;2569;p29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574" name="Google Shape;2574;p29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575" name="Google Shape;2575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76" name="Google Shape;2576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577" name="Google Shape;2577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8" name="Google Shape;2578;p29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79" name="Google Shape;2579;p29"/>
            <p:cNvCxnSpPr>
              <a:stCxn id="2570" idx="0"/>
              <a:endCxn id="257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80" name="Google Shape;2580;p29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581" name="Google Shape;2581;p29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583" name="Google Shape;2583;p29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584" name="Google Shape;2584;p2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2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86" name="Google Shape;2586;p2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587" name="Google Shape;2587;p2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8" name="Google Shape;2588;p2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9" name="Google Shape;2589;p2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0" name="Google Shape;2590;p2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91" name="Google Shape;2591;p29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592" name="Google Shape;2592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3" name="Google Shape;2593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4" name="Google Shape;2594;p29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595" name="Google Shape;2595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6" name="Google Shape;2596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97" name="Google Shape;2597;p29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2598" name="Google Shape;2598;p29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</p:txBody>
      </p:sp>
      <p:sp>
        <p:nvSpPr>
          <p:cNvPr id="2599" name="Google Shape;2599;p29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29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3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grpSp>
        <p:nvGrpSpPr>
          <p:cNvPr id="2608" name="Google Shape;2608;p30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2609" name="Google Shape;2609;p30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610" name="Google Shape;2610;p30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i="0" lang="en-US"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2611" name="Google Shape;2611;p30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612" name="Google Shape;2612;p30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613" name="Google Shape;2613;p30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614" name="Google Shape;2614;p30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615" name="Google Shape;2615;p30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616" name="Google Shape;2616;p30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617" name="Google Shape;2617;p30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618" name="Google Shape;2618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19" name="Google Shape;2619;p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0" name="Google Shape;2620;p30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621" name="Google Shape;2621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2" name="Google Shape;2622;p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3" name="Google Shape;2623;p30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624" name="Google Shape;2624;p30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25" name="Google Shape;2625;p30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626" name="Google Shape;2626;p30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627" name="Google Shape;2627;p30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628" name="Google Shape;2628;p30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633" name="Google Shape;2633;p30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634" name="Google Shape;2634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5" name="Google Shape;2635;p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636" name="Google Shape;263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7" name="Google Shape;2637;p30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38" name="Google Shape;2638;p30"/>
            <p:cNvCxnSpPr>
              <a:stCxn id="2629" idx="0"/>
              <a:endCxn id="2632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39" name="Google Shape;2639;p30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640" name="Google Shape;2640;p30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642" name="Google Shape;2642;p30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643" name="Google Shape;2643;p3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3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45" name="Google Shape;2645;p3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46" name="Google Shape;2646;p3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7" name="Google Shape;2647;p3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8" name="Google Shape;2648;p3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9" name="Google Shape;2649;p3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50" name="Google Shape;2650;p30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651" name="Google Shape;2651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2" name="Google Shape;2652;p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3" name="Google Shape;2653;p30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654" name="Google Shape;2654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5" name="Google Shape;2655;p3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56" name="Google Shape;2656;p30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2657" name="Google Shape;2657;p30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/>
          </a:p>
        </p:txBody>
      </p:sp>
      <p:sp>
        <p:nvSpPr>
          <p:cNvPr id="2658" name="Google Shape;2658;p30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30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0" name="Google Shape;2660;p30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661" name="Google Shape;2661;p30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3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grpSp>
        <p:nvGrpSpPr>
          <p:cNvPr id="2669" name="Google Shape;2669;p31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2670" name="Google Shape;2670;p31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671" name="Google Shape;2671;p31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672" name="Google Shape;2672;p31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673" name="Google Shape;2673;p31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674" name="Google Shape;2674;p31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675" name="Google Shape;2675;p31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676" name="Google Shape;2676;p31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677" name="Google Shape;2677;p31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678" name="Google Shape;2678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9" name="Google Shape;2679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0" name="Google Shape;2680;p31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681" name="Google Shape;2681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2" name="Google Shape;2682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3" name="Google Shape;2683;p31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684" name="Google Shape;2684;p31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85" name="Google Shape;2685;p31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686" name="Google Shape;2686;p31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687" name="Google Shape;2687;p31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688" name="Google Shape;2688;p31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689" name="Google Shape;2689;p31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90" name="Google Shape;2690;p31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91" name="Google Shape;2691;p31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692" name="Google Shape;2692;p31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693" name="Google Shape;2693;p31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694" name="Google Shape;2694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95" name="Google Shape;269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696" name="Google Shape;269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7" name="Google Shape;2697;p31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98" name="Google Shape;2698;p31"/>
            <p:cNvCxnSpPr>
              <a:stCxn id="2689" idx="0"/>
              <a:endCxn id="2692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99" name="Google Shape;2699;p31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700" name="Google Shape;2700;p31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701" name="Google Shape;2701;p31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702" name="Google Shape;2702;p31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703" name="Google Shape;2703;p3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3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05" name="Google Shape;2705;p3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706" name="Google Shape;2706;p3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7" name="Google Shape;2707;p3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8" name="Google Shape;2708;p3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9" name="Google Shape;2709;p3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10" name="Google Shape;2710;p31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11" name="Google Shape;2711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2" name="Google Shape;2712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3" name="Google Shape;2713;p31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14" name="Google Shape;2714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5" name="Google Shape;271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16" name="Google Shape;2716;p31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/>
          </a:p>
        </p:txBody>
      </p:sp>
      <p:sp>
        <p:nvSpPr>
          <p:cNvPr id="2717" name="Google Shape;2717;p31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/>
          </a:p>
        </p:txBody>
      </p:sp>
      <p:sp>
        <p:nvSpPr>
          <p:cNvPr id="2718" name="Google Shape;2718;p31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5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3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grpSp>
        <p:nvGrpSpPr>
          <p:cNvPr id="2726" name="Google Shape;2726;p32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2727" name="Google Shape;2727;p32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728" name="Google Shape;2728;p32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729" name="Google Shape;2729;p32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730" name="Google Shape;2730;p32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731" name="Google Shape;2731;p32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732" name="Google Shape;2732;p32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733" name="Google Shape;2733;p32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734" name="Google Shape;2734;p32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735" name="Google Shape;2735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6" name="Google Shape;2736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7" name="Google Shape;2737;p32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738" name="Google Shape;2738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9" name="Google Shape;2739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40" name="Google Shape;2740;p32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741" name="Google Shape;2741;p32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742" name="Google Shape;2742;p32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743" name="Google Shape;2743;p32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744" name="Google Shape;2744;p32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745" name="Google Shape;2745;p32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46" name="Google Shape;2746;p32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747" name="Google Shape;2747;p32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748" name="Google Shape;2748;p32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749" name="Google Shape;2749;p32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750" name="Google Shape;2750;p32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751" name="Google Shape;2751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2" name="Google Shape;2752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753" name="Google Shape;275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4" name="Google Shape;2754;p32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55" name="Google Shape;2755;p32"/>
            <p:cNvCxnSpPr>
              <a:stCxn id="2746" idx="0"/>
              <a:endCxn id="274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6" name="Google Shape;2756;p32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757" name="Google Shape;2757;p32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758" name="Google Shape;2758;p32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759" name="Google Shape;2759;p32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760" name="Google Shape;2760;p3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3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62" name="Google Shape;2762;p3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763" name="Google Shape;2763;p3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4" name="Google Shape;2764;p3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5" name="Google Shape;2765;p3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6" name="Google Shape;2766;p3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67" name="Google Shape;2767;p32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68" name="Google Shape;2768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69" name="Google Shape;2769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0" name="Google Shape;2770;p32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71" name="Google Shape;2771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2" name="Google Shape;2772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73" name="Google Shape;2773;p32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/>
          </a:p>
        </p:txBody>
      </p:sp>
      <p:grpSp>
        <p:nvGrpSpPr>
          <p:cNvPr id="2774" name="Google Shape;2774;p32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2775" name="Google Shape;2775;p32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32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7" name="Google Shape;2777;p32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8" name="Google Shape;2778;p32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79" name="Google Shape;2779;p32"/>
          <p:cNvGrpSpPr/>
          <p:nvPr/>
        </p:nvGrpSpPr>
        <p:grpSpPr>
          <a:xfrm>
            <a:off x="9617804" y="1001713"/>
            <a:ext cx="1450975" cy="714375"/>
            <a:chOff x="4406" y="331"/>
            <a:chExt cx="914" cy="450"/>
          </a:xfrm>
        </p:grpSpPr>
        <p:cxnSp>
          <p:nvCxnSpPr>
            <p:cNvPr id="2780" name="Google Shape;2780;p32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781" name="Google Shape;2781;p32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782" name="Google Shape;2782;p32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2783" name="Google Shape;2783;p32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i="0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4" name="Google Shape;2784;p32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2785" name="Google Shape;2785;p32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32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2787" name="Google Shape;2787;p32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8" name="Google Shape;2788;p32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9" name="Google Shape;2789;p32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90" name="Google Shape;2790;p32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2791" name="Google Shape;2791;p32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2792" name="Google Shape;2792;p32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793" name="Google Shape;2793;p32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794" name="Google Shape;2794;p32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2795" name="Google Shape;2795;p32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8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/>
          </a:p>
        </p:txBody>
      </p:sp>
      <p:sp>
        <p:nvSpPr>
          <p:cNvPr id="2796" name="Google Shape;2796;p32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8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2" name="Google Shape;2802;p33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2803" name="Google Shape;2803;p3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804" name="Google Shape;2804;p3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805" name="Google Shape;2805;p3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2806" name="Google Shape;2806;p3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807" name="Google Shape;2807;p3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2808" name="Google Shape;2808;p3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809" name="Google Shape;2809;p3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2810" name="Google Shape;2810;p3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811" name="Google Shape;2811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2" name="Google Shape;2812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3" name="Google Shape;2813;p3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814" name="Google Shape;2814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5" name="Google Shape;2815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16" name="Google Shape;2816;p3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817" name="Google Shape;2817;p3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818" name="Google Shape;2818;p3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819" name="Google Shape;2819;p3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820" name="Google Shape;2820;p3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821" name="Google Shape;2821;p3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822" name="Google Shape;2822;p3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823" name="Google Shape;2823;p3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824" name="Google Shape;2824;p3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825" name="Google Shape;2825;p3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826" name="Google Shape;2826;p3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827" name="Google Shape;2827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8" name="Google Shape;2828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829" name="Google Shape;2829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0" name="Google Shape;2830;p3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1" name="Google Shape;2831;p33"/>
            <p:cNvCxnSpPr>
              <a:stCxn id="2822" idx="0"/>
              <a:endCxn id="2825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2" name="Google Shape;2832;p3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2833" name="Google Shape;2833;p3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2834" name="Google Shape;2834;p3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2835" name="Google Shape;2835;p3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836" name="Google Shape;2836;p3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3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38" name="Google Shape;2838;p3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839" name="Google Shape;2839;p3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0" name="Google Shape;2840;p3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1" name="Google Shape;2841;p3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2" name="Google Shape;2842;p3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43" name="Google Shape;2843;p3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844" name="Google Shape;2844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45" name="Google Shape;2845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6" name="Google Shape;2846;p3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847" name="Google Shape;2847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48" name="Google Shape;2848;p3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49" name="Google Shape;2849;p3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Link Layer: 6-</a:t>
            </a:r>
            <a:fld id="{00000000-1234-1234-1234-123412341234}" type="slidenum">
              <a:rPr lang="en-US">
                <a:solidFill>
                  <a:srgbClr val="7F7F7F"/>
                </a:solidFill>
              </a:rPr>
              <a:t>‹#›</a:t>
            </a:fld>
            <a:endParaRPr>
              <a:solidFill>
                <a:srgbClr val="7F7F7F"/>
              </a:solidFill>
            </a:endParaRPr>
          </a:p>
        </p:txBody>
      </p:sp>
      <p:grpSp>
        <p:nvGrpSpPr>
          <p:cNvPr id="2851" name="Google Shape;2851;p33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2852" name="Google Shape;2852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4" name="Google Shape;2854;p33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5" name="Google Shape;2855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56" name="Google Shape;2856;p33"/>
          <p:cNvGrpSpPr/>
          <p:nvPr/>
        </p:nvGrpSpPr>
        <p:grpSpPr>
          <a:xfrm>
            <a:off x="9392951" y="900218"/>
            <a:ext cx="1450975" cy="714375"/>
            <a:chOff x="4406" y="331"/>
            <a:chExt cx="914" cy="450"/>
          </a:xfrm>
        </p:grpSpPr>
        <p:cxnSp>
          <p:nvCxnSpPr>
            <p:cNvPr id="2857" name="Google Shape;2857;p33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858" name="Google Shape;2858;p33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859" name="Google Shape;2859;p33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2860" name="Google Shape;2860;p33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i="0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1" name="Google Shape;2861;p33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2862" name="Google Shape;2862;p33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33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2864" name="Google Shape;2864;p33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5" name="Google Shape;2865;p33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6" name="Google Shape;2866;p33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7" name="Google Shape;2867;p33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2868" name="Google Shape;2868;p33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2869" name="Google Shape;2869;p33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870" name="Google Shape;2870;p33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871" name="Google Shape;2871;p3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grpSp>
        <p:nvGrpSpPr>
          <p:cNvPr id="2872" name="Google Shape;2872;p33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2873" name="Google Shape;2873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5" name="Google Shape;2875;p3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6" name="Google Shape;2876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77" name="Google Shape;2877;p33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2878" name="Google Shape;2878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0" name="Google Shape;2880;p3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1" name="Google Shape;2881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82" name="Google Shape;2882;p3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883" name="Google Shape;2883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5" name="Google Shape;2885;p3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6" name="Google Shape;2886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87" name="Google Shape;2887;p3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888" name="Google Shape;2888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0" name="Google Shape;2890;p3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1" name="Google Shape;2891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92" name="Google Shape;2892;p33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2893" name="Google Shape;2893;p3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3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i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5" name="Google Shape;2895;p3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6" name="Google Shape;2896;p3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97" name="Google Shape;2897;p33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2898" name="Google Shape;2898;p33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33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/>
            </a:p>
          </p:txBody>
        </p:sp>
        <p:cxnSp>
          <p:nvCxnSpPr>
            <p:cNvPr id="2900" name="Google Shape;2900;p33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01" name="Google Shape;2901;p33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02" name="Google Shape;2902;p33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2903" name="Google Shape;2903;p33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i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33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2905" name="Google Shape;2905;p3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2906" name="Google Shape;2906;p33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i="1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33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/>
          </a:p>
        </p:txBody>
      </p:sp>
      <p:sp>
        <p:nvSpPr>
          <p:cNvPr id="2908" name="Google Shape;2908;p33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33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3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3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7" name="Google Shape;2917;p34"/>
          <p:cNvSpPr txBox="1"/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journey down the protocol stack is now complete!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transport, network, link</a:t>
            </a:r>
            <a:endParaRPr/>
          </a:p>
          <a:p>
            <a:pPr indent="-269875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putting-it-all-together: synthesis!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identify, review, understand protocols (at all layers) involved in seemingly simple scenario: requesting www page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attaches laptop to campus network, requests/receives www.google.com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3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scenario</a:t>
            </a:r>
            <a:endParaRPr/>
          </a:p>
        </p:txBody>
      </p:sp>
      <p:sp>
        <p:nvSpPr>
          <p:cNvPr id="2923" name="Google Shape;2923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4" name="Google Shape;2924;p35"/>
          <p:cNvSpPr/>
          <p:nvPr/>
        </p:nvSpPr>
        <p:spPr>
          <a:xfrm>
            <a:off x="5037166" y="1832733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p35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6" name="Google Shape;2926;p35"/>
          <p:cNvSpPr txBox="1"/>
          <p:nvPr/>
        </p:nvSpPr>
        <p:spPr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2927" name="Google Shape;2927;p35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35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35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0" name="Google Shape;2930;p35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1" name="Google Shape;2931;p35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2" name="Google Shape;2932;p35"/>
          <p:cNvCxnSpPr/>
          <p:nvPr/>
        </p:nvCxnSpPr>
        <p:spPr>
          <a:xfrm flipH="1">
            <a:off x="7205382" y="2772055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3" name="Google Shape;2933;p35"/>
          <p:cNvSpPr/>
          <p:nvPr/>
        </p:nvSpPr>
        <p:spPr>
          <a:xfrm>
            <a:off x="1169707" y="47516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4" name="Google Shape;2934;p35"/>
          <p:cNvCxnSpPr/>
          <p:nvPr/>
        </p:nvCxnSpPr>
        <p:spPr>
          <a:xfrm flipH="1" rot="10800000">
            <a:off x="4560607" y="36801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5" name="Google Shape;2935;p35"/>
          <p:cNvSpPr txBox="1"/>
          <p:nvPr/>
        </p:nvSpPr>
        <p:spPr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Google’s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64.233.160.0/19 </a:t>
            </a:r>
            <a:endParaRPr/>
          </a:p>
        </p:txBody>
      </p:sp>
      <p:cxnSp>
        <p:nvCxnSpPr>
          <p:cNvPr id="2936" name="Google Shape;2936;p35"/>
          <p:cNvCxnSpPr/>
          <p:nvPr/>
        </p:nvCxnSpPr>
        <p:spPr>
          <a:xfrm flipH="1" rot="10800000">
            <a:off x="3139795" y="54993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7" name="Google Shape;2937;p35"/>
          <p:cNvSpPr txBox="1"/>
          <p:nvPr/>
        </p:nvSpPr>
        <p:spPr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2938" name="Google Shape;2938;p35"/>
          <p:cNvSpPr txBox="1"/>
          <p:nvPr/>
        </p:nvSpPr>
        <p:spPr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sp>
        <p:nvSpPr>
          <p:cNvPr id="2939" name="Google Shape;2939;p35"/>
          <p:cNvSpPr txBox="1"/>
          <p:nvPr/>
        </p:nvSpPr>
        <p:spPr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0" name="Google Shape;2940;p35"/>
          <p:cNvGrpSpPr/>
          <p:nvPr/>
        </p:nvGrpSpPr>
        <p:grpSpPr>
          <a:xfrm flipH="1">
            <a:off x="5890932" y="3667405"/>
            <a:ext cx="400050" cy="152400"/>
            <a:chOff x="3228" y="1776"/>
            <a:chExt cx="252" cy="96"/>
          </a:xfrm>
        </p:grpSpPr>
        <p:cxnSp>
          <p:nvCxnSpPr>
            <p:cNvPr id="2941" name="Google Shape;2941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2" name="Google Shape;2942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43" name="Google Shape;2943;p35"/>
          <p:cNvGrpSpPr/>
          <p:nvPr/>
        </p:nvGrpSpPr>
        <p:grpSpPr>
          <a:xfrm rot="10800000">
            <a:off x="6043332" y="3143530"/>
            <a:ext cx="400050" cy="152400"/>
            <a:chOff x="3228" y="1776"/>
            <a:chExt cx="252" cy="96"/>
          </a:xfrm>
        </p:grpSpPr>
        <p:cxnSp>
          <p:nvCxnSpPr>
            <p:cNvPr id="2944" name="Google Shape;2944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5" name="Google Shape;2945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46" name="Google Shape;2946;p35"/>
          <p:cNvGrpSpPr/>
          <p:nvPr/>
        </p:nvGrpSpPr>
        <p:grpSpPr>
          <a:xfrm rot="10800000">
            <a:off x="8143595" y="3834092"/>
            <a:ext cx="400050" cy="152400"/>
            <a:chOff x="3228" y="1776"/>
            <a:chExt cx="252" cy="96"/>
          </a:xfrm>
        </p:grpSpPr>
        <p:cxnSp>
          <p:nvCxnSpPr>
            <p:cNvPr id="2947" name="Google Shape;2947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8" name="Google Shape;2948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49" name="Google Shape;2949;p35"/>
          <p:cNvGrpSpPr/>
          <p:nvPr/>
        </p:nvGrpSpPr>
        <p:grpSpPr>
          <a:xfrm flipH="1" rot="10800000">
            <a:off x="7319682" y="3853142"/>
            <a:ext cx="295275" cy="114300"/>
            <a:chOff x="3228" y="1776"/>
            <a:chExt cx="252" cy="96"/>
          </a:xfrm>
        </p:grpSpPr>
        <p:cxnSp>
          <p:nvCxnSpPr>
            <p:cNvPr id="2950" name="Google Shape;2950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1" name="Google Shape;2951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52" name="Google Shape;2952;p35"/>
          <p:cNvGrpSpPr/>
          <p:nvPr/>
        </p:nvGrpSpPr>
        <p:grpSpPr>
          <a:xfrm rot="-10390311">
            <a:off x="7591145" y="3195917"/>
            <a:ext cx="452437" cy="57150"/>
            <a:chOff x="3228" y="1776"/>
            <a:chExt cx="252" cy="96"/>
          </a:xfrm>
        </p:grpSpPr>
        <p:cxnSp>
          <p:nvCxnSpPr>
            <p:cNvPr id="2953" name="Google Shape;2953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4" name="Google Shape;2954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55" name="Google Shape;2955;p35"/>
          <p:cNvGrpSpPr/>
          <p:nvPr/>
        </p:nvGrpSpPr>
        <p:grpSpPr>
          <a:xfrm>
            <a:off x="6733895" y="3400705"/>
            <a:ext cx="295275" cy="114300"/>
            <a:chOff x="3228" y="1776"/>
            <a:chExt cx="252" cy="96"/>
          </a:xfrm>
        </p:grpSpPr>
        <p:cxnSp>
          <p:nvCxnSpPr>
            <p:cNvPr id="2956" name="Google Shape;2956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7" name="Google Shape;2957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58" name="Google Shape;2958;p35"/>
          <p:cNvGrpSpPr/>
          <p:nvPr/>
        </p:nvGrpSpPr>
        <p:grpSpPr>
          <a:xfrm flipH="1">
            <a:off x="7372070" y="3400705"/>
            <a:ext cx="295275" cy="114300"/>
            <a:chOff x="3228" y="1776"/>
            <a:chExt cx="252" cy="96"/>
          </a:xfrm>
        </p:grpSpPr>
        <p:cxnSp>
          <p:nvCxnSpPr>
            <p:cNvPr id="2959" name="Google Shape;2959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0" name="Google Shape;2960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61" name="Google Shape;2961;p35"/>
          <p:cNvGrpSpPr/>
          <p:nvPr/>
        </p:nvGrpSpPr>
        <p:grpSpPr>
          <a:xfrm>
            <a:off x="5786157" y="5348567"/>
            <a:ext cx="295275" cy="114300"/>
            <a:chOff x="3228" y="1776"/>
            <a:chExt cx="252" cy="96"/>
          </a:xfrm>
        </p:grpSpPr>
        <p:cxnSp>
          <p:nvCxnSpPr>
            <p:cNvPr id="2962" name="Google Shape;2962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3" name="Google Shape;2963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64" name="Google Shape;2964;p35"/>
          <p:cNvGrpSpPr/>
          <p:nvPr/>
        </p:nvGrpSpPr>
        <p:grpSpPr>
          <a:xfrm flipH="1">
            <a:off x="6424332" y="5348567"/>
            <a:ext cx="295275" cy="114300"/>
            <a:chOff x="3228" y="1776"/>
            <a:chExt cx="252" cy="96"/>
          </a:xfrm>
        </p:grpSpPr>
        <p:cxnSp>
          <p:nvCxnSpPr>
            <p:cNvPr id="2965" name="Google Shape;2965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6" name="Google Shape;2966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67" name="Google Shape;2967;p35"/>
          <p:cNvGrpSpPr/>
          <p:nvPr/>
        </p:nvGrpSpPr>
        <p:grpSpPr>
          <a:xfrm>
            <a:off x="4019270" y="5705755"/>
            <a:ext cx="295275" cy="114300"/>
            <a:chOff x="3228" y="1776"/>
            <a:chExt cx="252" cy="96"/>
          </a:xfrm>
        </p:grpSpPr>
        <p:cxnSp>
          <p:nvCxnSpPr>
            <p:cNvPr id="2968" name="Google Shape;2968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9" name="Google Shape;2969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70" name="Google Shape;2970;p35"/>
          <p:cNvGrpSpPr/>
          <p:nvPr/>
        </p:nvGrpSpPr>
        <p:grpSpPr>
          <a:xfrm flipH="1">
            <a:off x="4657445" y="5705755"/>
            <a:ext cx="295275" cy="114300"/>
            <a:chOff x="3228" y="1776"/>
            <a:chExt cx="252" cy="96"/>
          </a:xfrm>
        </p:grpSpPr>
        <p:cxnSp>
          <p:nvCxnSpPr>
            <p:cNvPr id="2971" name="Google Shape;2971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2" name="Google Shape;2972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73" name="Google Shape;2973;p35"/>
          <p:cNvGrpSpPr/>
          <p:nvPr/>
        </p:nvGrpSpPr>
        <p:grpSpPr>
          <a:xfrm rot="10800000">
            <a:off x="4862232" y="5410480"/>
            <a:ext cx="295275" cy="114300"/>
            <a:chOff x="3228" y="1776"/>
            <a:chExt cx="252" cy="96"/>
          </a:xfrm>
        </p:grpSpPr>
        <p:cxnSp>
          <p:nvCxnSpPr>
            <p:cNvPr id="2974" name="Google Shape;2974;p3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5" name="Google Shape;2975;p3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976" name="Google Shape;2976;p35"/>
          <p:cNvSpPr txBox="1"/>
          <p:nvPr/>
        </p:nvSpPr>
        <p:spPr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68.80.2.0/24</a:t>
            </a:r>
            <a:endParaRPr/>
          </a:p>
        </p:txBody>
      </p:sp>
      <p:grpSp>
        <p:nvGrpSpPr>
          <p:cNvPr id="2977" name="Google Shape;2977;p35"/>
          <p:cNvGrpSpPr/>
          <p:nvPr/>
        </p:nvGrpSpPr>
        <p:grpSpPr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2978" name="Google Shape;2978;p35"/>
            <p:cNvGrpSpPr/>
            <p:nvPr/>
          </p:nvGrpSpPr>
          <p:grpSpPr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2979" name="Google Shape;2979;p35"/>
              <p:cNvSpPr/>
              <p:nvPr/>
            </p:nvSpPr>
            <p:spPr>
              <a:xfrm>
                <a:off x="135" y="836"/>
                <a:ext cx="928" cy="702"/>
              </a:xfrm>
              <a:custGeom>
                <a:rect b="b" l="l" r="r" t="t"/>
                <a:pathLst>
                  <a:path extrusionOk="0" h="10000" w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BFBFBF"/>
                  </a:gs>
                </a:gsLst>
                <a:lin ang="12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80" name="Google Shape;2980;p35"/>
              <p:cNvGrpSpPr/>
              <p:nvPr/>
            </p:nvGrpSpPr>
            <p:grpSpPr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2981" name="Google Shape;2981;p3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82" name="Google Shape;2982;p35"/>
                <p:cNvSpPr/>
                <p:nvPr/>
              </p:nvSpPr>
              <p:spPr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83" name="Google Shape;2983;p35"/>
              <p:cNvSpPr/>
              <p:nvPr/>
            </p:nvSpPr>
            <p:spPr>
              <a:xfrm>
                <a:off x="146" y="833"/>
                <a:ext cx="696" cy="439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84" name="Google Shape;2984;p35"/>
            <p:cNvSpPr txBox="1"/>
            <p:nvPr/>
          </p:nvSpPr>
          <p:spPr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browser</a:t>
              </a:r>
              <a:endParaRPr/>
            </a:p>
          </p:txBody>
        </p:sp>
      </p:grpSp>
      <p:grpSp>
        <p:nvGrpSpPr>
          <p:cNvPr id="2985" name="Google Shape;2985;p35"/>
          <p:cNvGrpSpPr/>
          <p:nvPr/>
        </p:nvGrpSpPr>
        <p:grpSpPr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2986" name="Google Shape;2986;p3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3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3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3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91" name="Google Shape;2991;p3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2992" name="Google Shape;2992;p3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3" name="Google Shape;2993;p3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94" name="Google Shape;2994;p3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95" name="Google Shape;2995;p3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2996" name="Google Shape;2996;p3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7" name="Google Shape;2997;p3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98" name="Google Shape;2998;p3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3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0" name="Google Shape;3000;p3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001" name="Google Shape;3001;p3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2" name="Google Shape;3002;p3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3" name="Google Shape;3003;p3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4" name="Google Shape;3004;p3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005" name="Google Shape;3005;p3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6" name="Google Shape;3006;p3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07" name="Google Shape;3007;p3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3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3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3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3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3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3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3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3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3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3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8" name="Google Shape;3018;p35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019" name="Google Shape;3019;p3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3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1" name="Google Shape;3021;p3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022" name="Google Shape;3022;p3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3" name="Google Shape;3023;p3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4" name="Google Shape;3024;p3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3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26" name="Google Shape;3026;p35"/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3027" name="Google Shape;3027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28" name="Google Shape;3028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29" name="Google Shape;3029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30" name="Google Shape;3030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34" name="Google Shape;3034;p35"/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3035" name="Google Shape;3035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36" name="Google Shape;3036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37" name="Google Shape;3037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38" name="Google Shape;3038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0" name="Google Shape;3040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1" name="Google Shape;3041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2" name="Google Shape;3042;p35"/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3043" name="Google Shape;3043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44" name="Google Shape;3044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45" name="Google Shape;3045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46" name="Google Shape;3046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8" name="Google Shape;3048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9" name="Google Shape;3049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50" name="Google Shape;3050;p35"/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3051" name="Google Shape;3051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52" name="Google Shape;3052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53" name="Google Shape;3053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54" name="Google Shape;3054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5" name="Google Shape;3055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6" name="Google Shape;3056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58" name="Google Shape;3058;p35"/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3059" name="Google Shape;3059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0" name="Google Shape;3060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61" name="Google Shape;3061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62" name="Google Shape;3062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3" name="Google Shape;3063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6" name="Google Shape;3066;p35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67" name="Google Shape;3067;p35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068" name="Google Shape;3068;p35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3069" name="Google Shape;306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0" name="Google Shape;3070;p3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071" name="Google Shape;3071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2" name="Google Shape;3072;p3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3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3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3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3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3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78" name="Google Shape;3078;p3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079" name="Google Shape;3079;p3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0" name="Google Shape;3080;p3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1" name="Google Shape;3081;p3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2" name="Google Shape;3082;p3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3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3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5" name="Google Shape;3085;p3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3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3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3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3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3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1" name="Google Shape;3091;p35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092" name="Google Shape;3092;p35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093" name="Google Shape;3093;p3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94" name="Google Shape;3094;p3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95" name="Google Shape;3095;p3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96" name="Google Shape;3096;p3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3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3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9" name="Google Shape;3099;p3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0" name="Google Shape;3100;p35"/>
          <p:cNvSpPr/>
          <p:nvPr/>
        </p:nvSpPr>
        <p:spPr>
          <a:xfrm>
            <a:off x="685800" y="2756646"/>
            <a:ext cx="1313330" cy="51152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FF">
                  <a:alpha val="67059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1" name="Google Shape;3101;p35"/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3102" name="Google Shape;3102;p35"/>
            <p:cNvSpPr txBox="1"/>
            <p:nvPr/>
          </p:nvSpPr>
          <p:spPr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web page</a:t>
              </a:r>
              <a:endParaRPr/>
            </a:p>
          </p:txBody>
        </p:sp>
        <p:sp>
          <p:nvSpPr>
            <p:cNvPr id="3103" name="Google Shape;3103;p35"/>
            <p:cNvSpPr/>
            <p:nvPr/>
          </p:nvSpPr>
          <p:spPr>
            <a:xfrm>
              <a:off x="1450329" y="4799922"/>
              <a:ext cx="1531630" cy="868892"/>
            </a:xfrm>
            <a:custGeom>
              <a:rect b="b" l="l" r="r" t="t"/>
              <a:pathLst>
                <a:path extrusionOk="0" h="10000" w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12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04" name="Google Shape;3104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84743" y="4817138"/>
              <a:ext cx="1243012" cy="768350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3105" name="Google Shape;3105;p35"/>
          <p:cNvGrpSpPr/>
          <p:nvPr/>
        </p:nvGrpSpPr>
        <p:grpSpPr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3106" name="Google Shape;3106;p3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3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3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3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3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1" name="Google Shape;3111;p3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112" name="Google Shape;3112;p3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3" name="Google Shape;3113;p3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4" name="Google Shape;3114;p3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5" name="Google Shape;3115;p3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116" name="Google Shape;3116;p3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7" name="Google Shape;3117;p3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8" name="Google Shape;3118;p3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p3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0" name="Google Shape;3120;p3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121" name="Google Shape;3121;p3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2" name="Google Shape;3122;p3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3" name="Google Shape;3123;p3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4" name="Google Shape;3124;p3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125" name="Google Shape;3125;p3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6" name="Google Shape;3126;p3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7" name="Google Shape;3127;p3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3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3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3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3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3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3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3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3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3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7" name="Google Shape;3137;p3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8" name="Google Shape;3138;p35"/>
          <p:cNvSpPr txBox="1"/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client attaches to network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9" name="Google Shape;3139;p35"/>
          <p:cNvSpPr txBox="1"/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web page: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www.google.com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40" name="Google Shape;3140;p35"/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3141" name="Google Shape;3141;p35"/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descr="A picture containing table, drawing&#10;&#10;Description automatically generated" id="3142" name="Google Shape;3142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3" name="Google Shape;3143;p35"/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Sounds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simple!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6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3149" name="Google Shape;3149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0" name="Google Shape;3150;p36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1" name="Google Shape;3151;p36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2" name="Google Shape;3152;p36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3" name="Google Shape;3153;p36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54" name="Google Shape;3154;p36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5" name="Google Shape;3155;p36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56" name="Google Shape;3156;p36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157" name="Google Shape;3157;p3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3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59" name="Google Shape;3159;p3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160" name="Google Shape;3160;p3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1" name="Google Shape;3161;p3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3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3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64" name="Google Shape;3164;p36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65" name="Google Shape;3165;p36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66" name="Google Shape;3166;p36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3167" name="Google Shape;316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8" name="Google Shape;3168;p3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169" name="Google Shape;316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0" name="Google Shape;3170;p3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3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3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3" name="Google Shape;3173;p3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4" name="Google Shape;3174;p3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5" name="Google Shape;3175;p3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76" name="Google Shape;3176;p3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177" name="Google Shape;3177;p3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8" name="Google Shape;3178;p3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9" name="Google Shape;3179;p3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3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3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3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3" name="Google Shape;3183;p3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3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3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3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7" name="Google Shape;3187;p3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3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9" name="Google Shape;3189;p36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90" name="Google Shape;3190;p36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191" name="Google Shape;3191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2" name="Google Shape;3192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3" name="Google Shape;3193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4" name="Google Shape;3194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5" name="Google Shape;3195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98" name="Google Shape;3198;p36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3199" name="Google Shape;3199;p36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sp>
        <p:nvSpPr>
          <p:cNvPr id="3200" name="Google Shape;3200;p36"/>
          <p:cNvSpPr txBox="1"/>
          <p:nvPr/>
        </p:nvSpPr>
        <p:spPr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laptop needs to get its own IP address, addr of first-hop router, addr of DNS server: use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/>
          </a:p>
        </p:txBody>
      </p:sp>
      <p:grpSp>
        <p:nvGrpSpPr>
          <p:cNvPr id="3201" name="Google Shape;3201;p36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3202" name="Google Shape;3202;p36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3" name="Google Shape;3203;p36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3204" name="Google Shape;3204;p3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5" name="Google Shape;3205;p36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206" name="Google Shape;3206;p3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7" name="Google Shape;3207;p3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8" name="Google Shape;3208;p3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9" name="Google Shape;3209;p3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210" name="Google Shape;3210;p36"/>
          <p:cNvGrpSpPr/>
          <p:nvPr/>
        </p:nvGrpSpPr>
        <p:grpSpPr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3211" name="Google Shape;3211;p36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2" name="Google Shape;3212;p36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3213" name="Google Shape;3213;p36"/>
          <p:cNvGrpSpPr/>
          <p:nvPr/>
        </p:nvGrpSpPr>
        <p:grpSpPr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3214" name="Google Shape;3214;p36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3215" name="Google Shape;3215;p36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216" name="Google Shape;3216;p36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17" name="Google Shape;3217;p3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8" name="Google Shape;3218;p3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3219" name="Google Shape;3219;p36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0" name="Google Shape;3220;p36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21" name="Google Shape;3221;p36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222" name="Google Shape;3222;p3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223" name="Google Shape;3223;p3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4" name="Google Shape;3224;p3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225" name="Google Shape;3225;p3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226" name="Google Shape;3226;p3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7" name="Google Shape;3227;p3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228" name="Google Shape;3228;p36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229" name="Google Shape;3229;p36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0" name="Google Shape;3230;p36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1" name="Google Shape;3231;p36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232" name="Google Shape;3232;p36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233" name="Google Shape;3233;p36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234" name="Google Shape;3234;p36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235" name="Google Shape;3235;p36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36" name="Google Shape;3236;p36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237" name="Google Shape;3237;p36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238" name="Google Shape;3238;p36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39" name="Google Shape;3239;p36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240" name="Google Shape;3240;p36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41" name="Google Shape;3241;p36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42" name="Google Shape;3242;p36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3" name="Google Shape;3243;p36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4" name="Google Shape;3244;p36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245" name="Google Shape;3245;p36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6" name="Google Shape;3246;p36"/>
          <p:cNvGrpSpPr/>
          <p:nvPr/>
        </p:nvGrpSpPr>
        <p:grpSpPr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3247" name="Google Shape;3247;p36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248" name="Google Shape;3248;p36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249" name="Google Shape;3249;p3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250" name="Google Shape;3250;p3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51" name="Google Shape;3251;p3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252" name="Google Shape;3252;p3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253" name="Google Shape;3253;p3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54" name="Google Shape;3254;p3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55" name="Google Shape;3255;p36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6" name="Google Shape;3256;p36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7" name="Google Shape;3257;p36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36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36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0" name="Google Shape;3260;p36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3261" name="Google Shape;3261;p36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36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3263" name="Google Shape;3263;p3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36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265" name="Google Shape;3265;p3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6" name="Google Shape;3266;p3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7" name="Google Shape;3267;p3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8" name="Google Shape;3268;p3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269" name="Google Shape;3269;p36"/>
          <p:cNvGrpSpPr/>
          <p:nvPr/>
        </p:nvGrpSpPr>
        <p:grpSpPr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3270" name="Google Shape;3270;p36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271" name="Google Shape;3271;p36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272" name="Google Shape;3272;p36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73" name="Google Shape;3273;p3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74" name="Google Shape;3274;p3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3275" name="Google Shape;3275;p36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6" name="Google Shape;3276;p36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7" name="Google Shape;3277;p36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278" name="Google Shape;3278;p3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279" name="Google Shape;3279;p3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0" name="Google Shape;3280;p3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281" name="Google Shape;3281;p3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282" name="Google Shape;3282;p3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3" name="Google Shape;3283;p3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284" name="Google Shape;3284;p36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285" name="Google Shape;3285;p36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6" name="Google Shape;3286;p36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7" name="Google Shape;3287;p36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288" name="Google Shape;3288;p36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289" name="Google Shape;3289;p36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290" name="Google Shape;3290;p36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291" name="Google Shape;3291;p36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92" name="Google Shape;3292;p36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293" name="Google Shape;3293;p36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294" name="Google Shape;3294;p36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95" name="Google Shape;3295;p36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296" name="Google Shape;3296;p36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7" name="Google Shape;3297;p36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98" name="Google Shape;3298;p36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9" name="Google Shape;3299;p36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0" name="Google Shape;3300;p36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301" name="Google Shape;3301;p36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2" name="Google Shape;3302;p36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303" name="Google Shape;3303;p3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36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3305" name="Google Shape;3305;p36"/>
          <p:cNvGrpSpPr/>
          <p:nvPr/>
        </p:nvGrpSpPr>
        <p:grpSpPr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3306" name="Google Shape;3306;p36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36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3308" name="Google Shape;3308;p36"/>
          <p:cNvSpPr/>
          <p:nvPr/>
        </p:nvSpPr>
        <p:spPr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request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encapsulated</a:t>
            </a:r>
            <a:r>
              <a:rPr lang="en-US" sz="2800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802.3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36"/>
          <p:cNvSpPr/>
          <p:nvPr/>
        </p:nvSpPr>
        <p:spPr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(dest: FFFFFFFFFFFF) on LAN, received at router running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3310" name="Google Shape;3310;p36"/>
          <p:cNvSpPr/>
          <p:nvPr/>
        </p:nvSpPr>
        <p:spPr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demuxed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IP demuxed, UDP demuxed to DHCP </a:t>
            </a:r>
            <a:endParaRPr/>
          </a:p>
        </p:txBody>
      </p:sp>
      <p:grpSp>
        <p:nvGrpSpPr>
          <p:cNvPr id="3311" name="Google Shape;3311;p36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3312" name="Google Shape;3312;p3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3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3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3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3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7" name="Google Shape;3317;p3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318" name="Google Shape;3318;p3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9" name="Google Shape;3319;p3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0" name="Google Shape;3320;p3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1" name="Google Shape;3321;p3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322" name="Google Shape;3322;p3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3" name="Google Shape;3323;p3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4" name="Google Shape;3324;p3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3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6" name="Google Shape;3326;p3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327" name="Google Shape;3327;p3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8" name="Google Shape;3328;p3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9" name="Google Shape;3329;p3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0" name="Google Shape;3330;p3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331" name="Google Shape;3331;p3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2" name="Google Shape;3332;p3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3" name="Google Shape;3333;p3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3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3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3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3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3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3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3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3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3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3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p37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3349" name="Google Shape;334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0" name="Google Shape;3350;p37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1" name="Google Shape;3351;p37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2" name="Google Shape;3352;p37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37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54" name="Google Shape;3354;p37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5" name="Google Shape;3355;p37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6" name="Google Shape;3356;p37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357" name="Google Shape;3357;p3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8" name="Google Shape;3358;p3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59" name="Google Shape;3359;p3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360" name="Google Shape;3360;p3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3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2" name="Google Shape;3362;p3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3" name="Google Shape;3363;p3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64" name="Google Shape;3364;p37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65" name="Google Shape;3365;p37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66" name="Google Shape;3366;p37"/>
          <p:cNvGrpSpPr/>
          <p:nvPr/>
        </p:nvGrpSpPr>
        <p:grpSpPr>
          <a:xfrm>
            <a:off x="1905000" y="2501153"/>
            <a:ext cx="954696" cy="842220"/>
            <a:chOff x="7432700" y="2327293"/>
            <a:chExt cx="534987" cy="414882"/>
          </a:xfrm>
        </p:grpSpPr>
        <p:pic>
          <p:nvPicPr>
            <p:cNvPr descr="antenna_stylized" id="3367" name="Google Shape;336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368" name="Google Shape;3368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9" name="Google Shape;3369;p3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370" name="Google Shape;3370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1" name="Google Shape;3371;p3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2" name="Google Shape;3372;p3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3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4" name="Google Shape;3374;p3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5" name="Google Shape;3375;p3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6" name="Google Shape;3376;p3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77" name="Google Shape;3377;p3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378" name="Google Shape;3378;p3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3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3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3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3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3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84" name="Google Shape;3384;p3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5" name="Google Shape;3385;p3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6" name="Google Shape;3386;p3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7" name="Google Shape;3387;p3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3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3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0" name="Google Shape;3390;p37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91" name="Google Shape;3391;p37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392" name="Google Shape;3392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393" name="Google Shape;3393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394" name="Google Shape;3394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95" name="Google Shape;3395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99" name="Google Shape;3399;p37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3400" name="Google Shape;3400;p37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grpSp>
        <p:nvGrpSpPr>
          <p:cNvPr id="3401" name="Google Shape;3401;p37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3402" name="Google Shape;3402;p37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3" name="Google Shape;3403;p37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3404" name="Google Shape;3404;p3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5" name="Google Shape;3405;p37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406" name="Google Shape;3406;p3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7" name="Google Shape;3407;p3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8" name="Google Shape;3408;p3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9" name="Google Shape;3409;p3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410" name="Google Shape;3410;p37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3411" name="Google Shape;3411;p37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2" name="Google Shape;3412;p37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3413" name="Google Shape;3413;p3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4" name="Google Shape;3414;p37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415" name="Google Shape;3415;p3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6" name="Google Shape;3416;p3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7" name="Google Shape;3417;p3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8" name="Google Shape;3418;p3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419" name="Google Shape;3419;p37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3420" name="Google Shape;3420;p3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3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3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3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3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5" name="Google Shape;3425;p3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426" name="Google Shape;3426;p3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7" name="Google Shape;3427;p3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8" name="Google Shape;3428;p3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9" name="Google Shape;3429;p3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430" name="Google Shape;3430;p3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1" name="Google Shape;3431;p3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2" name="Google Shape;3432;p3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p3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4" name="Google Shape;3434;p3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435" name="Google Shape;3435;p3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6" name="Google Shape;3436;p3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7" name="Google Shape;3437;p3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8" name="Google Shape;3438;p3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439" name="Google Shape;3439;p3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0" name="Google Shape;3440;p3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41" name="Google Shape;3441;p3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3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p3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p3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3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p3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3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p3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p3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3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p3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2" name="Google Shape;3452;p37"/>
          <p:cNvSpPr txBox="1"/>
          <p:nvPr/>
        </p:nvSpPr>
        <p:spPr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 formulates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ACK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client’s IP address, IP address of first-hop router for client, name &amp; IP address of DNS server</a:t>
            </a:r>
            <a:endParaRPr/>
          </a:p>
          <a:p>
            <a:pPr indent="-1651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53" name="Google Shape;3453;p37"/>
          <p:cNvGrpSpPr/>
          <p:nvPr/>
        </p:nvGrpSpPr>
        <p:grpSpPr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3454" name="Google Shape;3454;p37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3455" name="Google Shape;3455;p37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456" name="Google Shape;3456;p37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457" name="Google Shape;3457;p3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8" name="Google Shape;3458;p3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3459" name="Google Shape;3459;p37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37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1" name="Google Shape;3461;p37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462" name="Google Shape;3462;p3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63" name="Google Shape;3463;p3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4" name="Google Shape;3464;p3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465" name="Google Shape;3465;p3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466" name="Google Shape;3466;p3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7" name="Google Shape;3467;p3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468" name="Google Shape;3468;p37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469" name="Google Shape;3469;p37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37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71" name="Google Shape;3471;p37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472" name="Google Shape;3472;p37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473" name="Google Shape;3473;p37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474" name="Google Shape;3474;p37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475" name="Google Shape;3475;p37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76" name="Google Shape;3476;p37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477" name="Google Shape;3477;p3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478" name="Google Shape;3478;p37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79" name="Google Shape;3479;p37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480" name="Google Shape;3480;p37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1" name="Google Shape;3481;p37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82" name="Google Shape;3482;p37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3" name="Google Shape;3483;p37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4" name="Google Shape;3484;p37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485" name="Google Shape;3485;p37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6" name="Google Shape;3486;p37"/>
          <p:cNvGrpSpPr/>
          <p:nvPr/>
        </p:nvGrpSpPr>
        <p:grpSpPr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3487" name="Google Shape;3487;p37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488" name="Google Shape;3488;p37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489" name="Google Shape;3489;p3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90" name="Google Shape;3490;p3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1" name="Google Shape;3491;p3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492" name="Google Shape;3492;p3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493" name="Google Shape;3493;p3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4" name="Google Shape;3494;p3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95" name="Google Shape;3495;p37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6" name="Google Shape;3496;p37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7" name="Google Shape;3497;p37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37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37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0" name="Google Shape;3500;p37"/>
          <p:cNvGrpSpPr/>
          <p:nvPr/>
        </p:nvGrpSpPr>
        <p:grpSpPr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3501" name="Google Shape;3501;p37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502" name="Google Shape;3502;p37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503" name="Google Shape;3503;p37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504" name="Google Shape;3504;p3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5" name="Google Shape;3505;p3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3506" name="Google Shape;3506;p37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7" name="Google Shape;3507;p37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8" name="Google Shape;3508;p37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509" name="Google Shape;3509;p37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510" name="Google Shape;3510;p3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1" name="Google Shape;3511;p37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512" name="Google Shape;3512;p3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513" name="Google Shape;3513;p3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4" name="Google Shape;3514;p3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515" name="Google Shape;3515;p37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516" name="Google Shape;3516;p37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7" name="Google Shape;3517;p37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18" name="Google Shape;3518;p37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519" name="Google Shape;3519;p37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520" name="Google Shape;3520;p37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521" name="Google Shape;3521;p37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522" name="Google Shape;3522;p37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523" name="Google Shape;3523;p37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524" name="Google Shape;3524;p3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525" name="Google Shape;3525;p37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526" name="Google Shape;3526;p37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527" name="Google Shape;3527;p37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8" name="Google Shape;3528;p37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29" name="Google Shape;3529;p37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0" name="Google Shape;3530;p37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1" name="Google Shape;3531;p37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532" name="Google Shape;3532;p37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3" name="Google Shape;3533;p37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534" name="Google Shape;3534;p3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5" name="Google Shape;3535;p37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3536" name="Google Shape;3536;p37"/>
          <p:cNvGrpSpPr/>
          <p:nvPr/>
        </p:nvGrpSpPr>
        <p:grpSpPr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3537" name="Google Shape;3537;p37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37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3539" name="Google Shape;3539;p37"/>
          <p:cNvSpPr/>
          <p:nvPr/>
        </p:nvSpPr>
        <p:spPr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encapsulation at DHCP server, frame forwarded (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 learning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through LAN, demultiplexing at client</a:t>
            </a:r>
            <a:endParaRPr/>
          </a:p>
          <a:p>
            <a:pPr indent="-24384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37"/>
          <p:cNvSpPr txBox="1"/>
          <p:nvPr/>
        </p:nvSpPr>
        <p:spPr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Client now has IP address, knows name &amp; addr of DNS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server, IP address of its first-hop router</a:t>
            </a:r>
            <a:endParaRPr/>
          </a:p>
        </p:txBody>
      </p:sp>
      <p:sp>
        <p:nvSpPr>
          <p:cNvPr id="3541" name="Google Shape;3541;p37"/>
          <p:cNvSpPr/>
          <p:nvPr/>
        </p:nvSpPr>
        <p:spPr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 receives DHCP ACK reply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38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A day in the life… ARP  </a:t>
            </a:r>
            <a:r>
              <a:rPr lang="en-US" sz="4000"/>
              <a:t>(before DNS, before HTTP)</a:t>
            </a:r>
            <a:endParaRPr/>
          </a:p>
        </p:txBody>
      </p:sp>
      <p:sp>
        <p:nvSpPr>
          <p:cNvPr id="3547" name="Google Shape;3547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8" name="Google Shape;3548;p38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9" name="Google Shape;3549;p38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38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1" name="Google Shape;3551;p38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2" name="Google Shape;3552;p38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3" name="Google Shape;3553;p38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54" name="Google Shape;3554;p38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555" name="Google Shape;3555;p3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3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57" name="Google Shape;3557;p3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558" name="Google Shape;3558;p3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3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3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3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62" name="Google Shape;3562;p38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63" name="Google Shape;3563;p38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564" name="Google Shape;3564;p38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3565" name="Google Shape;356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6" name="Google Shape;3566;p3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567" name="Google Shape;356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8" name="Google Shape;3568;p3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3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3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3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3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3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74" name="Google Shape;3574;p3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575" name="Google Shape;3575;p3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3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3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3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3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3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1" name="Google Shape;3581;p3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3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3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3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3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3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7" name="Google Shape;3587;p38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588" name="Google Shape;3588;p38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589" name="Google Shape;3589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590" name="Google Shape;3590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591" name="Google Shape;3591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92" name="Google Shape;3592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3" name="Google Shape;3593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4" name="Google Shape;3594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5" name="Google Shape;3595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96" name="Google Shape;3596;p38"/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server</a:t>
            </a:r>
            <a:endParaRPr/>
          </a:p>
        </p:txBody>
      </p:sp>
      <p:sp>
        <p:nvSpPr>
          <p:cNvPr id="3597" name="Google Shape;3597;p38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client</a:t>
            </a:r>
            <a:endParaRPr/>
          </a:p>
        </p:txBody>
      </p:sp>
      <p:grpSp>
        <p:nvGrpSpPr>
          <p:cNvPr id="3598" name="Google Shape;3598;p38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3599" name="Google Shape;3599;p38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00" name="Google Shape;3600;p38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3601" name="Google Shape;3601;p38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2" name="Google Shape;3602;p38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603" name="Google Shape;3603;p38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4" name="Google Shape;3604;p38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5" name="Google Shape;3605;p38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6" name="Google Shape;3606;p38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07" name="Google Shape;3607;p38"/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3608" name="Google Shape;3608;p38"/>
            <p:cNvGrpSpPr/>
            <p:nvPr/>
          </p:nvGrpSpPr>
          <p:grpSpPr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3609" name="Google Shape;3609;p38"/>
              <p:cNvSpPr/>
              <p:nvPr/>
            </p:nvSpPr>
            <p:spPr>
              <a:xfrm>
                <a:off x="1424" y="2316"/>
                <a:ext cx="263" cy="441"/>
              </a:xfrm>
              <a:custGeom>
                <a:rect b="b" l="l" r="r" t="t"/>
                <a:pathLst>
                  <a:path extrusionOk="0" h="10000" w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>
                <a:gsLst>
                  <a:gs pos="0">
                    <a:srgbClr val="BFBFBF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0" name="Google Shape;3610;p38"/>
              <p:cNvGrpSpPr/>
              <p:nvPr/>
            </p:nvGrpSpPr>
            <p:grpSpPr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3611" name="Google Shape;3611;p38"/>
                <p:cNvSpPr/>
                <p:nvPr/>
              </p:nvSpPr>
              <p:spPr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2" name="Google Shape;3612;p38"/>
                <p:cNvSpPr txBox="1"/>
                <p:nvPr/>
              </p:nvSpPr>
              <p:spPr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Eth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</a:t>
                  </a:r>
                  <a:endParaRPr/>
                </a:p>
              </p:txBody>
            </p:sp>
            <p:cxnSp>
              <p:nvCxnSpPr>
                <p:cNvPr id="3613" name="Google Shape;3613;p38"/>
                <p:cNvCxnSpPr/>
                <p:nvPr/>
              </p:nvCxnSpPr>
              <p:spPr>
                <a:xfrm>
                  <a:off x="572" y="3448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14" name="Google Shape;3614;p38"/>
                <p:cNvCxnSpPr/>
                <p:nvPr/>
              </p:nvCxnSpPr>
              <p:spPr>
                <a:xfrm>
                  <a:off x="575" y="3607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615" name="Google Shape;3615;p38"/>
            <p:cNvGrpSpPr/>
            <p:nvPr/>
          </p:nvGrpSpPr>
          <p:grpSpPr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3616" name="Google Shape;3616;p38"/>
              <p:cNvSpPr/>
              <p:nvPr/>
            </p:nvSpPr>
            <p:spPr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7" name="Google Shape;3617;p38"/>
              <p:cNvSpPr txBox="1"/>
              <p:nvPr/>
            </p:nvSpPr>
            <p:spPr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</a:t>
                </a:r>
                <a:r>
                  <a:rPr i="0" lang="en-US" sz="11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ARP</a:t>
                </a:r>
                <a:endParaRPr i="0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8" name="Google Shape;3618;p38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3619" name="Google Shape;3619;p3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38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3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3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38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4" name="Google Shape;3624;p38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625" name="Google Shape;3625;p38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38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27" name="Google Shape;3627;p38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8" name="Google Shape;3628;p38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629" name="Google Shape;3629;p38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0" name="Google Shape;3630;p38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1" name="Google Shape;3631;p38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38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3" name="Google Shape;3633;p38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634" name="Google Shape;3634;p38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5" name="Google Shape;3635;p38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6" name="Google Shape;3636;p3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7" name="Google Shape;3637;p38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638" name="Google Shape;3638;p38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9" name="Google Shape;3639;p38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40" name="Google Shape;3640;p38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3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3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38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3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38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38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38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38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38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38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1" name="Google Shape;3651;p38"/>
          <p:cNvSpPr txBox="1"/>
          <p:nvPr/>
        </p:nvSpPr>
        <p:spPr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sending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b="1" i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request, need IP address of www.google.com: 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grpSp>
        <p:nvGrpSpPr>
          <p:cNvPr id="3652" name="Google Shape;3652;p38"/>
          <p:cNvGrpSpPr/>
          <p:nvPr/>
        </p:nvGrpSpPr>
        <p:grpSpPr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3653" name="Google Shape;3653;p38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3654" name="Google Shape;3654;p3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5" name="Google Shape;3655;p3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3656" name="Google Shape;3656;p38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3657" name="Google Shape;3657;p38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3658" name="Google Shape;3658;p38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9" name="Google Shape;3659;p38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3660" name="Google Shape;3660;p38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1" name="Google Shape;3661;p38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2" name="Google Shape;3662;p38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3663" name="Google Shape;3663;p38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3664" name="Google Shape;3664;p38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5" name="Google Shape;3665;p38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3666" name="Google Shape;3666;p38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3667" name="Google Shape;3667;p38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8" name="Google Shape;3668;p38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69" name="Google Shape;3669;p38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3670" name="Google Shape;3670;p38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1" name="Google Shape;3671;p38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2" name="Google Shape;3672;p38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3" name="Google Shape;3673;p38"/>
          <p:cNvSpPr/>
          <p:nvPr/>
        </p:nvSpPr>
        <p:spPr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query created, encapsulated in UDP, encapsulated in IP, encapsulated in Eth.  To send frame to router, need MAC address of router interface: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38"/>
          <p:cNvSpPr/>
          <p:nvPr/>
        </p:nvSpPr>
        <p:spPr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query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received by router, which replies with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reply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giving MAC address of router interface</a:t>
            </a:r>
            <a:endParaRPr/>
          </a:p>
        </p:txBody>
      </p:sp>
      <p:sp>
        <p:nvSpPr>
          <p:cNvPr id="3675" name="Google Shape;3675;p38"/>
          <p:cNvSpPr/>
          <p:nvPr/>
        </p:nvSpPr>
        <p:spPr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now knows MAC address of first hop router, so can now send frame containing DNS query </a:t>
            </a:r>
            <a:endParaRPr/>
          </a:p>
        </p:txBody>
      </p:sp>
      <p:grpSp>
        <p:nvGrpSpPr>
          <p:cNvPr id="3676" name="Google Shape;3676;p38"/>
          <p:cNvGrpSpPr/>
          <p:nvPr/>
        </p:nvGrpSpPr>
        <p:grpSpPr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3677" name="Google Shape;3677;p38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38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38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38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38"/>
            <p:cNvSpPr txBox="1"/>
            <p:nvPr/>
          </p:nvSpPr>
          <p:spPr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query</a:t>
              </a:r>
              <a:endParaRPr/>
            </a:p>
          </p:txBody>
        </p:sp>
      </p:grpSp>
      <p:grpSp>
        <p:nvGrpSpPr>
          <p:cNvPr id="3682" name="Google Shape;3682;p38"/>
          <p:cNvGrpSpPr/>
          <p:nvPr/>
        </p:nvGrpSpPr>
        <p:grpSpPr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3683" name="Google Shape;3683;p38"/>
            <p:cNvSpPr/>
            <p:nvPr/>
          </p:nvSpPr>
          <p:spPr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38"/>
            <p:cNvSpPr txBox="1"/>
            <p:nvPr/>
          </p:nvSpPr>
          <p:spPr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</a:t>
              </a:r>
              <a:endParaRPr/>
            </a:p>
          </p:txBody>
        </p:sp>
      </p:grpSp>
      <p:grpSp>
        <p:nvGrpSpPr>
          <p:cNvPr id="3685" name="Google Shape;3685;p38"/>
          <p:cNvGrpSpPr/>
          <p:nvPr/>
        </p:nvGrpSpPr>
        <p:grpSpPr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3686" name="Google Shape;3686;p38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38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38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38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38"/>
            <p:cNvSpPr txBox="1"/>
            <p:nvPr/>
          </p:nvSpPr>
          <p:spPr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reply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39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900"/>
              <a:buFont typeface="Calibri"/>
              <a:buNone/>
            </a:pPr>
            <a:r>
              <a:rPr lang="en-US" sz="4900"/>
              <a:t>A day in the life… using DNS</a:t>
            </a:r>
            <a:endParaRPr/>
          </a:p>
        </p:txBody>
      </p:sp>
      <p:sp>
        <p:nvSpPr>
          <p:cNvPr id="3696" name="Google Shape;3696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7" name="Google Shape;3697;p39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8" name="Google Shape;3698;p39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9" name="Google Shape;3699;p39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39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39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02" name="Google Shape;3702;p39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703" name="Google Shape;3703;p3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3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05" name="Google Shape;3705;p3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706" name="Google Shape;3706;p3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7" name="Google Shape;3707;p3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8" name="Google Shape;3708;p3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9" name="Google Shape;3709;p3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10" name="Google Shape;3710;p39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11" name="Google Shape;3711;p39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712" name="Google Shape;3712;p39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3713" name="Google Shape;371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4" name="Google Shape;3714;p3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715" name="Google Shape;3715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6" name="Google Shape;3716;p3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3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3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3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3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3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2" name="Google Shape;3722;p3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723" name="Google Shape;3723;p3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4" name="Google Shape;3724;p3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5" name="Google Shape;3725;p3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6" name="Google Shape;3726;p3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7" name="Google Shape;3727;p3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8" name="Google Shape;3728;p3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9" name="Google Shape;3729;p3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3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3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3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3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3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5" name="Google Shape;3735;p39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736" name="Google Shape;3736;p39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737" name="Google Shape;3737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38" name="Google Shape;3738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39" name="Google Shape;3739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40" name="Google Shape;3740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1" name="Google Shape;3741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2" name="Google Shape;3742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3" name="Google Shape;3743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44" name="Google Shape;3744;p39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3745" name="Google Shape;3745;p39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46" name="Google Shape;3746;p39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3747" name="Google Shape;3747;p39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8" name="Google Shape;3748;p39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749" name="Google Shape;3749;p39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0" name="Google Shape;3750;p39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1" name="Google Shape;3751;p39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2" name="Google Shape;3752;p39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753" name="Google Shape;3753;p39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3754" name="Google Shape;3754;p3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39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3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3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39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59" name="Google Shape;3759;p39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760" name="Google Shape;3760;p39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1" name="Google Shape;3761;p39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2" name="Google Shape;3762;p39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3" name="Google Shape;3763;p39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764" name="Google Shape;3764;p39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5" name="Google Shape;3765;p39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6" name="Google Shape;3766;p39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39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8" name="Google Shape;3768;p39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769" name="Google Shape;3769;p39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0" name="Google Shape;3770;p39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1" name="Google Shape;3771;p3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2" name="Google Shape;3772;p39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773" name="Google Shape;3773;p39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4" name="Google Shape;3774;p39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5" name="Google Shape;3775;p39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3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3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39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3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39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p39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p39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39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39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39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6" name="Google Shape;3786;p39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3787" name="Google Shape;3787;p39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3788" name="Google Shape;3788;p3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9" name="Google Shape;3789;p3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3790" name="Google Shape;3790;p39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3791" name="Google Shape;3791;p39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3792" name="Google Shape;3792;p39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39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3794" name="Google Shape;3794;p39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5" name="Google Shape;3795;p39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6" name="Google Shape;3796;p39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3797" name="Google Shape;3797;p39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3798" name="Google Shape;3798;p39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39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3800" name="Google Shape;3800;p39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3801" name="Google Shape;3801;p39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2" name="Google Shape;3802;p39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03" name="Google Shape;3803;p39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3804" name="Google Shape;3804;p3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5" name="Google Shape;3805;p3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6" name="Google Shape;3806;p39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7" name="Google Shape;3807;p39"/>
          <p:cNvSpPr/>
          <p:nvPr/>
        </p:nvSpPr>
        <p:spPr>
          <a:xfrm>
            <a:off x="4781672" y="1792392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39"/>
          <p:cNvSpPr txBox="1"/>
          <p:nvPr/>
        </p:nvSpPr>
        <p:spPr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3809" name="Google Shape;3809;p39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0" name="Google Shape;3810;p39"/>
          <p:cNvCxnSpPr/>
          <p:nvPr/>
        </p:nvCxnSpPr>
        <p:spPr>
          <a:xfrm flipH="1">
            <a:off x="6949888" y="2731714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1" name="Google Shape;3811;p39"/>
          <p:cNvSpPr txBox="1"/>
          <p:nvPr/>
        </p:nvSpPr>
        <p:spPr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2" name="Google Shape;3812;p39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3813" name="Google Shape;3813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4" name="Google Shape;3814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15" name="Google Shape;3815;p39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3816" name="Google Shape;3816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7" name="Google Shape;3817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18" name="Google Shape;3818;p39"/>
          <p:cNvGrpSpPr/>
          <p:nvPr/>
        </p:nvGrpSpPr>
        <p:grpSpPr>
          <a:xfrm rot="10800000">
            <a:off x="7888101" y="3793751"/>
            <a:ext cx="400050" cy="152400"/>
            <a:chOff x="3228" y="1776"/>
            <a:chExt cx="252" cy="96"/>
          </a:xfrm>
        </p:grpSpPr>
        <p:cxnSp>
          <p:nvCxnSpPr>
            <p:cNvPr id="3819" name="Google Shape;3819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0" name="Google Shape;3820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1" name="Google Shape;3821;p39"/>
          <p:cNvGrpSpPr/>
          <p:nvPr/>
        </p:nvGrpSpPr>
        <p:grpSpPr>
          <a:xfrm flipH="1" rot="10800000">
            <a:off x="7064188" y="3812801"/>
            <a:ext cx="295275" cy="114300"/>
            <a:chOff x="3228" y="1776"/>
            <a:chExt cx="252" cy="96"/>
          </a:xfrm>
        </p:grpSpPr>
        <p:cxnSp>
          <p:nvCxnSpPr>
            <p:cNvPr id="3822" name="Google Shape;3822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3" name="Google Shape;3823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4" name="Google Shape;3824;p39"/>
          <p:cNvGrpSpPr/>
          <p:nvPr/>
        </p:nvGrpSpPr>
        <p:grpSpPr>
          <a:xfrm rot="-10390311">
            <a:off x="7335651" y="3155576"/>
            <a:ext cx="452437" cy="57150"/>
            <a:chOff x="3228" y="1776"/>
            <a:chExt cx="252" cy="96"/>
          </a:xfrm>
        </p:grpSpPr>
        <p:cxnSp>
          <p:nvCxnSpPr>
            <p:cNvPr id="3825" name="Google Shape;3825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6" name="Google Shape;3826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7" name="Google Shape;3827;p39"/>
          <p:cNvGrpSpPr/>
          <p:nvPr/>
        </p:nvGrpSpPr>
        <p:grpSpPr>
          <a:xfrm>
            <a:off x="6478401" y="3360364"/>
            <a:ext cx="295275" cy="114300"/>
            <a:chOff x="3228" y="1776"/>
            <a:chExt cx="252" cy="96"/>
          </a:xfrm>
        </p:grpSpPr>
        <p:cxnSp>
          <p:nvCxnSpPr>
            <p:cNvPr id="3828" name="Google Shape;3828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9" name="Google Shape;3829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30" name="Google Shape;3830;p39"/>
          <p:cNvGrpSpPr/>
          <p:nvPr/>
        </p:nvGrpSpPr>
        <p:grpSpPr>
          <a:xfrm flipH="1">
            <a:off x="7116576" y="3360364"/>
            <a:ext cx="295275" cy="114300"/>
            <a:chOff x="3228" y="1776"/>
            <a:chExt cx="252" cy="96"/>
          </a:xfrm>
        </p:grpSpPr>
        <p:cxnSp>
          <p:nvCxnSpPr>
            <p:cNvPr id="3831" name="Google Shape;3831;p3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2" name="Google Shape;3832;p3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33" name="Google Shape;3833;p39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3834" name="Google Shape;3834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35" name="Google Shape;3835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36" name="Google Shape;3836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37" name="Google Shape;3837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8" name="Google Shape;3838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9" name="Google Shape;3839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0" name="Google Shape;3840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41" name="Google Shape;3841;p39"/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3842" name="Google Shape;3842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43" name="Google Shape;3843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44" name="Google Shape;3844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45" name="Google Shape;3845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6" name="Google Shape;3846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7" name="Google Shape;3847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8" name="Google Shape;3848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49" name="Google Shape;3849;p39"/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3850" name="Google Shape;3850;p3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51" name="Google Shape;3851;p3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52" name="Google Shape;3852;p3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53" name="Google Shape;3853;p3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4" name="Google Shape;3854;p3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5" name="Google Shape;3855;p3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6" name="Google Shape;3856;p3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57" name="Google Shape;3857;p39"/>
          <p:cNvGrpSpPr/>
          <p:nvPr/>
        </p:nvGrpSpPr>
        <p:grpSpPr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3858" name="Google Shape;3858;p39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p39"/>
            <p:cNvSpPr txBox="1"/>
            <p:nvPr/>
          </p:nvSpPr>
          <p:spPr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DNS</a:t>
              </a:r>
              <a:endParaRPr/>
            </a:p>
          </p:txBody>
        </p:sp>
      </p:grpSp>
      <p:grpSp>
        <p:nvGrpSpPr>
          <p:cNvPr id="3860" name="Google Shape;3860;p39"/>
          <p:cNvGrpSpPr/>
          <p:nvPr/>
        </p:nvGrpSpPr>
        <p:grpSpPr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3861" name="Google Shape;3861;p39"/>
            <p:cNvGrpSpPr/>
            <p:nvPr/>
          </p:nvGrpSpPr>
          <p:grpSpPr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3862" name="Google Shape;3862;p3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3" name="Google Shape;3863;p3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3864" name="Google Shape;3864;p39"/>
            <p:cNvSpPr/>
            <p:nvPr/>
          </p:nvSpPr>
          <p:spPr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p39"/>
            <p:cNvSpPr/>
            <p:nvPr/>
          </p:nvSpPr>
          <p:spPr>
            <a:xfrm>
              <a:off x="740" y="3238"/>
              <a:ext cx="354" cy="94"/>
            </a:xfrm>
            <a:prstGeom prst="rect">
              <a:avLst/>
            </a:prstGeom>
            <a:noFill/>
            <a:ln cap="flat" cmpd="sng" w="9525">
              <a:solidFill>
                <a:srgbClr val="00CC9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6" name="Google Shape;3866;p39"/>
          <p:cNvGrpSpPr/>
          <p:nvPr/>
        </p:nvGrpSpPr>
        <p:grpSpPr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3867" name="Google Shape;3867;p39"/>
            <p:cNvGrpSpPr/>
            <p:nvPr/>
          </p:nvGrpSpPr>
          <p:grpSpPr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3868" name="Google Shape;3868;p3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9" name="Google Shape;3869;p3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3870" name="Google Shape;3870;p39"/>
            <p:cNvGrpSpPr/>
            <p:nvPr/>
          </p:nvGrpSpPr>
          <p:grpSpPr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3871" name="Google Shape;3871;p39"/>
              <p:cNvSpPr/>
              <p:nvPr/>
            </p:nvSpPr>
            <p:spPr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2" name="Google Shape;3872;p39"/>
              <p:cNvSpPr/>
              <p:nvPr/>
            </p:nvSpPr>
            <p:spPr>
              <a:xfrm>
                <a:off x="836" y="333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73" name="Google Shape;3873;p39"/>
          <p:cNvGrpSpPr/>
          <p:nvPr/>
        </p:nvGrpSpPr>
        <p:grpSpPr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3874" name="Google Shape;3874;p39"/>
            <p:cNvSpPr/>
            <p:nvPr/>
          </p:nvSpPr>
          <p:spPr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5" name="Google Shape;3875;p39"/>
            <p:cNvSpPr/>
            <p:nvPr/>
          </p:nvSpPr>
          <p:spPr>
            <a:xfrm>
              <a:off x="627" y="3377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6" name="Google Shape;3876;p39"/>
          <p:cNvGrpSpPr/>
          <p:nvPr/>
        </p:nvGrpSpPr>
        <p:grpSpPr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3877" name="Google Shape;3877;p39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3878" name="Google Shape;3878;p39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3879" name="Google Shape;3879;p39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3880" name="Google Shape;3880;p39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1" name="Google Shape;3881;p39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3882" name="Google Shape;3882;p39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883" name="Google Shape;3883;p39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4" name="Google Shape;3884;p39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85" name="Google Shape;3885;p39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6" name="Google Shape;3886;p39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87" name="Google Shape;3887;p39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p39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p39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0" name="Google Shape;3890;p39"/>
          <p:cNvSpPr/>
          <p:nvPr/>
        </p:nvSpPr>
        <p:spPr>
          <a:xfrm>
            <a:off x="713711" y="1183316"/>
            <a:ext cx="381000" cy="1166813"/>
          </a:xfrm>
          <a:prstGeom prst="downArrow">
            <a:avLst>
              <a:gd fmla="val 54167" name="adj1"/>
              <a:gd fmla="val 49170" name="adj2"/>
            </a:avLst>
          </a:prstGeom>
          <a:gradFill>
            <a:gsLst>
              <a:gs pos="0">
                <a:srgbClr val="FF0000">
                  <a:alpha val="25098"/>
                </a:srgbClr>
              </a:gs>
              <a:gs pos="100000">
                <a:srgbClr val="FF0000">
                  <a:alpha val="2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1" name="Google Shape;3891;p39"/>
          <p:cNvGrpSpPr/>
          <p:nvPr/>
        </p:nvGrpSpPr>
        <p:grpSpPr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3892" name="Google Shape;3892;p39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3893" name="Google Shape;3893;p39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3894" name="Google Shape;3894;p39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3895" name="Google Shape;3895;p39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6" name="Google Shape;3896;p39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3897" name="Google Shape;3897;p39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898" name="Google Shape;3898;p39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9" name="Google Shape;3899;p39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00" name="Google Shape;3900;p39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1" name="Google Shape;3901;p39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2" name="Google Shape;3902;p39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39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4" name="Google Shape;3904;p39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5" name="Google Shape;3905;p39"/>
          <p:cNvSpPr/>
          <p:nvPr/>
        </p:nvSpPr>
        <p:spPr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DNS query forwarded via LAN switch from client to 1</a:t>
            </a:r>
            <a:r>
              <a:rPr baseline="30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hop router</a:t>
            </a:r>
            <a:endParaRPr/>
          </a:p>
        </p:txBody>
      </p:sp>
      <p:sp>
        <p:nvSpPr>
          <p:cNvPr id="3906" name="Google Shape;3906;p39"/>
          <p:cNvSpPr/>
          <p:nvPr/>
        </p:nvSpPr>
        <p:spPr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forwarded from campus network into Comcast network, routed (tables created by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RIP, OSPF, IS-IS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routing protocols) to DNS server</a:t>
            </a:r>
            <a:endParaRPr/>
          </a:p>
        </p:txBody>
      </p:sp>
      <p:sp>
        <p:nvSpPr>
          <p:cNvPr id="3907" name="Google Shape;3907;p39"/>
          <p:cNvSpPr/>
          <p:nvPr/>
        </p:nvSpPr>
        <p:spPr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demuxed to DNS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replies to client with IP address of www.google.com </a:t>
            </a:r>
            <a:endParaRPr/>
          </a:p>
        </p:txBody>
      </p:sp>
      <p:grpSp>
        <p:nvGrpSpPr>
          <p:cNvPr id="3908" name="Google Shape;3908;p39"/>
          <p:cNvGrpSpPr/>
          <p:nvPr/>
        </p:nvGrpSpPr>
        <p:grpSpPr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3909" name="Google Shape;3909;p39"/>
            <p:cNvSpPr/>
            <p:nvPr/>
          </p:nvSpPr>
          <p:spPr>
            <a:xfrm>
              <a:off x="1424" y="1965"/>
              <a:ext cx="337" cy="801"/>
            </a:xfrm>
            <a:custGeom>
              <a:rect b="b" l="l" r="r" t="t"/>
              <a:pathLst>
                <a:path extrusionOk="0" h="10000" w="10024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99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10" name="Google Shape;3910;p39"/>
            <p:cNvGrpSpPr/>
            <p:nvPr/>
          </p:nvGrpSpPr>
          <p:grpSpPr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3911" name="Google Shape;3911;p39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2" name="Google Shape;3912;p39"/>
              <p:cNvSpPr txBox="1"/>
              <p:nvPr/>
            </p:nvSpPr>
            <p:spPr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913" name="Google Shape;3913;p39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4" name="Google Shape;3914;p39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5" name="Google Shape;3915;p39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6" name="Google Shape;3916;p39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917" name="Google Shape;3917;p39"/>
          <p:cNvGrpSpPr/>
          <p:nvPr/>
        </p:nvGrpSpPr>
        <p:grpSpPr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3918" name="Google Shape;3918;p39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919" name="Google Shape;3919;p39"/>
              <p:cNvGrpSpPr/>
              <p:nvPr/>
            </p:nvGrpSpPr>
            <p:grpSpPr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3920" name="Google Shape;3920;p39"/>
                <p:cNvGrpSpPr/>
                <p:nvPr/>
              </p:nvGrpSpPr>
              <p:grpSpPr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3921" name="Google Shape;3921;p39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2" name="Google Shape;3922;p39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sp>
              <p:nvSpPr>
                <p:cNvPr id="3923" name="Google Shape;3923;p39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4" name="Google Shape;3924;p39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5" name="Google Shape;3925;p39"/>
              <p:cNvGrpSpPr/>
              <p:nvPr/>
            </p:nvGrpSpPr>
            <p:grpSpPr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3926" name="Google Shape;3926;p39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3927" name="Google Shape;3927;p39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8" name="Google Shape;3928;p39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3929" name="Google Shape;3929;p39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930" name="Google Shape;3930;p39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31" name="Google Shape;3931;p39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932" name="Google Shape;3932;p39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933" name="Google Shape;3933;p39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4" name="Google Shape;3934;p39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5" name="Google Shape;3935;p39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936" name="Google Shape;3936;p39"/>
                <p:cNvGrpSpPr/>
                <p:nvPr/>
              </p:nvGrpSpPr>
              <p:grpSpPr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3937" name="Google Shape;3937;p39"/>
                  <p:cNvGrpSpPr/>
                  <p:nvPr/>
                </p:nvGrpSpPr>
                <p:grpSpPr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3938" name="Google Shape;3938;p39"/>
                    <p:cNvGrpSpPr/>
                    <p:nvPr/>
                  </p:nvGrpSpPr>
                  <p:grpSpPr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3939" name="Google Shape;3939;p39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40" name="Google Shape;3940;p39"/>
                      <p:cNvSpPr txBox="1"/>
                      <p:nvPr/>
                    </p:nvSpPr>
                    <p:spPr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DNS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941" name="Google Shape;3941;p39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942" name="Google Shape;3942;p39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43" name="Google Shape;3943;p39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944" name="Google Shape;3944;p39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45" name="Google Shape;3945;p39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946" name="Google Shape;3946;p39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7" name="Google Shape;3947;p39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8" name="Google Shape;3948;p39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949" name="Google Shape;3949;p39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50" name="Google Shape;3950;p39"/>
            <p:cNvGrpSpPr/>
            <p:nvPr/>
          </p:nvGrpSpPr>
          <p:grpSpPr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3951" name="Google Shape;3951;p3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2" name="Google Shape;3952;p3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</p:grpSp>
      <p:grpSp>
        <p:nvGrpSpPr>
          <p:cNvPr id="3953" name="Google Shape;3953;p39"/>
          <p:cNvGrpSpPr/>
          <p:nvPr/>
        </p:nvGrpSpPr>
        <p:grpSpPr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3954" name="Google Shape;3954;p3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39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3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3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8" name="Google Shape;3958;p39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59" name="Google Shape;3959;p39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3960" name="Google Shape;3960;p39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1" name="Google Shape;3961;p39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2" name="Google Shape;3962;p39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3" name="Google Shape;3963;p39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3964" name="Google Shape;3964;p39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5" name="Google Shape;3965;p39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6" name="Google Shape;3966;p39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39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8" name="Google Shape;3968;p39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3969" name="Google Shape;3969;p39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0" name="Google Shape;3970;p39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71" name="Google Shape;3971;p3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72" name="Google Shape;3972;p39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3973" name="Google Shape;3973;p39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4" name="Google Shape;3974;p39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75" name="Google Shape;3975;p39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p3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3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39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3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39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39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39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39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39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39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6" name="Google Shape;3986;p39"/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3987" name="Google Shape;3987;p39"/>
            <p:cNvGrpSpPr/>
            <p:nvPr/>
          </p:nvGrpSpPr>
          <p:grpSpPr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3988" name="Google Shape;3988;p3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9" name="Google Shape;3989;p3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3990" name="Google Shape;3990;p39"/>
            <p:cNvSpPr/>
            <p:nvPr/>
          </p:nvSpPr>
          <p:spPr>
            <a:xfrm>
              <a:off x="4627915" y="1475417"/>
              <a:ext cx="381000" cy="487292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p40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life…TCP connection carrying HTTP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7" name="Google Shape;3997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8" name="Google Shape;3998;p40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9" name="Google Shape;3999;p40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0" name="Google Shape;4000;p40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1" name="Google Shape;4001;p40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02" name="Google Shape;4002;p40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03" name="Google Shape;4003;p40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4004" name="Google Shape;4004;p4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4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06" name="Google Shape;4006;p4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007" name="Google Shape;4007;p4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4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9" name="Google Shape;4009;p4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0" name="Google Shape;4010;p4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11" name="Google Shape;4011;p40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12" name="Google Shape;4012;p40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13" name="Google Shape;4013;p40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014" name="Google Shape;4014;p40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4015" name="Google Shape;4015;p4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16" name="Google Shape;4016;p4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17" name="Google Shape;4017;p4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18" name="Google Shape;4018;p4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9" name="Google Shape;4019;p4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0" name="Google Shape;4020;p4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1" name="Google Shape;4021;p4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22" name="Google Shape;4022;p40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4023" name="Google Shape;4023;p4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40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4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4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40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28" name="Google Shape;4028;p40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4029" name="Google Shape;4029;p40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0" name="Google Shape;4030;p40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31" name="Google Shape;4031;p40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2" name="Google Shape;4032;p40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4033" name="Google Shape;4033;p40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4" name="Google Shape;4034;p40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35" name="Google Shape;4035;p40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6" name="Google Shape;4036;p40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7" name="Google Shape;4037;p40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4038" name="Google Shape;4038;p40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40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0" name="Google Shape;4040;p4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41" name="Google Shape;4041;p40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042" name="Google Shape;4042;p40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40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4" name="Google Shape;4044;p40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p4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4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p40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p4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p40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40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p40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40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3" name="Google Shape;4053;p40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p40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5" name="Google Shape;4055;p40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6" name="Google Shape;4056;p40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057" name="Google Shape;4057;p4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8" name="Google Shape;4058;p40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4059" name="Google Shape;4059;p40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060" name="Google Shape;4060;p40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061" name="Google Shape;4061;p4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2" name="Google Shape;4062;p40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4063" name="Google Shape;4063;p40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4" name="Google Shape;4064;p40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5" name="Google Shape;4065;p40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066" name="Google Shape;4066;p40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067" name="Google Shape;4067;p4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8" name="Google Shape;4068;p40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4069" name="Google Shape;4069;p40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070" name="Google Shape;4070;p40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1" name="Google Shape;4071;p40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72" name="Google Shape;4072;p40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073" name="Google Shape;4073;p4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4" name="Google Shape;4074;p4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75" name="Google Shape;4075;p40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6" name="Google Shape;4076;p40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7" name="Google Shape;4077;p40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4078" name="Google Shape;4078;p40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79" name="Google Shape;4079;p40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4080" name="Google Shape;4080;p4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1" name="Google Shape;4081;p4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2" name="Google Shape;4082;p40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4083" name="Google Shape;4083;p4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4" name="Google Shape;4084;p4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5" name="Google Shape;4085;p40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4086" name="Google Shape;4086;p4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87" name="Google Shape;4087;p4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88" name="Google Shape;4088;p4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89" name="Google Shape;4089;p4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0" name="Google Shape;4090;p4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1" name="Google Shape;4091;p4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4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93" name="Google Shape;4093;p40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4" name="Google Shape;4094;p40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5" name="Google Shape;4095;p40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6" name="Google Shape;4096;p40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4097" name="Google Shape;4097;p40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4098" name="Google Shape;4098;p40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4099" name="Google Shape;4099;p4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0" name="Google Shape;4100;p4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01" name="Google Shape;4101;p40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4102" name="Google Shape;4102;p4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3" name="Google Shape;4103;p4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04" name="Google Shape;4104;p40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4105" name="Google Shape;4105;p4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6" name="Google Shape;4106;p4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07" name="Google Shape;4107;p40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4108" name="Google Shape;4108;p4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09" name="Google Shape;4109;p4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10" name="Google Shape;4110;p4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1" name="Google Shape;4111;p4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2" name="Google Shape;4112;p4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4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4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5" name="Google Shape;4115;p40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4116" name="Google Shape;4116;p4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40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4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4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40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1" name="Google Shape;4121;p40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4122" name="Google Shape;4122;p40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3" name="Google Shape;4123;p40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24" name="Google Shape;4124;p40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5" name="Google Shape;4125;p40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4126" name="Google Shape;4126;p40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7" name="Google Shape;4127;p40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28" name="Google Shape;4128;p40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9" name="Google Shape;4129;p40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0" name="Google Shape;4130;p40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4131" name="Google Shape;4131;p40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2" name="Google Shape;4132;p40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3" name="Google Shape;4133;p4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4" name="Google Shape;4134;p40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135" name="Google Shape;4135;p40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6" name="Google Shape;4136;p40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7" name="Google Shape;4137;p40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8" name="Google Shape;4138;p4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9" name="Google Shape;4139;p4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40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4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40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40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40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40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40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40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8" name="Google Shape;4148;p40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4149" name="Google Shape;4149;p40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803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0" name="Google Shape;4150;p40"/>
            <p:cNvGrpSpPr/>
            <p:nvPr/>
          </p:nvGrpSpPr>
          <p:grpSpPr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4151" name="Google Shape;4151;p40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2" name="Google Shape;4152;p40"/>
              <p:cNvSpPr txBox="1"/>
              <p:nvPr/>
            </p:nvSpPr>
            <p:spPr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4153" name="Google Shape;4153;p40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40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40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6" name="Google Shape;4156;p40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157" name="Google Shape;4157;p40"/>
          <p:cNvGrpSpPr/>
          <p:nvPr/>
        </p:nvGrpSpPr>
        <p:grpSpPr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4158" name="Google Shape;4158;p40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4159" name="Google Shape;4159;p4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0" name="Google Shape;4160;p40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4161" name="Google Shape;4161;p40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2" name="Google Shape;4162;p40"/>
          <p:cNvSpPr/>
          <p:nvPr/>
        </p:nvSpPr>
        <p:spPr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request, client first opens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socket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web server</a:t>
            </a:r>
            <a:endParaRPr/>
          </a:p>
        </p:txBody>
      </p:sp>
      <p:sp>
        <p:nvSpPr>
          <p:cNvPr id="4163" name="Google Shape;4163;p40"/>
          <p:cNvSpPr/>
          <p:nvPr/>
        </p:nvSpPr>
        <p:spPr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 segment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1 in TCP 3-way handshake)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inter-domain routed to web server</a:t>
            </a:r>
            <a:endParaRPr/>
          </a:p>
        </p:txBody>
      </p:sp>
      <p:sp>
        <p:nvSpPr>
          <p:cNvPr id="4164" name="Google Shape;4164;p40"/>
          <p:cNvSpPr/>
          <p:nvPr/>
        </p:nvSpPr>
        <p:spPr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established!</a:t>
            </a:r>
            <a:endParaRPr/>
          </a:p>
        </p:txBody>
      </p:sp>
      <p:grpSp>
        <p:nvGrpSpPr>
          <p:cNvPr id="4165" name="Google Shape;4165;p40"/>
          <p:cNvGrpSpPr/>
          <p:nvPr/>
        </p:nvGrpSpPr>
        <p:grpSpPr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4166" name="Google Shape;4166;p40"/>
            <p:cNvSpPr/>
            <p:nvPr/>
          </p:nvSpPr>
          <p:spPr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p40"/>
            <p:cNvSpPr/>
            <p:nvPr/>
          </p:nvSpPr>
          <p:spPr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40"/>
            <p:cNvSpPr/>
            <p:nvPr/>
          </p:nvSpPr>
          <p:spPr>
            <a:xfrm>
              <a:off x="529" y="1525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40"/>
            <p:cNvSpPr/>
            <p:nvPr/>
          </p:nvSpPr>
          <p:spPr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40"/>
            <p:cNvSpPr/>
            <p:nvPr/>
          </p:nvSpPr>
          <p:spPr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1" name="Google Shape;4171;p40"/>
            <p:cNvGrpSpPr/>
            <p:nvPr/>
          </p:nvGrpSpPr>
          <p:grpSpPr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4172" name="Google Shape;4172;p40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40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4" name="Google Shape;4174;p40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</p:grpSp>
      <p:grpSp>
        <p:nvGrpSpPr>
          <p:cNvPr id="4175" name="Google Shape;4175;p40"/>
          <p:cNvGrpSpPr/>
          <p:nvPr/>
        </p:nvGrpSpPr>
        <p:grpSpPr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4176" name="Google Shape;4176;p40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77" name="Google Shape;4177;p4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8" name="Google Shape;4178;p4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9" name="Google Shape;4179;p40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4180" name="Google Shape;4180;p40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1" name="Google Shape;4181;p40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2" name="Google Shape;4182;p40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4183" name="Google Shape;4183;p40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4184" name="Google Shape;4184;p40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5" name="Google Shape;4185;p40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6" name="Google Shape;4186;p40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4187" name="Google Shape;4187;p40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4188" name="Google Shape;4188;p40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9" name="Google Shape;4189;p40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0" name="Google Shape;4190;p40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1" name="Google Shape;4191;p40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2" name="Google Shape;4192;p40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93" name="Google Shape;4193;p40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4194" name="Google Shape;4194;p40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5" name="Google Shape;4195;p40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6" name="Google Shape;4196;p40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grpSp>
        <p:nvGrpSpPr>
          <p:cNvPr id="4197" name="Google Shape;4197;p40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4198" name="Google Shape;4198;p40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1"/>
                  </a:srgbClr>
                </a:gs>
                <a:gs pos="100000">
                  <a:srgbClr val="FFFFFF">
                    <a:alpha val="81961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99" name="Google Shape;4199;p40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4200" name="Google Shape;4200;p40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1" name="Google Shape;4201;p40"/>
              <p:cNvSpPr txBox="1"/>
              <p:nvPr/>
            </p:nvSpPr>
            <p:spPr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omic Sans MS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4202" name="Google Shape;4202;p40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3" name="Google Shape;4203;p40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4" name="Google Shape;4204;p40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5" name="Google Shape;4205;p40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206" name="Google Shape;4206;p40"/>
          <p:cNvGrpSpPr/>
          <p:nvPr/>
        </p:nvGrpSpPr>
        <p:grpSpPr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4207" name="Google Shape;4207;p40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208" name="Google Shape;4208;p4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9" name="Google Shape;4209;p4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10" name="Google Shape;4210;p40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4211" name="Google Shape;4211;p40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2" name="Google Shape;4212;p40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3" name="Google Shape;4213;p40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4214" name="Google Shape;4214;p40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4215" name="Google Shape;4215;p40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6" name="Google Shape;4216;p40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7" name="Google Shape;4217;p40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4218" name="Google Shape;4218;p40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4219" name="Google Shape;4219;p40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0" name="Google Shape;4220;p40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1" name="Google Shape;4221;p40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2" name="Google Shape;4222;p40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3" name="Google Shape;4223;p40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24" name="Google Shape;4224;p40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4225" name="Google Shape;4225;p40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6" name="Google Shape;4226;p40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7" name="Google Shape;4227;p40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sp>
        <p:nvSpPr>
          <p:cNvPr id="4228" name="Google Shape;4228;p40"/>
          <p:cNvSpPr/>
          <p:nvPr/>
        </p:nvSpPr>
        <p:spPr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9" name="Google Shape;4229;p40"/>
          <p:cNvGrpSpPr/>
          <p:nvPr/>
        </p:nvGrpSpPr>
        <p:grpSpPr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4230" name="Google Shape;4230;p40"/>
            <p:cNvGrpSpPr/>
            <p:nvPr/>
          </p:nvGrpSpPr>
          <p:grpSpPr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4231" name="Google Shape;4231;p4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2" name="Google Shape;4232;p4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3" name="Google Shape;4233;p40"/>
            <p:cNvGrpSpPr/>
            <p:nvPr/>
          </p:nvGrpSpPr>
          <p:grpSpPr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4234" name="Google Shape;4234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5" name="Google Shape;4235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6" name="Google Shape;4236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4237" name="Google Shape;4237;p40"/>
            <p:cNvSpPr/>
            <p:nvPr/>
          </p:nvSpPr>
          <p:spPr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8" name="Google Shape;4238;p40"/>
            <p:cNvSpPr/>
            <p:nvPr/>
          </p:nvSpPr>
          <p:spPr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40"/>
            <p:cNvSpPr/>
            <p:nvPr/>
          </p:nvSpPr>
          <p:spPr>
            <a:xfrm>
              <a:off x="2794" y="4032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p40"/>
            <p:cNvSpPr/>
            <p:nvPr/>
          </p:nvSpPr>
          <p:spPr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40"/>
            <p:cNvSpPr/>
            <p:nvPr/>
          </p:nvSpPr>
          <p:spPr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42" name="Google Shape;4242;p40"/>
            <p:cNvGrpSpPr/>
            <p:nvPr/>
          </p:nvGrpSpPr>
          <p:grpSpPr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4243" name="Google Shape;4243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4" name="Google Shape;4244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5" name="Google Shape;4245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4246" name="Google Shape;4246;p40"/>
            <p:cNvGrpSpPr/>
            <p:nvPr/>
          </p:nvGrpSpPr>
          <p:grpSpPr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4247" name="Google Shape;4247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8" name="Google Shape;4248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9" name="Google Shape;4249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4250" name="Google Shape;4250;p40"/>
          <p:cNvGrpSpPr/>
          <p:nvPr/>
        </p:nvGrpSpPr>
        <p:grpSpPr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4251" name="Google Shape;4251;p40"/>
            <p:cNvGrpSpPr/>
            <p:nvPr/>
          </p:nvGrpSpPr>
          <p:grpSpPr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4252" name="Google Shape;4252;p4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3" name="Google Shape;4253;p4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4" name="Google Shape;4254;p40"/>
            <p:cNvGrpSpPr/>
            <p:nvPr/>
          </p:nvGrpSpPr>
          <p:grpSpPr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4255" name="Google Shape;4255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6" name="Google Shape;4256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7" name="Google Shape;4257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4258" name="Google Shape;4258;p40"/>
            <p:cNvSpPr/>
            <p:nvPr/>
          </p:nvSpPr>
          <p:spPr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9" name="Google Shape;4259;p40"/>
            <p:cNvSpPr/>
            <p:nvPr/>
          </p:nvSpPr>
          <p:spPr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0" name="Google Shape;4260;p40"/>
            <p:cNvSpPr/>
            <p:nvPr/>
          </p:nvSpPr>
          <p:spPr>
            <a:xfrm>
              <a:off x="2732" y="3910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1" name="Google Shape;4261;p40"/>
            <p:cNvSpPr/>
            <p:nvPr/>
          </p:nvSpPr>
          <p:spPr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p40"/>
            <p:cNvSpPr/>
            <p:nvPr/>
          </p:nvSpPr>
          <p:spPr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63" name="Google Shape;4263;p40"/>
            <p:cNvGrpSpPr/>
            <p:nvPr/>
          </p:nvGrpSpPr>
          <p:grpSpPr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4264" name="Google Shape;4264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5" name="Google Shape;4265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6" name="Google Shape;4266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4267" name="Google Shape;4267;p40"/>
            <p:cNvGrpSpPr/>
            <p:nvPr/>
          </p:nvGrpSpPr>
          <p:grpSpPr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4268" name="Google Shape;4268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9" name="Google Shape;4269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0" name="Google Shape;4270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4271" name="Google Shape;4271;p40"/>
          <p:cNvGrpSpPr/>
          <p:nvPr/>
        </p:nvGrpSpPr>
        <p:grpSpPr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4272" name="Google Shape;4272;p40"/>
            <p:cNvSpPr/>
            <p:nvPr/>
          </p:nvSpPr>
          <p:spPr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3" name="Google Shape;4273;p40"/>
            <p:cNvSpPr/>
            <p:nvPr/>
          </p:nvSpPr>
          <p:spPr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4" name="Google Shape;4274;p40"/>
            <p:cNvSpPr/>
            <p:nvPr/>
          </p:nvSpPr>
          <p:spPr>
            <a:xfrm>
              <a:off x="2828" y="4006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40"/>
            <p:cNvSpPr/>
            <p:nvPr/>
          </p:nvSpPr>
          <p:spPr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40"/>
            <p:cNvSpPr/>
            <p:nvPr/>
          </p:nvSpPr>
          <p:spPr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7" name="Google Shape;4277;p40"/>
            <p:cNvGrpSpPr/>
            <p:nvPr/>
          </p:nvGrpSpPr>
          <p:grpSpPr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4278" name="Google Shape;4278;p40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9" name="Google Shape;4279;p40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0" name="Google Shape;4280;p40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sp>
        <p:nvSpPr>
          <p:cNvPr id="4281" name="Google Shape;4281;p40"/>
          <p:cNvSpPr/>
          <p:nvPr/>
        </p:nvSpPr>
        <p:spPr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SYNACK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2 in TCP 3-way handshake)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82" name="Google Shape;4282;p40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4283" name="Google Shape;428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4" name="Google Shape;4284;p4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85" name="Google Shape;428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4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7" name="Google Shape;4287;p4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4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4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4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4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2" name="Google Shape;4292;p4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4293" name="Google Shape;4293;p4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4" name="Google Shape;4294;p4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4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4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4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4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9" name="Google Shape;4299;p4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4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4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4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4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4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9" name="Shape 4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Google Shape;4310;p41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 HTTP request/reply 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2" name="Google Shape;4312;p41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3" name="Google Shape;4313;p41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4" name="Google Shape;4314;p41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41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16" name="Google Shape;4316;p41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17" name="Google Shape;4317;p41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4318" name="Google Shape;4318;p4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4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0" name="Google Shape;4320;p4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21" name="Google Shape;4321;p4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4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4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4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5" name="Google Shape;4325;p41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26" name="Google Shape;4326;p41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327" name="Google Shape;4327;p41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2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328" name="Google Shape;4328;p41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4329" name="Google Shape;4329;p4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30" name="Google Shape;4330;p4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31" name="Google Shape;4331;p4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32" name="Google Shape;4332;p4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3" name="Google Shape;4333;p4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4" name="Google Shape;4334;p4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5" name="Google Shape;4335;p4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36" name="Google Shape;4336;p41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4337" name="Google Shape;4337;p4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4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9" name="Google Shape;4339;p4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0" name="Google Shape;4340;p4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1" name="Google Shape;4341;p4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2" name="Google Shape;4342;p4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4343" name="Google Shape;4343;p4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4" name="Google Shape;4344;p4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5" name="Google Shape;4345;p4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6" name="Google Shape;4346;p4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4347" name="Google Shape;4347;p4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8" name="Google Shape;4348;p4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9" name="Google Shape;4349;p4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0" name="Google Shape;4350;p4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51" name="Google Shape;4351;p4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4352" name="Google Shape;4352;p4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3" name="Google Shape;4353;p4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4" name="Google Shape;4354;p4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55" name="Google Shape;4355;p4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356" name="Google Shape;4356;p4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7" name="Google Shape;4357;p4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8" name="Google Shape;4358;p4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4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4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4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4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4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4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4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4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7" name="Google Shape;4367;p4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8" name="Google Shape;4368;p4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9" name="Google Shape;4369;p41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370" name="Google Shape;4370;p41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371" name="Google Shape;4371;p41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2" name="Google Shape;4372;p41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4373" name="Google Shape;4373;p41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374" name="Google Shape;4374;p41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375" name="Google Shape;4375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6" name="Google Shape;4376;p41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4377" name="Google Shape;4377;p41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41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9" name="Google Shape;4379;p41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380" name="Google Shape;4380;p41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381" name="Google Shape;4381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2" name="Google Shape;4382;p41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4383" name="Google Shape;4383;p41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384" name="Google Shape;4384;p41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5" name="Google Shape;4385;p41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86" name="Google Shape;4386;p41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387" name="Google Shape;4387;p41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8" name="Google Shape;4388;p41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9" name="Google Shape;4389;p41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0" name="Google Shape;4390;p41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1" name="Google Shape;4391;p41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4392" name="Google Shape;4392;p41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93" name="Google Shape;4393;p41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4394" name="Google Shape;4394;p4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5" name="Google Shape;4395;p4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96" name="Google Shape;4396;p41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4397" name="Google Shape;4397;p4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8" name="Google Shape;4398;p4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99" name="Google Shape;4399;p41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4400" name="Google Shape;4400;p4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01" name="Google Shape;4401;p4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02" name="Google Shape;4402;p4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03" name="Google Shape;4403;p4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4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4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4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07" name="Google Shape;4407;p41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8" name="Google Shape;4408;p41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9" name="Google Shape;4409;p41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0" name="Google Shape;4410;p41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4411" name="Google Shape;4411;p41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4412" name="Google Shape;4412;p41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4413" name="Google Shape;4413;p4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4" name="Google Shape;4414;p4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5" name="Google Shape;4415;p41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4416" name="Google Shape;4416;p4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7" name="Google Shape;4417;p4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8" name="Google Shape;4418;p41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4419" name="Google Shape;4419;p4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0" name="Google Shape;4420;p4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21" name="Google Shape;4421;p41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4422" name="Google Shape;4422;p4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23" name="Google Shape;4423;p4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24" name="Google Shape;4424;p4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25" name="Google Shape;4425;p4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4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4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4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29" name="Google Shape;4429;p41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4430" name="Google Shape;4430;p4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4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4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4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4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5" name="Google Shape;4435;p4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4436" name="Google Shape;4436;p4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7" name="Google Shape;4437;p4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38" name="Google Shape;4438;p4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9" name="Google Shape;4439;p4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4440" name="Google Shape;4440;p4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1" name="Google Shape;4441;p4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42" name="Google Shape;4442;p4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3" name="Google Shape;4443;p4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4" name="Google Shape;4444;p4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4445" name="Google Shape;4445;p4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6" name="Google Shape;4446;p4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47" name="Google Shape;4447;p4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8" name="Google Shape;4448;p4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449" name="Google Shape;4449;p4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0" name="Google Shape;4450;p4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51" name="Google Shape;4451;p4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4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4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4" name="Google Shape;4454;p4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4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4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4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4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9" name="Google Shape;4459;p4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0" name="Google Shape;4460;p4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1" name="Google Shape;4461;p4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62" name="Google Shape;4462;p41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4463" name="Google Shape;4463;p41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803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64" name="Google Shape;4464;p41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4465" name="Google Shape;4465;p41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6" name="Google Shape;4466;p41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4467" name="Google Shape;4467;p41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8" name="Google Shape;4468;p41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9" name="Google Shape;4469;p41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0" name="Google Shape;4470;p41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471" name="Google Shape;4471;p41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4472" name="Google Shape;4472;p41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1"/>
                  </a:srgbClr>
                </a:gs>
                <a:gs pos="100000">
                  <a:srgbClr val="FFFFFF">
                    <a:alpha val="81961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3" name="Google Shape;4473;p41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4474" name="Google Shape;4474;p41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5" name="Google Shape;4475;p41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4476" name="Google Shape;4476;p41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7" name="Google Shape;4477;p41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8" name="Google Shape;4478;p41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9" name="Google Shape;4479;p41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480" name="Google Shape;4480;p41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4481" name="Google Shape;4481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2" name="Google Shape;4482;p4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483" name="Google Shape;4483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4" name="Google Shape;4484;p4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5" name="Google Shape;4485;p4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6" name="Google Shape;4486;p4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90" name="Google Shape;4490;p4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4491" name="Google Shape;4491;p4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2" name="Google Shape;4492;p4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3" name="Google Shape;4493;p4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4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4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4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97" name="Google Shape;4497;p4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8" name="Google Shape;4498;p4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9" name="Google Shape;4499;p4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0" name="Google Shape;4500;p4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1" name="Google Shape;4501;p4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2" name="Google Shape;4502;p4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3" name="Google Shape;4503;p41"/>
          <p:cNvGrpSpPr/>
          <p:nvPr/>
        </p:nvGrpSpPr>
        <p:grpSpPr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4504" name="Google Shape;4504;p41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4505" name="Google Shape;4505;p41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6" name="Google Shape;4506;p41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4507" name="Google Shape;4507;p41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8" name="Google Shape;4508;p41"/>
          <p:cNvSpPr/>
          <p:nvPr/>
        </p:nvSpPr>
        <p:spPr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request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 into TCP socket</a:t>
            </a:r>
            <a:endParaRPr/>
          </a:p>
        </p:txBody>
      </p:sp>
      <p:sp>
        <p:nvSpPr>
          <p:cNvPr id="4509" name="Google Shape;4509;p41"/>
          <p:cNvSpPr/>
          <p:nvPr/>
        </p:nvSpPr>
        <p:spPr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request routed to www.google.com</a:t>
            </a:r>
            <a:endParaRPr/>
          </a:p>
        </p:txBody>
      </p:sp>
      <p:sp>
        <p:nvSpPr>
          <p:cNvPr id="4510" name="Google Shape;4510;p41"/>
          <p:cNvSpPr/>
          <p:nvPr/>
        </p:nvSpPr>
        <p:spPr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reply routed back to client</a:t>
            </a:r>
            <a:endParaRPr/>
          </a:p>
        </p:txBody>
      </p:sp>
      <p:sp>
        <p:nvSpPr>
          <p:cNvPr id="4511" name="Google Shape;4511;p41"/>
          <p:cNvSpPr/>
          <p:nvPr/>
        </p:nvSpPr>
        <p:spPr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reply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web page)</a:t>
            </a:r>
            <a:endParaRPr/>
          </a:p>
        </p:txBody>
      </p:sp>
      <p:grpSp>
        <p:nvGrpSpPr>
          <p:cNvPr id="4512" name="Google Shape;4512;p41"/>
          <p:cNvGrpSpPr/>
          <p:nvPr/>
        </p:nvGrpSpPr>
        <p:grpSpPr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4513" name="Google Shape;4513;p41"/>
            <p:cNvGrpSpPr/>
            <p:nvPr/>
          </p:nvGrpSpPr>
          <p:grpSpPr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4514" name="Google Shape;4514;p41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4515" name="Google Shape;4515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6" name="Google Shape;4516;p41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4517" name="Google Shape;4517;p41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8" name="Google Shape;4518;p41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9" name="Google Shape;4519;p41"/>
            <p:cNvGrpSpPr/>
            <p:nvPr/>
          </p:nvGrpSpPr>
          <p:grpSpPr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4520" name="Google Shape;4520;p41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4521" name="Google Shape;4521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2" name="Google Shape;4522;p41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4523" name="Google Shape;4523;p41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524" name="Google Shape;4524;p41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5" name="Google Shape;4525;p41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6" name="Google Shape;4526;p41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527" name="Google Shape;4527;p41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8" name="Google Shape;4528;p41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29" name="Google Shape;4529;p41"/>
            <p:cNvGrpSpPr/>
            <p:nvPr/>
          </p:nvGrpSpPr>
          <p:grpSpPr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4530" name="Google Shape;4530;p41"/>
              <p:cNvGrpSpPr/>
              <p:nvPr/>
            </p:nvGrpSpPr>
            <p:grpSpPr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4531" name="Google Shape;4531;p41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4532" name="Google Shape;4532;p41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4533" name="Google Shape;4533;p41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34" name="Google Shape;4534;p41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4535" name="Google Shape;4535;p41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4536" name="Google Shape;4536;p41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37" name="Google Shape;4537;p41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4538" name="Google Shape;4538;p41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9" name="Google Shape;4539;p41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40" name="Google Shape;4540;p41"/>
              <p:cNvSpPr/>
              <p:nvPr/>
            </p:nvSpPr>
            <p:spPr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1" name="Google Shape;4541;p41"/>
              <p:cNvSpPr/>
              <p:nvPr/>
            </p:nvSpPr>
            <p:spPr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2" name="Google Shape;4542;p41"/>
              <p:cNvSpPr/>
              <p:nvPr/>
            </p:nvSpPr>
            <p:spPr>
              <a:xfrm>
                <a:off x="504" y="3529"/>
                <a:ext cx="681" cy="138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3" name="Google Shape;4543;p41"/>
            <p:cNvSpPr/>
            <p:nvPr/>
          </p:nvSpPr>
          <p:spPr>
            <a:xfrm>
              <a:off x="341" y="859"/>
              <a:ext cx="240" cy="667"/>
            </a:xfrm>
            <a:prstGeom prst="downArrow">
              <a:avLst>
                <a:gd fmla="val 49167" name="adj1"/>
                <a:gd fmla="val 67511" name="adj2"/>
              </a:avLst>
            </a:prstGeom>
            <a:gradFill>
              <a:gsLst>
                <a:gs pos="0">
                  <a:srgbClr val="FF0000">
                    <a:alpha val="25098"/>
                  </a:srgbClr>
                </a:gs>
                <a:gs pos="100000">
                  <a:srgbClr val="FF0000">
                    <a:alpha val="25098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4" name="Google Shape;4544;p41"/>
          <p:cNvGrpSpPr/>
          <p:nvPr/>
        </p:nvGrpSpPr>
        <p:grpSpPr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4545" name="Google Shape;4545;p41"/>
            <p:cNvSpPr/>
            <p:nvPr/>
          </p:nvSpPr>
          <p:spPr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6" name="Google Shape;4546;p41"/>
            <p:cNvGrpSpPr/>
            <p:nvPr/>
          </p:nvGrpSpPr>
          <p:grpSpPr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4547" name="Google Shape;4547;p41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4548" name="Google Shape;4548;p41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4549" name="Google Shape;4549;p4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0" name="Google Shape;4550;p41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4551" name="Google Shape;4551;p4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552" name="Google Shape;4552;p4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3" name="Google Shape;4553;p4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554" name="Google Shape;4554;p41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5" name="Google Shape;4555;p41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6" name="Google Shape;4556;p41"/>
            <p:cNvSpPr/>
            <p:nvPr/>
          </p:nvSpPr>
          <p:spPr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41"/>
            <p:cNvSpPr/>
            <p:nvPr/>
          </p:nvSpPr>
          <p:spPr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8" name="Google Shape;4558;p41"/>
          <p:cNvGrpSpPr/>
          <p:nvPr/>
        </p:nvGrpSpPr>
        <p:grpSpPr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4559" name="Google Shape;4559;p41"/>
            <p:cNvGrpSpPr/>
            <p:nvPr/>
          </p:nvGrpSpPr>
          <p:grpSpPr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4560" name="Google Shape;4560;p41"/>
              <p:cNvGrpSpPr/>
              <p:nvPr/>
            </p:nvGrpSpPr>
            <p:grpSpPr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4561" name="Google Shape;4561;p41"/>
                <p:cNvGrpSpPr/>
                <p:nvPr/>
              </p:nvGrpSpPr>
              <p:grpSpPr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4562" name="Google Shape;4562;p4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3" name="Google Shape;4563;p41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sp>
              <p:nvSpPr>
                <p:cNvPr id="4564" name="Google Shape;4564;p41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5" name="Google Shape;4565;p41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6" name="Google Shape;4566;p41"/>
              <p:cNvGrpSpPr/>
              <p:nvPr/>
            </p:nvGrpSpPr>
            <p:grpSpPr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4567" name="Google Shape;4567;p41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4568" name="Google Shape;4568;p4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9" name="Google Shape;4569;p41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4570" name="Google Shape;4570;p4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571" name="Google Shape;4571;p4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72" name="Google Shape;4572;p4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573" name="Google Shape;4573;p41"/>
              <p:cNvGrpSpPr/>
              <p:nvPr/>
            </p:nvGrpSpPr>
            <p:grpSpPr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4574" name="Google Shape;4574;p41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5" name="Google Shape;4575;p41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6" name="Google Shape;4576;p41"/>
              <p:cNvGrpSpPr/>
              <p:nvPr/>
            </p:nvGrpSpPr>
            <p:grpSpPr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4577" name="Google Shape;4577;p41"/>
                <p:cNvGrpSpPr/>
                <p:nvPr/>
              </p:nvGrpSpPr>
              <p:grpSpPr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4578" name="Google Shape;4578;p41"/>
                  <p:cNvGrpSpPr/>
                  <p:nvPr/>
                </p:nvGrpSpPr>
                <p:grpSpPr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4579" name="Google Shape;4579;p41"/>
                    <p:cNvGrpSpPr/>
                    <p:nvPr/>
                  </p:nvGrpSpPr>
                  <p:grpSpPr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4580" name="Google Shape;4580;p41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81" name="Google Shape;4581;p41"/>
                      <p:cNvSpPr txBox="1"/>
                      <p:nvPr/>
                    </p:nvSpPr>
                    <p:spPr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HTTP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4582" name="Google Shape;4582;p41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4583" name="Google Shape;4583;p41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84" name="Google Shape;4584;p41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585" name="Google Shape;4585;p41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6" name="Google Shape;4586;p41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87" name="Google Shape;4587;p41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8" name="Google Shape;4588;p41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9" name="Google Shape;4589;p41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90" name="Google Shape;4590;p41"/>
            <p:cNvGrpSpPr/>
            <p:nvPr/>
          </p:nvGrpSpPr>
          <p:grpSpPr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4591" name="Google Shape;4591;p41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2" name="Google Shape;4592;p41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</p:grpSp>
      <p:grpSp>
        <p:nvGrpSpPr>
          <p:cNvPr id="4593" name="Google Shape;4593;p41"/>
          <p:cNvGrpSpPr/>
          <p:nvPr/>
        </p:nvGrpSpPr>
        <p:grpSpPr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4594" name="Google Shape;4594;p41"/>
            <p:cNvGrpSpPr/>
            <p:nvPr/>
          </p:nvGrpSpPr>
          <p:grpSpPr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4595" name="Google Shape;4595;p41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4596" name="Google Shape;4596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7" name="Google Shape;4597;p41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4598" name="Google Shape;4598;p41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9" name="Google Shape;4599;p41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0" name="Google Shape;4600;p41"/>
            <p:cNvGrpSpPr/>
            <p:nvPr/>
          </p:nvGrpSpPr>
          <p:grpSpPr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4601" name="Google Shape;4601;p41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4602" name="Google Shape;4602;p41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3" name="Google Shape;4603;p41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4604" name="Google Shape;4604;p41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605" name="Google Shape;4605;p41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6" name="Google Shape;4606;p41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07" name="Google Shape;4607;p41"/>
            <p:cNvGrpSpPr/>
            <p:nvPr/>
          </p:nvGrpSpPr>
          <p:grpSpPr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4608" name="Google Shape;4608;p41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9" name="Google Shape;4609;p41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0" name="Google Shape;4610;p41"/>
            <p:cNvGrpSpPr/>
            <p:nvPr/>
          </p:nvGrpSpPr>
          <p:grpSpPr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4611" name="Google Shape;4611;p41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2" name="Google Shape;4612;p41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grpSp>
          <p:nvGrpSpPr>
            <p:cNvPr id="4613" name="Google Shape;4613;p41"/>
            <p:cNvGrpSpPr/>
            <p:nvPr/>
          </p:nvGrpSpPr>
          <p:grpSpPr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4614" name="Google Shape;4614;p41"/>
              <p:cNvSpPr/>
              <p:nvPr/>
            </p:nvSpPr>
            <p:spPr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5" name="Google Shape;4615;p41"/>
              <p:cNvGrpSpPr/>
              <p:nvPr/>
            </p:nvGrpSpPr>
            <p:grpSpPr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4616" name="Google Shape;4616;p41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4617" name="Google Shape;4617;p41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4618" name="Google Shape;4618;p41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19" name="Google Shape;4619;p41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4620" name="Google Shape;4620;p41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4621" name="Google Shape;4621;p41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22" name="Google Shape;4622;p41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4623" name="Google Shape;4623;p41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4" name="Google Shape;4624;p41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5" name="Google Shape;4625;p41"/>
              <p:cNvSpPr/>
              <p:nvPr/>
            </p:nvSpPr>
            <p:spPr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6" name="Google Shape;4626;p41"/>
              <p:cNvSpPr/>
              <p:nvPr/>
            </p:nvSpPr>
            <p:spPr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27" name="Google Shape;4627;p41"/>
          <p:cNvGrpSpPr/>
          <p:nvPr/>
        </p:nvGrpSpPr>
        <p:grpSpPr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4628" name="Google Shape;4628;p41"/>
            <p:cNvSpPr/>
            <p:nvPr/>
          </p:nvSpPr>
          <p:spPr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29" name="Google Shape;4629;p41"/>
            <p:cNvGrpSpPr/>
            <p:nvPr/>
          </p:nvGrpSpPr>
          <p:grpSpPr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4630" name="Google Shape;4630;p41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4631" name="Google Shape;4631;p41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4632" name="Google Shape;4632;p41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3" name="Google Shape;4633;p41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4634" name="Google Shape;4634;p41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635" name="Google Shape;4635;p41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6" name="Google Shape;4636;p41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37" name="Google Shape;4637;p41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8" name="Google Shape;4638;p41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9" name="Google Shape;4639;p41"/>
            <p:cNvSpPr/>
            <p:nvPr/>
          </p:nvSpPr>
          <p:spPr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p41"/>
            <p:cNvSpPr/>
            <p:nvPr/>
          </p:nvSpPr>
          <p:spPr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41" name="Google Shape;464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4776" y="2632037"/>
            <a:ext cx="639182" cy="39510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4642" name="Google Shape;4642;p41"/>
          <p:cNvSpPr/>
          <p:nvPr/>
        </p:nvSpPr>
        <p:spPr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</a:t>
            </a:r>
            <a:r>
              <a:rPr i="1"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finally (!!!)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displayed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