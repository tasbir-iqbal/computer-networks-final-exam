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3" r:id="rId1"/>
    <p:sldMasterId id="2147484144" r:id="rId2"/>
  </p:sldMasterIdLst>
  <p:notesMasterIdLst>
    <p:notesMasterId r:id="rId90"/>
  </p:notesMasterIdLst>
  <p:handoutMasterIdLst>
    <p:handoutMasterId r:id="rId91"/>
  </p:handoutMasterIdLst>
  <p:sldIdLst>
    <p:sldId id="446" r:id="rId3"/>
    <p:sldId id="459" r:id="rId4"/>
    <p:sldId id="461" r:id="rId5"/>
    <p:sldId id="463" r:id="rId6"/>
    <p:sldId id="464" r:id="rId7"/>
    <p:sldId id="465" r:id="rId8"/>
    <p:sldId id="466" r:id="rId9"/>
    <p:sldId id="1218" r:id="rId10"/>
    <p:sldId id="1155" r:id="rId11"/>
    <p:sldId id="1221" r:id="rId12"/>
    <p:sldId id="1223" r:id="rId13"/>
    <p:sldId id="1224" r:id="rId14"/>
    <p:sldId id="1228" r:id="rId15"/>
    <p:sldId id="1225" r:id="rId16"/>
    <p:sldId id="1226" r:id="rId17"/>
    <p:sldId id="1227" r:id="rId18"/>
    <p:sldId id="474" r:id="rId19"/>
    <p:sldId id="481" r:id="rId20"/>
    <p:sldId id="482" r:id="rId21"/>
    <p:sldId id="484" r:id="rId22"/>
    <p:sldId id="485" r:id="rId23"/>
    <p:sldId id="486" r:id="rId24"/>
    <p:sldId id="487" r:id="rId25"/>
    <p:sldId id="1058" r:id="rId26"/>
    <p:sldId id="1168" r:id="rId27"/>
    <p:sldId id="1169" r:id="rId28"/>
    <p:sldId id="1170" r:id="rId29"/>
    <p:sldId id="1061" r:id="rId30"/>
    <p:sldId id="1213" r:id="rId31"/>
    <p:sldId id="1214" r:id="rId32"/>
    <p:sldId id="1215" r:id="rId33"/>
    <p:sldId id="1062" r:id="rId34"/>
    <p:sldId id="1063" r:id="rId35"/>
    <p:sldId id="1064" r:id="rId36"/>
    <p:sldId id="1066" r:id="rId37"/>
    <p:sldId id="1065" r:id="rId38"/>
    <p:sldId id="1067" r:id="rId39"/>
    <p:sldId id="1083" r:id="rId40"/>
    <p:sldId id="1068" r:id="rId41"/>
    <p:sldId id="1069" r:id="rId42"/>
    <p:sldId id="1070" r:id="rId43"/>
    <p:sldId id="1071" r:id="rId44"/>
    <p:sldId id="1072" r:id="rId45"/>
    <p:sldId id="1073" r:id="rId46"/>
    <p:sldId id="1074" r:id="rId47"/>
    <p:sldId id="1075" r:id="rId48"/>
    <p:sldId id="1076" r:id="rId49"/>
    <p:sldId id="1204" r:id="rId50"/>
    <p:sldId id="1103" r:id="rId51"/>
    <p:sldId id="1205" r:id="rId52"/>
    <p:sldId id="1078" r:id="rId53"/>
    <p:sldId id="1079" r:id="rId54"/>
    <p:sldId id="1080" r:id="rId55"/>
    <p:sldId id="1082" r:id="rId56"/>
    <p:sldId id="1206" r:id="rId57"/>
    <p:sldId id="1081" r:id="rId58"/>
    <p:sldId id="1207" r:id="rId59"/>
    <p:sldId id="1087" r:id="rId60"/>
    <p:sldId id="1208" r:id="rId61"/>
    <p:sldId id="526" r:id="rId62"/>
    <p:sldId id="530" r:id="rId63"/>
    <p:sldId id="534" r:id="rId64"/>
    <p:sldId id="535" r:id="rId65"/>
    <p:sldId id="536" r:id="rId66"/>
    <p:sldId id="537" r:id="rId67"/>
    <p:sldId id="541" r:id="rId68"/>
    <p:sldId id="542" r:id="rId69"/>
    <p:sldId id="543" r:id="rId70"/>
    <p:sldId id="544" r:id="rId71"/>
    <p:sldId id="545" r:id="rId72"/>
    <p:sldId id="547" r:id="rId73"/>
    <p:sldId id="548" r:id="rId74"/>
    <p:sldId id="549" r:id="rId75"/>
    <p:sldId id="550" r:id="rId76"/>
    <p:sldId id="551" r:id="rId77"/>
    <p:sldId id="552" r:id="rId78"/>
    <p:sldId id="558" r:id="rId79"/>
    <p:sldId id="560" r:id="rId80"/>
    <p:sldId id="607" r:id="rId81"/>
    <p:sldId id="562" r:id="rId82"/>
    <p:sldId id="573" r:id="rId83"/>
    <p:sldId id="574" r:id="rId84"/>
    <p:sldId id="576" r:id="rId85"/>
    <p:sldId id="578" r:id="rId86"/>
    <p:sldId id="579" r:id="rId87"/>
    <p:sldId id="580" r:id="rId88"/>
    <p:sldId id="458" r:id="rId89"/>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339900"/>
    <a:srgbClr val="336600"/>
    <a:srgbClr val="33CCFF"/>
    <a:srgbClr val="0099CC"/>
    <a:srgbClr val="DDDDDD"/>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107" d="100"/>
          <a:sy n="107" d="100"/>
        </p:scale>
        <p:origin x="1734" y="126"/>
      </p:cViewPr>
      <p:guideLst>
        <p:guide orient="horz" pos="2160"/>
        <p:guide pos="2880"/>
      </p:guideLst>
    </p:cSldViewPr>
  </p:slideViewPr>
  <p:notesTextViewPr>
    <p:cViewPr>
      <p:scale>
        <a:sx n="100" d="100"/>
        <a:sy n="100" d="100"/>
      </p:scale>
      <p:origin x="0" y="0"/>
    </p:cViewPr>
  </p:notesTextViewPr>
  <p:sorterViewPr>
    <p:cViewPr>
      <p:scale>
        <a:sx n="90" d="100"/>
        <a:sy n="90" d="100"/>
      </p:scale>
      <p:origin x="0" y="-1182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notesMaster" Target="notesMasters/notesMaster1.xml"/><Relationship Id="rId95"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bwMode="auto">
          <a:xfrm>
            <a:off x="0" y="0"/>
            <a:ext cx="3170238" cy="479425"/>
          </a:xfrm>
          <a:prstGeom prst="rect">
            <a:avLst/>
          </a:prstGeom>
          <a:noFill/>
          <a:ln>
            <a:noFill/>
          </a:ln>
        </p:spPr>
        <p:txBody>
          <a:bodyPr vert="horz" wrap="square" lIns="91429" tIns="45714" rIns="91429" bIns="45714" numCol="1" anchor="t" anchorCtr="0" compatLnSpc="1">
            <a:prstTxWarp prst="textNoShape">
              <a:avLst/>
            </a:prstTxWarp>
          </a:bodyPr>
          <a:lstStyle>
            <a:lvl1pPr eaLnBrk="0" hangingPunct="0">
              <a:defRPr sz="1200">
                <a:latin typeface="Times New Roman" charset="0"/>
                <a:ea typeface="ＭＳ Ｐゴシック" charset="0"/>
                <a:cs typeface="ＭＳ Ｐゴシック" charset="0"/>
              </a:defRPr>
            </a:lvl1pPr>
          </a:lstStyle>
          <a:p>
            <a:pPr>
              <a:defRPr/>
            </a:pPr>
            <a:endParaRPr lang="en-US"/>
          </a:p>
        </p:txBody>
      </p:sp>
      <p:sp>
        <p:nvSpPr>
          <p:cNvPr id="131075" name="Rectangle 3"/>
          <p:cNvSpPr>
            <a:spLocks noGrp="1" noChangeArrowheads="1"/>
          </p:cNvSpPr>
          <p:nvPr>
            <p:ph type="dt" sz="quarter" idx="1"/>
          </p:nvPr>
        </p:nvSpPr>
        <p:spPr bwMode="auto">
          <a:xfrm>
            <a:off x="4143375" y="0"/>
            <a:ext cx="3170238" cy="479425"/>
          </a:xfrm>
          <a:prstGeom prst="rect">
            <a:avLst/>
          </a:prstGeom>
          <a:noFill/>
          <a:ln>
            <a:noFill/>
          </a:ln>
        </p:spPr>
        <p:txBody>
          <a:bodyPr vert="horz" wrap="square" lIns="91429" tIns="45714" rIns="91429" bIns="45714" numCol="1" anchor="t" anchorCtr="0" compatLnSpc="1">
            <a:prstTxWarp prst="textNoShape">
              <a:avLst/>
            </a:prstTxWarp>
          </a:bodyPr>
          <a:lstStyle>
            <a:lvl1pPr algn="r" eaLnBrk="0" hangingPunct="0">
              <a:defRPr sz="1200">
                <a:latin typeface="Times New Roman" charset="0"/>
                <a:ea typeface="ＭＳ Ｐゴシック" charset="0"/>
                <a:cs typeface="ＭＳ Ｐゴシック" charset="0"/>
              </a:defRPr>
            </a:lvl1pPr>
          </a:lstStyle>
          <a:p>
            <a:pPr>
              <a:defRPr/>
            </a:pPr>
            <a:endParaRPr lang="en-US"/>
          </a:p>
        </p:txBody>
      </p:sp>
      <p:sp>
        <p:nvSpPr>
          <p:cNvPr id="131076" name="Rectangle 4"/>
          <p:cNvSpPr>
            <a:spLocks noGrp="1" noChangeArrowheads="1"/>
          </p:cNvSpPr>
          <p:nvPr>
            <p:ph type="ftr" sz="quarter" idx="2"/>
          </p:nvPr>
        </p:nvSpPr>
        <p:spPr bwMode="auto">
          <a:xfrm>
            <a:off x="0" y="9120188"/>
            <a:ext cx="3170238" cy="479425"/>
          </a:xfrm>
          <a:prstGeom prst="rect">
            <a:avLst/>
          </a:prstGeom>
          <a:noFill/>
          <a:ln>
            <a:noFill/>
          </a:ln>
        </p:spPr>
        <p:txBody>
          <a:bodyPr vert="horz" wrap="square" lIns="91429" tIns="45714" rIns="91429" bIns="45714" numCol="1" anchor="b" anchorCtr="0" compatLnSpc="1">
            <a:prstTxWarp prst="textNoShape">
              <a:avLst/>
            </a:prstTxWarp>
          </a:bodyPr>
          <a:lstStyle>
            <a:lvl1pPr eaLnBrk="0" hangingPunct="0">
              <a:defRPr sz="1200">
                <a:latin typeface="Times New Roman" charset="0"/>
                <a:ea typeface="ＭＳ Ｐゴシック" charset="0"/>
                <a:cs typeface="ＭＳ Ｐゴシック" charset="0"/>
              </a:defRPr>
            </a:lvl1pPr>
          </a:lstStyle>
          <a:p>
            <a:pPr>
              <a:defRPr/>
            </a:pPr>
            <a:endParaRPr lang="en-US"/>
          </a:p>
        </p:txBody>
      </p:sp>
      <p:sp>
        <p:nvSpPr>
          <p:cNvPr id="131077" name="Rectangle 5"/>
          <p:cNvSpPr>
            <a:spLocks noGrp="1" noChangeArrowheads="1"/>
          </p:cNvSpPr>
          <p:nvPr>
            <p:ph type="sldNum" sz="quarter" idx="3"/>
          </p:nvPr>
        </p:nvSpPr>
        <p:spPr bwMode="auto">
          <a:xfrm>
            <a:off x="4143375" y="9120188"/>
            <a:ext cx="3170238" cy="479425"/>
          </a:xfrm>
          <a:prstGeom prst="rect">
            <a:avLst/>
          </a:prstGeom>
          <a:noFill/>
          <a:ln>
            <a:noFill/>
          </a:ln>
        </p:spPr>
        <p:txBody>
          <a:bodyPr vert="horz" wrap="square" lIns="91429" tIns="45714" rIns="91429" bIns="45714" numCol="1" anchor="b" anchorCtr="0" compatLnSpc="1">
            <a:prstTxWarp prst="textNoShape">
              <a:avLst/>
            </a:prstTxWarp>
          </a:bodyPr>
          <a:lstStyle>
            <a:lvl1pPr algn="r" eaLnBrk="0" hangingPunct="0">
              <a:defRPr sz="1200">
                <a:latin typeface="Times New Roman" panose="02020603050405020304" pitchFamily="18" charset="0"/>
              </a:defRPr>
            </a:lvl1pPr>
          </a:lstStyle>
          <a:p>
            <a:pPr>
              <a:defRPr/>
            </a:pPr>
            <a:fld id="{B25B4CE1-E1AE-444A-BB35-E1A9A7E220E5}" type="slidenum">
              <a:rPr lang="en-US"/>
              <a:pPr>
                <a:defRPr/>
              </a:pPr>
              <a:t>‹#›</a:t>
            </a:fld>
            <a:endParaRPr lang="en-US"/>
          </a:p>
        </p:txBody>
      </p:sp>
    </p:spTree>
    <p:extLst>
      <p:ext uri="{BB962C8B-B14F-4D97-AF65-F5344CB8AC3E}">
        <p14:creationId xmlns:p14="http://schemas.microsoft.com/office/powerpoint/2010/main" val="20648134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a:noFill/>
          </a:ln>
        </p:spPr>
        <p:txBody>
          <a:bodyPr vert="horz" wrap="square" lIns="96649" tIns="48325" rIns="96649" bIns="48325" numCol="1" anchor="t" anchorCtr="0" compatLnSpc="1">
            <a:prstTxWarp prst="textNoShape">
              <a:avLst/>
            </a:prstTxWarp>
          </a:bodyPr>
          <a:lstStyle>
            <a:lvl1pPr defTabSz="966788" eaLnBrk="0" hangingPunct="0">
              <a:defRPr sz="1300">
                <a:latin typeface="Times New Roman" charset="0"/>
                <a:ea typeface="ＭＳ Ｐゴシック" charset="0"/>
                <a:cs typeface="ＭＳ Ｐゴシック" charset="0"/>
              </a:defRPr>
            </a:lvl1pPr>
          </a:lstStyle>
          <a:p>
            <a:pPr>
              <a:defRPr/>
            </a:pPr>
            <a:endParaRPr lang="en-US"/>
          </a:p>
        </p:txBody>
      </p:sp>
      <p:sp>
        <p:nvSpPr>
          <p:cNvPr id="3075" name="Rectangle 3"/>
          <p:cNvSpPr>
            <a:spLocks noGrp="1" noChangeArrowheads="1"/>
          </p:cNvSpPr>
          <p:nvPr>
            <p:ph type="dt" idx="1"/>
          </p:nvPr>
        </p:nvSpPr>
        <p:spPr bwMode="auto">
          <a:xfrm>
            <a:off x="4144963" y="0"/>
            <a:ext cx="3170237" cy="479425"/>
          </a:xfrm>
          <a:prstGeom prst="rect">
            <a:avLst/>
          </a:prstGeom>
          <a:noFill/>
          <a:ln>
            <a:noFill/>
          </a:ln>
        </p:spPr>
        <p:txBody>
          <a:bodyPr vert="horz" wrap="square" lIns="96649" tIns="48325" rIns="96649" bIns="48325" numCol="1" anchor="t" anchorCtr="0" compatLnSpc="1">
            <a:prstTxWarp prst="textNoShape">
              <a:avLst/>
            </a:prstTxWarp>
          </a:bodyPr>
          <a:lstStyle>
            <a:lvl1pPr algn="r" defTabSz="966788" eaLnBrk="0" hangingPunct="0">
              <a:defRPr sz="1300">
                <a:latin typeface="Times New Roman" charset="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1258888"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74725" y="4560888"/>
            <a:ext cx="5365750" cy="4319587"/>
          </a:xfrm>
          <a:prstGeom prst="rect">
            <a:avLst/>
          </a:prstGeom>
          <a:noFill/>
          <a:ln>
            <a:noFill/>
          </a:ln>
        </p:spPr>
        <p:txBody>
          <a:bodyPr vert="horz" wrap="square" lIns="96649" tIns="48325" rIns="96649" bIns="483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121775"/>
            <a:ext cx="3170238" cy="479425"/>
          </a:xfrm>
          <a:prstGeom prst="rect">
            <a:avLst/>
          </a:prstGeom>
          <a:noFill/>
          <a:ln>
            <a:noFill/>
          </a:ln>
        </p:spPr>
        <p:txBody>
          <a:bodyPr vert="horz" wrap="square" lIns="96649" tIns="48325" rIns="96649" bIns="48325" numCol="1" anchor="b" anchorCtr="0" compatLnSpc="1">
            <a:prstTxWarp prst="textNoShape">
              <a:avLst/>
            </a:prstTxWarp>
          </a:bodyPr>
          <a:lstStyle>
            <a:lvl1pPr defTabSz="966788" eaLnBrk="0" hangingPunct="0">
              <a:defRPr sz="1300">
                <a:latin typeface="Times New Roman" charset="0"/>
                <a:ea typeface="ＭＳ Ｐゴシック" charset="0"/>
                <a:cs typeface="ＭＳ Ｐゴシック" charset="0"/>
              </a:defRPr>
            </a:lvl1pPr>
          </a:lstStyle>
          <a:p>
            <a:pPr>
              <a:defRPr/>
            </a:pPr>
            <a:endParaRPr lang="en-US"/>
          </a:p>
        </p:txBody>
      </p:sp>
      <p:sp>
        <p:nvSpPr>
          <p:cNvPr id="3079" name="Rectangle 7"/>
          <p:cNvSpPr>
            <a:spLocks noGrp="1" noChangeArrowheads="1"/>
          </p:cNvSpPr>
          <p:nvPr>
            <p:ph type="sldNum" sz="quarter" idx="5"/>
          </p:nvPr>
        </p:nvSpPr>
        <p:spPr bwMode="auto">
          <a:xfrm>
            <a:off x="4144963" y="9121775"/>
            <a:ext cx="3170237" cy="479425"/>
          </a:xfrm>
          <a:prstGeom prst="rect">
            <a:avLst/>
          </a:prstGeom>
          <a:noFill/>
          <a:ln>
            <a:noFill/>
          </a:ln>
        </p:spPr>
        <p:txBody>
          <a:bodyPr vert="horz" wrap="square" lIns="96649" tIns="48325" rIns="96649" bIns="48325" numCol="1" anchor="b" anchorCtr="0" compatLnSpc="1">
            <a:prstTxWarp prst="textNoShape">
              <a:avLst/>
            </a:prstTxWarp>
          </a:bodyPr>
          <a:lstStyle>
            <a:lvl1pPr algn="r" defTabSz="966788" eaLnBrk="0" hangingPunct="0">
              <a:defRPr sz="1300">
                <a:latin typeface="Times New Roman" panose="02020603050405020304" pitchFamily="18" charset="0"/>
              </a:defRPr>
            </a:lvl1pPr>
          </a:lstStyle>
          <a:p>
            <a:pPr>
              <a:defRPr/>
            </a:pPr>
            <a:fld id="{87B708C4-73CA-4016-B9BA-56529827CF39}" type="slidenum">
              <a:rPr lang="en-US"/>
              <a:pPr>
                <a:defRPr/>
              </a:pPr>
              <a:t>‹#›</a:t>
            </a:fld>
            <a:endParaRPr lang="en-US"/>
          </a:p>
        </p:txBody>
      </p:sp>
    </p:spTree>
    <p:extLst>
      <p:ext uri="{BB962C8B-B14F-4D97-AF65-F5344CB8AC3E}">
        <p14:creationId xmlns:p14="http://schemas.microsoft.com/office/powerpoint/2010/main" val="12105945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3117444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By logical communication , we</a:t>
            </a:r>
          </a:p>
          <a:p>
            <a:r>
              <a:rPr lang="en-US" sz="1200" kern="1200" dirty="0">
                <a:solidFill>
                  <a:schemeClr val="tx1"/>
                </a:solidFill>
                <a:effectLst/>
                <a:latin typeface="+mn-lt"/>
                <a:ea typeface="+mn-ea"/>
                <a:cs typeface="+mn-cs"/>
              </a:rPr>
              <a:t>mean that from an application’s perspective, it is as if the hosts running the processes</a:t>
            </a:r>
          </a:p>
          <a:p>
            <a:r>
              <a:rPr lang="en-US" sz="1200" kern="1200" dirty="0">
                <a:solidFill>
                  <a:schemeClr val="tx1"/>
                </a:solidFill>
                <a:effectLst/>
                <a:latin typeface="+mn-lt"/>
                <a:ea typeface="+mn-ea"/>
                <a:cs typeface="+mn-cs"/>
              </a:rPr>
              <a:t>were directly connected; in reality, the hosts may be on opposite sides of the</a:t>
            </a:r>
          </a:p>
          <a:p>
            <a:r>
              <a:rPr lang="en-US" sz="1200" kern="1200" dirty="0">
                <a:solidFill>
                  <a:schemeClr val="tx1"/>
                </a:solidFill>
                <a:effectLst/>
                <a:latin typeface="+mn-lt"/>
                <a:ea typeface="+mn-ea"/>
                <a:cs typeface="+mn-cs"/>
              </a:rPr>
              <a:t>planet, connected via numerous routers and a wide range of link types. Application</a:t>
            </a:r>
          </a:p>
          <a:p>
            <a:r>
              <a:rPr lang="en-US" sz="1200" kern="1200" dirty="0">
                <a:solidFill>
                  <a:schemeClr val="tx1"/>
                </a:solidFill>
                <a:effectLst/>
                <a:latin typeface="+mn-lt"/>
                <a:ea typeface="+mn-ea"/>
                <a:cs typeface="+mn-cs"/>
              </a:rPr>
              <a:t>processes use the logical communication provided by the transport layer to send</a:t>
            </a:r>
          </a:p>
          <a:p>
            <a:r>
              <a:rPr lang="en-US" sz="1200" kern="1200" dirty="0">
                <a:solidFill>
                  <a:schemeClr val="tx1"/>
                </a:solidFill>
                <a:effectLst/>
                <a:latin typeface="+mn-lt"/>
                <a:ea typeface="+mn-ea"/>
                <a:cs typeface="+mn-cs"/>
              </a:rPr>
              <a:t>messages to each other, free from the worry of the details of the physical infrastructure</a:t>
            </a:r>
          </a:p>
          <a:p>
            <a:r>
              <a:rPr lang="en-US" sz="1200" kern="1200" dirty="0">
                <a:solidFill>
                  <a:schemeClr val="tx1"/>
                </a:solidFill>
                <a:effectLst/>
                <a:latin typeface="+mn-lt"/>
                <a:ea typeface="+mn-ea"/>
                <a:cs typeface="+mn-cs"/>
              </a:rPr>
              <a:t>used to carry these messages.</a:t>
            </a:r>
          </a:p>
          <a:p>
            <a:endParaRPr lang="en-US" dirty="0"/>
          </a:p>
          <a:p>
            <a:r>
              <a:rPr lang="en-US" dirty="0"/>
              <a:t>Let’s look at each of these three (logical communications, actions, </a:t>
            </a:r>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3</a:t>
            </a:fld>
            <a:endParaRPr lang="en-US">
              <a:solidFill>
                <a:prstClr val="black"/>
              </a:solidFill>
            </a:endParaRPr>
          </a:p>
        </p:txBody>
      </p:sp>
    </p:spTree>
    <p:extLst>
      <p:ext uri="{BB962C8B-B14F-4D97-AF65-F5344CB8AC3E}">
        <p14:creationId xmlns:p14="http://schemas.microsoft.com/office/powerpoint/2010/main" val="344570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4</a:t>
            </a:fld>
            <a:endParaRPr lang="en-US">
              <a:solidFill>
                <a:prstClr val="black"/>
              </a:solidFill>
            </a:endParaRPr>
          </a:p>
        </p:txBody>
      </p:sp>
    </p:spTree>
    <p:extLst>
      <p:ext uri="{BB962C8B-B14F-4D97-AF65-F5344CB8AC3E}">
        <p14:creationId xmlns:p14="http://schemas.microsoft.com/office/powerpoint/2010/main" val="3310284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5</a:t>
            </a:fld>
            <a:endParaRPr lang="en-US">
              <a:solidFill>
                <a:prstClr val="black"/>
              </a:solidFill>
            </a:endParaRPr>
          </a:p>
        </p:txBody>
      </p:sp>
    </p:spTree>
    <p:extLst>
      <p:ext uri="{BB962C8B-B14F-4D97-AF65-F5344CB8AC3E}">
        <p14:creationId xmlns:p14="http://schemas.microsoft.com/office/powerpoint/2010/main" val="3471883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6</a:t>
            </a:fld>
            <a:endParaRPr lang="en-US">
              <a:solidFill>
                <a:prstClr val="black"/>
              </a:solidFill>
            </a:endParaRPr>
          </a:p>
        </p:txBody>
      </p:sp>
    </p:spTree>
    <p:extLst>
      <p:ext uri="{BB962C8B-B14F-4D97-AF65-F5344CB8AC3E}">
        <p14:creationId xmlns:p14="http://schemas.microsoft.com/office/powerpoint/2010/main" val="1208443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7</a:t>
            </a:fld>
            <a:endParaRPr lang="en-US">
              <a:solidFill>
                <a:prstClr val="black"/>
              </a:solidFill>
            </a:endParaRPr>
          </a:p>
        </p:txBody>
      </p:sp>
    </p:spTree>
    <p:extLst>
      <p:ext uri="{BB962C8B-B14F-4D97-AF65-F5344CB8AC3E}">
        <p14:creationId xmlns:p14="http://schemas.microsoft.com/office/powerpoint/2010/main" val="3935294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7384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513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2540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6391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2557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57754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5414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17</a:t>
            </a:fld>
            <a:endParaRPr lang="en-US">
              <a:solidFill>
                <a:prstClr val="black"/>
              </a:solidFill>
            </a:endParaRPr>
          </a:p>
        </p:txBody>
      </p:sp>
    </p:spTree>
    <p:extLst>
      <p:ext uri="{BB962C8B-B14F-4D97-AF65-F5344CB8AC3E}">
        <p14:creationId xmlns:p14="http://schemas.microsoft.com/office/powerpoint/2010/main" val="10676550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18</a:t>
            </a:fld>
            <a:endParaRPr lang="en-US">
              <a:solidFill>
                <a:prstClr val="black"/>
              </a:solidFill>
            </a:endParaRPr>
          </a:p>
        </p:txBody>
      </p:sp>
    </p:spTree>
    <p:extLst>
      <p:ext uri="{BB962C8B-B14F-4D97-AF65-F5344CB8AC3E}">
        <p14:creationId xmlns:p14="http://schemas.microsoft.com/office/powerpoint/2010/main" val="1113916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19</a:t>
            </a:fld>
            <a:endParaRPr lang="en-US">
              <a:solidFill>
                <a:prstClr val="black"/>
              </a:solidFill>
            </a:endParaRPr>
          </a:p>
        </p:txBody>
      </p:sp>
    </p:spTree>
    <p:extLst>
      <p:ext uri="{BB962C8B-B14F-4D97-AF65-F5344CB8AC3E}">
        <p14:creationId xmlns:p14="http://schemas.microsoft.com/office/powerpoint/2010/main" val="3824369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20</a:t>
            </a:fld>
            <a:endParaRPr lang="en-US">
              <a:solidFill>
                <a:prstClr val="black"/>
              </a:solidFill>
            </a:endParaRPr>
          </a:p>
        </p:txBody>
      </p:sp>
    </p:spTree>
    <p:extLst>
      <p:ext uri="{BB962C8B-B14F-4D97-AF65-F5344CB8AC3E}">
        <p14:creationId xmlns:p14="http://schemas.microsoft.com/office/powerpoint/2010/main" val="2556395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21</a:t>
            </a:fld>
            <a:endParaRPr lang="en-US">
              <a:solidFill>
                <a:prstClr val="black"/>
              </a:solidFill>
            </a:endParaRPr>
          </a:p>
        </p:txBody>
      </p:sp>
    </p:spTree>
    <p:extLst>
      <p:ext uri="{BB962C8B-B14F-4D97-AF65-F5344CB8AC3E}">
        <p14:creationId xmlns:p14="http://schemas.microsoft.com/office/powerpoint/2010/main" val="11160648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22</a:t>
            </a:fld>
            <a:endParaRPr lang="en-US">
              <a:solidFill>
                <a:prstClr val="black"/>
              </a:solidFill>
            </a:endParaRPr>
          </a:p>
        </p:txBody>
      </p:sp>
    </p:spTree>
    <p:extLst>
      <p:ext uri="{BB962C8B-B14F-4D97-AF65-F5344CB8AC3E}">
        <p14:creationId xmlns:p14="http://schemas.microsoft.com/office/powerpoint/2010/main" val="269564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23</a:t>
            </a:fld>
            <a:endParaRPr lang="en-US">
              <a:solidFill>
                <a:prstClr val="black"/>
              </a:solidFill>
            </a:endParaRPr>
          </a:p>
        </p:txBody>
      </p:sp>
    </p:spTree>
    <p:extLst>
      <p:ext uri="{BB962C8B-B14F-4D97-AF65-F5344CB8AC3E}">
        <p14:creationId xmlns:p14="http://schemas.microsoft.com/office/powerpoint/2010/main" val="37180282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3817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24433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0769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93389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arrows through reliable data transfer channel is just one way – reliably send from sender to receiver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04157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some time talking about how its to the sender and receiver side protocol that IMPLEMENTS reliable data transfer</a:t>
            </a:r>
          </a:p>
          <a:p>
            <a:endParaRPr lang="en-US" dirty="0"/>
          </a:p>
          <a:p>
            <a:r>
              <a:rPr lang="en-US" dirty="0"/>
              <a:t>Communication over unreliable channel is TWO-way: sender and receiver will exchange messages back and forth to IMPLEMENT one-way  reliable data transfer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7671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we have a sender side and a receiver side. How much work they’ll have to do depends on the  IMPAIRMENTS introduced by channel – if the channel is perfect – no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1173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point of view to keep in mind – it’s easy for US to look at sender and receiver together and see what is happening.  OH – that message sent was lost. </a:t>
            </a:r>
          </a:p>
          <a:p>
            <a:endParaRPr lang="en-US" dirty="0"/>
          </a:p>
          <a:p>
            <a:r>
              <a:rPr lang="en-US" dirty="0"/>
              <a:t>But think about it say from senders POV How does the sender know if its transmitted message over the unreliable channel got though??  ONLY if receiver somehow signals to the sender that it was received.</a:t>
            </a:r>
          </a:p>
          <a:p>
            <a:endParaRPr lang="en-US" dirty="0"/>
          </a:p>
          <a:p>
            <a:endParaRPr lang="en-US" dirty="0"/>
          </a:p>
          <a:p>
            <a:r>
              <a:rPr lang="en-US" dirty="0"/>
              <a:t>The key point here is that one side does NOT know what is going on at the other side – it’s as if there’s a curtain between them.  Everything they know about the other can ONLY be learned by sending/receiving messages.</a:t>
            </a:r>
          </a:p>
          <a:p>
            <a:endParaRPr lang="en-US" dirty="0"/>
          </a:p>
          <a:p>
            <a:r>
              <a:rPr lang="en-US" dirty="0"/>
              <a:t>Sender process wants to make sure a segment got through.  But it can just somehow magically look through curtain to see if receiver got it.  It will be up to the receiver to let the sender KNOW that it (the receiver) has correctly received the segment.</a:t>
            </a:r>
          </a:p>
          <a:p>
            <a:endParaRPr lang="en-US" dirty="0"/>
          </a:p>
          <a:p>
            <a:r>
              <a:rPr lang="en-US" dirty="0"/>
              <a:t>How will the sender and receiver do that – that’s the PROTOCOL.</a:t>
            </a:r>
          </a:p>
          <a:p>
            <a:endParaRPr lang="en-US" dirty="0"/>
          </a:p>
          <a:p>
            <a:r>
              <a:rPr lang="en-US" dirty="0"/>
              <a:t> Before starting to develop a protocol, let’s look more closely at the interface (the API if you will)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79849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27047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let’s get started in developing our reliable data transfer protocol, which we’ll call rdt (need a good acronym for protocol – like HTTP, TCP, UDP, IP)</a:t>
            </a:r>
          </a:p>
          <a:p>
            <a:endParaRPr lang="en-US" dirty="0"/>
          </a:p>
          <a:p>
            <a:r>
              <a:rPr lang="en-US" dirty="0"/>
              <a:t>Bullet points 1 and 2</a:t>
            </a:r>
          </a:p>
          <a:p>
            <a:endParaRPr lang="en-US" dirty="0"/>
          </a:p>
          <a:p>
            <a:endParaRPr lang="en-US" dirty="0"/>
          </a:p>
          <a:p>
            <a:r>
              <a:rPr lang="en-US" dirty="0"/>
              <a:t>NOW if we are going to develop a protocol, so we’ll need some way to SPECIFY a protocol.  </a:t>
            </a:r>
            <a:r>
              <a:rPr lang="en-US" b="1" i="1" dirty="0"/>
              <a:t>How</a:t>
            </a:r>
            <a:r>
              <a:rPr lang="en-US" dirty="0"/>
              <a:t> do we do that?</a:t>
            </a:r>
          </a:p>
          <a:p>
            <a:endParaRPr lang="en-US" dirty="0"/>
          </a:p>
          <a:p>
            <a:r>
              <a:rPr lang="en-US" dirty="0"/>
              <a:t>We could write text, but as all know, that’s prone to misinterpretation, and might be incomplete.  You might write a specification, and then think “oh yeah – I forgot about that case”</a:t>
            </a:r>
          </a:p>
          <a:p>
            <a:endParaRPr lang="en-US" dirty="0"/>
          </a:p>
          <a:p>
            <a:r>
              <a:rPr lang="en-US" dirty="0"/>
              <a:t>What we need is more </a:t>
            </a:r>
            <a:r>
              <a:rPr lang="en-US" b="1" i="1" dirty="0"/>
              <a:t>formal</a:t>
            </a:r>
            <a:r>
              <a:rPr lang="en-US" dirty="0"/>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p>
          <a:p>
            <a:endParaRPr lang="en-US" dirty="0"/>
          </a:p>
          <a:p>
            <a:r>
              <a:rPr lang="en-US" dirty="0"/>
              <a:t>And as the name might suggest, a central notion of finite state machines is the notion of STATE </a:t>
            </a:r>
          </a:p>
          <a:p>
            <a:r>
              <a:rPr lang="en-US" dirty="0"/>
              <a:t>&lt;talk about state&gt;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2469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We’ll start with the simplest case possible - an unreliable channel that is, in fact perfect – no segments are lost, corrupted, duplicated or reordered.  The sender just sends and it pops out the other side(perhaps after some delay) perfectly.</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4518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3977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83171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89773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22660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89333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1461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59242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34469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30153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60094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99158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989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86749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6029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the familiar four state sender from our rdt 2.1 and 2.2 protocols. Top two states when sending packet with zero seq # and bottom two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92053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the familiar four state sender from our rdt 2.1 and 2.2 protocols. Top two states when sending packet with zero seq # and bottom two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8835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91548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29463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if RTT=30 msec, 1KB pkt every 30 msec: 33kB/sec thruput over 1 Gbps link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network protocol limits use of physical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Let’s develop a formula for utilization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52625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27997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46030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7885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two generic forms of pipelined protocols: </a:t>
            </a:r>
            <a:r>
              <a:rPr kumimoji="0" lang="en-US" sz="1200" b="0" i="1" u="none" strike="noStrike" kern="1200" cap="none" spc="0" normalizeH="0" baseline="0" noProof="0" dirty="0">
                <a:ln>
                  <a:noFill/>
                </a:ln>
                <a:solidFill>
                  <a:srgbClr val="CC0000"/>
                </a:solidFill>
                <a:effectLst/>
                <a:uLnTx/>
                <a:uFillTx/>
                <a:latin typeface="+mn-lt"/>
                <a:ea typeface="+mn-ea"/>
                <a:cs typeface="+mn-cs"/>
              </a:rPr>
              <a:t>go-Back-N, selective repeat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11228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window size of 14, 8 have been sent but are not yet acknowledged, 6 sequence numbers are available for us. In window, but no calls from above to use them.</a:t>
            </a:r>
          </a:p>
          <a:p>
            <a:endParaRPr lang="en-US" dirty="0"/>
          </a:p>
          <a:p>
            <a:r>
              <a:rPr lang="en-US" dirty="0"/>
              <a:t>Note – we’ll skip the Go-Back-N FSM specification you can check that out in PowerPoint slides or book)</a:t>
            </a:r>
          </a:p>
          <a:p>
            <a:endParaRPr lang="en-US" dirty="0"/>
          </a:p>
          <a:p>
            <a:r>
              <a:rPr lang="en-US" dirty="0"/>
              <a:t>TCP uses cumulative ACK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4140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Note – we’ll skip the Go-Back-N FSM specification (actually it’s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911757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Let’s skip FSM specification for GBN – check out the book or ppt – and let’s watch GBN sender and receivers  in action.</a:t>
            </a:r>
          </a:p>
          <a:p>
            <a:r>
              <a:rPr lang="en-US" dirty="0"/>
              <a:t>Let assume a window size of 4.  at t=0, sender sends packets 0, 1, 2 3, 4, and packet 2 will be lost</a:t>
            </a:r>
          </a:p>
          <a:p>
            <a:endParaRPr lang="en-US" dirty="0"/>
          </a:p>
          <a:p>
            <a:r>
              <a:rPr lang="en-US" dirty="0"/>
              <a:t>At the receiver:</a:t>
            </a:r>
          </a:p>
          <a:p>
            <a:r>
              <a:rPr lang="en-US" dirty="0"/>
              <a:t>Packet 0 received ACK0 generated</a:t>
            </a:r>
          </a:p>
          <a:p>
            <a:r>
              <a:rPr lang="en-US" dirty="0"/>
              <a:t>Packet 1 received ACK1 generated</a:t>
            </a:r>
          </a:p>
          <a:p>
            <a:r>
              <a:rPr lang="en-US" dirty="0"/>
              <a:t>Packet 2 is lost, and so when packet 3 is received, ACK 1 is sent – that’s the cumulative ACK, re-Acknowledging the receipt of packet 1. and in this implementation packet 3 is discarded</a:t>
            </a:r>
          </a:p>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60</a:t>
            </a:fld>
            <a:endParaRPr lang="en-US">
              <a:solidFill>
                <a:prstClr val="black"/>
              </a:solidFill>
            </a:endParaRPr>
          </a:p>
        </p:txBody>
      </p:sp>
    </p:spTree>
    <p:extLst>
      <p:ext uri="{BB962C8B-B14F-4D97-AF65-F5344CB8AC3E}">
        <p14:creationId xmlns:p14="http://schemas.microsoft.com/office/powerpoint/2010/main" val="40223390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61</a:t>
            </a:fld>
            <a:endParaRPr lang="en-US">
              <a:solidFill>
                <a:prstClr val="black"/>
              </a:solidFill>
            </a:endParaRPr>
          </a:p>
        </p:txBody>
      </p:sp>
    </p:spTree>
    <p:extLst>
      <p:ext uri="{BB962C8B-B14F-4D97-AF65-F5344CB8AC3E}">
        <p14:creationId xmlns:p14="http://schemas.microsoft.com/office/powerpoint/2010/main" val="41001507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MSS is 1460 bytes</a:t>
            </a:r>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62</a:t>
            </a:fld>
            <a:endParaRPr lang="en-US">
              <a:solidFill>
                <a:prstClr val="black"/>
              </a:solidFill>
            </a:endParaRPr>
          </a:p>
        </p:txBody>
      </p:sp>
    </p:spTree>
    <p:extLst>
      <p:ext uri="{BB962C8B-B14F-4D97-AF65-F5344CB8AC3E}">
        <p14:creationId xmlns:p14="http://schemas.microsoft.com/office/powerpoint/2010/main" val="189017522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63</a:t>
            </a:fld>
            <a:endParaRPr lang="en-US">
              <a:solidFill>
                <a:prstClr val="black"/>
              </a:solidFill>
            </a:endParaRPr>
          </a:p>
        </p:txBody>
      </p:sp>
    </p:spTree>
    <p:extLst>
      <p:ext uri="{BB962C8B-B14F-4D97-AF65-F5344CB8AC3E}">
        <p14:creationId xmlns:p14="http://schemas.microsoft.com/office/powerpoint/2010/main" val="36824858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64</a:t>
            </a:fld>
            <a:endParaRPr lang="en-US">
              <a:solidFill>
                <a:prstClr val="black"/>
              </a:solidFill>
            </a:endParaRPr>
          </a:p>
        </p:txBody>
      </p:sp>
    </p:spTree>
    <p:extLst>
      <p:ext uri="{BB962C8B-B14F-4D97-AF65-F5344CB8AC3E}">
        <p14:creationId xmlns:p14="http://schemas.microsoft.com/office/powerpoint/2010/main" val="29594504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thing to note here is that the ACK number (43) on the B-to-A segment is one more than the sequence number (42) on the A-</a:t>
            </a:r>
            <a:r>
              <a:rPr lang="en-US" dirty="0" err="1"/>
              <a:t>toB</a:t>
            </a:r>
            <a:r>
              <a:rPr lang="en-US" dirty="0"/>
              <a:t> segment that triggered that ACK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Similarly, the ACK number (80) on the </a:t>
            </a:r>
            <a:r>
              <a:rPr lang="en-US"/>
              <a:t>last A-to-B </a:t>
            </a:r>
            <a:r>
              <a:rPr lang="en-US" dirty="0"/>
              <a:t>segment is one more than the sequence number (79) on the B-to-A segment that triggered that ACK</a:t>
            </a:r>
          </a:p>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65</a:t>
            </a:fld>
            <a:endParaRPr lang="en-US">
              <a:solidFill>
                <a:prstClr val="black"/>
              </a:solidFill>
            </a:endParaRPr>
          </a:p>
        </p:txBody>
      </p:sp>
    </p:spTree>
    <p:extLst>
      <p:ext uri="{BB962C8B-B14F-4D97-AF65-F5344CB8AC3E}">
        <p14:creationId xmlns:p14="http://schemas.microsoft.com/office/powerpoint/2010/main" val="363162921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Given these details of TCP sequence numbers, acks, and timers, we can now describe the big picture view of how the TCP sender and receiver operate</a:t>
            </a:r>
          </a:p>
          <a:p>
            <a:endParaRPr lang="en-US" dirty="0"/>
          </a:p>
          <a:p>
            <a:r>
              <a:rPr lang="en-US" dirty="0"/>
              <a:t>You can check out FSMs in book; let’s just give an English text description here and let’s start with the sender.</a:t>
            </a:r>
          </a:p>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66</a:t>
            </a:fld>
            <a:endParaRPr lang="en-US">
              <a:solidFill>
                <a:prstClr val="black"/>
              </a:solidFill>
            </a:endParaRPr>
          </a:p>
        </p:txBody>
      </p:sp>
    </p:spTree>
    <p:extLst>
      <p:ext uri="{BB962C8B-B14F-4D97-AF65-F5344CB8AC3E}">
        <p14:creationId xmlns:p14="http://schemas.microsoft.com/office/powerpoint/2010/main" val="372185854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Rather than immediately </a:t>
            </a:r>
            <a:r>
              <a:rPr lang="en-US" dirty="0" err="1"/>
              <a:t>ACKnowledig</a:t>
            </a:r>
            <a:r>
              <a:rPr lang="en-US" dirty="0"/>
              <a:t>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67</a:t>
            </a:fld>
            <a:endParaRPr lang="en-US">
              <a:solidFill>
                <a:prstClr val="black"/>
              </a:solidFill>
            </a:endParaRPr>
          </a:p>
        </p:txBody>
      </p:sp>
    </p:spTree>
    <p:extLst>
      <p:ext uri="{BB962C8B-B14F-4D97-AF65-F5344CB8AC3E}">
        <p14:creationId xmlns:p14="http://schemas.microsoft.com/office/powerpoint/2010/main" val="216814714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cement our understanding of TCP reliability, let’s look a a few retransmission scenarios</a:t>
            </a:r>
          </a:p>
          <a:p>
            <a:endParaRPr lang="en-US" dirty="0"/>
          </a:p>
          <a:p>
            <a:r>
              <a:rPr lang="en-US" dirty="0"/>
              <a:t>In the first case a TCP segments is </a:t>
            </a:r>
            <a:r>
              <a:rPr lang="en-US" dirty="0" err="1"/>
              <a:t>transmited</a:t>
            </a:r>
            <a:r>
              <a:rPr lang="en-US" dirty="0"/>
              <a:t> and the ACK is lost, and the TCP timeout mechanism results in another copy of being transmitted and then re-</a:t>
            </a:r>
            <a:r>
              <a:rPr lang="en-US" dirty="0" err="1"/>
              <a:t>ACKed</a:t>
            </a:r>
            <a:r>
              <a:rPr lang="en-US" dirty="0"/>
              <a:t> a the sender</a:t>
            </a:r>
          </a:p>
          <a:p>
            <a:endParaRPr lang="en-US" dirty="0"/>
          </a:p>
          <a:p>
            <a:r>
              <a:rPr lang="en-US" dirty="0"/>
              <a:t>In the second example two segments are sent and acknowledged, but there is a premature timeout e for the first segment, which is retransmitted.  </a:t>
            </a:r>
            <a:r>
              <a:rPr lang="en-US" dirty="0" err="1"/>
              <a:t>Notet</a:t>
            </a:r>
            <a:r>
              <a:rPr lang="en-US" dirty="0"/>
              <a:t> that when this retransmitted segment is received, the receiver has already received the first two segments, and so resends a cumulative ACK for both segments received so far, rather than an ACK for just this fist segment.</a:t>
            </a:r>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68</a:t>
            </a:fld>
            <a:endParaRPr lang="en-US">
              <a:solidFill>
                <a:prstClr val="black"/>
              </a:solidFill>
            </a:endParaRPr>
          </a:p>
        </p:txBody>
      </p:sp>
    </p:spTree>
    <p:extLst>
      <p:ext uri="{BB962C8B-B14F-4D97-AF65-F5344CB8AC3E}">
        <p14:creationId xmlns:p14="http://schemas.microsoft.com/office/powerpoint/2010/main" val="41408176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69</a:t>
            </a:fld>
            <a:endParaRPr lang="en-US">
              <a:solidFill>
                <a:prstClr val="black"/>
              </a:solidFill>
            </a:endParaRPr>
          </a:p>
        </p:txBody>
      </p:sp>
    </p:spTree>
    <p:extLst>
      <p:ext uri="{BB962C8B-B14F-4D97-AF65-F5344CB8AC3E}">
        <p14:creationId xmlns:p14="http://schemas.microsoft.com/office/powerpoint/2010/main" val="41006962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a:t>
            </a:r>
            <a:r>
              <a:rPr lang="en-US" dirty="0" err="1"/>
              <a:t>unACKed</a:t>
            </a:r>
            <a:r>
              <a:rPr lang="en-US" dirty="0"/>
              <a:t>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70</a:t>
            </a:fld>
            <a:endParaRPr lang="en-US">
              <a:solidFill>
                <a:prstClr val="black"/>
              </a:solidFill>
            </a:endParaRPr>
          </a:p>
        </p:txBody>
      </p:sp>
    </p:spTree>
    <p:extLst>
      <p:ext uri="{BB962C8B-B14F-4D97-AF65-F5344CB8AC3E}">
        <p14:creationId xmlns:p14="http://schemas.microsoft.com/office/powerpoint/2010/main" val="5539606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a:t>
            </a:r>
            <a:r>
              <a:rPr kumimoji="0" lang="en-US" sz="1200" b="0" i="0" u="none" strike="noStrike" kern="1200" cap="none" spc="0" normalizeH="0" baseline="0" noProof="0" dirty="0" err="1">
                <a:ln>
                  <a:noFill/>
                </a:ln>
                <a:solidFill>
                  <a:prstClr val="black"/>
                </a:solidFill>
                <a:effectLst/>
                <a:uLnTx/>
                <a:uFillTx/>
                <a:latin typeface="+mn-lt"/>
                <a:ea typeface="+mn-ea"/>
                <a:cs typeface="+mn-cs"/>
              </a:rPr>
              <a:t>explictly</a:t>
            </a:r>
            <a:r>
              <a:rPr kumimoji="0" lang="en-US" sz="1200" b="0" i="0" u="none" strike="noStrike" kern="1200" cap="none" spc="0" normalizeH="0" baseline="0" noProof="0" dirty="0">
                <a:ln>
                  <a:noFill/>
                </a:ln>
                <a:solidFill>
                  <a:prstClr val="black"/>
                </a:solidFill>
                <a:effectLst/>
                <a:uLnTx/>
                <a:uFillTx/>
                <a:latin typeface="+mn-lt"/>
                <a:ea typeface="+mn-ea"/>
                <a:cs typeface="+mn-cs"/>
              </a:rPr>
              <a:t>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71</a:t>
            </a:fld>
            <a:endParaRPr lang="en-US">
              <a:solidFill>
                <a:prstClr val="black"/>
              </a:solidFill>
            </a:endParaRPr>
          </a:p>
        </p:txBody>
      </p:sp>
    </p:spTree>
    <p:extLst>
      <p:ext uri="{BB962C8B-B14F-4D97-AF65-F5344CB8AC3E}">
        <p14:creationId xmlns:p14="http://schemas.microsoft.com/office/powerpoint/2010/main" val="29579420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a:t>
            </a:r>
            <a:r>
              <a:rPr kumimoji="0" lang="en-US" sz="1200" b="0" i="0" u="none" strike="noStrike" kern="1200" cap="none" spc="0" normalizeH="0" baseline="0" noProof="0" dirty="0" err="1">
                <a:ln>
                  <a:noFill/>
                </a:ln>
                <a:solidFill>
                  <a:prstClr val="black"/>
                </a:solidFill>
                <a:effectLst/>
                <a:uLnTx/>
                <a:uFillTx/>
                <a:latin typeface="+mn-lt"/>
                <a:ea typeface="+mn-ea"/>
                <a:cs typeface="+mn-cs"/>
              </a:rPr>
              <a:t>explictly</a:t>
            </a:r>
            <a:r>
              <a:rPr kumimoji="0" lang="en-US" sz="1200" b="0" i="0" u="none" strike="noStrike" kern="1200" cap="none" spc="0" normalizeH="0" baseline="0" noProof="0" dirty="0">
                <a:ln>
                  <a:noFill/>
                </a:ln>
                <a:solidFill>
                  <a:prstClr val="black"/>
                </a:solidFill>
                <a:effectLst/>
                <a:uLnTx/>
                <a:uFillTx/>
                <a:latin typeface="+mn-lt"/>
                <a:ea typeface="+mn-ea"/>
                <a:cs typeface="+mn-cs"/>
              </a:rPr>
              <a:t>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72</a:t>
            </a:fld>
            <a:endParaRPr lang="en-US">
              <a:solidFill>
                <a:prstClr val="black"/>
              </a:solidFill>
            </a:endParaRPr>
          </a:p>
        </p:txBody>
      </p:sp>
    </p:spTree>
    <p:extLst>
      <p:ext uri="{BB962C8B-B14F-4D97-AF65-F5344CB8AC3E}">
        <p14:creationId xmlns:p14="http://schemas.microsoft.com/office/powerpoint/2010/main" val="89041851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a:t>
            </a:r>
            <a:r>
              <a:rPr kumimoji="0" lang="en-US" sz="1200" b="0" i="0" u="none" strike="noStrike" kern="1200" cap="none" spc="0" normalizeH="0" baseline="0" noProof="0" dirty="0" err="1">
                <a:ln>
                  <a:noFill/>
                </a:ln>
                <a:solidFill>
                  <a:prstClr val="black"/>
                </a:solidFill>
                <a:effectLst/>
                <a:uLnTx/>
                <a:uFillTx/>
                <a:latin typeface="+mn-lt"/>
                <a:ea typeface="+mn-ea"/>
                <a:cs typeface="+mn-cs"/>
              </a:rPr>
              <a:t>explictly</a:t>
            </a:r>
            <a:r>
              <a:rPr kumimoji="0" lang="en-US" sz="1200" b="0" i="0" u="none" strike="noStrike" kern="1200" cap="none" spc="0" normalizeH="0" baseline="0" noProof="0" dirty="0">
                <a:ln>
                  <a:noFill/>
                </a:ln>
                <a:solidFill>
                  <a:prstClr val="black"/>
                </a:solidFill>
                <a:effectLst/>
                <a:uLnTx/>
                <a:uFillTx/>
                <a:latin typeface="+mn-lt"/>
                <a:ea typeface="+mn-ea"/>
                <a:cs typeface="+mn-cs"/>
              </a:rPr>
              <a:t>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73</a:t>
            </a:fld>
            <a:endParaRPr lang="en-US">
              <a:solidFill>
                <a:prstClr val="black"/>
              </a:solidFill>
            </a:endParaRPr>
          </a:p>
        </p:txBody>
      </p:sp>
    </p:spTree>
    <p:extLst>
      <p:ext uri="{BB962C8B-B14F-4D97-AF65-F5344CB8AC3E}">
        <p14:creationId xmlns:p14="http://schemas.microsoft.com/office/powerpoint/2010/main" val="330353257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a:t>
            </a:r>
            <a:r>
              <a:rPr kumimoji="0" lang="en-US" sz="1200" b="0" i="0" u="none" strike="noStrike" kern="1200" cap="none" spc="0" normalizeH="0" baseline="0" noProof="0" dirty="0" err="1">
                <a:ln>
                  <a:noFill/>
                </a:ln>
                <a:solidFill>
                  <a:prstClr val="black"/>
                </a:solidFill>
                <a:effectLst/>
                <a:uLnTx/>
                <a:uFillTx/>
                <a:latin typeface="+mn-lt"/>
                <a:ea typeface="+mn-ea"/>
                <a:cs typeface="+mn-cs"/>
              </a:rPr>
              <a:t>explictly</a:t>
            </a:r>
            <a:r>
              <a:rPr kumimoji="0" lang="en-US" sz="1200" b="0" i="0" u="none" strike="noStrike" kern="1200" cap="none" spc="0" normalizeH="0" baseline="0" noProof="0" dirty="0">
                <a:ln>
                  <a:noFill/>
                </a:ln>
                <a:solidFill>
                  <a:prstClr val="black"/>
                </a:solidFill>
                <a:effectLst/>
                <a:uLnTx/>
                <a:uFillTx/>
                <a:latin typeface="+mn-lt"/>
                <a:ea typeface="+mn-ea"/>
                <a:cs typeface="+mn-cs"/>
              </a:rPr>
              <a:t>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74</a:t>
            </a:fld>
            <a:endParaRPr lang="en-US">
              <a:solidFill>
                <a:prstClr val="black"/>
              </a:solidFill>
            </a:endParaRPr>
          </a:p>
        </p:txBody>
      </p:sp>
    </p:spTree>
    <p:extLst>
      <p:ext uri="{BB962C8B-B14F-4D97-AF65-F5344CB8AC3E}">
        <p14:creationId xmlns:p14="http://schemas.microsoft.com/office/powerpoint/2010/main" val="289408730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TCP implement flow control.  The basic idea is simple – the receiver informs the sender how much free buffer space there is, and the sender is limited to send no more than this amount of data.  That the value o RWND in the diagram to the right.</a:t>
            </a:r>
          </a:p>
          <a:p>
            <a:endParaRPr lang="en-US" dirty="0"/>
          </a:p>
          <a:p>
            <a:r>
              <a:rPr lang="en-US" dirty="0"/>
              <a:t>This information is carried from the receiver to the sender in the “receiver advertised window” (do a PIP of header) in the TCP header, and the value will change as the amount of free buffer space fluctuates over time. </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75</a:t>
            </a:fld>
            <a:endParaRPr lang="en-US">
              <a:solidFill>
                <a:prstClr val="black"/>
              </a:solidFill>
            </a:endParaRPr>
          </a:p>
        </p:txBody>
      </p:sp>
    </p:spTree>
    <p:extLst>
      <p:ext uri="{BB962C8B-B14F-4D97-AF65-F5344CB8AC3E}">
        <p14:creationId xmlns:p14="http://schemas.microsoft.com/office/powerpoint/2010/main" val="11931700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TCP implement flow control.  The basic idea is simple – the receiver informs the sender how much free buffer space there is, and the sender is limited to send no more than this amount of data.  That the value o RWND in the diagram to the right.</a:t>
            </a:r>
          </a:p>
          <a:p>
            <a:endParaRPr lang="en-US" dirty="0"/>
          </a:p>
          <a:p>
            <a:r>
              <a:rPr lang="en-US" dirty="0"/>
              <a:t>This information is carried from the receiver to the sender in the “receiver advertised window” (do a PIP of header) in the TCP header, and the value will change as the amount of free buffer space fluctuates over time. </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76</a:t>
            </a:fld>
            <a:endParaRPr lang="en-US">
              <a:solidFill>
                <a:prstClr val="black"/>
              </a:solidFill>
            </a:endParaRPr>
          </a:p>
        </p:txBody>
      </p:sp>
    </p:spTree>
    <p:extLst>
      <p:ext uri="{BB962C8B-B14F-4D97-AF65-F5344CB8AC3E}">
        <p14:creationId xmlns:p14="http://schemas.microsoft.com/office/powerpoint/2010/main" val="286424549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TCP’s three way handshake, that operates as follows</a:t>
            </a:r>
          </a:p>
          <a:p>
            <a:r>
              <a:rPr lang="en-US" dirty="0"/>
              <a:t> </a:t>
            </a:r>
          </a:p>
          <a:p>
            <a:r>
              <a:rPr lang="en-US" dirty="0"/>
              <a:t>Let’s say the client and server both create a TCP socket as we learned about in Chapter 2 and enter the LISTEN state</a:t>
            </a:r>
          </a:p>
          <a:p>
            <a:endParaRPr lang="en-US" dirty="0"/>
          </a:p>
          <a:p>
            <a:r>
              <a:rPr lang="en-US" dirty="0"/>
              <a:t>The client then connects to the server sending a SYN message with a sequence number x (SYN Message is an TCP Segment with SYN but set in the header – you might want to go back and review the TCP segment format!)</a:t>
            </a:r>
          </a:p>
          <a:p>
            <a:endParaRPr lang="en-US" dirty="0"/>
          </a:p>
          <a:p>
            <a:r>
              <a:rPr lang="en-US" dirty="0"/>
              <a:t>The server is waiting for a connection, and receives the SYN message enters the SYN received state (NOT the established state and sends a SYN ACK message back.</a:t>
            </a:r>
          </a:p>
          <a:p>
            <a:endParaRPr lang="en-US" dirty="0"/>
          </a:p>
          <a:p>
            <a:r>
              <a:rPr lang="en-US" dirty="0"/>
              <a:t>Finally the client sends an ACK message to the server, and when the server receiver this enters the </a:t>
            </a:r>
            <a:r>
              <a:rPr lang="en-US" dirty="0" err="1"/>
              <a:t>ESTABLished</a:t>
            </a:r>
            <a:r>
              <a:rPr lang="en-US" dirty="0"/>
              <a:t> state.  This is when the application process would see the return from the wait on the  socket accept() call </a:t>
            </a:r>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77</a:t>
            </a:fld>
            <a:endParaRPr lang="en-US">
              <a:solidFill>
                <a:prstClr val="black"/>
              </a:solidFill>
            </a:endParaRPr>
          </a:p>
        </p:txBody>
      </p:sp>
    </p:spTree>
    <p:extLst>
      <p:ext uri="{BB962C8B-B14F-4D97-AF65-F5344CB8AC3E}">
        <p14:creationId xmlns:p14="http://schemas.microsoft.com/office/powerpoint/2010/main" val="82452830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good things must come to an end, and that’s true for a TCP connection as well.</a:t>
            </a:r>
          </a:p>
          <a:p>
            <a:endParaRPr lang="en-US" dirty="0"/>
          </a:p>
          <a:p>
            <a:r>
              <a:rPr lang="en-US" dirty="0"/>
              <a:t>And of course there’s a protocol for one side to gracefully close of a TCP connection using a FIN message, to which the other side sends a FINACK message and waits around a bit to respond to any retransmitted FIN messages before timing out.</a:t>
            </a:r>
          </a:p>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78</a:t>
            </a:fld>
            <a:endParaRPr lang="en-US">
              <a:solidFill>
                <a:prstClr val="black"/>
              </a:solidFill>
            </a:endParaRPr>
          </a:p>
        </p:txBody>
      </p:sp>
    </p:spTree>
    <p:extLst>
      <p:ext uri="{BB962C8B-B14F-4D97-AF65-F5344CB8AC3E}">
        <p14:creationId xmlns:p14="http://schemas.microsoft.com/office/powerpoint/2010/main" val="23399659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solidFill>
                  <a:prstClr val="black"/>
                </a:solidFill>
              </a:rPr>
              <a:pPr/>
              <a:t>79</a:t>
            </a:fld>
            <a:endParaRPr lang="en-US">
              <a:solidFill>
                <a:prstClr val="black"/>
              </a:solidFill>
            </a:endParaRPr>
          </a:p>
        </p:txBody>
      </p:sp>
    </p:spTree>
    <p:extLst>
      <p:ext uri="{BB962C8B-B14F-4D97-AF65-F5344CB8AC3E}">
        <p14:creationId xmlns:p14="http://schemas.microsoft.com/office/powerpoint/2010/main" val="141071213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80</a:t>
            </a:fld>
            <a:endParaRPr lang="en-US">
              <a:solidFill>
                <a:prstClr val="black"/>
              </a:solidFill>
            </a:endParaRPr>
          </a:p>
        </p:txBody>
      </p:sp>
    </p:spTree>
    <p:extLst>
      <p:ext uri="{BB962C8B-B14F-4D97-AF65-F5344CB8AC3E}">
        <p14:creationId xmlns:p14="http://schemas.microsoft.com/office/powerpoint/2010/main" val="193833620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7C85D20-FC40-294D-80D2-53640716ABA4}" type="slidenum">
              <a:rPr lang="en-US" smtClean="0">
                <a:solidFill>
                  <a:prstClr val="black"/>
                </a:solidFill>
              </a:rPr>
              <a:pPr>
                <a:defRPr/>
              </a:pPr>
              <a:t>81</a:t>
            </a:fld>
            <a:endParaRPr lang="en-US">
              <a:solidFill>
                <a:prstClr val="black"/>
              </a:solidFill>
            </a:endParaRPr>
          </a:p>
        </p:txBody>
      </p:sp>
    </p:spTree>
    <p:extLst>
      <p:ext uri="{BB962C8B-B14F-4D97-AF65-F5344CB8AC3E}">
        <p14:creationId xmlns:p14="http://schemas.microsoft.com/office/powerpoint/2010/main" val="301730884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7C85D20-FC40-294D-80D2-53640716ABA4}" type="slidenum">
              <a:rPr lang="en-US" smtClean="0">
                <a:solidFill>
                  <a:prstClr val="black"/>
                </a:solidFill>
              </a:rPr>
              <a:pPr>
                <a:defRPr/>
              </a:pPr>
              <a:t>82</a:t>
            </a:fld>
            <a:endParaRPr lang="en-US">
              <a:solidFill>
                <a:prstClr val="black"/>
              </a:solidFill>
            </a:endParaRPr>
          </a:p>
        </p:txBody>
      </p:sp>
    </p:spTree>
    <p:extLst>
      <p:ext uri="{BB962C8B-B14F-4D97-AF65-F5344CB8AC3E}">
        <p14:creationId xmlns:p14="http://schemas.microsoft.com/office/powerpoint/2010/main" val="203221140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83</a:t>
            </a:fld>
            <a:endParaRPr lang="en-US">
              <a:solidFill>
                <a:prstClr val="black"/>
              </a:solidFill>
            </a:endParaRPr>
          </a:p>
        </p:txBody>
      </p:sp>
    </p:spTree>
    <p:extLst>
      <p:ext uri="{BB962C8B-B14F-4D97-AF65-F5344CB8AC3E}">
        <p14:creationId xmlns:p14="http://schemas.microsoft.com/office/powerpoint/2010/main" val="64674914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84</a:t>
            </a:fld>
            <a:endParaRPr lang="en-US">
              <a:solidFill>
                <a:prstClr val="black"/>
              </a:solidFill>
            </a:endParaRPr>
          </a:p>
        </p:txBody>
      </p:sp>
    </p:spTree>
    <p:extLst>
      <p:ext uri="{BB962C8B-B14F-4D97-AF65-F5344CB8AC3E}">
        <p14:creationId xmlns:p14="http://schemas.microsoft.com/office/powerpoint/2010/main" val="260289260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85</a:t>
            </a:fld>
            <a:endParaRPr lang="en-US">
              <a:solidFill>
                <a:prstClr val="black"/>
              </a:solidFill>
            </a:endParaRPr>
          </a:p>
        </p:txBody>
      </p:sp>
    </p:spTree>
    <p:extLst>
      <p:ext uri="{BB962C8B-B14F-4D97-AF65-F5344CB8AC3E}">
        <p14:creationId xmlns:p14="http://schemas.microsoft.com/office/powerpoint/2010/main" val="342313223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D91EEAC-CFEF-9647-876F-EABC6B8338D7}" type="slidenum">
              <a:rPr lang="en-US" smtClean="0">
                <a:solidFill>
                  <a:prstClr val="black"/>
                </a:solidFill>
              </a:rPr>
              <a:pPr>
                <a:defRPr/>
              </a:pPr>
              <a:t>86</a:t>
            </a:fld>
            <a:endParaRPr lang="en-US">
              <a:solidFill>
                <a:prstClr val="black"/>
              </a:solidFill>
            </a:endParaRPr>
          </a:p>
        </p:txBody>
      </p:sp>
    </p:spTree>
    <p:extLst>
      <p:ext uri="{BB962C8B-B14F-4D97-AF65-F5344CB8AC3E}">
        <p14:creationId xmlns:p14="http://schemas.microsoft.com/office/powerpoint/2010/main" val="1553708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fld id="{A9E7E5D2-54C1-46B9-BFF0-F980B991154B}" type="datetime1">
              <a:rPr lang="en-US"/>
              <a:pPr>
                <a:defRPr/>
              </a:pPr>
              <a:t>9/16/2025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Introduction</a:t>
            </a:r>
          </a:p>
        </p:txBody>
      </p:sp>
      <p:sp>
        <p:nvSpPr>
          <p:cNvPr id="6" name="Rectangle 6"/>
          <p:cNvSpPr>
            <a:spLocks noGrp="1" noChangeArrowheads="1"/>
          </p:cNvSpPr>
          <p:nvPr>
            <p:ph type="sldNum" sz="quarter" idx="12"/>
          </p:nvPr>
        </p:nvSpPr>
        <p:spPr>
          <a:ln/>
        </p:spPr>
        <p:txBody>
          <a:bodyPr/>
          <a:lstStyle>
            <a:lvl1pPr>
              <a:defRPr/>
            </a:lvl1pPr>
          </a:lstStyle>
          <a:p>
            <a:pPr>
              <a:defRPr/>
            </a:pPr>
            <a:r>
              <a:rPr lang="en-US"/>
              <a:t>2-</a:t>
            </a:r>
            <a:fld id="{8793C224-7832-4522-BDD2-BB4A5C4CE69C}" type="slidenum">
              <a:rPr lang="en-US"/>
              <a:pPr>
                <a:defRPr/>
              </a:pPr>
              <a:t>‹#›</a:t>
            </a:fld>
            <a:endParaRPr lang="en-US"/>
          </a:p>
        </p:txBody>
      </p:sp>
    </p:spTree>
    <p:extLst>
      <p:ext uri="{BB962C8B-B14F-4D97-AF65-F5344CB8AC3E}">
        <p14:creationId xmlns:p14="http://schemas.microsoft.com/office/powerpoint/2010/main" val="3398345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B8B9F772-B5F9-4485-8093-1C58D8E09F9F}" type="datetime1">
              <a:rPr lang="en-US"/>
              <a:pPr>
                <a:defRPr/>
              </a:pPr>
              <a:t>9/16/2025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Introduction</a:t>
            </a:r>
          </a:p>
        </p:txBody>
      </p:sp>
      <p:sp>
        <p:nvSpPr>
          <p:cNvPr id="6" name="Rectangle 6"/>
          <p:cNvSpPr>
            <a:spLocks noGrp="1" noChangeArrowheads="1"/>
          </p:cNvSpPr>
          <p:nvPr>
            <p:ph type="sldNum" sz="quarter" idx="12"/>
          </p:nvPr>
        </p:nvSpPr>
        <p:spPr>
          <a:ln/>
        </p:spPr>
        <p:txBody>
          <a:bodyPr/>
          <a:lstStyle>
            <a:lvl1pPr>
              <a:defRPr/>
            </a:lvl1pPr>
          </a:lstStyle>
          <a:p>
            <a:pPr>
              <a:defRPr/>
            </a:pPr>
            <a:r>
              <a:rPr lang="en-US"/>
              <a:t>2-</a:t>
            </a:r>
            <a:fld id="{3EE675D4-557A-44CE-A602-5DD4A6B4AACC}" type="slidenum">
              <a:rPr lang="en-US"/>
              <a:pPr>
                <a:defRPr/>
              </a:pPr>
              <a:t>‹#›</a:t>
            </a:fld>
            <a:endParaRPr lang="en-US"/>
          </a:p>
        </p:txBody>
      </p:sp>
    </p:spTree>
    <p:extLst>
      <p:ext uri="{BB962C8B-B14F-4D97-AF65-F5344CB8AC3E}">
        <p14:creationId xmlns:p14="http://schemas.microsoft.com/office/powerpoint/2010/main" val="3276412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89C5E42D-72D9-4C3E-BBE0-ED03F6001AEF}" type="datetime1">
              <a:rPr lang="en-US"/>
              <a:pPr>
                <a:defRPr/>
              </a:pPr>
              <a:t>9/16/2025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Introduction</a:t>
            </a:r>
          </a:p>
        </p:txBody>
      </p:sp>
      <p:sp>
        <p:nvSpPr>
          <p:cNvPr id="6" name="Rectangle 6"/>
          <p:cNvSpPr>
            <a:spLocks noGrp="1" noChangeArrowheads="1"/>
          </p:cNvSpPr>
          <p:nvPr>
            <p:ph type="sldNum" sz="quarter" idx="12"/>
          </p:nvPr>
        </p:nvSpPr>
        <p:spPr>
          <a:ln/>
        </p:spPr>
        <p:txBody>
          <a:bodyPr/>
          <a:lstStyle>
            <a:lvl1pPr>
              <a:defRPr/>
            </a:lvl1pPr>
          </a:lstStyle>
          <a:p>
            <a:pPr>
              <a:defRPr/>
            </a:pPr>
            <a:r>
              <a:rPr lang="en-US"/>
              <a:t>2-</a:t>
            </a:r>
            <a:fld id="{332CAC79-B11F-4E2C-A58E-9C4C7B364958}" type="slidenum">
              <a:rPr lang="en-US"/>
              <a:pPr>
                <a:defRPr/>
              </a:pPr>
              <a:t>‹#›</a:t>
            </a:fld>
            <a:endParaRPr lang="en-US"/>
          </a:p>
        </p:txBody>
      </p:sp>
    </p:spTree>
    <p:extLst>
      <p:ext uri="{BB962C8B-B14F-4D97-AF65-F5344CB8AC3E}">
        <p14:creationId xmlns:p14="http://schemas.microsoft.com/office/powerpoint/2010/main" val="37616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11313"/>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11313"/>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704EBAF6-5D4A-49A3-9383-1C1EDE694D37}" type="datetime1">
              <a:rPr lang="en-US"/>
              <a:pPr>
                <a:defRPr/>
              </a:pPr>
              <a:t>9/16/2025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Introduction</a:t>
            </a:r>
          </a:p>
        </p:txBody>
      </p:sp>
      <p:sp>
        <p:nvSpPr>
          <p:cNvPr id="7" name="Rectangle 6"/>
          <p:cNvSpPr>
            <a:spLocks noGrp="1" noChangeArrowheads="1"/>
          </p:cNvSpPr>
          <p:nvPr>
            <p:ph type="sldNum" sz="quarter" idx="12"/>
          </p:nvPr>
        </p:nvSpPr>
        <p:spPr>
          <a:ln/>
        </p:spPr>
        <p:txBody>
          <a:bodyPr/>
          <a:lstStyle>
            <a:lvl1pPr>
              <a:defRPr/>
            </a:lvl1pPr>
          </a:lstStyle>
          <a:p>
            <a:pPr>
              <a:defRPr/>
            </a:pPr>
            <a:r>
              <a:rPr lang="en-US"/>
              <a:t>2-</a:t>
            </a:r>
            <a:fld id="{EC3CD4FA-E732-42C8-9DFD-A89B89B3BA64}" type="slidenum">
              <a:rPr lang="en-US"/>
              <a:pPr>
                <a:defRPr/>
              </a:pPr>
              <a:t>‹#›</a:t>
            </a:fld>
            <a:endParaRPr lang="en-US"/>
          </a:p>
        </p:txBody>
      </p:sp>
    </p:spTree>
    <p:extLst>
      <p:ext uri="{BB962C8B-B14F-4D97-AF65-F5344CB8AC3E}">
        <p14:creationId xmlns:p14="http://schemas.microsoft.com/office/powerpoint/2010/main" val="2454939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A7B54B03-1762-4148-8966-66A24A8F81F7}" type="datetime1">
              <a:rPr lang="en-US"/>
              <a:pPr>
                <a:defRPr/>
              </a:pPr>
              <a:t>9/16/2025</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Introduction</a:t>
            </a:r>
          </a:p>
        </p:txBody>
      </p:sp>
      <p:sp>
        <p:nvSpPr>
          <p:cNvPr id="9" name="Rectangle 6"/>
          <p:cNvSpPr>
            <a:spLocks noGrp="1" noChangeArrowheads="1"/>
          </p:cNvSpPr>
          <p:nvPr>
            <p:ph type="sldNum" sz="quarter" idx="12"/>
          </p:nvPr>
        </p:nvSpPr>
        <p:spPr>
          <a:ln/>
        </p:spPr>
        <p:txBody>
          <a:bodyPr/>
          <a:lstStyle>
            <a:lvl1pPr>
              <a:defRPr/>
            </a:lvl1pPr>
          </a:lstStyle>
          <a:p>
            <a:pPr>
              <a:defRPr/>
            </a:pPr>
            <a:r>
              <a:rPr lang="en-US"/>
              <a:t>2-</a:t>
            </a:r>
            <a:fld id="{2A8C2DEC-60F0-4E28-9748-7A4134007697}" type="slidenum">
              <a:rPr lang="en-US"/>
              <a:pPr>
                <a:defRPr/>
              </a:pPr>
              <a:t>‹#›</a:t>
            </a:fld>
            <a:endParaRPr lang="en-US"/>
          </a:p>
        </p:txBody>
      </p:sp>
    </p:spTree>
    <p:extLst>
      <p:ext uri="{BB962C8B-B14F-4D97-AF65-F5344CB8AC3E}">
        <p14:creationId xmlns:p14="http://schemas.microsoft.com/office/powerpoint/2010/main" val="1491372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2BC59BF-589F-4B10-AB22-9A66299C79F6}" type="datetime1">
              <a:rPr lang="en-US"/>
              <a:pPr>
                <a:defRPr/>
              </a:pPr>
              <a:t>9/16/2025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Introduction</a:t>
            </a:r>
          </a:p>
        </p:txBody>
      </p:sp>
      <p:sp>
        <p:nvSpPr>
          <p:cNvPr id="5" name="Rectangle 6"/>
          <p:cNvSpPr>
            <a:spLocks noGrp="1" noChangeArrowheads="1"/>
          </p:cNvSpPr>
          <p:nvPr>
            <p:ph type="sldNum" sz="quarter" idx="12"/>
          </p:nvPr>
        </p:nvSpPr>
        <p:spPr>
          <a:ln/>
        </p:spPr>
        <p:txBody>
          <a:bodyPr/>
          <a:lstStyle>
            <a:lvl1pPr>
              <a:defRPr/>
            </a:lvl1pPr>
          </a:lstStyle>
          <a:p>
            <a:pPr>
              <a:defRPr/>
            </a:pPr>
            <a:r>
              <a:rPr lang="en-US"/>
              <a:t>2-</a:t>
            </a:r>
            <a:fld id="{7B5660BF-E205-464C-8309-EE40A8933B9B}" type="slidenum">
              <a:rPr lang="en-US"/>
              <a:pPr>
                <a:defRPr/>
              </a:pPr>
              <a:t>‹#›</a:t>
            </a:fld>
            <a:endParaRPr lang="en-US"/>
          </a:p>
        </p:txBody>
      </p:sp>
    </p:spTree>
    <p:extLst>
      <p:ext uri="{BB962C8B-B14F-4D97-AF65-F5344CB8AC3E}">
        <p14:creationId xmlns:p14="http://schemas.microsoft.com/office/powerpoint/2010/main" val="1674640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5E4BE181-F174-4CE4-8BC3-93372EFC3D2E}" type="datetime1">
              <a:rPr lang="en-US"/>
              <a:pPr>
                <a:defRPr/>
              </a:pPr>
              <a:t>9/16/2025</a:t>
            </a:fld>
            <a:endParaRPr lang="en-US"/>
          </a:p>
        </p:txBody>
      </p:sp>
      <p:sp>
        <p:nvSpPr>
          <p:cNvPr id="3" name="Footer Placeholder 2"/>
          <p:cNvSpPr>
            <a:spLocks noGrp="1"/>
          </p:cNvSpPr>
          <p:nvPr>
            <p:ph type="ftr" sz="quarter" idx="11"/>
          </p:nvPr>
        </p:nvSpPr>
        <p:spPr/>
        <p:txBody>
          <a:bodyPr/>
          <a:lstStyle>
            <a:lvl1pPr>
              <a:defRPr/>
            </a:lvl1pPr>
          </a:lstStyle>
          <a:p>
            <a:pPr>
              <a:defRPr/>
            </a:pPr>
            <a:r>
              <a:rPr lang="en-US"/>
              <a:t>Introduction</a:t>
            </a:r>
          </a:p>
        </p:txBody>
      </p:sp>
      <p:sp>
        <p:nvSpPr>
          <p:cNvPr id="4" name="Slide Number Placeholder 3"/>
          <p:cNvSpPr>
            <a:spLocks noGrp="1"/>
          </p:cNvSpPr>
          <p:nvPr>
            <p:ph type="sldNum" sz="quarter" idx="12"/>
          </p:nvPr>
        </p:nvSpPr>
        <p:spPr/>
        <p:txBody>
          <a:bodyPr/>
          <a:lstStyle>
            <a:lvl1pPr>
              <a:defRPr/>
            </a:lvl1pPr>
          </a:lstStyle>
          <a:p>
            <a:pPr>
              <a:defRPr/>
            </a:pPr>
            <a:r>
              <a:rPr lang="en-US"/>
              <a:t>1-</a:t>
            </a:r>
            <a:fld id="{374691CE-044E-4E8D-8802-AE8864F9EEDE}" type="slidenum">
              <a:rPr lang="en-US"/>
              <a:pPr>
                <a:defRPr/>
              </a:pPr>
              <a:t>‹#›</a:t>
            </a:fld>
            <a:endParaRPr lang="en-US"/>
          </a:p>
        </p:txBody>
      </p:sp>
    </p:spTree>
    <p:extLst>
      <p:ext uri="{BB962C8B-B14F-4D97-AF65-F5344CB8AC3E}">
        <p14:creationId xmlns:p14="http://schemas.microsoft.com/office/powerpoint/2010/main" val="2047445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2E88C410-9EED-421F-B4D9-11E36DBFBC79}" type="datetime1">
              <a:rPr lang="en-US"/>
              <a:pPr>
                <a:defRPr/>
              </a:pPr>
              <a:t>9/16/2025</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Introduction</a:t>
            </a:r>
          </a:p>
        </p:txBody>
      </p:sp>
      <p:sp>
        <p:nvSpPr>
          <p:cNvPr id="7" name="Slide Number Placeholder 6"/>
          <p:cNvSpPr>
            <a:spLocks noGrp="1"/>
          </p:cNvSpPr>
          <p:nvPr>
            <p:ph type="sldNum" sz="quarter" idx="12"/>
          </p:nvPr>
        </p:nvSpPr>
        <p:spPr/>
        <p:txBody>
          <a:bodyPr/>
          <a:lstStyle>
            <a:lvl1pPr>
              <a:defRPr/>
            </a:lvl1pPr>
          </a:lstStyle>
          <a:p>
            <a:pPr>
              <a:defRPr/>
            </a:pPr>
            <a:r>
              <a:rPr lang="en-US"/>
              <a:t>1-</a:t>
            </a:r>
            <a:fld id="{DF678C10-2276-4138-9BFE-8AF24E452E0F}" type="slidenum">
              <a:rPr lang="en-US"/>
              <a:pPr>
                <a:defRPr/>
              </a:pPr>
              <a:t>‹#›</a:t>
            </a:fld>
            <a:endParaRPr lang="en-US"/>
          </a:p>
        </p:txBody>
      </p:sp>
    </p:spTree>
    <p:extLst>
      <p:ext uri="{BB962C8B-B14F-4D97-AF65-F5344CB8AC3E}">
        <p14:creationId xmlns:p14="http://schemas.microsoft.com/office/powerpoint/2010/main" val="1091062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CAD42C4D-4715-48A9-8643-6FC467265391}" type="datetime1">
              <a:rPr lang="en-US"/>
              <a:pPr>
                <a:defRPr/>
              </a:pPr>
              <a:t>9/16/2025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Introduction</a:t>
            </a:r>
          </a:p>
        </p:txBody>
      </p:sp>
      <p:sp>
        <p:nvSpPr>
          <p:cNvPr id="7" name="Rectangle 6"/>
          <p:cNvSpPr>
            <a:spLocks noGrp="1" noChangeArrowheads="1"/>
          </p:cNvSpPr>
          <p:nvPr>
            <p:ph type="sldNum" sz="quarter" idx="12"/>
          </p:nvPr>
        </p:nvSpPr>
        <p:spPr>
          <a:ln/>
        </p:spPr>
        <p:txBody>
          <a:bodyPr/>
          <a:lstStyle>
            <a:lvl1pPr>
              <a:defRPr/>
            </a:lvl1pPr>
          </a:lstStyle>
          <a:p>
            <a:pPr>
              <a:defRPr/>
            </a:pPr>
            <a:r>
              <a:rPr lang="en-US"/>
              <a:t>2-</a:t>
            </a:r>
            <a:fld id="{1DF13146-B040-4A60-B34B-9DA9A7846D41}" type="slidenum">
              <a:rPr lang="en-US"/>
              <a:pPr>
                <a:defRPr/>
              </a:pPr>
              <a:t>‹#›</a:t>
            </a:fld>
            <a:endParaRPr lang="en-US"/>
          </a:p>
        </p:txBody>
      </p:sp>
    </p:spTree>
    <p:extLst>
      <p:ext uri="{BB962C8B-B14F-4D97-AF65-F5344CB8AC3E}">
        <p14:creationId xmlns:p14="http://schemas.microsoft.com/office/powerpoint/2010/main" val="3773399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FE1407F-E85A-4C98-9526-A6AE6F7EA480}" type="datetime1">
              <a:rPr lang="en-US"/>
              <a:pPr>
                <a:defRPr/>
              </a:pPr>
              <a:t>9/16/2025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Introduction</a:t>
            </a:r>
          </a:p>
        </p:txBody>
      </p:sp>
      <p:sp>
        <p:nvSpPr>
          <p:cNvPr id="6" name="Slide Number Placeholder 5"/>
          <p:cNvSpPr>
            <a:spLocks noGrp="1"/>
          </p:cNvSpPr>
          <p:nvPr>
            <p:ph type="sldNum" sz="quarter" idx="12"/>
          </p:nvPr>
        </p:nvSpPr>
        <p:spPr/>
        <p:txBody>
          <a:bodyPr/>
          <a:lstStyle>
            <a:lvl1pPr>
              <a:defRPr/>
            </a:lvl1pPr>
          </a:lstStyle>
          <a:p>
            <a:pPr>
              <a:defRPr/>
            </a:pPr>
            <a:r>
              <a:rPr lang="en-US"/>
              <a:t>1-</a:t>
            </a:r>
            <a:fld id="{EE7FE3F1-EB3A-4D51-A34C-6689936700C0}" type="slidenum">
              <a:rPr lang="en-US"/>
              <a:pPr>
                <a:defRPr/>
              </a:pPr>
              <a:t>‹#›</a:t>
            </a:fld>
            <a:endParaRPr lang="en-US"/>
          </a:p>
        </p:txBody>
      </p:sp>
    </p:spTree>
    <p:extLst>
      <p:ext uri="{BB962C8B-B14F-4D97-AF65-F5344CB8AC3E}">
        <p14:creationId xmlns:p14="http://schemas.microsoft.com/office/powerpoint/2010/main" val="1148759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309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30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47BF0AF-EA14-4533-ABFB-5374C7D0106C}" type="datetime1">
              <a:rPr lang="en-US"/>
              <a:pPr>
                <a:defRPr/>
              </a:pPr>
              <a:t>9/16/2025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Introduction</a:t>
            </a:r>
          </a:p>
        </p:txBody>
      </p:sp>
      <p:sp>
        <p:nvSpPr>
          <p:cNvPr id="6" name="Slide Number Placeholder 5"/>
          <p:cNvSpPr>
            <a:spLocks noGrp="1"/>
          </p:cNvSpPr>
          <p:nvPr>
            <p:ph type="sldNum" sz="quarter" idx="12"/>
          </p:nvPr>
        </p:nvSpPr>
        <p:spPr/>
        <p:txBody>
          <a:bodyPr/>
          <a:lstStyle>
            <a:lvl1pPr>
              <a:defRPr/>
            </a:lvl1pPr>
          </a:lstStyle>
          <a:p>
            <a:pPr>
              <a:defRPr/>
            </a:pPr>
            <a:r>
              <a:rPr lang="en-US"/>
              <a:t>1-</a:t>
            </a:r>
            <a:fld id="{93394F71-A0EF-4328-9B4C-2FAFD5A0EBE0}" type="slidenum">
              <a:rPr lang="en-US"/>
              <a:pPr>
                <a:defRPr/>
              </a:pPr>
              <a:t>‹#›</a:t>
            </a:fld>
            <a:endParaRPr lang="en-US"/>
          </a:p>
        </p:txBody>
      </p:sp>
    </p:spTree>
    <p:extLst>
      <p:ext uri="{BB962C8B-B14F-4D97-AF65-F5344CB8AC3E}">
        <p14:creationId xmlns:p14="http://schemas.microsoft.com/office/powerpoint/2010/main" val="1300062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11313"/>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495800" y="1611313"/>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495800" y="4011613"/>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p:txBody>
          <a:bodyPr/>
          <a:lstStyle>
            <a:lvl1pPr>
              <a:defRPr/>
            </a:lvl1pPr>
          </a:lstStyle>
          <a:p>
            <a:pPr>
              <a:defRPr/>
            </a:pPr>
            <a:fld id="{EFCA2322-715F-4B46-88A6-3241B6C9EEF3}" type="datetime1">
              <a:rPr lang="en-US"/>
              <a:pPr>
                <a:defRPr/>
              </a:pPr>
              <a:t>9/16/2025</a:t>
            </a:fld>
            <a:endParaRPr lang="en-US"/>
          </a:p>
        </p:txBody>
      </p:sp>
      <p:sp>
        <p:nvSpPr>
          <p:cNvPr id="7" name="Footer Placeholder 6"/>
          <p:cNvSpPr>
            <a:spLocks noGrp="1"/>
          </p:cNvSpPr>
          <p:nvPr>
            <p:ph type="ftr" sz="quarter" idx="11"/>
          </p:nvPr>
        </p:nvSpPr>
        <p:spPr/>
        <p:txBody>
          <a:bodyPr/>
          <a:lstStyle>
            <a:lvl1pPr>
              <a:defRPr/>
            </a:lvl1pPr>
          </a:lstStyle>
          <a:p>
            <a:pPr>
              <a:defRPr/>
            </a:pPr>
            <a:r>
              <a:rPr lang="en-US"/>
              <a:t>Introduction</a:t>
            </a:r>
          </a:p>
        </p:txBody>
      </p:sp>
      <p:sp>
        <p:nvSpPr>
          <p:cNvPr id="8" name="Slide Number Placeholder 7"/>
          <p:cNvSpPr>
            <a:spLocks noGrp="1"/>
          </p:cNvSpPr>
          <p:nvPr>
            <p:ph type="sldNum" sz="quarter" idx="12"/>
          </p:nvPr>
        </p:nvSpPr>
        <p:spPr/>
        <p:txBody>
          <a:bodyPr/>
          <a:lstStyle>
            <a:lvl1pPr>
              <a:defRPr/>
            </a:lvl1pPr>
          </a:lstStyle>
          <a:p>
            <a:pPr>
              <a:defRPr/>
            </a:pPr>
            <a:r>
              <a:rPr lang="en-US"/>
              <a:t>1</a:t>
            </a:r>
            <a:fld id="{95AF20B9-F549-4459-B322-84CE730D69E6}" type="slidenum">
              <a:rPr lang="en-US"/>
              <a:pPr>
                <a:defRPr/>
              </a:pPr>
              <a:t>‹#›</a:t>
            </a:fld>
            <a:endParaRPr lang="en-US"/>
          </a:p>
        </p:txBody>
      </p:sp>
    </p:spTree>
    <p:extLst>
      <p:ext uri="{BB962C8B-B14F-4D97-AF65-F5344CB8AC3E}">
        <p14:creationId xmlns:p14="http://schemas.microsoft.com/office/powerpoint/2010/main" val="28395273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143000" y="1122363"/>
            <a:ext cx="6858000" cy="2387600"/>
          </a:xfrm>
        </p:spPr>
        <p:txBody>
          <a:bodyPr anchor="b"/>
          <a:lstStyle>
            <a:lvl1pPr algn="ctr">
              <a:defRPr sz="45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a:t>
            </a:fld>
            <a:endParaRPr lang="en-US" dirty="0">
              <a:solidFill>
                <a:prstClr val="white">
                  <a:lumMod val="50000"/>
                </a:prstClr>
              </a:solidFill>
            </a:endParaRPr>
          </a:p>
        </p:txBody>
      </p:sp>
    </p:spTree>
    <p:extLst>
      <p:ext uri="{BB962C8B-B14F-4D97-AF65-F5344CB8AC3E}">
        <p14:creationId xmlns:p14="http://schemas.microsoft.com/office/powerpoint/2010/main" val="2945327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628650" y="1724027"/>
            <a:ext cx="78867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a:t>
            </a:fld>
            <a:endParaRPr lang="en-US" dirty="0">
              <a:solidFill>
                <a:prstClr val="white">
                  <a:lumMod val="50000"/>
                </a:prstClr>
              </a:solidFill>
            </a:endParaRPr>
          </a:p>
        </p:txBody>
      </p:sp>
    </p:spTree>
    <p:extLst>
      <p:ext uri="{BB962C8B-B14F-4D97-AF65-F5344CB8AC3E}">
        <p14:creationId xmlns:p14="http://schemas.microsoft.com/office/powerpoint/2010/main" val="17938208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a:t>
            </a:fld>
            <a:endParaRPr lang="en-US" dirty="0">
              <a:solidFill>
                <a:prstClr val="white">
                  <a:lumMod val="50000"/>
                </a:prstClr>
              </a:solidFill>
            </a:endParaRPr>
          </a:p>
        </p:txBody>
      </p:sp>
    </p:spTree>
    <p:extLst>
      <p:ext uri="{BB962C8B-B14F-4D97-AF65-F5344CB8AC3E}">
        <p14:creationId xmlns:p14="http://schemas.microsoft.com/office/powerpoint/2010/main" val="1632303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a:t>
            </a:fld>
            <a:endParaRPr lang="en-US" dirty="0">
              <a:solidFill>
                <a:prstClr val="white">
                  <a:lumMod val="50000"/>
                </a:prstClr>
              </a:solidFill>
            </a:endParaRPr>
          </a:p>
        </p:txBody>
      </p:sp>
    </p:spTree>
    <p:extLst>
      <p:ext uri="{BB962C8B-B14F-4D97-AF65-F5344CB8AC3E}">
        <p14:creationId xmlns:p14="http://schemas.microsoft.com/office/powerpoint/2010/main" val="37659566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B1D834-9A60-0144-B34B-272570688E2D}"/>
              </a:ext>
            </a:extLst>
          </p:cNvPr>
          <p:cNvSpPr>
            <a:spLocks noGrp="1"/>
          </p:cNvSpPr>
          <p:nvPr>
            <p:ph type="dt" sz="half" idx="10"/>
          </p:nvPr>
        </p:nvSpPr>
        <p:spPr/>
        <p:txBody>
          <a:bodyPr/>
          <a:lstStyle/>
          <a:p>
            <a:fld id="{5BDE25CE-E254-A94B-B5AF-C5A01BD997AB}" type="datetimeFigureOut">
              <a:rPr lang="en-US" smtClean="0"/>
              <a:t>9/16/2025</a:t>
            </a:fld>
            <a:endParaRPr lang="en-US"/>
          </a:p>
        </p:txBody>
      </p:sp>
      <p:sp>
        <p:nvSpPr>
          <p:cNvPr id="3" name="Footer Placeholder 2">
            <a:extLst>
              <a:ext uri="{FF2B5EF4-FFF2-40B4-BE49-F238E27FC236}">
                <a16:creationId xmlns:a16="http://schemas.microsoft.com/office/drawing/2014/main" id="{12A4ADFA-C513-7947-8FC6-A583187672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BF1950-807A-A347-B7AD-B769A13BC7B1}"/>
              </a:ext>
            </a:extLst>
          </p:cNvPr>
          <p:cNvSpPr>
            <a:spLocks noGrp="1"/>
          </p:cNvSpPr>
          <p:nvPr>
            <p:ph type="sldNum" sz="quarter" idx="12"/>
          </p:nvPr>
        </p:nvSpPr>
        <p:spPr/>
        <p:txBody>
          <a:bodyPr/>
          <a:lstStyle/>
          <a:p>
            <a:fld id="{8E77583F-9FD8-F447-89A7-11C4555D7609}" type="slidenum">
              <a:rPr lang="en-US" smtClean="0"/>
              <a:t>‹#›</a:t>
            </a:fld>
            <a:endParaRPr lang="en-US"/>
          </a:p>
        </p:txBody>
      </p:sp>
    </p:spTree>
    <p:extLst>
      <p:ext uri="{BB962C8B-B14F-4D97-AF65-F5344CB8AC3E}">
        <p14:creationId xmlns:p14="http://schemas.microsoft.com/office/powerpoint/2010/main" val="2254216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33400" y="1611313"/>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defRPr>
            </a:lvl1pPr>
          </a:lstStyle>
          <a:p>
            <a:pPr>
              <a:defRPr/>
            </a:pPr>
            <a:fld id="{E0C60132-7770-4B5C-B292-468C3AAC95C1}" type="datetime1">
              <a:rPr lang="en-US"/>
              <a:pPr>
                <a:defRPr/>
              </a:pPr>
              <a:t>9/16/2025</a:t>
            </a:fld>
            <a:endParaRPr lang="en-US"/>
          </a:p>
        </p:txBody>
      </p:sp>
      <p:sp>
        <p:nvSpPr>
          <p:cNvPr id="195589" name="Rectangle 5"/>
          <p:cNvSpPr>
            <a:spLocks noGrp="1" noChangeArrowheads="1"/>
          </p:cNvSpPr>
          <p:nvPr>
            <p:ph type="ftr" sz="quarter" idx="3"/>
          </p:nvPr>
        </p:nvSpPr>
        <p:spPr bwMode="auto">
          <a:xfrm>
            <a:off x="5576888" y="6467475"/>
            <a:ext cx="28956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ahoma" pitchFamily="34" charset="0"/>
                <a:ea typeface="+mn-ea"/>
                <a:cs typeface="+mn-cs"/>
              </a:defRPr>
            </a:lvl1pPr>
          </a:lstStyle>
          <a:p>
            <a:pPr>
              <a:defRPr/>
            </a:pPr>
            <a:r>
              <a:rPr lang="en-US"/>
              <a:t>Introduction</a:t>
            </a:r>
          </a:p>
        </p:txBody>
      </p:sp>
      <p:sp>
        <p:nvSpPr>
          <p:cNvPr id="195590" name="Rectangle 6"/>
          <p:cNvSpPr>
            <a:spLocks noGrp="1" noChangeArrowheads="1"/>
          </p:cNvSpPr>
          <p:nvPr>
            <p:ph type="sldNum" sz="quarter" idx="4"/>
          </p:nvPr>
        </p:nvSpPr>
        <p:spPr bwMode="auto">
          <a:xfrm>
            <a:off x="8324850" y="6462713"/>
            <a:ext cx="676275"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ahoma" panose="020B0604030504040204" pitchFamily="34" charset="0"/>
              </a:defRPr>
            </a:lvl1pPr>
          </a:lstStyle>
          <a:p>
            <a:pPr>
              <a:defRPr/>
            </a:pPr>
            <a:r>
              <a:rPr lang="en-US"/>
              <a:t>2-</a:t>
            </a:r>
            <a:fld id="{6FF1A3BC-2A53-4070-BB21-9EE0FD9ED5D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132" r:id="rId1"/>
    <p:sldLayoutId id="2147484133" r:id="rId2"/>
    <p:sldLayoutId id="2147484134" r:id="rId3"/>
    <p:sldLayoutId id="2147484135" r:id="rId4"/>
    <p:sldLayoutId id="2147484136" r:id="rId5"/>
    <p:sldLayoutId id="2147484137" r:id="rId6"/>
    <p:sldLayoutId id="2147484139" r:id="rId7"/>
    <p:sldLayoutId id="2147484140" r:id="rId8"/>
    <p:sldLayoutId id="2147484138" r:id="rId9"/>
    <p:sldLayoutId id="2147484141" r:id="rId10"/>
    <p:sldLayoutId id="2147484142" r:id="rId11"/>
    <p:sldLayoutId id="2147484143" r:id="rId12"/>
  </p:sldLayoutIdLst>
  <p:hf hdr="0" dt="0"/>
  <p:txStyles>
    <p:title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p:titleStyle>
    <p:body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9"/>
        </a:buClr>
        <a:buFont typeface="Wingdings" panose="05000000000000000000" pitchFamily="2" charset="2"/>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628650" y="451821"/>
            <a:ext cx="78867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pPr eaLnBrk="1" fontAlgn="auto" hangingPunct="1">
              <a:spcBef>
                <a:spcPts val="0"/>
              </a:spcBef>
              <a:spcAft>
                <a:spcPts val="0"/>
              </a:spcAft>
            </a:pPr>
            <a:r>
              <a:rPr lang="en-US">
                <a:solidFill>
                  <a:prstClr val="white">
                    <a:lumMod val="50000"/>
                  </a:prstClr>
                </a:solidFill>
                <a:latin typeface="Calibri" panose="020F0502020204030204"/>
              </a:rPr>
              <a:t>Introduction: 1-</a:t>
            </a:r>
            <a:fld id="{C4204591-24BD-A542-B9D5-F8D8A88D2FEE}" type="slidenum">
              <a:rPr lang="en-US" smtClean="0">
                <a:solidFill>
                  <a:prstClr val="white">
                    <a:lumMod val="50000"/>
                  </a:prstClr>
                </a:solidFill>
                <a:latin typeface="Calibri" panose="020F0502020204030204"/>
              </a:rPr>
              <a:pPr eaLnBrk="1" fontAlgn="auto" hangingPunct="1">
                <a:spcBef>
                  <a:spcPts val="0"/>
                </a:spcBef>
                <a:spcAft>
                  <a:spcPts val="0"/>
                </a:spcAft>
              </a:pPr>
              <a:t>‹#›</a:t>
            </a:fld>
            <a:endParaRPr lang="en-US" dirty="0">
              <a:solidFill>
                <a:prstClr val="white">
                  <a:lumMod val="50000"/>
                </a:prstClr>
              </a:solidFill>
              <a:latin typeface="Calibri" panose="020F0502020204030204"/>
            </a:endParaRPr>
          </a:p>
        </p:txBody>
      </p:sp>
    </p:spTree>
    <p:extLst>
      <p:ext uri="{BB962C8B-B14F-4D97-AF65-F5344CB8AC3E}">
        <p14:creationId xmlns:p14="http://schemas.microsoft.com/office/powerpoint/2010/main" val="545886014"/>
      </p:ext>
    </p:extLst>
  </p:cSld>
  <p:clrMap bg1="lt1" tx1="dk1" bg2="lt2" tx2="dk2" accent1="accent1" accent2="accent2" accent3="accent3" accent4="accent4" accent5="accent5" accent6="accent6" hlink="hlink" folHlink="folHlink"/>
  <p:sldLayoutIdLst>
    <p:sldLayoutId id="2147484145" r:id="rId1"/>
    <p:sldLayoutId id="2147484146" r:id="rId2"/>
    <p:sldLayoutId id="2147484147" r:id="rId3"/>
    <p:sldLayoutId id="2147484148" r:id="rId4"/>
    <p:sldLayoutId id="2147484149" r:id="rId5"/>
  </p:sldLayoutIdLst>
  <p:hf hdr="0" ftr="0" dt="0"/>
  <p:txStyles>
    <p:titleStyle>
      <a:lvl1pPr algn="l" defTabSz="685800" rtl="0" eaLnBrk="1" latinLnBrk="0" hangingPunct="1">
        <a:lnSpc>
          <a:spcPct val="90000"/>
        </a:lnSpc>
        <a:spcBef>
          <a:spcPct val="0"/>
        </a:spcBef>
        <a:buNone/>
        <a:defRPr sz="3000" b="1" kern="1200">
          <a:solidFill>
            <a:srgbClr val="0000A3"/>
          </a:solidFill>
          <a:latin typeface="+mn-lt"/>
          <a:ea typeface="+mj-ea"/>
          <a:cs typeface="+mj-cs"/>
        </a:defRPr>
      </a:lvl1pPr>
    </p:titleStyle>
    <p:bodyStyle>
      <a:lvl1pPr marL="264319" indent="-166688" algn="l" defTabSz="685800" rtl="0" eaLnBrk="1" latinLnBrk="0" hangingPunct="1">
        <a:lnSpc>
          <a:spcPct val="90000"/>
        </a:lnSpc>
        <a:spcBef>
          <a:spcPts val="750"/>
        </a:spcBef>
        <a:buClr>
          <a:srgbClr val="0000A3"/>
        </a:buClr>
        <a:buFont typeface="Wingdings" pitchFamily="2" charset="2"/>
        <a:buChar char="§"/>
        <a:tabLst/>
        <a:defRPr sz="2100" kern="1200">
          <a:solidFill>
            <a:schemeClr val="tx1"/>
          </a:solidFill>
          <a:latin typeface="+mn-lt"/>
          <a:ea typeface="+mn-ea"/>
          <a:cs typeface="+mn-cs"/>
        </a:defRPr>
      </a:lvl1pPr>
      <a:lvl2pPr marL="521494" indent="-173831" algn="l" defTabSz="685800" rtl="0" eaLnBrk="1" latinLnBrk="0" hangingPunct="1">
        <a:lnSpc>
          <a:spcPct val="90000"/>
        </a:lnSpc>
        <a:spcBef>
          <a:spcPts val="375"/>
        </a:spcBef>
        <a:buClr>
          <a:srgbClr val="0000A8"/>
        </a:buClr>
        <a:buFont typeface="Arial" panose="020B0604020202020204" pitchFamily="34" charset="0"/>
        <a:buChar char="•"/>
        <a:tabLst/>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meet.google.com/rca-cwkd-cmh"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2" Type="http://schemas.openxmlformats.org/officeDocument/2006/relationships/notesSlide" Target="../notesSlides/notesSlide2.xml"/><Relationship Id="rId16" Type="http://schemas.openxmlformats.org/officeDocument/2006/relationships/image" Target="../media/image16.png"/><Relationship Id="rId20" Type="http://schemas.openxmlformats.org/officeDocument/2006/relationships/image" Target="../media/image20.png"/><Relationship Id="rId29" Type="http://schemas.openxmlformats.org/officeDocument/2006/relationships/image" Target="../media/image29.png"/><Relationship Id="rId1" Type="http://schemas.openxmlformats.org/officeDocument/2006/relationships/slideLayout" Target="../slideLayouts/slideLayout15.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8.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 Id="rId30" Type="http://schemas.openxmlformats.org/officeDocument/2006/relationships/image" Target="../media/image3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2" Type="http://schemas.openxmlformats.org/officeDocument/2006/relationships/notesSlide" Target="../notesSlides/notesSlide6.xml"/><Relationship Id="rId16" Type="http://schemas.openxmlformats.org/officeDocument/2006/relationships/image" Target="../media/image16.png"/><Relationship Id="rId20" Type="http://schemas.openxmlformats.org/officeDocument/2006/relationships/image" Target="../media/image20.png"/><Relationship Id="rId29" Type="http://schemas.openxmlformats.org/officeDocument/2006/relationships/image" Target="../media/image29.png"/><Relationship Id="rId1" Type="http://schemas.openxmlformats.org/officeDocument/2006/relationships/slideLayout" Target="../slideLayouts/slideLayout15.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8.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 Id="rId30"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jpe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1.png"/><Relationship Id="rId7"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jpe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5.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3.xml"/><Relationship Id="rId1" Type="http://schemas.openxmlformats.org/officeDocument/2006/relationships/slideLayout" Target="../slideLayouts/slideLayout15.xml"/><Relationship Id="rId4" Type="http://schemas.openxmlformats.org/officeDocument/2006/relationships/image" Target="../media/image48.png"/></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4.xml"/><Relationship Id="rId1" Type="http://schemas.openxmlformats.org/officeDocument/2006/relationships/slideLayout" Target="../slideLayouts/slideLayout15.xml"/><Relationship Id="rId4" Type="http://schemas.openxmlformats.org/officeDocument/2006/relationships/image" Target="../media/image49.emf"/></Relationships>
</file>

<file path=ppt/slides/_rels/slide5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2.xml"/><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5.xml"/><Relationship Id="rId1" Type="http://schemas.openxmlformats.org/officeDocument/2006/relationships/slideLayout" Target="../slideLayouts/slideLayout15.xml"/><Relationship Id="rId5" Type="http://schemas.openxmlformats.org/officeDocument/2006/relationships/image" Target="../media/image55.png"/><Relationship Id="rId4" Type="http://schemas.openxmlformats.org/officeDocument/2006/relationships/image" Target="../media/image54.png"/></Relationships>
</file>

<file path=ppt/slides/_rels/slide6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6.xml"/><Relationship Id="rId1" Type="http://schemas.openxmlformats.org/officeDocument/2006/relationships/slideLayout" Target="../slideLayouts/slideLayout15.xml"/><Relationship Id="rId4" Type="http://schemas.openxmlformats.org/officeDocument/2006/relationships/image" Target="../media/image56.png"/></Relationships>
</file>

<file path=ppt/slides/_rels/slide7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7.xml"/><Relationship Id="rId1" Type="http://schemas.openxmlformats.org/officeDocument/2006/relationships/slideLayout" Target="../slideLayouts/slideLayout15.xml"/><Relationship Id="rId5" Type="http://schemas.openxmlformats.org/officeDocument/2006/relationships/image" Target="../media/image58.png"/><Relationship Id="rId4" Type="http://schemas.openxmlformats.org/officeDocument/2006/relationships/image" Target="../media/image57.png"/></Relationships>
</file>

<file path=ppt/slides/_rels/slide7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9.xml"/><Relationship Id="rId1" Type="http://schemas.openxmlformats.org/officeDocument/2006/relationships/slideLayout" Target="../slideLayouts/slideLayout15.xml"/><Relationship Id="rId5" Type="http://schemas.openxmlformats.org/officeDocument/2006/relationships/image" Target="../media/image60.jpeg"/><Relationship Id="rId4" Type="http://schemas.openxmlformats.org/officeDocument/2006/relationships/image" Target="../media/image59.jpeg"/></Relationships>
</file>

<file path=ppt/slides/_rels/slide7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4.xml"/><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7.xml"/><Relationship Id="rId1" Type="http://schemas.openxmlformats.org/officeDocument/2006/relationships/slideLayout" Target="../slideLayouts/slideLayout15.xml"/><Relationship Id="rId5" Type="http://schemas.openxmlformats.org/officeDocument/2006/relationships/image" Target="../media/image60.jpeg"/><Relationship Id="rId4" Type="http://schemas.openxmlformats.org/officeDocument/2006/relationships/image" Target="../media/image59.jpeg"/></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8.xml"/><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9.xml"/><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2.xml"/><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3.xml"/><Relationship Id="rId1" Type="http://schemas.openxmlformats.org/officeDocument/2006/relationships/slideLayout" Target="../slideLayouts/slideLayout15.xml"/><Relationship Id="rId4" Type="http://schemas.openxmlformats.org/officeDocument/2006/relationships/image" Target="../media/image6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sz="1200">
                <a:latin typeface="Tahoma" panose="020B0604030504040204" pitchFamily="34" charset="0"/>
              </a:rPr>
              <a:t>Introduction</a:t>
            </a:r>
          </a:p>
        </p:txBody>
      </p:sp>
      <p:sp>
        <p:nvSpPr>
          <p:cNvPr id="1433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sz="1200">
                <a:latin typeface="Tahoma" panose="020B0604030504040204" pitchFamily="34" charset="0"/>
              </a:rPr>
              <a:t>1-</a:t>
            </a:r>
            <a:fld id="{4E4CB2DF-46E8-4DFD-BEF7-96FFDAFA7596}" type="slidenum">
              <a:rPr lang="en-US" sz="1200" smtClean="0">
                <a:latin typeface="Tahoma" panose="020B0604030504040204" pitchFamily="34" charset="0"/>
              </a:rPr>
              <a:pPr>
                <a:lnSpc>
                  <a:spcPct val="100000"/>
                </a:lnSpc>
                <a:spcBef>
                  <a:spcPct val="0"/>
                </a:spcBef>
                <a:buClrTx/>
                <a:buSzTx/>
                <a:buFontTx/>
                <a:buNone/>
              </a:pPr>
              <a:t>1</a:t>
            </a:fld>
            <a:endParaRPr lang="en-US" sz="1200">
              <a:latin typeface="Tahoma" panose="020B0604030504040204" pitchFamily="34" charset="0"/>
            </a:endParaRPr>
          </a:p>
        </p:txBody>
      </p:sp>
      <p:sp>
        <p:nvSpPr>
          <p:cNvPr id="14340" name="Rectangle 3"/>
          <p:cNvSpPr>
            <a:spLocks noChangeArrowheads="1"/>
          </p:cNvSpPr>
          <p:nvPr/>
        </p:nvSpPr>
        <p:spPr bwMode="auto">
          <a:xfrm>
            <a:off x="371475" y="180975"/>
            <a:ext cx="5688013" cy="2221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sz="4400" dirty="0">
                <a:solidFill>
                  <a:srgbClr val="000099"/>
                </a:solidFill>
              </a:rPr>
              <a:t>Chapter 3</a:t>
            </a:r>
          </a:p>
          <a:p>
            <a:pPr algn="ctr" eaLnBrk="1" hangingPunct="1">
              <a:spcBef>
                <a:spcPct val="0"/>
              </a:spcBef>
              <a:buClrTx/>
              <a:buSzTx/>
              <a:buFontTx/>
              <a:buNone/>
            </a:pPr>
            <a:r>
              <a:rPr lang="en-US" sz="4400" dirty="0">
                <a:solidFill>
                  <a:srgbClr val="000099"/>
                </a:solidFill>
              </a:rPr>
              <a:t>Transport Layer </a:t>
            </a:r>
          </a:p>
          <a:p>
            <a:pPr algn="ctr" eaLnBrk="1" hangingPunct="1">
              <a:spcBef>
                <a:spcPct val="0"/>
              </a:spcBef>
              <a:buClrTx/>
              <a:buSzTx/>
              <a:buFontTx/>
              <a:buNone/>
            </a:pPr>
            <a:r>
              <a:rPr lang="en-US" sz="4000" dirty="0">
                <a:solidFill>
                  <a:srgbClr val="000099"/>
                </a:solidFill>
              </a:rPr>
              <a:t>(</a:t>
            </a:r>
            <a:r>
              <a:rPr lang="en-US" sz="4000" dirty="0">
                <a:solidFill>
                  <a:srgbClr val="FF0000"/>
                </a:solidFill>
              </a:rPr>
              <a:t>Sec – 3.1, 3.2, 3.3, 3.4, 3.5 &amp; 3.7</a:t>
            </a:r>
            <a:r>
              <a:rPr lang="en-US" sz="4000" dirty="0">
                <a:solidFill>
                  <a:srgbClr val="000099"/>
                </a:solidFill>
              </a:rPr>
              <a:t>)</a:t>
            </a:r>
          </a:p>
        </p:txBody>
      </p:sp>
      <p:sp>
        <p:nvSpPr>
          <p:cNvPr id="14341" name="Rectangle 4"/>
          <p:cNvSpPr>
            <a:spLocks noChangeArrowheads="1"/>
          </p:cNvSpPr>
          <p:nvPr/>
        </p:nvSpPr>
        <p:spPr bwMode="auto">
          <a:xfrm>
            <a:off x="6184900" y="3078163"/>
            <a:ext cx="2881313"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i="1">
                <a:solidFill>
                  <a:srgbClr val="008000"/>
                </a:solidFill>
              </a:rPr>
              <a:t>Computer Networking: A Top Down Approach </a:t>
            </a:r>
            <a:br>
              <a:rPr lang="en-US">
                <a:solidFill>
                  <a:srgbClr val="008000"/>
                </a:solidFill>
              </a:rPr>
            </a:br>
            <a:r>
              <a:rPr lang="en-US" sz="2000">
                <a:solidFill>
                  <a:srgbClr val="008000"/>
                </a:solidFill>
              </a:rPr>
              <a:t>7</a:t>
            </a:r>
            <a:r>
              <a:rPr lang="en-US" sz="2000" baseline="30000">
                <a:solidFill>
                  <a:srgbClr val="008000"/>
                </a:solidFill>
              </a:rPr>
              <a:t>th</a:t>
            </a:r>
            <a:r>
              <a:rPr lang="en-US" sz="2000">
                <a:solidFill>
                  <a:srgbClr val="008000"/>
                </a:solidFill>
              </a:rPr>
              <a:t> edition </a:t>
            </a:r>
            <a:br>
              <a:rPr lang="en-US" sz="2000">
                <a:solidFill>
                  <a:srgbClr val="008000"/>
                </a:solidFill>
              </a:rPr>
            </a:br>
            <a:r>
              <a:rPr lang="en-US" sz="2000">
                <a:solidFill>
                  <a:srgbClr val="008000"/>
                </a:solidFill>
              </a:rPr>
              <a:t>Jim Kurose, Keith Ross</a:t>
            </a:r>
            <a:br>
              <a:rPr lang="en-US" sz="2000">
                <a:solidFill>
                  <a:srgbClr val="008000"/>
                </a:solidFill>
              </a:rPr>
            </a:br>
            <a:r>
              <a:rPr lang="en-US" sz="2000">
                <a:solidFill>
                  <a:srgbClr val="008000"/>
                </a:solidFill>
              </a:rPr>
              <a:t>Addison-Wesley</a:t>
            </a:r>
            <a:br>
              <a:rPr lang="en-US" sz="2000">
                <a:solidFill>
                  <a:srgbClr val="008000"/>
                </a:solidFill>
              </a:rPr>
            </a:br>
            <a:r>
              <a:rPr lang="en-US" sz="2000">
                <a:solidFill>
                  <a:srgbClr val="008000"/>
                </a:solidFill>
              </a:rPr>
              <a:t>March 2017</a:t>
            </a:r>
          </a:p>
        </p:txBody>
      </p:sp>
      <p:pic>
        <p:nvPicPr>
          <p:cNvPr id="14342" name="Picture 9"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 y="2329962"/>
            <a:ext cx="5470525"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1" descr="6e_cover.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32525" y="511175"/>
            <a:ext cx="2306638" cy="277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4"/>
          <p:cNvSpPr>
            <a:spLocks noChangeArrowheads="1"/>
          </p:cNvSpPr>
          <p:nvPr/>
        </p:nvSpPr>
        <p:spPr bwMode="auto">
          <a:xfrm>
            <a:off x="302418" y="2647840"/>
            <a:ext cx="5826125" cy="3795712"/>
          </a:xfrm>
          <a:prstGeom prst="rect">
            <a:avLst/>
          </a:prstGeom>
          <a:noFill/>
          <a:ln w="9525">
            <a:noFill/>
            <a:miter lim="800000"/>
            <a:headEnd/>
            <a:tailEnd/>
          </a:ln>
        </p:spPr>
        <p:txBody>
          <a:bodyPr/>
          <a:lstStyle/>
          <a:p>
            <a:pPr marL="342900" indent="-342900">
              <a:spcBef>
                <a:spcPct val="20000"/>
              </a:spcBef>
              <a:buClr>
                <a:schemeClr val="accent2"/>
              </a:buClr>
              <a:buSzPct val="85000"/>
              <a:buFont typeface="Wingdings" pitchFamily="2" charset="2"/>
              <a:buNone/>
              <a:defRPr/>
            </a:pPr>
            <a:r>
              <a:rPr lang="en-US" sz="2000" dirty="0">
                <a:latin typeface="+mj-lt"/>
                <a:ea typeface="Cambria Math" pitchFamily="18" charset="0"/>
              </a:rPr>
              <a:t>Instructor: </a:t>
            </a:r>
            <a:r>
              <a:rPr lang="en-US" sz="2000" dirty="0">
                <a:solidFill>
                  <a:schemeClr val="accent2"/>
                </a:solidFill>
                <a:latin typeface="+mj-lt"/>
                <a:ea typeface="Cambria Math" pitchFamily="18" charset="0"/>
              </a:rPr>
              <a:t>Mohammad </a:t>
            </a:r>
            <a:r>
              <a:rPr lang="en-US" sz="2000" dirty="0" err="1">
                <a:solidFill>
                  <a:schemeClr val="accent2"/>
                </a:solidFill>
                <a:latin typeface="+mj-lt"/>
                <a:ea typeface="Cambria Math" pitchFamily="18" charset="0"/>
              </a:rPr>
              <a:t>Mamun</a:t>
            </a:r>
            <a:r>
              <a:rPr lang="en-US" sz="2000" dirty="0">
                <a:solidFill>
                  <a:schemeClr val="accent2"/>
                </a:solidFill>
                <a:latin typeface="+mj-lt"/>
                <a:ea typeface="Cambria Math" pitchFamily="18" charset="0"/>
              </a:rPr>
              <a:t> </a:t>
            </a:r>
            <a:r>
              <a:rPr lang="en-US" sz="2000" dirty="0" err="1">
                <a:solidFill>
                  <a:schemeClr val="accent2"/>
                </a:solidFill>
                <a:latin typeface="+mj-lt"/>
                <a:ea typeface="Cambria Math" pitchFamily="18" charset="0"/>
              </a:rPr>
              <a:t>Elahi</a:t>
            </a:r>
            <a:endParaRPr lang="en-US" sz="2000" dirty="0">
              <a:solidFill>
                <a:schemeClr val="accent2"/>
              </a:solidFill>
              <a:latin typeface="+mj-lt"/>
              <a:ea typeface="Cambria Math" pitchFamily="18" charset="0"/>
            </a:endParaRPr>
          </a:p>
          <a:p>
            <a:pPr marL="342900" indent="-342900">
              <a:spcBef>
                <a:spcPct val="20000"/>
              </a:spcBef>
              <a:buClr>
                <a:schemeClr val="accent2"/>
              </a:buClr>
              <a:buSzPct val="85000"/>
              <a:buFont typeface="Wingdings" pitchFamily="2" charset="2"/>
              <a:buNone/>
              <a:defRPr/>
            </a:pPr>
            <a:r>
              <a:rPr lang="en-US" sz="2000" dirty="0">
                <a:latin typeface="+mj-lt"/>
                <a:ea typeface="Cambria Math" pitchFamily="18" charset="0"/>
              </a:rPr>
              <a:t>Office: </a:t>
            </a:r>
            <a:r>
              <a:rPr lang="en-US" sz="2000" dirty="0">
                <a:solidFill>
                  <a:schemeClr val="accent2"/>
                </a:solidFill>
                <a:latin typeface="+mj-lt"/>
                <a:ea typeface="Cambria Math" pitchFamily="18" charset="0"/>
              </a:rPr>
              <a:t>5</a:t>
            </a:r>
            <a:r>
              <a:rPr lang="en-US" sz="2000" baseline="30000" dirty="0">
                <a:solidFill>
                  <a:schemeClr val="accent2"/>
                </a:solidFill>
                <a:latin typeface="+mj-lt"/>
                <a:ea typeface="Cambria Math" pitchFamily="18" charset="0"/>
              </a:rPr>
              <a:t>th</a:t>
            </a:r>
            <a:r>
              <a:rPr lang="en-US" sz="2000" dirty="0">
                <a:solidFill>
                  <a:schemeClr val="accent2"/>
                </a:solidFill>
                <a:latin typeface="+mj-lt"/>
                <a:ea typeface="Cambria Math" pitchFamily="18" charset="0"/>
              </a:rPr>
              <a:t> Floor (Room # 522)</a:t>
            </a:r>
          </a:p>
          <a:p>
            <a:pPr marL="342900" indent="-342900">
              <a:spcBef>
                <a:spcPct val="20000"/>
              </a:spcBef>
              <a:buClr>
                <a:schemeClr val="accent2"/>
              </a:buClr>
              <a:buSzPct val="85000"/>
              <a:buFont typeface="Wingdings" pitchFamily="2" charset="2"/>
              <a:buNone/>
              <a:defRPr/>
            </a:pPr>
            <a:r>
              <a:rPr lang="en-US" sz="2000" dirty="0">
                <a:latin typeface="+mj-lt"/>
                <a:ea typeface="Cambria Math" pitchFamily="18" charset="0"/>
              </a:rPr>
              <a:t>Email: </a:t>
            </a:r>
            <a:r>
              <a:rPr lang="en-US" sz="2000" dirty="0">
                <a:solidFill>
                  <a:schemeClr val="accent2"/>
                </a:solidFill>
                <a:latin typeface="+mj-lt"/>
                <a:ea typeface="Cambria Math" pitchFamily="18" charset="0"/>
              </a:rPr>
              <a:t>mmelahi@cse.uiu.ac.bd</a:t>
            </a:r>
          </a:p>
          <a:p>
            <a:pPr marL="342900" indent="-342900">
              <a:spcBef>
                <a:spcPct val="20000"/>
              </a:spcBef>
              <a:buClr>
                <a:schemeClr val="accent2"/>
              </a:buClr>
              <a:buSzPct val="85000"/>
              <a:buFont typeface="Wingdings" pitchFamily="2" charset="2"/>
              <a:buNone/>
              <a:defRPr/>
            </a:pPr>
            <a:r>
              <a:rPr lang="en-US" sz="2000" dirty="0">
                <a:latin typeface="+mj-lt"/>
                <a:ea typeface="Cambria Math" pitchFamily="18" charset="0"/>
              </a:rPr>
              <a:t>Class Location: </a:t>
            </a:r>
            <a:r>
              <a:rPr lang="en-US" sz="2000" dirty="0">
                <a:solidFill>
                  <a:srgbClr val="C00000"/>
                </a:solidFill>
                <a:latin typeface="+mj-lt"/>
                <a:ea typeface="Cambria Math" pitchFamily="18" charset="0"/>
                <a:hlinkClick r:id="rId4"/>
              </a:rPr>
              <a:t>http://meet.google.com/rca-cwkd-cmh</a:t>
            </a:r>
            <a:r>
              <a:rPr lang="en-US" sz="2000" dirty="0">
                <a:solidFill>
                  <a:srgbClr val="C00000"/>
                </a:solidFill>
                <a:latin typeface="+mj-lt"/>
                <a:ea typeface="Cambria Math" pitchFamily="18" charset="0"/>
              </a:rPr>
              <a:t> </a:t>
            </a:r>
          </a:p>
          <a:p>
            <a:pPr marL="342900" indent="-342900">
              <a:spcBef>
                <a:spcPct val="20000"/>
              </a:spcBef>
              <a:buClr>
                <a:schemeClr val="accent2"/>
              </a:buClr>
              <a:buSzPct val="85000"/>
              <a:buFont typeface="Wingdings" pitchFamily="2" charset="2"/>
              <a:buNone/>
              <a:defRPr/>
            </a:pPr>
            <a:r>
              <a:rPr lang="en-US" sz="2000" dirty="0">
                <a:latin typeface="+mj-lt"/>
                <a:ea typeface="Cambria Math" pitchFamily="18" charset="0"/>
              </a:rPr>
              <a:t>Lectures: </a:t>
            </a:r>
            <a:r>
              <a:rPr lang="en-US" sz="1800" dirty="0">
                <a:solidFill>
                  <a:schemeClr val="accent2"/>
                </a:solidFill>
                <a:latin typeface="+mj-lt"/>
                <a:ea typeface="Cambria Math" pitchFamily="18" charset="0"/>
              </a:rPr>
              <a:t>S W 12:10 pm (Sec A),  2-00 pm (Sec C)</a:t>
            </a:r>
          </a:p>
          <a:p>
            <a:pPr marL="342900" indent="-342900">
              <a:spcBef>
                <a:spcPct val="20000"/>
              </a:spcBef>
              <a:buClr>
                <a:schemeClr val="accent2"/>
              </a:buClr>
              <a:buSzPct val="85000"/>
              <a:buFont typeface="Wingdings" pitchFamily="2" charset="2"/>
              <a:buNone/>
              <a:defRPr/>
            </a:pPr>
            <a:r>
              <a:rPr lang="en-US" sz="2000" dirty="0">
                <a:latin typeface="+mj-lt"/>
                <a:ea typeface="Cambria Math" pitchFamily="18" charset="0"/>
              </a:rPr>
              <a:t>Notes derived from “</a:t>
            </a:r>
            <a:r>
              <a:rPr lang="en-US" sz="2000" i="1" dirty="0">
                <a:solidFill>
                  <a:schemeClr val="accent2"/>
                </a:solidFill>
                <a:latin typeface="+mj-lt"/>
                <a:ea typeface="Cambria Math" pitchFamily="18" charset="0"/>
              </a:rPr>
              <a:t>Computer Networking: A Top Down Approach</a:t>
            </a:r>
            <a:r>
              <a:rPr lang="en-US" sz="2000" i="1" dirty="0">
                <a:latin typeface="+mj-lt"/>
                <a:ea typeface="Cambria Math" pitchFamily="18" charset="0"/>
              </a:rPr>
              <a:t>”</a:t>
            </a:r>
            <a:r>
              <a:rPr lang="en-US" sz="2000" dirty="0">
                <a:latin typeface="+mj-lt"/>
                <a:ea typeface="Cambria Math" pitchFamily="18" charset="0"/>
              </a:rPr>
              <a:t>, Jim Kurose, Keith Ross, Addison-Wesley.</a:t>
            </a:r>
          </a:p>
          <a:p>
            <a:pPr marL="342900" indent="-342900">
              <a:spcBef>
                <a:spcPct val="20000"/>
              </a:spcBef>
              <a:buClr>
                <a:schemeClr val="accent2"/>
              </a:buClr>
              <a:buSzPct val="85000"/>
              <a:buFont typeface="Wingdings" pitchFamily="2" charset="2"/>
              <a:buNone/>
              <a:defRPr/>
            </a:pPr>
            <a:endParaRPr lang="en-US" sz="1000" dirty="0">
              <a:latin typeface="+mj-lt"/>
              <a:ea typeface="Cambria Math" pitchFamily="18" charset="0"/>
            </a:endParaRPr>
          </a:p>
          <a:p>
            <a:pPr marL="342900" indent="-342900">
              <a:spcBef>
                <a:spcPct val="20000"/>
              </a:spcBef>
              <a:buClr>
                <a:schemeClr val="accent2"/>
              </a:buClr>
              <a:buSzPct val="85000"/>
              <a:buFont typeface="Wingdings" pitchFamily="2" charset="2"/>
              <a:buNone/>
              <a:defRPr/>
            </a:pPr>
            <a:r>
              <a:rPr lang="en-US" sz="2000" dirty="0">
                <a:latin typeface="+mj-lt"/>
                <a:ea typeface="Cambria Math" pitchFamily="18" charset="0"/>
              </a:rPr>
              <a:t> </a:t>
            </a:r>
            <a:r>
              <a:rPr lang="en-US" sz="2000" b="1" dirty="0">
                <a:latin typeface="+mj-lt"/>
                <a:ea typeface="Cambria Math" pitchFamily="18" charset="0"/>
              </a:rPr>
              <a:t>Slides are adapted from the companion web site of the book, as modified by </a:t>
            </a:r>
            <a:r>
              <a:rPr lang="en-US" sz="2000" b="1" dirty="0">
                <a:solidFill>
                  <a:schemeClr val="accent2"/>
                </a:solidFill>
                <a:latin typeface="+mj-lt"/>
                <a:ea typeface="Cambria Math" pitchFamily="18" charset="0"/>
              </a:rPr>
              <a:t>Mohammad </a:t>
            </a:r>
            <a:r>
              <a:rPr lang="en-US" sz="2000" b="1" dirty="0" err="1">
                <a:solidFill>
                  <a:schemeClr val="accent2"/>
                </a:solidFill>
                <a:latin typeface="+mj-lt"/>
                <a:ea typeface="Cambria Math" pitchFamily="18" charset="0"/>
              </a:rPr>
              <a:t>Mamun</a:t>
            </a:r>
            <a:r>
              <a:rPr lang="en-US" sz="2000" b="1" dirty="0">
                <a:solidFill>
                  <a:schemeClr val="accent2"/>
                </a:solidFill>
                <a:latin typeface="+mj-lt"/>
                <a:ea typeface="Cambria Math" pitchFamily="18" charset="0"/>
              </a:rPr>
              <a:t> </a:t>
            </a:r>
            <a:r>
              <a:rPr lang="en-US" sz="2000" b="1" dirty="0" err="1">
                <a:solidFill>
                  <a:schemeClr val="accent2"/>
                </a:solidFill>
                <a:latin typeface="+mj-lt"/>
                <a:ea typeface="Cambria Math" pitchFamily="18" charset="0"/>
              </a:rPr>
              <a:t>Elahi</a:t>
            </a:r>
            <a:r>
              <a:rPr lang="en-US" sz="2000" b="1" dirty="0">
                <a:latin typeface="+mj-lt"/>
                <a:ea typeface="Cambria Math" pitchFamily="18" charset="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7886700" cy="670967"/>
          </a:xfrm>
        </p:spPr>
        <p:txBody>
          <a:bodyPr>
            <a:normAutofit/>
          </a:bodyPr>
          <a:lstStyle/>
          <a:p>
            <a:r>
              <a:rPr lang="en-US" altLang="en-US" dirty="0">
                <a:cs typeface="Calibri" panose="020F0502020204030204" pitchFamily="34" charset="0"/>
              </a:rPr>
              <a:t>Transport layer: overview</a:t>
            </a:r>
            <a:endParaRPr lang="en-US" dirty="0"/>
          </a:p>
        </p:txBody>
      </p:sp>
      <p:sp>
        <p:nvSpPr>
          <p:cNvPr id="4" name="Content Placeholder 3">
            <a:extLst>
              <a:ext uri="{FF2B5EF4-FFF2-40B4-BE49-F238E27FC236}">
                <a16:creationId xmlns:a16="http://schemas.microsoft.com/office/drawing/2014/main" id="{F6E2ACD2-5E28-0840-A1E8-F9AB901FE8BC}"/>
              </a:ext>
            </a:extLst>
          </p:cNvPr>
          <p:cNvSpPr>
            <a:spLocks noGrp="1"/>
          </p:cNvSpPr>
          <p:nvPr>
            <p:ph sz="half" idx="1"/>
          </p:nvPr>
        </p:nvSpPr>
        <p:spPr>
          <a:xfrm>
            <a:off x="586322" y="1797248"/>
            <a:ext cx="3631566" cy="3263504"/>
          </a:xfrm>
        </p:spPr>
        <p:txBody>
          <a:bodyPr>
            <a:noAutofit/>
          </a:bodyPr>
          <a:lstStyle/>
          <a:p>
            <a:pPr marL="8335" indent="0">
              <a:buNone/>
            </a:pPr>
            <a:r>
              <a:rPr lang="en-US" altLang="en-US" sz="2400" i="1" dirty="0">
                <a:solidFill>
                  <a:srgbClr val="CC0000"/>
                </a:solidFill>
                <a:latin typeface="Calibri" panose="020F0502020204030204" pitchFamily="34" charset="0"/>
                <a:cs typeface="Calibri" panose="020F0502020204030204" pitchFamily="34" charset="0"/>
              </a:rPr>
              <a:t>Our goal:</a:t>
            </a:r>
            <a:r>
              <a:rPr lang="en-US" altLang="en-US" sz="2400" i="1" dirty="0">
                <a:latin typeface="Calibri" panose="020F0502020204030204" pitchFamily="34" charset="0"/>
                <a:cs typeface="Calibri" panose="020F0502020204030204" pitchFamily="34" charset="0"/>
              </a:rPr>
              <a:t> </a:t>
            </a:r>
          </a:p>
          <a:p>
            <a:pPr marL="300038" indent="-214313">
              <a:buFont typeface="Wingdings" charset="2"/>
              <a:buChar char="§"/>
              <a:defRPr/>
            </a:pPr>
            <a:r>
              <a:rPr lang="en-US" sz="2400" dirty="0"/>
              <a:t>understand principles behind transport layer services:</a:t>
            </a:r>
          </a:p>
          <a:p>
            <a:pPr lvl="1">
              <a:buFont typeface="Arial"/>
              <a:buChar char="•"/>
              <a:defRPr/>
            </a:pPr>
            <a:r>
              <a:rPr lang="en-US" sz="2100" dirty="0"/>
              <a:t>multiplexing, demultiplexing</a:t>
            </a:r>
          </a:p>
          <a:p>
            <a:pPr lvl="1">
              <a:buFont typeface="Arial"/>
              <a:buChar char="•"/>
              <a:defRPr/>
            </a:pPr>
            <a:r>
              <a:rPr lang="en-US" sz="2100" dirty="0"/>
              <a:t>reliable data transfer</a:t>
            </a:r>
          </a:p>
          <a:p>
            <a:pPr lvl="1">
              <a:buFont typeface="Arial"/>
              <a:buChar char="•"/>
              <a:defRPr/>
            </a:pPr>
            <a:r>
              <a:rPr lang="en-US" sz="2100" dirty="0"/>
              <a:t>flow control</a:t>
            </a:r>
          </a:p>
          <a:p>
            <a:pPr lvl="1">
              <a:buFont typeface="Arial"/>
              <a:buChar char="•"/>
              <a:defRPr/>
            </a:pPr>
            <a:r>
              <a:rPr lang="en-US" sz="2100" dirty="0"/>
              <a:t>congestion control</a:t>
            </a:r>
            <a:endParaRPr lang="en-US" sz="2400" dirty="0"/>
          </a:p>
          <a:p>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4476312" y="2219222"/>
            <a:ext cx="4495800" cy="3599260"/>
          </a:xfrm>
        </p:spPr>
        <p:txBody>
          <a:bodyPr>
            <a:normAutofit/>
          </a:bodyPr>
          <a:lstStyle/>
          <a:p>
            <a:pPr marL="342900" indent="-214313">
              <a:buFont typeface="Wingdings" charset="2"/>
              <a:buChar char="§"/>
              <a:defRPr/>
            </a:pPr>
            <a:r>
              <a:rPr lang="en-US" sz="2400" dirty="0"/>
              <a:t>learn about Internet transport layer protocols:</a:t>
            </a:r>
          </a:p>
          <a:p>
            <a:pPr lvl="1">
              <a:buFont typeface="Arial"/>
              <a:buChar char="•"/>
              <a:defRPr/>
            </a:pPr>
            <a:r>
              <a:rPr lang="en-US" sz="2100" dirty="0"/>
              <a:t>UDP: connectionless transport</a:t>
            </a:r>
          </a:p>
          <a:p>
            <a:pPr lvl="1">
              <a:buFont typeface="Arial"/>
              <a:buChar char="•"/>
              <a:defRPr/>
            </a:pPr>
            <a:r>
              <a:rPr lang="en-US" sz="2100" dirty="0"/>
              <a:t>TCP: connection-oriented reliable transport</a:t>
            </a:r>
          </a:p>
          <a:p>
            <a:pPr lvl="1">
              <a:buFont typeface="Arial"/>
              <a:buChar char="•"/>
              <a:defRPr/>
            </a:pPr>
            <a:r>
              <a:rPr lang="en-US" sz="2100" dirty="0"/>
              <a:t>TCP congestion control</a:t>
            </a:r>
            <a:endParaRPr lang="en-US" dirty="0"/>
          </a:p>
          <a:p>
            <a:pPr eaLnBrk="1" hangingPunct="1">
              <a:buFont typeface="Wingdings" panose="05000000000000000000" pitchFamily="2" charset="2"/>
              <a:buNone/>
            </a:pPr>
            <a:endParaRPr lang="en-US" altLang="en-US" sz="1800" dirty="0"/>
          </a:p>
        </p:txBody>
      </p:sp>
      <p:sp>
        <p:nvSpPr>
          <p:cNvPr id="3" name="Slide Number Placeholder 2">
            <a:extLst>
              <a:ext uri="{FF2B5EF4-FFF2-40B4-BE49-F238E27FC236}">
                <a16:creationId xmlns:a16="http://schemas.microsoft.com/office/drawing/2014/main" id="{11084F46-D79C-3048-9B21-CEBC66650819}"/>
              </a:ext>
            </a:extLst>
          </p:cNvPr>
          <p:cNvSpPr>
            <a:spLocks noGrp="1"/>
          </p:cNvSpPr>
          <p:nvPr>
            <p:ph type="sldNum" sz="quarter" idx="4"/>
          </p:nvPr>
        </p:nvSpPr>
        <p:spPr>
          <a:xfrm>
            <a:off x="6914712" y="5698248"/>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2</a:t>
            </a:fld>
            <a:endParaRPr lang="en-US" dirty="0">
              <a:solidFill>
                <a:prstClr val="white">
                  <a:lumMod val="50000"/>
                </a:prstClr>
              </a:solidFill>
            </a:endParaRPr>
          </a:p>
        </p:txBody>
      </p:sp>
    </p:spTree>
    <p:extLst>
      <p:ext uri="{BB962C8B-B14F-4D97-AF65-F5344CB8AC3E}">
        <p14:creationId xmlns:p14="http://schemas.microsoft.com/office/powerpoint/2010/main" val="2439091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7886700" cy="670967"/>
          </a:xfrm>
        </p:spPr>
        <p:txBody>
          <a:bodyPr>
            <a:normAutofit/>
          </a:bodyPr>
          <a:lstStyle/>
          <a:p>
            <a:r>
              <a:rPr lang="en-US" altLang="en-US" dirty="0">
                <a:cs typeface="Calibri" panose="020F0502020204030204" pitchFamily="34" charset="0"/>
              </a:rPr>
              <a:t>Transport services and protocols</a:t>
            </a:r>
            <a:endParaRPr lang="en-US" dirty="0"/>
          </a:p>
        </p:txBody>
      </p:sp>
      <p:sp>
        <p:nvSpPr>
          <p:cNvPr id="6" name="Rectangle 3">
            <a:extLst>
              <a:ext uri="{FF2B5EF4-FFF2-40B4-BE49-F238E27FC236}">
                <a16:creationId xmlns:a16="http://schemas.microsoft.com/office/drawing/2014/main" id="{B81DCC24-3FE7-E745-BC17-3886FB241095}"/>
              </a:ext>
            </a:extLst>
          </p:cNvPr>
          <p:cNvSpPr txBox="1">
            <a:spLocks noChangeArrowheads="1"/>
          </p:cNvSpPr>
          <p:nvPr/>
        </p:nvSpPr>
        <p:spPr>
          <a:xfrm>
            <a:off x="510914" y="1940124"/>
            <a:ext cx="4361777" cy="121646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 typeface="Wingdings" charset="2"/>
              <a:buChar char="§"/>
              <a:defRPr/>
            </a:pPr>
            <a:r>
              <a:rPr lang="en-US" sz="2100" dirty="0">
                <a:solidFill>
                  <a:prstClr val="black"/>
                </a:solidFill>
              </a:rPr>
              <a:t>provide</a:t>
            </a:r>
            <a:r>
              <a:rPr lang="en-US" sz="2100" i="1" dirty="0">
                <a:solidFill>
                  <a:srgbClr val="FF0000"/>
                </a:solidFill>
              </a:rPr>
              <a:t> </a:t>
            </a:r>
            <a:r>
              <a:rPr lang="en-US" sz="2100" i="1" dirty="0">
                <a:solidFill>
                  <a:srgbClr val="CC0000"/>
                </a:solidFill>
              </a:rPr>
              <a:t>logical communication</a:t>
            </a:r>
            <a:r>
              <a:rPr lang="en-US" sz="2100" dirty="0">
                <a:solidFill>
                  <a:prstClr val="black"/>
                </a:solidFill>
              </a:rPr>
              <a:t> between application processes running on different hosts</a:t>
            </a:r>
          </a:p>
        </p:txBody>
      </p:sp>
      <p:sp>
        <p:nvSpPr>
          <p:cNvPr id="10" name="Freeform 9">
            <a:extLst>
              <a:ext uri="{FF2B5EF4-FFF2-40B4-BE49-F238E27FC236}">
                <a16:creationId xmlns:a16="http://schemas.microsoft.com/office/drawing/2014/main" id="{7FC4FF92-130F-BB41-8C2E-AD6E35A5EFB3}"/>
              </a:ext>
            </a:extLst>
          </p:cNvPr>
          <p:cNvSpPr/>
          <p:nvPr/>
        </p:nvSpPr>
        <p:spPr>
          <a:xfrm>
            <a:off x="6738892" y="3156584"/>
            <a:ext cx="843605" cy="1003436"/>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sp>
        <p:nvSpPr>
          <p:cNvPr id="11" name="Freeform 417">
            <a:extLst>
              <a:ext uri="{FF2B5EF4-FFF2-40B4-BE49-F238E27FC236}">
                <a16:creationId xmlns:a16="http://schemas.microsoft.com/office/drawing/2014/main" id="{86D46BE4-B0DC-6447-9B19-4A15963D6107}"/>
              </a:ext>
            </a:extLst>
          </p:cNvPr>
          <p:cNvSpPr>
            <a:spLocks/>
          </p:cNvSpPr>
          <p:nvPr/>
        </p:nvSpPr>
        <p:spPr bwMode="auto">
          <a:xfrm>
            <a:off x="5455557" y="2226776"/>
            <a:ext cx="1302544" cy="988278"/>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12" name="Group 418">
            <a:extLst>
              <a:ext uri="{FF2B5EF4-FFF2-40B4-BE49-F238E27FC236}">
                <a16:creationId xmlns:a16="http://schemas.microsoft.com/office/drawing/2014/main" id="{B6EA0447-3C72-2546-A182-B18B3204742F}"/>
              </a:ext>
            </a:extLst>
          </p:cNvPr>
          <p:cNvGrpSpPr>
            <a:grpSpLocks/>
          </p:cNvGrpSpPr>
          <p:nvPr/>
        </p:nvGrpSpPr>
        <p:grpSpPr bwMode="auto">
          <a:xfrm>
            <a:off x="5404013" y="3324188"/>
            <a:ext cx="1094184" cy="700088"/>
            <a:chOff x="2889" y="1631"/>
            <a:chExt cx="980" cy="743"/>
          </a:xfrm>
        </p:grpSpPr>
        <p:sp>
          <p:nvSpPr>
            <p:cNvPr id="13" name="Rectangle 419">
              <a:extLst>
                <a:ext uri="{FF2B5EF4-FFF2-40B4-BE49-F238E27FC236}">
                  <a16:creationId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14" name="AutoShape 420">
              <a:extLst>
                <a:ext uri="{FF2B5EF4-FFF2-40B4-BE49-F238E27FC236}">
                  <a16:creationId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fontAlgn="auto" hangingPunct="1">
                <a:lnSpc>
                  <a:spcPct val="100000"/>
                </a:lnSpc>
                <a:spcBef>
                  <a:spcPct val="0"/>
                </a:spcBef>
                <a:spcAft>
                  <a:spcPts val="0"/>
                </a:spcAft>
                <a:buClrTx/>
                <a:buSzTx/>
                <a:buNone/>
                <a:defRPr/>
              </a:pPr>
              <a:endParaRPr lang="en-US" altLang="en-US" sz="1800">
                <a:solidFill>
                  <a:srgbClr val="00CCFF"/>
                </a:solidFill>
                <a:latin typeface="Arial" panose="020B0604020202020204" pitchFamily="34" charset="0"/>
              </a:endParaRPr>
            </a:p>
          </p:txBody>
        </p:sp>
      </p:grpSp>
      <p:sp>
        <p:nvSpPr>
          <p:cNvPr id="15" name="Freeform 427">
            <a:extLst>
              <a:ext uri="{FF2B5EF4-FFF2-40B4-BE49-F238E27FC236}">
                <a16:creationId xmlns:a16="http://schemas.microsoft.com/office/drawing/2014/main" id="{50383F63-A1BE-EE40-9A4A-9521B5B39A87}"/>
              </a:ext>
            </a:extLst>
          </p:cNvPr>
          <p:cNvSpPr>
            <a:spLocks/>
          </p:cNvSpPr>
          <p:nvPr/>
        </p:nvSpPr>
        <p:spPr bwMode="auto">
          <a:xfrm>
            <a:off x="5784301" y="4369601"/>
            <a:ext cx="2309813" cy="1248966"/>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16" name="Text Box 580">
            <a:extLst>
              <a:ext uri="{FF2B5EF4-FFF2-40B4-BE49-F238E27FC236}">
                <a16:creationId xmlns:a16="http://schemas.microsoft.com/office/drawing/2014/main" id="{68F39DC6-82AA-494B-BF8C-3328A3504C38}"/>
              </a:ext>
            </a:extLst>
          </p:cNvPr>
          <p:cNvSpPr txBox="1">
            <a:spLocks noChangeArrowheads="1"/>
          </p:cNvSpPr>
          <p:nvPr/>
        </p:nvSpPr>
        <p:spPr bwMode="auto">
          <a:xfrm>
            <a:off x="5759456" y="1973596"/>
            <a:ext cx="104868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r>
              <a:rPr lang="en-US" altLang="en-US" sz="1050" dirty="0">
                <a:solidFill>
                  <a:prstClr val="black"/>
                </a:solidFill>
                <a:latin typeface="Calibri" panose="020F0502020204030204"/>
              </a:rPr>
              <a:t>mobile network</a:t>
            </a:r>
          </a:p>
        </p:txBody>
      </p:sp>
      <p:sp>
        <p:nvSpPr>
          <p:cNvPr id="17" name="Text Box 580">
            <a:extLst>
              <a:ext uri="{FF2B5EF4-FFF2-40B4-BE49-F238E27FC236}">
                <a16:creationId xmlns:a16="http://schemas.microsoft.com/office/drawing/2014/main" id="{4FAF1075-A726-A74C-A102-E55EF3041A0B}"/>
              </a:ext>
            </a:extLst>
          </p:cNvPr>
          <p:cNvSpPr txBox="1">
            <a:spLocks noChangeArrowheads="1"/>
          </p:cNvSpPr>
          <p:nvPr/>
        </p:nvSpPr>
        <p:spPr bwMode="auto">
          <a:xfrm>
            <a:off x="5498126" y="4001192"/>
            <a:ext cx="1466735" cy="22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80000"/>
              </a:lnSpc>
              <a:spcBef>
                <a:spcPct val="0"/>
              </a:spcBef>
              <a:spcAft>
                <a:spcPts val="0"/>
              </a:spcAft>
              <a:buClrTx/>
              <a:buSzTx/>
              <a:buNone/>
              <a:defRPr/>
            </a:pPr>
            <a:r>
              <a:rPr lang="en-US" altLang="en-US" sz="1050" dirty="0">
                <a:solidFill>
                  <a:prstClr val="black"/>
                </a:solidFill>
                <a:latin typeface="Calibri" panose="020F0502020204030204"/>
              </a:rPr>
              <a:t>home network</a:t>
            </a:r>
          </a:p>
        </p:txBody>
      </p:sp>
      <p:sp>
        <p:nvSpPr>
          <p:cNvPr id="19" name="Text Box 580">
            <a:extLst>
              <a:ext uri="{FF2B5EF4-FFF2-40B4-BE49-F238E27FC236}">
                <a16:creationId xmlns:a16="http://schemas.microsoft.com/office/drawing/2014/main" id="{18D63BA9-A80C-3C4E-951E-EC3E6277A653}"/>
              </a:ext>
            </a:extLst>
          </p:cNvPr>
          <p:cNvSpPr txBox="1">
            <a:spLocks noChangeArrowheads="1"/>
          </p:cNvSpPr>
          <p:nvPr/>
        </p:nvSpPr>
        <p:spPr bwMode="auto">
          <a:xfrm>
            <a:off x="5480181" y="5192082"/>
            <a:ext cx="946093" cy="3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80000"/>
              </a:lnSpc>
              <a:spcBef>
                <a:spcPct val="0"/>
              </a:spcBef>
              <a:spcAft>
                <a:spcPts val="0"/>
              </a:spcAft>
              <a:buClrTx/>
              <a:buSzTx/>
              <a:buNone/>
              <a:defRPr/>
            </a:pPr>
            <a:r>
              <a:rPr lang="en-US" altLang="en-US" sz="1050" dirty="0">
                <a:solidFill>
                  <a:prstClr val="black"/>
                </a:solidFill>
                <a:latin typeface="Calibri" panose="020F0502020204030204"/>
              </a:rPr>
              <a:t>enterprise</a:t>
            </a:r>
          </a:p>
          <a:p>
            <a:pPr eaLnBrk="1" fontAlgn="auto" hangingPunct="1">
              <a:lnSpc>
                <a:spcPct val="80000"/>
              </a:lnSpc>
              <a:spcBef>
                <a:spcPct val="0"/>
              </a:spcBef>
              <a:spcAft>
                <a:spcPts val="0"/>
              </a:spcAft>
              <a:buClrTx/>
              <a:buSzTx/>
              <a:buNone/>
              <a:defRPr/>
            </a:pPr>
            <a:r>
              <a:rPr lang="en-US" altLang="en-US" sz="1050" dirty="0">
                <a:solidFill>
                  <a:prstClr val="black"/>
                </a:solidFill>
                <a:latin typeface="Calibri" panose="020F0502020204030204"/>
              </a:rPr>
              <a:t>          network</a:t>
            </a:r>
          </a:p>
        </p:txBody>
      </p:sp>
      <p:sp>
        <p:nvSpPr>
          <p:cNvPr id="20" name="Freeform 19">
            <a:extLst>
              <a:ext uri="{FF2B5EF4-FFF2-40B4-BE49-F238E27FC236}">
                <a16:creationId xmlns:a16="http://schemas.microsoft.com/office/drawing/2014/main" id="{21C1BA4F-9694-604C-B41C-E527BFD0B4FC}"/>
              </a:ext>
            </a:extLst>
          </p:cNvPr>
          <p:cNvSpPr/>
          <p:nvPr/>
        </p:nvSpPr>
        <p:spPr>
          <a:xfrm>
            <a:off x="7666610" y="3241905"/>
            <a:ext cx="954875" cy="1451811"/>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grpSp>
        <p:nvGrpSpPr>
          <p:cNvPr id="21" name="Group 20">
            <a:extLst>
              <a:ext uri="{FF2B5EF4-FFF2-40B4-BE49-F238E27FC236}">
                <a16:creationId xmlns:a16="http://schemas.microsoft.com/office/drawing/2014/main" id="{09D929D7-3426-7545-8640-DC8E2ED95FB9}"/>
              </a:ext>
            </a:extLst>
          </p:cNvPr>
          <p:cNvGrpSpPr/>
          <p:nvPr/>
        </p:nvGrpSpPr>
        <p:grpSpPr>
          <a:xfrm>
            <a:off x="8128275" y="3803288"/>
            <a:ext cx="515545" cy="541161"/>
            <a:chOff x="5203089" y="1751190"/>
            <a:chExt cx="858331" cy="662414"/>
          </a:xfrm>
        </p:grpSpPr>
        <p:sp>
          <p:nvSpPr>
            <p:cNvPr id="22" name="Freeform 21">
              <a:extLst>
                <a:ext uri="{FF2B5EF4-FFF2-40B4-BE49-F238E27FC236}">
                  <a16:creationId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sp>
          <p:nvSpPr>
            <p:cNvPr id="23" name="Freeform 22">
              <a:extLst>
                <a:ext uri="{FF2B5EF4-FFF2-40B4-BE49-F238E27FC236}">
                  <a16:creationId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cxnSp>
          <p:nvCxnSpPr>
            <p:cNvPr id="24" name="Straight Connector 23">
              <a:extLst>
                <a:ext uri="{FF2B5EF4-FFF2-40B4-BE49-F238E27FC236}">
                  <a16:creationId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02066780-DE5E-6740-8BBA-01C995D1619B}"/>
              </a:ext>
            </a:extLst>
          </p:cNvPr>
          <p:cNvGrpSpPr/>
          <p:nvPr/>
        </p:nvGrpSpPr>
        <p:grpSpPr>
          <a:xfrm>
            <a:off x="8078379" y="3252878"/>
            <a:ext cx="445960" cy="486252"/>
            <a:chOff x="5203089" y="1751190"/>
            <a:chExt cx="858331" cy="662414"/>
          </a:xfrm>
        </p:grpSpPr>
        <p:sp>
          <p:nvSpPr>
            <p:cNvPr id="31" name="Freeform 30">
              <a:extLst>
                <a:ext uri="{FF2B5EF4-FFF2-40B4-BE49-F238E27FC236}">
                  <a16:creationId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sp>
          <p:nvSpPr>
            <p:cNvPr id="32" name="Freeform 31">
              <a:extLst>
                <a:ext uri="{FF2B5EF4-FFF2-40B4-BE49-F238E27FC236}">
                  <a16:creationId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cxnSp>
          <p:nvCxnSpPr>
            <p:cNvPr id="33" name="Straight Connector 32">
              <a:extLst>
                <a:ext uri="{FF2B5EF4-FFF2-40B4-BE49-F238E27FC236}">
                  <a16:creationId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id="{717B1C14-4D36-EF4F-A926-BBBD98456BEE}"/>
              </a:ext>
            </a:extLst>
          </p:cNvPr>
          <p:cNvSpPr/>
          <p:nvPr/>
        </p:nvSpPr>
        <p:spPr>
          <a:xfrm>
            <a:off x="7155610" y="2193782"/>
            <a:ext cx="1123398" cy="1039841"/>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sp>
        <p:nvSpPr>
          <p:cNvPr id="40" name="TextBox 39">
            <a:extLst>
              <a:ext uri="{FF2B5EF4-FFF2-40B4-BE49-F238E27FC236}">
                <a16:creationId xmlns:a16="http://schemas.microsoft.com/office/drawing/2014/main" id="{E13F2107-1C9A-0C41-B24A-0671CC60D47A}"/>
              </a:ext>
            </a:extLst>
          </p:cNvPr>
          <p:cNvSpPr txBox="1"/>
          <p:nvPr/>
        </p:nvSpPr>
        <p:spPr>
          <a:xfrm>
            <a:off x="7070401" y="2245647"/>
            <a:ext cx="1334020" cy="237757"/>
          </a:xfrm>
          <a:prstGeom prst="rect">
            <a:avLst/>
          </a:prstGeom>
          <a:noFill/>
        </p:spPr>
        <p:txBody>
          <a:bodyPr wrap="none" rtlCol="0">
            <a:spAutoFit/>
          </a:bodyPr>
          <a:lstStyle/>
          <a:p>
            <a:pPr eaLnBrk="1" fontAlgn="auto" hangingPunct="1">
              <a:lnSpc>
                <a:spcPct val="90000"/>
              </a:lnSpc>
              <a:spcBef>
                <a:spcPts val="0"/>
              </a:spcBef>
              <a:spcAft>
                <a:spcPts val="0"/>
              </a:spcAft>
              <a:defRPr/>
            </a:pPr>
            <a:r>
              <a:rPr lang="en-US" sz="1050" dirty="0">
                <a:solidFill>
                  <a:prstClr val="black"/>
                </a:solidFill>
                <a:latin typeface="Calibri" panose="020F0502020204030204"/>
                <a:ea typeface="+mn-ea"/>
              </a:rPr>
              <a:t>national or global ISP</a:t>
            </a:r>
          </a:p>
        </p:txBody>
      </p:sp>
      <p:sp>
        <p:nvSpPr>
          <p:cNvPr id="41" name="Rectangle 40">
            <a:extLst>
              <a:ext uri="{FF2B5EF4-FFF2-40B4-BE49-F238E27FC236}">
                <a16:creationId xmlns:a16="http://schemas.microsoft.com/office/drawing/2014/main" id="{4E6D405D-F88D-A643-A8DA-87BCB5348C5C}"/>
              </a:ext>
            </a:extLst>
          </p:cNvPr>
          <p:cNvSpPr/>
          <p:nvPr/>
        </p:nvSpPr>
        <p:spPr>
          <a:xfrm>
            <a:off x="6959301" y="3615682"/>
            <a:ext cx="229312" cy="148385"/>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42" name="TextBox 41">
            <a:extLst>
              <a:ext uri="{FF2B5EF4-FFF2-40B4-BE49-F238E27FC236}">
                <a16:creationId xmlns:a16="http://schemas.microsoft.com/office/drawing/2014/main" id="{ED05228A-100C-D643-BB8E-545E51741FBA}"/>
              </a:ext>
            </a:extLst>
          </p:cNvPr>
          <p:cNvSpPr txBox="1"/>
          <p:nvPr/>
        </p:nvSpPr>
        <p:spPr>
          <a:xfrm>
            <a:off x="6574622" y="3443189"/>
            <a:ext cx="780479" cy="528606"/>
          </a:xfrm>
          <a:prstGeom prst="rect">
            <a:avLst/>
          </a:prstGeom>
          <a:noFill/>
        </p:spPr>
        <p:txBody>
          <a:bodyPr wrap="square" rtlCol="0">
            <a:spAutoFit/>
          </a:bodyPr>
          <a:lstStyle/>
          <a:p>
            <a:pPr eaLnBrk="1" fontAlgn="auto" hangingPunct="1">
              <a:lnSpc>
                <a:spcPct val="90000"/>
              </a:lnSpc>
              <a:spcBef>
                <a:spcPts val="0"/>
              </a:spcBef>
              <a:spcAft>
                <a:spcPts val="0"/>
              </a:spcAft>
              <a:defRPr/>
            </a:pPr>
            <a:r>
              <a:rPr lang="en-US" sz="1050" dirty="0">
                <a:solidFill>
                  <a:prstClr val="black"/>
                </a:solidFill>
                <a:latin typeface="Calibri" panose="020F0502020204030204"/>
                <a:ea typeface="+mn-ea"/>
              </a:rPr>
              <a:t>local or regional ISP</a:t>
            </a:r>
          </a:p>
        </p:txBody>
      </p:sp>
      <p:sp>
        <p:nvSpPr>
          <p:cNvPr id="43" name="TextBox 42">
            <a:extLst>
              <a:ext uri="{FF2B5EF4-FFF2-40B4-BE49-F238E27FC236}">
                <a16:creationId xmlns:a16="http://schemas.microsoft.com/office/drawing/2014/main" id="{795F625F-E4CA-A14C-BDB7-680FDFE6EE1F}"/>
              </a:ext>
            </a:extLst>
          </p:cNvPr>
          <p:cNvSpPr txBox="1"/>
          <p:nvPr/>
        </p:nvSpPr>
        <p:spPr>
          <a:xfrm>
            <a:off x="8188325" y="4365703"/>
            <a:ext cx="654346" cy="310598"/>
          </a:xfrm>
          <a:prstGeom prst="rect">
            <a:avLst/>
          </a:prstGeom>
          <a:noFill/>
        </p:spPr>
        <p:txBody>
          <a:bodyPr wrap="none" rtlCol="0">
            <a:spAutoFit/>
          </a:bodyPr>
          <a:lstStyle/>
          <a:p>
            <a:pPr eaLnBrk="1" fontAlgn="auto" hangingPunct="1">
              <a:lnSpc>
                <a:spcPct val="90000"/>
              </a:lnSpc>
              <a:spcBef>
                <a:spcPts val="0"/>
              </a:spcBef>
              <a:spcAft>
                <a:spcPts val="0"/>
              </a:spcAft>
              <a:defRPr/>
            </a:pPr>
            <a:r>
              <a:rPr lang="en-US" sz="788" dirty="0">
                <a:solidFill>
                  <a:prstClr val="black"/>
                </a:solidFill>
                <a:latin typeface="Calibri" panose="020F0502020204030204"/>
                <a:ea typeface="+mn-ea"/>
              </a:rPr>
              <a:t>datacenter </a:t>
            </a:r>
          </a:p>
          <a:p>
            <a:pPr eaLnBrk="1" fontAlgn="auto" hangingPunct="1">
              <a:lnSpc>
                <a:spcPct val="90000"/>
              </a:lnSpc>
              <a:spcBef>
                <a:spcPts val="0"/>
              </a:spcBef>
              <a:spcAft>
                <a:spcPts val="0"/>
              </a:spcAft>
              <a:defRPr/>
            </a:pPr>
            <a:r>
              <a:rPr lang="en-US" sz="788" dirty="0">
                <a:solidFill>
                  <a:prstClr val="black"/>
                </a:solidFill>
                <a:latin typeface="Calibri" panose="020F0502020204030204"/>
                <a:ea typeface="+mn-ea"/>
              </a:rPr>
              <a:t>network</a:t>
            </a:r>
          </a:p>
        </p:txBody>
      </p:sp>
      <p:sp>
        <p:nvSpPr>
          <p:cNvPr id="44" name="TextBox 43">
            <a:extLst>
              <a:ext uri="{FF2B5EF4-FFF2-40B4-BE49-F238E27FC236}">
                <a16:creationId xmlns:a16="http://schemas.microsoft.com/office/drawing/2014/main" id="{75188F4C-A928-8F4F-9205-FD6C4D77CC8D}"/>
              </a:ext>
            </a:extLst>
          </p:cNvPr>
          <p:cNvSpPr txBox="1"/>
          <p:nvPr/>
        </p:nvSpPr>
        <p:spPr>
          <a:xfrm>
            <a:off x="7547264" y="4028436"/>
            <a:ext cx="678391" cy="528606"/>
          </a:xfrm>
          <a:prstGeom prst="rect">
            <a:avLst/>
          </a:prstGeom>
          <a:noFill/>
        </p:spPr>
        <p:txBody>
          <a:bodyPr wrap="none" rtlCol="0">
            <a:spAutoFit/>
          </a:bodyPr>
          <a:lstStyle/>
          <a:p>
            <a:pPr eaLnBrk="1" fontAlgn="auto" hangingPunct="1">
              <a:lnSpc>
                <a:spcPct val="90000"/>
              </a:lnSpc>
              <a:spcBef>
                <a:spcPts val="0"/>
              </a:spcBef>
              <a:spcAft>
                <a:spcPts val="0"/>
              </a:spcAft>
              <a:defRPr/>
            </a:pPr>
            <a:r>
              <a:rPr lang="en-US" sz="1050" dirty="0">
                <a:solidFill>
                  <a:prstClr val="black"/>
                </a:solidFill>
                <a:latin typeface="Calibri" panose="020F0502020204030204"/>
                <a:ea typeface="+mn-ea"/>
              </a:rPr>
              <a:t>content </a:t>
            </a:r>
          </a:p>
          <a:p>
            <a:pPr eaLnBrk="1" fontAlgn="auto" hangingPunct="1">
              <a:lnSpc>
                <a:spcPct val="90000"/>
              </a:lnSpc>
              <a:spcBef>
                <a:spcPts val="0"/>
              </a:spcBef>
              <a:spcAft>
                <a:spcPts val="0"/>
              </a:spcAft>
              <a:defRPr/>
            </a:pPr>
            <a:r>
              <a:rPr lang="en-US" sz="1050" dirty="0">
                <a:solidFill>
                  <a:prstClr val="black"/>
                </a:solidFill>
                <a:latin typeface="Calibri" panose="020F0502020204030204"/>
                <a:ea typeface="+mn-ea"/>
              </a:rPr>
              <a:t>provider </a:t>
            </a:r>
          </a:p>
          <a:p>
            <a:pPr eaLnBrk="1" fontAlgn="auto" hangingPunct="1">
              <a:lnSpc>
                <a:spcPct val="90000"/>
              </a:lnSpc>
              <a:spcBef>
                <a:spcPts val="0"/>
              </a:spcBef>
              <a:spcAft>
                <a:spcPts val="0"/>
              </a:spcAft>
              <a:defRPr/>
            </a:pPr>
            <a:r>
              <a:rPr lang="en-US" sz="1050" dirty="0">
                <a:solidFill>
                  <a:prstClr val="black"/>
                </a:solidFill>
                <a:latin typeface="Calibri" panose="020F0502020204030204"/>
                <a:ea typeface="+mn-ea"/>
              </a:rPr>
              <a:t>network</a:t>
            </a:r>
            <a:endParaRPr lang="en-US" sz="750" dirty="0">
              <a:solidFill>
                <a:prstClr val="black"/>
              </a:solidFill>
              <a:latin typeface="Calibri" panose="020F0502020204030204"/>
              <a:ea typeface="+mn-ea"/>
            </a:endParaRPr>
          </a:p>
        </p:txBody>
      </p:sp>
      <p:cxnSp>
        <p:nvCxnSpPr>
          <p:cNvPr id="45" name="Straight Connector 44">
            <a:extLst>
              <a:ext uri="{FF2B5EF4-FFF2-40B4-BE49-F238E27FC236}">
                <a16:creationId xmlns:a16="http://schemas.microsoft.com/office/drawing/2014/main" id="{959284F2-2C3E-6B49-83BE-150EADA93824}"/>
              </a:ext>
            </a:extLst>
          </p:cNvPr>
          <p:cNvCxnSpPr>
            <a:cxnSpLocks/>
          </p:cNvCxnSpPr>
          <p:nvPr/>
        </p:nvCxnSpPr>
        <p:spPr>
          <a:xfrm flipH="1" flipV="1">
            <a:off x="7919940" y="3542344"/>
            <a:ext cx="309723" cy="477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AEFAB6-4248-8846-A79A-BF9D6164DE76}"/>
              </a:ext>
            </a:extLst>
          </p:cNvPr>
          <p:cNvCxnSpPr>
            <a:cxnSpLocks/>
          </p:cNvCxnSpPr>
          <p:nvPr/>
        </p:nvCxnSpPr>
        <p:spPr>
          <a:xfrm flipH="1" flipV="1">
            <a:off x="7995626" y="3587764"/>
            <a:ext cx="259400" cy="5542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0D3269-0EC2-2640-AC07-B881868275F8}"/>
              </a:ext>
            </a:extLst>
          </p:cNvPr>
          <p:cNvCxnSpPr>
            <a:cxnSpLocks/>
          </p:cNvCxnSpPr>
          <p:nvPr/>
        </p:nvCxnSpPr>
        <p:spPr>
          <a:xfrm flipV="1">
            <a:off x="7977673" y="3582316"/>
            <a:ext cx="251990" cy="2965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63C34A0-4725-C44D-9514-4F74B2157D8C}"/>
              </a:ext>
            </a:extLst>
          </p:cNvPr>
          <p:cNvCxnSpPr>
            <a:cxnSpLocks/>
          </p:cNvCxnSpPr>
          <p:nvPr/>
        </p:nvCxnSpPr>
        <p:spPr>
          <a:xfrm flipH="1" flipV="1">
            <a:off x="7928081" y="3553422"/>
            <a:ext cx="1" cy="3643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0311E5-76D3-2C44-A6A8-22CB01ADCF02}"/>
              </a:ext>
            </a:extLst>
          </p:cNvPr>
          <p:cNvCxnSpPr>
            <a:cxnSpLocks/>
          </p:cNvCxnSpPr>
          <p:nvPr/>
        </p:nvCxnSpPr>
        <p:spPr>
          <a:xfrm flipH="1" flipV="1">
            <a:off x="7912966" y="3910982"/>
            <a:ext cx="381407" cy="2614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939BF82-EFED-E140-BFC2-23D3688C2CB7}"/>
              </a:ext>
            </a:extLst>
          </p:cNvPr>
          <p:cNvCxnSpPr>
            <a:cxnSpLocks/>
          </p:cNvCxnSpPr>
          <p:nvPr/>
        </p:nvCxnSpPr>
        <p:spPr>
          <a:xfrm flipH="1">
            <a:off x="7421397" y="3923057"/>
            <a:ext cx="4915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E47AF2-94A8-0243-8795-936020048815}"/>
              </a:ext>
            </a:extLst>
          </p:cNvPr>
          <p:cNvCxnSpPr>
            <a:cxnSpLocks/>
          </p:cNvCxnSpPr>
          <p:nvPr/>
        </p:nvCxnSpPr>
        <p:spPr>
          <a:xfrm flipH="1">
            <a:off x="6914712" y="3923057"/>
            <a:ext cx="4915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D648A8C-238E-7045-A29E-EDD4DA54C3A4}"/>
              </a:ext>
            </a:extLst>
          </p:cNvPr>
          <p:cNvCxnSpPr>
            <a:cxnSpLocks/>
          </p:cNvCxnSpPr>
          <p:nvPr/>
        </p:nvCxnSpPr>
        <p:spPr>
          <a:xfrm flipH="1">
            <a:off x="6957651" y="3488004"/>
            <a:ext cx="286818" cy="3877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AD327-3BC9-7D46-A7E7-D0F90B60A252}"/>
              </a:ext>
            </a:extLst>
          </p:cNvPr>
          <p:cNvCxnSpPr>
            <a:cxnSpLocks/>
          </p:cNvCxnSpPr>
          <p:nvPr/>
        </p:nvCxnSpPr>
        <p:spPr>
          <a:xfrm>
            <a:off x="7299802" y="3488004"/>
            <a:ext cx="0" cy="4052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7C26C3-84F1-C149-AC22-6F1EB6629DA9}"/>
              </a:ext>
            </a:extLst>
          </p:cNvPr>
          <p:cNvCxnSpPr/>
          <p:nvPr/>
        </p:nvCxnSpPr>
        <p:spPr>
          <a:xfrm>
            <a:off x="7603251" y="2923269"/>
            <a:ext cx="366131" cy="629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05EFE-FD3D-3C4D-8F4F-0AC6B112D1A2}"/>
              </a:ext>
            </a:extLst>
          </p:cNvPr>
          <p:cNvCxnSpPr>
            <a:cxnSpLocks/>
          </p:cNvCxnSpPr>
          <p:nvPr/>
        </p:nvCxnSpPr>
        <p:spPr>
          <a:xfrm flipH="1">
            <a:off x="7349039" y="2878510"/>
            <a:ext cx="285324" cy="52110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CCC39A38-643E-1841-84E4-48B68DB2ED03}"/>
              </a:ext>
            </a:extLst>
          </p:cNvPr>
          <p:cNvGrpSpPr/>
          <p:nvPr/>
        </p:nvGrpSpPr>
        <p:grpSpPr>
          <a:xfrm>
            <a:off x="5671679" y="2452744"/>
            <a:ext cx="2684150" cy="2730212"/>
            <a:chOff x="7562238" y="2127325"/>
            <a:chExt cx="3578867" cy="3640283"/>
          </a:xfrm>
        </p:grpSpPr>
        <p:grpSp>
          <p:nvGrpSpPr>
            <p:cNvPr id="57" name="Group 56">
              <a:extLst>
                <a:ext uri="{FF2B5EF4-FFF2-40B4-BE49-F238E27FC236}">
                  <a16:creationId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3" name="Line 430">
                <a:extLst>
                  <a:ext uri="{FF2B5EF4-FFF2-40B4-BE49-F238E27FC236}">
                    <a16:creationId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4" name="Line 431">
                <a:extLst>
                  <a:ext uri="{FF2B5EF4-FFF2-40B4-BE49-F238E27FC236}">
                    <a16:creationId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5" name="Line 432">
                <a:extLst>
                  <a:ext uri="{FF2B5EF4-FFF2-40B4-BE49-F238E27FC236}">
                    <a16:creationId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6" name="Line 433">
                <a:extLst>
                  <a:ext uri="{FF2B5EF4-FFF2-40B4-BE49-F238E27FC236}">
                    <a16:creationId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7" name="Line 435">
                <a:extLst>
                  <a:ext uri="{FF2B5EF4-FFF2-40B4-BE49-F238E27FC236}">
                    <a16:creationId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68" name="Line 436">
                <a:extLst>
                  <a:ext uri="{FF2B5EF4-FFF2-40B4-BE49-F238E27FC236}">
                    <a16:creationId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9" name="Line 439">
                <a:extLst>
                  <a:ext uri="{FF2B5EF4-FFF2-40B4-BE49-F238E27FC236}">
                    <a16:creationId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0" name="Line 440">
                <a:extLst>
                  <a:ext uri="{FF2B5EF4-FFF2-40B4-BE49-F238E27FC236}">
                    <a16:creationId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1" name="Line 441">
                <a:extLst>
                  <a:ext uri="{FF2B5EF4-FFF2-40B4-BE49-F238E27FC236}">
                    <a16:creationId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2" name="Line 443">
                <a:extLst>
                  <a:ext uri="{FF2B5EF4-FFF2-40B4-BE49-F238E27FC236}">
                    <a16:creationId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3" name="Line 449">
                <a:extLst>
                  <a:ext uri="{FF2B5EF4-FFF2-40B4-BE49-F238E27FC236}">
                    <a16:creationId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4" name="Line 428">
                <a:extLst>
                  <a:ext uri="{FF2B5EF4-FFF2-40B4-BE49-F238E27FC236}">
                    <a16:creationId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5" name="Line 440">
                <a:extLst>
                  <a:ext uri="{FF2B5EF4-FFF2-40B4-BE49-F238E27FC236}">
                    <a16:creationId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cxnSp>
            <p:nvCxnSpPr>
              <p:cNvPr id="76" name="Straight Connector 75">
                <a:extLst>
                  <a:ext uri="{FF2B5EF4-FFF2-40B4-BE49-F238E27FC236}">
                    <a16:creationId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85" name="Line 424">
                <a:extLst>
                  <a:ext uri="{FF2B5EF4-FFF2-40B4-BE49-F238E27FC236}">
                    <a16:creationId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pic>
          <p:nvPicPr>
            <p:cNvPr id="58" name="Picture 778" descr="antenna_radiation_stylized">
              <a:extLst>
                <a:ext uri="{FF2B5EF4-FFF2-40B4-BE49-F238E27FC236}">
                  <a16:creationId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id="{58D0D77F-41BF-B141-99CC-7444770200B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86" name="Line 426">
            <a:extLst>
              <a:ext uri="{FF2B5EF4-FFF2-40B4-BE49-F238E27FC236}">
                <a16:creationId xmlns:a16="http://schemas.microsoft.com/office/drawing/2014/main" id="{390C81B6-E64F-6D4C-8D06-8F1804B7F591}"/>
              </a:ext>
            </a:extLst>
          </p:cNvPr>
          <p:cNvSpPr>
            <a:spLocks noChangeShapeType="1"/>
          </p:cNvSpPr>
          <p:nvPr/>
        </p:nvSpPr>
        <p:spPr bwMode="auto">
          <a:xfrm>
            <a:off x="6155895" y="2882519"/>
            <a:ext cx="170973" cy="1307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87" name="Group 783">
            <a:extLst>
              <a:ext uri="{FF2B5EF4-FFF2-40B4-BE49-F238E27FC236}">
                <a16:creationId xmlns:a16="http://schemas.microsoft.com/office/drawing/2014/main" id="{D14ED3CD-0929-5445-B9CD-FC1AEB08F0F0}"/>
              </a:ext>
            </a:extLst>
          </p:cNvPr>
          <p:cNvGrpSpPr>
            <a:grpSpLocks/>
          </p:cNvGrpSpPr>
          <p:nvPr/>
        </p:nvGrpSpPr>
        <p:grpSpPr bwMode="auto">
          <a:xfrm>
            <a:off x="6038023" y="2589282"/>
            <a:ext cx="223838" cy="348006"/>
            <a:chOff x="3130" y="3288"/>
            <a:chExt cx="410" cy="742"/>
          </a:xfrm>
        </p:grpSpPr>
        <p:sp>
          <p:nvSpPr>
            <p:cNvPr id="88" name="Line 270">
              <a:extLst>
                <a:ext uri="{FF2B5EF4-FFF2-40B4-BE49-F238E27FC236}">
                  <a16:creationId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89" name="Line 271">
              <a:extLst>
                <a:ext uri="{FF2B5EF4-FFF2-40B4-BE49-F238E27FC236}">
                  <a16:creationId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0" name="Line 272">
              <a:extLst>
                <a:ext uri="{FF2B5EF4-FFF2-40B4-BE49-F238E27FC236}">
                  <a16:creationId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1" name="Line 273">
              <a:extLst>
                <a:ext uri="{FF2B5EF4-FFF2-40B4-BE49-F238E27FC236}">
                  <a16:creationId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2" name="Line 274">
              <a:extLst>
                <a:ext uri="{FF2B5EF4-FFF2-40B4-BE49-F238E27FC236}">
                  <a16:creationId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3" name="Line 275">
              <a:extLst>
                <a:ext uri="{FF2B5EF4-FFF2-40B4-BE49-F238E27FC236}">
                  <a16:creationId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4" name="Line 276">
              <a:extLst>
                <a:ext uri="{FF2B5EF4-FFF2-40B4-BE49-F238E27FC236}">
                  <a16:creationId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5" name="Line 277">
              <a:extLst>
                <a:ext uri="{FF2B5EF4-FFF2-40B4-BE49-F238E27FC236}">
                  <a16:creationId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6" name="Line 278">
              <a:extLst>
                <a:ext uri="{FF2B5EF4-FFF2-40B4-BE49-F238E27FC236}">
                  <a16:creationId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7" name="Line 279">
              <a:extLst>
                <a:ext uri="{FF2B5EF4-FFF2-40B4-BE49-F238E27FC236}">
                  <a16:creationId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8" name="Line 280">
              <a:extLst>
                <a:ext uri="{FF2B5EF4-FFF2-40B4-BE49-F238E27FC236}">
                  <a16:creationId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9" name="Line 281">
              <a:extLst>
                <a:ext uri="{FF2B5EF4-FFF2-40B4-BE49-F238E27FC236}">
                  <a16:creationId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100" name="Line 282">
              <a:extLst>
                <a:ext uri="{FF2B5EF4-FFF2-40B4-BE49-F238E27FC236}">
                  <a16:creationId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101" name="Line 283">
              <a:extLst>
                <a:ext uri="{FF2B5EF4-FFF2-40B4-BE49-F238E27FC236}">
                  <a16:creationId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102" name="Line 284">
              <a:extLst>
                <a:ext uri="{FF2B5EF4-FFF2-40B4-BE49-F238E27FC236}">
                  <a16:creationId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pic>
        <p:nvPicPr>
          <p:cNvPr id="103" name="Picture 777" descr="access_point_stylized_small">
            <a:extLst>
              <a:ext uri="{FF2B5EF4-FFF2-40B4-BE49-F238E27FC236}">
                <a16:creationId xmlns:a16="http://schemas.microsoft.com/office/drawing/2014/main" id="{B5B19229-5990-4C46-B116-F6E2FC9344A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10412" y="3753675"/>
            <a:ext cx="277627" cy="23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id="{615B9139-7B73-FE46-A7A9-D06CDC313A8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67958" y="5000424"/>
            <a:ext cx="285701" cy="238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 name="Group 104">
            <a:extLst>
              <a:ext uri="{FF2B5EF4-FFF2-40B4-BE49-F238E27FC236}">
                <a16:creationId xmlns:a16="http://schemas.microsoft.com/office/drawing/2014/main" id="{EEFE641A-589B-7942-BC31-34CA4265ECA8}"/>
              </a:ext>
            </a:extLst>
          </p:cNvPr>
          <p:cNvGrpSpPr/>
          <p:nvPr/>
        </p:nvGrpSpPr>
        <p:grpSpPr>
          <a:xfrm>
            <a:off x="7337669" y="4599737"/>
            <a:ext cx="295320" cy="163934"/>
            <a:chOff x="7493876" y="2774731"/>
            <a:chExt cx="1481958" cy="894622"/>
          </a:xfrm>
        </p:grpSpPr>
        <p:sp>
          <p:nvSpPr>
            <p:cNvPr id="106" name="Freeform 105">
              <a:extLst>
                <a:ext uri="{FF2B5EF4-FFF2-40B4-BE49-F238E27FC236}">
                  <a16:creationId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07" name="Oval 106">
              <a:extLst>
                <a:ext uri="{FF2B5EF4-FFF2-40B4-BE49-F238E27FC236}">
                  <a16:creationId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08" name="Group 107">
              <a:extLst>
                <a:ext uri="{FF2B5EF4-FFF2-40B4-BE49-F238E27FC236}">
                  <a16:creationId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0" name="Freeform 109">
                <a:extLst>
                  <a:ext uri="{FF2B5EF4-FFF2-40B4-BE49-F238E27FC236}">
                    <a16:creationId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1" name="Freeform 110">
                <a:extLst>
                  <a:ext uri="{FF2B5EF4-FFF2-40B4-BE49-F238E27FC236}">
                    <a16:creationId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2" name="Freeform 111">
                <a:extLst>
                  <a:ext uri="{FF2B5EF4-FFF2-40B4-BE49-F238E27FC236}">
                    <a16:creationId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13" name="Group 112">
            <a:extLst>
              <a:ext uri="{FF2B5EF4-FFF2-40B4-BE49-F238E27FC236}">
                <a16:creationId xmlns:a16="http://schemas.microsoft.com/office/drawing/2014/main" id="{827C4B55-0BAE-0949-8777-F3099C171813}"/>
              </a:ext>
            </a:extLst>
          </p:cNvPr>
          <p:cNvGrpSpPr/>
          <p:nvPr/>
        </p:nvGrpSpPr>
        <p:grpSpPr>
          <a:xfrm>
            <a:off x="7387024" y="4861528"/>
            <a:ext cx="232305" cy="143129"/>
            <a:chOff x="3668110" y="2448910"/>
            <a:chExt cx="3794234" cy="2165130"/>
          </a:xfrm>
        </p:grpSpPr>
        <p:sp>
          <p:nvSpPr>
            <p:cNvPr id="114" name="Rectangle 113">
              <a:extLst>
                <a:ext uri="{FF2B5EF4-FFF2-40B4-BE49-F238E27FC236}">
                  <a16:creationId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5" name="Freeform 114">
              <a:extLst>
                <a:ext uri="{FF2B5EF4-FFF2-40B4-BE49-F238E27FC236}">
                  <a16:creationId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nvGrpSpPr>
            <p:cNvPr id="116" name="Group 115">
              <a:extLst>
                <a:ext uri="{FF2B5EF4-FFF2-40B4-BE49-F238E27FC236}">
                  <a16:creationId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8" name="Freeform 117">
                <a:extLst>
                  <a:ext uri="{FF2B5EF4-FFF2-40B4-BE49-F238E27FC236}">
                    <a16:creationId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9" name="Freeform 118">
                <a:extLst>
                  <a:ext uri="{FF2B5EF4-FFF2-40B4-BE49-F238E27FC236}">
                    <a16:creationId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0" name="Freeform 119">
                <a:extLst>
                  <a:ext uri="{FF2B5EF4-FFF2-40B4-BE49-F238E27FC236}">
                    <a16:creationId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21" name="Group 120">
            <a:extLst>
              <a:ext uri="{FF2B5EF4-FFF2-40B4-BE49-F238E27FC236}">
                <a16:creationId xmlns:a16="http://schemas.microsoft.com/office/drawing/2014/main" id="{9932E1A1-9866-4149-B71C-D56584CCE488}"/>
              </a:ext>
            </a:extLst>
          </p:cNvPr>
          <p:cNvGrpSpPr/>
          <p:nvPr/>
        </p:nvGrpSpPr>
        <p:grpSpPr>
          <a:xfrm>
            <a:off x="6507464" y="4582815"/>
            <a:ext cx="295320" cy="163934"/>
            <a:chOff x="7493876" y="2774731"/>
            <a:chExt cx="1481958" cy="894622"/>
          </a:xfrm>
        </p:grpSpPr>
        <p:sp>
          <p:nvSpPr>
            <p:cNvPr id="122" name="Freeform 121">
              <a:extLst>
                <a:ext uri="{FF2B5EF4-FFF2-40B4-BE49-F238E27FC236}">
                  <a16:creationId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23" name="Oval 122">
              <a:extLst>
                <a:ext uri="{FF2B5EF4-FFF2-40B4-BE49-F238E27FC236}">
                  <a16:creationId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24" name="Group 123">
              <a:extLst>
                <a:ext uri="{FF2B5EF4-FFF2-40B4-BE49-F238E27FC236}">
                  <a16:creationId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6" name="Freeform 125">
                <a:extLst>
                  <a:ext uri="{FF2B5EF4-FFF2-40B4-BE49-F238E27FC236}">
                    <a16:creationId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7" name="Freeform 126">
                <a:extLst>
                  <a:ext uri="{FF2B5EF4-FFF2-40B4-BE49-F238E27FC236}">
                    <a16:creationId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8" name="Freeform 127">
                <a:extLst>
                  <a:ext uri="{FF2B5EF4-FFF2-40B4-BE49-F238E27FC236}">
                    <a16:creationId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29" name="Group 128">
            <a:extLst>
              <a:ext uri="{FF2B5EF4-FFF2-40B4-BE49-F238E27FC236}">
                <a16:creationId xmlns:a16="http://schemas.microsoft.com/office/drawing/2014/main" id="{0E1D7EA0-6DA2-8D43-8279-78C750CFC172}"/>
              </a:ext>
            </a:extLst>
          </p:cNvPr>
          <p:cNvGrpSpPr/>
          <p:nvPr/>
        </p:nvGrpSpPr>
        <p:grpSpPr>
          <a:xfrm>
            <a:off x="6233640" y="4753075"/>
            <a:ext cx="232305" cy="143129"/>
            <a:chOff x="3668110" y="2448910"/>
            <a:chExt cx="3794234" cy="2165130"/>
          </a:xfrm>
        </p:grpSpPr>
        <p:sp>
          <p:nvSpPr>
            <p:cNvPr id="130" name="Rectangle 129">
              <a:extLst>
                <a:ext uri="{FF2B5EF4-FFF2-40B4-BE49-F238E27FC236}">
                  <a16:creationId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31" name="Freeform 130">
              <a:extLst>
                <a:ext uri="{FF2B5EF4-FFF2-40B4-BE49-F238E27FC236}">
                  <a16:creationId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nvGrpSpPr>
            <p:cNvPr id="132" name="Group 131">
              <a:extLst>
                <a:ext uri="{FF2B5EF4-FFF2-40B4-BE49-F238E27FC236}">
                  <a16:creationId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34" name="Freeform 133">
                <a:extLst>
                  <a:ext uri="{FF2B5EF4-FFF2-40B4-BE49-F238E27FC236}">
                    <a16:creationId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35" name="Freeform 134">
                <a:extLst>
                  <a:ext uri="{FF2B5EF4-FFF2-40B4-BE49-F238E27FC236}">
                    <a16:creationId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36" name="Freeform 135">
                <a:extLst>
                  <a:ext uri="{FF2B5EF4-FFF2-40B4-BE49-F238E27FC236}">
                    <a16:creationId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37" name="Group 136">
            <a:extLst>
              <a:ext uri="{FF2B5EF4-FFF2-40B4-BE49-F238E27FC236}">
                <a16:creationId xmlns:a16="http://schemas.microsoft.com/office/drawing/2014/main" id="{93BC347E-C394-3042-B2F7-B3F23FAEAB95}"/>
              </a:ext>
            </a:extLst>
          </p:cNvPr>
          <p:cNvGrpSpPr/>
          <p:nvPr/>
        </p:nvGrpSpPr>
        <p:grpSpPr>
          <a:xfrm>
            <a:off x="6329870" y="2966482"/>
            <a:ext cx="265259" cy="126206"/>
            <a:chOff x="7493876" y="2774731"/>
            <a:chExt cx="1481958" cy="894622"/>
          </a:xfrm>
        </p:grpSpPr>
        <p:sp>
          <p:nvSpPr>
            <p:cNvPr id="138" name="Freeform 137">
              <a:extLst>
                <a:ext uri="{FF2B5EF4-FFF2-40B4-BE49-F238E27FC236}">
                  <a16:creationId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39" name="Oval 138">
              <a:extLst>
                <a:ext uri="{FF2B5EF4-FFF2-40B4-BE49-F238E27FC236}">
                  <a16:creationId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40" name="Group 139">
              <a:extLst>
                <a:ext uri="{FF2B5EF4-FFF2-40B4-BE49-F238E27FC236}">
                  <a16:creationId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42" name="Freeform 141">
                <a:extLst>
                  <a:ext uri="{FF2B5EF4-FFF2-40B4-BE49-F238E27FC236}">
                    <a16:creationId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43" name="Freeform 142">
                <a:extLst>
                  <a:ext uri="{FF2B5EF4-FFF2-40B4-BE49-F238E27FC236}">
                    <a16:creationId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44" name="Freeform 143">
                <a:extLst>
                  <a:ext uri="{FF2B5EF4-FFF2-40B4-BE49-F238E27FC236}">
                    <a16:creationId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45" name="Group 144">
            <a:extLst>
              <a:ext uri="{FF2B5EF4-FFF2-40B4-BE49-F238E27FC236}">
                <a16:creationId xmlns:a16="http://schemas.microsoft.com/office/drawing/2014/main" id="{8ECEC947-F5C8-414B-A56E-EBE5DFFEDB1C}"/>
              </a:ext>
            </a:extLst>
          </p:cNvPr>
          <p:cNvGrpSpPr/>
          <p:nvPr/>
        </p:nvGrpSpPr>
        <p:grpSpPr>
          <a:xfrm>
            <a:off x="6037552" y="3831746"/>
            <a:ext cx="266240" cy="131751"/>
            <a:chOff x="7493876" y="2774731"/>
            <a:chExt cx="1481958" cy="894622"/>
          </a:xfrm>
        </p:grpSpPr>
        <p:sp>
          <p:nvSpPr>
            <p:cNvPr id="146" name="Freeform 145">
              <a:extLst>
                <a:ext uri="{FF2B5EF4-FFF2-40B4-BE49-F238E27FC236}">
                  <a16:creationId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47" name="Oval 146">
              <a:extLst>
                <a:ext uri="{FF2B5EF4-FFF2-40B4-BE49-F238E27FC236}">
                  <a16:creationId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48" name="Group 147">
              <a:extLst>
                <a:ext uri="{FF2B5EF4-FFF2-40B4-BE49-F238E27FC236}">
                  <a16:creationId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0" name="Freeform 149">
                <a:extLst>
                  <a:ext uri="{FF2B5EF4-FFF2-40B4-BE49-F238E27FC236}">
                    <a16:creationId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1" name="Freeform 150">
                <a:extLst>
                  <a:ext uri="{FF2B5EF4-FFF2-40B4-BE49-F238E27FC236}">
                    <a16:creationId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2" name="Freeform 151">
                <a:extLst>
                  <a:ext uri="{FF2B5EF4-FFF2-40B4-BE49-F238E27FC236}">
                    <a16:creationId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53" name="Group 152">
            <a:extLst>
              <a:ext uri="{FF2B5EF4-FFF2-40B4-BE49-F238E27FC236}">
                <a16:creationId xmlns:a16="http://schemas.microsoft.com/office/drawing/2014/main" id="{419BFD2C-DE5F-0C45-B636-6597FE43775F}"/>
              </a:ext>
            </a:extLst>
          </p:cNvPr>
          <p:cNvGrpSpPr/>
          <p:nvPr/>
        </p:nvGrpSpPr>
        <p:grpSpPr>
          <a:xfrm>
            <a:off x="8163064" y="3558274"/>
            <a:ext cx="128242" cy="72789"/>
            <a:chOff x="7493876" y="2774731"/>
            <a:chExt cx="1481958" cy="894622"/>
          </a:xfrm>
        </p:grpSpPr>
        <p:sp>
          <p:nvSpPr>
            <p:cNvPr id="154" name="Freeform 153">
              <a:extLst>
                <a:ext uri="{FF2B5EF4-FFF2-40B4-BE49-F238E27FC236}">
                  <a16:creationId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55" name="Oval 154">
              <a:extLst>
                <a:ext uri="{FF2B5EF4-FFF2-40B4-BE49-F238E27FC236}">
                  <a16:creationId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56" name="Group 155">
              <a:extLst>
                <a:ext uri="{FF2B5EF4-FFF2-40B4-BE49-F238E27FC236}">
                  <a16:creationId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8" name="Freeform 157">
                <a:extLst>
                  <a:ext uri="{FF2B5EF4-FFF2-40B4-BE49-F238E27FC236}">
                    <a16:creationId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9" name="Freeform 158">
                <a:extLst>
                  <a:ext uri="{FF2B5EF4-FFF2-40B4-BE49-F238E27FC236}">
                    <a16:creationId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60" name="Freeform 159">
                <a:extLst>
                  <a:ext uri="{FF2B5EF4-FFF2-40B4-BE49-F238E27FC236}">
                    <a16:creationId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61" name="Group 160">
            <a:extLst>
              <a:ext uri="{FF2B5EF4-FFF2-40B4-BE49-F238E27FC236}">
                <a16:creationId xmlns:a16="http://schemas.microsoft.com/office/drawing/2014/main" id="{0F65CB9E-D1E1-5348-9E59-69DA1CEF2123}"/>
              </a:ext>
            </a:extLst>
          </p:cNvPr>
          <p:cNvGrpSpPr/>
          <p:nvPr/>
        </p:nvGrpSpPr>
        <p:grpSpPr>
          <a:xfrm>
            <a:off x="7807957" y="3479354"/>
            <a:ext cx="265259" cy="148758"/>
            <a:chOff x="7493876" y="2774731"/>
            <a:chExt cx="1481958" cy="894622"/>
          </a:xfrm>
        </p:grpSpPr>
        <p:sp>
          <p:nvSpPr>
            <p:cNvPr id="162" name="Freeform 161">
              <a:extLst>
                <a:ext uri="{FF2B5EF4-FFF2-40B4-BE49-F238E27FC236}">
                  <a16:creationId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63" name="Oval 162">
              <a:extLst>
                <a:ext uri="{FF2B5EF4-FFF2-40B4-BE49-F238E27FC236}">
                  <a16:creationId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64" name="Group 163">
              <a:extLst>
                <a:ext uri="{FF2B5EF4-FFF2-40B4-BE49-F238E27FC236}">
                  <a16:creationId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66" name="Freeform 165">
                <a:extLst>
                  <a:ext uri="{FF2B5EF4-FFF2-40B4-BE49-F238E27FC236}">
                    <a16:creationId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67" name="Freeform 166">
                <a:extLst>
                  <a:ext uri="{FF2B5EF4-FFF2-40B4-BE49-F238E27FC236}">
                    <a16:creationId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68" name="Freeform 167">
                <a:extLst>
                  <a:ext uri="{FF2B5EF4-FFF2-40B4-BE49-F238E27FC236}">
                    <a16:creationId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69" name="Group 168">
            <a:extLst>
              <a:ext uri="{FF2B5EF4-FFF2-40B4-BE49-F238E27FC236}">
                <a16:creationId xmlns:a16="http://schemas.microsoft.com/office/drawing/2014/main" id="{CFBE87F9-CE91-5943-9D77-D8B9227384AC}"/>
              </a:ext>
            </a:extLst>
          </p:cNvPr>
          <p:cNvGrpSpPr/>
          <p:nvPr/>
        </p:nvGrpSpPr>
        <p:grpSpPr>
          <a:xfrm>
            <a:off x="7461543" y="2508969"/>
            <a:ext cx="265259" cy="148758"/>
            <a:chOff x="7493876" y="2774731"/>
            <a:chExt cx="1481958" cy="894622"/>
          </a:xfrm>
        </p:grpSpPr>
        <p:sp>
          <p:nvSpPr>
            <p:cNvPr id="170" name="Freeform 169">
              <a:extLst>
                <a:ext uri="{FF2B5EF4-FFF2-40B4-BE49-F238E27FC236}">
                  <a16:creationId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71" name="Oval 170">
              <a:extLst>
                <a:ext uri="{FF2B5EF4-FFF2-40B4-BE49-F238E27FC236}">
                  <a16:creationId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72" name="Group 171">
              <a:extLst>
                <a:ext uri="{FF2B5EF4-FFF2-40B4-BE49-F238E27FC236}">
                  <a16:creationId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74" name="Freeform 173">
                <a:extLst>
                  <a:ext uri="{FF2B5EF4-FFF2-40B4-BE49-F238E27FC236}">
                    <a16:creationId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75" name="Freeform 174">
                <a:extLst>
                  <a:ext uri="{FF2B5EF4-FFF2-40B4-BE49-F238E27FC236}">
                    <a16:creationId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76" name="Freeform 175">
                <a:extLst>
                  <a:ext uri="{FF2B5EF4-FFF2-40B4-BE49-F238E27FC236}">
                    <a16:creationId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77" name="Group 176">
            <a:extLst>
              <a:ext uri="{FF2B5EF4-FFF2-40B4-BE49-F238E27FC236}">
                <a16:creationId xmlns:a16="http://schemas.microsoft.com/office/drawing/2014/main" id="{6D2B1BF7-15E3-B642-B1ED-14A585EC5A4E}"/>
              </a:ext>
            </a:extLst>
          </p:cNvPr>
          <p:cNvGrpSpPr/>
          <p:nvPr/>
        </p:nvGrpSpPr>
        <p:grpSpPr>
          <a:xfrm>
            <a:off x="7895410" y="2817275"/>
            <a:ext cx="265259" cy="148758"/>
            <a:chOff x="7493876" y="2774731"/>
            <a:chExt cx="1481958" cy="894622"/>
          </a:xfrm>
        </p:grpSpPr>
        <p:sp>
          <p:nvSpPr>
            <p:cNvPr id="178" name="Freeform 177">
              <a:extLst>
                <a:ext uri="{FF2B5EF4-FFF2-40B4-BE49-F238E27FC236}">
                  <a16:creationId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79" name="Oval 178">
              <a:extLst>
                <a:ext uri="{FF2B5EF4-FFF2-40B4-BE49-F238E27FC236}">
                  <a16:creationId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80" name="Group 179">
              <a:extLst>
                <a:ext uri="{FF2B5EF4-FFF2-40B4-BE49-F238E27FC236}">
                  <a16:creationId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82" name="Freeform 181">
                <a:extLst>
                  <a:ext uri="{FF2B5EF4-FFF2-40B4-BE49-F238E27FC236}">
                    <a16:creationId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83" name="Freeform 182">
                <a:extLst>
                  <a:ext uri="{FF2B5EF4-FFF2-40B4-BE49-F238E27FC236}">
                    <a16:creationId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84" name="Freeform 183">
                <a:extLst>
                  <a:ext uri="{FF2B5EF4-FFF2-40B4-BE49-F238E27FC236}">
                    <a16:creationId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85" name="Group 184">
            <a:extLst>
              <a:ext uri="{FF2B5EF4-FFF2-40B4-BE49-F238E27FC236}">
                <a16:creationId xmlns:a16="http://schemas.microsoft.com/office/drawing/2014/main" id="{F0711763-C567-4040-ABFB-F5C34597A154}"/>
              </a:ext>
            </a:extLst>
          </p:cNvPr>
          <p:cNvGrpSpPr/>
          <p:nvPr/>
        </p:nvGrpSpPr>
        <p:grpSpPr>
          <a:xfrm>
            <a:off x="7982869" y="2438222"/>
            <a:ext cx="265259" cy="148758"/>
            <a:chOff x="7493876" y="2774731"/>
            <a:chExt cx="1481958" cy="894622"/>
          </a:xfrm>
        </p:grpSpPr>
        <p:sp>
          <p:nvSpPr>
            <p:cNvPr id="186" name="Freeform 185">
              <a:extLst>
                <a:ext uri="{FF2B5EF4-FFF2-40B4-BE49-F238E27FC236}">
                  <a16:creationId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87" name="Oval 186">
              <a:extLst>
                <a:ext uri="{FF2B5EF4-FFF2-40B4-BE49-F238E27FC236}">
                  <a16:creationId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88" name="Group 187">
              <a:extLst>
                <a:ext uri="{FF2B5EF4-FFF2-40B4-BE49-F238E27FC236}">
                  <a16:creationId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0" name="Freeform 189">
                <a:extLst>
                  <a:ext uri="{FF2B5EF4-FFF2-40B4-BE49-F238E27FC236}">
                    <a16:creationId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1" name="Freeform 190">
                <a:extLst>
                  <a:ext uri="{FF2B5EF4-FFF2-40B4-BE49-F238E27FC236}">
                    <a16:creationId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2" name="Freeform 191">
                <a:extLst>
                  <a:ext uri="{FF2B5EF4-FFF2-40B4-BE49-F238E27FC236}">
                    <a16:creationId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93" name="Group 192">
            <a:extLst>
              <a:ext uri="{FF2B5EF4-FFF2-40B4-BE49-F238E27FC236}">
                <a16:creationId xmlns:a16="http://schemas.microsoft.com/office/drawing/2014/main" id="{E38FF4C3-D0A2-D548-89C0-C35D3E53032F}"/>
              </a:ext>
            </a:extLst>
          </p:cNvPr>
          <p:cNvGrpSpPr/>
          <p:nvPr/>
        </p:nvGrpSpPr>
        <p:grpSpPr>
          <a:xfrm>
            <a:off x="6824091" y="3824718"/>
            <a:ext cx="275418" cy="180228"/>
            <a:chOff x="7493876" y="2774731"/>
            <a:chExt cx="1481958" cy="894622"/>
          </a:xfrm>
        </p:grpSpPr>
        <p:sp>
          <p:nvSpPr>
            <p:cNvPr id="194" name="Freeform 193">
              <a:extLst>
                <a:ext uri="{FF2B5EF4-FFF2-40B4-BE49-F238E27FC236}">
                  <a16:creationId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95" name="Oval 194">
              <a:extLst>
                <a:ext uri="{FF2B5EF4-FFF2-40B4-BE49-F238E27FC236}">
                  <a16:creationId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96" name="Group 195">
              <a:extLst>
                <a:ext uri="{FF2B5EF4-FFF2-40B4-BE49-F238E27FC236}">
                  <a16:creationId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8" name="Freeform 197">
                <a:extLst>
                  <a:ext uri="{FF2B5EF4-FFF2-40B4-BE49-F238E27FC236}">
                    <a16:creationId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9" name="Freeform 198">
                <a:extLst>
                  <a:ext uri="{FF2B5EF4-FFF2-40B4-BE49-F238E27FC236}">
                    <a16:creationId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00" name="Freeform 199">
                <a:extLst>
                  <a:ext uri="{FF2B5EF4-FFF2-40B4-BE49-F238E27FC236}">
                    <a16:creationId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01" name="Group 200">
            <a:extLst>
              <a:ext uri="{FF2B5EF4-FFF2-40B4-BE49-F238E27FC236}">
                <a16:creationId xmlns:a16="http://schemas.microsoft.com/office/drawing/2014/main" id="{F6C05161-17CC-4047-8DD1-B9901ECF6386}"/>
              </a:ext>
            </a:extLst>
          </p:cNvPr>
          <p:cNvGrpSpPr/>
          <p:nvPr/>
        </p:nvGrpSpPr>
        <p:grpSpPr>
          <a:xfrm>
            <a:off x="7485094" y="2853424"/>
            <a:ext cx="265259" cy="148758"/>
            <a:chOff x="7493876" y="2774731"/>
            <a:chExt cx="1481958" cy="894622"/>
          </a:xfrm>
        </p:grpSpPr>
        <p:sp>
          <p:nvSpPr>
            <p:cNvPr id="202" name="Freeform 201">
              <a:extLst>
                <a:ext uri="{FF2B5EF4-FFF2-40B4-BE49-F238E27FC236}">
                  <a16:creationId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03" name="Oval 202">
              <a:extLst>
                <a:ext uri="{FF2B5EF4-FFF2-40B4-BE49-F238E27FC236}">
                  <a16:creationId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04" name="Group 203">
              <a:extLst>
                <a:ext uri="{FF2B5EF4-FFF2-40B4-BE49-F238E27FC236}">
                  <a16:creationId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06" name="Freeform 205">
                <a:extLst>
                  <a:ext uri="{FF2B5EF4-FFF2-40B4-BE49-F238E27FC236}">
                    <a16:creationId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07" name="Freeform 206">
                <a:extLst>
                  <a:ext uri="{FF2B5EF4-FFF2-40B4-BE49-F238E27FC236}">
                    <a16:creationId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08" name="Freeform 207">
                <a:extLst>
                  <a:ext uri="{FF2B5EF4-FFF2-40B4-BE49-F238E27FC236}">
                    <a16:creationId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09" name="Group 208">
            <a:extLst>
              <a:ext uri="{FF2B5EF4-FFF2-40B4-BE49-F238E27FC236}">
                <a16:creationId xmlns:a16="http://schemas.microsoft.com/office/drawing/2014/main" id="{198EE3F8-E7C6-7742-BDAE-10EEB3BA9601}"/>
              </a:ext>
            </a:extLst>
          </p:cNvPr>
          <p:cNvGrpSpPr/>
          <p:nvPr/>
        </p:nvGrpSpPr>
        <p:grpSpPr>
          <a:xfrm>
            <a:off x="7122854" y="3402774"/>
            <a:ext cx="275418" cy="180228"/>
            <a:chOff x="7493876" y="2774731"/>
            <a:chExt cx="1481958" cy="894622"/>
          </a:xfrm>
        </p:grpSpPr>
        <p:sp>
          <p:nvSpPr>
            <p:cNvPr id="210" name="Freeform 209">
              <a:extLst>
                <a:ext uri="{FF2B5EF4-FFF2-40B4-BE49-F238E27FC236}">
                  <a16:creationId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11" name="Oval 210">
              <a:extLst>
                <a:ext uri="{FF2B5EF4-FFF2-40B4-BE49-F238E27FC236}">
                  <a16:creationId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12" name="Group 211">
              <a:extLst>
                <a:ext uri="{FF2B5EF4-FFF2-40B4-BE49-F238E27FC236}">
                  <a16:creationId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14" name="Freeform 213">
                <a:extLst>
                  <a:ext uri="{FF2B5EF4-FFF2-40B4-BE49-F238E27FC236}">
                    <a16:creationId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15" name="Freeform 214">
                <a:extLst>
                  <a:ext uri="{FF2B5EF4-FFF2-40B4-BE49-F238E27FC236}">
                    <a16:creationId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16" name="Freeform 215">
                <a:extLst>
                  <a:ext uri="{FF2B5EF4-FFF2-40B4-BE49-F238E27FC236}">
                    <a16:creationId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17" name="Group 216">
            <a:extLst>
              <a:ext uri="{FF2B5EF4-FFF2-40B4-BE49-F238E27FC236}">
                <a16:creationId xmlns:a16="http://schemas.microsoft.com/office/drawing/2014/main" id="{5123C752-3FFB-E84D-9E48-DBC9A9F48F37}"/>
              </a:ext>
            </a:extLst>
          </p:cNvPr>
          <p:cNvGrpSpPr/>
          <p:nvPr/>
        </p:nvGrpSpPr>
        <p:grpSpPr>
          <a:xfrm>
            <a:off x="7201166" y="3857072"/>
            <a:ext cx="275418" cy="180228"/>
            <a:chOff x="7493876" y="2774731"/>
            <a:chExt cx="1481958" cy="894622"/>
          </a:xfrm>
        </p:grpSpPr>
        <p:sp>
          <p:nvSpPr>
            <p:cNvPr id="218" name="Freeform 217">
              <a:extLst>
                <a:ext uri="{FF2B5EF4-FFF2-40B4-BE49-F238E27FC236}">
                  <a16:creationId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19" name="Oval 218">
              <a:extLst>
                <a:ext uri="{FF2B5EF4-FFF2-40B4-BE49-F238E27FC236}">
                  <a16:creationId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20" name="Group 219">
              <a:extLst>
                <a:ext uri="{FF2B5EF4-FFF2-40B4-BE49-F238E27FC236}">
                  <a16:creationId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22" name="Freeform 221">
                <a:extLst>
                  <a:ext uri="{FF2B5EF4-FFF2-40B4-BE49-F238E27FC236}">
                    <a16:creationId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23" name="Freeform 222">
                <a:extLst>
                  <a:ext uri="{FF2B5EF4-FFF2-40B4-BE49-F238E27FC236}">
                    <a16:creationId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24" name="Freeform 223">
                <a:extLst>
                  <a:ext uri="{FF2B5EF4-FFF2-40B4-BE49-F238E27FC236}">
                    <a16:creationId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25" name="Group 224">
            <a:extLst>
              <a:ext uri="{FF2B5EF4-FFF2-40B4-BE49-F238E27FC236}">
                <a16:creationId xmlns:a16="http://schemas.microsoft.com/office/drawing/2014/main" id="{9F5D0807-95F5-B242-9940-2134E3CE864D}"/>
              </a:ext>
            </a:extLst>
          </p:cNvPr>
          <p:cNvGrpSpPr/>
          <p:nvPr/>
        </p:nvGrpSpPr>
        <p:grpSpPr>
          <a:xfrm>
            <a:off x="7781444" y="3851494"/>
            <a:ext cx="265259" cy="148758"/>
            <a:chOff x="7493876" y="2774731"/>
            <a:chExt cx="1481958" cy="894622"/>
          </a:xfrm>
        </p:grpSpPr>
        <p:sp>
          <p:nvSpPr>
            <p:cNvPr id="226" name="Freeform 225">
              <a:extLst>
                <a:ext uri="{FF2B5EF4-FFF2-40B4-BE49-F238E27FC236}">
                  <a16:creationId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27" name="Oval 226">
              <a:extLst>
                <a:ext uri="{FF2B5EF4-FFF2-40B4-BE49-F238E27FC236}">
                  <a16:creationId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28" name="Group 227">
              <a:extLst>
                <a:ext uri="{FF2B5EF4-FFF2-40B4-BE49-F238E27FC236}">
                  <a16:creationId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30" name="Freeform 229">
                <a:extLst>
                  <a:ext uri="{FF2B5EF4-FFF2-40B4-BE49-F238E27FC236}">
                    <a16:creationId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31" name="Freeform 230">
                <a:extLst>
                  <a:ext uri="{FF2B5EF4-FFF2-40B4-BE49-F238E27FC236}">
                    <a16:creationId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32" name="Freeform 231">
                <a:extLst>
                  <a:ext uri="{FF2B5EF4-FFF2-40B4-BE49-F238E27FC236}">
                    <a16:creationId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33" name="Group 232">
            <a:extLst>
              <a:ext uri="{FF2B5EF4-FFF2-40B4-BE49-F238E27FC236}">
                <a16:creationId xmlns:a16="http://schemas.microsoft.com/office/drawing/2014/main" id="{A8973B1E-A991-8E45-9FF7-7AF7F179E328}"/>
              </a:ext>
            </a:extLst>
          </p:cNvPr>
          <p:cNvGrpSpPr/>
          <p:nvPr/>
        </p:nvGrpSpPr>
        <p:grpSpPr>
          <a:xfrm>
            <a:off x="6935920" y="4439014"/>
            <a:ext cx="295320" cy="163934"/>
            <a:chOff x="7493876" y="2774731"/>
            <a:chExt cx="1481958" cy="894622"/>
          </a:xfrm>
        </p:grpSpPr>
        <p:sp>
          <p:nvSpPr>
            <p:cNvPr id="234" name="Freeform 233">
              <a:extLst>
                <a:ext uri="{FF2B5EF4-FFF2-40B4-BE49-F238E27FC236}">
                  <a16:creationId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35" name="Oval 234">
              <a:extLst>
                <a:ext uri="{FF2B5EF4-FFF2-40B4-BE49-F238E27FC236}">
                  <a16:creationId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36" name="Group 235">
              <a:extLst>
                <a:ext uri="{FF2B5EF4-FFF2-40B4-BE49-F238E27FC236}">
                  <a16:creationId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38" name="Freeform 237">
                <a:extLst>
                  <a:ext uri="{FF2B5EF4-FFF2-40B4-BE49-F238E27FC236}">
                    <a16:creationId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39" name="Freeform 238">
                <a:extLst>
                  <a:ext uri="{FF2B5EF4-FFF2-40B4-BE49-F238E27FC236}">
                    <a16:creationId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40" name="Freeform 239">
                <a:extLst>
                  <a:ext uri="{FF2B5EF4-FFF2-40B4-BE49-F238E27FC236}">
                    <a16:creationId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41" name="Group 240">
            <a:extLst>
              <a:ext uri="{FF2B5EF4-FFF2-40B4-BE49-F238E27FC236}">
                <a16:creationId xmlns:a16="http://schemas.microsoft.com/office/drawing/2014/main" id="{23665DDF-4A56-E24C-9D9B-557EA2031298}"/>
              </a:ext>
            </a:extLst>
          </p:cNvPr>
          <p:cNvGrpSpPr/>
          <p:nvPr/>
        </p:nvGrpSpPr>
        <p:grpSpPr>
          <a:xfrm>
            <a:off x="8194487" y="4134094"/>
            <a:ext cx="171221" cy="90300"/>
            <a:chOff x="7493876" y="2774731"/>
            <a:chExt cx="1481958" cy="894622"/>
          </a:xfrm>
        </p:grpSpPr>
        <p:sp>
          <p:nvSpPr>
            <p:cNvPr id="242" name="Freeform 241">
              <a:extLst>
                <a:ext uri="{FF2B5EF4-FFF2-40B4-BE49-F238E27FC236}">
                  <a16:creationId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43" name="Oval 242">
              <a:extLst>
                <a:ext uri="{FF2B5EF4-FFF2-40B4-BE49-F238E27FC236}">
                  <a16:creationId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44" name="Group 243">
              <a:extLst>
                <a:ext uri="{FF2B5EF4-FFF2-40B4-BE49-F238E27FC236}">
                  <a16:creationId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46" name="Freeform 245">
                <a:extLst>
                  <a:ext uri="{FF2B5EF4-FFF2-40B4-BE49-F238E27FC236}">
                    <a16:creationId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47" name="Freeform 246">
                <a:extLst>
                  <a:ext uri="{FF2B5EF4-FFF2-40B4-BE49-F238E27FC236}">
                    <a16:creationId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48" name="Freeform 247">
                <a:extLst>
                  <a:ext uri="{FF2B5EF4-FFF2-40B4-BE49-F238E27FC236}">
                    <a16:creationId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49" name="Group 248">
            <a:extLst>
              <a:ext uri="{FF2B5EF4-FFF2-40B4-BE49-F238E27FC236}">
                <a16:creationId xmlns:a16="http://schemas.microsoft.com/office/drawing/2014/main" id="{931C36A9-E761-0148-9032-D81ACCB48A29}"/>
              </a:ext>
            </a:extLst>
          </p:cNvPr>
          <p:cNvGrpSpPr/>
          <p:nvPr/>
        </p:nvGrpSpPr>
        <p:grpSpPr>
          <a:xfrm>
            <a:off x="5579306" y="2624710"/>
            <a:ext cx="401240" cy="305991"/>
            <a:chOff x="7432700" y="2327293"/>
            <a:chExt cx="534987" cy="407988"/>
          </a:xfrm>
        </p:grpSpPr>
        <p:pic>
          <p:nvPicPr>
            <p:cNvPr id="250" name="Picture 1017" descr="antenna_stylized">
              <a:extLst>
                <a:ext uri="{FF2B5EF4-FFF2-40B4-BE49-F238E27FC236}">
                  <a16:creationId xmlns:a16="http://schemas.microsoft.com/office/drawing/2014/main" id="{A1B3AFF0-514E-1142-A2F6-8BE3FF21744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id="{F72A8B16-D68A-BE43-A9DC-2099F128817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pic>
          <p:nvPicPr>
            <p:cNvPr id="253" name="Picture 1020" descr="screen">
              <a:extLst>
                <a:ext uri="{FF2B5EF4-FFF2-40B4-BE49-F238E27FC236}">
                  <a16:creationId xmlns:a16="http://schemas.microsoft.com/office/drawing/2014/main" id="{5B7A4293-9090-2C47-A5F9-1484B3E8E43A}"/>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55" name="Freeform 1022">
              <a:extLst>
                <a:ext uri="{FF2B5EF4-FFF2-40B4-BE49-F238E27FC236}">
                  <a16:creationId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56" name="Freeform 1023">
              <a:extLst>
                <a:ext uri="{FF2B5EF4-FFF2-40B4-BE49-F238E27FC236}">
                  <a16:creationId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57" name="Freeform 1024">
              <a:extLst>
                <a:ext uri="{FF2B5EF4-FFF2-40B4-BE49-F238E27FC236}">
                  <a16:creationId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58" name="Freeform 1025">
              <a:extLst>
                <a:ext uri="{FF2B5EF4-FFF2-40B4-BE49-F238E27FC236}">
                  <a16:creationId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59" name="Freeform 1026">
              <a:extLst>
                <a:ext uri="{FF2B5EF4-FFF2-40B4-BE49-F238E27FC236}">
                  <a16:creationId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260" name="Group 1027">
              <a:extLst>
                <a:ext uri="{FF2B5EF4-FFF2-40B4-BE49-F238E27FC236}">
                  <a16:creationId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8" name="Freeform 1029">
                <a:extLst>
                  <a:ext uri="{FF2B5EF4-FFF2-40B4-BE49-F238E27FC236}">
                    <a16:creationId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9" name="Freeform 1030">
                <a:extLst>
                  <a:ext uri="{FF2B5EF4-FFF2-40B4-BE49-F238E27FC236}">
                    <a16:creationId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70" name="Freeform 1031">
                <a:extLst>
                  <a:ext uri="{FF2B5EF4-FFF2-40B4-BE49-F238E27FC236}">
                    <a16:creationId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71" name="Freeform 1032">
                <a:extLst>
                  <a:ext uri="{FF2B5EF4-FFF2-40B4-BE49-F238E27FC236}">
                    <a16:creationId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72" name="Freeform 1033">
                <a:extLst>
                  <a:ext uri="{FF2B5EF4-FFF2-40B4-BE49-F238E27FC236}">
                    <a16:creationId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261" name="Freeform 1034">
              <a:extLst>
                <a:ext uri="{FF2B5EF4-FFF2-40B4-BE49-F238E27FC236}">
                  <a16:creationId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2" name="Freeform 1035">
              <a:extLst>
                <a:ext uri="{FF2B5EF4-FFF2-40B4-BE49-F238E27FC236}">
                  <a16:creationId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3" name="Freeform 1036">
              <a:extLst>
                <a:ext uri="{FF2B5EF4-FFF2-40B4-BE49-F238E27FC236}">
                  <a16:creationId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4" name="Freeform 1037">
              <a:extLst>
                <a:ext uri="{FF2B5EF4-FFF2-40B4-BE49-F238E27FC236}">
                  <a16:creationId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5" name="Freeform 1038">
              <a:extLst>
                <a:ext uri="{FF2B5EF4-FFF2-40B4-BE49-F238E27FC236}">
                  <a16:creationId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6" name="Freeform 1039">
              <a:extLst>
                <a:ext uri="{FF2B5EF4-FFF2-40B4-BE49-F238E27FC236}">
                  <a16:creationId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273" name="Group 272">
            <a:extLst>
              <a:ext uri="{FF2B5EF4-FFF2-40B4-BE49-F238E27FC236}">
                <a16:creationId xmlns:a16="http://schemas.microsoft.com/office/drawing/2014/main" id="{7BE84195-0460-B24A-9BFA-64009B70F0D4}"/>
              </a:ext>
            </a:extLst>
          </p:cNvPr>
          <p:cNvGrpSpPr/>
          <p:nvPr/>
        </p:nvGrpSpPr>
        <p:grpSpPr>
          <a:xfrm>
            <a:off x="6478336" y="2597046"/>
            <a:ext cx="398027" cy="358507"/>
            <a:chOff x="8631407" y="2290407"/>
            <a:chExt cx="530702" cy="478009"/>
          </a:xfrm>
        </p:grpSpPr>
        <p:pic>
          <p:nvPicPr>
            <p:cNvPr id="274" name="Picture 568" descr="light2.png">
              <a:extLst>
                <a:ext uri="{FF2B5EF4-FFF2-40B4-BE49-F238E27FC236}">
                  <a16:creationId xmlns:a16="http://schemas.microsoft.com/office/drawing/2014/main" id="{9C2ABCA4-2AB6-604A-BAF1-3DCCB40F3CF6}"/>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id="{650AA1D1-0ECD-3E4A-81DB-CC97A96B57C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id="{EFF79B51-BA03-584F-A0CE-2E5C3CDBD9C8}"/>
              </a:ext>
            </a:extLst>
          </p:cNvPr>
          <p:cNvGrpSpPr/>
          <p:nvPr/>
        </p:nvGrpSpPr>
        <p:grpSpPr>
          <a:xfrm>
            <a:off x="6374654" y="2401593"/>
            <a:ext cx="636984" cy="169582"/>
            <a:chOff x="8493165" y="2029804"/>
            <a:chExt cx="849312" cy="226109"/>
          </a:xfrm>
        </p:grpSpPr>
        <p:pic>
          <p:nvPicPr>
            <p:cNvPr id="277" name="Picture 603" descr="car_icon_small">
              <a:extLst>
                <a:ext uri="{FF2B5EF4-FFF2-40B4-BE49-F238E27FC236}">
                  <a16:creationId xmlns:a16="http://schemas.microsoft.com/office/drawing/2014/main" id="{A16178BF-CE10-DF42-8C1F-E2AAFB94BBE9}"/>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id="{BF73CD36-5E1A-D143-A3EA-8721982417D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id="{053CF7AA-EEE7-E849-8975-45A554C35F5B}"/>
              </a:ext>
            </a:extLst>
          </p:cNvPr>
          <p:cNvGrpSpPr/>
          <p:nvPr/>
        </p:nvGrpSpPr>
        <p:grpSpPr>
          <a:xfrm>
            <a:off x="5620139" y="3351318"/>
            <a:ext cx="643304" cy="437823"/>
            <a:chOff x="7487144" y="3296104"/>
            <a:chExt cx="857739" cy="583764"/>
          </a:xfrm>
        </p:grpSpPr>
        <p:grpSp>
          <p:nvGrpSpPr>
            <p:cNvPr id="280" name="Group 279">
              <a:extLst>
                <a:ext uri="{FF2B5EF4-FFF2-40B4-BE49-F238E27FC236}">
                  <a16:creationId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id="{AD910864-C9F4-C94B-9B97-60E50CF30ACE}"/>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id="{89C482D5-7199-3040-A39E-C983C7E76CD5}"/>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pic>
            <p:nvPicPr>
              <p:cNvPr id="290" name="Picture 1118" descr="screen">
                <a:extLst>
                  <a:ext uri="{FF2B5EF4-FFF2-40B4-BE49-F238E27FC236}">
                    <a16:creationId xmlns:a16="http://schemas.microsoft.com/office/drawing/2014/main" id="{4A4B2A13-447B-ED4B-A13F-5489BEAC9BE3}"/>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2" name="Freeform 1120">
                <a:extLst>
                  <a:ext uri="{FF2B5EF4-FFF2-40B4-BE49-F238E27FC236}">
                    <a16:creationId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3" name="Freeform 1121">
                <a:extLst>
                  <a:ext uri="{FF2B5EF4-FFF2-40B4-BE49-F238E27FC236}">
                    <a16:creationId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4" name="Freeform 1122">
                <a:extLst>
                  <a:ext uri="{FF2B5EF4-FFF2-40B4-BE49-F238E27FC236}">
                    <a16:creationId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5" name="Freeform 1123">
                <a:extLst>
                  <a:ext uri="{FF2B5EF4-FFF2-40B4-BE49-F238E27FC236}">
                    <a16:creationId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6" name="Freeform 1124">
                <a:extLst>
                  <a:ext uri="{FF2B5EF4-FFF2-40B4-BE49-F238E27FC236}">
                    <a16:creationId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297" name="Group 1125">
                <a:extLst>
                  <a:ext uri="{FF2B5EF4-FFF2-40B4-BE49-F238E27FC236}">
                    <a16:creationId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5" name="Freeform 1127">
                  <a:extLst>
                    <a:ext uri="{FF2B5EF4-FFF2-40B4-BE49-F238E27FC236}">
                      <a16:creationId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6" name="Freeform 1128">
                  <a:extLst>
                    <a:ext uri="{FF2B5EF4-FFF2-40B4-BE49-F238E27FC236}">
                      <a16:creationId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7" name="Freeform 1129">
                  <a:extLst>
                    <a:ext uri="{FF2B5EF4-FFF2-40B4-BE49-F238E27FC236}">
                      <a16:creationId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8" name="Freeform 1130">
                  <a:extLst>
                    <a:ext uri="{FF2B5EF4-FFF2-40B4-BE49-F238E27FC236}">
                      <a16:creationId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9" name="Freeform 1131">
                  <a:extLst>
                    <a:ext uri="{FF2B5EF4-FFF2-40B4-BE49-F238E27FC236}">
                      <a16:creationId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298" name="Freeform 1132">
                <a:extLst>
                  <a:ext uri="{FF2B5EF4-FFF2-40B4-BE49-F238E27FC236}">
                    <a16:creationId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9" name="Freeform 1133">
                <a:extLst>
                  <a:ext uri="{FF2B5EF4-FFF2-40B4-BE49-F238E27FC236}">
                    <a16:creationId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0" name="Freeform 1134">
                <a:extLst>
                  <a:ext uri="{FF2B5EF4-FFF2-40B4-BE49-F238E27FC236}">
                    <a16:creationId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1" name="Freeform 1135">
                <a:extLst>
                  <a:ext uri="{FF2B5EF4-FFF2-40B4-BE49-F238E27FC236}">
                    <a16:creationId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2" name="Freeform 1136">
                <a:extLst>
                  <a:ext uri="{FF2B5EF4-FFF2-40B4-BE49-F238E27FC236}">
                    <a16:creationId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3" name="Freeform 1137">
                <a:extLst>
                  <a:ext uri="{FF2B5EF4-FFF2-40B4-BE49-F238E27FC236}">
                    <a16:creationId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281" name="Group 1139">
              <a:extLst>
                <a:ext uri="{FF2B5EF4-FFF2-40B4-BE49-F238E27FC236}">
                  <a16:creationId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id="{DF6CF23B-627F-354F-9A8F-4AC37674F07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282" name="Group 281">
              <a:extLst>
                <a:ext uri="{FF2B5EF4-FFF2-40B4-BE49-F238E27FC236}">
                  <a16:creationId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id="{52D49911-07F8-3343-8A41-1B2AC79DBF22}"/>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id="{E5CB4C1D-6CCE-AD42-A805-75067034C0AF}"/>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id="{09017FE0-34A3-FC43-92EF-C44FBDE65EF6}"/>
              </a:ext>
            </a:extLst>
          </p:cNvPr>
          <p:cNvGrpSpPr/>
          <p:nvPr/>
        </p:nvGrpSpPr>
        <p:grpSpPr>
          <a:xfrm>
            <a:off x="8298710" y="3428614"/>
            <a:ext cx="388836" cy="909182"/>
            <a:chOff x="11058573" y="3399165"/>
            <a:chExt cx="518448" cy="1212242"/>
          </a:xfrm>
        </p:grpSpPr>
        <p:grpSp>
          <p:nvGrpSpPr>
            <p:cNvPr id="311" name="Group 310">
              <a:extLst>
                <a:ext uri="{FF2B5EF4-FFF2-40B4-BE49-F238E27FC236}">
                  <a16:creationId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id="{764A46D5-D344-3246-B4CA-E1BF2CFDEEF5}"/>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id="{90C1BE08-C428-E74E-B929-C6D1271BFE1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id="{35FFED4D-9863-0F4E-8222-435564693420}"/>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id="{E480D9A5-8FB7-3647-AB54-42D9700E645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id="{C17EE074-02D0-4143-8ED9-E4D2205689F5}"/>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id="{589F8E4F-69B9-FA46-8D10-90FC7573C77E}"/>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id="{002C44D5-1F60-7447-A1D2-6EE5F802021D}"/>
              </a:ext>
            </a:extLst>
          </p:cNvPr>
          <p:cNvGrpSpPr>
            <a:grpSpLocks/>
          </p:cNvGrpSpPr>
          <p:nvPr/>
        </p:nvGrpSpPr>
        <p:grpSpPr bwMode="auto">
          <a:xfrm flipH="1">
            <a:off x="5985641" y="4532371"/>
            <a:ext cx="259223" cy="240227"/>
            <a:chOff x="2839" y="3501"/>
            <a:chExt cx="755" cy="803"/>
          </a:xfrm>
        </p:grpSpPr>
        <p:pic>
          <p:nvPicPr>
            <p:cNvPr id="357" name="Picture 591" descr="desktop_computer_stylized_medium">
              <a:extLst>
                <a:ext uri="{FF2B5EF4-FFF2-40B4-BE49-F238E27FC236}">
                  <a16:creationId xmlns:a16="http://schemas.microsoft.com/office/drawing/2014/main" id="{7F433925-7699-B34E-88C0-C818C4963B38}"/>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359" name="Group 1064">
            <a:extLst>
              <a:ext uri="{FF2B5EF4-FFF2-40B4-BE49-F238E27FC236}">
                <a16:creationId xmlns:a16="http://schemas.microsoft.com/office/drawing/2014/main" id="{CF2DB679-9CD3-5148-94F7-225CE8489122}"/>
              </a:ext>
            </a:extLst>
          </p:cNvPr>
          <p:cNvGrpSpPr>
            <a:grpSpLocks/>
          </p:cNvGrpSpPr>
          <p:nvPr/>
        </p:nvGrpSpPr>
        <p:grpSpPr bwMode="auto">
          <a:xfrm>
            <a:off x="6901261" y="5246857"/>
            <a:ext cx="232640" cy="230856"/>
            <a:chOff x="877" y="1008"/>
            <a:chExt cx="2747" cy="2591"/>
          </a:xfrm>
        </p:grpSpPr>
        <p:pic>
          <p:nvPicPr>
            <p:cNvPr id="360" name="Picture 1065" descr="antenna_stylized">
              <a:extLst>
                <a:ext uri="{FF2B5EF4-FFF2-40B4-BE49-F238E27FC236}">
                  <a16:creationId xmlns:a16="http://schemas.microsoft.com/office/drawing/2014/main" id="{9C0613C0-FBB7-284C-AA40-5548C7D21D6A}"/>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id="{4AC7E45E-9572-044A-9C56-FC7ECFA5552F}"/>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pic>
          <p:nvPicPr>
            <p:cNvPr id="363" name="Picture 1068" descr="screen">
              <a:extLst>
                <a:ext uri="{FF2B5EF4-FFF2-40B4-BE49-F238E27FC236}">
                  <a16:creationId xmlns:a16="http://schemas.microsoft.com/office/drawing/2014/main" id="{F1045CBD-A537-1447-9CC0-AA3BBA3EFD19}"/>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65" name="Freeform 1070">
              <a:extLst>
                <a:ext uri="{FF2B5EF4-FFF2-40B4-BE49-F238E27FC236}">
                  <a16:creationId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66" name="Freeform 1071">
              <a:extLst>
                <a:ext uri="{FF2B5EF4-FFF2-40B4-BE49-F238E27FC236}">
                  <a16:creationId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67" name="Freeform 1072">
              <a:extLst>
                <a:ext uri="{FF2B5EF4-FFF2-40B4-BE49-F238E27FC236}">
                  <a16:creationId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68" name="Freeform 1073">
              <a:extLst>
                <a:ext uri="{FF2B5EF4-FFF2-40B4-BE49-F238E27FC236}">
                  <a16:creationId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69" name="Freeform 1074">
              <a:extLst>
                <a:ext uri="{FF2B5EF4-FFF2-40B4-BE49-F238E27FC236}">
                  <a16:creationId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370" name="Group 1075">
              <a:extLst>
                <a:ext uri="{FF2B5EF4-FFF2-40B4-BE49-F238E27FC236}">
                  <a16:creationId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8" name="Freeform 1077">
                <a:extLst>
                  <a:ext uri="{FF2B5EF4-FFF2-40B4-BE49-F238E27FC236}">
                    <a16:creationId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9" name="Freeform 1078">
                <a:extLst>
                  <a:ext uri="{FF2B5EF4-FFF2-40B4-BE49-F238E27FC236}">
                    <a16:creationId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80" name="Freeform 1079">
                <a:extLst>
                  <a:ext uri="{FF2B5EF4-FFF2-40B4-BE49-F238E27FC236}">
                    <a16:creationId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81" name="Freeform 1080">
                <a:extLst>
                  <a:ext uri="{FF2B5EF4-FFF2-40B4-BE49-F238E27FC236}">
                    <a16:creationId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82" name="Freeform 1081">
                <a:extLst>
                  <a:ext uri="{FF2B5EF4-FFF2-40B4-BE49-F238E27FC236}">
                    <a16:creationId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371" name="Freeform 1082">
              <a:extLst>
                <a:ext uri="{FF2B5EF4-FFF2-40B4-BE49-F238E27FC236}">
                  <a16:creationId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2" name="Freeform 1083">
              <a:extLst>
                <a:ext uri="{FF2B5EF4-FFF2-40B4-BE49-F238E27FC236}">
                  <a16:creationId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3" name="Freeform 1084">
              <a:extLst>
                <a:ext uri="{FF2B5EF4-FFF2-40B4-BE49-F238E27FC236}">
                  <a16:creationId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4" name="Freeform 1085">
              <a:extLst>
                <a:ext uri="{FF2B5EF4-FFF2-40B4-BE49-F238E27FC236}">
                  <a16:creationId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5" name="Freeform 1086">
              <a:extLst>
                <a:ext uri="{FF2B5EF4-FFF2-40B4-BE49-F238E27FC236}">
                  <a16:creationId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6" name="Freeform 1087">
              <a:extLst>
                <a:ext uri="{FF2B5EF4-FFF2-40B4-BE49-F238E27FC236}">
                  <a16:creationId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383" name="Group 590">
            <a:extLst>
              <a:ext uri="{FF2B5EF4-FFF2-40B4-BE49-F238E27FC236}">
                <a16:creationId xmlns:a16="http://schemas.microsoft.com/office/drawing/2014/main" id="{0E70B6A3-FE5E-A44E-9290-B5AD07E8CD4C}"/>
              </a:ext>
            </a:extLst>
          </p:cNvPr>
          <p:cNvGrpSpPr>
            <a:grpSpLocks/>
          </p:cNvGrpSpPr>
          <p:nvPr/>
        </p:nvGrpSpPr>
        <p:grpSpPr bwMode="auto">
          <a:xfrm flipH="1">
            <a:off x="6115432" y="4985743"/>
            <a:ext cx="259223" cy="240227"/>
            <a:chOff x="2839" y="3501"/>
            <a:chExt cx="755" cy="803"/>
          </a:xfrm>
        </p:grpSpPr>
        <p:pic>
          <p:nvPicPr>
            <p:cNvPr id="384" name="Picture 591" descr="desktop_computer_stylized_medium">
              <a:extLst>
                <a:ext uri="{FF2B5EF4-FFF2-40B4-BE49-F238E27FC236}">
                  <a16:creationId xmlns:a16="http://schemas.microsoft.com/office/drawing/2014/main" id="{F2BC7D5E-BF7D-1249-AFC8-B8B0E8165A3E}"/>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386" name="Group 590">
            <a:extLst>
              <a:ext uri="{FF2B5EF4-FFF2-40B4-BE49-F238E27FC236}">
                <a16:creationId xmlns:a16="http://schemas.microsoft.com/office/drawing/2014/main" id="{F4D03415-B38F-5B44-9B13-ABF6FE4BB199}"/>
              </a:ext>
            </a:extLst>
          </p:cNvPr>
          <p:cNvGrpSpPr>
            <a:grpSpLocks/>
          </p:cNvGrpSpPr>
          <p:nvPr/>
        </p:nvGrpSpPr>
        <p:grpSpPr bwMode="auto">
          <a:xfrm flipH="1">
            <a:off x="6414100" y="5001847"/>
            <a:ext cx="259223" cy="240227"/>
            <a:chOff x="2839" y="3501"/>
            <a:chExt cx="755" cy="803"/>
          </a:xfrm>
        </p:grpSpPr>
        <p:pic>
          <p:nvPicPr>
            <p:cNvPr id="387" name="Picture 591" descr="desktop_computer_stylized_medium">
              <a:extLst>
                <a:ext uri="{FF2B5EF4-FFF2-40B4-BE49-F238E27FC236}">
                  <a16:creationId xmlns:a16="http://schemas.microsoft.com/office/drawing/2014/main" id="{32EA6117-AAC5-C94D-B49B-C43DF16E6002}"/>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389" name="Group 1064">
            <a:extLst>
              <a:ext uri="{FF2B5EF4-FFF2-40B4-BE49-F238E27FC236}">
                <a16:creationId xmlns:a16="http://schemas.microsoft.com/office/drawing/2014/main" id="{8D491387-EBC3-2D40-9285-1F06C1D72E08}"/>
              </a:ext>
            </a:extLst>
          </p:cNvPr>
          <p:cNvGrpSpPr>
            <a:grpSpLocks/>
          </p:cNvGrpSpPr>
          <p:nvPr/>
        </p:nvGrpSpPr>
        <p:grpSpPr bwMode="auto">
          <a:xfrm>
            <a:off x="7151060" y="5203604"/>
            <a:ext cx="239448" cy="190034"/>
            <a:chOff x="877" y="1008"/>
            <a:chExt cx="2747" cy="2591"/>
          </a:xfrm>
        </p:grpSpPr>
        <p:pic>
          <p:nvPicPr>
            <p:cNvPr id="390" name="Picture 1065" descr="antenna_stylized">
              <a:extLst>
                <a:ext uri="{FF2B5EF4-FFF2-40B4-BE49-F238E27FC236}">
                  <a16:creationId xmlns:a16="http://schemas.microsoft.com/office/drawing/2014/main" id="{E1605A46-E7E7-DA4D-A7B1-3F2BF5D0E037}"/>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id="{E538A48B-7DCF-524B-8A59-631429692CBD}"/>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pic>
          <p:nvPicPr>
            <p:cNvPr id="393" name="Picture 1068" descr="screen">
              <a:extLst>
                <a:ext uri="{FF2B5EF4-FFF2-40B4-BE49-F238E27FC236}">
                  <a16:creationId xmlns:a16="http://schemas.microsoft.com/office/drawing/2014/main" id="{05FB75E6-02C0-C749-B8C1-6EE94751EFE8}"/>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95" name="Freeform 1070">
              <a:extLst>
                <a:ext uri="{FF2B5EF4-FFF2-40B4-BE49-F238E27FC236}">
                  <a16:creationId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96" name="Freeform 1071">
              <a:extLst>
                <a:ext uri="{FF2B5EF4-FFF2-40B4-BE49-F238E27FC236}">
                  <a16:creationId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97" name="Freeform 1072">
              <a:extLst>
                <a:ext uri="{FF2B5EF4-FFF2-40B4-BE49-F238E27FC236}">
                  <a16:creationId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98" name="Freeform 1073">
              <a:extLst>
                <a:ext uri="{FF2B5EF4-FFF2-40B4-BE49-F238E27FC236}">
                  <a16:creationId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99" name="Freeform 1074">
              <a:extLst>
                <a:ext uri="{FF2B5EF4-FFF2-40B4-BE49-F238E27FC236}">
                  <a16:creationId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400" name="Group 1075">
              <a:extLst>
                <a:ext uri="{FF2B5EF4-FFF2-40B4-BE49-F238E27FC236}">
                  <a16:creationId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8" name="Freeform 1077">
                <a:extLst>
                  <a:ext uri="{FF2B5EF4-FFF2-40B4-BE49-F238E27FC236}">
                    <a16:creationId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9" name="Freeform 1078">
                <a:extLst>
                  <a:ext uri="{FF2B5EF4-FFF2-40B4-BE49-F238E27FC236}">
                    <a16:creationId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0" name="Freeform 1079">
                <a:extLst>
                  <a:ext uri="{FF2B5EF4-FFF2-40B4-BE49-F238E27FC236}">
                    <a16:creationId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1" name="Freeform 1080">
                <a:extLst>
                  <a:ext uri="{FF2B5EF4-FFF2-40B4-BE49-F238E27FC236}">
                    <a16:creationId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2" name="Freeform 1081">
                <a:extLst>
                  <a:ext uri="{FF2B5EF4-FFF2-40B4-BE49-F238E27FC236}">
                    <a16:creationId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401" name="Freeform 1082">
              <a:extLst>
                <a:ext uri="{FF2B5EF4-FFF2-40B4-BE49-F238E27FC236}">
                  <a16:creationId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2" name="Freeform 1083">
              <a:extLst>
                <a:ext uri="{FF2B5EF4-FFF2-40B4-BE49-F238E27FC236}">
                  <a16:creationId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3" name="Freeform 1084">
              <a:extLst>
                <a:ext uri="{FF2B5EF4-FFF2-40B4-BE49-F238E27FC236}">
                  <a16:creationId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4" name="Freeform 1085">
              <a:extLst>
                <a:ext uri="{FF2B5EF4-FFF2-40B4-BE49-F238E27FC236}">
                  <a16:creationId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5" name="Freeform 1086">
              <a:extLst>
                <a:ext uri="{FF2B5EF4-FFF2-40B4-BE49-F238E27FC236}">
                  <a16:creationId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6" name="Freeform 1087">
              <a:extLst>
                <a:ext uri="{FF2B5EF4-FFF2-40B4-BE49-F238E27FC236}">
                  <a16:creationId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413" name="Freeform 984">
            <a:extLst>
              <a:ext uri="{FF2B5EF4-FFF2-40B4-BE49-F238E27FC236}">
                <a16:creationId xmlns:a16="http://schemas.microsoft.com/office/drawing/2014/main" id="{EF28E360-D52F-294F-97A4-5B43A7D60CE3}"/>
              </a:ext>
            </a:extLst>
          </p:cNvPr>
          <p:cNvSpPr>
            <a:spLocks/>
          </p:cNvSpPr>
          <p:nvPr/>
        </p:nvSpPr>
        <p:spPr bwMode="auto">
          <a:xfrm>
            <a:off x="7615195" y="5084978"/>
            <a:ext cx="25537" cy="249693"/>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4" name="Freeform 986">
            <a:extLst>
              <a:ext uri="{FF2B5EF4-FFF2-40B4-BE49-F238E27FC236}">
                <a16:creationId xmlns:a16="http://schemas.microsoft.com/office/drawing/2014/main" id="{9D5E80B1-F637-9E4D-BFD5-5F5ADB827A42}"/>
              </a:ext>
            </a:extLst>
          </p:cNvPr>
          <p:cNvSpPr>
            <a:spLocks/>
          </p:cNvSpPr>
          <p:nvPr/>
        </p:nvSpPr>
        <p:spPr bwMode="auto">
          <a:xfrm>
            <a:off x="7619978" y="5099942"/>
            <a:ext cx="15250" cy="2310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5" name="Freeform 987">
            <a:extLst>
              <a:ext uri="{FF2B5EF4-FFF2-40B4-BE49-F238E27FC236}">
                <a16:creationId xmlns:a16="http://schemas.microsoft.com/office/drawing/2014/main" id="{F21D56DB-F5E9-8D44-92D9-C4770361B950}"/>
              </a:ext>
            </a:extLst>
          </p:cNvPr>
          <p:cNvSpPr>
            <a:spLocks/>
          </p:cNvSpPr>
          <p:nvPr/>
        </p:nvSpPr>
        <p:spPr bwMode="auto">
          <a:xfrm>
            <a:off x="7616639" y="5216815"/>
            <a:ext cx="23732" cy="20644"/>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6" name="Rectangle 988">
            <a:extLst>
              <a:ext uri="{FF2B5EF4-FFF2-40B4-BE49-F238E27FC236}">
                <a16:creationId xmlns:a16="http://schemas.microsoft.com/office/drawing/2014/main" id="{0447DE90-707A-1F42-8981-9A87D22C1D1D}"/>
              </a:ext>
            </a:extLst>
          </p:cNvPr>
          <p:cNvSpPr>
            <a:spLocks noChangeArrowheads="1"/>
          </p:cNvSpPr>
          <p:nvPr/>
        </p:nvSpPr>
        <p:spPr bwMode="auto">
          <a:xfrm>
            <a:off x="7519725" y="5113050"/>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17" name="Group 989">
            <a:extLst>
              <a:ext uri="{FF2B5EF4-FFF2-40B4-BE49-F238E27FC236}">
                <a16:creationId xmlns:a16="http://schemas.microsoft.com/office/drawing/2014/main" id="{A6C8AE16-7445-9845-8F83-A3F851D4F042}"/>
              </a:ext>
            </a:extLst>
          </p:cNvPr>
          <p:cNvGrpSpPr>
            <a:grpSpLocks/>
          </p:cNvGrpSpPr>
          <p:nvPr/>
        </p:nvGrpSpPr>
        <p:grpSpPr bwMode="auto">
          <a:xfrm>
            <a:off x="7568362" y="5110647"/>
            <a:ext cx="52427" cy="15838"/>
            <a:chOff x="614" y="2568"/>
            <a:chExt cx="725" cy="139"/>
          </a:xfrm>
        </p:grpSpPr>
        <p:sp>
          <p:nvSpPr>
            <p:cNvPr id="418" name="AutoShape 990">
              <a:extLst>
                <a:ext uri="{FF2B5EF4-FFF2-40B4-BE49-F238E27FC236}">
                  <a16:creationId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19" name="AutoShape 991">
              <a:extLst>
                <a:ext uri="{FF2B5EF4-FFF2-40B4-BE49-F238E27FC236}">
                  <a16:creationId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20" name="Rectangle 992">
            <a:extLst>
              <a:ext uri="{FF2B5EF4-FFF2-40B4-BE49-F238E27FC236}">
                <a16:creationId xmlns:a16="http://schemas.microsoft.com/office/drawing/2014/main" id="{E881C066-69A3-D649-893B-A3C4CB9FAE81}"/>
              </a:ext>
            </a:extLst>
          </p:cNvPr>
          <p:cNvSpPr>
            <a:spLocks noChangeArrowheads="1"/>
          </p:cNvSpPr>
          <p:nvPr/>
        </p:nvSpPr>
        <p:spPr bwMode="auto">
          <a:xfrm>
            <a:off x="7520627" y="5149313"/>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21" name="Group 993">
            <a:extLst>
              <a:ext uri="{FF2B5EF4-FFF2-40B4-BE49-F238E27FC236}">
                <a16:creationId xmlns:a16="http://schemas.microsoft.com/office/drawing/2014/main" id="{2B8081F4-DBFC-C442-BDEE-DF67BF3817BC}"/>
              </a:ext>
            </a:extLst>
          </p:cNvPr>
          <p:cNvGrpSpPr>
            <a:grpSpLocks/>
          </p:cNvGrpSpPr>
          <p:nvPr/>
        </p:nvGrpSpPr>
        <p:grpSpPr bwMode="auto">
          <a:xfrm>
            <a:off x="7568182" y="5146255"/>
            <a:ext cx="52427" cy="14636"/>
            <a:chOff x="614" y="2568"/>
            <a:chExt cx="725" cy="139"/>
          </a:xfrm>
        </p:grpSpPr>
        <p:sp>
          <p:nvSpPr>
            <p:cNvPr id="422" name="AutoShape 994">
              <a:extLst>
                <a:ext uri="{FF2B5EF4-FFF2-40B4-BE49-F238E27FC236}">
                  <a16:creationId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23" name="AutoShape 995">
              <a:extLst>
                <a:ext uri="{FF2B5EF4-FFF2-40B4-BE49-F238E27FC236}">
                  <a16:creationId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24" name="Rectangle 996">
            <a:extLst>
              <a:ext uri="{FF2B5EF4-FFF2-40B4-BE49-F238E27FC236}">
                <a16:creationId xmlns:a16="http://schemas.microsoft.com/office/drawing/2014/main" id="{2F7E8752-11E5-3642-90E6-5285D40EA469}"/>
              </a:ext>
            </a:extLst>
          </p:cNvPr>
          <p:cNvSpPr>
            <a:spLocks noChangeArrowheads="1"/>
          </p:cNvSpPr>
          <p:nvPr/>
        </p:nvSpPr>
        <p:spPr bwMode="auto">
          <a:xfrm>
            <a:off x="7520627" y="5185576"/>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25" name="Rectangle 997">
            <a:extLst>
              <a:ext uri="{FF2B5EF4-FFF2-40B4-BE49-F238E27FC236}">
                <a16:creationId xmlns:a16="http://schemas.microsoft.com/office/drawing/2014/main" id="{C884D5C3-FF18-F04A-B4E2-7E02117C03FE}"/>
              </a:ext>
            </a:extLst>
          </p:cNvPr>
          <p:cNvSpPr>
            <a:spLocks noChangeArrowheads="1"/>
          </p:cNvSpPr>
          <p:nvPr/>
        </p:nvSpPr>
        <p:spPr bwMode="auto">
          <a:xfrm>
            <a:off x="7521529" y="5218454"/>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26" name="Group 998">
            <a:extLst>
              <a:ext uri="{FF2B5EF4-FFF2-40B4-BE49-F238E27FC236}">
                <a16:creationId xmlns:a16="http://schemas.microsoft.com/office/drawing/2014/main" id="{D321F228-396F-C44B-AA64-15D0F1B6CEFB}"/>
              </a:ext>
            </a:extLst>
          </p:cNvPr>
          <p:cNvGrpSpPr>
            <a:grpSpLocks/>
          </p:cNvGrpSpPr>
          <p:nvPr/>
        </p:nvGrpSpPr>
        <p:grpSpPr bwMode="auto">
          <a:xfrm>
            <a:off x="7567099" y="5215396"/>
            <a:ext cx="52518" cy="16493"/>
            <a:chOff x="614" y="2568"/>
            <a:chExt cx="725" cy="139"/>
          </a:xfrm>
        </p:grpSpPr>
        <p:sp>
          <p:nvSpPr>
            <p:cNvPr id="427" name="AutoShape 999">
              <a:extLst>
                <a:ext uri="{FF2B5EF4-FFF2-40B4-BE49-F238E27FC236}">
                  <a16:creationId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28" name="AutoShape 1000">
              <a:extLst>
                <a:ext uri="{FF2B5EF4-FFF2-40B4-BE49-F238E27FC236}">
                  <a16:creationId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29" name="Freeform 1001">
            <a:extLst>
              <a:ext uri="{FF2B5EF4-FFF2-40B4-BE49-F238E27FC236}">
                <a16:creationId xmlns:a16="http://schemas.microsoft.com/office/drawing/2014/main" id="{A40EEA2E-A801-414B-8FBC-BBC009ECE19B}"/>
              </a:ext>
            </a:extLst>
          </p:cNvPr>
          <p:cNvSpPr>
            <a:spLocks/>
          </p:cNvSpPr>
          <p:nvPr/>
        </p:nvSpPr>
        <p:spPr bwMode="auto">
          <a:xfrm>
            <a:off x="7617001" y="5185576"/>
            <a:ext cx="23732" cy="20535"/>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430" name="Group 1002">
            <a:extLst>
              <a:ext uri="{FF2B5EF4-FFF2-40B4-BE49-F238E27FC236}">
                <a16:creationId xmlns:a16="http://schemas.microsoft.com/office/drawing/2014/main" id="{F068EC4B-78B0-B24C-99A7-F96D6C86A2B9}"/>
              </a:ext>
            </a:extLst>
          </p:cNvPr>
          <p:cNvGrpSpPr>
            <a:grpSpLocks/>
          </p:cNvGrpSpPr>
          <p:nvPr/>
        </p:nvGrpSpPr>
        <p:grpSpPr bwMode="auto">
          <a:xfrm>
            <a:off x="7567460" y="5182627"/>
            <a:ext cx="52518" cy="15182"/>
            <a:chOff x="614" y="2568"/>
            <a:chExt cx="725" cy="139"/>
          </a:xfrm>
        </p:grpSpPr>
        <p:sp>
          <p:nvSpPr>
            <p:cNvPr id="431" name="AutoShape 1003">
              <a:extLst>
                <a:ext uri="{FF2B5EF4-FFF2-40B4-BE49-F238E27FC236}">
                  <a16:creationId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32" name="AutoShape 1004">
              <a:extLst>
                <a:ext uri="{FF2B5EF4-FFF2-40B4-BE49-F238E27FC236}">
                  <a16:creationId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33" name="Rectangle 1005">
            <a:extLst>
              <a:ext uri="{FF2B5EF4-FFF2-40B4-BE49-F238E27FC236}">
                <a16:creationId xmlns:a16="http://schemas.microsoft.com/office/drawing/2014/main" id="{10238275-C02A-F74A-A765-B593C055F724}"/>
              </a:ext>
            </a:extLst>
          </p:cNvPr>
          <p:cNvSpPr>
            <a:spLocks noChangeArrowheads="1"/>
          </p:cNvSpPr>
          <p:nvPr/>
        </p:nvSpPr>
        <p:spPr bwMode="auto">
          <a:xfrm>
            <a:off x="7613209" y="5084541"/>
            <a:ext cx="6317" cy="249584"/>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34" name="Freeform 1006">
            <a:extLst>
              <a:ext uri="{FF2B5EF4-FFF2-40B4-BE49-F238E27FC236}">
                <a16:creationId xmlns:a16="http://schemas.microsoft.com/office/drawing/2014/main" id="{81D6D301-6C77-C64B-B2D0-382D840AA7FC}"/>
              </a:ext>
            </a:extLst>
          </p:cNvPr>
          <p:cNvSpPr>
            <a:spLocks/>
          </p:cNvSpPr>
          <p:nvPr/>
        </p:nvSpPr>
        <p:spPr bwMode="auto">
          <a:xfrm>
            <a:off x="7619166" y="5147675"/>
            <a:ext cx="21386" cy="23265"/>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35" name="Freeform 1007">
            <a:extLst>
              <a:ext uri="{FF2B5EF4-FFF2-40B4-BE49-F238E27FC236}">
                <a16:creationId xmlns:a16="http://schemas.microsoft.com/office/drawing/2014/main" id="{6966CA35-6F7B-6C4F-AEE3-078FED56DF20}"/>
              </a:ext>
            </a:extLst>
          </p:cNvPr>
          <p:cNvSpPr>
            <a:spLocks/>
          </p:cNvSpPr>
          <p:nvPr/>
        </p:nvSpPr>
        <p:spPr bwMode="auto">
          <a:xfrm>
            <a:off x="7619436" y="5111958"/>
            <a:ext cx="22018" cy="26215"/>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36" name="Oval 1008">
            <a:extLst>
              <a:ext uri="{FF2B5EF4-FFF2-40B4-BE49-F238E27FC236}">
                <a16:creationId xmlns:a16="http://schemas.microsoft.com/office/drawing/2014/main" id="{2CFA9381-C4F6-8A4A-BCBB-312388656716}"/>
              </a:ext>
            </a:extLst>
          </p:cNvPr>
          <p:cNvSpPr>
            <a:spLocks noChangeArrowheads="1"/>
          </p:cNvSpPr>
          <p:nvPr/>
        </p:nvSpPr>
        <p:spPr bwMode="auto">
          <a:xfrm>
            <a:off x="7637483" y="5322875"/>
            <a:ext cx="4512" cy="1037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37" name="Freeform 1009">
            <a:extLst>
              <a:ext uri="{FF2B5EF4-FFF2-40B4-BE49-F238E27FC236}">
                <a16:creationId xmlns:a16="http://schemas.microsoft.com/office/drawing/2014/main" id="{B30AEBEB-78E1-754E-BA64-FEE706BFF392}"/>
              </a:ext>
            </a:extLst>
          </p:cNvPr>
          <p:cNvSpPr>
            <a:spLocks/>
          </p:cNvSpPr>
          <p:nvPr/>
        </p:nvSpPr>
        <p:spPr bwMode="auto">
          <a:xfrm>
            <a:off x="7618263" y="5323203"/>
            <a:ext cx="22108" cy="21845"/>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38" name="AutoShape 1010">
            <a:extLst>
              <a:ext uri="{FF2B5EF4-FFF2-40B4-BE49-F238E27FC236}">
                <a16:creationId xmlns:a16="http://schemas.microsoft.com/office/drawing/2014/main" id="{F2779901-7D8F-784A-8E8D-397036700A71}"/>
              </a:ext>
            </a:extLst>
          </p:cNvPr>
          <p:cNvSpPr>
            <a:spLocks noChangeArrowheads="1"/>
          </p:cNvSpPr>
          <p:nvPr/>
        </p:nvSpPr>
        <p:spPr bwMode="auto">
          <a:xfrm>
            <a:off x="7513408" y="5329866"/>
            <a:ext cx="107924" cy="16384"/>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39" name="AutoShape 1011">
            <a:extLst>
              <a:ext uri="{FF2B5EF4-FFF2-40B4-BE49-F238E27FC236}">
                <a16:creationId xmlns:a16="http://schemas.microsoft.com/office/drawing/2014/main" id="{87A8BD55-4166-4643-A7DA-52B9D36F3801}"/>
              </a:ext>
            </a:extLst>
          </p:cNvPr>
          <p:cNvSpPr>
            <a:spLocks noChangeArrowheads="1"/>
          </p:cNvSpPr>
          <p:nvPr/>
        </p:nvSpPr>
        <p:spPr bwMode="auto">
          <a:xfrm>
            <a:off x="7519725" y="5334125"/>
            <a:ext cx="96193" cy="862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40" name="Oval 1012">
            <a:extLst>
              <a:ext uri="{FF2B5EF4-FFF2-40B4-BE49-F238E27FC236}">
                <a16:creationId xmlns:a16="http://schemas.microsoft.com/office/drawing/2014/main" id="{0F991E83-25F4-2549-B34F-7A98472010D7}"/>
              </a:ext>
            </a:extLst>
          </p:cNvPr>
          <p:cNvSpPr>
            <a:spLocks noChangeArrowheads="1"/>
          </p:cNvSpPr>
          <p:nvPr/>
        </p:nvSpPr>
        <p:spPr bwMode="auto">
          <a:xfrm>
            <a:off x="7528657" y="5297861"/>
            <a:ext cx="14348" cy="1551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41" name="Oval 1013">
            <a:extLst>
              <a:ext uri="{FF2B5EF4-FFF2-40B4-BE49-F238E27FC236}">
                <a16:creationId xmlns:a16="http://schemas.microsoft.com/office/drawing/2014/main" id="{01F6513A-F015-D94A-929C-75D48673F75A}"/>
              </a:ext>
            </a:extLst>
          </p:cNvPr>
          <p:cNvSpPr>
            <a:spLocks noChangeArrowheads="1"/>
          </p:cNvSpPr>
          <p:nvPr/>
        </p:nvSpPr>
        <p:spPr bwMode="auto">
          <a:xfrm>
            <a:off x="7544900" y="5297861"/>
            <a:ext cx="14348" cy="1551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fontAlgn="auto" hangingPunct="1">
              <a:lnSpc>
                <a:spcPct val="100000"/>
              </a:lnSpc>
              <a:spcBef>
                <a:spcPct val="0"/>
              </a:spcBef>
              <a:spcAft>
                <a:spcPts val="0"/>
              </a:spcAft>
              <a:buClrTx/>
              <a:buSzTx/>
              <a:buNone/>
              <a:defRPr/>
            </a:pPr>
            <a:endParaRPr lang="en-US" altLang="en-US" sz="1350">
              <a:solidFill>
                <a:srgbClr val="FF0000"/>
              </a:solidFill>
              <a:latin typeface="Arial" panose="020B0604020202020204" pitchFamily="34" charset="0"/>
            </a:endParaRPr>
          </a:p>
        </p:txBody>
      </p:sp>
      <p:sp>
        <p:nvSpPr>
          <p:cNvPr id="442" name="Oval 1014">
            <a:extLst>
              <a:ext uri="{FF2B5EF4-FFF2-40B4-BE49-F238E27FC236}">
                <a16:creationId xmlns:a16="http://schemas.microsoft.com/office/drawing/2014/main" id="{DF2F1710-E7DF-7E48-A534-44E42CD00502}"/>
              </a:ext>
            </a:extLst>
          </p:cNvPr>
          <p:cNvSpPr>
            <a:spLocks noChangeArrowheads="1"/>
          </p:cNvSpPr>
          <p:nvPr/>
        </p:nvSpPr>
        <p:spPr bwMode="auto">
          <a:xfrm>
            <a:off x="7560151" y="5297861"/>
            <a:ext cx="14348" cy="1551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43" name="Rectangle 1015">
            <a:extLst>
              <a:ext uri="{FF2B5EF4-FFF2-40B4-BE49-F238E27FC236}">
                <a16:creationId xmlns:a16="http://schemas.microsoft.com/office/drawing/2014/main" id="{328DCBC9-32E9-FD44-B2CF-3BC801D59B6C}"/>
              </a:ext>
            </a:extLst>
          </p:cNvPr>
          <p:cNvSpPr>
            <a:spLocks noChangeArrowheads="1"/>
          </p:cNvSpPr>
          <p:nvPr/>
        </p:nvSpPr>
        <p:spPr bwMode="auto">
          <a:xfrm>
            <a:off x="7597058" y="5238333"/>
            <a:ext cx="7219" cy="82904"/>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47" name="Group 590">
            <a:extLst>
              <a:ext uri="{FF2B5EF4-FFF2-40B4-BE49-F238E27FC236}">
                <a16:creationId xmlns:a16="http://schemas.microsoft.com/office/drawing/2014/main" id="{CCAB7625-FEE3-BB4A-97C1-EF1CC2679904}"/>
              </a:ext>
            </a:extLst>
          </p:cNvPr>
          <p:cNvGrpSpPr>
            <a:grpSpLocks/>
          </p:cNvGrpSpPr>
          <p:nvPr/>
        </p:nvGrpSpPr>
        <p:grpSpPr bwMode="auto">
          <a:xfrm flipH="1">
            <a:off x="5830486" y="4818045"/>
            <a:ext cx="259223" cy="240227"/>
            <a:chOff x="2839" y="3501"/>
            <a:chExt cx="755" cy="803"/>
          </a:xfrm>
        </p:grpSpPr>
        <p:pic>
          <p:nvPicPr>
            <p:cNvPr id="451" name="Picture 591" descr="desktop_computer_stylized_medium">
              <a:extLst>
                <a:ext uri="{FF2B5EF4-FFF2-40B4-BE49-F238E27FC236}">
                  <a16:creationId xmlns:a16="http://schemas.microsoft.com/office/drawing/2014/main" id="{FC71EB74-5BE7-7A48-B637-5058D8494691}"/>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444" name="Rectangle 443">
            <a:extLst>
              <a:ext uri="{FF2B5EF4-FFF2-40B4-BE49-F238E27FC236}">
                <a16:creationId xmlns:a16="http://schemas.microsoft.com/office/drawing/2014/main" id="{C47118FD-7A98-6943-B3A3-B578E5FB9F06}"/>
              </a:ext>
            </a:extLst>
          </p:cNvPr>
          <p:cNvSpPr/>
          <p:nvPr/>
        </p:nvSpPr>
        <p:spPr>
          <a:xfrm>
            <a:off x="4804700" y="1886623"/>
            <a:ext cx="4019550" cy="3715971"/>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nvGrpSpPr>
          <p:cNvPr id="446" name="Group 652">
            <a:extLst>
              <a:ext uri="{FF2B5EF4-FFF2-40B4-BE49-F238E27FC236}">
                <a16:creationId xmlns:a16="http://schemas.microsoft.com/office/drawing/2014/main" id="{84B474B2-2AC4-EC40-9EA0-B5E48CE68CBD}"/>
              </a:ext>
            </a:extLst>
          </p:cNvPr>
          <p:cNvGrpSpPr>
            <a:grpSpLocks/>
          </p:cNvGrpSpPr>
          <p:nvPr/>
        </p:nvGrpSpPr>
        <p:grpSpPr bwMode="auto">
          <a:xfrm>
            <a:off x="5812668" y="2252044"/>
            <a:ext cx="311944" cy="289322"/>
            <a:chOff x="2751" y="1851"/>
            <a:chExt cx="462" cy="478"/>
          </a:xfrm>
        </p:grpSpPr>
        <p:pic>
          <p:nvPicPr>
            <p:cNvPr id="453" name="Picture 653" descr="iphone_stylized_small">
              <a:extLst>
                <a:ext uri="{FF2B5EF4-FFF2-40B4-BE49-F238E27FC236}">
                  <a16:creationId xmlns:a16="http://schemas.microsoft.com/office/drawing/2014/main" id="{34A94CEC-DE5F-E64D-A5B4-F04DB32319EA}"/>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id="{67C4AABE-F80E-F846-A0E8-D555DE64EBB1}"/>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84" name="Group 950">
            <a:extLst>
              <a:ext uri="{FF2B5EF4-FFF2-40B4-BE49-F238E27FC236}">
                <a16:creationId xmlns:a16="http://schemas.microsoft.com/office/drawing/2014/main" id="{7CEBBAF6-579E-3943-B1EB-BB883618D6D9}"/>
              </a:ext>
            </a:extLst>
          </p:cNvPr>
          <p:cNvGrpSpPr>
            <a:grpSpLocks/>
          </p:cNvGrpSpPr>
          <p:nvPr/>
        </p:nvGrpSpPr>
        <p:grpSpPr bwMode="auto">
          <a:xfrm>
            <a:off x="7501881" y="5069550"/>
            <a:ext cx="161231" cy="302940"/>
            <a:chOff x="4140" y="429"/>
            <a:chExt cx="1425" cy="2396"/>
          </a:xfrm>
        </p:grpSpPr>
        <p:sp>
          <p:nvSpPr>
            <p:cNvPr id="485" name="Freeform 951">
              <a:extLst>
                <a:ext uri="{FF2B5EF4-FFF2-40B4-BE49-F238E27FC236}">
                  <a16:creationId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86" name="Rectangle 952">
              <a:extLst>
                <a:ext uri="{FF2B5EF4-FFF2-40B4-BE49-F238E27FC236}">
                  <a16:creationId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87" name="Freeform 953">
              <a:extLst>
                <a:ext uri="{FF2B5EF4-FFF2-40B4-BE49-F238E27FC236}">
                  <a16:creationId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88" name="Freeform 954">
              <a:extLst>
                <a:ext uri="{FF2B5EF4-FFF2-40B4-BE49-F238E27FC236}">
                  <a16:creationId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89" name="Rectangle 955">
              <a:extLst>
                <a:ext uri="{FF2B5EF4-FFF2-40B4-BE49-F238E27FC236}">
                  <a16:creationId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90" name="Group 956">
              <a:extLst>
                <a:ext uri="{FF2B5EF4-FFF2-40B4-BE49-F238E27FC236}">
                  <a16:creationId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16" name="AutoShape 958">
                <a:extLst>
                  <a:ext uri="{FF2B5EF4-FFF2-40B4-BE49-F238E27FC236}">
                    <a16:creationId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91" name="Rectangle 959">
              <a:extLst>
                <a:ext uri="{FF2B5EF4-FFF2-40B4-BE49-F238E27FC236}">
                  <a16:creationId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92" name="Group 960">
              <a:extLst>
                <a:ext uri="{FF2B5EF4-FFF2-40B4-BE49-F238E27FC236}">
                  <a16:creationId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14" name="AutoShape 962">
                <a:extLst>
                  <a:ext uri="{FF2B5EF4-FFF2-40B4-BE49-F238E27FC236}">
                    <a16:creationId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93" name="Rectangle 963">
              <a:extLst>
                <a:ext uri="{FF2B5EF4-FFF2-40B4-BE49-F238E27FC236}">
                  <a16:creationId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94" name="Rectangle 964">
              <a:extLst>
                <a:ext uri="{FF2B5EF4-FFF2-40B4-BE49-F238E27FC236}">
                  <a16:creationId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95" name="Group 965">
              <a:extLst>
                <a:ext uri="{FF2B5EF4-FFF2-40B4-BE49-F238E27FC236}">
                  <a16:creationId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12" name="AutoShape 967">
                <a:extLst>
                  <a:ext uri="{FF2B5EF4-FFF2-40B4-BE49-F238E27FC236}">
                    <a16:creationId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96" name="Freeform 968">
              <a:extLst>
                <a:ext uri="{FF2B5EF4-FFF2-40B4-BE49-F238E27FC236}">
                  <a16:creationId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497" name="Group 969">
              <a:extLst>
                <a:ext uri="{FF2B5EF4-FFF2-40B4-BE49-F238E27FC236}">
                  <a16:creationId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10" name="AutoShape 971">
                <a:extLst>
                  <a:ext uri="{FF2B5EF4-FFF2-40B4-BE49-F238E27FC236}">
                    <a16:creationId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98" name="Rectangle 972">
              <a:extLst>
                <a:ext uri="{FF2B5EF4-FFF2-40B4-BE49-F238E27FC236}">
                  <a16:creationId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99" name="Freeform 973">
              <a:extLst>
                <a:ext uri="{FF2B5EF4-FFF2-40B4-BE49-F238E27FC236}">
                  <a16:creationId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500" name="Freeform 974">
              <a:extLst>
                <a:ext uri="{FF2B5EF4-FFF2-40B4-BE49-F238E27FC236}">
                  <a16:creationId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501" name="Oval 975">
              <a:extLst>
                <a:ext uri="{FF2B5EF4-FFF2-40B4-BE49-F238E27FC236}">
                  <a16:creationId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02" name="Freeform 976">
              <a:extLst>
                <a:ext uri="{FF2B5EF4-FFF2-40B4-BE49-F238E27FC236}">
                  <a16:creationId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503" name="AutoShape 977">
              <a:extLst>
                <a:ext uri="{FF2B5EF4-FFF2-40B4-BE49-F238E27FC236}">
                  <a16:creationId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04" name="AutoShape 978">
              <a:extLst>
                <a:ext uri="{FF2B5EF4-FFF2-40B4-BE49-F238E27FC236}">
                  <a16:creationId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05" name="Oval 979">
              <a:extLst>
                <a:ext uri="{FF2B5EF4-FFF2-40B4-BE49-F238E27FC236}">
                  <a16:creationId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06" name="Oval 980">
              <a:extLst>
                <a:ext uri="{FF2B5EF4-FFF2-40B4-BE49-F238E27FC236}">
                  <a16:creationId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fontAlgn="auto" hangingPunct="1">
                <a:lnSpc>
                  <a:spcPct val="100000"/>
                </a:lnSpc>
                <a:spcBef>
                  <a:spcPct val="0"/>
                </a:spcBef>
                <a:spcAft>
                  <a:spcPts val="0"/>
                </a:spcAft>
                <a:buClrTx/>
                <a:buSzTx/>
                <a:buNone/>
                <a:defRPr/>
              </a:pPr>
              <a:endParaRPr lang="en-US" altLang="en-US" sz="1350">
                <a:solidFill>
                  <a:srgbClr val="FF0000"/>
                </a:solidFill>
                <a:latin typeface="Arial" panose="020B0604020202020204" pitchFamily="34" charset="0"/>
              </a:endParaRPr>
            </a:p>
          </p:txBody>
        </p:sp>
        <p:sp>
          <p:nvSpPr>
            <p:cNvPr id="507" name="Oval 981">
              <a:extLst>
                <a:ext uri="{FF2B5EF4-FFF2-40B4-BE49-F238E27FC236}">
                  <a16:creationId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08" name="Rectangle 982">
              <a:extLst>
                <a:ext uri="{FF2B5EF4-FFF2-40B4-BE49-F238E27FC236}">
                  <a16:creationId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grpSp>
        <p:nvGrpSpPr>
          <p:cNvPr id="5" name="Group 4">
            <a:extLst>
              <a:ext uri="{FF2B5EF4-FFF2-40B4-BE49-F238E27FC236}">
                <a16:creationId xmlns:a16="http://schemas.microsoft.com/office/drawing/2014/main" id="{ECB1C97D-3768-4242-9FE4-DEE44A32C22B}"/>
              </a:ext>
            </a:extLst>
          </p:cNvPr>
          <p:cNvGrpSpPr/>
          <p:nvPr/>
        </p:nvGrpSpPr>
        <p:grpSpPr>
          <a:xfrm>
            <a:off x="5760243" y="1710650"/>
            <a:ext cx="2616910" cy="3695231"/>
            <a:chOff x="7680324" y="1137866"/>
            <a:chExt cx="3489213" cy="4926975"/>
          </a:xfrm>
        </p:grpSpPr>
        <p:sp>
          <p:nvSpPr>
            <p:cNvPr id="463" name="Freeform 917">
              <a:extLst>
                <a:ext uri="{FF2B5EF4-FFF2-40B4-BE49-F238E27FC236}">
                  <a16:creationId xmlns:a16="http://schemas.microsoft.com/office/drawing/2014/main" id="{ADACC4C8-123A-0642-ADC2-DC6E1D927429}"/>
                </a:ext>
              </a:extLst>
            </p:cNvPr>
            <p:cNvSpPr>
              <a:spLocks/>
            </p:cNvSpPr>
            <p:nvPr/>
          </p:nvSpPr>
          <p:spPr bwMode="auto">
            <a:xfrm>
              <a:off x="8005845" y="1190714"/>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72" name="Freeform 917">
              <a:extLst>
                <a:ext uri="{FF2B5EF4-FFF2-40B4-BE49-F238E27FC236}">
                  <a16:creationId xmlns:a16="http://schemas.microsoft.com/office/drawing/2014/main" id="{831FA212-BCFB-1F40-96A0-1C871E9EF3AB}"/>
                </a:ext>
              </a:extLst>
            </p:cNvPr>
            <p:cNvSpPr>
              <a:spLocks/>
            </p:cNvSpPr>
            <p:nvPr/>
          </p:nvSpPr>
          <p:spPr bwMode="auto">
            <a:xfrm>
              <a:off x="10104523" y="4775289"/>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4" name="Group 3">
              <a:extLst>
                <a:ext uri="{FF2B5EF4-FFF2-40B4-BE49-F238E27FC236}">
                  <a16:creationId xmlns:a16="http://schemas.microsoft.com/office/drawing/2014/main" id="{5AD244DE-F453-1349-B665-A1EA38EE658E}"/>
                </a:ext>
              </a:extLst>
            </p:cNvPr>
            <p:cNvGrpSpPr/>
            <p:nvPr/>
          </p:nvGrpSpPr>
          <p:grpSpPr>
            <a:xfrm>
              <a:off x="7680324" y="1137866"/>
              <a:ext cx="3489213" cy="4926975"/>
              <a:chOff x="7680324" y="1137866"/>
              <a:chExt cx="3489213" cy="4926975"/>
            </a:xfrm>
          </p:grpSpPr>
          <p:sp>
            <p:nvSpPr>
              <p:cNvPr id="449" name="Oval 448">
                <a:extLst>
                  <a:ext uri="{FF2B5EF4-FFF2-40B4-BE49-F238E27FC236}">
                    <a16:creationId xmlns:a16="http://schemas.microsoft.com/office/drawing/2014/main" id="{D57ABF6C-635D-8547-9D46-7AFB160876AA}"/>
                  </a:ext>
                </a:extLst>
              </p:cNvPr>
              <p:cNvSpPr/>
              <p:nvPr/>
            </p:nvSpPr>
            <p:spPr>
              <a:xfrm>
                <a:off x="7680324" y="1814171"/>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450" name="Oval 449">
                <a:extLst>
                  <a:ext uri="{FF2B5EF4-FFF2-40B4-BE49-F238E27FC236}">
                    <a16:creationId xmlns:a16="http://schemas.microsoft.com/office/drawing/2014/main" id="{2895CDC0-6EA0-564A-AFB6-E1E735A44F41}"/>
                  </a:ext>
                </a:extLst>
              </p:cNvPr>
              <p:cNvSpPr/>
              <p:nvPr/>
            </p:nvSpPr>
            <p:spPr>
              <a:xfrm>
                <a:off x="9823450" y="5554772"/>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nvGrpSpPr>
              <p:cNvPr id="7" name="Group 6">
                <a:extLst>
                  <a:ext uri="{FF2B5EF4-FFF2-40B4-BE49-F238E27FC236}">
                    <a16:creationId xmlns:a16="http://schemas.microsoft.com/office/drawing/2014/main" id="{6CFEE881-E73C-8C4D-A5ED-9848E08F428B}"/>
                  </a:ext>
                </a:extLst>
              </p:cNvPr>
              <p:cNvGrpSpPr/>
              <p:nvPr/>
            </p:nvGrpSpPr>
            <p:grpSpPr>
              <a:xfrm>
                <a:off x="10288915" y="4742972"/>
                <a:ext cx="880622" cy="1046440"/>
                <a:chOff x="10288915" y="4742972"/>
                <a:chExt cx="880622" cy="1046440"/>
              </a:xfrm>
            </p:grpSpPr>
            <p:grpSp>
              <p:nvGrpSpPr>
                <p:cNvPr id="323" name="Group 950">
                  <a:extLst>
                    <a:ext uri="{FF2B5EF4-FFF2-40B4-BE49-F238E27FC236}">
                      <a16:creationId xmlns:a16="http://schemas.microsoft.com/office/drawing/2014/main" id="{BF16D25A-05F2-BD48-8851-FCCC3771B7E8}"/>
                    </a:ext>
                  </a:extLst>
                </p:cNvPr>
                <p:cNvGrpSpPr>
                  <a:grpSpLocks/>
                </p:cNvGrpSpPr>
                <p:nvPr/>
              </p:nvGrpSpPr>
              <p:grpSpPr bwMode="auto">
                <a:xfrm>
                  <a:off x="10288915" y="5273951"/>
                  <a:ext cx="177192" cy="330833"/>
                  <a:chOff x="4140" y="429"/>
                  <a:chExt cx="1425" cy="2396"/>
                </a:xfrm>
              </p:grpSpPr>
              <p:sp>
                <p:nvSpPr>
                  <p:cNvPr id="324" name="Freeform 951">
                    <a:extLst>
                      <a:ext uri="{FF2B5EF4-FFF2-40B4-BE49-F238E27FC236}">
                        <a16:creationId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25" name="Rectangle 952">
                    <a:extLst>
                      <a:ext uri="{FF2B5EF4-FFF2-40B4-BE49-F238E27FC236}">
                        <a16:creationId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26" name="Freeform 953">
                    <a:extLst>
                      <a:ext uri="{FF2B5EF4-FFF2-40B4-BE49-F238E27FC236}">
                        <a16:creationId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27" name="Freeform 954">
                    <a:extLst>
                      <a:ext uri="{FF2B5EF4-FFF2-40B4-BE49-F238E27FC236}">
                        <a16:creationId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28" name="Rectangle 955">
                    <a:extLst>
                      <a:ext uri="{FF2B5EF4-FFF2-40B4-BE49-F238E27FC236}">
                        <a16:creationId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329" name="Group 956">
                    <a:extLst>
                      <a:ext uri="{FF2B5EF4-FFF2-40B4-BE49-F238E27FC236}">
                        <a16:creationId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55" name="AutoShape 958">
                      <a:extLst>
                        <a:ext uri="{FF2B5EF4-FFF2-40B4-BE49-F238E27FC236}">
                          <a16:creationId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330" name="Rectangle 959">
                    <a:extLst>
                      <a:ext uri="{FF2B5EF4-FFF2-40B4-BE49-F238E27FC236}">
                        <a16:creationId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331" name="Group 960">
                    <a:extLst>
                      <a:ext uri="{FF2B5EF4-FFF2-40B4-BE49-F238E27FC236}">
                        <a16:creationId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53" name="AutoShape 962">
                      <a:extLst>
                        <a:ext uri="{FF2B5EF4-FFF2-40B4-BE49-F238E27FC236}">
                          <a16:creationId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332" name="Rectangle 963">
                    <a:extLst>
                      <a:ext uri="{FF2B5EF4-FFF2-40B4-BE49-F238E27FC236}">
                        <a16:creationId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33" name="Rectangle 964">
                    <a:extLst>
                      <a:ext uri="{FF2B5EF4-FFF2-40B4-BE49-F238E27FC236}">
                        <a16:creationId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334" name="Group 965">
                    <a:extLst>
                      <a:ext uri="{FF2B5EF4-FFF2-40B4-BE49-F238E27FC236}">
                        <a16:creationId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51" name="AutoShape 967">
                      <a:extLst>
                        <a:ext uri="{FF2B5EF4-FFF2-40B4-BE49-F238E27FC236}">
                          <a16:creationId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335" name="Freeform 968">
                    <a:extLst>
                      <a:ext uri="{FF2B5EF4-FFF2-40B4-BE49-F238E27FC236}">
                        <a16:creationId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336" name="Group 969">
                    <a:extLst>
                      <a:ext uri="{FF2B5EF4-FFF2-40B4-BE49-F238E27FC236}">
                        <a16:creationId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9" name="AutoShape 971">
                      <a:extLst>
                        <a:ext uri="{FF2B5EF4-FFF2-40B4-BE49-F238E27FC236}">
                          <a16:creationId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337" name="Rectangle 972">
                    <a:extLst>
                      <a:ext uri="{FF2B5EF4-FFF2-40B4-BE49-F238E27FC236}">
                        <a16:creationId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38" name="Freeform 973">
                    <a:extLst>
                      <a:ext uri="{FF2B5EF4-FFF2-40B4-BE49-F238E27FC236}">
                        <a16:creationId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39" name="Freeform 974">
                    <a:extLst>
                      <a:ext uri="{FF2B5EF4-FFF2-40B4-BE49-F238E27FC236}">
                        <a16:creationId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40" name="Oval 975">
                    <a:extLst>
                      <a:ext uri="{FF2B5EF4-FFF2-40B4-BE49-F238E27FC236}">
                        <a16:creationId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1" name="Freeform 976">
                    <a:extLst>
                      <a:ext uri="{FF2B5EF4-FFF2-40B4-BE49-F238E27FC236}">
                        <a16:creationId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42" name="AutoShape 977">
                    <a:extLst>
                      <a:ext uri="{FF2B5EF4-FFF2-40B4-BE49-F238E27FC236}">
                        <a16:creationId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3" name="AutoShape 978">
                    <a:extLst>
                      <a:ext uri="{FF2B5EF4-FFF2-40B4-BE49-F238E27FC236}">
                        <a16:creationId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4" name="Oval 979">
                    <a:extLst>
                      <a:ext uri="{FF2B5EF4-FFF2-40B4-BE49-F238E27FC236}">
                        <a16:creationId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5" name="Oval 980">
                    <a:extLst>
                      <a:ext uri="{FF2B5EF4-FFF2-40B4-BE49-F238E27FC236}">
                        <a16:creationId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fontAlgn="auto" hangingPunct="1">
                      <a:lnSpc>
                        <a:spcPct val="100000"/>
                      </a:lnSpc>
                      <a:spcBef>
                        <a:spcPct val="0"/>
                      </a:spcBef>
                      <a:spcAft>
                        <a:spcPts val="0"/>
                      </a:spcAft>
                      <a:buClrTx/>
                      <a:buSzTx/>
                      <a:buNone/>
                      <a:defRPr/>
                    </a:pPr>
                    <a:endParaRPr lang="en-US" altLang="en-US" sz="1350">
                      <a:solidFill>
                        <a:srgbClr val="FF0000"/>
                      </a:solidFill>
                      <a:latin typeface="Arial" panose="020B0604020202020204" pitchFamily="34" charset="0"/>
                    </a:endParaRPr>
                  </a:p>
                </p:txBody>
              </p:sp>
              <p:sp>
                <p:nvSpPr>
                  <p:cNvPr id="346" name="Oval 981">
                    <a:extLst>
                      <a:ext uri="{FF2B5EF4-FFF2-40B4-BE49-F238E27FC236}">
                        <a16:creationId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7" name="Rectangle 982">
                    <a:extLst>
                      <a:ext uri="{FF2B5EF4-FFF2-40B4-BE49-F238E27FC236}">
                        <a16:creationId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65" name="Rectangle 227">
                  <a:extLst>
                    <a:ext uri="{FF2B5EF4-FFF2-40B4-BE49-F238E27FC236}">
                      <a16:creationId xmlns:a16="http://schemas.microsoft.com/office/drawing/2014/main" id="{DDE0D48B-5AA6-5340-937B-33FE1BA44B20}"/>
                    </a:ext>
                  </a:extLst>
                </p:cNvPr>
                <p:cNvSpPr>
                  <a:spLocks noChangeArrowheads="1"/>
                </p:cNvSpPr>
                <p:nvPr/>
              </p:nvSpPr>
              <p:spPr bwMode="auto">
                <a:xfrm>
                  <a:off x="10452186" y="4753064"/>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466" name="Rectangle 228">
                  <a:extLst>
                    <a:ext uri="{FF2B5EF4-FFF2-40B4-BE49-F238E27FC236}">
                      <a16:creationId xmlns:a16="http://schemas.microsoft.com/office/drawing/2014/main" id="{AEBD2839-8A70-0849-9413-EA386C5B0A76}"/>
                    </a:ext>
                  </a:extLst>
                </p:cNvPr>
                <p:cNvSpPr>
                  <a:spLocks noChangeArrowheads="1"/>
                </p:cNvSpPr>
                <p:nvPr/>
              </p:nvSpPr>
              <p:spPr bwMode="auto">
                <a:xfrm>
                  <a:off x="10418848" y="4776877"/>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467" name="Rectangle 229">
                  <a:extLst>
                    <a:ext uri="{FF2B5EF4-FFF2-40B4-BE49-F238E27FC236}">
                      <a16:creationId xmlns:a16="http://schemas.microsoft.com/office/drawing/2014/main" id="{66D99AF7-74D7-B440-A1E0-2DC5D0A5EFA3}"/>
                    </a:ext>
                  </a:extLst>
                </p:cNvPr>
                <p:cNvSpPr>
                  <a:spLocks noChangeArrowheads="1"/>
                </p:cNvSpPr>
                <p:nvPr/>
              </p:nvSpPr>
              <p:spPr bwMode="auto">
                <a:xfrm>
                  <a:off x="10425991" y="4930726"/>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468" name="Text Box 230">
                  <a:extLst>
                    <a:ext uri="{FF2B5EF4-FFF2-40B4-BE49-F238E27FC236}">
                      <a16:creationId xmlns:a16="http://schemas.microsoft.com/office/drawing/2014/main" id="{0C785C80-53AC-EA4E-992A-05BE1EFF5EBC}"/>
                    </a:ext>
                  </a:extLst>
                </p:cNvPr>
                <p:cNvSpPr txBox="1">
                  <a:spLocks noChangeArrowheads="1"/>
                </p:cNvSpPr>
                <p:nvPr/>
              </p:nvSpPr>
              <p:spPr bwMode="auto">
                <a:xfrm>
                  <a:off x="10355150" y="4742972"/>
                  <a:ext cx="814387"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Aft>
                      <a:spcPts val="0"/>
                    </a:spcAft>
                    <a:defRPr/>
                  </a:pPr>
                  <a:r>
                    <a:rPr lang="en-US" altLang="en-US" sz="750" dirty="0">
                      <a:solidFill>
                        <a:prstClr val="black"/>
                      </a:solidFill>
                    </a:rPr>
                    <a:t>application</a:t>
                  </a:r>
                </a:p>
                <a:p>
                  <a:pPr algn="ctr" eaLnBrk="1" fontAlgn="auto" hangingPunct="1">
                    <a:spcAft>
                      <a:spcPts val="0"/>
                    </a:spcAft>
                    <a:defRPr/>
                  </a:pPr>
                  <a:r>
                    <a:rPr lang="en-US" altLang="en-US" sz="750" dirty="0">
                      <a:solidFill>
                        <a:prstClr val="white"/>
                      </a:solidFill>
                    </a:rPr>
                    <a:t>transport</a:t>
                  </a:r>
                </a:p>
                <a:p>
                  <a:pPr algn="ctr" eaLnBrk="1" fontAlgn="auto" hangingPunct="1">
                    <a:spcAft>
                      <a:spcPts val="0"/>
                    </a:spcAft>
                    <a:defRPr/>
                  </a:pPr>
                  <a:r>
                    <a:rPr lang="en-US" altLang="en-US" sz="750" dirty="0">
                      <a:solidFill>
                        <a:prstClr val="black"/>
                      </a:solidFill>
                    </a:rPr>
                    <a:t>network</a:t>
                  </a:r>
                </a:p>
                <a:p>
                  <a:pPr algn="ctr" eaLnBrk="1" fontAlgn="auto" hangingPunct="1">
                    <a:spcAft>
                      <a:spcPts val="0"/>
                    </a:spcAft>
                    <a:defRPr/>
                  </a:pPr>
                  <a:r>
                    <a:rPr lang="en-US" altLang="en-US" sz="750" dirty="0">
                      <a:solidFill>
                        <a:prstClr val="black"/>
                      </a:solidFill>
                    </a:rPr>
                    <a:t>data link</a:t>
                  </a:r>
                </a:p>
                <a:p>
                  <a:pPr algn="ctr" eaLnBrk="1" fontAlgn="auto" hangingPunct="1">
                    <a:spcAft>
                      <a:spcPts val="0"/>
                    </a:spcAft>
                    <a:defRPr/>
                  </a:pPr>
                  <a:r>
                    <a:rPr lang="en-US" altLang="en-US" sz="750" dirty="0">
                      <a:solidFill>
                        <a:prstClr val="black"/>
                      </a:solidFill>
                    </a:rPr>
                    <a:t>physical</a:t>
                  </a:r>
                  <a:endParaRPr lang="en-US" altLang="en-US" sz="1800" dirty="0">
                    <a:solidFill>
                      <a:prstClr val="black"/>
                    </a:solidFill>
                  </a:endParaRPr>
                </a:p>
              </p:txBody>
            </p:sp>
            <p:sp>
              <p:nvSpPr>
                <p:cNvPr id="469" name="Line 231">
                  <a:extLst>
                    <a:ext uri="{FF2B5EF4-FFF2-40B4-BE49-F238E27FC236}">
                      <a16:creationId xmlns:a16="http://schemas.microsoft.com/office/drawing/2014/main" id="{444422FC-4C08-2E49-AD0C-394B62D1B370}"/>
                    </a:ext>
                  </a:extLst>
                </p:cNvPr>
                <p:cNvSpPr>
                  <a:spLocks noChangeShapeType="1"/>
                </p:cNvSpPr>
                <p:nvPr/>
              </p:nvSpPr>
              <p:spPr bwMode="auto">
                <a:xfrm>
                  <a:off x="10418848" y="5119777"/>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70" name="Line 232">
                  <a:extLst>
                    <a:ext uri="{FF2B5EF4-FFF2-40B4-BE49-F238E27FC236}">
                      <a16:creationId xmlns:a16="http://schemas.microsoft.com/office/drawing/2014/main" id="{D3DF9882-BA24-4148-9227-6803DB03F930}"/>
                    </a:ext>
                  </a:extLst>
                </p:cNvPr>
                <p:cNvSpPr>
                  <a:spLocks noChangeShapeType="1"/>
                </p:cNvSpPr>
                <p:nvPr/>
              </p:nvSpPr>
              <p:spPr bwMode="auto">
                <a:xfrm>
                  <a:off x="10428373" y="5257889"/>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71" name="Line 233">
                  <a:extLst>
                    <a:ext uri="{FF2B5EF4-FFF2-40B4-BE49-F238E27FC236}">
                      <a16:creationId xmlns:a16="http://schemas.microsoft.com/office/drawing/2014/main" id="{238E9799-3D8B-F54E-BFBB-FE1237FADF63}"/>
                    </a:ext>
                  </a:extLst>
                </p:cNvPr>
                <p:cNvSpPr>
                  <a:spLocks noChangeShapeType="1"/>
                </p:cNvSpPr>
                <p:nvPr/>
              </p:nvSpPr>
              <p:spPr bwMode="auto">
                <a:xfrm>
                  <a:off x="10428373" y="5396002"/>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8" name="Group 7">
                <a:extLst>
                  <a:ext uri="{FF2B5EF4-FFF2-40B4-BE49-F238E27FC236}">
                    <a16:creationId xmlns:a16="http://schemas.microsoft.com/office/drawing/2014/main" id="{677610FF-4F61-2C4A-A861-FC0ED9C69928}"/>
                  </a:ext>
                </a:extLst>
              </p:cNvPr>
              <p:cNvGrpSpPr/>
              <p:nvPr/>
            </p:nvGrpSpPr>
            <p:grpSpPr>
              <a:xfrm>
                <a:off x="8252702" y="1137866"/>
                <a:ext cx="814388" cy="1046440"/>
                <a:chOff x="9791027" y="656358"/>
                <a:chExt cx="814388" cy="1046440"/>
              </a:xfrm>
            </p:grpSpPr>
            <p:sp>
              <p:nvSpPr>
                <p:cNvPr id="519" name="Rectangle 227">
                  <a:extLst>
                    <a:ext uri="{FF2B5EF4-FFF2-40B4-BE49-F238E27FC236}">
                      <a16:creationId xmlns:a16="http://schemas.microsoft.com/office/drawing/2014/main" id="{B61510CE-247E-1E43-BA4A-EC188AFE0CB8}"/>
                    </a:ext>
                  </a:extLst>
                </p:cNvPr>
                <p:cNvSpPr>
                  <a:spLocks noChangeArrowheads="1"/>
                </p:cNvSpPr>
                <p:nvPr/>
              </p:nvSpPr>
              <p:spPr bwMode="auto">
                <a:xfrm>
                  <a:off x="9888064" y="666450"/>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520" name="Rectangle 228">
                  <a:extLst>
                    <a:ext uri="{FF2B5EF4-FFF2-40B4-BE49-F238E27FC236}">
                      <a16:creationId xmlns:a16="http://schemas.microsoft.com/office/drawing/2014/main" id="{4174338D-3A0E-9747-819D-0C19F4DF4AA8}"/>
                    </a:ext>
                  </a:extLst>
                </p:cNvPr>
                <p:cNvSpPr>
                  <a:spLocks noChangeArrowheads="1"/>
                </p:cNvSpPr>
                <p:nvPr/>
              </p:nvSpPr>
              <p:spPr bwMode="auto">
                <a:xfrm>
                  <a:off x="9854726" y="690263"/>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521" name="Rectangle 229">
                  <a:extLst>
                    <a:ext uri="{FF2B5EF4-FFF2-40B4-BE49-F238E27FC236}">
                      <a16:creationId xmlns:a16="http://schemas.microsoft.com/office/drawing/2014/main" id="{621AE13C-4ABC-334F-8206-4D5E08465C6E}"/>
                    </a:ext>
                  </a:extLst>
                </p:cNvPr>
                <p:cNvSpPr>
                  <a:spLocks noChangeArrowheads="1"/>
                </p:cNvSpPr>
                <p:nvPr/>
              </p:nvSpPr>
              <p:spPr bwMode="auto">
                <a:xfrm>
                  <a:off x="9861869" y="844112"/>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522" name="Text Box 230">
                  <a:extLst>
                    <a:ext uri="{FF2B5EF4-FFF2-40B4-BE49-F238E27FC236}">
                      <a16:creationId xmlns:a16="http://schemas.microsoft.com/office/drawing/2014/main" id="{CA38D367-F86F-AB43-B21E-1EEE691D3D74}"/>
                    </a:ext>
                  </a:extLst>
                </p:cNvPr>
                <p:cNvSpPr txBox="1">
                  <a:spLocks noChangeArrowheads="1"/>
                </p:cNvSpPr>
                <p:nvPr/>
              </p:nvSpPr>
              <p:spPr bwMode="auto">
                <a:xfrm>
                  <a:off x="9791027" y="656358"/>
                  <a:ext cx="814388"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Aft>
                      <a:spcPts val="0"/>
                    </a:spcAft>
                    <a:defRPr/>
                  </a:pPr>
                  <a:r>
                    <a:rPr lang="en-US" altLang="en-US" sz="750" dirty="0">
                      <a:solidFill>
                        <a:prstClr val="black"/>
                      </a:solidFill>
                    </a:rPr>
                    <a:t>application</a:t>
                  </a:r>
                </a:p>
                <a:p>
                  <a:pPr algn="ctr" eaLnBrk="1" fontAlgn="auto" hangingPunct="1">
                    <a:spcAft>
                      <a:spcPts val="0"/>
                    </a:spcAft>
                    <a:defRPr/>
                  </a:pPr>
                  <a:r>
                    <a:rPr lang="en-US" altLang="en-US" sz="750" dirty="0">
                      <a:solidFill>
                        <a:prstClr val="white"/>
                      </a:solidFill>
                    </a:rPr>
                    <a:t>transport</a:t>
                  </a:r>
                </a:p>
                <a:p>
                  <a:pPr algn="ctr" eaLnBrk="1" fontAlgn="auto" hangingPunct="1">
                    <a:spcAft>
                      <a:spcPts val="0"/>
                    </a:spcAft>
                    <a:defRPr/>
                  </a:pPr>
                  <a:r>
                    <a:rPr lang="en-US" altLang="en-US" sz="750" dirty="0">
                      <a:solidFill>
                        <a:prstClr val="black"/>
                      </a:solidFill>
                    </a:rPr>
                    <a:t>network</a:t>
                  </a:r>
                </a:p>
                <a:p>
                  <a:pPr algn="ctr" eaLnBrk="1" fontAlgn="auto" hangingPunct="1">
                    <a:spcAft>
                      <a:spcPts val="0"/>
                    </a:spcAft>
                    <a:defRPr/>
                  </a:pPr>
                  <a:r>
                    <a:rPr lang="en-US" altLang="en-US" sz="750" dirty="0">
                      <a:solidFill>
                        <a:prstClr val="black"/>
                      </a:solidFill>
                    </a:rPr>
                    <a:t>data link</a:t>
                  </a:r>
                </a:p>
                <a:p>
                  <a:pPr algn="ctr" eaLnBrk="1" fontAlgn="auto" hangingPunct="1">
                    <a:spcAft>
                      <a:spcPts val="0"/>
                    </a:spcAft>
                    <a:defRPr/>
                  </a:pPr>
                  <a:r>
                    <a:rPr lang="en-US" altLang="en-US" sz="750" dirty="0">
                      <a:solidFill>
                        <a:prstClr val="black"/>
                      </a:solidFill>
                    </a:rPr>
                    <a:t>physical</a:t>
                  </a:r>
                  <a:endParaRPr lang="en-US" altLang="en-US" sz="1800" dirty="0">
                    <a:solidFill>
                      <a:prstClr val="black"/>
                    </a:solidFill>
                  </a:endParaRPr>
                </a:p>
              </p:txBody>
            </p:sp>
            <p:sp>
              <p:nvSpPr>
                <p:cNvPr id="523" name="Line 231">
                  <a:extLst>
                    <a:ext uri="{FF2B5EF4-FFF2-40B4-BE49-F238E27FC236}">
                      <a16:creationId xmlns:a16="http://schemas.microsoft.com/office/drawing/2014/main" id="{A3474A7D-75ED-1D4F-BB1C-5BA4ECFE69E7}"/>
                    </a:ext>
                  </a:extLst>
                </p:cNvPr>
                <p:cNvSpPr>
                  <a:spLocks noChangeShapeType="1"/>
                </p:cNvSpPr>
                <p:nvPr/>
              </p:nvSpPr>
              <p:spPr bwMode="auto">
                <a:xfrm>
                  <a:off x="9854726" y="1033163"/>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524" name="Line 232">
                  <a:extLst>
                    <a:ext uri="{FF2B5EF4-FFF2-40B4-BE49-F238E27FC236}">
                      <a16:creationId xmlns:a16="http://schemas.microsoft.com/office/drawing/2014/main" id="{79D6BFCD-0081-1543-8A02-CDC78B944799}"/>
                    </a:ext>
                  </a:extLst>
                </p:cNvPr>
                <p:cNvSpPr>
                  <a:spLocks noChangeShapeType="1"/>
                </p:cNvSpPr>
                <p:nvPr/>
              </p:nvSpPr>
              <p:spPr bwMode="auto">
                <a:xfrm>
                  <a:off x="9864251" y="1171275"/>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525" name="Line 233">
                  <a:extLst>
                    <a:ext uri="{FF2B5EF4-FFF2-40B4-BE49-F238E27FC236}">
                      <a16:creationId xmlns:a16="http://schemas.microsoft.com/office/drawing/2014/main" id="{539E5FFB-197B-6F44-A1D2-C9A93359AB7C}"/>
                    </a:ext>
                  </a:extLst>
                </p:cNvPr>
                <p:cNvSpPr>
                  <a:spLocks noChangeShapeType="1"/>
                </p:cNvSpPr>
                <p:nvPr/>
              </p:nvSpPr>
              <p:spPr bwMode="auto">
                <a:xfrm>
                  <a:off x="9864251" y="1309388"/>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558" name="Up-Down Arrow 557">
                <a:extLst>
                  <a:ext uri="{FF2B5EF4-FFF2-40B4-BE49-F238E27FC236}">
                    <a16:creationId xmlns:a16="http://schemas.microsoft.com/office/drawing/2014/main" id="{1F1264FF-C88C-CF4E-85AF-1CB82BE0554E}"/>
                  </a:ext>
                </a:extLst>
              </p:cNvPr>
              <p:cNvSpPr/>
              <p:nvPr/>
            </p:nvSpPr>
            <p:spPr>
              <a:xfrm rot="19889198">
                <a:off x="9544123" y="1270072"/>
                <a:ext cx="626354" cy="3838406"/>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559" name="TextBox 558">
                <a:extLst>
                  <a:ext uri="{FF2B5EF4-FFF2-40B4-BE49-F238E27FC236}">
                    <a16:creationId xmlns:a16="http://schemas.microsoft.com/office/drawing/2014/main" id="{BDB4ECF5-2BA8-034C-9E12-98E6A9A3E77D}"/>
                  </a:ext>
                </a:extLst>
              </p:cNvPr>
              <p:cNvSpPr txBox="1"/>
              <p:nvPr/>
            </p:nvSpPr>
            <p:spPr>
              <a:xfrm rot="3706861">
                <a:off x="8608805" y="3087879"/>
                <a:ext cx="2614220" cy="400109"/>
              </a:xfrm>
              <a:prstGeom prst="rect">
                <a:avLst/>
              </a:prstGeom>
              <a:noFill/>
            </p:spPr>
            <p:txBody>
              <a:bodyPr wrap="none" rtlCol="0">
                <a:spAutoFit/>
              </a:bodyPr>
              <a:lstStyle/>
              <a:p>
                <a:pPr eaLnBrk="1" fontAlgn="auto" hangingPunct="1">
                  <a:spcBef>
                    <a:spcPts val="0"/>
                  </a:spcBef>
                  <a:spcAft>
                    <a:spcPts val="0"/>
                  </a:spcAft>
                  <a:defRPr/>
                </a:pPr>
                <a:r>
                  <a:rPr lang="en-US" sz="1350" dirty="0">
                    <a:solidFill>
                      <a:prstClr val="white"/>
                    </a:solidFill>
                    <a:latin typeface="Calibri" panose="020F0502020204030204"/>
                    <a:ea typeface="+mn-ea"/>
                  </a:rPr>
                  <a:t>logical end-end transport</a:t>
                </a:r>
              </a:p>
            </p:txBody>
          </p:sp>
        </p:grpSp>
      </p:grpSp>
      <p:sp>
        <p:nvSpPr>
          <p:cNvPr id="517" name="Rectangle 3">
            <a:extLst>
              <a:ext uri="{FF2B5EF4-FFF2-40B4-BE49-F238E27FC236}">
                <a16:creationId xmlns:a16="http://schemas.microsoft.com/office/drawing/2014/main" id="{5DD1F129-FF75-B647-8A9A-42B6C0C7E416}"/>
              </a:ext>
            </a:extLst>
          </p:cNvPr>
          <p:cNvSpPr txBox="1">
            <a:spLocks noChangeArrowheads="1"/>
          </p:cNvSpPr>
          <p:nvPr/>
        </p:nvSpPr>
        <p:spPr>
          <a:xfrm>
            <a:off x="513519" y="2947902"/>
            <a:ext cx="4361777" cy="1745815"/>
          </a:xfrm>
          <a:prstGeom prst="rect">
            <a:avLst/>
          </a:prstGeom>
        </p:spPr>
        <p:txBody>
          <a:bodyPr vert="horz" lIns="68580" tIns="34290" rIns="68580" bIns="3429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 typeface="Wingdings" charset="2"/>
              <a:buChar char="§"/>
              <a:defRPr/>
            </a:pPr>
            <a:r>
              <a:rPr lang="en-US" sz="2100" dirty="0">
                <a:solidFill>
                  <a:prstClr val="black"/>
                </a:solidFill>
              </a:rPr>
              <a:t>transport protocols actions in end systems:</a:t>
            </a:r>
          </a:p>
          <a:p>
            <a:pPr lvl="1" fontAlgn="auto">
              <a:spcAft>
                <a:spcPts val="0"/>
              </a:spcAft>
              <a:buFont typeface="Arial"/>
              <a:buChar char="•"/>
              <a:defRPr/>
            </a:pPr>
            <a:r>
              <a:rPr lang="en-US" sz="1800" dirty="0">
                <a:solidFill>
                  <a:prstClr val="black"/>
                </a:solidFill>
              </a:rPr>
              <a:t>sender: breaks application messages into </a:t>
            </a:r>
            <a:r>
              <a:rPr lang="en-US" sz="1800" i="1" dirty="0">
                <a:solidFill>
                  <a:srgbClr val="CC0000"/>
                </a:solidFill>
              </a:rPr>
              <a:t>segments</a:t>
            </a:r>
            <a:r>
              <a:rPr lang="en-US" sz="1800" dirty="0">
                <a:solidFill>
                  <a:prstClr val="black"/>
                </a:solidFill>
              </a:rPr>
              <a:t>, passes to  network layer</a:t>
            </a:r>
          </a:p>
          <a:p>
            <a:pPr lvl="1" fontAlgn="auto">
              <a:spcAft>
                <a:spcPts val="0"/>
              </a:spcAft>
              <a:buFont typeface="Arial"/>
              <a:buChar char="•"/>
              <a:defRPr/>
            </a:pPr>
            <a:r>
              <a:rPr lang="en-US" sz="1800" dirty="0">
                <a:solidFill>
                  <a:prstClr val="black"/>
                </a:solidFill>
              </a:rPr>
              <a:t>receiver: reassembles segments into messages, passes to application layer</a:t>
            </a:r>
          </a:p>
        </p:txBody>
      </p:sp>
      <p:sp>
        <p:nvSpPr>
          <p:cNvPr id="518" name="Rectangle 3">
            <a:extLst>
              <a:ext uri="{FF2B5EF4-FFF2-40B4-BE49-F238E27FC236}">
                <a16:creationId xmlns:a16="http://schemas.microsoft.com/office/drawing/2014/main" id="{C3EBA7FC-18E1-7D43-9310-976F49009C6C}"/>
              </a:ext>
            </a:extLst>
          </p:cNvPr>
          <p:cNvSpPr txBox="1">
            <a:spLocks noChangeArrowheads="1"/>
          </p:cNvSpPr>
          <p:nvPr/>
        </p:nvSpPr>
        <p:spPr>
          <a:xfrm>
            <a:off x="510913" y="4731074"/>
            <a:ext cx="4361777" cy="108641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 typeface="Wingdings" charset="2"/>
              <a:buChar char="§"/>
              <a:defRPr/>
            </a:pPr>
            <a:r>
              <a:rPr lang="en-US" sz="2100" dirty="0">
                <a:solidFill>
                  <a:prstClr val="black"/>
                </a:solidFill>
              </a:rPr>
              <a:t>two transport protocols available to Internet applications</a:t>
            </a:r>
          </a:p>
          <a:p>
            <a:pPr lvl="1" fontAlgn="auto">
              <a:spcAft>
                <a:spcPts val="0"/>
              </a:spcAft>
              <a:buFont typeface="Arial"/>
              <a:buChar char="•"/>
              <a:defRPr/>
            </a:pPr>
            <a:r>
              <a:rPr lang="en-US" sz="1800" dirty="0">
                <a:solidFill>
                  <a:prstClr val="black"/>
                </a:solidFill>
              </a:rPr>
              <a:t>TCP, UDP</a:t>
            </a:r>
          </a:p>
        </p:txBody>
      </p:sp>
      <p:sp>
        <p:nvSpPr>
          <p:cNvPr id="526" name="Slide Number Placeholder 2">
            <a:extLst>
              <a:ext uri="{FF2B5EF4-FFF2-40B4-BE49-F238E27FC236}">
                <a16:creationId xmlns:a16="http://schemas.microsoft.com/office/drawing/2014/main" id="{58250C2D-03C7-2C42-9317-E77099EDA1D2}"/>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3</a:t>
            </a:fld>
            <a:endParaRPr lang="en-US" dirty="0">
              <a:solidFill>
                <a:prstClr val="white">
                  <a:lumMod val="50000"/>
                </a:prstClr>
              </a:solidFill>
            </a:endParaRPr>
          </a:p>
        </p:txBody>
      </p:sp>
    </p:spTree>
    <p:extLst>
      <p:ext uri="{BB962C8B-B14F-4D97-AF65-F5344CB8AC3E}">
        <p14:creationId xmlns:p14="http://schemas.microsoft.com/office/powerpoint/2010/main" val="210367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44"/>
                                        </p:tgtEl>
                                        <p:attrNameLst>
                                          <p:attrName>style.visibility</p:attrName>
                                        </p:attrNameLst>
                                      </p:cBhvr>
                                      <p:to>
                                        <p:strVal val="visible"/>
                                      </p:to>
                                    </p:set>
                                    <p:animEffect transition="in" filter="dissolve">
                                      <p:cBhvr>
                                        <p:cTn id="10" dur="500"/>
                                        <p:tgtEl>
                                          <p:spTgt spid="44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17"/>
                                        </p:tgtEl>
                                        <p:attrNameLst>
                                          <p:attrName>style.visibility</p:attrName>
                                        </p:attrNameLst>
                                      </p:cBhvr>
                                      <p:to>
                                        <p:strVal val="visible"/>
                                      </p:to>
                                    </p:set>
                                    <p:animEffect transition="in" filter="dissolve">
                                      <p:cBhvr>
                                        <p:cTn id="15" dur="500"/>
                                        <p:tgtEl>
                                          <p:spTgt spid="51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18"/>
                                        </p:tgtEl>
                                        <p:attrNameLst>
                                          <p:attrName>style.visibility</p:attrName>
                                        </p:attrNameLst>
                                      </p:cBhvr>
                                      <p:to>
                                        <p:strVal val="visible"/>
                                      </p:to>
                                    </p:set>
                                    <p:animEffect transition="in" filter="dissolve">
                                      <p:cBhvr>
                                        <p:cTn id="20" dur="500"/>
                                        <p:tgtEl>
                                          <p:spTgt spid="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 grpId="0" animBg="1"/>
      <p:bldP spid="517" grpId="0"/>
      <p:bldP spid="5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fontScale="90000"/>
          </a:bodyPr>
          <a:lstStyle/>
          <a:p>
            <a:r>
              <a:rPr lang="en-US" altLang="en-US" dirty="0">
                <a:cs typeface="Calibri" panose="020F0502020204030204" pitchFamily="34" charset="0"/>
              </a:rPr>
              <a:t>Transport vs. network layer services and protocols</a:t>
            </a:r>
            <a:endParaRPr lang="en-US" dirty="0"/>
          </a:p>
        </p:txBody>
      </p:sp>
      <p:sp>
        <p:nvSpPr>
          <p:cNvPr id="517" name="Rectangle 3">
            <a:extLst>
              <a:ext uri="{FF2B5EF4-FFF2-40B4-BE49-F238E27FC236}">
                <a16:creationId xmlns:a16="http://schemas.microsoft.com/office/drawing/2014/main" id="{5055A8EA-25BB-5D41-BECF-4117E4AC2670}"/>
              </a:ext>
            </a:extLst>
          </p:cNvPr>
          <p:cNvSpPr txBox="1">
            <a:spLocks noChangeArrowheads="1"/>
          </p:cNvSpPr>
          <p:nvPr/>
        </p:nvSpPr>
        <p:spPr>
          <a:xfrm>
            <a:off x="526773" y="2000143"/>
            <a:ext cx="3923188"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 typeface="Wingdings" charset="2"/>
              <a:buChar char="§"/>
              <a:defRPr/>
            </a:pPr>
            <a:r>
              <a:rPr lang="en-US" sz="2400" dirty="0">
                <a:solidFill>
                  <a:srgbClr val="000099"/>
                </a:solidFill>
              </a:rPr>
              <a:t>network layer:</a:t>
            </a:r>
            <a:r>
              <a:rPr lang="en-US" sz="2400" dirty="0">
                <a:solidFill>
                  <a:prstClr val="black"/>
                </a:solidFill>
              </a:rPr>
              <a:t> logical communication between </a:t>
            </a:r>
            <a:r>
              <a:rPr lang="en-US" sz="2400" i="1" dirty="0">
                <a:solidFill>
                  <a:srgbClr val="C00000"/>
                </a:solidFill>
              </a:rPr>
              <a:t>hosts</a:t>
            </a:r>
          </a:p>
          <a:p>
            <a:pPr fontAlgn="auto">
              <a:spcAft>
                <a:spcPts val="0"/>
              </a:spcAft>
              <a:buFont typeface="Wingdings" charset="2"/>
              <a:buChar char="§"/>
              <a:defRPr/>
            </a:pPr>
            <a:r>
              <a:rPr lang="en-US" sz="2400" dirty="0">
                <a:solidFill>
                  <a:srgbClr val="000099"/>
                </a:solidFill>
              </a:rPr>
              <a:t>transport layer</a:t>
            </a:r>
            <a:r>
              <a:rPr lang="en-US" sz="2400" i="1" dirty="0">
                <a:solidFill>
                  <a:srgbClr val="000099"/>
                </a:solidFill>
              </a:rPr>
              <a:t>:</a:t>
            </a:r>
            <a:r>
              <a:rPr lang="en-US" sz="2400" dirty="0">
                <a:solidFill>
                  <a:prstClr val="black"/>
                </a:solidFill>
              </a:rPr>
              <a:t> logical communication between </a:t>
            </a:r>
            <a:r>
              <a:rPr lang="en-US" sz="2400" i="1" dirty="0">
                <a:solidFill>
                  <a:srgbClr val="C00000"/>
                </a:solidFill>
              </a:rPr>
              <a:t>processes</a:t>
            </a:r>
            <a:r>
              <a:rPr lang="en-US" sz="2100" dirty="0">
                <a:solidFill>
                  <a:prstClr val="black"/>
                </a:solidFill>
              </a:rPr>
              <a:t> </a:t>
            </a:r>
          </a:p>
          <a:p>
            <a:pPr lvl="1" fontAlgn="auto">
              <a:spcAft>
                <a:spcPts val="0"/>
              </a:spcAft>
              <a:buFont typeface="Arial"/>
              <a:buChar char="•"/>
              <a:defRPr/>
            </a:pPr>
            <a:r>
              <a:rPr lang="en-US" sz="2100" dirty="0">
                <a:solidFill>
                  <a:prstClr val="black"/>
                </a:solidFill>
              </a:rPr>
              <a:t>relies on, enhances, network layer services</a:t>
            </a:r>
          </a:p>
        </p:txBody>
      </p:sp>
      <p:grpSp>
        <p:nvGrpSpPr>
          <p:cNvPr id="9" name="Group 8">
            <a:extLst>
              <a:ext uri="{FF2B5EF4-FFF2-40B4-BE49-F238E27FC236}">
                <a16:creationId xmlns:a16="http://schemas.microsoft.com/office/drawing/2014/main" id="{D2B3154C-E2F2-B640-9101-FD641275409F}"/>
              </a:ext>
            </a:extLst>
          </p:cNvPr>
          <p:cNvGrpSpPr/>
          <p:nvPr/>
        </p:nvGrpSpPr>
        <p:grpSpPr>
          <a:xfrm>
            <a:off x="4709032" y="1678412"/>
            <a:ext cx="4101402" cy="3807881"/>
            <a:chOff x="6430780" y="1365914"/>
            <a:chExt cx="5468536" cy="5077175"/>
          </a:xfrm>
        </p:grpSpPr>
        <p:sp>
          <p:nvSpPr>
            <p:cNvPr id="10" name="Rectangle 9">
              <a:extLst>
                <a:ext uri="{FF2B5EF4-FFF2-40B4-BE49-F238E27FC236}">
                  <a16:creationId xmlns:a16="http://schemas.microsoft.com/office/drawing/2014/main" id="{1E4A5E17-837C-DE48-93F3-00B93CF1AE37}"/>
                </a:ext>
              </a:extLst>
            </p:cNvPr>
            <p:cNvSpPr/>
            <p:nvPr/>
          </p:nvSpPr>
          <p:spPr>
            <a:xfrm>
              <a:off x="6539916" y="1365914"/>
              <a:ext cx="5359400" cy="4954628"/>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 name="Rectangle 7">
              <a:extLst>
                <a:ext uri="{FF2B5EF4-FFF2-40B4-BE49-F238E27FC236}">
                  <a16:creationId xmlns:a16="http://schemas.microsoft.com/office/drawing/2014/main" id="{C856713D-7747-664B-A733-CBE345A08191}"/>
                </a:ext>
              </a:extLst>
            </p:cNvPr>
            <p:cNvSpPr>
              <a:spLocks noChangeArrowheads="1"/>
            </p:cNvSpPr>
            <p:nvPr/>
          </p:nvSpPr>
          <p:spPr bwMode="auto">
            <a:xfrm>
              <a:off x="6430780" y="1910777"/>
              <a:ext cx="5230917" cy="4409765"/>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ＭＳ Ｐゴシック" charset="0"/>
              </a:endParaRPr>
            </a:p>
          </p:txBody>
        </p:sp>
        <p:sp>
          <p:nvSpPr>
            <p:cNvPr id="12" name="Text Box 11">
              <a:extLst>
                <a:ext uri="{FF2B5EF4-FFF2-40B4-BE49-F238E27FC236}">
                  <a16:creationId xmlns:a16="http://schemas.microsoft.com/office/drawing/2014/main" id="{83681804-D37D-9E4B-A91F-556F18A79F50}"/>
                </a:ext>
              </a:extLst>
            </p:cNvPr>
            <p:cNvSpPr txBox="1">
              <a:spLocks noChangeArrowheads="1"/>
            </p:cNvSpPr>
            <p:nvPr/>
          </p:nvSpPr>
          <p:spPr bwMode="auto">
            <a:xfrm>
              <a:off x="7104167" y="1686939"/>
              <a:ext cx="3082468" cy="46782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fontAlgn="auto" hangingPunct="1">
                <a:lnSpc>
                  <a:spcPct val="80000"/>
                </a:lnSpc>
                <a:spcBef>
                  <a:spcPct val="45000"/>
                </a:spcBef>
                <a:spcAft>
                  <a:spcPts val="0"/>
                </a:spcAft>
                <a:buClr>
                  <a:srgbClr val="000099"/>
                </a:buClr>
                <a:buSzPct val="65000"/>
                <a:defRPr/>
              </a:pPr>
              <a:r>
                <a:rPr lang="en-US" sz="2100" i="1" dirty="0">
                  <a:solidFill>
                    <a:srgbClr val="000099"/>
                  </a:solidFill>
                  <a:latin typeface="Calibri" panose="020F0502020204030204"/>
                </a:rPr>
                <a:t>household analogy:</a:t>
              </a:r>
              <a:endParaRPr lang="en-US" sz="2100" i="1" dirty="0">
                <a:solidFill>
                  <a:prstClr val="black"/>
                </a:solidFill>
                <a:latin typeface="Calibri" panose="020F0502020204030204"/>
              </a:endParaRPr>
            </a:p>
          </p:txBody>
        </p:sp>
        <p:sp>
          <p:nvSpPr>
            <p:cNvPr id="13" name="Rectangle 4">
              <a:extLst>
                <a:ext uri="{FF2B5EF4-FFF2-40B4-BE49-F238E27FC236}">
                  <a16:creationId xmlns:a16="http://schemas.microsoft.com/office/drawing/2014/main" id="{2B981950-019B-6940-9B4D-39B4F993673F}"/>
                </a:ext>
              </a:extLst>
            </p:cNvPr>
            <p:cNvSpPr txBox="1">
              <a:spLocks noChangeArrowheads="1"/>
            </p:cNvSpPr>
            <p:nvPr/>
          </p:nvSpPr>
          <p:spPr>
            <a:xfrm>
              <a:off x="6539915" y="2193352"/>
              <a:ext cx="4916773" cy="4249737"/>
            </a:xfrm>
            <a:prstGeom prst="rect">
              <a:avLst/>
            </a:prstGeom>
            <a:extLst>
              <a:ext uri="{91240B29-F687-4f45-9708-019B960494DF}">
                <a14:hiddenLine xmlns:a14="http://schemas.microsoft.com/office/drawing/2010/main" xmlns="" w="19050" cmpd="sng">
                  <a:solidFill>
                    <a:srgbClr val="FF0000"/>
                  </a:solidFill>
                  <a:miter lim="800000"/>
                  <a:headEnd/>
                  <a:tailEnd/>
                </a14:hiddenLine>
              </a:ext>
            </a:extLst>
          </p:spPr>
          <p:txBody>
            <a:bodyPr vert="horz" lIns="68580" tIns="34290" rIns="68580" bIns="3429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00000"/>
                </a:lnSpc>
                <a:spcAft>
                  <a:spcPts val="0"/>
                </a:spcAft>
                <a:buNone/>
                <a:defRPr/>
              </a:pPr>
              <a:r>
                <a:rPr lang="en-US" altLang="en-US" sz="2250" i="1" dirty="0">
                  <a:solidFill>
                    <a:prstClr val="black"/>
                  </a:solidFill>
                  <a:ea typeface="ＭＳ Ｐゴシック" panose="020B0600070205080204" pitchFamily="34" charset="-128"/>
                </a:rPr>
                <a:t>12 kids in Ann’</a:t>
              </a:r>
              <a:r>
                <a:rPr lang="en-US" altLang="ja-JP" sz="2250" i="1" dirty="0">
                  <a:solidFill>
                    <a:prstClr val="black"/>
                  </a:solidFill>
                  <a:ea typeface="ＭＳ Ｐゴシック" panose="020B0600070205080204" pitchFamily="34" charset="-128"/>
                </a:rPr>
                <a:t>s house sending letters to 12 kids in Bill’s house:</a:t>
              </a:r>
              <a:endParaRPr lang="en-US" altLang="ja-JP" sz="2250" dirty="0">
                <a:solidFill>
                  <a:prstClr val="black"/>
                </a:solidFill>
                <a:ea typeface="ＭＳ Ｐゴシック" panose="020B0600070205080204" pitchFamily="34" charset="-128"/>
              </a:endParaRPr>
            </a:p>
            <a:p>
              <a:pPr fontAlgn="auto">
                <a:lnSpc>
                  <a:spcPct val="100000"/>
                </a:lnSpc>
                <a:spcBef>
                  <a:spcPts val="300"/>
                </a:spcBef>
                <a:spcAft>
                  <a:spcPts val="0"/>
                </a:spcAft>
                <a:defRPr/>
              </a:pPr>
              <a:r>
                <a:rPr lang="en-US" altLang="en-US" sz="2100" dirty="0">
                  <a:solidFill>
                    <a:prstClr val="black"/>
                  </a:solidFill>
                  <a:ea typeface="ＭＳ Ｐゴシック" panose="020B0600070205080204" pitchFamily="34" charset="-128"/>
                </a:rPr>
                <a:t>hosts = houses</a:t>
              </a:r>
            </a:p>
            <a:p>
              <a:pPr fontAlgn="auto">
                <a:lnSpc>
                  <a:spcPct val="100000"/>
                </a:lnSpc>
                <a:spcBef>
                  <a:spcPts val="300"/>
                </a:spcBef>
                <a:spcAft>
                  <a:spcPts val="0"/>
                </a:spcAft>
                <a:defRPr/>
              </a:pPr>
              <a:r>
                <a:rPr lang="en-US" altLang="en-US" sz="2100" dirty="0">
                  <a:solidFill>
                    <a:prstClr val="black"/>
                  </a:solidFill>
                  <a:ea typeface="ＭＳ Ｐゴシック" panose="020B0600070205080204" pitchFamily="34" charset="-128"/>
                </a:rPr>
                <a:t>processes = kids</a:t>
              </a:r>
            </a:p>
            <a:p>
              <a:pPr fontAlgn="auto">
                <a:lnSpc>
                  <a:spcPct val="100000"/>
                </a:lnSpc>
                <a:spcBef>
                  <a:spcPts val="300"/>
                </a:spcBef>
                <a:spcAft>
                  <a:spcPts val="0"/>
                </a:spcAft>
                <a:defRPr/>
              </a:pPr>
              <a:r>
                <a:rPr lang="en-US" altLang="en-US" sz="2100" dirty="0">
                  <a:solidFill>
                    <a:prstClr val="black"/>
                  </a:solidFill>
                  <a:ea typeface="ＭＳ Ｐゴシック" panose="020B0600070205080204" pitchFamily="34" charset="-128"/>
                </a:rPr>
                <a:t>app messages = letters in envelopes</a:t>
              </a:r>
            </a:p>
            <a:p>
              <a:pPr fontAlgn="auto">
                <a:lnSpc>
                  <a:spcPct val="100000"/>
                </a:lnSpc>
                <a:spcBef>
                  <a:spcPts val="300"/>
                </a:spcBef>
                <a:spcAft>
                  <a:spcPts val="0"/>
                </a:spcAft>
                <a:defRPr/>
              </a:pPr>
              <a:r>
                <a:rPr lang="en-US" altLang="en-US" sz="2100" dirty="0">
                  <a:solidFill>
                    <a:prstClr val="black"/>
                  </a:solidFill>
                  <a:ea typeface="ＭＳ Ｐゴシック" panose="020B0600070205080204" pitchFamily="34" charset="-128"/>
                </a:rPr>
                <a:t>transport protocol = Ann and Bill who </a:t>
              </a:r>
              <a:r>
                <a:rPr lang="en-US" altLang="en-US" sz="2100" dirty="0" err="1">
                  <a:solidFill>
                    <a:prstClr val="black"/>
                  </a:solidFill>
                  <a:ea typeface="ＭＳ Ｐゴシック" panose="020B0600070205080204" pitchFamily="34" charset="-128"/>
                </a:rPr>
                <a:t>demux</a:t>
              </a:r>
              <a:r>
                <a:rPr lang="en-US" altLang="en-US" sz="2100" dirty="0">
                  <a:solidFill>
                    <a:prstClr val="black"/>
                  </a:solidFill>
                  <a:ea typeface="ＭＳ Ｐゴシック" panose="020B0600070205080204" pitchFamily="34" charset="-128"/>
                </a:rPr>
                <a:t> to in-house siblings</a:t>
              </a:r>
            </a:p>
            <a:p>
              <a:pPr fontAlgn="auto">
                <a:lnSpc>
                  <a:spcPct val="100000"/>
                </a:lnSpc>
                <a:spcBef>
                  <a:spcPts val="300"/>
                </a:spcBef>
                <a:spcAft>
                  <a:spcPts val="0"/>
                </a:spcAft>
                <a:defRPr/>
              </a:pPr>
              <a:r>
                <a:rPr lang="en-US" altLang="en-US" sz="2100" dirty="0">
                  <a:solidFill>
                    <a:prstClr val="black"/>
                  </a:solidFill>
                  <a:ea typeface="ＭＳ Ｐゴシック" panose="020B0600070205080204" pitchFamily="34" charset="-128"/>
                </a:rPr>
                <a:t>network-layer protocol = postal service</a:t>
              </a:r>
            </a:p>
            <a:p>
              <a:pPr fontAlgn="auto">
                <a:lnSpc>
                  <a:spcPct val="70000"/>
                </a:lnSpc>
                <a:spcAft>
                  <a:spcPts val="0"/>
                </a:spcAft>
                <a:buNone/>
                <a:defRPr/>
              </a:pPr>
              <a:endParaRPr lang="en-US" altLang="en-US" sz="1800" dirty="0">
                <a:solidFill>
                  <a:prstClr val="black"/>
                </a:solidFill>
                <a:ea typeface="ＭＳ Ｐゴシック" panose="020B0600070205080204" pitchFamily="34" charset="-128"/>
              </a:endParaRPr>
            </a:p>
          </p:txBody>
        </p:sp>
      </p:grpSp>
      <p:sp>
        <p:nvSpPr>
          <p:cNvPr id="14" name="Rectangle 13">
            <a:extLst>
              <a:ext uri="{FF2B5EF4-FFF2-40B4-BE49-F238E27FC236}">
                <a16:creationId xmlns:a16="http://schemas.microsoft.com/office/drawing/2014/main" id="{DA8E19E6-C8F3-AD4D-8133-B75677CF81D5}"/>
              </a:ext>
            </a:extLst>
          </p:cNvPr>
          <p:cNvSpPr/>
          <p:nvPr/>
        </p:nvSpPr>
        <p:spPr>
          <a:xfrm>
            <a:off x="4790883" y="4204776"/>
            <a:ext cx="3794317" cy="1023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 name="Slide Number Placeholder 2">
            <a:extLst>
              <a:ext uri="{FF2B5EF4-FFF2-40B4-BE49-F238E27FC236}">
                <a16:creationId xmlns:a16="http://schemas.microsoft.com/office/drawing/2014/main" id="{F55E6C29-4D3E-9C46-8DC6-206D0A0BA71B}"/>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4</a:t>
            </a:fld>
            <a:endParaRPr lang="en-US" dirty="0">
              <a:solidFill>
                <a:prstClr val="white">
                  <a:lumMod val="50000"/>
                </a:prstClr>
              </a:solidFill>
            </a:endParaRPr>
          </a:p>
        </p:txBody>
      </p:sp>
    </p:spTree>
    <p:extLst>
      <p:ext uri="{BB962C8B-B14F-4D97-AF65-F5344CB8AC3E}">
        <p14:creationId xmlns:p14="http://schemas.microsoft.com/office/powerpoint/2010/main" val="3901430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xit" presetSubtype="0" fill="hold" grpId="0" nodeType="withEffect">
                                  <p:stCondLst>
                                    <p:cond delay="0"/>
                                  </p:stCondLst>
                                  <p:childTnLst>
                                    <p:animEffect transition="out" filter="dissolv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17"/>
                                        </p:tgtEl>
                                        <p:attrNameLst>
                                          <p:attrName>style.visibility</p:attrName>
                                        </p:attrNameLst>
                                      </p:cBhvr>
                                      <p:to>
                                        <p:strVal val="visible"/>
                                      </p:to>
                                    </p:set>
                                    <p:animEffect transition="in" filter="dissolve">
                                      <p:cBhvr>
                                        <p:cTn id="11" dur="500"/>
                                        <p:tgtEl>
                                          <p:spTgt spid="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 grpId="0"/>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902B4EA-0158-774A-877D-888807F574B5}"/>
              </a:ext>
            </a:extLst>
          </p:cNvPr>
          <p:cNvGrpSpPr/>
          <p:nvPr/>
        </p:nvGrpSpPr>
        <p:grpSpPr>
          <a:xfrm>
            <a:off x="1934109" y="4581500"/>
            <a:ext cx="5150044" cy="771548"/>
            <a:chOff x="2578811" y="4965666"/>
            <a:chExt cx="6866725" cy="1028731"/>
          </a:xfrm>
        </p:grpSpPr>
        <p:cxnSp>
          <p:nvCxnSpPr>
            <p:cNvPr id="128" name="Straight Connector 127">
              <a:extLst>
                <a:ext uri="{FF2B5EF4-FFF2-40B4-BE49-F238E27FC236}">
                  <a16:creationId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a:defRPr/>
                </a:pPr>
                <a:r>
                  <a:rPr lang="en-US" sz="2100" dirty="0">
                    <a:solidFill>
                      <a:srgbClr val="000000"/>
                    </a:solidFill>
                    <a:latin typeface="Calibri"/>
                    <a:cs typeface="Arial"/>
                  </a:rPr>
                  <a:t>             </a:t>
                </a:r>
              </a:p>
            </p:txBody>
          </p:sp>
        </p:grpSp>
      </p:gr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7721259" y="2482854"/>
            <a:ext cx="667827" cy="218441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640762" y="2549742"/>
            <a:ext cx="634983" cy="219164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8216766" y="4042320"/>
            <a:ext cx="412374" cy="802661"/>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2100" kern="0">
                <a:solidFill>
                  <a:srgbClr val="FF0000"/>
                </a:solidFill>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grpSp>
        <p:nvGrpSpPr>
          <p:cNvPr id="3" name="Group 2">
            <a:extLst>
              <a:ext uri="{FF2B5EF4-FFF2-40B4-BE49-F238E27FC236}">
                <a16:creationId xmlns:a16="http://schemas.microsoft.com/office/drawing/2014/main" id="{64AFD9EC-1CA1-D34D-965E-2E8D95748C38}"/>
              </a:ext>
            </a:extLst>
          </p:cNvPr>
          <p:cNvGrpSpPr/>
          <p:nvPr/>
        </p:nvGrpSpPr>
        <p:grpSpPr>
          <a:xfrm>
            <a:off x="6382764" y="2415966"/>
            <a:ext cx="1459754" cy="2187358"/>
            <a:chOff x="8091785" y="2078288"/>
            <a:chExt cx="2364905" cy="2916476"/>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a:solidFill>
                  <a:srgbClr val="000000"/>
                </a:solidFill>
                <a:latin typeface="Times New Roman" panose="02020603050405020304" pitchFamily="18" charset="0"/>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kern="0">
                <a:solidFill>
                  <a:srgbClr val="000000"/>
                </a:solidFill>
                <a:latin typeface="Times New Roman" panose="02020603050405020304" pitchFamily="18" charset="0"/>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09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4"/>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1" y="2284368"/>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265828" y="2482854"/>
            <a:ext cx="1598776" cy="2187358"/>
            <a:chOff x="8091785" y="2078288"/>
            <a:chExt cx="2364905" cy="2916476"/>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a:solidFill>
                  <a:srgbClr val="000000"/>
                </a:solidFill>
                <a:latin typeface="Times New Roman" panose="02020603050405020304" pitchFamily="18" charset="0"/>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kern="0">
                <a:solidFill>
                  <a:srgbClr val="000000"/>
                </a:solidFill>
                <a:latin typeface="Times New Roman" panose="02020603050405020304" pitchFamily="18" charset="0"/>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5" y="453309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5" y="4088344"/>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5" y="364607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39" y="2284368"/>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application</a:t>
              </a:r>
            </a:p>
          </p:txBody>
        </p:sp>
      </p:grpSp>
      <p:sp>
        <p:nvSpPr>
          <p:cNvPr id="129" name="Text Box 26">
            <a:extLst>
              <a:ext uri="{FF2B5EF4-FFF2-40B4-BE49-F238E27FC236}">
                <a16:creationId xmlns:a16="http://schemas.microsoft.com/office/drawing/2014/main" id="{BF5BF946-F5E7-1544-AF56-E534E43CF495}"/>
              </a:ext>
            </a:extLst>
          </p:cNvPr>
          <p:cNvSpPr txBox="1">
            <a:spLocks noChangeArrowheads="1"/>
          </p:cNvSpPr>
          <p:nvPr/>
        </p:nvSpPr>
        <p:spPr bwMode="auto">
          <a:xfrm>
            <a:off x="6549396" y="3102621"/>
            <a:ext cx="1051358" cy="3462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transport</a:t>
            </a:r>
          </a:p>
        </p:txBody>
      </p:sp>
      <p:grpSp>
        <p:nvGrpSpPr>
          <p:cNvPr id="93" name="Group 92">
            <a:extLst>
              <a:ext uri="{FF2B5EF4-FFF2-40B4-BE49-F238E27FC236}">
                <a16:creationId xmlns:a16="http://schemas.microsoft.com/office/drawing/2014/main" id="{EFA7BEBF-82FA-3440-93DD-AFB07D2DDF8D}"/>
              </a:ext>
            </a:extLst>
          </p:cNvPr>
          <p:cNvGrpSpPr/>
          <p:nvPr/>
        </p:nvGrpSpPr>
        <p:grpSpPr>
          <a:xfrm>
            <a:off x="375551" y="4564935"/>
            <a:ext cx="769892" cy="447865"/>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599018" y="1074244"/>
            <a:ext cx="8325469" cy="670967"/>
          </a:xfrm>
        </p:spPr>
        <p:txBody>
          <a:bodyPr>
            <a:normAutofit/>
          </a:bodyPr>
          <a:lstStyle/>
          <a:p>
            <a:r>
              <a:rPr lang="en-US" dirty="0"/>
              <a:t>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1846655" y="2924267"/>
            <a:ext cx="309563" cy="119063"/>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7260858" y="2862457"/>
            <a:ext cx="309563" cy="119063"/>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 name="TextBox 1">
            <a:extLst>
              <a:ext uri="{FF2B5EF4-FFF2-40B4-BE49-F238E27FC236}">
                <a16:creationId xmlns:a16="http://schemas.microsoft.com/office/drawing/2014/main" id="{6B2BB341-9BE1-8640-8E8B-7EC80706964E}"/>
              </a:ext>
            </a:extLst>
          </p:cNvPr>
          <p:cNvSpPr txBox="1"/>
          <p:nvPr/>
        </p:nvSpPr>
        <p:spPr>
          <a:xfrm>
            <a:off x="3159358" y="2230276"/>
            <a:ext cx="2923758" cy="646331"/>
          </a:xfrm>
          <a:prstGeom prst="rect">
            <a:avLst/>
          </a:prstGeom>
          <a:noFill/>
        </p:spPr>
        <p:txBody>
          <a:bodyPr wrap="square" rtlCol="0">
            <a:spAutoFit/>
          </a:bodyPr>
          <a:lstStyle/>
          <a:p>
            <a:pPr eaLnBrk="1" fontAlgn="auto" hangingPunct="1">
              <a:spcBef>
                <a:spcPts val="0"/>
              </a:spcBef>
              <a:spcAft>
                <a:spcPts val="0"/>
              </a:spcAft>
              <a:defRPr/>
            </a:pPr>
            <a:r>
              <a:rPr lang="en-US" sz="2100" dirty="0">
                <a:solidFill>
                  <a:prstClr val="black"/>
                </a:solidFill>
                <a:latin typeface="Calibri"/>
                <a:ea typeface="+mn-ea"/>
              </a:rPr>
              <a:t>Sender:</a:t>
            </a:r>
          </a:p>
          <a:p>
            <a:pPr marL="214313" indent="-164306" eaLnBrk="1" fontAlgn="auto" hangingPunct="1">
              <a:spcBef>
                <a:spcPts val="0"/>
              </a:spcBef>
              <a:spcAft>
                <a:spcPts val="0"/>
              </a:spcAft>
              <a:buClr>
                <a:srgbClr val="0200A3"/>
              </a:buClr>
              <a:buFont typeface="Wingdings" pitchFamily="2" charset="2"/>
              <a:buChar char="§"/>
              <a:defRPr/>
            </a:pPr>
            <a:endParaRPr lang="en-US" sz="1500" dirty="0">
              <a:solidFill>
                <a:prstClr val="black"/>
              </a:solidFill>
              <a:latin typeface="Calibri"/>
              <a:ea typeface="+mn-ea"/>
            </a:endParaRPr>
          </a:p>
        </p:txBody>
      </p:sp>
      <p:sp>
        <p:nvSpPr>
          <p:cNvPr id="102" name="Rectangle 101">
            <a:extLst>
              <a:ext uri="{FF2B5EF4-FFF2-40B4-BE49-F238E27FC236}">
                <a16:creationId xmlns:a16="http://schemas.microsoft.com/office/drawing/2014/main" id="{6480FBEB-6DAE-6343-96A8-03D66CDE01DB}"/>
              </a:ext>
            </a:extLst>
          </p:cNvPr>
          <p:cNvSpPr/>
          <p:nvPr/>
        </p:nvSpPr>
        <p:spPr>
          <a:xfrm>
            <a:off x="6053359" y="2415966"/>
            <a:ext cx="1811561" cy="2527106"/>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dirty="0">
              <a:solidFill>
                <a:prstClr val="white"/>
              </a:solidFill>
            </a:endParaRPr>
          </a:p>
        </p:txBody>
      </p:sp>
      <p:grpSp>
        <p:nvGrpSpPr>
          <p:cNvPr id="88" name="Group 87">
            <a:extLst>
              <a:ext uri="{FF2B5EF4-FFF2-40B4-BE49-F238E27FC236}">
                <a16:creationId xmlns:a16="http://schemas.microsoft.com/office/drawing/2014/main" id="{CA134BD1-8CE1-DD46-92D0-46AEECA91934}"/>
              </a:ext>
            </a:extLst>
          </p:cNvPr>
          <p:cNvGrpSpPr/>
          <p:nvPr/>
        </p:nvGrpSpPr>
        <p:grpSpPr>
          <a:xfrm>
            <a:off x="6847623" y="2584582"/>
            <a:ext cx="944306" cy="300082"/>
            <a:chOff x="8934916" y="2775692"/>
            <a:chExt cx="1259074" cy="400109"/>
          </a:xfrm>
        </p:grpSpPr>
        <p:sp>
          <p:nvSpPr>
            <p:cNvPr id="89" name="Rectangle 88">
              <a:extLst>
                <a:ext uri="{FF2B5EF4-FFF2-40B4-BE49-F238E27FC236}">
                  <a16:creationId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90" name="TextBox 89">
              <a:extLst>
                <a:ext uri="{FF2B5EF4-FFF2-40B4-BE49-F238E27FC236}">
                  <a16:creationId xmlns:a16="http://schemas.microsoft.com/office/drawing/2014/main" id="{26EE5E72-5714-C64B-A3D2-C89CD03AFF69}"/>
                </a:ext>
              </a:extLst>
            </p:cNvPr>
            <p:cNvSpPr txBox="1"/>
            <p:nvPr/>
          </p:nvSpPr>
          <p:spPr>
            <a:xfrm>
              <a:off x="8934916" y="2775692"/>
              <a:ext cx="1259074" cy="400109"/>
            </a:xfrm>
            <a:prstGeom prst="rect">
              <a:avLst/>
            </a:prstGeom>
            <a:noFill/>
          </p:spPr>
          <p:txBody>
            <a:bodyPr wrap="square" rtlCol="0">
              <a:spAutoFit/>
            </a:bodyPr>
            <a:lstStyle/>
            <a:p>
              <a:pPr eaLnBrk="1" fontAlgn="auto" hangingPunct="1">
                <a:spcBef>
                  <a:spcPts val="0"/>
                </a:spcBef>
                <a:spcAft>
                  <a:spcPts val="0"/>
                </a:spcAft>
                <a:defRPr/>
              </a:pPr>
              <a:r>
                <a:rPr lang="en-US" sz="1350" dirty="0">
                  <a:solidFill>
                    <a:prstClr val="black"/>
                  </a:solidFill>
                  <a:latin typeface="Calibri"/>
                  <a:ea typeface="+mn-ea"/>
                </a:rPr>
                <a:t>app. msg</a:t>
              </a:r>
            </a:p>
          </p:txBody>
        </p:sp>
      </p:grpSp>
      <p:sp>
        <p:nvSpPr>
          <p:cNvPr id="91" name="TextBox 90">
            <a:extLst>
              <a:ext uri="{FF2B5EF4-FFF2-40B4-BE49-F238E27FC236}">
                <a16:creationId xmlns:a16="http://schemas.microsoft.com/office/drawing/2014/main" id="{44FC0E6A-CBE5-AC4B-BF65-426B6D4CBC72}"/>
              </a:ext>
            </a:extLst>
          </p:cNvPr>
          <p:cNvSpPr txBox="1"/>
          <p:nvPr/>
        </p:nvSpPr>
        <p:spPr>
          <a:xfrm>
            <a:off x="3293658" y="2601075"/>
            <a:ext cx="2869092" cy="563231"/>
          </a:xfrm>
          <a:prstGeom prst="rect">
            <a:avLst/>
          </a:prstGeom>
          <a:noFill/>
        </p:spPr>
        <p:txBody>
          <a:bodyPr wrap="square" rtlCol="0">
            <a:spAutoFit/>
          </a:bodyPr>
          <a:lstStyle/>
          <a:p>
            <a:pPr marL="214313" indent="-164306" eaLnBrk="1" fontAlgn="auto" hangingPunct="1">
              <a:lnSpc>
                <a:spcPct val="85000"/>
              </a:lnSpc>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is passed an application-layer message</a:t>
            </a:r>
          </a:p>
        </p:txBody>
      </p:sp>
      <p:sp>
        <p:nvSpPr>
          <p:cNvPr id="94" name="TextBox 93">
            <a:extLst>
              <a:ext uri="{FF2B5EF4-FFF2-40B4-BE49-F238E27FC236}">
                <a16:creationId xmlns:a16="http://schemas.microsoft.com/office/drawing/2014/main" id="{D9421943-E484-5046-BEAC-6D59475EF6C3}"/>
              </a:ext>
            </a:extLst>
          </p:cNvPr>
          <p:cNvSpPr txBox="1"/>
          <p:nvPr/>
        </p:nvSpPr>
        <p:spPr>
          <a:xfrm>
            <a:off x="3291140" y="3100438"/>
            <a:ext cx="2869092" cy="563231"/>
          </a:xfrm>
          <a:prstGeom prst="rect">
            <a:avLst/>
          </a:prstGeom>
          <a:noFill/>
        </p:spPr>
        <p:txBody>
          <a:bodyPr wrap="square" rtlCol="0">
            <a:spAutoFit/>
          </a:bodyPr>
          <a:lstStyle/>
          <a:p>
            <a:pPr marL="214313" indent="-164306" eaLnBrk="1" fontAlgn="auto" hangingPunct="1">
              <a:lnSpc>
                <a:spcPct val="85000"/>
              </a:lnSpc>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determines segment header fields values</a:t>
            </a:r>
          </a:p>
        </p:txBody>
      </p:sp>
      <p:sp>
        <p:nvSpPr>
          <p:cNvPr id="95" name="TextBox 94">
            <a:extLst>
              <a:ext uri="{FF2B5EF4-FFF2-40B4-BE49-F238E27FC236}">
                <a16:creationId xmlns:a16="http://schemas.microsoft.com/office/drawing/2014/main" id="{BFD6C411-175C-8D4E-9A66-3E03AAA9F0F9}"/>
              </a:ext>
            </a:extLst>
          </p:cNvPr>
          <p:cNvSpPr txBox="1"/>
          <p:nvPr/>
        </p:nvSpPr>
        <p:spPr>
          <a:xfrm>
            <a:off x="3282519" y="3551897"/>
            <a:ext cx="2869092" cy="369332"/>
          </a:xfrm>
          <a:prstGeom prst="rect">
            <a:avLst/>
          </a:prstGeom>
          <a:noFill/>
        </p:spPr>
        <p:txBody>
          <a:bodyPr wrap="square" rtlCol="0">
            <a:spAutoFit/>
          </a:bodyPr>
          <a:lstStyle/>
          <a:p>
            <a:pPr marL="214313" indent="-164306" eaLnBrk="1" fontAlgn="auto" hangingPunct="1">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creates segment</a:t>
            </a:r>
          </a:p>
        </p:txBody>
      </p:sp>
      <p:sp>
        <p:nvSpPr>
          <p:cNvPr id="97" name="TextBox 96">
            <a:extLst>
              <a:ext uri="{FF2B5EF4-FFF2-40B4-BE49-F238E27FC236}">
                <a16:creationId xmlns:a16="http://schemas.microsoft.com/office/drawing/2014/main" id="{A88394C2-8FDA-8F48-B59B-B744ABBDA541}"/>
              </a:ext>
            </a:extLst>
          </p:cNvPr>
          <p:cNvSpPr txBox="1"/>
          <p:nvPr/>
        </p:nvSpPr>
        <p:spPr>
          <a:xfrm>
            <a:off x="3286027" y="3876122"/>
            <a:ext cx="2869092" cy="369332"/>
          </a:xfrm>
          <a:prstGeom prst="rect">
            <a:avLst/>
          </a:prstGeom>
          <a:noFill/>
        </p:spPr>
        <p:txBody>
          <a:bodyPr wrap="square" rtlCol="0">
            <a:spAutoFit/>
          </a:bodyPr>
          <a:lstStyle/>
          <a:p>
            <a:pPr marL="214313" indent="-164306" eaLnBrk="1" fontAlgn="auto" hangingPunct="1">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passes segment to IP</a:t>
            </a:r>
          </a:p>
        </p:txBody>
      </p:sp>
      <p:sp>
        <p:nvSpPr>
          <p:cNvPr id="131" name="Text Box 26">
            <a:extLst>
              <a:ext uri="{FF2B5EF4-FFF2-40B4-BE49-F238E27FC236}">
                <a16:creationId xmlns:a16="http://schemas.microsoft.com/office/drawing/2014/main" id="{82B22EF0-AE16-E34A-9DFF-15D46D5130BC}"/>
              </a:ext>
            </a:extLst>
          </p:cNvPr>
          <p:cNvSpPr txBox="1">
            <a:spLocks noChangeArrowheads="1"/>
          </p:cNvSpPr>
          <p:nvPr/>
        </p:nvSpPr>
        <p:spPr bwMode="auto">
          <a:xfrm>
            <a:off x="1458270" y="3172185"/>
            <a:ext cx="1151486" cy="3462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transport</a:t>
            </a:r>
          </a:p>
        </p:txBody>
      </p:sp>
      <p:sp>
        <p:nvSpPr>
          <p:cNvPr id="98" name="Rectangle 97">
            <a:extLst>
              <a:ext uri="{FF2B5EF4-FFF2-40B4-BE49-F238E27FC236}">
                <a16:creationId xmlns:a16="http://schemas.microsoft.com/office/drawing/2014/main" id="{EB709716-FAB0-AB45-BCAE-75F8CF2AEC09}"/>
              </a:ext>
            </a:extLst>
          </p:cNvPr>
          <p:cNvSpPr/>
          <p:nvPr/>
        </p:nvSpPr>
        <p:spPr>
          <a:xfrm>
            <a:off x="203086" y="2090394"/>
            <a:ext cx="2786773" cy="3039053"/>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dirty="0">
              <a:solidFill>
                <a:prstClr val="white"/>
              </a:solidFill>
            </a:endParaRPr>
          </a:p>
        </p:txBody>
      </p:sp>
      <p:grpSp>
        <p:nvGrpSpPr>
          <p:cNvPr id="106" name="Group 105">
            <a:extLst>
              <a:ext uri="{FF2B5EF4-FFF2-40B4-BE49-F238E27FC236}">
                <a16:creationId xmlns:a16="http://schemas.microsoft.com/office/drawing/2014/main" id="{73FB16D4-A4BA-C046-940D-43D50465EB6F}"/>
              </a:ext>
            </a:extLst>
          </p:cNvPr>
          <p:cNvGrpSpPr/>
          <p:nvPr/>
        </p:nvGrpSpPr>
        <p:grpSpPr>
          <a:xfrm>
            <a:off x="6355167" y="3101628"/>
            <a:ext cx="944306" cy="276999"/>
            <a:chOff x="8964789" y="2639236"/>
            <a:chExt cx="1259074" cy="369332"/>
          </a:xfrm>
        </p:grpSpPr>
        <p:sp>
          <p:nvSpPr>
            <p:cNvPr id="125" name="Rectangle 124">
              <a:extLst>
                <a:ext uri="{FF2B5EF4-FFF2-40B4-BE49-F238E27FC236}">
                  <a16:creationId xmlns:a16="http://schemas.microsoft.com/office/drawing/2014/main" id="{CA58A03E-5455-0E40-8FB9-71E1E5E2CAD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6" name="TextBox 125">
              <a:extLst>
                <a:ext uri="{FF2B5EF4-FFF2-40B4-BE49-F238E27FC236}">
                  <a16:creationId xmlns:a16="http://schemas.microsoft.com/office/drawing/2014/main" id="{97A208B0-D27E-5D40-B156-11CB7075B098}"/>
                </a:ext>
              </a:extLst>
            </p:cNvPr>
            <p:cNvSpPr txBox="1"/>
            <p:nvPr/>
          </p:nvSpPr>
          <p:spPr>
            <a:xfrm>
              <a:off x="8964789" y="2639236"/>
              <a:ext cx="1259074" cy="369332"/>
            </a:xfrm>
            <a:prstGeom prst="rect">
              <a:avLst/>
            </a:prstGeom>
            <a:noFill/>
          </p:spPr>
          <p:txBody>
            <a:bodyPr wrap="square" rtlCol="0">
              <a:spAutoFit/>
            </a:bodyPr>
            <a:lstStyle/>
            <a:p>
              <a:pPr eaLnBrk="1" fontAlgn="auto" hangingPunct="1">
                <a:spcBef>
                  <a:spcPts val="0"/>
                </a:spcBef>
                <a:spcAft>
                  <a:spcPts val="0"/>
                </a:spcAft>
                <a:defRPr/>
              </a:pPr>
              <a:r>
                <a:rPr lang="en-US" sz="1200" dirty="0">
                  <a:solidFill>
                    <a:prstClr val="black"/>
                  </a:solidFill>
                  <a:latin typeface="Calibri"/>
                  <a:ea typeface="+mn-ea"/>
                </a:rPr>
                <a:t>   T</a:t>
              </a:r>
              <a:r>
                <a:rPr lang="en-US" sz="1200" baseline="-25000" dirty="0">
                  <a:solidFill>
                    <a:prstClr val="black"/>
                  </a:solidFill>
                  <a:latin typeface="Calibri"/>
                  <a:ea typeface="+mn-ea"/>
                </a:rPr>
                <a:t>h</a:t>
              </a:r>
            </a:p>
          </p:txBody>
        </p:sp>
      </p:grpSp>
      <p:grpSp>
        <p:nvGrpSpPr>
          <p:cNvPr id="5" name="Group 4">
            <a:extLst>
              <a:ext uri="{FF2B5EF4-FFF2-40B4-BE49-F238E27FC236}">
                <a16:creationId xmlns:a16="http://schemas.microsoft.com/office/drawing/2014/main" id="{E73E5E98-A439-0647-8DF1-844937CD72A0}"/>
              </a:ext>
            </a:extLst>
          </p:cNvPr>
          <p:cNvGrpSpPr/>
          <p:nvPr/>
        </p:nvGrpSpPr>
        <p:grpSpPr>
          <a:xfrm>
            <a:off x="6412118" y="3106529"/>
            <a:ext cx="1363517" cy="300082"/>
            <a:chOff x="7863122" y="5632673"/>
            <a:chExt cx="1818022" cy="400109"/>
          </a:xfrm>
        </p:grpSpPr>
        <p:grpSp>
          <p:nvGrpSpPr>
            <p:cNvPr id="99" name="Group 98">
              <a:extLst>
                <a:ext uri="{FF2B5EF4-FFF2-40B4-BE49-F238E27FC236}">
                  <a16:creationId xmlns:a16="http://schemas.microsoft.com/office/drawing/2014/main" id="{39CCB6B2-1F81-ED45-AF48-A3187F0215CC}"/>
                </a:ext>
              </a:extLst>
            </p:cNvPr>
            <p:cNvGrpSpPr/>
            <p:nvPr/>
          </p:nvGrpSpPr>
          <p:grpSpPr>
            <a:xfrm>
              <a:off x="7863122" y="5638955"/>
              <a:ext cx="1259074" cy="369332"/>
              <a:chOff x="8964789" y="2648929"/>
              <a:chExt cx="1259074" cy="369332"/>
            </a:xfrm>
          </p:grpSpPr>
          <p:sp>
            <p:nvSpPr>
              <p:cNvPr id="100" name="Rectangle 99">
                <a:extLst>
                  <a:ext uri="{FF2B5EF4-FFF2-40B4-BE49-F238E27FC236}">
                    <a16:creationId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1" name="TextBox 100">
                <a:extLst>
                  <a:ext uri="{FF2B5EF4-FFF2-40B4-BE49-F238E27FC236}">
                    <a16:creationId xmlns:a16="http://schemas.microsoft.com/office/drawing/2014/main" id="{AB8C9E1E-8C93-DA4B-813F-B38E4305D2BE}"/>
                  </a:ext>
                </a:extLst>
              </p:cNvPr>
              <p:cNvSpPr txBox="1"/>
              <p:nvPr/>
            </p:nvSpPr>
            <p:spPr>
              <a:xfrm>
                <a:off x="8964789" y="2648929"/>
                <a:ext cx="1259074" cy="369332"/>
              </a:xfrm>
              <a:prstGeom prst="rect">
                <a:avLst/>
              </a:prstGeom>
              <a:noFill/>
            </p:spPr>
            <p:txBody>
              <a:bodyPr wrap="square" rtlCol="0">
                <a:spAutoFit/>
              </a:bodyPr>
              <a:lstStyle/>
              <a:p>
                <a:pPr eaLnBrk="1" fontAlgn="auto" hangingPunct="1">
                  <a:spcBef>
                    <a:spcPts val="0"/>
                  </a:spcBef>
                  <a:spcAft>
                    <a:spcPts val="0"/>
                  </a:spcAft>
                  <a:defRPr/>
                </a:pPr>
                <a:r>
                  <a:rPr lang="en-US" sz="1200" dirty="0">
                    <a:solidFill>
                      <a:prstClr val="black"/>
                    </a:solidFill>
                    <a:latin typeface="Calibri"/>
                    <a:ea typeface="+mn-ea"/>
                  </a:rPr>
                  <a:t>   T</a:t>
                </a:r>
                <a:r>
                  <a:rPr lang="en-US" sz="1200" baseline="-25000" dirty="0">
                    <a:solidFill>
                      <a:prstClr val="black"/>
                    </a:solidFill>
                    <a:latin typeface="Calibri"/>
                    <a:ea typeface="+mn-ea"/>
                  </a:rPr>
                  <a:t>h</a:t>
                </a:r>
              </a:p>
            </p:txBody>
          </p:sp>
        </p:grpSp>
        <p:grpSp>
          <p:nvGrpSpPr>
            <p:cNvPr id="103" name="Group 102">
              <a:extLst>
                <a:ext uri="{FF2B5EF4-FFF2-40B4-BE49-F238E27FC236}">
                  <a16:creationId xmlns:a16="http://schemas.microsoft.com/office/drawing/2014/main" id="{8B56BF3A-3903-6343-9BD8-2E85489C092E}"/>
                </a:ext>
              </a:extLst>
            </p:cNvPr>
            <p:cNvGrpSpPr/>
            <p:nvPr/>
          </p:nvGrpSpPr>
          <p:grpSpPr>
            <a:xfrm>
              <a:off x="8422070" y="5632673"/>
              <a:ext cx="1259074" cy="400109"/>
              <a:chOff x="8934916" y="2778923"/>
              <a:chExt cx="1259074" cy="400109"/>
            </a:xfrm>
          </p:grpSpPr>
          <p:sp>
            <p:nvSpPr>
              <p:cNvPr id="104" name="Rectangle 103">
                <a:extLst>
                  <a:ext uri="{FF2B5EF4-FFF2-40B4-BE49-F238E27FC236}">
                    <a16:creationId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5" name="TextBox 104">
                <a:extLst>
                  <a:ext uri="{FF2B5EF4-FFF2-40B4-BE49-F238E27FC236}">
                    <a16:creationId xmlns:a16="http://schemas.microsoft.com/office/drawing/2014/main" id="{E104975E-6986-5E45-89F2-36AAE86B3B12}"/>
                  </a:ext>
                </a:extLst>
              </p:cNvPr>
              <p:cNvSpPr txBox="1"/>
              <p:nvPr/>
            </p:nvSpPr>
            <p:spPr>
              <a:xfrm>
                <a:off x="8934916" y="2778923"/>
                <a:ext cx="1259074" cy="400109"/>
              </a:xfrm>
              <a:prstGeom prst="rect">
                <a:avLst/>
              </a:prstGeom>
              <a:noFill/>
            </p:spPr>
            <p:txBody>
              <a:bodyPr wrap="square" rtlCol="0">
                <a:spAutoFit/>
              </a:bodyPr>
              <a:lstStyle/>
              <a:p>
                <a:pPr eaLnBrk="1" fontAlgn="auto" hangingPunct="1">
                  <a:spcBef>
                    <a:spcPts val="0"/>
                  </a:spcBef>
                  <a:spcAft>
                    <a:spcPts val="0"/>
                  </a:spcAft>
                  <a:defRPr/>
                </a:pPr>
                <a:r>
                  <a:rPr lang="en-US" sz="1350" dirty="0">
                    <a:solidFill>
                      <a:prstClr val="black"/>
                    </a:solidFill>
                    <a:latin typeface="Calibri"/>
                    <a:ea typeface="+mn-ea"/>
                  </a:rPr>
                  <a:t>app. msg</a:t>
                </a:r>
              </a:p>
            </p:txBody>
          </p:sp>
        </p:grpSp>
      </p:grpSp>
      <p:sp>
        <p:nvSpPr>
          <p:cNvPr id="130" name="Slide Number Placeholder 2">
            <a:extLst>
              <a:ext uri="{FF2B5EF4-FFF2-40B4-BE49-F238E27FC236}">
                <a16:creationId xmlns:a16="http://schemas.microsoft.com/office/drawing/2014/main" id="{684D6C37-F877-7142-9DC9-7032BA75668F}"/>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5</a:t>
            </a:fld>
            <a:endParaRPr lang="en-US" dirty="0">
              <a:solidFill>
                <a:prstClr val="white">
                  <a:lumMod val="50000"/>
                </a:prstClr>
              </a:solidFill>
            </a:endParaRPr>
          </a:p>
        </p:txBody>
      </p:sp>
    </p:spTree>
    <p:extLst>
      <p:ext uri="{BB962C8B-B14F-4D97-AF65-F5344CB8AC3E}">
        <p14:creationId xmlns:p14="http://schemas.microsoft.com/office/powerpoint/2010/main" val="4203252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dissolve">
                                      <p:cBhvr>
                                        <p:cTn id="7" dur="500"/>
                                        <p:tgtEl>
                                          <p:spTgt spid="10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dissolve">
                                      <p:cBhvr>
                                        <p:cTn id="12" dur="500"/>
                                        <p:tgtEl>
                                          <p:spTgt spid="88"/>
                                        </p:tgtEl>
                                      </p:cBhvr>
                                    </p:animEffect>
                                  </p:childTnLst>
                                </p:cTn>
                              </p:par>
                              <p:par>
                                <p:cTn id="13" presetID="0" presetClass="path" presetSubtype="0" accel="50000" decel="50000" fill="hold" nodeType="withEffect">
                                  <p:stCondLst>
                                    <p:cond delay="0"/>
                                  </p:stCondLst>
                                  <p:childTnLst>
                                    <p:animMotion origin="layout" path="M -6.25E-7 -1.48148E-6 L 0.00065 0.10139 " pathEditMode="relative" rAng="0" ptsTypes="AA">
                                      <p:cBhvr>
                                        <p:cTn id="14" dur="2000" fill="hold"/>
                                        <p:tgtEl>
                                          <p:spTgt spid="88"/>
                                        </p:tgtEl>
                                        <p:attrNameLst>
                                          <p:attrName>ppt_x</p:attrName>
                                          <p:attrName>ppt_y</p:attrName>
                                        </p:attrNameLst>
                                      </p:cBhvr>
                                      <p:rCtr x="26" y="5069"/>
                                    </p:animMotion>
                                  </p:childTnLst>
                                </p:cTn>
                              </p:par>
                              <p:par>
                                <p:cTn id="15" presetID="9"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dissolve">
                                      <p:cBhvr>
                                        <p:cTn id="17" dur="5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6"/>
                                        </p:tgtEl>
                                        <p:attrNameLst>
                                          <p:attrName>style.visibility</p:attrName>
                                        </p:attrNameLst>
                                      </p:cBhvr>
                                      <p:to>
                                        <p:strVal val="visible"/>
                                      </p:to>
                                    </p:set>
                                    <p:animEffect transition="in" filter="dissolve">
                                      <p:cBhvr>
                                        <p:cTn id="22" dur="500"/>
                                        <p:tgtEl>
                                          <p:spTgt spid="10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4"/>
                                        </p:tgtEl>
                                        <p:attrNameLst>
                                          <p:attrName>style.visibility</p:attrName>
                                        </p:attrNameLst>
                                      </p:cBhvr>
                                      <p:to>
                                        <p:strVal val="visible"/>
                                      </p:to>
                                    </p:set>
                                    <p:animEffect transition="in" filter="dissolve">
                                      <p:cBhvr>
                                        <p:cTn id="25" dur="500"/>
                                        <p:tgtEl>
                                          <p:spTgt spid="9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xit" presetSubtype="0" fill="hold" nodeType="clickEffect">
                                  <p:stCondLst>
                                    <p:cond delay="0"/>
                                  </p:stCondLst>
                                  <p:childTnLst>
                                    <p:animEffect transition="out" filter="dissolve">
                                      <p:cBhvr>
                                        <p:cTn id="29" dur="500"/>
                                        <p:tgtEl>
                                          <p:spTgt spid="106"/>
                                        </p:tgtEl>
                                      </p:cBhvr>
                                    </p:animEffect>
                                    <p:set>
                                      <p:cBhvr>
                                        <p:cTn id="30" dur="1" fill="hold">
                                          <p:stCondLst>
                                            <p:cond delay="499"/>
                                          </p:stCondLst>
                                        </p:cTn>
                                        <p:tgtEl>
                                          <p:spTgt spid="106"/>
                                        </p:tgtEl>
                                        <p:attrNameLst>
                                          <p:attrName>style.visibility</p:attrName>
                                        </p:attrNameLst>
                                      </p:cBhvr>
                                      <p:to>
                                        <p:strVal val="hidden"/>
                                      </p:to>
                                    </p:set>
                                  </p:childTnLst>
                                </p:cTn>
                              </p:par>
                              <p:par>
                                <p:cTn id="31" presetID="9" presetClass="exit" presetSubtype="0" fill="hold" nodeType="withEffect">
                                  <p:stCondLst>
                                    <p:cond delay="0"/>
                                  </p:stCondLst>
                                  <p:childTnLst>
                                    <p:animEffect transition="out" filter="dissolve">
                                      <p:cBhvr>
                                        <p:cTn id="32" dur="500"/>
                                        <p:tgtEl>
                                          <p:spTgt spid="88"/>
                                        </p:tgtEl>
                                      </p:cBhvr>
                                    </p:animEffect>
                                    <p:set>
                                      <p:cBhvr>
                                        <p:cTn id="33" dur="1" fill="hold">
                                          <p:stCondLst>
                                            <p:cond delay="499"/>
                                          </p:stCondLst>
                                        </p:cTn>
                                        <p:tgtEl>
                                          <p:spTgt spid="88"/>
                                        </p:tgtEl>
                                        <p:attrNameLst>
                                          <p:attrName>style.visibility</p:attrName>
                                        </p:attrNameLst>
                                      </p:cBhvr>
                                      <p:to>
                                        <p:strVal val="hidden"/>
                                      </p:to>
                                    </p:set>
                                  </p:childTnLst>
                                </p:cTn>
                              </p:par>
                            </p:childTnLst>
                          </p:cTn>
                        </p:par>
                        <p:par>
                          <p:cTn id="34" fill="hold">
                            <p:stCondLst>
                              <p:cond delay="500"/>
                            </p:stCondLst>
                            <p:childTnLst>
                              <p:par>
                                <p:cTn id="35" presetID="9" presetClass="entr" presetSubtype="0"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dissolve">
                                      <p:cBhvr>
                                        <p:cTn id="40" dur="500"/>
                                        <p:tgtEl>
                                          <p:spTgt spid="95"/>
                                        </p:tgtEl>
                                      </p:cBhvr>
                                    </p:animEffec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nodeType="clickEffect">
                                  <p:stCondLst>
                                    <p:cond delay="0"/>
                                  </p:stCondLst>
                                  <p:childTnLst>
                                    <p:animMotion origin="layout" path="M -1.25E-6 -3.7037E-7 L 0.00052 0.09306 " pathEditMode="relative" rAng="0" ptsTypes="AA">
                                      <p:cBhvr>
                                        <p:cTn id="44" dur="2000" fill="hold"/>
                                        <p:tgtEl>
                                          <p:spTgt spid="5"/>
                                        </p:tgtEl>
                                        <p:attrNameLst>
                                          <p:attrName>ppt_x</p:attrName>
                                          <p:attrName>ppt_y</p:attrName>
                                        </p:attrNameLst>
                                      </p:cBhvr>
                                      <p:rCtr x="26" y="4653"/>
                                    </p:animMotion>
                                  </p:childTnLst>
                                </p:cTn>
                              </p:par>
                              <p:par>
                                <p:cTn id="45" presetID="9" presetClass="entr" presetSubtype="0" fill="hold" grpId="0" nodeType="withEffect">
                                  <p:stCondLst>
                                    <p:cond delay="0"/>
                                  </p:stCondLst>
                                  <p:childTnLst>
                                    <p:set>
                                      <p:cBhvr>
                                        <p:cTn id="46" dur="1" fill="hold">
                                          <p:stCondLst>
                                            <p:cond delay="0"/>
                                          </p:stCondLst>
                                        </p:cTn>
                                        <p:tgtEl>
                                          <p:spTgt spid="97"/>
                                        </p:tgtEl>
                                        <p:attrNameLst>
                                          <p:attrName>style.visibility</p:attrName>
                                        </p:attrNameLst>
                                      </p:cBhvr>
                                      <p:to>
                                        <p:strVal val="visible"/>
                                      </p:to>
                                    </p:set>
                                    <p:animEffect transition="in" filter="dissolve">
                                      <p:cBhvr>
                                        <p:cTn id="47" dur="500"/>
                                        <p:tgtEl>
                                          <p:spTgt spid="97"/>
                                        </p:tgtEl>
                                      </p:cBhvr>
                                    </p:animEffect>
                                  </p:childTnLst>
                                </p:cTn>
                              </p:par>
                            </p:childTnLst>
                          </p:cTn>
                        </p:par>
                      </p:childTnLst>
                    </p:cTn>
                  </p:par>
                  <p:par>
                    <p:cTn id="48" fill="hold">
                      <p:stCondLst>
                        <p:cond delay="indefinite"/>
                      </p:stCondLst>
                      <p:childTnLst>
                        <p:par>
                          <p:cTn id="49" fill="hold">
                            <p:stCondLst>
                              <p:cond delay="0"/>
                            </p:stCondLst>
                            <p:childTnLst>
                              <p:par>
                                <p:cTn id="50" presetID="0" presetClass="path" presetSubtype="0" accel="50000" decel="50000" fill="hold" nodeType="clickEffect">
                                  <p:stCondLst>
                                    <p:cond delay="0"/>
                                  </p:stCondLst>
                                  <p:childTnLst>
                                    <p:animMotion origin="layout" path="M 0.00052 0.09306 C -0.00013 0.14931 -0.00091 0.20347 -0.00169 0.26181 L -0.11432 0.32593 L -0.43333 0.31991 C -0.47513 0.3044 -0.51719 0.27778 -0.55846 0.26366 " pathEditMode="relative" rAng="0" ptsTypes="AAAAA">
                                      <p:cBhvr>
                                        <p:cTn id="51" dur="2000" fill="hold"/>
                                        <p:tgtEl>
                                          <p:spTgt spid="5"/>
                                        </p:tgtEl>
                                        <p:attrNameLst>
                                          <p:attrName>ppt_x</p:attrName>
                                          <p:attrName>ppt_y</p:attrName>
                                        </p:attrNameLst>
                                      </p:cBhvr>
                                      <p:rCtr x="-27943" y="116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91" grpId="0"/>
      <p:bldP spid="94" grpId="0"/>
      <p:bldP spid="95" grpId="0"/>
      <p:bldP spid="9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902B4EA-0158-774A-877D-888807F574B5}"/>
              </a:ext>
            </a:extLst>
          </p:cNvPr>
          <p:cNvGrpSpPr/>
          <p:nvPr/>
        </p:nvGrpSpPr>
        <p:grpSpPr>
          <a:xfrm>
            <a:off x="1934109" y="4581500"/>
            <a:ext cx="5150044" cy="771548"/>
            <a:chOff x="2578811" y="4965666"/>
            <a:chExt cx="6866725" cy="1028731"/>
          </a:xfrm>
        </p:grpSpPr>
        <p:cxnSp>
          <p:nvCxnSpPr>
            <p:cNvPr id="128" name="Straight Connector 127">
              <a:extLst>
                <a:ext uri="{FF2B5EF4-FFF2-40B4-BE49-F238E27FC236}">
                  <a16:creationId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a:defRPr/>
                </a:pPr>
                <a:r>
                  <a:rPr lang="en-US" sz="2100" dirty="0">
                    <a:solidFill>
                      <a:srgbClr val="000000"/>
                    </a:solidFill>
                    <a:latin typeface="Calibri"/>
                    <a:cs typeface="Arial"/>
                  </a:rPr>
                  <a:t>             </a:t>
                </a:r>
              </a:p>
            </p:txBody>
          </p:sp>
        </p:grpSp>
      </p:gr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7721259" y="2482854"/>
            <a:ext cx="667827" cy="218441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640762" y="2549742"/>
            <a:ext cx="634983" cy="219164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8216766" y="4042320"/>
            <a:ext cx="412374" cy="802661"/>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2100" kern="0">
                <a:solidFill>
                  <a:srgbClr val="FF0000"/>
                </a:solidFill>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grpSp>
        <p:nvGrpSpPr>
          <p:cNvPr id="3" name="Group 2">
            <a:extLst>
              <a:ext uri="{FF2B5EF4-FFF2-40B4-BE49-F238E27FC236}">
                <a16:creationId xmlns:a16="http://schemas.microsoft.com/office/drawing/2014/main" id="{64AFD9EC-1CA1-D34D-965E-2E8D95748C38}"/>
              </a:ext>
            </a:extLst>
          </p:cNvPr>
          <p:cNvGrpSpPr/>
          <p:nvPr/>
        </p:nvGrpSpPr>
        <p:grpSpPr>
          <a:xfrm>
            <a:off x="6382764" y="2415966"/>
            <a:ext cx="1459754" cy="2187358"/>
            <a:chOff x="8091785" y="2078288"/>
            <a:chExt cx="2364905" cy="2916476"/>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a:solidFill>
                  <a:srgbClr val="000000"/>
                </a:solidFill>
                <a:latin typeface="Times New Roman" panose="02020603050405020304" pitchFamily="18" charset="0"/>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kern="0">
                <a:solidFill>
                  <a:srgbClr val="000000"/>
                </a:solidFill>
                <a:latin typeface="Times New Roman" panose="02020603050405020304" pitchFamily="18" charset="0"/>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09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4"/>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1" y="2284368"/>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265828" y="2482854"/>
            <a:ext cx="1598776" cy="2187358"/>
            <a:chOff x="8091785" y="2078288"/>
            <a:chExt cx="2364905" cy="2916476"/>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a:solidFill>
                  <a:srgbClr val="000000"/>
                </a:solidFill>
                <a:latin typeface="Times New Roman" panose="02020603050405020304" pitchFamily="18" charset="0"/>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kern="0">
                <a:solidFill>
                  <a:srgbClr val="000000"/>
                </a:solidFill>
                <a:latin typeface="Times New Roman" panose="02020603050405020304" pitchFamily="18" charset="0"/>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5" y="453309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5" y="4088344"/>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5" y="364607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39" y="2284368"/>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application</a:t>
              </a:r>
            </a:p>
          </p:txBody>
        </p:sp>
      </p:grpSp>
      <p:sp>
        <p:nvSpPr>
          <p:cNvPr id="129" name="Text Box 26">
            <a:extLst>
              <a:ext uri="{FF2B5EF4-FFF2-40B4-BE49-F238E27FC236}">
                <a16:creationId xmlns:a16="http://schemas.microsoft.com/office/drawing/2014/main" id="{BF5BF946-F5E7-1544-AF56-E534E43CF495}"/>
              </a:ext>
            </a:extLst>
          </p:cNvPr>
          <p:cNvSpPr txBox="1">
            <a:spLocks noChangeArrowheads="1"/>
          </p:cNvSpPr>
          <p:nvPr/>
        </p:nvSpPr>
        <p:spPr bwMode="auto">
          <a:xfrm>
            <a:off x="6549396" y="3102621"/>
            <a:ext cx="1051358" cy="3462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transport</a:t>
            </a:r>
          </a:p>
        </p:txBody>
      </p:sp>
      <p:grpSp>
        <p:nvGrpSpPr>
          <p:cNvPr id="93" name="Group 92">
            <a:extLst>
              <a:ext uri="{FF2B5EF4-FFF2-40B4-BE49-F238E27FC236}">
                <a16:creationId xmlns:a16="http://schemas.microsoft.com/office/drawing/2014/main" id="{EFA7BEBF-82FA-3440-93DD-AFB07D2DDF8D}"/>
              </a:ext>
            </a:extLst>
          </p:cNvPr>
          <p:cNvGrpSpPr/>
          <p:nvPr/>
        </p:nvGrpSpPr>
        <p:grpSpPr>
          <a:xfrm>
            <a:off x="375551" y="4564935"/>
            <a:ext cx="769892" cy="447865"/>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599018" y="1074244"/>
            <a:ext cx="8325469" cy="670967"/>
          </a:xfrm>
        </p:spPr>
        <p:txBody>
          <a:bodyPr>
            <a:normAutofit/>
          </a:bodyPr>
          <a:lstStyle/>
          <a:p>
            <a:r>
              <a:rPr lang="en-US" dirty="0"/>
              <a:t>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1846655" y="2924267"/>
            <a:ext cx="309563" cy="119063"/>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7260858" y="2862457"/>
            <a:ext cx="309563" cy="119063"/>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02" name="Rectangle 101">
            <a:extLst>
              <a:ext uri="{FF2B5EF4-FFF2-40B4-BE49-F238E27FC236}">
                <a16:creationId xmlns:a16="http://schemas.microsoft.com/office/drawing/2014/main" id="{6480FBEB-6DAE-6343-96A8-03D66CDE01DB}"/>
              </a:ext>
            </a:extLst>
          </p:cNvPr>
          <p:cNvSpPr/>
          <p:nvPr/>
        </p:nvSpPr>
        <p:spPr>
          <a:xfrm>
            <a:off x="6032662" y="2415966"/>
            <a:ext cx="1832258" cy="2527106"/>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dirty="0">
              <a:solidFill>
                <a:prstClr val="white"/>
              </a:solidFill>
            </a:endParaRPr>
          </a:p>
        </p:txBody>
      </p:sp>
      <p:sp>
        <p:nvSpPr>
          <p:cNvPr id="131" name="Text Box 26">
            <a:extLst>
              <a:ext uri="{FF2B5EF4-FFF2-40B4-BE49-F238E27FC236}">
                <a16:creationId xmlns:a16="http://schemas.microsoft.com/office/drawing/2014/main" id="{82B22EF0-AE16-E34A-9DFF-15D46D5130BC}"/>
              </a:ext>
            </a:extLst>
          </p:cNvPr>
          <p:cNvSpPr txBox="1">
            <a:spLocks noChangeArrowheads="1"/>
          </p:cNvSpPr>
          <p:nvPr/>
        </p:nvSpPr>
        <p:spPr bwMode="auto">
          <a:xfrm>
            <a:off x="1458270" y="3172185"/>
            <a:ext cx="1151486" cy="3462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transport</a:t>
            </a:r>
          </a:p>
        </p:txBody>
      </p:sp>
      <p:sp>
        <p:nvSpPr>
          <p:cNvPr id="98" name="Rectangle 97">
            <a:extLst>
              <a:ext uri="{FF2B5EF4-FFF2-40B4-BE49-F238E27FC236}">
                <a16:creationId xmlns:a16="http://schemas.microsoft.com/office/drawing/2014/main" id="{EB709716-FAB0-AB45-BCAE-75F8CF2AEC09}"/>
              </a:ext>
            </a:extLst>
          </p:cNvPr>
          <p:cNvSpPr/>
          <p:nvPr/>
        </p:nvSpPr>
        <p:spPr>
          <a:xfrm>
            <a:off x="318757" y="1750790"/>
            <a:ext cx="2749726" cy="3344929"/>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dirty="0">
              <a:solidFill>
                <a:prstClr val="white"/>
              </a:solidFill>
            </a:endParaRPr>
          </a:p>
        </p:txBody>
      </p:sp>
      <p:grpSp>
        <p:nvGrpSpPr>
          <p:cNvPr id="184" name="Group 149">
            <a:extLst>
              <a:ext uri="{FF2B5EF4-FFF2-40B4-BE49-F238E27FC236}">
                <a16:creationId xmlns:a16="http://schemas.microsoft.com/office/drawing/2014/main" id="{63E54651-4A95-3749-9095-CA7015203D88}"/>
              </a:ext>
            </a:extLst>
          </p:cNvPr>
          <p:cNvGrpSpPr>
            <a:grpSpLocks/>
          </p:cNvGrpSpPr>
          <p:nvPr/>
        </p:nvGrpSpPr>
        <p:grpSpPr bwMode="auto">
          <a:xfrm>
            <a:off x="1846655" y="2924267"/>
            <a:ext cx="309563" cy="119063"/>
            <a:chOff x="1287" y="2524"/>
            <a:chExt cx="260" cy="100"/>
          </a:xfrm>
        </p:grpSpPr>
        <p:sp>
          <p:nvSpPr>
            <p:cNvPr id="185" name="Rectangle 73">
              <a:extLst>
                <a:ext uri="{FF2B5EF4-FFF2-40B4-BE49-F238E27FC236}">
                  <a16:creationId xmlns:a16="http://schemas.microsoft.com/office/drawing/2014/main" id="{280DAB38-0E9E-F34F-8F9A-9367D3F327F8}"/>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86" name="Rectangle 74">
              <a:extLst>
                <a:ext uri="{FF2B5EF4-FFF2-40B4-BE49-F238E27FC236}">
                  <a16:creationId xmlns:a16="http://schemas.microsoft.com/office/drawing/2014/main" id="{B4B3D106-96DD-1043-A6B0-160355FE6132}"/>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87" name="Rectangle 75">
              <a:extLst>
                <a:ext uri="{FF2B5EF4-FFF2-40B4-BE49-F238E27FC236}">
                  <a16:creationId xmlns:a16="http://schemas.microsoft.com/office/drawing/2014/main" id="{C5BB7FFA-9E81-524A-AFF4-0278B5CB8669}"/>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88" name="Rectangle 129">
              <a:extLst>
                <a:ext uri="{FF2B5EF4-FFF2-40B4-BE49-F238E27FC236}">
                  <a16:creationId xmlns:a16="http://schemas.microsoft.com/office/drawing/2014/main" id="{25DAD60B-59D9-D343-8677-62E63FE488CE}"/>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89" name="TextBox 188">
            <a:extLst>
              <a:ext uri="{FF2B5EF4-FFF2-40B4-BE49-F238E27FC236}">
                <a16:creationId xmlns:a16="http://schemas.microsoft.com/office/drawing/2014/main" id="{5F1D59D2-8EB3-004A-9300-4BC4758C645B}"/>
              </a:ext>
            </a:extLst>
          </p:cNvPr>
          <p:cNvSpPr txBox="1"/>
          <p:nvPr/>
        </p:nvSpPr>
        <p:spPr>
          <a:xfrm>
            <a:off x="3159358" y="2230276"/>
            <a:ext cx="2923758" cy="646331"/>
          </a:xfrm>
          <a:prstGeom prst="rect">
            <a:avLst/>
          </a:prstGeom>
          <a:noFill/>
        </p:spPr>
        <p:txBody>
          <a:bodyPr wrap="square" rtlCol="0">
            <a:spAutoFit/>
          </a:bodyPr>
          <a:lstStyle/>
          <a:p>
            <a:pPr eaLnBrk="1" fontAlgn="auto" hangingPunct="1">
              <a:spcBef>
                <a:spcPts val="0"/>
              </a:spcBef>
              <a:spcAft>
                <a:spcPts val="0"/>
              </a:spcAft>
              <a:defRPr/>
            </a:pPr>
            <a:r>
              <a:rPr lang="en-US" sz="2100" dirty="0">
                <a:solidFill>
                  <a:prstClr val="black"/>
                </a:solidFill>
                <a:latin typeface="Calibri"/>
                <a:ea typeface="+mn-ea"/>
              </a:rPr>
              <a:t>Receiver:</a:t>
            </a:r>
          </a:p>
          <a:p>
            <a:pPr marL="214313" indent="-164306" eaLnBrk="1" fontAlgn="auto" hangingPunct="1">
              <a:spcBef>
                <a:spcPts val="0"/>
              </a:spcBef>
              <a:spcAft>
                <a:spcPts val="0"/>
              </a:spcAft>
              <a:buClr>
                <a:srgbClr val="0200A3"/>
              </a:buClr>
              <a:buFont typeface="Wingdings" pitchFamily="2" charset="2"/>
              <a:buChar char="§"/>
              <a:defRPr/>
            </a:pPr>
            <a:endParaRPr lang="en-US" sz="1500" dirty="0">
              <a:solidFill>
                <a:prstClr val="black"/>
              </a:solidFill>
              <a:latin typeface="Calibri"/>
              <a:ea typeface="+mn-ea"/>
            </a:endParaRPr>
          </a:p>
        </p:txBody>
      </p:sp>
      <p:grpSp>
        <p:nvGrpSpPr>
          <p:cNvPr id="190" name="Group 189">
            <a:extLst>
              <a:ext uri="{FF2B5EF4-FFF2-40B4-BE49-F238E27FC236}">
                <a16:creationId xmlns:a16="http://schemas.microsoft.com/office/drawing/2014/main" id="{0695A34D-8B86-1543-9A29-0310FB2B9383}"/>
              </a:ext>
            </a:extLst>
          </p:cNvPr>
          <p:cNvGrpSpPr/>
          <p:nvPr/>
        </p:nvGrpSpPr>
        <p:grpSpPr>
          <a:xfrm>
            <a:off x="1766770" y="3173896"/>
            <a:ext cx="944306" cy="300082"/>
            <a:chOff x="8934916" y="2775692"/>
            <a:chExt cx="1259074" cy="400109"/>
          </a:xfrm>
        </p:grpSpPr>
        <p:sp>
          <p:nvSpPr>
            <p:cNvPr id="191" name="Rectangle 190">
              <a:extLst>
                <a:ext uri="{FF2B5EF4-FFF2-40B4-BE49-F238E27FC236}">
                  <a16:creationId xmlns:a16="http://schemas.microsoft.com/office/drawing/2014/main" id="{91656D58-2006-444D-9DF3-929C2C3A9462}"/>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2" name="TextBox 191">
              <a:extLst>
                <a:ext uri="{FF2B5EF4-FFF2-40B4-BE49-F238E27FC236}">
                  <a16:creationId xmlns:a16="http://schemas.microsoft.com/office/drawing/2014/main" id="{EEC242EC-76E3-8842-966A-909D1964B0B8}"/>
                </a:ext>
              </a:extLst>
            </p:cNvPr>
            <p:cNvSpPr txBox="1"/>
            <p:nvPr/>
          </p:nvSpPr>
          <p:spPr>
            <a:xfrm>
              <a:off x="8934916" y="2775692"/>
              <a:ext cx="1259074" cy="400109"/>
            </a:xfrm>
            <a:prstGeom prst="rect">
              <a:avLst/>
            </a:prstGeom>
            <a:noFill/>
          </p:spPr>
          <p:txBody>
            <a:bodyPr wrap="square" rtlCol="0">
              <a:spAutoFit/>
            </a:bodyPr>
            <a:lstStyle/>
            <a:p>
              <a:pPr eaLnBrk="1" fontAlgn="auto" hangingPunct="1">
                <a:spcBef>
                  <a:spcPts val="0"/>
                </a:spcBef>
                <a:spcAft>
                  <a:spcPts val="0"/>
                </a:spcAft>
                <a:defRPr/>
              </a:pPr>
              <a:r>
                <a:rPr lang="en-US" sz="1350" dirty="0">
                  <a:solidFill>
                    <a:prstClr val="black"/>
                  </a:solidFill>
                  <a:latin typeface="Calibri"/>
                  <a:ea typeface="+mn-ea"/>
                </a:rPr>
                <a:t>app.  msg</a:t>
              </a:r>
            </a:p>
          </p:txBody>
        </p:sp>
      </p:grpSp>
      <p:sp>
        <p:nvSpPr>
          <p:cNvPr id="193" name="TextBox 192">
            <a:extLst>
              <a:ext uri="{FF2B5EF4-FFF2-40B4-BE49-F238E27FC236}">
                <a16:creationId xmlns:a16="http://schemas.microsoft.com/office/drawing/2014/main" id="{146FAE95-BF64-744E-B6D7-85AE3120C980}"/>
              </a:ext>
            </a:extLst>
          </p:cNvPr>
          <p:cNvSpPr txBox="1"/>
          <p:nvPr/>
        </p:nvSpPr>
        <p:spPr>
          <a:xfrm>
            <a:off x="3293281" y="3201682"/>
            <a:ext cx="2869092" cy="563231"/>
          </a:xfrm>
          <a:prstGeom prst="rect">
            <a:avLst/>
          </a:prstGeom>
          <a:noFill/>
        </p:spPr>
        <p:txBody>
          <a:bodyPr wrap="square" rtlCol="0">
            <a:spAutoFit/>
          </a:bodyPr>
          <a:lstStyle/>
          <a:p>
            <a:pPr marL="214313" indent="-164306" eaLnBrk="1" fontAlgn="auto" hangingPunct="1">
              <a:lnSpc>
                <a:spcPct val="85000"/>
              </a:lnSpc>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extracts application-layer message</a:t>
            </a:r>
          </a:p>
        </p:txBody>
      </p:sp>
      <p:sp>
        <p:nvSpPr>
          <p:cNvPr id="194" name="TextBox 193">
            <a:extLst>
              <a:ext uri="{FF2B5EF4-FFF2-40B4-BE49-F238E27FC236}">
                <a16:creationId xmlns:a16="http://schemas.microsoft.com/office/drawing/2014/main" id="{1845376D-0F8D-7E40-9089-6FAE4370FEA0}"/>
              </a:ext>
            </a:extLst>
          </p:cNvPr>
          <p:cNvSpPr txBox="1"/>
          <p:nvPr/>
        </p:nvSpPr>
        <p:spPr>
          <a:xfrm>
            <a:off x="3291827" y="2908067"/>
            <a:ext cx="2869092" cy="327782"/>
          </a:xfrm>
          <a:prstGeom prst="rect">
            <a:avLst/>
          </a:prstGeom>
          <a:noFill/>
        </p:spPr>
        <p:txBody>
          <a:bodyPr wrap="square" rtlCol="0">
            <a:spAutoFit/>
          </a:bodyPr>
          <a:lstStyle/>
          <a:p>
            <a:pPr marL="214313" indent="-164306" eaLnBrk="1" fontAlgn="auto" hangingPunct="1">
              <a:lnSpc>
                <a:spcPct val="85000"/>
              </a:lnSpc>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checks header values</a:t>
            </a:r>
          </a:p>
        </p:txBody>
      </p:sp>
      <p:sp>
        <p:nvSpPr>
          <p:cNvPr id="195" name="TextBox 194">
            <a:extLst>
              <a:ext uri="{FF2B5EF4-FFF2-40B4-BE49-F238E27FC236}">
                <a16:creationId xmlns:a16="http://schemas.microsoft.com/office/drawing/2014/main" id="{9BFC24B6-C127-6F4C-BCDC-A8E792032914}"/>
              </a:ext>
            </a:extLst>
          </p:cNvPr>
          <p:cNvSpPr txBox="1"/>
          <p:nvPr/>
        </p:nvSpPr>
        <p:spPr>
          <a:xfrm>
            <a:off x="3291077" y="2565848"/>
            <a:ext cx="2869092" cy="369332"/>
          </a:xfrm>
          <a:prstGeom prst="rect">
            <a:avLst/>
          </a:prstGeom>
          <a:noFill/>
        </p:spPr>
        <p:txBody>
          <a:bodyPr wrap="square" rtlCol="0">
            <a:spAutoFit/>
          </a:bodyPr>
          <a:lstStyle/>
          <a:p>
            <a:pPr marL="214313" indent="-164306" eaLnBrk="1" fontAlgn="auto" hangingPunct="1">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receives segment from IP</a:t>
            </a:r>
          </a:p>
        </p:txBody>
      </p:sp>
      <p:grpSp>
        <p:nvGrpSpPr>
          <p:cNvPr id="196" name="Group 195">
            <a:extLst>
              <a:ext uri="{FF2B5EF4-FFF2-40B4-BE49-F238E27FC236}">
                <a16:creationId xmlns:a16="http://schemas.microsoft.com/office/drawing/2014/main" id="{48B83E4F-9A85-E449-9928-9D59A14EC074}"/>
              </a:ext>
            </a:extLst>
          </p:cNvPr>
          <p:cNvGrpSpPr/>
          <p:nvPr/>
        </p:nvGrpSpPr>
        <p:grpSpPr>
          <a:xfrm>
            <a:off x="1309303" y="4468455"/>
            <a:ext cx="1363517" cy="300082"/>
            <a:chOff x="7863122" y="5632673"/>
            <a:chExt cx="1818022" cy="400109"/>
          </a:xfrm>
        </p:grpSpPr>
        <p:grpSp>
          <p:nvGrpSpPr>
            <p:cNvPr id="197" name="Group 196">
              <a:extLst>
                <a:ext uri="{FF2B5EF4-FFF2-40B4-BE49-F238E27FC236}">
                  <a16:creationId xmlns:a16="http://schemas.microsoft.com/office/drawing/2014/main" id="{FD92661A-D54F-D249-95ED-0FF27E685E68}"/>
                </a:ext>
              </a:extLst>
            </p:cNvPr>
            <p:cNvGrpSpPr/>
            <p:nvPr/>
          </p:nvGrpSpPr>
          <p:grpSpPr>
            <a:xfrm>
              <a:off x="7863122" y="5638955"/>
              <a:ext cx="1259074" cy="369332"/>
              <a:chOff x="8964789" y="2648929"/>
              <a:chExt cx="1259074" cy="369332"/>
            </a:xfrm>
          </p:grpSpPr>
          <p:sp>
            <p:nvSpPr>
              <p:cNvPr id="201" name="Rectangle 200">
                <a:extLst>
                  <a:ext uri="{FF2B5EF4-FFF2-40B4-BE49-F238E27FC236}">
                    <a16:creationId xmlns:a16="http://schemas.microsoft.com/office/drawing/2014/main" id="{9FB9B2F8-7A2C-4D4A-9815-0AC06BE1D516}"/>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02" name="TextBox 201">
                <a:extLst>
                  <a:ext uri="{FF2B5EF4-FFF2-40B4-BE49-F238E27FC236}">
                    <a16:creationId xmlns:a16="http://schemas.microsoft.com/office/drawing/2014/main" id="{1C19CB13-59AD-3E40-AC4C-CF25CFC27E46}"/>
                  </a:ext>
                </a:extLst>
              </p:cNvPr>
              <p:cNvSpPr txBox="1"/>
              <p:nvPr/>
            </p:nvSpPr>
            <p:spPr>
              <a:xfrm>
                <a:off x="8964789" y="2648929"/>
                <a:ext cx="1259074" cy="369332"/>
              </a:xfrm>
              <a:prstGeom prst="rect">
                <a:avLst/>
              </a:prstGeom>
              <a:noFill/>
            </p:spPr>
            <p:txBody>
              <a:bodyPr wrap="square" rtlCol="0">
                <a:spAutoFit/>
              </a:bodyPr>
              <a:lstStyle/>
              <a:p>
                <a:pPr eaLnBrk="1" fontAlgn="auto" hangingPunct="1">
                  <a:spcBef>
                    <a:spcPts val="0"/>
                  </a:spcBef>
                  <a:spcAft>
                    <a:spcPts val="0"/>
                  </a:spcAft>
                  <a:defRPr/>
                </a:pPr>
                <a:r>
                  <a:rPr lang="en-US" sz="1200" dirty="0">
                    <a:solidFill>
                      <a:prstClr val="black"/>
                    </a:solidFill>
                    <a:latin typeface="Calibri"/>
                    <a:ea typeface="+mn-ea"/>
                  </a:rPr>
                  <a:t>   T</a:t>
                </a:r>
                <a:r>
                  <a:rPr lang="en-US" sz="1200" baseline="-25000" dirty="0">
                    <a:solidFill>
                      <a:prstClr val="black"/>
                    </a:solidFill>
                    <a:latin typeface="Calibri"/>
                    <a:ea typeface="+mn-ea"/>
                  </a:rPr>
                  <a:t>h</a:t>
                </a:r>
              </a:p>
            </p:txBody>
          </p:sp>
        </p:grpSp>
        <p:grpSp>
          <p:nvGrpSpPr>
            <p:cNvPr id="198" name="Group 197">
              <a:extLst>
                <a:ext uri="{FF2B5EF4-FFF2-40B4-BE49-F238E27FC236}">
                  <a16:creationId xmlns:a16="http://schemas.microsoft.com/office/drawing/2014/main" id="{69964EF5-DAF4-5A49-B8EB-E8A5D01CEAE7}"/>
                </a:ext>
              </a:extLst>
            </p:cNvPr>
            <p:cNvGrpSpPr/>
            <p:nvPr/>
          </p:nvGrpSpPr>
          <p:grpSpPr>
            <a:xfrm>
              <a:off x="8422070" y="5632673"/>
              <a:ext cx="1259074" cy="400109"/>
              <a:chOff x="8934916" y="2778923"/>
              <a:chExt cx="1259074" cy="400109"/>
            </a:xfrm>
          </p:grpSpPr>
          <p:sp>
            <p:nvSpPr>
              <p:cNvPr id="199" name="Rectangle 198">
                <a:extLst>
                  <a:ext uri="{FF2B5EF4-FFF2-40B4-BE49-F238E27FC236}">
                    <a16:creationId xmlns:a16="http://schemas.microsoft.com/office/drawing/2014/main" id="{1663F7BA-0DF3-D94B-9C74-3E86A6732DD0}"/>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00" name="TextBox 199">
                <a:extLst>
                  <a:ext uri="{FF2B5EF4-FFF2-40B4-BE49-F238E27FC236}">
                    <a16:creationId xmlns:a16="http://schemas.microsoft.com/office/drawing/2014/main" id="{9FB939F0-C8E1-9645-8997-AFBC0BF0005F}"/>
                  </a:ext>
                </a:extLst>
              </p:cNvPr>
              <p:cNvSpPr txBox="1"/>
              <p:nvPr/>
            </p:nvSpPr>
            <p:spPr>
              <a:xfrm>
                <a:off x="8934916" y="2778923"/>
                <a:ext cx="1259074" cy="400109"/>
              </a:xfrm>
              <a:prstGeom prst="rect">
                <a:avLst/>
              </a:prstGeom>
              <a:noFill/>
            </p:spPr>
            <p:txBody>
              <a:bodyPr wrap="square" rtlCol="0">
                <a:spAutoFit/>
              </a:bodyPr>
              <a:lstStyle/>
              <a:p>
                <a:pPr eaLnBrk="1" fontAlgn="auto" hangingPunct="1">
                  <a:spcBef>
                    <a:spcPts val="0"/>
                  </a:spcBef>
                  <a:spcAft>
                    <a:spcPts val="0"/>
                  </a:spcAft>
                  <a:defRPr/>
                </a:pPr>
                <a:r>
                  <a:rPr lang="en-US" sz="1350" dirty="0">
                    <a:solidFill>
                      <a:prstClr val="black"/>
                    </a:solidFill>
                    <a:latin typeface="Calibri"/>
                    <a:ea typeface="+mn-ea"/>
                  </a:rPr>
                  <a:t>app. msg</a:t>
                </a:r>
              </a:p>
            </p:txBody>
          </p:sp>
        </p:grpSp>
      </p:grpSp>
      <p:sp>
        <p:nvSpPr>
          <p:cNvPr id="203" name="TextBox 202">
            <a:extLst>
              <a:ext uri="{FF2B5EF4-FFF2-40B4-BE49-F238E27FC236}">
                <a16:creationId xmlns:a16="http://schemas.microsoft.com/office/drawing/2014/main" id="{192B5ECF-BCF6-FB4F-96CB-B48F1BD83E0B}"/>
              </a:ext>
            </a:extLst>
          </p:cNvPr>
          <p:cNvSpPr txBox="1"/>
          <p:nvPr/>
        </p:nvSpPr>
        <p:spPr>
          <a:xfrm>
            <a:off x="3296897" y="3714547"/>
            <a:ext cx="2869092" cy="563231"/>
          </a:xfrm>
          <a:prstGeom prst="rect">
            <a:avLst/>
          </a:prstGeom>
          <a:noFill/>
        </p:spPr>
        <p:txBody>
          <a:bodyPr wrap="square" rtlCol="0">
            <a:spAutoFit/>
          </a:bodyPr>
          <a:lstStyle/>
          <a:p>
            <a:pPr marL="214313" indent="-164306" eaLnBrk="1" fontAlgn="auto" hangingPunct="1">
              <a:lnSpc>
                <a:spcPct val="85000"/>
              </a:lnSpc>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demultiplexes message up to application via socket</a:t>
            </a:r>
          </a:p>
        </p:txBody>
      </p:sp>
      <p:sp>
        <p:nvSpPr>
          <p:cNvPr id="204" name="Oval 203">
            <a:extLst>
              <a:ext uri="{FF2B5EF4-FFF2-40B4-BE49-F238E27FC236}">
                <a16:creationId xmlns:a16="http://schemas.microsoft.com/office/drawing/2014/main" id="{6282913C-E44E-4C40-ADB1-A9BB2BFBFFD7}"/>
              </a:ext>
            </a:extLst>
          </p:cNvPr>
          <p:cNvSpPr/>
          <p:nvPr/>
        </p:nvSpPr>
        <p:spPr>
          <a:xfrm>
            <a:off x="1306025" y="3099121"/>
            <a:ext cx="572375" cy="405773"/>
          </a:xfrm>
          <a:prstGeom prst="ellipse">
            <a:avLst/>
          </a:prstGeom>
          <a:noFill/>
          <a:ln w="2540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5" name="Slide Number Placeholder 2">
            <a:extLst>
              <a:ext uri="{FF2B5EF4-FFF2-40B4-BE49-F238E27FC236}">
                <a16:creationId xmlns:a16="http://schemas.microsoft.com/office/drawing/2014/main" id="{00325223-4816-0640-A30C-AB4803E0CEA6}"/>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6</a:t>
            </a:fld>
            <a:endParaRPr lang="en-US" dirty="0">
              <a:solidFill>
                <a:prstClr val="white">
                  <a:lumMod val="50000"/>
                </a:prstClr>
              </a:solidFill>
            </a:endParaRPr>
          </a:p>
        </p:txBody>
      </p:sp>
    </p:spTree>
    <p:extLst>
      <p:ext uri="{BB962C8B-B14F-4D97-AF65-F5344CB8AC3E}">
        <p14:creationId xmlns:p14="http://schemas.microsoft.com/office/powerpoint/2010/main" val="5937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79167E-6 2.96296E-6 L 0.00039 -0.24931 " pathEditMode="relative" rAng="0" ptsTypes="AA">
                                      <p:cBhvr>
                                        <p:cTn id="6" dur="2000" fill="hold"/>
                                        <p:tgtEl>
                                          <p:spTgt spid="196"/>
                                        </p:tgtEl>
                                        <p:attrNameLst>
                                          <p:attrName>ppt_x</p:attrName>
                                          <p:attrName>ppt_y</p:attrName>
                                        </p:attrNameLst>
                                      </p:cBhvr>
                                      <p:rCtr x="443" y="-12870"/>
                                    </p:animMotion>
                                  </p:childTnLst>
                                </p:cTn>
                              </p:par>
                              <p:par>
                                <p:cTn id="7" presetID="9" presetClass="entr" presetSubtype="0" fill="hold" grpId="0" nodeType="withEffect">
                                  <p:stCondLst>
                                    <p:cond delay="0"/>
                                  </p:stCondLst>
                                  <p:childTnLst>
                                    <p:set>
                                      <p:cBhvr>
                                        <p:cTn id="8" dur="1" fill="hold">
                                          <p:stCondLst>
                                            <p:cond delay="0"/>
                                          </p:stCondLst>
                                        </p:cTn>
                                        <p:tgtEl>
                                          <p:spTgt spid="195"/>
                                        </p:tgtEl>
                                        <p:attrNameLst>
                                          <p:attrName>style.visibility</p:attrName>
                                        </p:attrNameLst>
                                      </p:cBhvr>
                                      <p:to>
                                        <p:strVal val="visible"/>
                                      </p:to>
                                    </p:set>
                                    <p:animEffect transition="in" filter="dissolve">
                                      <p:cBhvr>
                                        <p:cTn id="9" dur="500"/>
                                        <p:tgtEl>
                                          <p:spTgt spid="195"/>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204"/>
                                        </p:tgtEl>
                                        <p:attrNameLst>
                                          <p:attrName>style.visibility</p:attrName>
                                        </p:attrNameLst>
                                      </p:cBhvr>
                                      <p:to>
                                        <p:strVal val="visible"/>
                                      </p:to>
                                    </p:set>
                                    <p:animEffect transition="in" filter="dissolve">
                                      <p:cBhvr>
                                        <p:cTn id="14" dur="500"/>
                                        <p:tgtEl>
                                          <p:spTgt spid="204"/>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94"/>
                                        </p:tgtEl>
                                        <p:attrNameLst>
                                          <p:attrName>style.visibility</p:attrName>
                                        </p:attrNameLst>
                                      </p:cBhvr>
                                      <p:to>
                                        <p:strVal val="visible"/>
                                      </p:to>
                                    </p:set>
                                    <p:animEffect transition="in" filter="dissolve">
                                      <p:cBhvr>
                                        <p:cTn id="17" dur="500"/>
                                        <p:tgtEl>
                                          <p:spTgt spid="19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nodeType="clickEffect">
                                  <p:stCondLst>
                                    <p:cond delay="0"/>
                                  </p:stCondLst>
                                  <p:childTnLst>
                                    <p:animEffect transition="out" filter="dissolve">
                                      <p:cBhvr>
                                        <p:cTn id="21" dur="500"/>
                                        <p:tgtEl>
                                          <p:spTgt spid="196"/>
                                        </p:tgtEl>
                                      </p:cBhvr>
                                    </p:animEffect>
                                    <p:set>
                                      <p:cBhvr>
                                        <p:cTn id="22" dur="1" fill="hold">
                                          <p:stCondLst>
                                            <p:cond delay="499"/>
                                          </p:stCondLst>
                                        </p:cTn>
                                        <p:tgtEl>
                                          <p:spTgt spid="196"/>
                                        </p:tgtEl>
                                        <p:attrNameLst>
                                          <p:attrName>style.visibility</p:attrName>
                                        </p:attrNameLst>
                                      </p:cBhvr>
                                      <p:to>
                                        <p:strVal val="hidden"/>
                                      </p:to>
                                    </p:set>
                                  </p:childTnLst>
                                </p:cTn>
                              </p:par>
                              <p:par>
                                <p:cTn id="23" presetID="9" presetClass="exit" presetSubtype="0" fill="hold" grpId="1" nodeType="withEffect">
                                  <p:stCondLst>
                                    <p:cond delay="0"/>
                                  </p:stCondLst>
                                  <p:childTnLst>
                                    <p:animEffect transition="out" filter="dissolve">
                                      <p:cBhvr>
                                        <p:cTn id="24" dur="500"/>
                                        <p:tgtEl>
                                          <p:spTgt spid="204"/>
                                        </p:tgtEl>
                                      </p:cBhvr>
                                    </p:animEffect>
                                    <p:set>
                                      <p:cBhvr>
                                        <p:cTn id="25" dur="1" fill="hold">
                                          <p:stCondLst>
                                            <p:cond delay="499"/>
                                          </p:stCondLst>
                                        </p:cTn>
                                        <p:tgtEl>
                                          <p:spTgt spid="204"/>
                                        </p:tgtEl>
                                        <p:attrNameLst>
                                          <p:attrName>style.visibility</p:attrName>
                                        </p:attrNameLst>
                                      </p:cBhvr>
                                      <p:to>
                                        <p:strVal val="hidden"/>
                                      </p:to>
                                    </p:set>
                                  </p:childTnLst>
                                </p:cTn>
                              </p:par>
                              <p:par>
                                <p:cTn id="26" presetID="9" presetClass="entr" presetSubtype="0" fill="hold" nodeType="withEffect">
                                  <p:stCondLst>
                                    <p:cond delay="0"/>
                                  </p:stCondLst>
                                  <p:childTnLst>
                                    <p:set>
                                      <p:cBhvr>
                                        <p:cTn id="27" dur="1" fill="hold">
                                          <p:stCondLst>
                                            <p:cond delay="0"/>
                                          </p:stCondLst>
                                        </p:cTn>
                                        <p:tgtEl>
                                          <p:spTgt spid="190"/>
                                        </p:tgtEl>
                                        <p:attrNameLst>
                                          <p:attrName>style.visibility</p:attrName>
                                        </p:attrNameLst>
                                      </p:cBhvr>
                                      <p:to>
                                        <p:strVal val="visible"/>
                                      </p:to>
                                    </p:set>
                                    <p:animEffect transition="in" filter="dissolve">
                                      <p:cBhvr>
                                        <p:cTn id="28" dur="500"/>
                                        <p:tgtEl>
                                          <p:spTgt spid="19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93"/>
                                        </p:tgtEl>
                                        <p:attrNameLst>
                                          <p:attrName>style.visibility</p:attrName>
                                        </p:attrNameLst>
                                      </p:cBhvr>
                                      <p:to>
                                        <p:strVal val="visible"/>
                                      </p:to>
                                    </p:set>
                                    <p:animEffect transition="in" filter="dissolve">
                                      <p:cBhvr>
                                        <p:cTn id="31" dur="500"/>
                                        <p:tgtEl>
                                          <p:spTgt spid="193"/>
                                        </p:tgtEl>
                                      </p:cBhvr>
                                    </p:animEffect>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nodeType="clickEffect">
                                  <p:stCondLst>
                                    <p:cond delay="0"/>
                                  </p:stCondLst>
                                  <p:childTnLst>
                                    <p:animMotion origin="layout" path="M -1.66667E-6 -4.81481E-6 L 0.00013 -0.10763 " pathEditMode="relative" rAng="0" ptsTypes="AA">
                                      <p:cBhvr>
                                        <p:cTn id="35" dur="2000" fill="hold"/>
                                        <p:tgtEl>
                                          <p:spTgt spid="190"/>
                                        </p:tgtEl>
                                        <p:attrNameLst>
                                          <p:attrName>ppt_x</p:attrName>
                                          <p:attrName>ppt_y</p:attrName>
                                        </p:attrNameLst>
                                      </p:cBhvr>
                                      <p:rCtr x="0" y="-5394"/>
                                    </p:animMotion>
                                  </p:childTnLst>
                                </p:cTn>
                              </p:par>
                              <p:par>
                                <p:cTn id="36" presetID="9" presetClass="entr" presetSubtype="0" fill="hold" grpId="0" nodeType="withEffect">
                                  <p:stCondLst>
                                    <p:cond delay="0"/>
                                  </p:stCondLst>
                                  <p:childTnLst>
                                    <p:set>
                                      <p:cBhvr>
                                        <p:cTn id="37" dur="1" fill="hold">
                                          <p:stCondLst>
                                            <p:cond delay="0"/>
                                          </p:stCondLst>
                                        </p:cTn>
                                        <p:tgtEl>
                                          <p:spTgt spid="203"/>
                                        </p:tgtEl>
                                        <p:attrNameLst>
                                          <p:attrName>style.visibility</p:attrName>
                                        </p:attrNameLst>
                                      </p:cBhvr>
                                      <p:to>
                                        <p:strVal val="visible"/>
                                      </p:to>
                                    </p:set>
                                    <p:animEffect transition="in" filter="dissolve">
                                      <p:cBhvr>
                                        <p:cTn id="38"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p:bldP spid="194" grpId="0"/>
      <p:bldP spid="195" grpId="0"/>
      <p:bldP spid="203" grpId="0"/>
      <p:bldP spid="204" grpId="0" animBg="1"/>
      <p:bldP spid="204"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76533" y="1051759"/>
            <a:ext cx="7886700" cy="670967"/>
          </a:xfrm>
        </p:spPr>
        <p:txBody>
          <a:bodyPr>
            <a:normAutofit/>
          </a:bodyPr>
          <a:lstStyle/>
          <a:p>
            <a:r>
              <a:rPr lang="en-US" sz="3600" dirty="0">
                <a:cs typeface="Calibri" panose="020F0502020204030204" pitchFamily="34" charset="0"/>
              </a:rPr>
              <a:t>Two principal Internet transport protocols</a:t>
            </a:r>
            <a:endParaRPr lang="en-US" sz="3600" dirty="0"/>
          </a:p>
        </p:txBody>
      </p:sp>
      <p:sp>
        <p:nvSpPr>
          <p:cNvPr id="10" name="Freeform 9">
            <a:extLst>
              <a:ext uri="{FF2B5EF4-FFF2-40B4-BE49-F238E27FC236}">
                <a16:creationId xmlns:a16="http://schemas.microsoft.com/office/drawing/2014/main" id="{7FC4FF92-130F-BB41-8C2E-AD6E35A5EFB3}"/>
              </a:ext>
            </a:extLst>
          </p:cNvPr>
          <p:cNvSpPr/>
          <p:nvPr/>
        </p:nvSpPr>
        <p:spPr>
          <a:xfrm>
            <a:off x="6738892" y="3156584"/>
            <a:ext cx="843605" cy="1003436"/>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sp>
        <p:nvSpPr>
          <p:cNvPr id="11" name="Freeform 417">
            <a:extLst>
              <a:ext uri="{FF2B5EF4-FFF2-40B4-BE49-F238E27FC236}">
                <a16:creationId xmlns:a16="http://schemas.microsoft.com/office/drawing/2014/main" id="{86D46BE4-B0DC-6447-9B19-4A15963D6107}"/>
              </a:ext>
            </a:extLst>
          </p:cNvPr>
          <p:cNvSpPr>
            <a:spLocks/>
          </p:cNvSpPr>
          <p:nvPr/>
        </p:nvSpPr>
        <p:spPr bwMode="auto">
          <a:xfrm>
            <a:off x="5455557" y="2226776"/>
            <a:ext cx="1302544" cy="988278"/>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12" name="Group 418">
            <a:extLst>
              <a:ext uri="{FF2B5EF4-FFF2-40B4-BE49-F238E27FC236}">
                <a16:creationId xmlns:a16="http://schemas.microsoft.com/office/drawing/2014/main" id="{B6EA0447-3C72-2546-A182-B18B3204742F}"/>
              </a:ext>
            </a:extLst>
          </p:cNvPr>
          <p:cNvGrpSpPr>
            <a:grpSpLocks/>
          </p:cNvGrpSpPr>
          <p:nvPr/>
        </p:nvGrpSpPr>
        <p:grpSpPr bwMode="auto">
          <a:xfrm>
            <a:off x="5404013" y="3324188"/>
            <a:ext cx="1094184" cy="700088"/>
            <a:chOff x="2889" y="1631"/>
            <a:chExt cx="980" cy="743"/>
          </a:xfrm>
        </p:grpSpPr>
        <p:sp>
          <p:nvSpPr>
            <p:cNvPr id="13" name="Rectangle 419">
              <a:extLst>
                <a:ext uri="{FF2B5EF4-FFF2-40B4-BE49-F238E27FC236}">
                  <a16:creationId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14" name="AutoShape 420">
              <a:extLst>
                <a:ext uri="{FF2B5EF4-FFF2-40B4-BE49-F238E27FC236}">
                  <a16:creationId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fontAlgn="auto" hangingPunct="1">
                <a:lnSpc>
                  <a:spcPct val="100000"/>
                </a:lnSpc>
                <a:spcBef>
                  <a:spcPct val="0"/>
                </a:spcBef>
                <a:spcAft>
                  <a:spcPts val="0"/>
                </a:spcAft>
                <a:buClrTx/>
                <a:buSzTx/>
                <a:buNone/>
                <a:defRPr/>
              </a:pPr>
              <a:endParaRPr lang="en-US" altLang="en-US" sz="1800">
                <a:solidFill>
                  <a:srgbClr val="00CCFF"/>
                </a:solidFill>
                <a:latin typeface="Arial" panose="020B0604020202020204" pitchFamily="34" charset="0"/>
              </a:endParaRPr>
            </a:p>
          </p:txBody>
        </p:sp>
      </p:grpSp>
      <p:sp>
        <p:nvSpPr>
          <p:cNvPr id="15" name="Freeform 427">
            <a:extLst>
              <a:ext uri="{FF2B5EF4-FFF2-40B4-BE49-F238E27FC236}">
                <a16:creationId xmlns:a16="http://schemas.microsoft.com/office/drawing/2014/main" id="{50383F63-A1BE-EE40-9A4A-9521B5B39A87}"/>
              </a:ext>
            </a:extLst>
          </p:cNvPr>
          <p:cNvSpPr>
            <a:spLocks/>
          </p:cNvSpPr>
          <p:nvPr/>
        </p:nvSpPr>
        <p:spPr bwMode="auto">
          <a:xfrm>
            <a:off x="5784301" y="4369601"/>
            <a:ext cx="2309813" cy="1248966"/>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16" name="Text Box 580">
            <a:extLst>
              <a:ext uri="{FF2B5EF4-FFF2-40B4-BE49-F238E27FC236}">
                <a16:creationId xmlns:a16="http://schemas.microsoft.com/office/drawing/2014/main" id="{68F39DC6-82AA-494B-BF8C-3328A3504C38}"/>
              </a:ext>
            </a:extLst>
          </p:cNvPr>
          <p:cNvSpPr txBox="1">
            <a:spLocks noChangeArrowheads="1"/>
          </p:cNvSpPr>
          <p:nvPr/>
        </p:nvSpPr>
        <p:spPr bwMode="auto">
          <a:xfrm>
            <a:off x="5759456" y="1973596"/>
            <a:ext cx="104868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r>
              <a:rPr lang="en-US" altLang="en-US" sz="1050" dirty="0">
                <a:solidFill>
                  <a:prstClr val="black"/>
                </a:solidFill>
                <a:latin typeface="Calibri" panose="020F0502020204030204"/>
              </a:rPr>
              <a:t>mobile network</a:t>
            </a:r>
          </a:p>
        </p:txBody>
      </p:sp>
      <p:sp>
        <p:nvSpPr>
          <p:cNvPr id="17" name="Text Box 580">
            <a:extLst>
              <a:ext uri="{FF2B5EF4-FFF2-40B4-BE49-F238E27FC236}">
                <a16:creationId xmlns:a16="http://schemas.microsoft.com/office/drawing/2014/main" id="{4FAF1075-A726-A74C-A102-E55EF3041A0B}"/>
              </a:ext>
            </a:extLst>
          </p:cNvPr>
          <p:cNvSpPr txBox="1">
            <a:spLocks noChangeArrowheads="1"/>
          </p:cNvSpPr>
          <p:nvPr/>
        </p:nvSpPr>
        <p:spPr bwMode="auto">
          <a:xfrm>
            <a:off x="5498126" y="4001192"/>
            <a:ext cx="1466735" cy="22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80000"/>
              </a:lnSpc>
              <a:spcBef>
                <a:spcPct val="0"/>
              </a:spcBef>
              <a:spcAft>
                <a:spcPts val="0"/>
              </a:spcAft>
              <a:buClrTx/>
              <a:buSzTx/>
              <a:buNone/>
              <a:defRPr/>
            </a:pPr>
            <a:r>
              <a:rPr lang="en-US" altLang="en-US" sz="1050" dirty="0">
                <a:solidFill>
                  <a:prstClr val="black"/>
                </a:solidFill>
                <a:latin typeface="Calibri" panose="020F0502020204030204"/>
              </a:rPr>
              <a:t>home network</a:t>
            </a:r>
          </a:p>
        </p:txBody>
      </p:sp>
      <p:sp>
        <p:nvSpPr>
          <p:cNvPr id="19" name="Text Box 580">
            <a:extLst>
              <a:ext uri="{FF2B5EF4-FFF2-40B4-BE49-F238E27FC236}">
                <a16:creationId xmlns:a16="http://schemas.microsoft.com/office/drawing/2014/main" id="{18D63BA9-A80C-3C4E-951E-EC3E6277A653}"/>
              </a:ext>
            </a:extLst>
          </p:cNvPr>
          <p:cNvSpPr txBox="1">
            <a:spLocks noChangeArrowheads="1"/>
          </p:cNvSpPr>
          <p:nvPr/>
        </p:nvSpPr>
        <p:spPr bwMode="auto">
          <a:xfrm>
            <a:off x="5480181" y="5192082"/>
            <a:ext cx="946093" cy="3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80000"/>
              </a:lnSpc>
              <a:spcBef>
                <a:spcPct val="0"/>
              </a:spcBef>
              <a:spcAft>
                <a:spcPts val="0"/>
              </a:spcAft>
              <a:buClrTx/>
              <a:buSzTx/>
              <a:buNone/>
              <a:defRPr/>
            </a:pPr>
            <a:r>
              <a:rPr lang="en-US" altLang="en-US" sz="1050" dirty="0">
                <a:solidFill>
                  <a:prstClr val="black"/>
                </a:solidFill>
                <a:latin typeface="Calibri" panose="020F0502020204030204"/>
              </a:rPr>
              <a:t>enterprise</a:t>
            </a:r>
          </a:p>
          <a:p>
            <a:pPr eaLnBrk="1" fontAlgn="auto" hangingPunct="1">
              <a:lnSpc>
                <a:spcPct val="80000"/>
              </a:lnSpc>
              <a:spcBef>
                <a:spcPct val="0"/>
              </a:spcBef>
              <a:spcAft>
                <a:spcPts val="0"/>
              </a:spcAft>
              <a:buClrTx/>
              <a:buSzTx/>
              <a:buNone/>
              <a:defRPr/>
            </a:pPr>
            <a:r>
              <a:rPr lang="en-US" altLang="en-US" sz="1050" dirty="0">
                <a:solidFill>
                  <a:prstClr val="black"/>
                </a:solidFill>
                <a:latin typeface="Calibri" panose="020F0502020204030204"/>
              </a:rPr>
              <a:t>          network</a:t>
            </a:r>
          </a:p>
        </p:txBody>
      </p:sp>
      <p:sp>
        <p:nvSpPr>
          <p:cNvPr id="20" name="Freeform 19">
            <a:extLst>
              <a:ext uri="{FF2B5EF4-FFF2-40B4-BE49-F238E27FC236}">
                <a16:creationId xmlns:a16="http://schemas.microsoft.com/office/drawing/2014/main" id="{21C1BA4F-9694-604C-B41C-E527BFD0B4FC}"/>
              </a:ext>
            </a:extLst>
          </p:cNvPr>
          <p:cNvSpPr/>
          <p:nvPr/>
        </p:nvSpPr>
        <p:spPr>
          <a:xfrm>
            <a:off x="7666610" y="3241905"/>
            <a:ext cx="954875" cy="1451811"/>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grpSp>
        <p:nvGrpSpPr>
          <p:cNvPr id="21" name="Group 20">
            <a:extLst>
              <a:ext uri="{FF2B5EF4-FFF2-40B4-BE49-F238E27FC236}">
                <a16:creationId xmlns:a16="http://schemas.microsoft.com/office/drawing/2014/main" id="{09D929D7-3426-7545-8640-DC8E2ED95FB9}"/>
              </a:ext>
            </a:extLst>
          </p:cNvPr>
          <p:cNvGrpSpPr/>
          <p:nvPr/>
        </p:nvGrpSpPr>
        <p:grpSpPr>
          <a:xfrm>
            <a:off x="8128275" y="3803288"/>
            <a:ext cx="515545" cy="541161"/>
            <a:chOff x="5203089" y="1751190"/>
            <a:chExt cx="858331" cy="662414"/>
          </a:xfrm>
        </p:grpSpPr>
        <p:sp>
          <p:nvSpPr>
            <p:cNvPr id="22" name="Freeform 21">
              <a:extLst>
                <a:ext uri="{FF2B5EF4-FFF2-40B4-BE49-F238E27FC236}">
                  <a16:creationId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sp>
          <p:nvSpPr>
            <p:cNvPr id="23" name="Freeform 22">
              <a:extLst>
                <a:ext uri="{FF2B5EF4-FFF2-40B4-BE49-F238E27FC236}">
                  <a16:creationId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cxnSp>
          <p:nvCxnSpPr>
            <p:cNvPr id="24" name="Straight Connector 23">
              <a:extLst>
                <a:ext uri="{FF2B5EF4-FFF2-40B4-BE49-F238E27FC236}">
                  <a16:creationId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02066780-DE5E-6740-8BBA-01C995D1619B}"/>
              </a:ext>
            </a:extLst>
          </p:cNvPr>
          <p:cNvGrpSpPr/>
          <p:nvPr/>
        </p:nvGrpSpPr>
        <p:grpSpPr>
          <a:xfrm>
            <a:off x="8078379" y="3252878"/>
            <a:ext cx="445960" cy="486252"/>
            <a:chOff x="5203089" y="1751190"/>
            <a:chExt cx="858331" cy="662414"/>
          </a:xfrm>
        </p:grpSpPr>
        <p:sp>
          <p:nvSpPr>
            <p:cNvPr id="31" name="Freeform 30">
              <a:extLst>
                <a:ext uri="{FF2B5EF4-FFF2-40B4-BE49-F238E27FC236}">
                  <a16:creationId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sp>
          <p:nvSpPr>
            <p:cNvPr id="32" name="Freeform 31">
              <a:extLst>
                <a:ext uri="{FF2B5EF4-FFF2-40B4-BE49-F238E27FC236}">
                  <a16:creationId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cxnSp>
          <p:nvCxnSpPr>
            <p:cNvPr id="33" name="Straight Connector 32">
              <a:extLst>
                <a:ext uri="{FF2B5EF4-FFF2-40B4-BE49-F238E27FC236}">
                  <a16:creationId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id="{717B1C14-4D36-EF4F-A926-BBBD98456BEE}"/>
              </a:ext>
            </a:extLst>
          </p:cNvPr>
          <p:cNvSpPr/>
          <p:nvPr/>
        </p:nvSpPr>
        <p:spPr>
          <a:xfrm>
            <a:off x="7155610" y="2193782"/>
            <a:ext cx="1123398" cy="1039841"/>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eaLnBrk="1" fontAlgn="auto" hangingPunct="1">
              <a:spcBef>
                <a:spcPts val="0"/>
              </a:spcBef>
              <a:spcAft>
                <a:spcPts val="0"/>
              </a:spcAft>
              <a:defRPr/>
            </a:pPr>
            <a:endParaRPr lang="en-US" sz="1350">
              <a:solidFill>
                <a:prstClr val="white"/>
              </a:solidFill>
            </a:endParaRPr>
          </a:p>
        </p:txBody>
      </p:sp>
      <p:sp>
        <p:nvSpPr>
          <p:cNvPr id="40" name="TextBox 39">
            <a:extLst>
              <a:ext uri="{FF2B5EF4-FFF2-40B4-BE49-F238E27FC236}">
                <a16:creationId xmlns:a16="http://schemas.microsoft.com/office/drawing/2014/main" id="{E13F2107-1C9A-0C41-B24A-0671CC60D47A}"/>
              </a:ext>
            </a:extLst>
          </p:cNvPr>
          <p:cNvSpPr txBox="1"/>
          <p:nvPr/>
        </p:nvSpPr>
        <p:spPr>
          <a:xfrm>
            <a:off x="7070401" y="2245647"/>
            <a:ext cx="1334020" cy="237757"/>
          </a:xfrm>
          <a:prstGeom prst="rect">
            <a:avLst/>
          </a:prstGeom>
          <a:noFill/>
        </p:spPr>
        <p:txBody>
          <a:bodyPr wrap="none" rtlCol="0">
            <a:spAutoFit/>
          </a:bodyPr>
          <a:lstStyle/>
          <a:p>
            <a:pPr eaLnBrk="1" fontAlgn="auto" hangingPunct="1">
              <a:lnSpc>
                <a:spcPct val="90000"/>
              </a:lnSpc>
              <a:spcBef>
                <a:spcPts val="0"/>
              </a:spcBef>
              <a:spcAft>
                <a:spcPts val="0"/>
              </a:spcAft>
              <a:defRPr/>
            </a:pPr>
            <a:r>
              <a:rPr lang="en-US" sz="1050" dirty="0">
                <a:solidFill>
                  <a:prstClr val="black"/>
                </a:solidFill>
                <a:latin typeface="Calibri" panose="020F0502020204030204"/>
                <a:ea typeface="+mn-ea"/>
              </a:rPr>
              <a:t>national or global ISP</a:t>
            </a:r>
          </a:p>
        </p:txBody>
      </p:sp>
      <p:sp>
        <p:nvSpPr>
          <p:cNvPr id="41" name="Rectangle 40">
            <a:extLst>
              <a:ext uri="{FF2B5EF4-FFF2-40B4-BE49-F238E27FC236}">
                <a16:creationId xmlns:a16="http://schemas.microsoft.com/office/drawing/2014/main" id="{4E6D405D-F88D-A643-A8DA-87BCB5348C5C}"/>
              </a:ext>
            </a:extLst>
          </p:cNvPr>
          <p:cNvSpPr/>
          <p:nvPr/>
        </p:nvSpPr>
        <p:spPr>
          <a:xfrm>
            <a:off x="6959301" y="3615682"/>
            <a:ext cx="229312" cy="148385"/>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42" name="TextBox 41">
            <a:extLst>
              <a:ext uri="{FF2B5EF4-FFF2-40B4-BE49-F238E27FC236}">
                <a16:creationId xmlns:a16="http://schemas.microsoft.com/office/drawing/2014/main" id="{ED05228A-100C-D643-BB8E-545E51741FBA}"/>
              </a:ext>
            </a:extLst>
          </p:cNvPr>
          <p:cNvSpPr txBox="1"/>
          <p:nvPr/>
        </p:nvSpPr>
        <p:spPr>
          <a:xfrm>
            <a:off x="6574622" y="3443189"/>
            <a:ext cx="780479" cy="528606"/>
          </a:xfrm>
          <a:prstGeom prst="rect">
            <a:avLst/>
          </a:prstGeom>
          <a:noFill/>
        </p:spPr>
        <p:txBody>
          <a:bodyPr wrap="square" rtlCol="0">
            <a:spAutoFit/>
          </a:bodyPr>
          <a:lstStyle/>
          <a:p>
            <a:pPr eaLnBrk="1" fontAlgn="auto" hangingPunct="1">
              <a:lnSpc>
                <a:spcPct val="90000"/>
              </a:lnSpc>
              <a:spcBef>
                <a:spcPts val="0"/>
              </a:spcBef>
              <a:spcAft>
                <a:spcPts val="0"/>
              </a:spcAft>
              <a:defRPr/>
            </a:pPr>
            <a:r>
              <a:rPr lang="en-US" sz="1050" dirty="0">
                <a:solidFill>
                  <a:prstClr val="black"/>
                </a:solidFill>
                <a:latin typeface="Calibri" panose="020F0502020204030204"/>
                <a:ea typeface="+mn-ea"/>
              </a:rPr>
              <a:t>local or regional ISP</a:t>
            </a:r>
          </a:p>
        </p:txBody>
      </p:sp>
      <p:sp>
        <p:nvSpPr>
          <p:cNvPr id="43" name="TextBox 42">
            <a:extLst>
              <a:ext uri="{FF2B5EF4-FFF2-40B4-BE49-F238E27FC236}">
                <a16:creationId xmlns:a16="http://schemas.microsoft.com/office/drawing/2014/main" id="{795F625F-E4CA-A14C-BDB7-680FDFE6EE1F}"/>
              </a:ext>
            </a:extLst>
          </p:cNvPr>
          <p:cNvSpPr txBox="1"/>
          <p:nvPr/>
        </p:nvSpPr>
        <p:spPr>
          <a:xfrm>
            <a:off x="8188325" y="4365703"/>
            <a:ext cx="654346" cy="310598"/>
          </a:xfrm>
          <a:prstGeom prst="rect">
            <a:avLst/>
          </a:prstGeom>
          <a:noFill/>
        </p:spPr>
        <p:txBody>
          <a:bodyPr wrap="none" rtlCol="0">
            <a:spAutoFit/>
          </a:bodyPr>
          <a:lstStyle/>
          <a:p>
            <a:pPr eaLnBrk="1" fontAlgn="auto" hangingPunct="1">
              <a:lnSpc>
                <a:spcPct val="90000"/>
              </a:lnSpc>
              <a:spcBef>
                <a:spcPts val="0"/>
              </a:spcBef>
              <a:spcAft>
                <a:spcPts val="0"/>
              </a:spcAft>
              <a:defRPr/>
            </a:pPr>
            <a:r>
              <a:rPr lang="en-US" sz="788" dirty="0">
                <a:solidFill>
                  <a:prstClr val="black"/>
                </a:solidFill>
                <a:latin typeface="Calibri" panose="020F0502020204030204"/>
                <a:ea typeface="+mn-ea"/>
              </a:rPr>
              <a:t>datacenter </a:t>
            </a:r>
          </a:p>
          <a:p>
            <a:pPr eaLnBrk="1" fontAlgn="auto" hangingPunct="1">
              <a:lnSpc>
                <a:spcPct val="90000"/>
              </a:lnSpc>
              <a:spcBef>
                <a:spcPts val="0"/>
              </a:spcBef>
              <a:spcAft>
                <a:spcPts val="0"/>
              </a:spcAft>
              <a:defRPr/>
            </a:pPr>
            <a:r>
              <a:rPr lang="en-US" sz="788" dirty="0">
                <a:solidFill>
                  <a:prstClr val="black"/>
                </a:solidFill>
                <a:latin typeface="Calibri" panose="020F0502020204030204"/>
                <a:ea typeface="+mn-ea"/>
              </a:rPr>
              <a:t>network</a:t>
            </a:r>
          </a:p>
        </p:txBody>
      </p:sp>
      <p:sp>
        <p:nvSpPr>
          <p:cNvPr id="44" name="TextBox 43">
            <a:extLst>
              <a:ext uri="{FF2B5EF4-FFF2-40B4-BE49-F238E27FC236}">
                <a16:creationId xmlns:a16="http://schemas.microsoft.com/office/drawing/2014/main" id="{75188F4C-A928-8F4F-9205-FD6C4D77CC8D}"/>
              </a:ext>
            </a:extLst>
          </p:cNvPr>
          <p:cNvSpPr txBox="1"/>
          <p:nvPr/>
        </p:nvSpPr>
        <p:spPr>
          <a:xfrm>
            <a:off x="7547264" y="4028436"/>
            <a:ext cx="678391" cy="528606"/>
          </a:xfrm>
          <a:prstGeom prst="rect">
            <a:avLst/>
          </a:prstGeom>
          <a:noFill/>
        </p:spPr>
        <p:txBody>
          <a:bodyPr wrap="none" rtlCol="0">
            <a:spAutoFit/>
          </a:bodyPr>
          <a:lstStyle/>
          <a:p>
            <a:pPr eaLnBrk="1" fontAlgn="auto" hangingPunct="1">
              <a:lnSpc>
                <a:spcPct val="90000"/>
              </a:lnSpc>
              <a:spcBef>
                <a:spcPts val="0"/>
              </a:spcBef>
              <a:spcAft>
                <a:spcPts val="0"/>
              </a:spcAft>
              <a:defRPr/>
            </a:pPr>
            <a:r>
              <a:rPr lang="en-US" sz="1050" dirty="0">
                <a:solidFill>
                  <a:prstClr val="black"/>
                </a:solidFill>
                <a:latin typeface="Calibri" panose="020F0502020204030204"/>
                <a:ea typeface="+mn-ea"/>
              </a:rPr>
              <a:t>content </a:t>
            </a:r>
          </a:p>
          <a:p>
            <a:pPr eaLnBrk="1" fontAlgn="auto" hangingPunct="1">
              <a:lnSpc>
                <a:spcPct val="90000"/>
              </a:lnSpc>
              <a:spcBef>
                <a:spcPts val="0"/>
              </a:spcBef>
              <a:spcAft>
                <a:spcPts val="0"/>
              </a:spcAft>
              <a:defRPr/>
            </a:pPr>
            <a:r>
              <a:rPr lang="en-US" sz="1050" dirty="0">
                <a:solidFill>
                  <a:prstClr val="black"/>
                </a:solidFill>
                <a:latin typeface="Calibri" panose="020F0502020204030204"/>
                <a:ea typeface="+mn-ea"/>
              </a:rPr>
              <a:t>provider </a:t>
            </a:r>
          </a:p>
          <a:p>
            <a:pPr eaLnBrk="1" fontAlgn="auto" hangingPunct="1">
              <a:lnSpc>
                <a:spcPct val="90000"/>
              </a:lnSpc>
              <a:spcBef>
                <a:spcPts val="0"/>
              </a:spcBef>
              <a:spcAft>
                <a:spcPts val="0"/>
              </a:spcAft>
              <a:defRPr/>
            </a:pPr>
            <a:r>
              <a:rPr lang="en-US" sz="1050" dirty="0">
                <a:solidFill>
                  <a:prstClr val="black"/>
                </a:solidFill>
                <a:latin typeface="Calibri" panose="020F0502020204030204"/>
                <a:ea typeface="+mn-ea"/>
              </a:rPr>
              <a:t>network</a:t>
            </a:r>
            <a:endParaRPr lang="en-US" sz="750" dirty="0">
              <a:solidFill>
                <a:prstClr val="black"/>
              </a:solidFill>
              <a:latin typeface="Calibri" panose="020F0502020204030204"/>
              <a:ea typeface="+mn-ea"/>
            </a:endParaRPr>
          </a:p>
        </p:txBody>
      </p:sp>
      <p:cxnSp>
        <p:nvCxnSpPr>
          <p:cNvPr id="45" name="Straight Connector 44">
            <a:extLst>
              <a:ext uri="{FF2B5EF4-FFF2-40B4-BE49-F238E27FC236}">
                <a16:creationId xmlns:a16="http://schemas.microsoft.com/office/drawing/2014/main" id="{959284F2-2C3E-6B49-83BE-150EADA93824}"/>
              </a:ext>
            </a:extLst>
          </p:cNvPr>
          <p:cNvCxnSpPr>
            <a:cxnSpLocks/>
          </p:cNvCxnSpPr>
          <p:nvPr/>
        </p:nvCxnSpPr>
        <p:spPr>
          <a:xfrm flipH="1" flipV="1">
            <a:off x="7919940" y="3542344"/>
            <a:ext cx="309723" cy="477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AEFAB6-4248-8846-A79A-BF9D6164DE76}"/>
              </a:ext>
            </a:extLst>
          </p:cNvPr>
          <p:cNvCxnSpPr>
            <a:cxnSpLocks/>
          </p:cNvCxnSpPr>
          <p:nvPr/>
        </p:nvCxnSpPr>
        <p:spPr>
          <a:xfrm flipH="1" flipV="1">
            <a:off x="7995626" y="3587764"/>
            <a:ext cx="259400" cy="5542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0D3269-0EC2-2640-AC07-B881868275F8}"/>
              </a:ext>
            </a:extLst>
          </p:cNvPr>
          <p:cNvCxnSpPr>
            <a:cxnSpLocks/>
          </p:cNvCxnSpPr>
          <p:nvPr/>
        </p:nvCxnSpPr>
        <p:spPr>
          <a:xfrm flipV="1">
            <a:off x="7977673" y="3582316"/>
            <a:ext cx="251990" cy="2965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63C34A0-4725-C44D-9514-4F74B2157D8C}"/>
              </a:ext>
            </a:extLst>
          </p:cNvPr>
          <p:cNvCxnSpPr>
            <a:cxnSpLocks/>
          </p:cNvCxnSpPr>
          <p:nvPr/>
        </p:nvCxnSpPr>
        <p:spPr>
          <a:xfrm flipH="1" flipV="1">
            <a:off x="7928081" y="3553422"/>
            <a:ext cx="1" cy="3643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0311E5-76D3-2C44-A6A8-22CB01ADCF02}"/>
              </a:ext>
            </a:extLst>
          </p:cNvPr>
          <p:cNvCxnSpPr>
            <a:cxnSpLocks/>
          </p:cNvCxnSpPr>
          <p:nvPr/>
        </p:nvCxnSpPr>
        <p:spPr>
          <a:xfrm flipH="1" flipV="1">
            <a:off x="7912966" y="3910982"/>
            <a:ext cx="381407" cy="2614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939BF82-EFED-E140-BFC2-23D3688C2CB7}"/>
              </a:ext>
            </a:extLst>
          </p:cNvPr>
          <p:cNvCxnSpPr>
            <a:cxnSpLocks/>
          </p:cNvCxnSpPr>
          <p:nvPr/>
        </p:nvCxnSpPr>
        <p:spPr>
          <a:xfrm flipH="1">
            <a:off x="7421397" y="3923057"/>
            <a:ext cx="4915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E47AF2-94A8-0243-8795-936020048815}"/>
              </a:ext>
            </a:extLst>
          </p:cNvPr>
          <p:cNvCxnSpPr>
            <a:cxnSpLocks/>
          </p:cNvCxnSpPr>
          <p:nvPr/>
        </p:nvCxnSpPr>
        <p:spPr>
          <a:xfrm flipH="1">
            <a:off x="6914712" y="3923057"/>
            <a:ext cx="4915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D648A8C-238E-7045-A29E-EDD4DA54C3A4}"/>
              </a:ext>
            </a:extLst>
          </p:cNvPr>
          <p:cNvCxnSpPr>
            <a:cxnSpLocks/>
          </p:cNvCxnSpPr>
          <p:nvPr/>
        </p:nvCxnSpPr>
        <p:spPr>
          <a:xfrm flipH="1">
            <a:off x="6957651" y="3488004"/>
            <a:ext cx="286818" cy="3877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AD327-3BC9-7D46-A7E7-D0F90B60A252}"/>
              </a:ext>
            </a:extLst>
          </p:cNvPr>
          <p:cNvCxnSpPr>
            <a:cxnSpLocks/>
          </p:cNvCxnSpPr>
          <p:nvPr/>
        </p:nvCxnSpPr>
        <p:spPr>
          <a:xfrm>
            <a:off x="7299802" y="3488004"/>
            <a:ext cx="0" cy="4052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7C26C3-84F1-C149-AC22-6F1EB6629DA9}"/>
              </a:ext>
            </a:extLst>
          </p:cNvPr>
          <p:cNvCxnSpPr/>
          <p:nvPr/>
        </p:nvCxnSpPr>
        <p:spPr>
          <a:xfrm>
            <a:off x="7603251" y="2923269"/>
            <a:ext cx="366131" cy="629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05EFE-FD3D-3C4D-8F4F-0AC6B112D1A2}"/>
              </a:ext>
            </a:extLst>
          </p:cNvPr>
          <p:cNvCxnSpPr>
            <a:cxnSpLocks/>
          </p:cNvCxnSpPr>
          <p:nvPr/>
        </p:nvCxnSpPr>
        <p:spPr>
          <a:xfrm flipH="1">
            <a:off x="7349039" y="2878510"/>
            <a:ext cx="285324" cy="52110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CCC39A38-643E-1841-84E4-48B68DB2ED03}"/>
              </a:ext>
            </a:extLst>
          </p:cNvPr>
          <p:cNvGrpSpPr/>
          <p:nvPr/>
        </p:nvGrpSpPr>
        <p:grpSpPr>
          <a:xfrm>
            <a:off x="5671679" y="2452744"/>
            <a:ext cx="2684150" cy="2730212"/>
            <a:chOff x="7562238" y="2127325"/>
            <a:chExt cx="3578867" cy="3640283"/>
          </a:xfrm>
        </p:grpSpPr>
        <p:grpSp>
          <p:nvGrpSpPr>
            <p:cNvPr id="57" name="Group 56">
              <a:extLst>
                <a:ext uri="{FF2B5EF4-FFF2-40B4-BE49-F238E27FC236}">
                  <a16:creationId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3" name="Line 430">
                <a:extLst>
                  <a:ext uri="{FF2B5EF4-FFF2-40B4-BE49-F238E27FC236}">
                    <a16:creationId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4" name="Line 431">
                <a:extLst>
                  <a:ext uri="{FF2B5EF4-FFF2-40B4-BE49-F238E27FC236}">
                    <a16:creationId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5" name="Line 432">
                <a:extLst>
                  <a:ext uri="{FF2B5EF4-FFF2-40B4-BE49-F238E27FC236}">
                    <a16:creationId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6" name="Line 433">
                <a:extLst>
                  <a:ext uri="{FF2B5EF4-FFF2-40B4-BE49-F238E27FC236}">
                    <a16:creationId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7" name="Line 435">
                <a:extLst>
                  <a:ext uri="{FF2B5EF4-FFF2-40B4-BE49-F238E27FC236}">
                    <a16:creationId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68" name="Line 436">
                <a:extLst>
                  <a:ext uri="{FF2B5EF4-FFF2-40B4-BE49-F238E27FC236}">
                    <a16:creationId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69" name="Line 439">
                <a:extLst>
                  <a:ext uri="{FF2B5EF4-FFF2-40B4-BE49-F238E27FC236}">
                    <a16:creationId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0" name="Line 440">
                <a:extLst>
                  <a:ext uri="{FF2B5EF4-FFF2-40B4-BE49-F238E27FC236}">
                    <a16:creationId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1" name="Line 441">
                <a:extLst>
                  <a:ext uri="{FF2B5EF4-FFF2-40B4-BE49-F238E27FC236}">
                    <a16:creationId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2" name="Line 443">
                <a:extLst>
                  <a:ext uri="{FF2B5EF4-FFF2-40B4-BE49-F238E27FC236}">
                    <a16:creationId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3" name="Line 449">
                <a:extLst>
                  <a:ext uri="{FF2B5EF4-FFF2-40B4-BE49-F238E27FC236}">
                    <a16:creationId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4" name="Line 428">
                <a:extLst>
                  <a:ext uri="{FF2B5EF4-FFF2-40B4-BE49-F238E27FC236}">
                    <a16:creationId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75" name="Line 440">
                <a:extLst>
                  <a:ext uri="{FF2B5EF4-FFF2-40B4-BE49-F238E27FC236}">
                    <a16:creationId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cxnSp>
            <p:nvCxnSpPr>
              <p:cNvPr id="76" name="Straight Connector 75">
                <a:extLst>
                  <a:ext uri="{FF2B5EF4-FFF2-40B4-BE49-F238E27FC236}">
                    <a16:creationId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85" name="Line 424">
                <a:extLst>
                  <a:ext uri="{FF2B5EF4-FFF2-40B4-BE49-F238E27FC236}">
                    <a16:creationId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pic>
          <p:nvPicPr>
            <p:cNvPr id="58" name="Picture 778" descr="antenna_radiation_stylized">
              <a:extLst>
                <a:ext uri="{FF2B5EF4-FFF2-40B4-BE49-F238E27FC236}">
                  <a16:creationId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id="{58D0D77F-41BF-B141-99CC-7444770200B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86" name="Line 426">
            <a:extLst>
              <a:ext uri="{FF2B5EF4-FFF2-40B4-BE49-F238E27FC236}">
                <a16:creationId xmlns:a16="http://schemas.microsoft.com/office/drawing/2014/main" id="{390C81B6-E64F-6D4C-8D06-8F1804B7F591}"/>
              </a:ext>
            </a:extLst>
          </p:cNvPr>
          <p:cNvSpPr>
            <a:spLocks noChangeShapeType="1"/>
          </p:cNvSpPr>
          <p:nvPr/>
        </p:nvSpPr>
        <p:spPr bwMode="auto">
          <a:xfrm>
            <a:off x="6155895" y="2882519"/>
            <a:ext cx="170973" cy="1307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87" name="Group 783">
            <a:extLst>
              <a:ext uri="{FF2B5EF4-FFF2-40B4-BE49-F238E27FC236}">
                <a16:creationId xmlns:a16="http://schemas.microsoft.com/office/drawing/2014/main" id="{D14ED3CD-0929-5445-B9CD-FC1AEB08F0F0}"/>
              </a:ext>
            </a:extLst>
          </p:cNvPr>
          <p:cNvGrpSpPr>
            <a:grpSpLocks/>
          </p:cNvGrpSpPr>
          <p:nvPr/>
        </p:nvGrpSpPr>
        <p:grpSpPr bwMode="auto">
          <a:xfrm>
            <a:off x="6038023" y="2589282"/>
            <a:ext cx="223838" cy="348006"/>
            <a:chOff x="3130" y="3288"/>
            <a:chExt cx="410" cy="742"/>
          </a:xfrm>
        </p:grpSpPr>
        <p:sp>
          <p:nvSpPr>
            <p:cNvPr id="88" name="Line 270">
              <a:extLst>
                <a:ext uri="{FF2B5EF4-FFF2-40B4-BE49-F238E27FC236}">
                  <a16:creationId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89" name="Line 271">
              <a:extLst>
                <a:ext uri="{FF2B5EF4-FFF2-40B4-BE49-F238E27FC236}">
                  <a16:creationId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0" name="Line 272">
              <a:extLst>
                <a:ext uri="{FF2B5EF4-FFF2-40B4-BE49-F238E27FC236}">
                  <a16:creationId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1" name="Line 273">
              <a:extLst>
                <a:ext uri="{FF2B5EF4-FFF2-40B4-BE49-F238E27FC236}">
                  <a16:creationId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2" name="Line 274">
              <a:extLst>
                <a:ext uri="{FF2B5EF4-FFF2-40B4-BE49-F238E27FC236}">
                  <a16:creationId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3" name="Line 275">
              <a:extLst>
                <a:ext uri="{FF2B5EF4-FFF2-40B4-BE49-F238E27FC236}">
                  <a16:creationId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4" name="Line 276">
              <a:extLst>
                <a:ext uri="{FF2B5EF4-FFF2-40B4-BE49-F238E27FC236}">
                  <a16:creationId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5" name="Line 277">
              <a:extLst>
                <a:ext uri="{FF2B5EF4-FFF2-40B4-BE49-F238E27FC236}">
                  <a16:creationId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6" name="Line 278">
              <a:extLst>
                <a:ext uri="{FF2B5EF4-FFF2-40B4-BE49-F238E27FC236}">
                  <a16:creationId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7" name="Line 279">
              <a:extLst>
                <a:ext uri="{FF2B5EF4-FFF2-40B4-BE49-F238E27FC236}">
                  <a16:creationId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8" name="Line 280">
              <a:extLst>
                <a:ext uri="{FF2B5EF4-FFF2-40B4-BE49-F238E27FC236}">
                  <a16:creationId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99" name="Line 281">
              <a:extLst>
                <a:ext uri="{FF2B5EF4-FFF2-40B4-BE49-F238E27FC236}">
                  <a16:creationId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100" name="Line 282">
              <a:extLst>
                <a:ext uri="{FF2B5EF4-FFF2-40B4-BE49-F238E27FC236}">
                  <a16:creationId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101" name="Line 283">
              <a:extLst>
                <a:ext uri="{FF2B5EF4-FFF2-40B4-BE49-F238E27FC236}">
                  <a16:creationId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102" name="Line 284">
              <a:extLst>
                <a:ext uri="{FF2B5EF4-FFF2-40B4-BE49-F238E27FC236}">
                  <a16:creationId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pic>
        <p:nvPicPr>
          <p:cNvPr id="103" name="Picture 777" descr="access_point_stylized_small">
            <a:extLst>
              <a:ext uri="{FF2B5EF4-FFF2-40B4-BE49-F238E27FC236}">
                <a16:creationId xmlns:a16="http://schemas.microsoft.com/office/drawing/2014/main" id="{B5B19229-5990-4C46-B116-F6E2FC9344A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10412" y="3753675"/>
            <a:ext cx="277627" cy="23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id="{615B9139-7B73-FE46-A7A9-D06CDC313A8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67958" y="5000424"/>
            <a:ext cx="285701" cy="238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 name="Group 104">
            <a:extLst>
              <a:ext uri="{FF2B5EF4-FFF2-40B4-BE49-F238E27FC236}">
                <a16:creationId xmlns:a16="http://schemas.microsoft.com/office/drawing/2014/main" id="{EEFE641A-589B-7942-BC31-34CA4265ECA8}"/>
              </a:ext>
            </a:extLst>
          </p:cNvPr>
          <p:cNvGrpSpPr/>
          <p:nvPr/>
        </p:nvGrpSpPr>
        <p:grpSpPr>
          <a:xfrm>
            <a:off x="7337669" y="4599737"/>
            <a:ext cx="295320" cy="163934"/>
            <a:chOff x="7493876" y="2774731"/>
            <a:chExt cx="1481958" cy="894622"/>
          </a:xfrm>
        </p:grpSpPr>
        <p:sp>
          <p:nvSpPr>
            <p:cNvPr id="106" name="Freeform 105">
              <a:extLst>
                <a:ext uri="{FF2B5EF4-FFF2-40B4-BE49-F238E27FC236}">
                  <a16:creationId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07" name="Oval 106">
              <a:extLst>
                <a:ext uri="{FF2B5EF4-FFF2-40B4-BE49-F238E27FC236}">
                  <a16:creationId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08" name="Group 107">
              <a:extLst>
                <a:ext uri="{FF2B5EF4-FFF2-40B4-BE49-F238E27FC236}">
                  <a16:creationId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0" name="Freeform 109">
                <a:extLst>
                  <a:ext uri="{FF2B5EF4-FFF2-40B4-BE49-F238E27FC236}">
                    <a16:creationId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1" name="Freeform 110">
                <a:extLst>
                  <a:ext uri="{FF2B5EF4-FFF2-40B4-BE49-F238E27FC236}">
                    <a16:creationId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2" name="Freeform 111">
                <a:extLst>
                  <a:ext uri="{FF2B5EF4-FFF2-40B4-BE49-F238E27FC236}">
                    <a16:creationId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13" name="Group 112">
            <a:extLst>
              <a:ext uri="{FF2B5EF4-FFF2-40B4-BE49-F238E27FC236}">
                <a16:creationId xmlns:a16="http://schemas.microsoft.com/office/drawing/2014/main" id="{827C4B55-0BAE-0949-8777-F3099C171813}"/>
              </a:ext>
            </a:extLst>
          </p:cNvPr>
          <p:cNvGrpSpPr/>
          <p:nvPr/>
        </p:nvGrpSpPr>
        <p:grpSpPr>
          <a:xfrm>
            <a:off x="7387024" y="4861528"/>
            <a:ext cx="232305" cy="143129"/>
            <a:chOff x="3668110" y="2448910"/>
            <a:chExt cx="3794234" cy="2165130"/>
          </a:xfrm>
        </p:grpSpPr>
        <p:sp>
          <p:nvSpPr>
            <p:cNvPr id="114" name="Rectangle 113">
              <a:extLst>
                <a:ext uri="{FF2B5EF4-FFF2-40B4-BE49-F238E27FC236}">
                  <a16:creationId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5" name="Freeform 114">
              <a:extLst>
                <a:ext uri="{FF2B5EF4-FFF2-40B4-BE49-F238E27FC236}">
                  <a16:creationId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nvGrpSpPr>
            <p:cNvPr id="116" name="Group 115">
              <a:extLst>
                <a:ext uri="{FF2B5EF4-FFF2-40B4-BE49-F238E27FC236}">
                  <a16:creationId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8" name="Freeform 117">
                <a:extLst>
                  <a:ext uri="{FF2B5EF4-FFF2-40B4-BE49-F238E27FC236}">
                    <a16:creationId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9" name="Freeform 118">
                <a:extLst>
                  <a:ext uri="{FF2B5EF4-FFF2-40B4-BE49-F238E27FC236}">
                    <a16:creationId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0" name="Freeform 119">
                <a:extLst>
                  <a:ext uri="{FF2B5EF4-FFF2-40B4-BE49-F238E27FC236}">
                    <a16:creationId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21" name="Group 120">
            <a:extLst>
              <a:ext uri="{FF2B5EF4-FFF2-40B4-BE49-F238E27FC236}">
                <a16:creationId xmlns:a16="http://schemas.microsoft.com/office/drawing/2014/main" id="{9932E1A1-9866-4149-B71C-D56584CCE488}"/>
              </a:ext>
            </a:extLst>
          </p:cNvPr>
          <p:cNvGrpSpPr/>
          <p:nvPr/>
        </p:nvGrpSpPr>
        <p:grpSpPr>
          <a:xfrm>
            <a:off x="6507464" y="4582815"/>
            <a:ext cx="295320" cy="163934"/>
            <a:chOff x="7493876" y="2774731"/>
            <a:chExt cx="1481958" cy="894622"/>
          </a:xfrm>
        </p:grpSpPr>
        <p:sp>
          <p:nvSpPr>
            <p:cNvPr id="122" name="Freeform 121">
              <a:extLst>
                <a:ext uri="{FF2B5EF4-FFF2-40B4-BE49-F238E27FC236}">
                  <a16:creationId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23" name="Oval 122">
              <a:extLst>
                <a:ext uri="{FF2B5EF4-FFF2-40B4-BE49-F238E27FC236}">
                  <a16:creationId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24" name="Group 123">
              <a:extLst>
                <a:ext uri="{FF2B5EF4-FFF2-40B4-BE49-F238E27FC236}">
                  <a16:creationId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6" name="Freeform 125">
                <a:extLst>
                  <a:ext uri="{FF2B5EF4-FFF2-40B4-BE49-F238E27FC236}">
                    <a16:creationId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7" name="Freeform 126">
                <a:extLst>
                  <a:ext uri="{FF2B5EF4-FFF2-40B4-BE49-F238E27FC236}">
                    <a16:creationId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8" name="Freeform 127">
                <a:extLst>
                  <a:ext uri="{FF2B5EF4-FFF2-40B4-BE49-F238E27FC236}">
                    <a16:creationId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29" name="Group 128">
            <a:extLst>
              <a:ext uri="{FF2B5EF4-FFF2-40B4-BE49-F238E27FC236}">
                <a16:creationId xmlns:a16="http://schemas.microsoft.com/office/drawing/2014/main" id="{0E1D7EA0-6DA2-8D43-8279-78C750CFC172}"/>
              </a:ext>
            </a:extLst>
          </p:cNvPr>
          <p:cNvGrpSpPr/>
          <p:nvPr/>
        </p:nvGrpSpPr>
        <p:grpSpPr>
          <a:xfrm>
            <a:off x="6233640" y="4753075"/>
            <a:ext cx="232305" cy="143129"/>
            <a:chOff x="3668110" y="2448910"/>
            <a:chExt cx="3794234" cy="2165130"/>
          </a:xfrm>
        </p:grpSpPr>
        <p:sp>
          <p:nvSpPr>
            <p:cNvPr id="130" name="Rectangle 129">
              <a:extLst>
                <a:ext uri="{FF2B5EF4-FFF2-40B4-BE49-F238E27FC236}">
                  <a16:creationId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31" name="Freeform 130">
              <a:extLst>
                <a:ext uri="{FF2B5EF4-FFF2-40B4-BE49-F238E27FC236}">
                  <a16:creationId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nvGrpSpPr>
            <p:cNvPr id="132" name="Group 131">
              <a:extLst>
                <a:ext uri="{FF2B5EF4-FFF2-40B4-BE49-F238E27FC236}">
                  <a16:creationId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34" name="Freeform 133">
                <a:extLst>
                  <a:ext uri="{FF2B5EF4-FFF2-40B4-BE49-F238E27FC236}">
                    <a16:creationId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35" name="Freeform 134">
                <a:extLst>
                  <a:ext uri="{FF2B5EF4-FFF2-40B4-BE49-F238E27FC236}">
                    <a16:creationId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36" name="Freeform 135">
                <a:extLst>
                  <a:ext uri="{FF2B5EF4-FFF2-40B4-BE49-F238E27FC236}">
                    <a16:creationId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37" name="Group 136">
            <a:extLst>
              <a:ext uri="{FF2B5EF4-FFF2-40B4-BE49-F238E27FC236}">
                <a16:creationId xmlns:a16="http://schemas.microsoft.com/office/drawing/2014/main" id="{93BC347E-C394-3042-B2F7-B3F23FAEAB95}"/>
              </a:ext>
            </a:extLst>
          </p:cNvPr>
          <p:cNvGrpSpPr/>
          <p:nvPr/>
        </p:nvGrpSpPr>
        <p:grpSpPr>
          <a:xfrm>
            <a:off x="6329870" y="2966482"/>
            <a:ext cx="265259" cy="126206"/>
            <a:chOff x="7493876" y="2774731"/>
            <a:chExt cx="1481958" cy="894622"/>
          </a:xfrm>
        </p:grpSpPr>
        <p:sp>
          <p:nvSpPr>
            <p:cNvPr id="138" name="Freeform 137">
              <a:extLst>
                <a:ext uri="{FF2B5EF4-FFF2-40B4-BE49-F238E27FC236}">
                  <a16:creationId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39" name="Oval 138">
              <a:extLst>
                <a:ext uri="{FF2B5EF4-FFF2-40B4-BE49-F238E27FC236}">
                  <a16:creationId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40" name="Group 139">
              <a:extLst>
                <a:ext uri="{FF2B5EF4-FFF2-40B4-BE49-F238E27FC236}">
                  <a16:creationId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42" name="Freeform 141">
                <a:extLst>
                  <a:ext uri="{FF2B5EF4-FFF2-40B4-BE49-F238E27FC236}">
                    <a16:creationId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43" name="Freeform 142">
                <a:extLst>
                  <a:ext uri="{FF2B5EF4-FFF2-40B4-BE49-F238E27FC236}">
                    <a16:creationId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44" name="Freeform 143">
                <a:extLst>
                  <a:ext uri="{FF2B5EF4-FFF2-40B4-BE49-F238E27FC236}">
                    <a16:creationId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45" name="Group 144">
            <a:extLst>
              <a:ext uri="{FF2B5EF4-FFF2-40B4-BE49-F238E27FC236}">
                <a16:creationId xmlns:a16="http://schemas.microsoft.com/office/drawing/2014/main" id="{8ECEC947-F5C8-414B-A56E-EBE5DFFEDB1C}"/>
              </a:ext>
            </a:extLst>
          </p:cNvPr>
          <p:cNvGrpSpPr/>
          <p:nvPr/>
        </p:nvGrpSpPr>
        <p:grpSpPr>
          <a:xfrm>
            <a:off x="6037552" y="3831746"/>
            <a:ext cx="266240" cy="131751"/>
            <a:chOff x="7493876" y="2774731"/>
            <a:chExt cx="1481958" cy="894622"/>
          </a:xfrm>
        </p:grpSpPr>
        <p:sp>
          <p:nvSpPr>
            <p:cNvPr id="146" name="Freeform 145">
              <a:extLst>
                <a:ext uri="{FF2B5EF4-FFF2-40B4-BE49-F238E27FC236}">
                  <a16:creationId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47" name="Oval 146">
              <a:extLst>
                <a:ext uri="{FF2B5EF4-FFF2-40B4-BE49-F238E27FC236}">
                  <a16:creationId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48" name="Group 147">
              <a:extLst>
                <a:ext uri="{FF2B5EF4-FFF2-40B4-BE49-F238E27FC236}">
                  <a16:creationId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0" name="Freeform 149">
                <a:extLst>
                  <a:ext uri="{FF2B5EF4-FFF2-40B4-BE49-F238E27FC236}">
                    <a16:creationId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1" name="Freeform 150">
                <a:extLst>
                  <a:ext uri="{FF2B5EF4-FFF2-40B4-BE49-F238E27FC236}">
                    <a16:creationId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2" name="Freeform 151">
                <a:extLst>
                  <a:ext uri="{FF2B5EF4-FFF2-40B4-BE49-F238E27FC236}">
                    <a16:creationId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53" name="Group 152">
            <a:extLst>
              <a:ext uri="{FF2B5EF4-FFF2-40B4-BE49-F238E27FC236}">
                <a16:creationId xmlns:a16="http://schemas.microsoft.com/office/drawing/2014/main" id="{419BFD2C-DE5F-0C45-B636-6597FE43775F}"/>
              </a:ext>
            </a:extLst>
          </p:cNvPr>
          <p:cNvGrpSpPr/>
          <p:nvPr/>
        </p:nvGrpSpPr>
        <p:grpSpPr>
          <a:xfrm>
            <a:off x="8163064" y="3558274"/>
            <a:ext cx="128242" cy="72789"/>
            <a:chOff x="7493876" y="2774731"/>
            <a:chExt cx="1481958" cy="894622"/>
          </a:xfrm>
        </p:grpSpPr>
        <p:sp>
          <p:nvSpPr>
            <p:cNvPr id="154" name="Freeform 153">
              <a:extLst>
                <a:ext uri="{FF2B5EF4-FFF2-40B4-BE49-F238E27FC236}">
                  <a16:creationId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55" name="Oval 154">
              <a:extLst>
                <a:ext uri="{FF2B5EF4-FFF2-40B4-BE49-F238E27FC236}">
                  <a16:creationId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56" name="Group 155">
              <a:extLst>
                <a:ext uri="{FF2B5EF4-FFF2-40B4-BE49-F238E27FC236}">
                  <a16:creationId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8" name="Freeform 157">
                <a:extLst>
                  <a:ext uri="{FF2B5EF4-FFF2-40B4-BE49-F238E27FC236}">
                    <a16:creationId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9" name="Freeform 158">
                <a:extLst>
                  <a:ext uri="{FF2B5EF4-FFF2-40B4-BE49-F238E27FC236}">
                    <a16:creationId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60" name="Freeform 159">
                <a:extLst>
                  <a:ext uri="{FF2B5EF4-FFF2-40B4-BE49-F238E27FC236}">
                    <a16:creationId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61" name="Group 160">
            <a:extLst>
              <a:ext uri="{FF2B5EF4-FFF2-40B4-BE49-F238E27FC236}">
                <a16:creationId xmlns:a16="http://schemas.microsoft.com/office/drawing/2014/main" id="{0F65CB9E-D1E1-5348-9E59-69DA1CEF2123}"/>
              </a:ext>
            </a:extLst>
          </p:cNvPr>
          <p:cNvGrpSpPr/>
          <p:nvPr/>
        </p:nvGrpSpPr>
        <p:grpSpPr>
          <a:xfrm>
            <a:off x="7807957" y="3479354"/>
            <a:ext cx="265259" cy="148758"/>
            <a:chOff x="7493876" y="2774731"/>
            <a:chExt cx="1481958" cy="894622"/>
          </a:xfrm>
        </p:grpSpPr>
        <p:sp>
          <p:nvSpPr>
            <p:cNvPr id="162" name="Freeform 161">
              <a:extLst>
                <a:ext uri="{FF2B5EF4-FFF2-40B4-BE49-F238E27FC236}">
                  <a16:creationId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63" name="Oval 162">
              <a:extLst>
                <a:ext uri="{FF2B5EF4-FFF2-40B4-BE49-F238E27FC236}">
                  <a16:creationId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64" name="Group 163">
              <a:extLst>
                <a:ext uri="{FF2B5EF4-FFF2-40B4-BE49-F238E27FC236}">
                  <a16:creationId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66" name="Freeform 165">
                <a:extLst>
                  <a:ext uri="{FF2B5EF4-FFF2-40B4-BE49-F238E27FC236}">
                    <a16:creationId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67" name="Freeform 166">
                <a:extLst>
                  <a:ext uri="{FF2B5EF4-FFF2-40B4-BE49-F238E27FC236}">
                    <a16:creationId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68" name="Freeform 167">
                <a:extLst>
                  <a:ext uri="{FF2B5EF4-FFF2-40B4-BE49-F238E27FC236}">
                    <a16:creationId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69" name="Group 168">
            <a:extLst>
              <a:ext uri="{FF2B5EF4-FFF2-40B4-BE49-F238E27FC236}">
                <a16:creationId xmlns:a16="http://schemas.microsoft.com/office/drawing/2014/main" id="{CFBE87F9-CE91-5943-9D77-D8B9227384AC}"/>
              </a:ext>
            </a:extLst>
          </p:cNvPr>
          <p:cNvGrpSpPr/>
          <p:nvPr/>
        </p:nvGrpSpPr>
        <p:grpSpPr>
          <a:xfrm>
            <a:off x="7461543" y="2508969"/>
            <a:ext cx="265259" cy="148758"/>
            <a:chOff x="7493876" y="2774731"/>
            <a:chExt cx="1481958" cy="894622"/>
          </a:xfrm>
        </p:grpSpPr>
        <p:sp>
          <p:nvSpPr>
            <p:cNvPr id="170" name="Freeform 169">
              <a:extLst>
                <a:ext uri="{FF2B5EF4-FFF2-40B4-BE49-F238E27FC236}">
                  <a16:creationId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71" name="Oval 170">
              <a:extLst>
                <a:ext uri="{FF2B5EF4-FFF2-40B4-BE49-F238E27FC236}">
                  <a16:creationId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72" name="Group 171">
              <a:extLst>
                <a:ext uri="{FF2B5EF4-FFF2-40B4-BE49-F238E27FC236}">
                  <a16:creationId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74" name="Freeform 173">
                <a:extLst>
                  <a:ext uri="{FF2B5EF4-FFF2-40B4-BE49-F238E27FC236}">
                    <a16:creationId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75" name="Freeform 174">
                <a:extLst>
                  <a:ext uri="{FF2B5EF4-FFF2-40B4-BE49-F238E27FC236}">
                    <a16:creationId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76" name="Freeform 175">
                <a:extLst>
                  <a:ext uri="{FF2B5EF4-FFF2-40B4-BE49-F238E27FC236}">
                    <a16:creationId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77" name="Group 176">
            <a:extLst>
              <a:ext uri="{FF2B5EF4-FFF2-40B4-BE49-F238E27FC236}">
                <a16:creationId xmlns:a16="http://schemas.microsoft.com/office/drawing/2014/main" id="{6D2B1BF7-15E3-B642-B1ED-14A585EC5A4E}"/>
              </a:ext>
            </a:extLst>
          </p:cNvPr>
          <p:cNvGrpSpPr/>
          <p:nvPr/>
        </p:nvGrpSpPr>
        <p:grpSpPr>
          <a:xfrm>
            <a:off x="7895410" y="2817275"/>
            <a:ext cx="265259" cy="148758"/>
            <a:chOff x="7493876" y="2774731"/>
            <a:chExt cx="1481958" cy="894622"/>
          </a:xfrm>
        </p:grpSpPr>
        <p:sp>
          <p:nvSpPr>
            <p:cNvPr id="178" name="Freeform 177">
              <a:extLst>
                <a:ext uri="{FF2B5EF4-FFF2-40B4-BE49-F238E27FC236}">
                  <a16:creationId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79" name="Oval 178">
              <a:extLst>
                <a:ext uri="{FF2B5EF4-FFF2-40B4-BE49-F238E27FC236}">
                  <a16:creationId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80" name="Group 179">
              <a:extLst>
                <a:ext uri="{FF2B5EF4-FFF2-40B4-BE49-F238E27FC236}">
                  <a16:creationId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82" name="Freeform 181">
                <a:extLst>
                  <a:ext uri="{FF2B5EF4-FFF2-40B4-BE49-F238E27FC236}">
                    <a16:creationId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83" name="Freeform 182">
                <a:extLst>
                  <a:ext uri="{FF2B5EF4-FFF2-40B4-BE49-F238E27FC236}">
                    <a16:creationId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84" name="Freeform 183">
                <a:extLst>
                  <a:ext uri="{FF2B5EF4-FFF2-40B4-BE49-F238E27FC236}">
                    <a16:creationId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85" name="Group 184">
            <a:extLst>
              <a:ext uri="{FF2B5EF4-FFF2-40B4-BE49-F238E27FC236}">
                <a16:creationId xmlns:a16="http://schemas.microsoft.com/office/drawing/2014/main" id="{F0711763-C567-4040-ABFB-F5C34597A154}"/>
              </a:ext>
            </a:extLst>
          </p:cNvPr>
          <p:cNvGrpSpPr/>
          <p:nvPr/>
        </p:nvGrpSpPr>
        <p:grpSpPr>
          <a:xfrm>
            <a:off x="7982869" y="2438222"/>
            <a:ext cx="265259" cy="148758"/>
            <a:chOff x="7493876" y="2774731"/>
            <a:chExt cx="1481958" cy="894622"/>
          </a:xfrm>
        </p:grpSpPr>
        <p:sp>
          <p:nvSpPr>
            <p:cNvPr id="186" name="Freeform 185">
              <a:extLst>
                <a:ext uri="{FF2B5EF4-FFF2-40B4-BE49-F238E27FC236}">
                  <a16:creationId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87" name="Oval 186">
              <a:extLst>
                <a:ext uri="{FF2B5EF4-FFF2-40B4-BE49-F238E27FC236}">
                  <a16:creationId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88" name="Group 187">
              <a:extLst>
                <a:ext uri="{FF2B5EF4-FFF2-40B4-BE49-F238E27FC236}">
                  <a16:creationId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0" name="Freeform 189">
                <a:extLst>
                  <a:ext uri="{FF2B5EF4-FFF2-40B4-BE49-F238E27FC236}">
                    <a16:creationId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1" name="Freeform 190">
                <a:extLst>
                  <a:ext uri="{FF2B5EF4-FFF2-40B4-BE49-F238E27FC236}">
                    <a16:creationId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2" name="Freeform 191">
                <a:extLst>
                  <a:ext uri="{FF2B5EF4-FFF2-40B4-BE49-F238E27FC236}">
                    <a16:creationId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93" name="Group 192">
            <a:extLst>
              <a:ext uri="{FF2B5EF4-FFF2-40B4-BE49-F238E27FC236}">
                <a16:creationId xmlns:a16="http://schemas.microsoft.com/office/drawing/2014/main" id="{E38FF4C3-D0A2-D548-89C0-C35D3E53032F}"/>
              </a:ext>
            </a:extLst>
          </p:cNvPr>
          <p:cNvGrpSpPr/>
          <p:nvPr/>
        </p:nvGrpSpPr>
        <p:grpSpPr>
          <a:xfrm>
            <a:off x="6824091" y="3824718"/>
            <a:ext cx="275418" cy="180228"/>
            <a:chOff x="7493876" y="2774731"/>
            <a:chExt cx="1481958" cy="894622"/>
          </a:xfrm>
        </p:grpSpPr>
        <p:sp>
          <p:nvSpPr>
            <p:cNvPr id="194" name="Freeform 193">
              <a:extLst>
                <a:ext uri="{FF2B5EF4-FFF2-40B4-BE49-F238E27FC236}">
                  <a16:creationId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95" name="Oval 194">
              <a:extLst>
                <a:ext uri="{FF2B5EF4-FFF2-40B4-BE49-F238E27FC236}">
                  <a16:creationId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96" name="Group 195">
              <a:extLst>
                <a:ext uri="{FF2B5EF4-FFF2-40B4-BE49-F238E27FC236}">
                  <a16:creationId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8" name="Freeform 197">
                <a:extLst>
                  <a:ext uri="{FF2B5EF4-FFF2-40B4-BE49-F238E27FC236}">
                    <a16:creationId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9" name="Freeform 198">
                <a:extLst>
                  <a:ext uri="{FF2B5EF4-FFF2-40B4-BE49-F238E27FC236}">
                    <a16:creationId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00" name="Freeform 199">
                <a:extLst>
                  <a:ext uri="{FF2B5EF4-FFF2-40B4-BE49-F238E27FC236}">
                    <a16:creationId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01" name="Group 200">
            <a:extLst>
              <a:ext uri="{FF2B5EF4-FFF2-40B4-BE49-F238E27FC236}">
                <a16:creationId xmlns:a16="http://schemas.microsoft.com/office/drawing/2014/main" id="{F6C05161-17CC-4047-8DD1-B9901ECF6386}"/>
              </a:ext>
            </a:extLst>
          </p:cNvPr>
          <p:cNvGrpSpPr/>
          <p:nvPr/>
        </p:nvGrpSpPr>
        <p:grpSpPr>
          <a:xfrm>
            <a:off x="7485094" y="2853424"/>
            <a:ext cx="265259" cy="148758"/>
            <a:chOff x="7493876" y="2774731"/>
            <a:chExt cx="1481958" cy="894622"/>
          </a:xfrm>
        </p:grpSpPr>
        <p:sp>
          <p:nvSpPr>
            <p:cNvPr id="202" name="Freeform 201">
              <a:extLst>
                <a:ext uri="{FF2B5EF4-FFF2-40B4-BE49-F238E27FC236}">
                  <a16:creationId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03" name="Oval 202">
              <a:extLst>
                <a:ext uri="{FF2B5EF4-FFF2-40B4-BE49-F238E27FC236}">
                  <a16:creationId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04" name="Group 203">
              <a:extLst>
                <a:ext uri="{FF2B5EF4-FFF2-40B4-BE49-F238E27FC236}">
                  <a16:creationId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06" name="Freeform 205">
                <a:extLst>
                  <a:ext uri="{FF2B5EF4-FFF2-40B4-BE49-F238E27FC236}">
                    <a16:creationId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07" name="Freeform 206">
                <a:extLst>
                  <a:ext uri="{FF2B5EF4-FFF2-40B4-BE49-F238E27FC236}">
                    <a16:creationId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08" name="Freeform 207">
                <a:extLst>
                  <a:ext uri="{FF2B5EF4-FFF2-40B4-BE49-F238E27FC236}">
                    <a16:creationId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09" name="Group 208">
            <a:extLst>
              <a:ext uri="{FF2B5EF4-FFF2-40B4-BE49-F238E27FC236}">
                <a16:creationId xmlns:a16="http://schemas.microsoft.com/office/drawing/2014/main" id="{198EE3F8-E7C6-7742-BDAE-10EEB3BA9601}"/>
              </a:ext>
            </a:extLst>
          </p:cNvPr>
          <p:cNvGrpSpPr/>
          <p:nvPr/>
        </p:nvGrpSpPr>
        <p:grpSpPr>
          <a:xfrm>
            <a:off x="7122854" y="3402774"/>
            <a:ext cx="275418" cy="180228"/>
            <a:chOff x="7493876" y="2774731"/>
            <a:chExt cx="1481958" cy="894622"/>
          </a:xfrm>
        </p:grpSpPr>
        <p:sp>
          <p:nvSpPr>
            <p:cNvPr id="210" name="Freeform 209">
              <a:extLst>
                <a:ext uri="{FF2B5EF4-FFF2-40B4-BE49-F238E27FC236}">
                  <a16:creationId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11" name="Oval 210">
              <a:extLst>
                <a:ext uri="{FF2B5EF4-FFF2-40B4-BE49-F238E27FC236}">
                  <a16:creationId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12" name="Group 211">
              <a:extLst>
                <a:ext uri="{FF2B5EF4-FFF2-40B4-BE49-F238E27FC236}">
                  <a16:creationId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14" name="Freeform 213">
                <a:extLst>
                  <a:ext uri="{FF2B5EF4-FFF2-40B4-BE49-F238E27FC236}">
                    <a16:creationId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15" name="Freeform 214">
                <a:extLst>
                  <a:ext uri="{FF2B5EF4-FFF2-40B4-BE49-F238E27FC236}">
                    <a16:creationId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16" name="Freeform 215">
                <a:extLst>
                  <a:ext uri="{FF2B5EF4-FFF2-40B4-BE49-F238E27FC236}">
                    <a16:creationId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17" name="Group 216">
            <a:extLst>
              <a:ext uri="{FF2B5EF4-FFF2-40B4-BE49-F238E27FC236}">
                <a16:creationId xmlns:a16="http://schemas.microsoft.com/office/drawing/2014/main" id="{5123C752-3FFB-E84D-9E48-DBC9A9F48F37}"/>
              </a:ext>
            </a:extLst>
          </p:cNvPr>
          <p:cNvGrpSpPr/>
          <p:nvPr/>
        </p:nvGrpSpPr>
        <p:grpSpPr>
          <a:xfrm>
            <a:off x="7201166" y="3857072"/>
            <a:ext cx="275418" cy="180228"/>
            <a:chOff x="7493876" y="2774731"/>
            <a:chExt cx="1481958" cy="894622"/>
          </a:xfrm>
        </p:grpSpPr>
        <p:sp>
          <p:nvSpPr>
            <p:cNvPr id="218" name="Freeform 217">
              <a:extLst>
                <a:ext uri="{FF2B5EF4-FFF2-40B4-BE49-F238E27FC236}">
                  <a16:creationId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19" name="Oval 218">
              <a:extLst>
                <a:ext uri="{FF2B5EF4-FFF2-40B4-BE49-F238E27FC236}">
                  <a16:creationId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20" name="Group 219">
              <a:extLst>
                <a:ext uri="{FF2B5EF4-FFF2-40B4-BE49-F238E27FC236}">
                  <a16:creationId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22" name="Freeform 221">
                <a:extLst>
                  <a:ext uri="{FF2B5EF4-FFF2-40B4-BE49-F238E27FC236}">
                    <a16:creationId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23" name="Freeform 222">
                <a:extLst>
                  <a:ext uri="{FF2B5EF4-FFF2-40B4-BE49-F238E27FC236}">
                    <a16:creationId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24" name="Freeform 223">
                <a:extLst>
                  <a:ext uri="{FF2B5EF4-FFF2-40B4-BE49-F238E27FC236}">
                    <a16:creationId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25" name="Group 224">
            <a:extLst>
              <a:ext uri="{FF2B5EF4-FFF2-40B4-BE49-F238E27FC236}">
                <a16:creationId xmlns:a16="http://schemas.microsoft.com/office/drawing/2014/main" id="{9F5D0807-95F5-B242-9940-2134E3CE864D}"/>
              </a:ext>
            </a:extLst>
          </p:cNvPr>
          <p:cNvGrpSpPr/>
          <p:nvPr/>
        </p:nvGrpSpPr>
        <p:grpSpPr>
          <a:xfrm>
            <a:off x="7781444" y="3851494"/>
            <a:ext cx="265259" cy="148758"/>
            <a:chOff x="7493876" y="2774731"/>
            <a:chExt cx="1481958" cy="894622"/>
          </a:xfrm>
        </p:grpSpPr>
        <p:sp>
          <p:nvSpPr>
            <p:cNvPr id="226" name="Freeform 225">
              <a:extLst>
                <a:ext uri="{FF2B5EF4-FFF2-40B4-BE49-F238E27FC236}">
                  <a16:creationId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27" name="Oval 226">
              <a:extLst>
                <a:ext uri="{FF2B5EF4-FFF2-40B4-BE49-F238E27FC236}">
                  <a16:creationId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28" name="Group 227">
              <a:extLst>
                <a:ext uri="{FF2B5EF4-FFF2-40B4-BE49-F238E27FC236}">
                  <a16:creationId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30" name="Freeform 229">
                <a:extLst>
                  <a:ext uri="{FF2B5EF4-FFF2-40B4-BE49-F238E27FC236}">
                    <a16:creationId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31" name="Freeform 230">
                <a:extLst>
                  <a:ext uri="{FF2B5EF4-FFF2-40B4-BE49-F238E27FC236}">
                    <a16:creationId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32" name="Freeform 231">
                <a:extLst>
                  <a:ext uri="{FF2B5EF4-FFF2-40B4-BE49-F238E27FC236}">
                    <a16:creationId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33" name="Group 232">
            <a:extLst>
              <a:ext uri="{FF2B5EF4-FFF2-40B4-BE49-F238E27FC236}">
                <a16:creationId xmlns:a16="http://schemas.microsoft.com/office/drawing/2014/main" id="{A8973B1E-A991-8E45-9FF7-7AF7F179E328}"/>
              </a:ext>
            </a:extLst>
          </p:cNvPr>
          <p:cNvGrpSpPr/>
          <p:nvPr/>
        </p:nvGrpSpPr>
        <p:grpSpPr>
          <a:xfrm>
            <a:off x="6935920" y="4439014"/>
            <a:ext cx="295320" cy="163934"/>
            <a:chOff x="7493876" y="2774731"/>
            <a:chExt cx="1481958" cy="894622"/>
          </a:xfrm>
        </p:grpSpPr>
        <p:sp>
          <p:nvSpPr>
            <p:cNvPr id="234" name="Freeform 233">
              <a:extLst>
                <a:ext uri="{FF2B5EF4-FFF2-40B4-BE49-F238E27FC236}">
                  <a16:creationId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35" name="Oval 234">
              <a:extLst>
                <a:ext uri="{FF2B5EF4-FFF2-40B4-BE49-F238E27FC236}">
                  <a16:creationId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36" name="Group 235">
              <a:extLst>
                <a:ext uri="{FF2B5EF4-FFF2-40B4-BE49-F238E27FC236}">
                  <a16:creationId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38" name="Freeform 237">
                <a:extLst>
                  <a:ext uri="{FF2B5EF4-FFF2-40B4-BE49-F238E27FC236}">
                    <a16:creationId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39" name="Freeform 238">
                <a:extLst>
                  <a:ext uri="{FF2B5EF4-FFF2-40B4-BE49-F238E27FC236}">
                    <a16:creationId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40" name="Freeform 239">
                <a:extLst>
                  <a:ext uri="{FF2B5EF4-FFF2-40B4-BE49-F238E27FC236}">
                    <a16:creationId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41" name="Group 240">
            <a:extLst>
              <a:ext uri="{FF2B5EF4-FFF2-40B4-BE49-F238E27FC236}">
                <a16:creationId xmlns:a16="http://schemas.microsoft.com/office/drawing/2014/main" id="{23665DDF-4A56-E24C-9D9B-557EA2031298}"/>
              </a:ext>
            </a:extLst>
          </p:cNvPr>
          <p:cNvGrpSpPr/>
          <p:nvPr/>
        </p:nvGrpSpPr>
        <p:grpSpPr>
          <a:xfrm>
            <a:off x="8194487" y="4134094"/>
            <a:ext cx="171221" cy="90300"/>
            <a:chOff x="7493876" y="2774731"/>
            <a:chExt cx="1481958" cy="894622"/>
          </a:xfrm>
        </p:grpSpPr>
        <p:sp>
          <p:nvSpPr>
            <p:cNvPr id="242" name="Freeform 241">
              <a:extLst>
                <a:ext uri="{FF2B5EF4-FFF2-40B4-BE49-F238E27FC236}">
                  <a16:creationId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43" name="Oval 242">
              <a:extLst>
                <a:ext uri="{FF2B5EF4-FFF2-40B4-BE49-F238E27FC236}">
                  <a16:creationId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44" name="Group 243">
              <a:extLst>
                <a:ext uri="{FF2B5EF4-FFF2-40B4-BE49-F238E27FC236}">
                  <a16:creationId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46" name="Freeform 245">
                <a:extLst>
                  <a:ext uri="{FF2B5EF4-FFF2-40B4-BE49-F238E27FC236}">
                    <a16:creationId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47" name="Freeform 246">
                <a:extLst>
                  <a:ext uri="{FF2B5EF4-FFF2-40B4-BE49-F238E27FC236}">
                    <a16:creationId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48" name="Freeform 247">
                <a:extLst>
                  <a:ext uri="{FF2B5EF4-FFF2-40B4-BE49-F238E27FC236}">
                    <a16:creationId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249" name="Group 248">
            <a:extLst>
              <a:ext uri="{FF2B5EF4-FFF2-40B4-BE49-F238E27FC236}">
                <a16:creationId xmlns:a16="http://schemas.microsoft.com/office/drawing/2014/main" id="{931C36A9-E761-0148-9032-D81ACCB48A29}"/>
              </a:ext>
            </a:extLst>
          </p:cNvPr>
          <p:cNvGrpSpPr/>
          <p:nvPr/>
        </p:nvGrpSpPr>
        <p:grpSpPr>
          <a:xfrm>
            <a:off x="5579306" y="2624710"/>
            <a:ext cx="401240" cy="305991"/>
            <a:chOff x="7432700" y="2327293"/>
            <a:chExt cx="534987" cy="407988"/>
          </a:xfrm>
        </p:grpSpPr>
        <p:pic>
          <p:nvPicPr>
            <p:cNvPr id="250" name="Picture 1017" descr="antenna_stylized">
              <a:extLst>
                <a:ext uri="{FF2B5EF4-FFF2-40B4-BE49-F238E27FC236}">
                  <a16:creationId xmlns:a16="http://schemas.microsoft.com/office/drawing/2014/main" id="{A1B3AFF0-514E-1142-A2F6-8BE3FF21744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id="{F72A8B16-D68A-BE43-A9DC-2099F128817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pic>
          <p:nvPicPr>
            <p:cNvPr id="253" name="Picture 1020" descr="screen">
              <a:extLst>
                <a:ext uri="{FF2B5EF4-FFF2-40B4-BE49-F238E27FC236}">
                  <a16:creationId xmlns:a16="http://schemas.microsoft.com/office/drawing/2014/main" id="{5B7A4293-9090-2C47-A5F9-1484B3E8E43A}"/>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55" name="Freeform 1022">
              <a:extLst>
                <a:ext uri="{FF2B5EF4-FFF2-40B4-BE49-F238E27FC236}">
                  <a16:creationId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56" name="Freeform 1023">
              <a:extLst>
                <a:ext uri="{FF2B5EF4-FFF2-40B4-BE49-F238E27FC236}">
                  <a16:creationId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57" name="Freeform 1024">
              <a:extLst>
                <a:ext uri="{FF2B5EF4-FFF2-40B4-BE49-F238E27FC236}">
                  <a16:creationId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58" name="Freeform 1025">
              <a:extLst>
                <a:ext uri="{FF2B5EF4-FFF2-40B4-BE49-F238E27FC236}">
                  <a16:creationId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59" name="Freeform 1026">
              <a:extLst>
                <a:ext uri="{FF2B5EF4-FFF2-40B4-BE49-F238E27FC236}">
                  <a16:creationId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260" name="Group 1027">
              <a:extLst>
                <a:ext uri="{FF2B5EF4-FFF2-40B4-BE49-F238E27FC236}">
                  <a16:creationId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8" name="Freeform 1029">
                <a:extLst>
                  <a:ext uri="{FF2B5EF4-FFF2-40B4-BE49-F238E27FC236}">
                    <a16:creationId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9" name="Freeform 1030">
                <a:extLst>
                  <a:ext uri="{FF2B5EF4-FFF2-40B4-BE49-F238E27FC236}">
                    <a16:creationId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70" name="Freeform 1031">
                <a:extLst>
                  <a:ext uri="{FF2B5EF4-FFF2-40B4-BE49-F238E27FC236}">
                    <a16:creationId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71" name="Freeform 1032">
                <a:extLst>
                  <a:ext uri="{FF2B5EF4-FFF2-40B4-BE49-F238E27FC236}">
                    <a16:creationId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72" name="Freeform 1033">
                <a:extLst>
                  <a:ext uri="{FF2B5EF4-FFF2-40B4-BE49-F238E27FC236}">
                    <a16:creationId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261" name="Freeform 1034">
              <a:extLst>
                <a:ext uri="{FF2B5EF4-FFF2-40B4-BE49-F238E27FC236}">
                  <a16:creationId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2" name="Freeform 1035">
              <a:extLst>
                <a:ext uri="{FF2B5EF4-FFF2-40B4-BE49-F238E27FC236}">
                  <a16:creationId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3" name="Freeform 1036">
              <a:extLst>
                <a:ext uri="{FF2B5EF4-FFF2-40B4-BE49-F238E27FC236}">
                  <a16:creationId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4" name="Freeform 1037">
              <a:extLst>
                <a:ext uri="{FF2B5EF4-FFF2-40B4-BE49-F238E27FC236}">
                  <a16:creationId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5" name="Freeform 1038">
              <a:extLst>
                <a:ext uri="{FF2B5EF4-FFF2-40B4-BE49-F238E27FC236}">
                  <a16:creationId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6" name="Freeform 1039">
              <a:extLst>
                <a:ext uri="{FF2B5EF4-FFF2-40B4-BE49-F238E27FC236}">
                  <a16:creationId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273" name="Group 272">
            <a:extLst>
              <a:ext uri="{FF2B5EF4-FFF2-40B4-BE49-F238E27FC236}">
                <a16:creationId xmlns:a16="http://schemas.microsoft.com/office/drawing/2014/main" id="{7BE84195-0460-B24A-9BFA-64009B70F0D4}"/>
              </a:ext>
            </a:extLst>
          </p:cNvPr>
          <p:cNvGrpSpPr/>
          <p:nvPr/>
        </p:nvGrpSpPr>
        <p:grpSpPr>
          <a:xfrm>
            <a:off x="6478336" y="2597046"/>
            <a:ext cx="398027" cy="358507"/>
            <a:chOff x="8631407" y="2290407"/>
            <a:chExt cx="530702" cy="478009"/>
          </a:xfrm>
        </p:grpSpPr>
        <p:pic>
          <p:nvPicPr>
            <p:cNvPr id="274" name="Picture 568" descr="light2.png">
              <a:extLst>
                <a:ext uri="{FF2B5EF4-FFF2-40B4-BE49-F238E27FC236}">
                  <a16:creationId xmlns:a16="http://schemas.microsoft.com/office/drawing/2014/main" id="{9C2ABCA4-2AB6-604A-BAF1-3DCCB40F3CF6}"/>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id="{650AA1D1-0ECD-3E4A-81DB-CC97A96B57C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id="{EFF79B51-BA03-584F-A0CE-2E5C3CDBD9C8}"/>
              </a:ext>
            </a:extLst>
          </p:cNvPr>
          <p:cNvGrpSpPr/>
          <p:nvPr/>
        </p:nvGrpSpPr>
        <p:grpSpPr>
          <a:xfrm>
            <a:off x="6374654" y="2401593"/>
            <a:ext cx="636984" cy="169582"/>
            <a:chOff x="8493165" y="2029804"/>
            <a:chExt cx="849312" cy="226109"/>
          </a:xfrm>
        </p:grpSpPr>
        <p:pic>
          <p:nvPicPr>
            <p:cNvPr id="277" name="Picture 603" descr="car_icon_small">
              <a:extLst>
                <a:ext uri="{FF2B5EF4-FFF2-40B4-BE49-F238E27FC236}">
                  <a16:creationId xmlns:a16="http://schemas.microsoft.com/office/drawing/2014/main" id="{A16178BF-CE10-DF42-8C1F-E2AAFB94BBE9}"/>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id="{BF73CD36-5E1A-D143-A3EA-8721982417D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id="{053CF7AA-EEE7-E849-8975-45A554C35F5B}"/>
              </a:ext>
            </a:extLst>
          </p:cNvPr>
          <p:cNvGrpSpPr/>
          <p:nvPr/>
        </p:nvGrpSpPr>
        <p:grpSpPr>
          <a:xfrm>
            <a:off x="5620139" y="3351318"/>
            <a:ext cx="643304" cy="437823"/>
            <a:chOff x="7487144" y="3296104"/>
            <a:chExt cx="857739" cy="583764"/>
          </a:xfrm>
        </p:grpSpPr>
        <p:grpSp>
          <p:nvGrpSpPr>
            <p:cNvPr id="280" name="Group 279">
              <a:extLst>
                <a:ext uri="{FF2B5EF4-FFF2-40B4-BE49-F238E27FC236}">
                  <a16:creationId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id="{AD910864-C9F4-C94B-9B97-60E50CF30ACE}"/>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id="{89C482D5-7199-3040-A39E-C983C7E76CD5}"/>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pic>
            <p:nvPicPr>
              <p:cNvPr id="290" name="Picture 1118" descr="screen">
                <a:extLst>
                  <a:ext uri="{FF2B5EF4-FFF2-40B4-BE49-F238E27FC236}">
                    <a16:creationId xmlns:a16="http://schemas.microsoft.com/office/drawing/2014/main" id="{4A4B2A13-447B-ED4B-A13F-5489BEAC9BE3}"/>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2" name="Freeform 1120">
                <a:extLst>
                  <a:ext uri="{FF2B5EF4-FFF2-40B4-BE49-F238E27FC236}">
                    <a16:creationId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3" name="Freeform 1121">
                <a:extLst>
                  <a:ext uri="{FF2B5EF4-FFF2-40B4-BE49-F238E27FC236}">
                    <a16:creationId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4" name="Freeform 1122">
                <a:extLst>
                  <a:ext uri="{FF2B5EF4-FFF2-40B4-BE49-F238E27FC236}">
                    <a16:creationId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5" name="Freeform 1123">
                <a:extLst>
                  <a:ext uri="{FF2B5EF4-FFF2-40B4-BE49-F238E27FC236}">
                    <a16:creationId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6" name="Freeform 1124">
                <a:extLst>
                  <a:ext uri="{FF2B5EF4-FFF2-40B4-BE49-F238E27FC236}">
                    <a16:creationId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297" name="Group 1125">
                <a:extLst>
                  <a:ext uri="{FF2B5EF4-FFF2-40B4-BE49-F238E27FC236}">
                    <a16:creationId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5" name="Freeform 1127">
                  <a:extLst>
                    <a:ext uri="{FF2B5EF4-FFF2-40B4-BE49-F238E27FC236}">
                      <a16:creationId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6" name="Freeform 1128">
                  <a:extLst>
                    <a:ext uri="{FF2B5EF4-FFF2-40B4-BE49-F238E27FC236}">
                      <a16:creationId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7" name="Freeform 1129">
                  <a:extLst>
                    <a:ext uri="{FF2B5EF4-FFF2-40B4-BE49-F238E27FC236}">
                      <a16:creationId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8" name="Freeform 1130">
                  <a:extLst>
                    <a:ext uri="{FF2B5EF4-FFF2-40B4-BE49-F238E27FC236}">
                      <a16:creationId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9" name="Freeform 1131">
                  <a:extLst>
                    <a:ext uri="{FF2B5EF4-FFF2-40B4-BE49-F238E27FC236}">
                      <a16:creationId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298" name="Freeform 1132">
                <a:extLst>
                  <a:ext uri="{FF2B5EF4-FFF2-40B4-BE49-F238E27FC236}">
                    <a16:creationId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9" name="Freeform 1133">
                <a:extLst>
                  <a:ext uri="{FF2B5EF4-FFF2-40B4-BE49-F238E27FC236}">
                    <a16:creationId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0" name="Freeform 1134">
                <a:extLst>
                  <a:ext uri="{FF2B5EF4-FFF2-40B4-BE49-F238E27FC236}">
                    <a16:creationId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1" name="Freeform 1135">
                <a:extLst>
                  <a:ext uri="{FF2B5EF4-FFF2-40B4-BE49-F238E27FC236}">
                    <a16:creationId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2" name="Freeform 1136">
                <a:extLst>
                  <a:ext uri="{FF2B5EF4-FFF2-40B4-BE49-F238E27FC236}">
                    <a16:creationId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3" name="Freeform 1137">
                <a:extLst>
                  <a:ext uri="{FF2B5EF4-FFF2-40B4-BE49-F238E27FC236}">
                    <a16:creationId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281" name="Group 1139">
              <a:extLst>
                <a:ext uri="{FF2B5EF4-FFF2-40B4-BE49-F238E27FC236}">
                  <a16:creationId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id="{DF6CF23B-627F-354F-9A8F-4AC37674F07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282" name="Group 281">
              <a:extLst>
                <a:ext uri="{FF2B5EF4-FFF2-40B4-BE49-F238E27FC236}">
                  <a16:creationId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id="{52D49911-07F8-3343-8A41-1B2AC79DBF22}"/>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id="{E5CB4C1D-6CCE-AD42-A805-75067034C0AF}"/>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id="{09017FE0-34A3-FC43-92EF-C44FBDE65EF6}"/>
              </a:ext>
            </a:extLst>
          </p:cNvPr>
          <p:cNvGrpSpPr/>
          <p:nvPr/>
        </p:nvGrpSpPr>
        <p:grpSpPr>
          <a:xfrm>
            <a:off x="8298710" y="3428614"/>
            <a:ext cx="388836" cy="909182"/>
            <a:chOff x="11058573" y="3399165"/>
            <a:chExt cx="518448" cy="1212242"/>
          </a:xfrm>
        </p:grpSpPr>
        <p:grpSp>
          <p:nvGrpSpPr>
            <p:cNvPr id="311" name="Group 310">
              <a:extLst>
                <a:ext uri="{FF2B5EF4-FFF2-40B4-BE49-F238E27FC236}">
                  <a16:creationId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id="{764A46D5-D344-3246-B4CA-E1BF2CFDEEF5}"/>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id="{90C1BE08-C428-E74E-B929-C6D1271BFE1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id="{35FFED4D-9863-0F4E-8222-435564693420}"/>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id="{E480D9A5-8FB7-3647-AB54-42D9700E645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id="{C17EE074-02D0-4143-8ED9-E4D2205689F5}"/>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id="{589F8E4F-69B9-FA46-8D10-90FC7573C77E}"/>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id="{002C44D5-1F60-7447-A1D2-6EE5F802021D}"/>
              </a:ext>
            </a:extLst>
          </p:cNvPr>
          <p:cNvGrpSpPr>
            <a:grpSpLocks/>
          </p:cNvGrpSpPr>
          <p:nvPr/>
        </p:nvGrpSpPr>
        <p:grpSpPr bwMode="auto">
          <a:xfrm flipH="1">
            <a:off x="5985641" y="4532371"/>
            <a:ext cx="259223" cy="240227"/>
            <a:chOff x="2839" y="3501"/>
            <a:chExt cx="755" cy="803"/>
          </a:xfrm>
        </p:grpSpPr>
        <p:pic>
          <p:nvPicPr>
            <p:cNvPr id="357" name="Picture 591" descr="desktop_computer_stylized_medium">
              <a:extLst>
                <a:ext uri="{FF2B5EF4-FFF2-40B4-BE49-F238E27FC236}">
                  <a16:creationId xmlns:a16="http://schemas.microsoft.com/office/drawing/2014/main" id="{7F433925-7699-B34E-88C0-C818C4963B38}"/>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359" name="Group 1064">
            <a:extLst>
              <a:ext uri="{FF2B5EF4-FFF2-40B4-BE49-F238E27FC236}">
                <a16:creationId xmlns:a16="http://schemas.microsoft.com/office/drawing/2014/main" id="{CF2DB679-9CD3-5148-94F7-225CE8489122}"/>
              </a:ext>
            </a:extLst>
          </p:cNvPr>
          <p:cNvGrpSpPr>
            <a:grpSpLocks/>
          </p:cNvGrpSpPr>
          <p:nvPr/>
        </p:nvGrpSpPr>
        <p:grpSpPr bwMode="auto">
          <a:xfrm>
            <a:off x="6901261" y="5246857"/>
            <a:ext cx="232640" cy="230856"/>
            <a:chOff x="877" y="1008"/>
            <a:chExt cx="2747" cy="2591"/>
          </a:xfrm>
        </p:grpSpPr>
        <p:pic>
          <p:nvPicPr>
            <p:cNvPr id="360" name="Picture 1065" descr="antenna_stylized">
              <a:extLst>
                <a:ext uri="{FF2B5EF4-FFF2-40B4-BE49-F238E27FC236}">
                  <a16:creationId xmlns:a16="http://schemas.microsoft.com/office/drawing/2014/main" id="{9C0613C0-FBB7-284C-AA40-5548C7D21D6A}"/>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id="{4AC7E45E-9572-044A-9C56-FC7ECFA5552F}"/>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pic>
          <p:nvPicPr>
            <p:cNvPr id="363" name="Picture 1068" descr="screen">
              <a:extLst>
                <a:ext uri="{FF2B5EF4-FFF2-40B4-BE49-F238E27FC236}">
                  <a16:creationId xmlns:a16="http://schemas.microsoft.com/office/drawing/2014/main" id="{F1045CBD-A537-1447-9CC0-AA3BBA3EFD19}"/>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65" name="Freeform 1070">
              <a:extLst>
                <a:ext uri="{FF2B5EF4-FFF2-40B4-BE49-F238E27FC236}">
                  <a16:creationId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66" name="Freeform 1071">
              <a:extLst>
                <a:ext uri="{FF2B5EF4-FFF2-40B4-BE49-F238E27FC236}">
                  <a16:creationId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67" name="Freeform 1072">
              <a:extLst>
                <a:ext uri="{FF2B5EF4-FFF2-40B4-BE49-F238E27FC236}">
                  <a16:creationId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68" name="Freeform 1073">
              <a:extLst>
                <a:ext uri="{FF2B5EF4-FFF2-40B4-BE49-F238E27FC236}">
                  <a16:creationId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69" name="Freeform 1074">
              <a:extLst>
                <a:ext uri="{FF2B5EF4-FFF2-40B4-BE49-F238E27FC236}">
                  <a16:creationId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370" name="Group 1075">
              <a:extLst>
                <a:ext uri="{FF2B5EF4-FFF2-40B4-BE49-F238E27FC236}">
                  <a16:creationId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8" name="Freeform 1077">
                <a:extLst>
                  <a:ext uri="{FF2B5EF4-FFF2-40B4-BE49-F238E27FC236}">
                    <a16:creationId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9" name="Freeform 1078">
                <a:extLst>
                  <a:ext uri="{FF2B5EF4-FFF2-40B4-BE49-F238E27FC236}">
                    <a16:creationId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80" name="Freeform 1079">
                <a:extLst>
                  <a:ext uri="{FF2B5EF4-FFF2-40B4-BE49-F238E27FC236}">
                    <a16:creationId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81" name="Freeform 1080">
                <a:extLst>
                  <a:ext uri="{FF2B5EF4-FFF2-40B4-BE49-F238E27FC236}">
                    <a16:creationId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82" name="Freeform 1081">
                <a:extLst>
                  <a:ext uri="{FF2B5EF4-FFF2-40B4-BE49-F238E27FC236}">
                    <a16:creationId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371" name="Freeform 1082">
              <a:extLst>
                <a:ext uri="{FF2B5EF4-FFF2-40B4-BE49-F238E27FC236}">
                  <a16:creationId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2" name="Freeform 1083">
              <a:extLst>
                <a:ext uri="{FF2B5EF4-FFF2-40B4-BE49-F238E27FC236}">
                  <a16:creationId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3" name="Freeform 1084">
              <a:extLst>
                <a:ext uri="{FF2B5EF4-FFF2-40B4-BE49-F238E27FC236}">
                  <a16:creationId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4" name="Freeform 1085">
              <a:extLst>
                <a:ext uri="{FF2B5EF4-FFF2-40B4-BE49-F238E27FC236}">
                  <a16:creationId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5" name="Freeform 1086">
              <a:extLst>
                <a:ext uri="{FF2B5EF4-FFF2-40B4-BE49-F238E27FC236}">
                  <a16:creationId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76" name="Freeform 1087">
              <a:extLst>
                <a:ext uri="{FF2B5EF4-FFF2-40B4-BE49-F238E27FC236}">
                  <a16:creationId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383" name="Group 590">
            <a:extLst>
              <a:ext uri="{FF2B5EF4-FFF2-40B4-BE49-F238E27FC236}">
                <a16:creationId xmlns:a16="http://schemas.microsoft.com/office/drawing/2014/main" id="{0E70B6A3-FE5E-A44E-9290-B5AD07E8CD4C}"/>
              </a:ext>
            </a:extLst>
          </p:cNvPr>
          <p:cNvGrpSpPr>
            <a:grpSpLocks/>
          </p:cNvGrpSpPr>
          <p:nvPr/>
        </p:nvGrpSpPr>
        <p:grpSpPr bwMode="auto">
          <a:xfrm flipH="1">
            <a:off x="6115432" y="4985743"/>
            <a:ext cx="259223" cy="240227"/>
            <a:chOff x="2839" y="3501"/>
            <a:chExt cx="755" cy="803"/>
          </a:xfrm>
        </p:grpSpPr>
        <p:pic>
          <p:nvPicPr>
            <p:cNvPr id="384" name="Picture 591" descr="desktop_computer_stylized_medium">
              <a:extLst>
                <a:ext uri="{FF2B5EF4-FFF2-40B4-BE49-F238E27FC236}">
                  <a16:creationId xmlns:a16="http://schemas.microsoft.com/office/drawing/2014/main" id="{F2BC7D5E-BF7D-1249-AFC8-B8B0E8165A3E}"/>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386" name="Group 590">
            <a:extLst>
              <a:ext uri="{FF2B5EF4-FFF2-40B4-BE49-F238E27FC236}">
                <a16:creationId xmlns:a16="http://schemas.microsoft.com/office/drawing/2014/main" id="{F4D03415-B38F-5B44-9B13-ABF6FE4BB199}"/>
              </a:ext>
            </a:extLst>
          </p:cNvPr>
          <p:cNvGrpSpPr>
            <a:grpSpLocks/>
          </p:cNvGrpSpPr>
          <p:nvPr/>
        </p:nvGrpSpPr>
        <p:grpSpPr bwMode="auto">
          <a:xfrm flipH="1">
            <a:off x="6414100" y="5001847"/>
            <a:ext cx="259223" cy="240227"/>
            <a:chOff x="2839" y="3501"/>
            <a:chExt cx="755" cy="803"/>
          </a:xfrm>
        </p:grpSpPr>
        <p:pic>
          <p:nvPicPr>
            <p:cNvPr id="387" name="Picture 591" descr="desktop_computer_stylized_medium">
              <a:extLst>
                <a:ext uri="{FF2B5EF4-FFF2-40B4-BE49-F238E27FC236}">
                  <a16:creationId xmlns:a16="http://schemas.microsoft.com/office/drawing/2014/main" id="{32EA6117-AAC5-C94D-B49B-C43DF16E6002}"/>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grpSp>
        <p:nvGrpSpPr>
          <p:cNvPr id="389" name="Group 1064">
            <a:extLst>
              <a:ext uri="{FF2B5EF4-FFF2-40B4-BE49-F238E27FC236}">
                <a16:creationId xmlns:a16="http://schemas.microsoft.com/office/drawing/2014/main" id="{8D491387-EBC3-2D40-9285-1F06C1D72E08}"/>
              </a:ext>
            </a:extLst>
          </p:cNvPr>
          <p:cNvGrpSpPr>
            <a:grpSpLocks/>
          </p:cNvGrpSpPr>
          <p:nvPr/>
        </p:nvGrpSpPr>
        <p:grpSpPr bwMode="auto">
          <a:xfrm>
            <a:off x="7151060" y="5203604"/>
            <a:ext cx="239448" cy="190034"/>
            <a:chOff x="877" y="1008"/>
            <a:chExt cx="2747" cy="2591"/>
          </a:xfrm>
        </p:grpSpPr>
        <p:pic>
          <p:nvPicPr>
            <p:cNvPr id="390" name="Picture 1065" descr="antenna_stylized">
              <a:extLst>
                <a:ext uri="{FF2B5EF4-FFF2-40B4-BE49-F238E27FC236}">
                  <a16:creationId xmlns:a16="http://schemas.microsoft.com/office/drawing/2014/main" id="{E1605A46-E7E7-DA4D-A7B1-3F2BF5D0E037}"/>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id="{E538A48B-7DCF-524B-8A59-631429692CBD}"/>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pic>
          <p:nvPicPr>
            <p:cNvPr id="393" name="Picture 1068" descr="screen">
              <a:extLst>
                <a:ext uri="{FF2B5EF4-FFF2-40B4-BE49-F238E27FC236}">
                  <a16:creationId xmlns:a16="http://schemas.microsoft.com/office/drawing/2014/main" id="{05FB75E6-02C0-C749-B8C1-6EE94751EFE8}"/>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95" name="Freeform 1070">
              <a:extLst>
                <a:ext uri="{FF2B5EF4-FFF2-40B4-BE49-F238E27FC236}">
                  <a16:creationId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96" name="Freeform 1071">
              <a:extLst>
                <a:ext uri="{FF2B5EF4-FFF2-40B4-BE49-F238E27FC236}">
                  <a16:creationId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97" name="Freeform 1072">
              <a:extLst>
                <a:ext uri="{FF2B5EF4-FFF2-40B4-BE49-F238E27FC236}">
                  <a16:creationId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98" name="Freeform 1073">
              <a:extLst>
                <a:ext uri="{FF2B5EF4-FFF2-40B4-BE49-F238E27FC236}">
                  <a16:creationId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99" name="Freeform 1074">
              <a:extLst>
                <a:ext uri="{FF2B5EF4-FFF2-40B4-BE49-F238E27FC236}">
                  <a16:creationId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400" name="Group 1075">
              <a:extLst>
                <a:ext uri="{FF2B5EF4-FFF2-40B4-BE49-F238E27FC236}">
                  <a16:creationId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8" name="Freeform 1077">
                <a:extLst>
                  <a:ext uri="{FF2B5EF4-FFF2-40B4-BE49-F238E27FC236}">
                    <a16:creationId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9" name="Freeform 1078">
                <a:extLst>
                  <a:ext uri="{FF2B5EF4-FFF2-40B4-BE49-F238E27FC236}">
                    <a16:creationId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0" name="Freeform 1079">
                <a:extLst>
                  <a:ext uri="{FF2B5EF4-FFF2-40B4-BE49-F238E27FC236}">
                    <a16:creationId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1" name="Freeform 1080">
                <a:extLst>
                  <a:ext uri="{FF2B5EF4-FFF2-40B4-BE49-F238E27FC236}">
                    <a16:creationId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2" name="Freeform 1081">
                <a:extLst>
                  <a:ext uri="{FF2B5EF4-FFF2-40B4-BE49-F238E27FC236}">
                    <a16:creationId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401" name="Freeform 1082">
              <a:extLst>
                <a:ext uri="{FF2B5EF4-FFF2-40B4-BE49-F238E27FC236}">
                  <a16:creationId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2" name="Freeform 1083">
              <a:extLst>
                <a:ext uri="{FF2B5EF4-FFF2-40B4-BE49-F238E27FC236}">
                  <a16:creationId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3" name="Freeform 1084">
              <a:extLst>
                <a:ext uri="{FF2B5EF4-FFF2-40B4-BE49-F238E27FC236}">
                  <a16:creationId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4" name="Freeform 1085">
              <a:extLst>
                <a:ext uri="{FF2B5EF4-FFF2-40B4-BE49-F238E27FC236}">
                  <a16:creationId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5" name="Freeform 1086">
              <a:extLst>
                <a:ext uri="{FF2B5EF4-FFF2-40B4-BE49-F238E27FC236}">
                  <a16:creationId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06" name="Freeform 1087">
              <a:extLst>
                <a:ext uri="{FF2B5EF4-FFF2-40B4-BE49-F238E27FC236}">
                  <a16:creationId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413" name="Freeform 984">
            <a:extLst>
              <a:ext uri="{FF2B5EF4-FFF2-40B4-BE49-F238E27FC236}">
                <a16:creationId xmlns:a16="http://schemas.microsoft.com/office/drawing/2014/main" id="{EF28E360-D52F-294F-97A4-5B43A7D60CE3}"/>
              </a:ext>
            </a:extLst>
          </p:cNvPr>
          <p:cNvSpPr>
            <a:spLocks/>
          </p:cNvSpPr>
          <p:nvPr/>
        </p:nvSpPr>
        <p:spPr bwMode="auto">
          <a:xfrm>
            <a:off x="7615195" y="5084978"/>
            <a:ext cx="25537" cy="249693"/>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4" name="Freeform 986">
            <a:extLst>
              <a:ext uri="{FF2B5EF4-FFF2-40B4-BE49-F238E27FC236}">
                <a16:creationId xmlns:a16="http://schemas.microsoft.com/office/drawing/2014/main" id="{9D5E80B1-F637-9E4D-BFD5-5F5ADB827A42}"/>
              </a:ext>
            </a:extLst>
          </p:cNvPr>
          <p:cNvSpPr>
            <a:spLocks/>
          </p:cNvSpPr>
          <p:nvPr/>
        </p:nvSpPr>
        <p:spPr bwMode="auto">
          <a:xfrm>
            <a:off x="7619978" y="5099942"/>
            <a:ext cx="15250" cy="2310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5" name="Freeform 987">
            <a:extLst>
              <a:ext uri="{FF2B5EF4-FFF2-40B4-BE49-F238E27FC236}">
                <a16:creationId xmlns:a16="http://schemas.microsoft.com/office/drawing/2014/main" id="{F21D56DB-F5E9-8D44-92D9-C4770361B950}"/>
              </a:ext>
            </a:extLst>
          </p:cNvPr>
          <p:cNvSpPr>
            <a:spLocks/>
          </p:cNvSpPr>
          <p:nvPr/>
        </p:nvSpPr>
        <p:spPr bwMode="auto">
          <a:xfrm>
            <a:off x="7616639" y="5216815"/>
            <a:ext cx="23732" cy="20644"/>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16" name="Rectangle 988">
            <a:extLst>
              <a:ext uri="{FF2B5EF4-FFF2-40B4-BE49-F238E27FC236}">
                <a16:creationId xmlns:a16="http://schemas.microsoft.com/office/drawing/2014/main" id="{0447DE90-707A-1F42-8981-9A87D22C1D1D}"/>
              </a:ext>
            </a:extLst>
          </p:cNvPr>
          <p:cNvSpPr>
            <a:spLocks noChangeArrowheads="1"/>
          </p:cNvSpPr>
          <p:nvPr/>
        </p:nvSpPr>
        <p:spPr bwMode="auto">
          <a:xfrm>
            <a:off x="7519725" y="5113050"/>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17" name="Group 989">
            <a:extLst>
              <a:ext uri="{FF2B5EF4-FFF2-40B4-BE49-F238E27FC236}">
                <a16:creationId xmlns:a16="http://schemas.microsoft.com/office/drawing/2014/main" id="{A6C8AE16-7445-9845-8F83-A3F851D4F042}"/>
              </a:ext>
            </a:extLst>
          </p:cNvPr>
          <p:cNvGrpSpPr>
            <a:grpSpLocks/>
          </p:cNvGrpSpPr>
          <p:nvPr/>
        </p:nvGrpSpPr>
        <p:grpSpPr bwMode="auto">
          <a:xfrm>
            <a:off x="7568362" y="5110647"/>
            <a:ext cx="52427" cy="15838"/>
            <a:chOff x="614" y="2568"/>
            <a:chExt cx="725" cy="139"/>
          </a:xfrm>
        </p:grpSpPr>
        <p:sp>
          <p:nvSpPr>
            <p:cNvPr id="418" name="AutoShape 990">
              <a:extLst>
                <a:ext uri="{FF2B5EF4-FFF2-40B4-BE49-F238E27FC236}">
                  <a16:creationId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19" name="AutoShape 991">
              <a:extLst>
                <a:ext uri="{FF2B5EF4-FFF2-40B4-BE49-F238E27FC236}">
                  <a16:creationId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20" name="Rectangle 992">
            <a:extLst>
              <a:ext uri="{FF2B5EF4-FFF2-40B4-BE49-F238E27FC236}">
                <a16:creationId xmlns:a16="http://schemas.microsoft.com/office/drawing/2014/main" id="{E881C066-69A3-D649-893B-A3C4CB9FAE81}"/>
              </a:ext>
            </a:extLst>
          </p:cNvPr>
          <p:cNvSpPr>
            <a:spLocks noChangeArrowheads="1"/>
          </p:cNvSpPr>
          <p:nvPr/>
        </p:nvSpPr>
        <p:spPr bwMode="auto">
          <a:xfrm>
            <a:off x="7520627" y="5149313"/>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21" name="Group 993">
            <a:extLst>
              <a:ext uri="{FF2B5EF4-FFF2-40B4-BE49-F238E27FC236}">
                <a16:creationId xmlns:a16="http://schemas.microsoft.com/office/drawing/2014/main" id="{2B8081F4-DBFC-C442-BDEE-DF67BF3817BC}"/>
              </a:ext>
            </a:extLst>
          </p:cNvPr>
          <p:cNvGrpSpPr>
            <a:grpSpLocks/>
          </p:cNvGrpSpPr>
          <p:nvPr/>
        </p:nvGrpSpPr>
        <p:grpSpPr bwMode="auto">
          <a:xfrm>
            <a:off x="7568182" y="5146255"/>
            <a:ext cx="52427" cy="14636"/>
            <a:chOff x="614" y="2568"/>
            <a:chExt cx="725" cy="139"/>
          </a:xfrm>
        </p:grpSpPr>
        <p:sp>
          <p:nvSpPr>
            <p:cNvPr id="422" name="AutoShape 994">
              <a:extLst>
                <a:ext uri="{FF2B5EF4-FFF2-40B4-BE49-F238E27FC236}">
                  <a16:creationId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23" name="AutoShape 995">
              <a:extLst>
                <a:ext uri="{FF2B5EF4-FFF2-40B4-BE49-F238E27FC236}">
                  <a16:creationId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24" name="Rectangle 996">
            <a:extLst>
              <a:ext uri="{FF2B5EF4-FFF2-40B4-BE49-F238E27FC236}">
                <a16:creationId xmlns:a16="http://schemas.microsoft.com/office/drawing/2014/main" id="{2F7E8752-11E5-3642-90E6-5285D40EA469}"/>
              </a:ext>
            </a:extLst>
          </p:cNvPr>
          <p:cNvSpPr>
            <a:spLocks noChangeArrowheads="1"/>
          </p:cNvSpPr>
          <p:nvPr/>
        </p:nvSpPr>
        <p:spPr bwMode="auto">
          <a:xfrm>
            <a:off x="7520627" y="5185576"/>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25" name="Rectangle 997">
            <a:extLst>
              <a:ext uri="{FF2B5EF4-FFF2-40B4-BE49-F238E27FC236}">
                <a16:creationId xmlns:a16="http://schemas.microsoft.com/office/drawing/2014/main" id="{C884D5C3-FF18-F04A-B4E2-7E02117C03FE}"/>
              </a:ext>
            </a:extLst>
          </p:cNvPr>
          <p:cNvSpPr>
            <a:spLocks noChangeArrowheads="1"/>
          </p:cNvSpPr>
          <p:nvPr/>
        </p:nvSpPr>
        <p:spPr bwMode="auto">
          <a:xfrm>
            <a:off x="7521529" y="5218454"/>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26" name="Group 998">
            <a:extLst>
              <a:ext uri="{FF2B5EF4-FFF2-40B4-BE49-F238E27FC236}">
                <a16:creationId xmlns:a16="http://schemas.microsoft.com/office/drawing/2014/main" id="{D321F228-396F-C44B-AA64-15D0F1B6CEFB}"/>
              </a:ext>
            </a:extLst>
          </p:cNvPr>
          <p:cNvGrpSpPr>
            <a:grpSpLocks/>
          </p:cNvGrpSpPr>
          <p:nvPr/>
        </p:nvGrpSpPr>
        <p:grpSpPr bwMode="auto">
          <a:xfrm>
            <a:off x="7567099" y="5215396"/>
            <a:ext cx="52518" cy="16493"/>
            <a:chOff x="614" y="2568"/>
            <a:chExt cx="725" cy="139"/>
          </a:xfrm>
        </p:grpSpPr>
        <p:sp>
          <p:nvSpPr>
            <p:cNvPr id="427" name="AutoShape 999">
              <a:extLst>
                <a:ext uri="{FF2B5EF4-FFF2-40B4-BE49-F238E27FC236}">
                  <a16:creationId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28" name="AutoShape 1000">
              <a:extLst>
                <a:ext uri="{FF2B5EF4-FFF2-40B4-BE49-F238E27FC236}">
                  <a16:creationId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29" name="Freeform 1001">
            <a:extLst>
              <a:ext uri="{FF2B5EF4-FFF2-40B4-BE49-F238E27FC236}">
                <a16:creationId xmlns:a16="http://schemas.microsoft.com/office/drawing/2014/main" id="{A40EEA2E-A801-414B-8FBC-BBC009ECE19B}"/>
              </a:ext>
            </a:extLst>
          </p:cNvPr>
          <p:cNvSpPr>
            <a:spLocks/>
          </p:cNvSpPr>
          <p:nvPr/>
        </p:nvSpPr>
        <p:spPr bwMode="auto">
          <a:xfrm>
            <a:off x="7617001" y="5185576"/>
            <a:ext cx="23732" cy="20535"/>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430" name="Group 1002">
            <a:extLst>
              <a:ext uri="{FF2B5EF4-FFF2-40B4-BE49-F238E27FC236}">
                <a16:creationId xmlns:a16="http://schemas.microsoft.com/office/drawing/2014/main" id="{F068EC4B-78B0-B24C-99A7-F96D6C86A2B9}"/>
              </a:ext>
            </a:extLst>
          </p:cNvPr>
          <p:cNvGrpSpPr>
            <a:grpSpLocks/>
          </p:cNvGrpSpPr>
          <p:nvPr/>
        </p:nvGrpSpPr>
        <p:grpSpPr bwMode="auto">
          <a:xfrm>
            <a:off x="7567460" y="5182627"/>
            <a:ext cx="52518" cy="15182"/>
            <a:chOff x="614" y="2568"/>
            <a:chExt cx="725" cy="139"/>
          </a:xfrm>
        </p:grpSpPr>
        <p:sp>
          <p:nvSpPr>
            <p:cNvPr id="431" name="AutoShape 1003">
              <a:extLst>
                <a:ext uri="{FF2B5EF4-FFF2-40B4-BE49-F238E27FC236}">
                  <a16:creationId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32" name="AutoShape 1004">
              <a:extLst>
                <a:ext uri="{FF2B5EF4-FFF2-40B4-BE49-F238E27FC236}">
                  <a16:creationId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33" name="Rectangle 1005">
            <a:extLst>
              <a:ext uri="{FF2B5EF4-FFF2-40B4-BE49-F238E27FC236}">
                <a16:creationId xmlns:a16="http://schemas.microsoft.com/office/drawing/2014/main" id="{10238275-C02A-F74A-A765-B593C055F724}"/>
              </a:ext>
            </a:extLst>
          </p:cNvPr>
          <p:cNvSpPr>
            <a:spLocks noChangeArrowheads="1"/>
          </p:cNvSpPr>
          <p:nvPr/>
        </p:nvSpPr>
        <p:spPr bwMode="auto">
          <a:xfrm>
            <a:off x="7613209" y="5084541"/>
            <a:ext cx="6317" cy="249584"/>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34" name="Freeform 1006">
            <a:extLst>
              <a:ext uri="{FF2B5EF4-FFF2-40B4-BE49-F238E27FC236}">
                <a16:creationId xmlns:a16="http://schemas.microsoft.com/office/drawing/2014/main" id="{81D6D301-6C77-C64B-B2D0-382D840AA7FC}"/>
              </a:ext>
            </a:extLst>
          </p:cNvPr>
          <p:cNvSpPr>
            <a:spLocks/>
          </p:cNvSpPr>
          <p:nvPr/>
        </p:nvSpPr>
        <p:spPr bwMode="auto">
          <a:xfrm>
            <a:off x="7619166" y="5147675"/>
            <a:ext cx="21386" cy="23265"/>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35" name="Freeform 1007">
            <a:extLst>
              <a:ext uri="{FF2B5EF4-FFF2-40B4-BE49-F238E27FC236}">
                <a16:creationId xmlns:a16="http://schemas.microsoft.com/office/drawing/2014/main" id="{6966CA35-6F7B-6C4F-AEE3-078FED56DF20}"/>
              </a:ext>
            </a:extLst>
          </p:cNvPr>
          <p:cNvSpPr>
            <a:spLocks/>
          </p:cNvSpPr>
          <p:nvPr/>
        </p:nvSpPr>
        <p:spPr bwMode="auto">
          <a:xfrm>
            <a:off x="7619436" y="5111958"/>
            <a:ext cx="22018" cy="26215"/>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36" name="Oval 1008">
            <a:extLst>
              <a:ext uri="{FF2B5EF4-FFF2-40B4-BE49-F238E27FC236}">
                <a16:creationId xmlns:a16="http://schemas.microsoft.com/office/drawing/2014/main" id="{2CFA9381-C4F6-8A4A-BCBB-312388656716}"/>
              </a:ext>
            </a:extLst>
          </p:cNvPr>
          <p:cNvSpPr>
            <a:spLocks noChangeArrowheads="1"/>
          </p:cNvSpPr>
          <p:nvPr/>
        </p:nvSpPr>
        <p:spPr bwMode="auto">
          <a:xfrm>
            <a:off x="7637483" y="5322875"/>
            <a:ext cx="4512" cy="1037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37" name="Freeform 1009">
            <a:extLst>
              <a:ext uri="{FF2B5EF4-FFF2-40B4-BE49-F238E27FC236}">
                <a16:creationId xmlns:a16="http://schemas.microsoft.com/office/drawing/2014/main" id="{B30AEBEB-78E1-754E-BA64-FEE706BFF392}"/>
              </a:ext>
            </a:extLst>
          </p:cNvPr>
          <p:cNvSpPr>
            <a:spLocks/>
          </p:cNvSpPr>
          <p:nvPr/>
        </p:nvSpPr>
        <p:spPr bwMode="auto">
          <a:xfrm>
            <a:off x="7618263" y="5323203"/>
            <a:ext cx="22108" cy="21845"/>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38" name="AutoShape 1010">
            <a:extLst>
              <a:ext uri="{FF2B5EF4-FFF2-40B4-BE49-F238E27FC236}">
                <a16:creationId xmlns:a16="http://schemas.microsoft.com/office/drawing/2014/main" id="{F2779901-7D8F-784A-8E8D-397036700A71}"/>
              </a:ext>
            </a:extLst>
          </p:cNvPr>
          <p:cNvSpPr>
            <a:spLocks noChangeArrowheads="1"/>
          </p:cNvSpPr>
          <p:nvPr/>
        </p:nvSpPr>
        <p:spPr bwMode="auto">
          <a:xfrm>
            <a:off x="7513408" y="5329866"/>
            <a:ext cx="107924" cy="16384"/>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39" name="AutoShape 1011">
            <a:extLst>
              <a:ext uri="{FF2B5EF4-FFF2-40B4-BE49-F238E27FC236}">
                <a16:creationId xmlns:a16="http://schemas.microsoft.com/office/drawing/2014/main" id="{87A8BD55-4166-4643-A7DA-52B9D36F3801}"/>
              </a:ext>
            </a:extLst>
          </p:cNvPr>
          <p:cNvSpPr>
            <a:spLocks noChangeArrowheads="1"/>
          </p:cNvSpPr>
          <p:nvPr/>
        </p:nvSpPr>
        <p:spPr bwMode="auto">
          <a:xfrm>
            <a:off x="7519725" y="5334125"/>
            <a:ext cx="96193" cy="862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40" name="Oval 1012">
            <a:extLst>
              <a:ext uri="{FF2B5EF4-FFF2-40B4-BE49-F238E27FC236}">
                <a16:creationId xmlns:a16="http://schemas.microsoft.com/office/drawing/2014/main" id="{0F991E83-25F4-2549-B34F-7A98472010D7}"/>
              </a:ext>
            </a:extLst>
          </p:cNvPr>
          <p:cNvSpPr>
            <a:spLocks noChangeArrowheads="1"/>
          </p:cNvSpPr>
          <p:nvPr/>
        </p:nvSpPr>
        <p:spPr bwMode="auto">
          <a:xfrm>
            <a:off x="7528657" y="5297861"/>
            <a:ext cx="14348" cy="1551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41" name="Oval 1013">
            <a:extLst>
              <a:ext uri="{FF2B5EF4-FFF2-40B4-BE49-F238E27FC236}">
                <a16:creationId xmlns:a16="http://schemas.microsoft.com/office/drawing/2014/main" id="{01F6513A-F015-D94A-929C-75D48673F75A}"/>
              </a:ext>
            </a:extLst>
          </p:cNvPr>
          <p:cNvSpPr>
            <a:spLocks noChangeArrowheads="1"/>
          </p:cNvSpPr>
          <p:nvPr/>
        </p:nvSpPr>
        <p:spPr bwMode="auto">
          <a:xfrm>
            <a:off x="7544900" y="5297861"/>
            <a:ext cx="14348" cy="1551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fontAlgn="auto" hangingPunct="1">
              <a:lnSpc>
                <a:spcPct val="100000"/>
              </a:lnSpc>
              <a:spcBef>
                <a:spcPct val="0"/>
              </a:spcBef>
              <a:spcAft>
                <a:spcPts val="0"/>
              </a:spcAft>
              <a:buClrTx/>
              <a:buSzTx/>
              <a:buNone/>
              <a:defRPr/>
            </a:pPr>
            <a:endParaRPr lang="en-US" altLang="en-US" sz="1350">
              <a:solidFill>
                <a:srgbClr val="FF0000"/>
              </a:solidFill>
              <a:latin typeface="Arial" panose="020B0604020202020204" pitchFamily="34" charset="0"/>
            </a:endParaRPr>
          </a:p>
        </p:txBody>
      </p:sp>
      <p:sp>
        <p:nvSpPr>
          <p:cNvPr id="442" name="Oval 1014">
            <a:extLst>
              <a:ext uri="{FF2B5EF4-FFF2-40B4-BE49-F238E27FC236}">
                <a16:creationId xmlns:a16="http://schemas.microsoft.com/office/drawing/2014/main" id="{DF2F1710-E7DF-7E48-A534-44E42CD00502}"/>
              </a:ext>
            </a:extLst>
          </p:cNvPr>
          <p:cNvSpPr>
            <a:spLocks noChangeArrowheads="1"/>
          </p:cNvSpPr>
          <p:nvPr/>
        </p:nvSpPr>
        <p:spPr bwMode="auto">
          <a:xfrm>
            <a:off x="7560151" y="5297861"/>
            <a:ext cx="14348" cy="1551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43" name="Rectangle 1015">
            <a:extLst>
              <a:ext uri="{FF2B5EF4-FFF2-40B4-BE49-F238E27FC236}">
                <a16:creationId xmlns:a16="http://schemas.microsoft.com/office/drawing/2014/main" id="{328DCBC9-32E9-FD44-B2CF-3BC801D59B6C}"/>
              </a:ext>
            </a:extLst>
          </p:cNvPr>
          <p:cNvSpPr>
            <a:spLocks noChangeArrowheads="1"/>
          </p:cNvSpPr>
          <p:nvPr/>
        </p:nvSpPr>
        <p:spPr bwMode="auto">
          <a:xfrm>
            <a:off x="7597058" y="5238333"/>
            <a:ext cx="7219" cy="82904"/>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47" name="Group 590">
            <a:extLst>
              <a:ext uri="{FF2B5EF4-FFF2-40B4-BE49-F238E27FC236}">
                <a16:creationId xmlns:a16="http://schemas.microsoft.com/office/drawing/2014/main" id="{CCAB7625-FEE3-BB4A-97C1-EF1CC2679904}"/>
              </a:ext>
            </a:extLst>
          </p:cNvPr>
          <p:cNvGrpSpPr>
            <a:grpSpLocks/>
          </p:cNvGrpSpPr>
          <p:nvPr/>
        </p:nvGrpSpPr>
        <p:grpSpPr bwMode="auto">
          <a:xfrm flipH="1">
            <a:off x="5830486" y="4818045"/>
            <a:ext cx="259223" cy="240227"/>
            <a:chOff x="2839" y="3501"/>
            <a:chExt cx="755" cy="803"/>
          </a:xfrm>
        </p:grpSpPr>
        <p:pic>
          <p:nvPicPr>
            <p:cNvPr id="451" name="Picture 591" descr="desktop_computer_stylized_medium">
              <a:extLst>
                <a:ext uri="{FF2B5EF4-FFF2-40B4-BE49-F238E27FC236}">
                  <a16:creationId xmlns:a16="http://schemas.microsoft.com/office/drawing/2014/main" id="{FC71EB74-5BE7-7A48-B637-5058D8494691}"/>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444" name="Rectangle 443">
            <a:extLst>
              <a:ext uri="{FF2B5EF4-FFF2-40B4-BE49-F238E27FC236}">
                <a16:creationId xmlns:a16="http://schemas.microsoft.com/office/drawing/2014/main" id="{C47118FD-7A98-6943-B3A3-B578E5FB9F06}"/>
              </a:ext>
            </a:extLst>
          </p:cNvPr>
          <p:cNvSpPr/>
          <p:nvPr/>
        </p:nvSpPr>
        <p:spPr>
          <a:xfrm>
            <a:off x="4904937" y="1881686"/>
            <a:ext cx="4019550" cy="3715971"/>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nvGrpSpPr>
          <p:cNvPr id="446" name="Group 652">
            <a:extLst>
              <a:ext uri="{FF2B5EF4-FFF2-40B4-BE49-F238E27FC236}">
                <a16:creationId xmlns:a16="http://schemas.microsoft.com/office/drawing/2014/main" id="{84B474B2-2AC4-EC40-9EA0-B5E48CE68CBD}"/>
              </a:ext>
            </a:extLst>
          </p:cNvPr>
          <p:cNvGrpSpPr>
            <a:grpSpLocks/>
          </p:cNvGrpSpPr>
          <p:nvPr/>
        </p:nvGrpSpPr>
        <p:grpSpPr bwMode="auto">
          <a:xfrm>
            <a:off x="5812668" y="2252044"/>
            <a:ext cx="311944" cy="289322"/>
            <a:chOff x="2751" y="1851"/>
            <a:chExt cx="462" cy="478"/>
          </a:xfrm>
        </p:grpSpPr>
        <p:pic>
          <p:nvPicPr>
            <p:cNvPr id="453" name="Picture 653" descr="iphone_stylized_small">
              <a:extLst>
                <a:ext uri="{FF2B5EF4-FFF2-40B4-BE49-F238E27FC236}">
                  <a16:creationId xmlns:a16="http://schemas.microsoft.com/office/drawing/2014/main" id="{34A94CEC-DE5F-E64D-A5B4-F04DB32319EA}"/>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id="{67C4AABE-F80E-F846-A0E8-D555DE64EBB1}"/>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9" name="Oval 448">
            <a:extLst>
              <a:ext uri="{FF2B5EF4-FFF2-40B4-BE49-F238E27FC236}">
                <a16:creationId xmlns:a16="http://schemas.microsoft.com/office/drawing/2014/main" id="{D57ABF6C-635D-8547-9D46-7AFB160876AA}"/>
              </a:ext>
            </a:extLst>
          </p:cNvPr>
          <p:cNvSpPr/>
          <p:nvPr/>
        </p:nvSpPr>
        <p:spPr>
          <a:xfrm>
            <a:off x="5760244" y="2217879"/>
            <a:ext cx="459227" cy="382552"/>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450" name="Oval 449">
            <a:extLst>
              <a:ext uri="{FF2B5EF4-FFF2-40B4-BE49-F238E27FC236}">
                <a16:creationId xmlns:a16="http://schemas.microsoft.com/office/drawing/2014/main" id="{2895CDC0-6EA0-564A-AFB6-E1E735A44F41}"/>
              </a:ext>
            </a:extLst>
          </p:cNvPr>
          <p:cNvSpPr/>
          <p:nvPr/>
        </p:nvSpPr>
        <p:spPr>
          <a:xfrm>
            <a:off x="7367588" y="5023329"/>
            <a:ext cx="459227" cy="382552"/>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463" name="Freeform 917">
            <a:extLst>
              <a:ext uri="{FF2B5EF4-FFF2-40B4-BE49-F238E27FC236}">
                <a16:creationId xmlns:a16="http://schemas.microsoft.com/office/drawing/2014/main" id="{ADACC4C8-123A-0642-ADC2-DC6E1D927429}"/>
              </a:ext>
            </a:extLst>
          </p:cNvPr>
          <p:cNvSpPr>
            <a:spLocks/>
          </p:cNvSpPr>
          <p:nvPr/>
        </p:nvSpPr>
        <p:spPr bwMode="auto">
          <a:xfrm>
            <a:off x="6004384" y="1750286"/>
            <a:ext cx="228600" cy="707231"/>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7" name="Group 6">
            <a:extLst>
              <a:ext uri="{FF2B5EF4-FFF2-40B4-BE49-F238E27FC236}">
                <a16:creationId xmlns:a16="http://schemas.microsoft.com/office/drawing/2014/main" id="{6CFEE881-E73C-8C4D-A5ED-9848E08F428B}"/>
              </a:ext>
            </a:extLst>
          </p:cNvPr>
          <p:cNvGrpSpPr/>
          <p:nvPr/>
        </p:nvGrpSpPr>
        <p:grpSpPr>
          <a:xfrm>
            <a:off x="7716686" y="4414479"/>
            <a:ext cx="660467" cy="784830"/>
            <a:chOff x="10288915" y="4742972"/>
            <a:chExt cx="880622" cy="1046440"/>
          </a:xfrm>
        </p:grpSpPr>
        <p:grpSp>
          <p:nvGrpSpPr>
            <p:cNvPr id="323" name="Group 950">
              <a:extLst>
                <a:ext uri="{FF2B5EF4-FFF2-40B4-BE49-F238E27FC236}">
                  <a16:creationId xmlns:a16="http://schemas.microsoft.com/office/drawing/2014/main" id="{BF16D25A-05F2-BD48-8851-FCCC3771B7E8}"/>
                </a:ext>
              </a:extLst>
            </p:cNvPr>
            <p:cNvGrpSpPr>
              <a:grpSpLocks/>
            </p:cNvGrpSpPr>
            <p:nvPr/>
          </p:nvGrpSpPr>
          <p:grpSpPr bwMode="auto">
            <a:xfrm>
              <a:off x="10288915" y="5273951"/>
              <a:ext cx="177192" cy="330833"/>
              <a:chOff x="4140" y="429"/>
              <a:chExt cx="1425" cy="2396"/>
            </a:xfrm>
          </p:grpSpPr>
          <p:sp>
            <p:nvSpPr>
              <p:cNvPr id="324" name="Freeform 951">
                <a:extLst>
                  <a:ext uri="{FF2B5EF4-FFF2-40B4-BE49-F238E27FC236}">
                    <a16:creationId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25" name="Rectangle 952">
                <a:extLst>
                  <a:ext uri="{FF2B5EF4-FFF2-40B4-BE49-F238E27FC236}">
                    <a16:creationId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26" name="Freeform 953">
                <a:extLst>
                  <a:ext uri="{FF2B5EF4-FFF2-40B4-BE49-F238E27FC236}">
                    <a16:creationId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27" name="Freeform 954">
                <a:extLst>
                  <a:ext uri="{FF2B5EF4-FFF2-40B4-BE49-F238E27FC236}">
                    <a16:creationId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28" name="Rectangle 955">
                <a:extLst>
                  <a:ext uri="{FF2B5EF4-FFF2-40B4-BE49-F238E27FC236}">
                    <a16:creationId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329" name="Group 956">
                <a:extLst>
                  <a:ext uri="{FF2B5EF4-FFF2-40B4-BE49-F238E27FC236}">
                    <a16:creationId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55" name="AutoShape 958">
                  <a:extLst>
                    <a:ext uri="{FF2B5EF4-FFF2-40B4-BE49-F238E27FC236}">
                      <a16:creationId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330" name="Rectangle 959">
                <a:extLst>
                  <a:ext uri="{FF2B5EF4-FFF2-40B4-BE49-F238E27FC236}">
                    <a16:creationId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331" name="Group 960">
                <a:extLst>
                  <a:ext uri="{FF2B5EF4-FFF2-40B4-BE49-F238E27FC236}">
                    <a16:creationId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53" name="AutoShape 962">
                  <a:extLst>
                    <a:ext uri="{FF2B5EF4-FFF2-40B4-BE49-F238E27FC236}">
                      <a16:creationId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332" name="Rectangle 963">
                <a:extLst>
                  <a:ext uri="{FF2B5EF4-FFF2-40B4-BE49-F238E27FC236}">
                    <a16:creationId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33" name="Rectangle 964">
                <a:extLst>
                  <a:ext uri="{FF2B5EF4-FFF2-40B4-BE49-F238E27FC236}">
                    <a16:creationId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334" name="Group 965">
                <a:extLst>
                  <a:ext uri="{FF2B5EF4-FFF2-40B4-BE49-F238E27FC236}">
                    <a16:creationId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51" name="AutoShape 967">
                  <a:extLst>
                    <a:ext uri="{FF2B5EF4-FFF2-40B4-BE49-F238E27FC236}">
                      <a16:creationId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335" name="Freeform 968">
                <a:extLst>
                  <a:ext uri="{FF2B5EF4-FFF2-40B4-BE49-F238E27FC236}">
                    <a16:creationId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336" name="Group 969">
                <a:extLst>
                  <a:ext uri="{FF2B5EF4-FFF2-40B4-BE49-F238E27FC236}">
                    <a16:creationId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9" name="AutoShape 971">
                  <a:extLst>
                    <a:ext uri="{FF2B5EF4-FFF2-40B4-BE49-F238E27FC236}">
                      <a16:creationId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337" name="Rectangle 972">
                <a:extLst>
                  <a:ext uri="{FF2B5EF4-FFF2-40B4-BE49-F238E27FC236}">
                    <a16:creationId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38" name="Freeform 973">
                <a:extLst>
                  <a:ext uri="{FF2B5EF4-FFF2-40B4-BE49-F238E27FC236}">
                    <a16:creationId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39" name="Freeform 974">
                <a:extLst>
                  <a:ext uri="{FF2B5EF4-FFF2-40B4-BE49-F238E27FC236}">
                    <a16:creationId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40" name="Oval 975">
                <a:extLst>
                  <a:ext uri="{FF2B5EF4-FFF2-40B4-BE49-F238E27FC236}">
                    <a16:creationId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1" name="Freeform 976">
                <a:extLst>
                  <a:ext uri="{FF2B5EF4-FFF2-40B4-BE49-F238E27FC236}">
                    <a16:creationId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42" name="AutoShape 977">
                <a:extLst>
                  <a:ext uri="{FF2B5EF4-FFF2-40B4-BE49-F238E27FC236}">
                    <a16:creationId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3" name="AutoShape 978">
                <a:extLst>
                  <a:ext uri="{FF2B5EF4-FFF2-40B4-BE49-F238E27FC236}">
                    <a16:creationId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4" name="Oval 979">
                <a:extLst>
                  <a:ext uri="{FF2B5EF4-FFF2-40B4-BE49-F238E27FC236}">
                    <a16:creationId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5" name="Oval 980">
                <a:extLst>
                  <a:ext uri="{FF2B5EF4-FFF2-40B4-BE49-F238E27FC236}">
                    <a16:creationId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fontAlgn="auto" hangingPunct="1">
                  <a:lnSpc>
                    <a:spcPct val="100000"/>
                  </a:lnSpc>
                  <a:spcBef>
                    <a:spcPct val="0"/>
                  </a:spcBef>
                  <a:spcAft>
                    <a:spcPts val="0"/>
                  </a:spcAft>
                  <a:buClrTx/>
                  <a:buSzTx/>
                  <a:buNone/>
                  <a:defRPr/>
                </a:pPr>
                <a:endParaRPr lang="en-US" altLang="en-US" sz="1350">
                  <a:solidFill>
                    <a:srgbClr val="FF0000"/>
                  </a:solidFill>
                  <a:latin typeface="Arial" panose="020B0604020202020204" pitchFamily="34" charset="0"/>
                </a:endParaRPr>
              </a:p>
            </p:txBody>
          </p:sp>
          <p:sp>
            <p:nvSpPr>
              <p:cNvPr id="346" name="Oval 981">
                <a:extLst>
                  <a:ext uri="{FF2B5EF4-FFF2-40B4-BE49-F238E27FC236}">
                    <a16:creationId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347" name="Rectangle 982">
                <a:extLst>
                  <a:ext uri="{FF2B5EF4-FFF2-40B4-BE49-F238E27FC236}">
                    <a16:creationId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65" name="Rectangle 227">
              <a:extLst>
                <a:ext uri="{FF2B5EF4-FFF2-40B4-BE49-F238E27FC236}">
                  <a16:creationId xmlns:a16="http://schemas.microsoft.com/office/drawing/2014/main" id="{DDE0D48B-5AA6-5340-937B-33FE1BA44B20}"/>
                </a:ext>
              </a:extLst>
            </p:cNvPr>
            <p:cNvSpPr>
              <a:spLocks noChangeArrowheads="1"/>
            </p:cNvSpPr>
            <p:nvPr/>
          </p:nvSpPr>
          <p:spPr bwMode="auto">
            <a:xfrm>
              <a:off x="10452186" y="4753064"/>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466" name="Rectangle 228">
              <a:extLst>
                <a:ext uri="{FF2B5EF4-FFF2-40B4-BE49-F238E27FC236}">
                  <a16:creationId xmlns:a16="http://schemas.microsoft.com/office/drawing/2014/main" id="{AEBD2839-8A70-0849-9413-EA386C5B0A76}"/>
                </a:ext>
              </a:extLst>
            </p:cNvPr>
            <p:cNvSpPr>
              <a:spLocks noChangeArrowheads="1"/>
            </p:cNvSpPr>
            <p:nvPr/>
          </p:nvSpPr>
          <p:spPr bwMode="auto">
            <a:xfrm>
              <a:off x="10418848" y="4776877"/>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467" name="Rectangle 229">
              <a:extLst>
                <a:ext uri="{FF2B5EF4-FFF2-40B4-BE49-F238E27FC236}">
                  <a16:creationId xmlns:a16="http://schemas.microsoft.com/office/drawing/2014/main" id="{66D99AF7-74D7-B440-A1E0-2DC5D0A5EFA3}"/>
                </a:ext>
              </a:extLst>
            </p:cNvPr>
            <p:cNvSpPr>
              <a:spLocks noChangeArrowheads="1"/>
            </p:cNvSpPr>
            <p:nvPr/>
          </p:nvSpPr>
          <p:spPr bwMode="auto">
            <a:xfrm>
              <a:off x="10425991" y="4930726"/>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468" name="Text Box 230">
              <a:extLst>
                <a:ext uri="{FF2B5EF4-FFF2-40B4-BE49-F238E27FC236}">
                  <a16:creationId xmlns:a16="http://schemas.microsoft.com/office/drawing/2014/main" id="{0C785C80-53AC-EA4E-992A-05BE1EFF5EBC}"/>
                </a:ext>
              </a:extLst>
            </p:cNvPr>
            <p:cNvSpPr txBox="1">
              <a:spLocks noChangeArrowheads="1"/>
            </p:cNvSpPr>
            <p:nvPr/>
          </p:nvSpPr>
          <p:spPr bwMode="auto">
            <a:xfrm>
              <a:off x="10355150" y="4742972"/>
              <a:ext cx="814387"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Aft>
                  <a:spcPts val="0"/>
                </a:spcAft>
                <a:defRPr/>
              </a:pPr>
              <a:r>
                <a:rPr lang="en-US" altLang="en-US" sz="750" dirty="0">
                  <a:solidFill>
                    <a:prstClr val="black"/>
                  </a:solidFill>
                </a:rPr>
                <a:t>application</a:t>
              </a:r>
            </a:p>
            <a:p>
              <a:pPr algn="ctr" eaLnBrk="1" fontAlgn="auto" hangingPunct="1">
                <a:spcAft>
                  <a:spcPts val="0"/>
                </a:spcAft>
                <a:defRPr/>
              </a:pPr>
              <a:r>
                <a:rPr lang="en-US" altLang="en-US" sz="750" dirty="0">
                  <a:solidFill>
                    <a:prstClr val="white"/>
                  </a:solidFill>
                </a:rPr>
                <a:t>transport</a:t>
              </a:r>
            </a:p>
            <a:p>
              <a:pPr algn="ctr" eaLnBrk="1" fontAlgn="auto" hangingPunct="1">
                <a:spcAft>
                  <a:spcPts val="0"/>
                </a:spcAft>
                <a:defRPr/>
              </a:pPr>
              <a:r>
                <a:rPr lang="en-US" altLang="en-US" sz="750" dirty="0">
                  <a:solidFill>
                    <a:prstClr val="black"/>
                  </a:solidFill>
                </a:rPr>
                <a:t>network</a:t>
              </a:r>
            </a:p>
            <a:p>
              <a:pPr algn="ctr" eaLnBrk="1" fontAlgn="auto" hangingPunct="1">
                <a:spcAft>
                  <a:spcPts val="0"/>
                </a:spcAft>
                <a:defRPr/>
              </a:pPr>
              <a:r>
                <a:rPr lang="en-US" altLang="en-US" sz="750" dirty="0">
                  <a:solidFill>
                    <a:prstClr val="black"/>
                  </a:solidFill>
                </a:rPr>
                <a:t>data link</a:t>
              </a:r>
            </a:p>
            <a:p>
              <a:pPr algn="ctr" eaLnBrk="1" fontAlgn="auto" hangingPunct="1">
                <a:spcAft>
                  <a:spcPts val="0"/>
                </a:spcAft>
                <a:defRPr/>
              </a:pPr>
              <a:r>
                <a:rPr lang="en-US" altLang="en-US" sz="750" dirty="0">
                  <a:solidFill>
                    <a:prstClr val="black"/>
                  </a:solidFill>
                </a:rPr>
                <a:t>physical</a:t>
              </a:r>
              <a:endParaRPr lang="en-US" altLang="en-US" sz="1800" dirty="0">
                <a:solidFill>
                  <a:prstClr val="black"/>
                </a:solidFill>
              </a:endParaRPr>
            </a:p>
          </p:txBody>
        </p:sp>
        <p:sp>
          <p:nvSpPr>
            <p:cNvPr id="469" name="Line 231">
              <a:extLst>
                <a:ext uri="{FF2B5EF4-FFF2-40B4-BE49-F238E27FC236}">
                  <a16:creationId xmlns:a16="http://schemas.microsoft.com/office/drawing/2014/main" id="{444422FC-4C08-2E49-AD0C-394B62D1B370}"/>
                </a:ext>
              </a:extLst>
            </p:cNvPr>
            <p:cNvSpPr>
              <a:spLocks noChangeShapeType="1"/>
            </p:cNvSpPr>
            <p:nvPr/>
          </p:nvSpPr>
          <p:spPr bwMode="auto">
            <a:xfrm>
              <a:off x="10418848" y="5119777"/>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70" name="Line 232">
              <a:extLst>
                <a:ext uri="{FF2B5EF4-FFF2-40B4-BE49-F238E27FC236}">
                  <a16:creationId xmlns:a16="http://schemas.microsoft.com/office/drawing/2014/main" id="{D3DF9882-BA24-4148-9227-6803DB03F930}"/>
                </a:ext>
              </a:extLst>
            </p:cNvPr>
            <p:cNvSpPr>
              <a:spLocks noChangeShapeType="1"/>
            </p:cNvSpPr>
            <p:nvPr/>
          </p:nvSpPr>
          <p:spPr bwMode="auto">
            <a:xfrm>
              <a:off x="10428373" y="5257889"/>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71" name="Line 233">
              <a:extLst>
                <a:ext uri="{FF2B5EF4-FFF2-40B4-BE49-F238E27FC236}">
                  <a16:creationId xmlns:a16="http://schemas.microsoft.com/office/drawing/2014/main" id="{238E9799-3D8B-F54E-BFBB-FE1237FADF63}"/>
                </a:ext>
              </a:extLst>
            </p:cNvPr>
            <p:cNvSpPr>
              <a:spLocks noChangeShapeType="1"/>
            </p:cNvSpPr>
            <p:nvPr/>
          </p:nvSpPr>
          <p:spPr bwMode="auto">
            <a:xfrm>
              <a:off x="10428373" y="5396002"/>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472" name="Freeform 917">
            <a:extLst>
              <a:ext uri="{FF2B5EF4-FFF2-40B4-BE49-F238E27FC236}">
                <a16:creationId xmlns:a16="http://schemas.microsoft.com/office/drawing/2014/main" id="{831FA212-BCFB-1F40-96A0-1C871E9EF3AB}"/>
              </a:ext>
            </a:extLst>
          </p:cNvPr>
          <p:cNvSpPr>
            <a:spLocks/>
          </p:cNvSpPr>
          <p:nvPr/>
        </p:nvSpPr>
        <p:spPr bwMode="auto">
          <a:xfrm>
            <a:off x="7578392" y="4438717"/>
            <a:ext cx="228600" cy="707231"/>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484" name="Group 950">
            <a:extLst>
              <a:ext uri="{FF2B5EF4-FFF2-40B4-BE49-F238E27FC236}">
                <a16:creationId xmlns:a16="http://schemas.microsoft.com/office/drawing/2014/main" id="{7CEBBAF6-579E-3943-B1EB-BB883618D6D9}"/>
              </a:ext>
            </a:extLst>
          </p:cNvPr>
          <p:cNvGrpSpPr>
            <a:grpSpLocks/>
          </p:cNvGrpSpPr>
          <p:nvPr/>
        </p:nvGrpSpPr>
        <p:grpSpPr bwMode="auto">
          <a:xfrm>
            <a:off x="7501881" y="5069550"/>
            <a:ext cx="161231" cy="302940"/>
            <a:chOff x="4140" y="429"/>
            <a:chExt cx="1425" cy="2396"/>
          </a:xfrm>
        </p:grpSpPr>
        <p:sp>
          <p:nvSpPr>
            <p:cNvPr id="485" name="Freeform 951">
              <a:extLst>
                <a:ext uri="{FF2B5EF4-FFF2-40B4-BE49-F238E27FC236}">
                  <a16:creationId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86" name="Rectangle 952">
              <a:extLst>
                <a:ext uri="{FF2B5EF4-FFF2-40B4-BE49-F238E27FC236}">
                  <a16:creationId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87" name="Freeform 953">
              <a:extLst>
                <a:ext uri="{FF2B5EF4-FFF2-40B4-BE49-F238E27FC236}">
                  <a16:creationId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88" name="Freeform 954">
              <a:extLst>
                <a:ext uri="{FF2B5EF4-FFF2-40B4-BE49-F238E27FC236}">
                  <a16:creationId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489" name="Rectangle 955">
              <a:extLst>
                <a:ext uri="{FF2B5EF4-FFF2-40B4-BE49-F238E27FC236}">
                  <a16:creationId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90" name="Group 956">
              <a:extLst>
                <a:ext uri="{FF2B5EF4-FFF2-40B4-BE49-F238E27FC236}">
                  <a16:creationId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16" name="AutoShape 958">
                <a:extLst>
                  <a:ext uri="{FF2B5EF4-FFF2-40B4-BE49-F238E27FC236}">
                    <a16:creationId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91" name="Rectangle 959">
              <a:extLst>
                <a:ext uri="{FF2B5EF4-FFF2-40B4-BE49-F238E27FC236}">
                  <a16:creationId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92" name="Group 960">
              <a:extLst>
                <a:ext uri="{FF2B5EF4-FFF2-40B4-BE49-F238E27FC236}">
                  <a16:creationId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14" name="AutoShape 962">
                <a:extLst>
                  <a:ext uri="{FF2B5EF4-FFF2-40B4-BE49-F238E27FC236}">
                    <a16:creationId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93" name="Rectangle 963">
              <a:extLst>
                <a:ext uri="{FF2B5EF4-FFF2-40B4-BE49-F238E27FC236}">
                  <a16:creationId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94" name="Rectangle 964">
              <a:extLst>
                <a:ext uri="{FF2B5EF4-FFF2-40B4-BE49-F238E27FC236}">
                  <a16:creationId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nvGrpSpPr>
            <p:cNvPr id="495" name="Group 965">
              <a:extLst>
                <a:ext uri="{FF2B5EF4-FFF2-40B4-BE49-F238E27FC236}">
                  <a16:creationId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12" name="AutoShape 967">
                <a:extLst>
                  <a:ext uri="{FF2B5EF4-FFF2-40B4-BE49-F238E27FC236}">
                    <a16:creationId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96" name="Freeform 968">
              <a:extLst>
                <a:ext uri="{FF2B5EF4-FFF2-40B4-BE49-F238E27FC236}">
                  <a16:creationId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497" name="Group 969">
              <a:extLst>
                <a:ext uri="{FF2B5EF4-FFF2-40B4-BE49-F238E27FC236}">
                  <a16:creationId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10" name="AutoShape 971">
                <a:extLst>
                  <a:ext uri="{FF2B5EF4-FFF2-40B4-BE49-F238E27FC236}">
                    <a16:creationId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sp>
          <p:nvSpPr>
            <p:cNvPr id="498" name="Rectangle 972">
              <a:extLst>
                <a:ext uri="{FF2B5EF4-FFF2-40B4-BE49-F238E27FC236}">
                  <a16:creationId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499" name="Freeform 973">
              <a:extLst>
                <a:ext uri="{FF2B5EF4-FFF2-40B4-BE49-F238E27FC236}">
                  <a16:creationId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500" name="Freeform 974">
              <a:extLst>
                <a:ext uri="{FF2B5EF4-FFF2-40B4-BE49-F238E27FC236}">
                  <a16:creationId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501" name="Oval 975">
              <a:extLst>
                <a:ext uri="{FF2B5EF4-FFF2-40B4-BE49-F238E27FC236}">
                  <a16:creationId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02" name="Freeform 976">
              <a:extLst>
                <a:ext uri="{FF2B5EF4-FFF2-40B4-BE49-F238E27FC236}">
                  <a16:creationId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503" name="AutoShape 977">
              <a:extLst>
                <a:ext uri="{FF2B5EF4-FFF2-40B4-BE49-F238E27FC236}">
                  <a16:creationId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04" name="AutoShape 978">
              <a:extLst>
                <a:ext uri="{FF2B5EF4-FFF2-40B4-BE49-F238E27FC236}">
                  <a16:creationId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05" name="Oval 979">
              <a:extLst>
                <a:ext uri="{FF2B5EF4-FFF2-40B4-BE49-F238E27FC236}">
                  <a16:creationId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06" name="Oval 980">
              <a:extLst>
                <a:ext uri="{FF2B5EF4-FFF2-40B4-BE49-F238E27FC236}">
                  <a16:creationId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fontAlgn="auto" hangingPunct="1">
                <a:lnSpc>
                  <a:spcPct val="100000"/>
                </a:lnSpc>
                <a:spcBef>
                  <a:spcPct val="0"/>
                </a:spcBef>
                <a:spcAft>
                  <a:spcPts val="0"/>
                </a:spcAft>
                <a:buClrTx/>
                <a:buSzTx/>
                <a:buNone/>
                <a:defRPr/>
              </a:pPr>
              <a:endParaRPr lang="en-US" altLang="en-US" sz="1350">
                <a:solidFill>
                  <a:srgbClr val="FF0000"/>
                </a:solidFill>
                <a:latin typeface="Arial" panose="020B0604020202020204" pitchFamily="34" charset="0"/>
              </a:endParaRPr>
            </a:p>
          </p:txBody>
        </p:sp>
        <p:sp>
          <p:nvSpPr>
            <p:cNvPr id="507" name="Oval 981">
              <a:extLst>
                <a:ext uri="{FF2B5EF4-FFF2-40B4-BE49-F238E27FC236}">
                  <a16:creationId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sp>
          <p:nvSpPr>
            <p:cNvPr id="508" name="Rectangle 982">
              <a:extLst>
                <a:ext uri="{FF2B5EF4-FFF2-40B4-BE49-F238E27FC236}">
                  <a16:creationId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eaLnBrk="1" fontAlgn="auto" hangingPunct="1">
                <a:lnSpc>
                  <a:spcPct val="100000"/>
                </a:lnSpc>
                <a:spcBef>
                  <a:spcPct val="0"/>
                </a:spcBef>
                <a:spcAft>
                  <a:spcPts val="0"/>
                </a:spcAft>
                <a:buClrTx/>
                <a:buSzTx/>
                <a:buNone/>
                <a:defRPr/>
              </a:pPr>
              <a:endParaRPr lang="en-US" altLang="en-US" sz="1800">
                <a:solidFill>
                  <a:prstClr val="black"/>
                </a:solidFill>
                <a:latin typeface="Arial" panose="020B0604020202020204" pitchFamily="34" charset="0"/>
              </a:endParaRPr>
            </a:p>
          </p:txBody>
        </p:sp>
      </p:grpSp>
      <p:grpSp>
        <p:nvGrpSpPr>
          <p:cNvPr id="8" name="Group 7">
            <a:extLst>
              <a:ext uri="{FF2B5EF4-FFF2-40B4-BE49-F238E27FC236}">
                <a16:creationId xmlns:a16="http://schemas.microsoft.com/office/drawing/2014/main" id="{677610FF-4F61-2C4A-A861-FC0ED9C69928}"/>
              </a:ext>
            </a:extLst>
          </p:cNvPr>
          <p:cNvGrpSpPr/>
          <p:nvPr/>
        </p:nvGrpSpPr>
        <p:grpSpPr>
          <a:xfrm>
            <a:off x="6189527" y="1710650"/>
            <a:ext cx="610791" cy="784830"/>
            <a:chOff x="9791027" y="656358"/>
            <a:chExt cx="814388" cy="1046440"/>
          </a:xfrm>
        </p:grpSpPr>
        <p:sp>
          <p:nvSpPr>
            <p:cNvPr id="519" name="Rectangle 227">
              <a:extLst>
                <a:ext uri="{FF2B5EF4-FFF2-40B4-BE49-F238E27FC236}">
                  <a16:creationId xmlns:a16="http://schemas.microsoft.com/office/drawing/2014/main" id="{B61510CE-247E-1E43-BA4A-EC188AFE0CB8}"/>
                </a:ext>
              </a:extLst>
            </p:cNvPr>
            <p:cNvSpPr>
              <a:spLocks noChangeArrowheads="1"/>
            </p:cNvSpPr>
            <p:nvPr/>
          </p:nvSpPr>
          <p:spPr bwMode="auto">
            <a:xfrm>
              <a:off x="9888064" y="666450"/>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520" name="Rectangle 228">
              <a:extLst>
                <a:ext uri="{FF2B5EF4-FFF2-40B4-BE49-F238E27FC236}">
                  <a16:creationId xmlns:a16="http://schemas.microsoft.com/office/drawing/2014/main" id="{4174338D-3A0E-9747-819D-0C19F4DF4AA8}"/>
                </a:ext>
              </a:extLst>
            </p:cNvPr>
            <p:cNvSpPr>
              <a:spLocks noChangeArrowheads="1"/>
            </p:cNvSpPr>
            <p:nvPr/>
          </p:nvSpPr>
          <p:spPr bwMode="auto">
            <a:xfrm>
              <a:off x="9854726" y="690263"/>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521" name="Rectangle 229">
              <a:extLst>
                <a:ext uri="{FF2B5EF4-FFF2-40B4-BE49-F238E27FC236}">
                  <a16:creationId xmlns:a16="http://schemas.microsoft.com/office/drawing/2014/main" id="{621AE13C-4ABC-334F-8206-4D5E08465C6E}"/>
                </a:ext>
              </a:extLst>
            </p:cNvPr>
            <p:cNvSpPr>
              <a:spLocks noChangeArrowheads="1"/>
            </p:cNvSpPr>
            <p:nvPr/>
          </p:nvSpPr>
          <p:spPr bwMode="auto">
            <a:xfrm>
              <a:off x="9861869" y="844112"/>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endParaRPr lang="en-US" altLang="en-US" sz="1800">
                <a:solidFill>
                  <a:prstClr val="black"/>
                </a:solidFill>
              </a:endParaRPr>
            </a:p>
          </p:txBody>
        </p:sp>
        <p:sp>
          <p:nvSpPr>
            <p:cNvPr id="522" name="Text Box 230">
              <a:extLst>
                <a:ext uri="{FF2B5EF4-FFF2-40B4-BE49-F238E27FC236}">
                  <a16:creationId xmlns:a16="http://schemas.microsoft.com/office/drawing/2014/main" id="{CA38D367-F86F-AB43-B21E-1EEE691D3D74}"/>
                </a:ext>
              </a:extLst>
            </p:cNvPr>
            <p:cNvSpPr txBox="1">
              <a:spLocks noChangeArrowheads="1"/>
            </p:cNvSpPr>
            <p:nvPr/>
          </p:nvSpPr>
          <p:spPr bwMode="auto">
            <a:xfrm>
              <a:off x="9791027" y="656358"/>
              <a:ext cx="814388"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Aft>
                  <a:spcPts val="0"/>
                </a:spcAft>
                <a:defRPr/>
              </a:pPr>
              <a:r>
                <a:rPr lang="en-US" altLang="en-US" sz="750" dirty="0">
                  <a:solidFill>
                    <a:prstClr val="black"/>
                  </a:solidFill>
                </a:rPr>
                <a:t>application</a:t>
              </a:r>
            </a:p>
            <a:p>
              <a:pPr algn="ctr" eaLnBrk="1" fontAlgn="auto" hangingPunct="1">
                <a:spcAft>
                  <a:spcPts val="0"/>
                </a:spcAft>
                <a:defRPr/>
              </a:pPr>
              <a:r>
                <a:rPr lang="en-US" altLang="en-US" sz="750" dirty="0">
                  <a:solidFill>
                    <a:prstClr val="white"/>
                  </a:solidFill>
                </a:rPr>
                <a:t>transport</a:t>
              </a:r>
            </a:p>
            <a:p>
              <a:pPr algn="ctr" eaLnBrk="1" fontAlgn="auto" hangingPunct="1">
                <a:spcAft>
                  <a:spcPts val="0"/>
                </a:spcAft>
                <a:defRPr/>
              </a:pPr>
              <a:r>
                <a:rPr lang="en-US" altLang="en-US" sz="750" dirty="0">
                  <a:solidFill>
                    <a:prstClr val="black"/>
                  </a:solidFill>
                </a:rPr>
                <a:t>network</a:t>
              </a:r>
            </a:p>
            <a:p>
              <a:pPr algn="ctr" eaLnBrk="1" fontAlgn="auto" hangingPunct="1">
                <a:spcAft>
                  <a:spcPts val="0"/>
                </a:spcAft>
                <a:defRPr/>
              </a:pPr>
              <a:r>
                <a:rPr lang="en-US" altLang="en-US" sz="750" dirty="0">
                  <a:solidFill>
                    <a:prstClr val="black"/>
                  </a:solidFill>
                </a:rPr>
                <a:t>data link</a:t>
              </a:r>
            </a:p>
            <a:p>
              <a:pPr algn="ctr" eaLnBrk="1" fontAlgn="auto" hangingPunct="1">
                <a:spcAft>
                  <a:spcPts val="0"/>
                </a:spcAft>
                <a:defRPr/>
              </a:pPr>
              <a:r>
                <a:rPr lang="en-US" altLang="en-US" sz="750" dirty="0">
                  <a:solidFill>
                    <a:prstClr val="black"/>
                  </a:solidFill>
                </a:rPr>
                <a:t>physical</a:t>
              </a:r>
              <a:endParaRPr lang="en-US" altLang="en-US" sz="1800" dirty="0">
                <a:solidFill>
                  <a:prstClr val="black"/>
                </a:solidFill>
              </a:endParaRPr>
            </a:p>
          </p:txBody>
        </p:sp>
        <p:sp>
          <p:nvSpPr>
            <p:cNvPr id="523" name="Line 231">
              <a:extLst>
                <a:ext uri="{FF2B5EF4-FFF2-40B4-BE49-F238E27FC236}">
                  <a16:creationId xmlns:a16="http://schemas.microsoft.com/office/drawing/2014/main" id="{A3474A7D-75ED-1D4F-BB1C-5BA4ECFE69E7}"/>
                </a:ext>
              </a:extLst>
            </p:cNvPr>
            <p:cNvSpPr>
              <a:spLocks noChangeShapeType="1"/>
            </p:cNvSpPr>
            <p:nvPr/>
          </p:nvSpPr>
          <p:spPr bwMode="auto">
            <a:xfrm>
              <a:off x="9854726" y="1033163"/>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524" name="Line 232">
              <a:extLst>
                <a:ext uri="{FF2B5EF4-FFF2-40B4-BE49-F238E27FC236}">
                  <a16:creationId xmlns:a16="http://schemas.microsoft.com/office/drawing/2014/main" id="{79D6BFCD-0081-1543-8A02-CDC78B944799}"/>
                </a:ext>
              </a:extLst>
            </p:cNvPr>
            <p:cNvSpPr>
              <a:spLocks noChangeShapeType="1"/>
            </p:cNvSpPr>
            <p:nvPr/>
          </p:nvSpPr>
          <p:spPr bwMode="auto">
            <a:xfrm>
              <a:off x="9864251" y="1171275"/>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525" name="Line 233">
              <a:extLst>
                <a:ext uri="{FF2B5EF4-FFF2-40B4-BE49-F238E27FC236}">
                  <a16:creationId xmlns:a16="http://schemas.microsoft.com/office/drawing/2014/main" id="{539E5FFB-197B-6F44-A1D2-C9A93359AB7C}"/>
                </a:ext>
              </a:extLst>
            </p:cNvPr>
            <p:cNvSpPr>
              <a:spLocks noChangeShapeType="1"/>
            </p:cNvSpPr>
            <p:nvPr/>
          </p:nvSpPr>
          <p:spPr bwMode="auto">
            <a:xfrm>
              <a:off x="9864251" y="1309388"/>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mn-ea"/>
              </a:endParaRPr>
            </a:p>
          </p:txBody>
        </p:sp>
      </p:grpSp>
      <p:sp>
        <p:nvSpPr>
          <p:cNvPr id="558" name="Up-Down Arrow 557">
            <a:extLst>
              <a:ext uri="{FF2B5EF4-FFF2-40B4-BE49-F238E27FC236}">
                <a16:creationId xmlns:a16="http://schemas.microsoft.com/office/drawing/2014/main" id="{1F1264FF-C88C-CF4E-85AF-1CB82BE0554E}"/>
              </a:ext>
            </a:extLst>
          </p:cNvPr>
          <p:cNvSpPr/>
          <p:nvPr/>
        </p:nvSpPr>
        <p:spPr>
          <a:xfrm rot="19889198">
            <a:off x="7158092" y="1809804"/>
            <a:ext cx="469766" cy="2878805"/>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559" name="TextBox 558">
            <a:extLst>
              <a:ext uri="{FF2B5EF4-FFF2-40B4-BE49-F238E27FC236}">
                <a16:creationId xmlns:a16="http://schemas.microsoft.com/office/drawing/2014/main" id="{BDB4ECF5-2BA8-034C-9E12-98E6A9A3E77D}"/>
              </a:ext>
            </a:extLst>
          </p:cNvPr>
          <p:cNvSpPr txBox="1"/>
          <p:nvPr/>
        </p:nvSpPr>
        <p:spPr>
          <a:xfrm rot="3706861">
            <a:off x="6456604" y="3173160"/>
            <a:ext cx="1960665" cy="300082"/>
          </a:xfrm>
          <a:prstGeom prst="rect">
            <a:avLst/>
          </a:prstGeom>
          <a:noFill/>
        </p:spPr>
        <p:txBody>
          <a:bodyPr wrap="none" rtlCol="0">
            <a:spAutoFit/>
          </a:bodyPr>
          <a:lstStyle/>
          <a:p>
            <a:pPr eaLnBrk="1" fontAlgn="auto" hangingPunct="1">
              <a:spcBef>
                <a:spcPts val="0"/>
              </a:spcBef>
              <a:spcAft>
                <a:spcPts val="0"/>
              </a:spcAft>
              <a:defRPr/>
            </a:pPr>
            <a:r>
              <a:rPr lang="en-US" sz="1350" dirty="0">
                <a:solidFill>
                  <a:prstClr val="white"/>
                </a:solidFill>
                <a:latin typeface="Calibri" panose="020F0502020204030204"/>
                <a:ea typeface="+mn-ea"/>
              </a:rPr>
              <a:t>logical end-end transport</a:t>
            </a:r>
          </a:p>
        </p:txBody>
      </p:sp>
      <p:sp>
        <p:nvSpPr>
          <p:cNvPr id="517" name="Rectangle 3">
            <a:extLst>
              <a:ext uri="{FF2B5EF4-FFF2-40B4-BE49-F238E27FC236}">
                <a16:creationId xmlns:a16="http://schemas.microsoft.com/office/drawing/2014/main" id="{6893AA1C-B5CC-D446-9A4F-4636B0A87E22}"/>
              </a:ext>
            </a:extLst>
          </p:cNvPr>
          <p:cNvSpPr txBox="1">
            <a:spLocks noChangeArrowheads="1"/>
          </p:cNvSpPr>
          <p:nvPr/>
        </p:nvSpPr>
        <p:spPr>
          <a:xfrm>
            <a:off x="552554" y="1881686"/>
            <a:ext cx="4716568" cy="3836194"/>
          </a:xfrm>
          <a:prstGeom prst="rect">
            <a:avLst/>
          </a:prstGeom>
        </p:spPr>
        <p:txBody>
          <a:bodyPr vert="horz" lIns="68580" tIns="34290" rIns="68580" bIns="3429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00000"/>
              </a:lnSpc>
              <a:spcBef>
                <a:spcPts val="450"/>
              </a:spcBef>
              <a:spcAft>
                <a:spcPts val="0"/>
              </a:spcAft>
              <a:defRPr/>
            </a:pPr>
            <a:r>
              <a:rPr lang="en-US" altLang="en-US" sz="2400" b="1" dirty="0">
                <a:solidFill>
                  <a:srgbClr val="CD0004"/>
                </a:solidFill>
                <a:ea typeface="ＭＳ Ｐゴシック" panose="020B0600070205080204" pitchFamily="34" charset="-128"/>
              </a:rPr>
              <a:t>TCP: </a:t>
            </a:r>
            <a:r>
              <a:rPr lang="en-US" altLang="en-US" sz="2400" dirty="0">
                <a:solidFill>
                  <a:prstClr val="black"/>
                </a:solidFill>
                <a:ea typeface="ＭＳ Ｐゴシック" panose="020B0600070205080204" pitchFamily="34" charset="-128"/>
              </a:rPr>
              <a:t>Transmission Control Protocol</a:t>
            </a:r>
          </a:p>
          <a:p>
            <a:pPr lvl="1" fontAlgn="auto">
              <a:lnSpc>
                <a:spcPct val="100000"/>
              </a:lnSpc>
              <a:spcBef>
                <a:spcPts val="450"/>
              </a:spcBef>
              <a:spcAft>
                <a:spcPts val="0"/>
              </a:spcAft>
              <a:defRPr/>
            </a:pPr>
            <a:r>
              <a:rPr lang="en-US" altLang="en-US" sz="2100" dirty="0">
                <a:solidFill>
                  <a:prstClr val="black"/>
                </a:solidFill>
                <a:ea typeface="ＭＳ Ｐゴシック" panose="020B0600070205080204" pitchFamily="34" charset="-128"/>
              </a:rPr>
              <a:t>reliable, in-order delivery</a:t>
            </a:r>
          </a:p>
          <a:p>
            <a:pPr lvl="1" fontAlgn="auto">
              <a:lnSpc>
                <a:spcPct val="100000"/>
              </a:lnSpc>
              <a:spcBef>
                <a:spcPts val="450"/>
              </a:spcBef>
              <a:spcAft>
                <a:spcPts val="0"/>
              </a:spcAft>
              <a:defRPr/>
            </a:pPr>
            <a:r>
              <a:rPr lang="en-US" altLang="en-US" sz="2100" dirty="0">
                <a:solidFill>
                  <a:prstClr val="black"/>
                </a:solidFill>
                <a:ea typeface="ＭＳ Ｐゴシック" panose="020B0600070205080204" pitchFamily="34" charset="-128"/>
              </a:rPr>
              <a:t>congestion control </a:t>
            </a:r>
          </a:p>
          <a:p>
            <a:pPr lvl="1" fontAlgn="auto">
              <a:lnSpc>
                <a:spcPct val="100000"/>
              </a:lnSpc>
              <a:spcBef>
                <a:spcPts val="300"/>
              </a:spcBef>
              <a:spcAft>
                <a:spcPts val="0"/>
              </a:spcAft>
              <a:defRPr/>
            </a:pPr>
            <a:r>
              <a:rPr lang="en-US" altLang="en-US" sz="2100" dirty="0">
                <a:solidFill>
                  <a:prstClr val="black"/>
                </a:solidFill>
                <a:ea typeface="ＭＳ Ｐゴシック" panose="020B0600070205080204" pitchFamily="34" charset="-128"/>
              </a:rPr>
              <a:t>flow control</a:t>
            </a:r>
          </a:p>
          <a:p>
            <a:pPr lvl="1" fontAlgn="auto">
              <a:lnSpc>
                <a:spcPct val="100000"/>
              </a:lnSpc>
              <a:spcBef>
                <a:spcPts val="300"/>
              </a:spcBef>
              <a:spcAft>
                <a:spcPts val="0"/>
              </a:spcAft>
              <a:defRPr/>
            </a:pPr>
            <a:r>
              <a:rPr lang="en-US" altLang="en-US" sz="2100" dirty="0">
                <a:solidFill>
                  <a:prstClr val="black"/>
                </a:solidFill>
                <a:ea typeface="ＭＳ Ｐゴシック" panose="020B0600070205080204" pitchFamily="34" charset="-128"/>
              </a:rPr>
              <a:t>connection setup</a:t>
            </a:r>
            <a:endParaRPr lang="en-US" altLang="en-US" dirty="0">
              <a:solidFill>
                <a:prstClr val="black"/>
              </a:solidFill>
              <a:ea typeface="ＭＳ Ｐゴシック" panose="020B0600070205080204" pitchFamily="34" charset="-128"/>
            </a:endParaRPr>
          </a:p>
          <a:p>
            <a:pPr fontAlgn="auto">
              <a:lnSpc>
                <a:spcPct val="100000"/>
              </a:lnSpc>
              <a:spcBef>
                <a:spcPts val="450"/>
              </a:spcBef>
              <a:spcAft>
                <a:spcPts val="0"/>
              </a:spcAft>
              <a:defRPr/>
            </a:pPr>
            <a:r>
              <a:rPr lang="en-US" altLang="en-US" sz="2400" b="1" dirty="0">
                <a:solidFill>
                  <a:srgbClr val="CD0004"/>
                </a:solidFill>
                <a:ea typeface="ＭＳ Ｐゴシック" panose="020B0600070205080204" pitchFamily="34" charset="-128"/>
              </a:rPr>
              <a:t>UDP: </a:t>
            </a:r>
            <a:r>
              <a:rPr lang="en-US" altLang="en-US" sz="2400" dirty="0">
                <a:solidFill>
                  <a:prstClr val="black"/>
                </a:solidFill>
                <a:ea typeface="ＭＳ Ｐゴシック" panose="020B0600070205080204" pitchFamily="34" charset="-128"/>
              </a:rPr>
              <a:t>User Datagram Protocol</a:t>
            </a:r>
          </a:p>
          <a:p>
            <a:pPr marL="560785" lvl="1" indent="-205979" fontAlgn="auto">
              <a:lnSpc>
                <a:spcPct val="100000"/>
              </a:lnSpc>
              <a:spcBef>
                <a:spcPts val="450"/>
              </a:spcBef>
              <a:spcAft>
                <a:spcPts val="0"/>
              </a:spcAft>
              <a:buClr>
                <a:srgbClr val="0000A3"/>
              </a:buClr>
              <a:defRPr/>
            </a:pPr>
            <a:r>
              <a:rPr lang="en-US" altLang="en-US" sz="2100" dirty="0">
                <a:solidFill>
                  <a:prstClr val="black"/>
                </a:solidFill>
                <a:ea typeface="ＭＳ Ｐゴシック" panose="020B0600070205080204" pitchFamily="34" charset="-128"/>
              </a:rPr>
              <a:t>unreliable, unordered delivery</a:t>
            </a:r>
          </a:p>
          <a:p>
            <a:pPr marL="560785" lvl="1" indent="-205979" fontAlgn="auto">
              <a:lnSpc>
                <a:spcPct val="100000"/>
              </a:lnSpc>
              <a:spcBef>
                <a:spcPts val="450"/>
              </a:spcBef>
              <a:spcAft>
                <a:spcPts val="0"/>
              </a:spcAft>
              <a:buClr>
                <a:srgbClr val="0000A3"/>
              </a:buClr>
              <a:defRPr/>
            </a:pPr>
            <a:r>
              <a:rPr lang="en-US" altLang="en-US" sz="2100" dirty="0">
                <a:solidFill>
                  <a:prstClr val="black"/>
                </a:solidFill>
                <a:ea typeface="ＭＳ Ｐゴシック" panose="020B0600070205080204" pitchFamily="34" charset="-128"/>
              </a:rPr>
              <a:t>no-frills extension of “</a:t>
            </a:r>
            <a:r>
              <a:rPr lang="en-US" altLang="ja-JP" sz="2100" dirty="0">
                <a:solidFill>
                  <a:prstClr val="black"/>
                </a:solidFill>
                <a:ea typeface="ＭＳ Ｐゴシック" panose="020B0600070205080204" pitchFamily="34" charset="-128"/>
              </a:rPr>
              <a:t>best-effort” IP</a:t>
            </a:r>
          </a:p>
          <a:p>
            <a:pPr fontAlgn="auto">
              <a:lnSpc>
                <a:spcPct val="100000"/>
              </a:lnSpc>
              <a:spcBef>
                <a:spcPts val="450"/>
              </a:spcBef>
              <a:spcAft>
                <a:spcPts val="0"/>
              </a:spcAft>
              <a:defRPr/>
            </a:pPr>
            <a:r>
              <a:rPr lang="en-US" altLang="en-US" sz="2400" dirty="0">
                <a:solidFill>
                  <a:prstClr val="black"/>
                </a:solidFill>
                <a:ea typeface="ＭＳ Ｐゴシック" panose="020B0600070205080204" pitchFamily="34" charset="-128"/>
              </a:rPr>
              <a:t>services not available: </a:t>
            </a:r>
          </a:p>
          <a:p>
            <a:pPr lvl="1" fontAlgn="auto">
              <a:lnSpc>
                <a:spcPct val="100000"/>
              </a:lnSpc>
              <a:spcBef>
                <a:spcPts val="300"/>
              </a:spcBef>
              <a:spcAft>
                <a:spcPts val="0"/>
              </a:spcAft>
              <a:defRPr/>
            </a:pPr>
            <a:r>
              <a:rPr lang="en-US" altLang="en-US" sz="2100" dirty="0">
                <a:solidFill>
                  <a:prstClr val="black"/>
                </a:solidFill>
                <a:ea typeface="ＭＳ Ｐゴシック" panose="020B0600070205080204" pitchFamily="34" charset="-128"/>
              </a:rPr>
              <a:t>delay guarantees</a:t>
            </a:r>
          </a:p>
          <a:p>
            <a:pPr lvl="1" fontAlgn="auto">
              <a:lnSpc>
                <a:spcPct val="100000"/>
              </a:lnSpc>
              <a:spcBef>
                <a:spcPts val="300"/>
              </a:spcBef>
              <a:spcAft>
                <a:spcPts val="0"/>
              </a:spcAft>
              <a:defRPr/>
            </a:pPr>
            <a:r>
              <a:rPr lang="en-US" altLang="en-US" sz="2100" dirty="0">
                <a:solidFill>
                  <a:prstClr val="black"/>
                </a:solidFill>
                <a:ea typeface="ＭＳ Ｐゴシック" panose="020B0600070205080204" pitchFamily="34" charset="-128"/>
              </a:rPr>
              <a:t>bandwidth guarantees</a:t>
            </a:r>
            <a:endParaRPr lang="en-US" altLang="en-US" sz="1800" dirty="0">
              <a:solidFill>
                <a:prstClr val="black"/>
              </a:solidFill>
              <a:ea typeface="ＭＳ Ｐゴシック" panose="020B0600070205080204" pitchFamily="34" charset="-128"/>
            </a:endParaRPr>
          </a:p>
        </p:txBody>
      </p:sp>
      <p:sp>
        <p:nvSpPr>
          <p:cNvPr id="518" name="Slide Number Placeholder 2">
            <a:extLst>
              <a:ext uri="{FF2B5EF4-FFF2-40B4-BE49-F238E27FC236}">
                <a16:creationId xmlns:a16="http://schemas.microsoft.com/office/drawing/2014/main" id="{5EAB89B4-AD20-DC49-B545-2C57C5923FCF}"/>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7</a:t>
            </a:fld>
            <a:endParaRPr lang="en-US" dirty="0">
              <a:solidFill>
                <a:prstClr val="white">
                  <a:lumMod val="50000"/>
                </a:prstClr>
              </a:solidFill>
            </a:endParaRPr>
          </a:p>
        </p:txBody>
      </p:sp>
    </p:spTree>
    <p:extLst>
      <p:ext uri="{BB962C8B-B14F-4D97-AF65-F5344CB8AC3E}">
        <p14:creationId xmlns:p14="http://schemas.microsoft.com/office/powerpoint/2010/main" val="52555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7">
                                            <p:txEl>
                                              <p:pRg st="0" end="0"/>
                                            </p:txEl>
                                          </p:spTgt>
                                        </p:tgtEl>
                                        <p:attrNameLst>
                                          <p:attrName>style.visibility</p:attrName>
                                        </p:attrNameLst>
                                      </p:cBhvr>
                                      <p:to>
                                        <p:strVal val="visible"/>
                                      </p:to>
                                    </p:set>
                                    <p:animEffect transition="in" filter="dissolve">
                                      <p:cBhvr>
                                        <p:cTn id="7" dur="500"/>
                                        <p:tgtEl>
                                          <p:spTgt spid="51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17">
                                            <p:txEl>
                                              <p:pRg st="1" end="1"/>
                                            </p:txEl>
                                          </p:spTgt>
                                        </p:tgtEl>
                                        <p:attrNameLst>
                                          <p:attrName>style.visibility</p:attrName>
                                        </p:attrNameLst>
                                      </p:cBhvr>
                                      <p:to>
                                        <p:strVal val="visible"/>
                                      </p:to>
                                    </p:set>
                                    <p:animEffect transition="in" filter="dissolve">
                                      <p:cBhvr>
                                        <p:cTn id="10" dur="500"/>
                                        <p:tgtEl>
                                          <p:spTgt spid="517">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17">
                                            <p:txEl>
                                              <p:pRg st="2" end="2"/>
                                            </p:txEl>
                                          </p:spTgt>
                                        </p:tgtEl>
                                        <p:attrNameLst>
                                          <p:attrName>style.visibility</p:attrName>
                                        </p:attrNameLst>
                                      </p:cBhvr>
                                      <p:to>
                                        <p:strVal val="visible"/>
                                      </p:to>
                                    </p:set>
                                    <p:animEffect transition="in" filter="dissolve">
                                      <p:cBhvr>
                                        <p:cTn id="13" dur="500"/>
                                        <p:tgtEl>
                                          <p:spTgt spid="517">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17">
                                            <p:txEl>
                                              <p:pRg st="3" end="3"/>
                                            </p:txEl>
                                          </p:spTgt>
                                        </p:tgtEl>
                                        <p:attrNameLst>
                                          <p:attrName>style.visibility</p:attrName>
                                        </p:attrNameLst>
                                      </p:cBhvr>
                                      <p:to>
                                        <p:strVal val="visible"/>
                                      </p:to>
                                    </p:set>
                                    <p:animEffect transition="in" filter="dissolve">
                                      <p:cBhvr>
                                        <p:cTn id="16" dur="500"/>
                                        <p:tgtEl>
                                          <p:spTgt spid="517">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17">
                                            <p:txEl>
                                              <p:pRg st="4" end="4"/>
                                            </p:txEl>
                                          </p:spTgt>
                                        </p:tgtEl>
                                        <p:attrNameLst>
                                          <p:attrName>style.visibility</p:attrName>
                                        </p:attrNameLst>
                                      </p:cBhvr>
                                      <p:to>
                                        <p:strVal val="visible"/>
                                      </p:to>
                                    </p:set>
                                    <p:animEffect transition="in" filter="dissolve">
                                      <p:cBhvr>
                                        <p:cTn id="19" dur="500"/>
                                        <p:tgtEl>
                                          <p:spTgt spid="517">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517">
                                            <p:txEl>
                                              <p:pRg st="5" end="5"/>
                                            </p:txEl>
                                          </p:spTgt>
                                        </p:tgtEl>
                                        <p:attrNameLst>
                                          <p:attrName>style.visibility</p:attrName>
                                        </p:attrNameLst>
                                      </p:cBhvr>
                                      <p:to>
                                        <p:strVal val="visible"/>
                                      </p:to>
                                    </p:set>
                                    <p:animEffect transition="in" filter="dissolve">
                                      <p:cBhvr>
                                        <p:cTn id="24" dur="500"/>
                                        <p:tgtEl>
                                          <p:spTgt spid="517">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517">
                                            <p:txEl>
                                              <p:pRg st="6" end="6"/>
                                            </p:txEl>
                                          </p:spTgt>
                                        </p:tgtEl>
                                        <p:attrNameLst>
                                          <p:attrName>style.visibility</p:attrName>
                                        </p:attrNameLst>
                                      </p:cBhvr>
                                      <p:to>
                                        <p:strVal val="visible"/>
                                      </p:to>
                                    </p:set>
                                    <p:animEffect transition="in" filter="dissolve">
                                      <p:cBhvr>
                                        <p:cTn id="27" dur="500"/>
                                        <p:tgtEl>
                                          <p:spTgt spid="517">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17">
                                            <p:txEl>
                                              <p:pRg st="7" end="7"/>
                                            </p:txEl>
                                          </p:spTgt>
                                        </p:tgtEl>
                                        <p:attrNameLst>
                                          <p:attrName>style.visibility</p:attrName>
                                        </p:attrNameLst>
                                      </p:cBhvr>
                                      <p:to>
                                        <p:strVal val="visible"/>
                                      </p:to>
                                    </p:set>
                                    <p:animEffect transition="in" filter="dissolve">
                                      <p:cBhvr>
                                        <p:cTn id="30" dur="500"/>
                                        <p:tgtEl>
                                          <p:spTgt spid="517">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17">
                                            <p:txEl>
                                              <p:pRg st="8" end="8"/>
                                            </p:txEl>
                                          </p:spTgt>
                                        </p:tgtEl>
                                        <p:attrNameLst>
                                          <p:attrName>style.visibility</p:attrName>
                                        </p:attrNameLst>
                                      </p:cBhvr>
                                      <p:to>
                                        <p:strVal val="visible"/>
                                      </p:to>
                                    </p:set>
                                    <p:animEffect transition="in" filter="dissolve">
                                      <p:cBhvr>
                                        <p:cTn id="35" dur="500"/>
                                        <p:tgtEl>
                                          <p:spTgt spid="517">
                                            <p:txEl>
                                              <p:pRg st="8" end="8"/>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517">
                                            <p:txEl>
                                              <p:pRg st="9" end="9"/>
                                            </p:txEl>
                                          </p:spTgt>
                                        </p:tgtEl>
                                        <p:attrNameLst>
                                          <p:attrName>style.visibility</p:attrName>
                                        </p:attrNameLst>
                                      </p:cBhvr>
                                      <p:to>
                                        <p:strVal val="visible"/>
                                      </p:to>
                                    </p:set>
                                    <p:animEffect transition="in" filter="dissolve">
                                      <p:cBhvr>
                                        <p:cTn id="38" dur="500"/>
                                        <p:tgtEl>
                                          <p:spTgt spid="517">
                                            <p:txEl>
                                              <p:pRg st="9" end="9"/>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517">
                                            <p:txEl>
                                              <p:pRg st="10" end="10"/>
                                            </p:txEl>
                                          </p:spTgt>
                                        </p:tgtEl>
                                        <p:attrNameLst>
                                          <p:attrName>style.visibility</p:attrName>
                                        </p:attrNameLst>
                                      </p:cBhvr>
                                      <p:to>
                                        <p:strVal val="visible"/>
                                      </p:to>
                                    </p:set>
                                    <p:animEffect transition="in" filter="dissolve">
                                      <p:cBhvr>
                                        <p:cTn id="41" dur="500"/>
                                        <p:tgtEl>
                                          <p:spTgt spid="51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Multiplexing/demultiplexing</a:t>
            </a:r>
          </a:p>
        </p:txBody>
      </p:sp>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3831323" y="3536808"/>
            <a:ext cx="414338" cy="15621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3" name="Text Box 37">
            <a:extLst>
              <a:ext uri="{FF2B5EF4-FFF2-40B4-BE49-F238E27FC236}">
                <a16:creationId xmlns:a16="http://schemas.microsoft.com/office/drawing/2014/main" id="{4EEECEF7-BD4D-FD41-9A84-F2FC20AA2A09}"/>
              </a:ext>
            </a:extLst>
          </p:cNvPr>
          <p:cNvSpPr txBox="1">
            <a:spLocks noChangeArrowheads="1"/>
          </p:cNvSpPr>
          <p:nvPr/>
        </p:nvSpPr>
        <p:spPr bwMode="auto">
          <a:xfrm>
            <a:off x="7736496" y="4230943"/>
            <a:ext cx="721672" cy="2769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00"/>
                </a:solidFill>
                <a:latin typeface="Arial" charset="0"/>
              </a:rPr>
              <a:t>process</a:t>
            </a:r>
          </a:p>
        </p:txBody>
      </p:sp>
      <p:sp>
        <p:nvSpPr>
          <p:cNvPr id="134" name="Text Box 38">
            <a:extLst>
              <a:ext uri="{FF2B5EF4-FFF2-40B4-BE49-F238E27FC236}">
                <a16:creationId xmlns:a16="http://schemas.microsoft.com/office/drawing/2014/main" id="{FC061EBE-026B-F943-BBD5-748F965BF879}"/>
              </a:ext>
            </a:extLst>
          </p:cNvPr>
          <p:cNvSpPr txBox="1">
            <a:spLocks noChangeArrowheads="1"/>
          </p:cNvSpPr>
          <p:nvPr/>
        </p:nvSpPr>
        <p:spPr bwMode="auto">
          <a:xfrm>
            <a:off x="7717156" y="3929715"/>
            <a:ext cx="617478" cy="2769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kern="0" dirty="0">
                <a:solidFill>
                  <a:srgbClr val="000000"/>
                </a:solidFill>
              </a:rPr>
              <a:t>socket</a:t>
            </a:r>
          </a:p>
        </p:txBody>
      </p:sp>
      <p:grpSp>
        <p:nvGrpSpPr>
          <p:cNvPr id="5" name="Group 4">
            <a:extLst>
              <a:ext uri="{FF2B5EF4-FFF2-40B4-BE49-F238E27FC236}">
                <a16:creationId xmlns:a16="http://schemas.microsoft.com/office/drawing/2014/main" id="{D5AFC3DE-B7EF-9945-9B42-A8FE2028B2CF}"/>
              </a:ext>
            </a:extLst>
          </p:cNvPr>
          <p:cNvGrpSpPr/>
          <p:nvPr/>
        </p:nvGrpSpPr>
        <p:grpSpPr>
          <a:xfrm>
            <a:off x="5262455" y="2098533"/>
            <a:ext cx="3627237" cy="1229917"/>
            <a:chOff x="7016607" y="1655043"/>
            <a:chExt cx="4836316" cy="1639889"/>
          </a:xfrm>
        </p:grpSpPr>
        <p:sp>
          <p:nvSpPr>
            <p:cNvPr id="4" name="Rectangle 3">
              <a:extLst>
                <a:ext uri="{FF2B5EF4-FFF2-40B4-BE49-F238E27FC236}">
                  <a16:creationId xmlns:a16="http://schemas.microsoft.com/office/drawing/2014/main" id="{25BAE722-1B29-F74D-B90E-AAE0C7FE9C2E}"/>
                </a:ext>
              </a:extLst>
            </p:cNvPr>
            <p:cNvSpPr/>
            <p:nvPr/>
          </p:nvSpPr>
          <p:spPr>
            <a:xfrm>
              <a:off x="7016607" y="1945555"/>
              <a:ext cx="4508220" cy="1251692"/>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nvGrpSpPr>
            <p:cNvPr id="135" name="Group 177">
              <a:extLst>
                <a:ext uri="{FF2B5EF4-FFF2-40B4-BE49-F238E27FC236}">
                  <a16:creationId xmlns:a16="http://schemas.microsoft.com/office/drawing/2014/main" id="{0626849A-4E21-EE42-AD9A-55F4D52F11FC}"/>
                </a:ext>
              </a:extLst>
            </p:cNvPr>
            <p:cNvGrpSpPr>
              <a:grpSpLocks/>
            </p:cNvGrpSpPr>
            <p:nvPr/>
          </p:nvGrpSpPr>
          <p:grpSpPr bwMode="auto">
            <a:xfrm>
              <a:off x="7131697" y="1655043"/>
              <a:ext cx="4721226" cy="1639889"/>
              <a:chOff x="2873" y="903"/>
              <a:chExt cx="2974" cy="1033"/>
            </a:xfrm>
          </p:grpSpPr>
          <p:sp>
            <p:nvSpPr>
              <p:cNvPr id="136" name="Rectangle 41">
                <a:extLst>
                  <a:ext uri="{FF2B5EF4-FFF2-40B4-BE49-F238E27FC236}">
                    <a16:creationId xmlns:a16="http://schemas.microsoft.com/office/drawing/2014/main" id="{1C592E58-CF36-1C40-A0FA-08F6B84985C4}"/>
                  </a:ext>
                </a:extLst>
              </p:cNvPr>
              <p:cNvSpPr>
                <a:spLocks noChangeArrowheads="1"/>
              </p:cNvSpPr>
              <p:nvPr/>
            </p:nvSpPr>
            <p:spPr bwMode="auto">
              <a:xfrm>
                <a:off x="2955" y="1148"/>
                <a:ext cx="2892" cy="788"/>
              </a:xfrm>
              <a:prstGeom prst="rect">
                <a:avLst/>
              </a:prstGeom>
              <a:noFill/>
              <a:ln w="19050">
                <a:no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a:lnSpc>
                    <a:spcPct val="80000"/>
                  </a:lnSpc>
                  <a:defRPr/>
                </a:pPr>
                <a:r>
                  <a:rPr lang="en-US" sz="1800" kern="0" dirty="0">
                    <a:solidFill>
                      <a:srgbClr val="000000"/>
                    </a:solidFill>
                    <a:latin typeface="Calibri" panose="020F0502020204030204"/>
                    <a:ea typeface="ＭＳ Ｐゴシック" charset="0"/>
                  </a:rPr>
                  <a:t>use header info to deliver</a:t>
                </a:r>
              </a:p>
              <a:p>
                <a:pPr defTabSz="685800">
                  <a:lnSpc>
                    <a:spcPct val="80000"/>
                  </a:lnSpc>
                  <a:defRPr/>
                </a:pPr>
                <a:r>
                  <a:rPr lang="en-US" sz="1800" kern="0" dirty="0">
                    <a:solidFill>
                      <a:srgbClr val="000000"/>
                    </a:solidFill>
                    <a:latin typeface="Calibri" panose="020F0502020204030204"/>
                    <a:ea typeface="ＭＳ Ｐゴシック" charset="0"/>
                  </a:rPr>
                  <a:t>received segments to correct </a:t>
                </a:r>
              </a:p>
              <a:p>
                <a:pPr defTabSz="685800">
                  <a:lnSpc>
                    <a:spcPct val="80000"/>
                  </a:lnSpc>
                  <a:defRPr/>
                </a:pPr>
                <a:r>
                  <a:rPr lang="en-US" sz="1800" kern="0" dirty="0">
                    <a:solidFill>
                      <a:srgbClr val="000000"/>
                    </a:solidFill>
                    <a:latin typeface="Calibri" panose="020F0502020204030204"/>
                    <a:ea typeface="ＭＳ Ｐゴシック" charset="0"/>
                  </a:rPr>
                  <a:t>socket</a:t>
                </a:r>
              </a:p>
            </p:txBody>
          </p:sp>
          <p:grpSp>
            <p:nvGrpSpPr>
              <p:cNvPr id="137" name="Group 42">
                <a:extLst>
                  <a:ext uri="{FF2B5EF4-FFF2-40B4-BE49-F238E27FC236}">
                    <a16:creationId xmlns:a16="http://schemas.microsoft.com/office/drawing/2014/main" id="{4D9CEE39-3F97-1346-9C27-5F6F930F2A8E}"/>
                  </a:ext>
                </a:extLst>
              </p:cNvPr>
              <p:cNvGrpSpPr>
                <a:grpSpLocks/>
              </p:cNvGrpSpPr>
              <p:nvPr/>
            </p:nvGrpSpPr>
            <p:grpSpPr bwMode="auto">
              <a:xfrm>
                <a:off x="2873" y="903"/>
                <a:ext cx="2606" cy="349"/>
                <a:chOff x="884" y="3594"/>
                <a:chExt cx="2091" cy="349"/>
              </a:xfrm>
            </p:grpSpPr>
            <p:sp>
              <p:nvSpPr>
                <p:cNvPr id="138" name="Rectangle 43">
                  <a:extLst>
                    <a:ext uri="{FF2B5EF4-FFF2-40B4-BE49-F238E27FC236}">
                      <a16:creationId xmlns:a16="http://schemas.microsoft.com/office/drawing/2014/main" id="{8DE7A6B0-1014-184E-9108-23C65807C202}"/>
                    </a:ext>
                  </a:extLst>
                </p:cNvPr>
                <p:cNvSpPr>
                  <a:spLocks noChangeArrowheads="1"/>
                </p:cNvSpPr>
                <p:nvPr/>
              </p:nvSpPr>
              <p:spPr bwMode="auto">
                <a:xfrm>
                  <a:off x="1422" y="3732"/>
                  <a:ext cx="1002" cy="21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350" kern="0" dirty="0">
                    <a:solidFill>
                      <a:srgbClr val="000000"/>
                    </a:solidFill>
                    <a:latin typeface="Calibri" panose="020F0502020204030204"/>
                    <a:ea typeface="ＭＳ Ｐゴシック" charset="0"/>
                  </a:endParaRPr>
                </a:p>
              </p:txBody>
            </p:sp>
            <p:sp>
              <p:nvSpPr>
                <p:cNvPr id="139" name="Text Box 44">
                  <a:extLst>
                    <a:ext uri="{FF2B5EF4-FFF2-40B4-BE49-F238E27FC236}">
                      <a16:creationId xmlns:a16="http://schemas.microsoft.com/office/drawing/2014/main" id="{88457A8D-2DB2-C848-9B52-93F5252D0E1B}"/>
                    </a:ext>
                  </a:extLst>
                </p:cNvPr>
                <p:cNvSpPr txBox="1">
                  <a:spLocks noChangeArrowheads="1"/>
                </p:cNvSpPr>
                <p:nvPr/>
              </p:nvSpPr>
              <p:spPr bwMode="auto">
                <a:xfrm>
                  <a:off x="884" y="3594"/>
                  <a:ext cx="2091" cy="349"/>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2100" i="1" kern="0" dirty="0">
                      <a:solidFill>
                        <a:srgbClr val="CC0000"/>
                      </a:solidFill>
                      <a:latin typeface="Calibri" panose="020F0502020204030204"/>
                    </a:rPr>
                    <a:t>demultiplexing as receiver:</a:t>
                  </a:r>
                </a:p>
              </p:txBody>
            </p:sp>
          </p:grpSp>
        </p:grpSp>
      </p:grpSp>
      <p:grpSp>
        <p:nvGrpSpPr>
          <p:cNvPr id="140" name="Group 57">
            <a:extLst>
              <a:ext uri="{FF2B5EF4-FFF2-40B4-BE49-F238E27FC236}">
                <a16:creationId xmlns:a16="http://schemas.microsoft.com/office/drawing/2014/main" id="{AE84E6CF-C8B6-044E-92D9-9754C3253112}"/>
              </a:ext>
            </a:extLst>
          </p:cNvPr>
          <p:cNvGrpSpPr>
            <a:grpSpLocks/>
          </p:cNvGrpSpPr>
          <p:nvPr/>
        </p:nvGrpSpPr>
        <p:grpSpPr bwMode="auto">
          <a:xfrm>
            <a:off x="7367480" y="3985675"/>
            <a:ext cx="400050" cy="154781"/>
            <a:chOff x="344" y="1846"/>
            <a:chExt cx="336" cy="130"/>
          </a:xfrm>
        </p:grpSpPr>
        <p:sp>
          <p:nvSpPr>
            <p:cNvPr id="141" name="Rectangle 35">
              <a:extLst>
                <a:ext uri="{FF2B5EF4-FFF2-40B4-BE49-F238E27FC236}">
                  <a16:creationId xmlns:a16="http://schemas.microsoft.com/office/drawing/2014/main" id="{7D4B092F-0804-EE4A-94E0-8271C5100190}"/>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2" name="Rectangle 54">
              <a:extLst>
                <a:ext uri="{FF2B5EF4-FFF2-40B4-BE49-F238E27FC236}">
                  <a16:creationId xmlns:a16="http://schemas.microsoft.com/office/drawing/2014/main" id="{8FBA6612-C2CB-7A4A-BDE1-C5A9430DFE88}"/>
                </a:ext>
              </a:extLst>
            </p:cNvPr>
            <p:cNvSpPr>
              <a:spLocks noChangeArrowheads="1"/>
            </p:cNvSpPr>
            <p:nvPr/>
          </p:nvSpPr>
          <p:spPr bwMode="auto">
            <a:xfrm>
              <a:off x="454" y="1863"/>
              <a:ext cx="110"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3" name="Rectangle 55">
              <a:extLst>
                <a:ext uri="{FF2B5EF4-FFF2-40B4-BE49-F238E27FC236}">
                  <a16:creationId xmlns:a16="http://schemas.microsoft.com/office/drawing/2014/main" id="{CB6C4329-1870-6D47-94B8-AB8D08DC0029}"/>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4" name="Rectangle 56">
              <a:extLst>
                <a:ext uri="{FF2B5EF4-FFF2-40B4-BE49-F238E27FC236}">
                  <a16:creationId xmlns:a16="http://schemas.microsoft.com/office/drawing/2014/main" id="{7506EAD6-B400-9A41-8C08-BA08298518AB}"/>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4242089" y="3574908"/>
            <a:ext cx="1122760" cy="14859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800" dirty="0">
              <a:solidFill>
                <a:srgbClr val="000000"/>
              </a:solidFill>
              <a:latin typeface="Times New Roman" panose="02020603050405020304" pitchFamily="18" charset="0"/>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4215895" y="3615390"/>
            <a:ext cx="1104900" cy="1484710"/>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Times New Roman" panose="02020603050405020304" pitchFamily="18" charset="0"/>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4220657" y="4192843"/>
            <a:ext cx="1095375" cy="238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4274236" y="4179745"/>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4221849" y="4430968"/>
            <a:ext cx="1092994"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50" name="Text Box 26">
            <a:extLst>
              <a:ext uri="{FF2B5EF4-FFF2-40B4-BE49-F238E27FC236}">
                <a16:creationId xmlns:a16="http://schemas.microsoft.com/office/drawing/2014/main" id="{975D136A-FEFB-9E40-BA33-B33E91228F15}"/>
              </a:ext>
            </a:extLst>
          </p:cNvPr>
          <p:cNvSpPr txBox="1">
            <a:spLocks noChangeArrowheads="1"/>
          </p:cNvSpPr>
          <p:nvPr/>
        </p:nvSpPr>
        <p:spPr bwMode="auto">
          <a:xfrm>
            <a:off x="4271855" y="3590386"/>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application</a:t>
            </a: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4269474" y="4858402"/>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4269474" y="4644089"/>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4269474" y="4420252"/>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network</a:t>
            </a:r>
          </a:p>
        </p:txBody>
      </p:sp>
      <p:sp>
        <p:nvSpPr>
          <p:cNvPr id="154" name="Oval 120">
            <a:extLst>
              <a:ext uri="{FF2B5EF4-FFF2-40B4-BE49-F238E27FC236}">
                <a16:creationId xmlns:a16="http://schemas.microsoft.com/office/drawing/2014/main" id="{A77294DB-DD97-F741-82FD-F8B94839A458}"/>
              </a:ext>
            </a:extLst>
          </p:cNvPr>
          <p:cNvSpPr>
            <a:spLocks noChangeArrowheads="1"/>
          </p:cNvSpPr>
          <p:nvPr/>
        </p:nvSpPr>
        <p:spPr bwMode="auto">
          <a:xfrm>
            <a:off x="4794539" y="3871374"/>
            <a:ext cx="448866" cy="2286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r>
              <a:rPr lang="en-US" sz="1350" kern="0" dirty="0">
                <a:solidFill>
                  <a:srgbClr val="000000"/>
                </a:solidFill>
                <a:latin typeface="Calibri" panose="020F0502020204030204"/>
                <a:ea typeface="ＭＳ Ｐゴシック" charset="0"/>
              </a:rPr>
              <a:t>P2</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4219467" y="4664330"/>
            <a:ext cx="1092994"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4217086" y="4888168"/>
            <a:ext cx="1092994"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57" name="Oval 128">
            <a:extLst>
              <a:ext uri="{FF2B5EF4-FFF2-40B4-BE49-F238E27FC236}">
                <a16:creationId xmlns:a16="http://schemas.microsoft.com/office/drawing/2014/main" id="{AAD00A20-9526-2F4E-9C87-C3B249C8E909}"/>
              </a:ext>
            </a:extLst>
          </p:cNvPr>
          <p:cNvSpPr>
            <a:spLocks noChangeArrowheads="1"/>
          </p:cNvSpPr>
          <p:nvPr/>
        </p:nvSpPr>
        <p:spPr bwMode="auto">
          <a:xfrm>
            <a:off x="4265901" y="3871374"/>
            <a:ext cx="448866" cy="2286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r>
              <a:rPr lang="en-US" sz="1350" kern="0" dirty="0">
                <a:solidFill>
                  <a:srgbClr val="000000"/>
                </a:solidFill>
                <a:latin typeface="Calibri" panose="020F0502020204030204"/>
                <a:ea typeface="ＭＳ Ｐゴシック" charset="0"/>
              </a:rPr>
              <a:t>P1</a:t>
            </a:r>
          </a:p>
        </p:txBody>
      </p:sp>
      <p:grpSp>
        <p:nvGrpSpPr>
          <p:cNvPr id="158" name="Group 134">
            <a:extLst>
              <a:ext uri="{FF2B5EF4-FFF2-40B4-BE49-F238E27FC236}">
                <a16:creationId xmlns:a16="http://schemas.microsoft.com/office/drawing/2014/main" id="{015BC705-D8E3-EA41-A198-6A8DDB031BE2}"/>
              </a:ext>
            </a:extLst>
          </p:cNvPr>
          <p:cNvGrpSpPr>
            <a:grpSpLocks/>
          </p:cNvGrpSpPr>
          <p:nvPr/>
        </p:nvGrpSpPr>
        <p:grpSpPr bwMode="auto">
          <a:xfrm>
            <a:off x="4851688" y="4140455"/>
            <a:ext cx="309563" cy="119063"/>
            <a:chOff x="1383" y="2620"/>
            <a:chExt cx="260" cy="100"/>
          </a:xfrm>
        </p:grpSpPr>
        <p:sp>
          <p:nvSpPr>
            <p:cNvPr id="159" name="Rectangle 130">
              <a:extLst>
                <a:ext uri="{FF2B5EF4-FFF2-40B4-BE49-F238E27FC236}">
                  <a16:creationId xmlns:a16="http://schemas.microsoft.com/office/drawing/2014/main" id="{617E09BE-67A7-E846-8718-4C5F4E894E09}"/>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60" name="Rectangle 131">
              <a:extLst>
                <a:ext uri="{FF2B5EF4-FFF2-40B4-BE49-F238E27FC236}">
                  <a16:creationId xmlns:a16="http://schemas.microsoft.com/office/drawing/2014/main" id="{DAEC0345-B8B5-6942-9E07-837C51C11EAA}"/>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61" name="Rectangle 132">
              <a:extLst>
                <a:ext uri="{FF2B5EF4-FFF2-40B4-BE49-F238E27FC236}">
                  <a16:creationId xmlns:a16="http://schemas.microsoft.com/office/drawing/2014/main" id="{CBC575E8-9188-C944-A373-1BE60CEDE448}"/>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62" name="Rectangle 133">
              <a:extLst>
                <a:ext uri="{FF2B5EF4-FFF2-40B4-BE49-F238E27FC236}">
                  <a16:creationId xmlns:a16="http://schemas.microsoft.com/office/drawing/2014/main" id="{5CBAC889-4624-214B-8DD0-1C5D2121C35A}"/>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grpSp>
        <p:nvGrpSpPr>
          <p:cNvPr id="163" name="Group 135">
            <a:extLst>
              <a:ext uri="{FF2B5EF4-FFF2-40B4-BE49-F238E27FC236}">
                <a16:creationId xmlns:a16="http://schemas.microsoft.com/office/drawing/2014/main" id="{E0C06B10-B8DE-5649-9DA7-1C38410338CA}"/>
              </a:ext>
            </a:extLst>
          </p:cNvPr>
          <p:cNvGrpSpPr>
            <a:grpSpLocks/>
          </p:cNvGrpSpPr>
          <p:nvPr/>
        </p:nvGrpSpPr>
        <p:grpSpPr bwMode="auto">
          <a:xfrm>
            <a:off x="4325432" y="4134502"/>
            <a:ext cx="309563" cy="119063"/>
            <a:chOff x="1383" y="2620"/>
            <a:chExt cx="260" cy="100"/>
          </a:xfrm>
        </p:grpSpPr>
        <p:sp>
          <p:nvSpPr>
            <p:cNvPr id="164" name="Rectangle 136">
              <a:extLst>
                <a:ext uri="{FF2B5EF4-FFF2-40B4-BE49-F238E27FC236}">
                  <a16:creationId xmlns:a16="http://schemas.microsoft.com/office/drawing/2014/main" id="{90DDD937-6604-0E4A-BC22-D30869333133}"/>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65" name="Rectangle 137">
              <a:extLst>
                <a:ext uri="{FF2B5EF4-FFF2-40B4-BE49-F238E27FC236}">
                  <a16:creationId xmlns:a16="http://schemas.microsoft.com/office/drawing/2014/main" id="{12ACDF7C-B3D8-9B4A-BD4A-D8CF4A028253}"/>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66" name="Rectangle 138">
              <a:extLst>
                <a:ext uri="{FF2B5EF4-FFF2-40B4-BE49-F238E27FC236}">
                  <a16:creationId xmlns:a16="http://schemas.microsoft.com/office/drawing/2014/main" id="{BBABF61C-A52E-5440-86D9-57F0C4530FF0}"/>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67" name="Rectangle 139">
              <a:extLst>
                <a:ext uri="{FF2B5EF4-FFF2-40B4-BE49-F238E27FC236}">
                  <a16:creationId xmlns:a16="http://schemas.microsoft.com/office/drawing/2014/main" id="{32461327-4600-6E4F-AB44-FD06E8C35B24}"/>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5938730" y="3852324"/>
            <a:ext cx="972740" cy="14859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800" dirty="0">
              <a:solidFill>
                <a:srgbClr val="000000"/>
              </a:solidFill>
              <a:latin typeface="Times New Roman" panose="02020603050405020304" pitchFamily="18" charset="0"/>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5910155" y="3892805"/>
            <a:ext cx="954881" cy="1484709"/>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Times New Roman" panose="02020603050405020304" pitchFamily="18" charset="0"/>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5917298" y="4463115"/>
            <a:ext cx="947738" cy="238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5885151" y="4450018"/>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5923251" y="4703621"/>
            <a:ext cx="947738" cy="238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5912536" y="4935793"/>
            <a:ext cx="947738" cy="238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5912536" y="5150106"/>
            <a:ext cx="947738" cy="238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5911345" y="3885661"/>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5878008" y="5128674"/>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5892295" y="4914361"/>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5885151" y="4692905"/>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network</a:t>
            </a:r>
          </a:p>
        </p:txBody>
      </p:sp>
      <p:sp>
        <p:nvSpPr>
          <p:cNvPr id="181" name="Oval 101">
            <a:extLst>
              <a:ext uri="{FF2B5EF4-FFF2-40B4-BE49-F238E27FC236}">
                <a16:creationId xmlns:a16="http://schemas.microsoft.com/office/drawing/2014/main" id="{092F802C-72A1-EE41-9CEB-72883AD3F29F}"/>
              </a:ext>
            </a:extLst>
          </p:cNvPr>
          <p:cNvSpPr>
            <a:spLocks noChangeArrowheads="1"/>
          </p:cNvSpPr>
          <p:nvPr/>
        </p:nvSpPr>
        <p:spPr bwMode="auto">
          <a:xfrm>
            <a:off x="6162568" y="4141646"/>
            <a:ext cx="448865" cy="2286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r>
              <a:rPr lang="en-US" sz="1350" kern="0" dirty="0">
                <a:solidFill>
                  <a:srgbClr val="000000"/>
                </a:solidFill>
                <a:latin typeface="Calibri" panose="020F0502020204030204"/>
                <a:ea typeface="ＭＳ Ｐゴシック" charset="0"/>
              </a:rPr>
              <a:t>P4</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6874561" y="3876136"/>
            <a:ext cx="435769" cy="1528763"/>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232313" y="3891614"/>
            <a:ext cx="414338" cy="15621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2679989" y="3858277"/>
            <a:ext cx="972741" cy="14859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800" dirty="0">
              <a:solidFill>
                <a:srgbClr val="000000"/>
              </a:solidFill>
              <a:latin typeface="Times New Roman" panose="02020603050405020304" pitchFamily="18" charset="0"/>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2651414" y="3898758"/>
            <a:ext cx="954881" cy="1484710"/>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Times New Roman" panose="02020603050405020304" pitchFamily="18" charset="0"/>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2658557" y="4469068"/>
            <a:ext cx="947738" cy="238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2626411" y="4455970"/>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2664511" y="4709575"/>
            <a:ext cx="947738" cy="238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2653795" y="4941746"/>
            <a:ext cx="947738" cy="238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2653795" y="5156059"/>
            <a:ext cx="947738" cy="238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200" kern="0" dirty="0">
              <a:solidFill>
                <a:srgbClr val="000000"/>
              </a:solidFill>
              <a:latin typeface="Tahoma" panose="020B0604030504040204" pitchFamily="34" charset="0"/>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2652605" y="3891614"/>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2619267" y="5134627"/>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2633555" y="4920314"/>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2626411" y="4698858"/>
            <a:ext cx="988219" cy="2532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050" kern="0" dirty="0">
                <a:solidFill>
                  <a:srgbClr val="000000"/>
                </a:solidFill>
              </a:rPr>
              <a:t>network</a:t>
            </a:r>
          </a:p>
        </p:txBody>
      </p:sp>
      <p:sp>
        <p:nvSpPr>
          <p:cNvPr id="195" name="Oval 23">
            <a:extLst>
              <a:ext uri="{FF2B5EF4-FFF2-40B4-BE49-F238E27FC236}">
                <a16:creationId xmlns:a16="http://schemas.microsoft.com/office/drawing/2014/main" id="{34D7692A-81D8-4D48-8FE7-F92A1F47470B}"/>
              </a:ext>
            </a:extLst>
          </p:cNvPr>
          <p:cNvSpPr>
            <a:spLocks noChangeArrowheads="1"/>
          </p:cNvSpPr>
          <p:nvPr/>
        </p:nvSpPr>
        <p:spPr bwMode="auto">
          <a:xfrm>
            <a:off x="2903826" y="4147599"/>
            <a:ext cx="448866" cy="2286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r>
              <a:rPr lang="en-US" sz="1350" kern="0" dirty="0">
                <a:solidFill>
                  <a:srgbClr val="000000"/>
                </a:solidFill>
                <a:latin typeface="Calibri" panose="020F0502020204030204"/>
                <a:ea typeface="ＭＳ Ｐゴシック" charset="0"/>
              </a:rPr>
              <a:t>P3</a:t>
            </a:r>
          </a:p>
        </p:txBody>
      </p:sp>
      <p:grpSp>
        <p:nvGrpSpPr>
          <p:cNvPr id="196" name="Group 149">
            <a:extLst>
              <a:ext uri="{FF2B5EF4-FFF2-40B4-BE49-F238E27FC236}">
                <a16:creationId xmlns:a16="http://schemas.microsoft.com/office/drawing/2014/main" id="{21881EDC-E749-4F46-8C1C-B44DD21BA9AD}"/>
              </a:ext>
            </a:extLst>
          </p:cNvPr>
          <p:cNvGrpSpPr>
            <a:grpSpLocks/>
          </p:cNvGrpSpPr>
          <p:nvPr/>
        </p:nvGrpSpPr>
        <p:grpSpPr bwMode="auto">
          <a:xfrm>
            <a:off x="2971692" y="4401202"/>
            <a:ext cx="309563" cy="119063"/>
            <a:chOff x="1287" y="2524"/>
            <a:chExt cx="260" cy="100"/>
          </a:xfrm>
        </p:grpSpPr>
        <p:sp>
          <p:nvSpPr>
            <p:cNvPr id="197" name="Rectangle 73">
              <a:extLst>
                <a:ext uri="{FF2B5EF4-FFF2-40B4-BE49-F238E27FC236}">
                  <a16:creationId xmlns:a16="http://schemas.microsoft.com/office/drawing/2014/main" id="{F3D0248D-63A0-3447-AD45-C92BA38B99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98" name="Rectangle 74">
              <a:extLst>
                <a:ext uri="{FF2B5EF4-FFF2-40B4-BE49-F238E27FC236}">
                  <a16:creationId xmlns:a16="http://schemas.microsoft.com/office/drawing/2014/main" id="{A8C44BD4-B473-EA48-B1D2-4212120DE72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99" name="Rectangle 75">
              <a:extLst>
                <a:ext uri="{FF2B5EF4-FFF2-40B4-BE49-F238E27FC236}">
                  <a16:creationId xmlns:a16="http://schemas.microsoft.com/office/drawing/2014/main" id="{08B6F9A7-9AD7-B040-B431-D7898B46726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0" name="Rectangle 129">
              <a:extLst>
                <a:ext uri="{FF2B5EF4-FFF2-40B4-BE49-F238E27FC236}">
                  <a16:creationId xmlns:a16="http://schemas.microsoft.com/office/drawing/2014/main" id="{310C322C-F672-7946-BD16-DA4CE50EE1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grpSp>
        <p:nvGrpSpPr>
          <p:cNvPr id="201" name="Group 150">
            <a:extLst>
              <a:ext uri="{FF2B5EF4-FFF2-40B4-BE49-F238E27FC236}">
                <a16:creationId xmlns:a16="http://schemas.microsoft.com/office/drawing/2014/main" id="{C5660C67-80CE-084B-8B8D-F5CCCDA73638}"/>
              </a:ext>
            </a:extLst>
          </p:cNvPr>
          <p:cNvGrpSpPr>
            <a:grpSpLocks/>
          </p:cNvGrpSpPr>
          <p:nvPr/>
        </p:nvGrpSpPr>
        <p:grpSpPr bwMode="auto">
          <a:xfrm>
            <a:off x="6226861" y="4400011"/>
            <a:ext cx="309563" cy="119063"/>
            <a:chOff x="1287" y="2524"/>
            <a:chExt cx="260" cy="100"/>
          </a:xfrm>
        </p:grpSpPr>
        <p:sp>
          <p:nvSpPr>
            <p:cNvPr id="202" name="Rectangle 151">
              <a:extLst>
                <a:ext uri="{FF2B5EF4-FFF2-40B4-BE49-F238E27FC236}">
                  <a16:creationId xmlns:a16="http://schemas.microsoft.com/office/drawing/2014/main" id="{E39443DC-01F4-7A42-BC3B-BD48B19524D4}"/>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3" name="Rectangle 152">
              <a:extLst>
                <a:ext uri="{FF2B5EF4-FFF2-40B4-BE49-F238E27FC236}">
                  <a16:creationId xmlns:a16="http://schemas.microsoft.com/office/drawing/2014/main" id="{810BA023-C5B8-434B-9FF4-507BAFBB2551}"/>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4" name="Rectangle 153">
              <a:extLst>
                <a:ext uri="{FF2B5EF4-FFF2-40B4-BE49-F238E27FC236}">
                  <a16:creationId xmlns:a16="http://schemas.microsoft.com/office/drawing/2014/main" id="{48739CB2-AA1C-8B4E-8D0B-CFBBB2A4F3F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5" name="Rectangle 154">
              <a:extLst>
                <a:ext uri="{FF2B5EF4-FFF2-40B4-BE49-F238E27FC236}">
                  <a16:creationId xmlns:a16="http://schemas.microsoft.com/office/drawing/2014/main" id="{435BB581-5D52-C345-BA75-358EC9A4374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206" name="Freeform 146">
            <a:extLst>
              <a:ext uri="{FF2B5EF4-FFF2-40B4-BE49-F238E27FC236}">
                <a16:creationId xmlns:a16="http://schemas.microsoft.com/office/drawing/2014/main" id="{8EB20ED3-9276-204C-BA00-A485E0531DD2}"/>
              </a:ext>
            </a:extLst>
          </p:cNvPr>
          <p:cNvSpPr>
            <a:spLocks/>
          </p:cNvSpPr>
          <p:nvPr/>
        </p:nvSpPr>
        <p:spPr bwMode="auto">
          <a:xfrm>
            <a:off x="4762393" y="4176174"/>
            <a:ext cx="1629965" cy="1491853"/>
          </a:xfrm>
          <a:custGeom>
            <a:avLst/>
            <a:gdLst>
              <a:gd name="T0" fmla="*/ 2147483647 w 1369"/>
              <a:gd name="T1" fmla="*/ 2147483647 h 1253"/>
              <a:gd name="T2" fmla="*/ 2147483647 w 1369"/>
              <a:gd name="T3" fmla="*/ 2147483647 h 1253"/>
              <a:gd name="T4" fmla="*/ 2147483647 w 1369"/>
              <a:gd name="T5" fmla="*/ 2147483647 h 1253"/>
              <a:gd name="T6" fmla="*/ 0 w 1369"/>
              <a:gd name="T7" fmla="*/ 2147483647 h 1253"/>
              <a:gd name="T8" fmla="*/ 2147483647 w 1369"/>
              <a:gd name="T9" fmla="*/ 0 h 1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9" h="1253">
                <a:moveTo>
                  <a:pt x="1369" y="216"/>
                </a:moveTo>
                <a:lnTo>
                  <a:pt x="1362" y="1252"/>
                </a:lnTo>
                <a:lnTo>
                  <a:pt x="16" y="1253"/>
                </a:lnTo>
                <a:lnTo>
                  <a:pt x="0" y="121"/>
                </a:lnTo>
                <a:lnTo>
                  <a:pt x="191"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dirty="0">
              <a:solidFill>
                <a:srgbClr val="000000"/>
              </a:solidFill>
              <a:latin typeface="Tahoma" panose="020B0604030504040204" pitchFamily="34" charset="0"/>
            </a:endParaRPr>
          </a:p>
        </p:txBody>
      </p:sp>
      <p:sp>
        <p:nvSpPr>
          <p:cNvPr id="207" name="Freeform 147">
            <a:extLst>
              <a:ext uri="{FF2B5EF4-FFF2-40B4-BE49-F238E27FC236}">
                <a16:creationId xmlns:a16="http://schemas.microsoft.com/office/drawing/2014/main" id="{911482D4-C931-F64A-A760-F208DA9E7FB6}"/>
              </a:ext>
            </a:extLst>
          </p:cNvPr>
          <p:cNvSpPr>
            <a:spLocks/>
          </p:cNvSpPr>
          <p:nvPr/>
        </p:nvSpPr>
        <p:spPr bwMode="auto">
          <a:xfrm>
            <a:off x="4851689" y="4199987"/>
            <a:ext cx="1488281" cy="1407319"/>
          </a:xfrm>
          <a:custGeom>
            <a:avLst/>
            <a:gdLst>
              <a:gd name="T0" fmla="*/ 2147483647 w 1250"/>
              <a:gd name="T1" fmla="*/ 2147483647 h 1182"/>
              <a:gd name="T2" fmla="*/ 2147483647 w 1250"/>
              <a:gd name="T3" fmla="*/ 2147483647 h 1182"/>
              <a:gd name="T4" fmla="*/ 2147483647 w 1250"/>
              <a:gd name="T5" fmla="*/ 2147483647 h 1182"/>
              <a:gd name="T6" fmla="*/ 0 w 1250"/>
              <a:gd name="T7" fmla="*/ 2147483647 h 1182"/>
              <a:gd name="T8" fmla="*/ 2147483647 w 1250"/>
              <a:gd name="T9" fmla="*/ 0 h 11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0" h="1182">
                <a:moveTo>
                  <a:pt x="1250" y="190"/>
                </a:moveTo>
                <a:lnTo>
                  <a:pt x="1244" y="1182"/>
                </a:lnTo>
                <a:lnTo>
                  <a:pt x="19" y="1181"/>
                </a:lnTo>
                <a:lnTo>
                  <a:pt x="0" y="155"/>
                </a:lnTo>
                <a:lnTo>
                  <a:pt x="171"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dirty="0">
              <a:solidFill>
                <a:srgbClr val="000000"/>
              </a:solidFill>
              <a:latin typeface="Tahoma" panose="020B0604030504040204" pitchFamily="34" charset="0"/>
            </a:endParaRPr>
          </a:p>
        </p:txBody>
      </p:sp>
      <p:sp>
        <p:nvSpPr>
          <p:cNvPr id="208" name="Oval 36">
            <a:extLst>
              <a:ext uri="{FF2B5EF4-FFF2-40B4-BE49-F238E27FC236}">
                <a16:creationId xmlns:a16="http://schemas.microsoft.com/office/drawing/2014/main" id="{6C459D77-5631-504A-9CB0-A48BD9C61B3E}"/>
              </a:ext>
            </a:extLst>
          </p:cNvPr>
          <p:cNvSpPr>
            <a:spLocks noChangeArrowheads="1"/>
          </p:cNvSpPr>
          <p:nvPr/>
        </p:nvSpPr>
        <p:spPr bwMode="auto">
          <a:xfrm>
            <a:off x="7356764" y="4259518"/>
            <a:ext cx="448866" cy="2286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omic Sans MS" charset="0"/>
              <a:ea typeface="ＭＳ Ｐゴシック" charset="0"/>
            </a:endParaRPr>
          </a:p>
        </p:txBody>
      </p:sp>
      <p:grpSp>
        <p:nvGrpSpPr>
          <p:cNvPr id="8" name="Group 7"/>
          <p:cNvGrpSpPr/>
          <p:nvPr/>
        </p:nvGrpSpPr>
        <p:grpSpPr>
          <a:xfrm>
            <a:off x="4545698" y="4354748"/>
            <a:ext cx="416499" cy="53633"/>
            <a:chOff x="1420065" y="5012608"/>
            <a:chExt cx="555332" cy="71510"/>
          </a:xfrm>
        </p:grpSpPr>
        <p:sp>
          <p:nvSpPr>
            <p:cNvPr id="210" name="Oval 166">
              <a:extLst>
                <a:ext uri="{FF2B5EF4-FFF2-40B4-BE49-F238E27FC236}">
                  <a16:creationId xmlns:a16="http://schemas.microsoft.com/office/drawing/2014/main" id="{ADD1825C-C7DB-6844-A3DF-BCF2BA1F0533}"/>
                </a:ext>
              </a:extLst>
            </p:cNvPr>
            <p:cNvSpPr>
              <a:spLocks noChangeArrowheads="1"/>
            </p:cNvSpPr>
            <p:nvPr/>
          </p:nvSpPr>
          <p:spPr bwMode="auto">
            <a:xfrm>
              <a:off x="1420065" y="5012608"/>
              <a:ext cx="196850" cy="69850"/>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dirty="0">
                <a:solidFill>
                  <a:srgbClr val="000000"/>
                </a:solidFill>
                <a:latin typeface="Tahoma" charset="0"/>
                <a:ea typeface="ＭＳ Ｐゴシック" charset="0"/>
              </a:endParaRPr>
            </a:p>
          </p:txBody>
        </p:sp>
        <p:sp>
          <p:nvSpPr>
            <p:cNvPr id="211" name="Oval 167">
              <a:extLst>
                <a:ext uri="{FF2B5EF4-FFF2-40B4-BE49-F238E27FC236}">
                  <a16:creationId xmlns:a16="http://schemas.microsoft.com/office/drawing/2014/main" id="{0600B33C-3B3C-0646-85DB-B042B7A87603}"/>
                </a:ext>
              </a:extLst>
            </p:cNvPr>
            <p:cNvSpPr>
              <a:spLocks noChangeArrowheads="1"/>
            </p:cNvSpPr>
            <p:nvPr/>
          </p:nvSpPr>
          <p:spPr bwMode="auto">
            <a:xfrm>
              <a:off x="1778547" y="5014268"/>
              <a:ext cx="196850" cy="69850"/>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dirty="0">
                <a:solidFill>
                  <a:srgbClr val="000000"/>
                </a:solidFill>
                <a:latin typeface="Tahoma" charset="0"/>
                <a:ea typeface="ＭＳ Ｐゴシック" charset="0"/>
              </a:endParaRPr>
            </a:p>
          </p:txBody>
        </p:sp>
      </p:grpSp>
      <p:sp>
        <p:nvSpPr>
          <p:cNvPr id="212" name="Freeform 168">
            <a:extLst>
              <a:ext uri="{FF2B5EF4-FFF2-40B4-BE49-F238E27FC236}">
                <a16:creationId xmlns:a16="http://schemas.microsoft.com/office/drawing/2014/main" id="{202E5E96-F7A0-1448-90F0-6A79F4073978}"/>
              </a:ext>
            </a:extLst>
          </p:cNvPr>
          <p:cNvSpPr>
            <a:spLocks/>
          </p:cNvSpPr>
          <p:nvPr/>
        </p:nvSpPr>
        <p:spPr bwMode="auto">
          <a:xfrm>
            <a:off x="3983723" y="3314162"/>
            <a:ext cx="516731" cy="1076325"/>
          </a:xfrm>
          <a:custGeom>
            <a:avLst/>
            <a:gdLst>
              <a:gd name="T0" fmla="*/ 434 w 434"/>
              <a:gd name="T1" fmla="*/ 904 h 904"/>
              <a:gd name="T2" fmla="*/ 2 w 434"/>
              <a:gd name="T3" fmla="*/ 902 h 904"/>
              <a:gd name="T4" fmla="*/ 0 w 434"/>
              <a:gd name="T5" fmla="*/ 0 h 904"/>
              <a:gd name="T6" fmla="*/ 0 60000 65536"/>
              <a:gd name="T7" fmla="*/ 0 60000 65536"/>
              <a:gd name="T8" fmla="*/ 0 60000 65536"/>
            </a:gdLst>
            <a:ahLst/>
            <a:cxnLst>
              <a:cxn ang="T6">
                <a:pos x="T0" y="T1"/>
              </a:cxn>
              <a:cxn ang="T7">
                <a:pos x="T2" y="T3"/>
              </a:cxn>
              <a:cxn ang="T8">
                <a:pos x="T4" y="T5"/>
              </a:cxn>
            </a:cxnLst>
            <a:rect l="0" t="0" r="r" b="b"/>
            <a:pathLst>
              <a:path w="434" h="904">
                <a:moveTo>
                  <a:pt x="434" y="904"/>
                </a:moveTo>
                <a:lnTo>
                  <a:pt x="2" y="902"/>
                </a:lnTo>
                <a:lnTo>
                  <a:pt x="0" y="0"/>
                </a:lnTo>
              </a:path>
            </a:pathLst>
          </a:custGeom>
          <a:noFill/>
          <a:ln w="19050" cap="flat" cmpd="sng">
            <a:solidFill>
              <a:srgbClr val="CC0000"/>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dirty="0">
              <a:solidFill>
                <a:srgbClr val="000000"/>
              </a:solidFill>
              <a:latin typeface="Tahoma" panose="020B0604030504040204" pitchFamily="34" charset="0"/>
            </a:endParaRPr>
          </a:p>
        </p:txBody>
      </p:sp>
      <p:grpSp>
        <p:nvGrpSpPr>
          <p:cNvPr id="213" name="Group 172">
            <a:extLst>
              <a:ext uri="{FF2B5EF4-FFF2-40B4-BE49-F238E27FC236}">
                <a16:creationId xmlns:a16="http://schemas.microsoft.com/office/drawing/2014/main" id="{A2D29F5F-484F-7547-9B9A-8974E37BD10F}"/>
              </a:ext>
            </a:extLst>
          </p:cNvPr>
          <p:cNvGrpSpPr>
            <a:grpSpLocks/>
          </p:cNvGrpSpPr>
          <p:nvPr/>
        </p:nvGrpSpPr>
        <p:grpSpPr bwMode="auto">
          <a:xfrm>
            <a:off x="4658807" y="3286777"/>
            <a:ext cx="785813" cy="1081088"/>
            <a:chOff x="2432" y="1758"/>
            <a:chExt cx="660" cy="908"/>
          </a:xfrm>
        </p:grpSpPr>
        <p:sp>
          <p:nvSpPr>
            <p:cNvPr id="214" name="Oval 170">
              <a:extLst>
                <a:ext uri="{FF2B5EF4-FFF2-40B4-BE49-F238E27FC236}">
                  <a16:creationId xmlns:a16="http://schemas.microsoft.com/office/drawing/2014/main" id="{E03C7F13-7247-C24D-85C2-723A1405F160}"/>
                </a:ext>
              </a:extLst>
            </p:cNvPr>
            <p:cNvSpPr>
              <a:spLocks noChangeArrowheads="1"/>
            </p:cNvSpPr>
            <p:nvPr/>
          </p:nvSpPr>
          <p:spPr bwMode="auto">
            <a:xfrm>
              <a:off x="2432" y="2564"/>
              <a:ext cx="144" cy="102"/>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dirty="0">
                <a:solidFill>
                  <a:srgbClr val="000000"/>
                </a:solidFill>
                <a:latin typeface="Tahoma" charset="0"/>
                <a:ea typeface="ＭＳ Ｐゴシック" charset="0"/>
              </a:endParaRPr>
            </a:p>
          </p:txBody>
        </p:sp>
        <p:sp>
          <p:nvSpPr>
            <p:cNvPr id="215" name="Freeform 171">
              <a:extLst>
                <a:ext uri="{FF2B5EF4-FFF2-40B4-BE49-F238E27FC236}">
                  <a16:creationId xmlns:a16="http://schemas.microsoft.com/office/drawing/2014/main" id="{9BC6BA8A-16A3-F446-97F4-76774828464D}"/>
                </a:ext>
              </a:extLst>
            </p:cNvPr>
            <p:cNvSpPr>
              <a:spLocks/>
            </p:cNvSpPr>
            <p:nvPr/>
          </p:nvSpPr>
          <p:spPr bwMode="auto">
            <a:xfrm>
              <a:off x="2506" y="1758"/>
              <a:ext cx="586" cy="810"/>
            </a:xfrm>
            <a:custGeom>
              <a:avLst/>
              <a:gdLst>
                <a:gd name="T0" fmla="*/ 0 w 586"/>
                <a:gd name="T1" fmla="*/ 810 h 810"/>
                <a:gd name="T2" fmla="*/ 2 w 586"/>
                <a:gd name="T3" fmla="*/ 808 h 810"/>
                <a:gd name="T4" fmla="*/ 2 w 586"/>
                <a:gd name="T5" fmla="*/ 170 h 810"/>
                <a:gd name="T6" fmla="*/ 586 w 586"/>
                <a:gd name="T7" fmla="*/ 0 h 8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6" h="810">
                  <a:moveTo>
                    <a:pt x="0" y="810"/>
                  </a:moveTo>
                  <a:lnTo>
                    <a:pt x="2" y="808"/>
                  </a:lnTo>
                  <a:lnTo>
                    <a:pt x="2" y="170"/>
                  </a:lnTo>
                  <a:lnTo>
                    <a:pt x="586" y="0"/>
                  </a:lnTo>
                </a:path>
              </a:pathLst>
            </a:custGeom>
            <a:noFill/>
            <a:ln w="12700" cap="flat" cmpd="sng">
              <a:solidFill>
                <a:srgbClr val="CC0000"/>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dirty="0">
                <a:solidFill>
                  <a:srgbClr val="000000"/>
                </a:solidFill>
                <a:latin typeface="Tahoma" panose="020B0604030504040204" pitchFamily="34" charset="0"/>
              </a:endParaRPr>
            </a:p>
          </p:txBody>
        </p:sp>
      </p:gr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1883461" y="5023900"/>
            <a:ext cx="600075" cy="621506"/>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kern="0" dirty="0">
                <a:solidFill>
                  <a:srgbClr val="000000"/>
                </a:solidFill>
                <a:latin typeface="Tahoma" panose="020B0604030504040204" pitchFamily="34" charset="0"/>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7119830" y="4959606"/>
            <a:ext cx="591740" cy="586978"/>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kern="0" dirty="0">
                <a:solidFill>
                  <a:srgbClr val="000000"/>
                </a:solidFill>
                <a:latin typeface="Tahoma" panose="020B0604030504040204" pitchFamily="34" charset="0"/>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3812274" y="4648852"/>
            <a:ext cx="269081" cy="528638"/>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1" hangingPunct="1">
                <a:defRPr/>
              </a:pPr>
              <a:endParaRPr lang="en-US" sz="1350" kern="0" dirty="0">
                <a:solidFill>
                  <a:srgbClr val="FF0000"/>
                </a:solidFill>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grpSp>
        <p:nvGrpSpPr>
          <p:cNvPr id="255" name="Group 176">
            <a:extLst>
              <a:ext uri="{FF2B5EF4-FFF2-40B4-BE49-F238E27FC236}">
                <a16:creationId xmlns:a16="http://schemas.microsoft.com/office/drawing/2014/main" id="{A688A9DA-2CE4-9245-B0CF-12C3AB6DA03D}"/>
              </a:ext>
            </a:extLst>
          </p:cNvPr>
          <p:cNvGrpSpPr>
            <a:grpSpLocks/>
          </p:cNvGrpSpPr>
          <p:nvPr/>
        </p:nvGrpSpPr>
        <p:grpSpPr bwMode="auto">
          <a:xfrm>
            <a:off x="887316" y="2029501"/>
            <a:ext cx="3619524" cy="1289741"/>
            <a:chOff x="5" y="727"/>
            <a:chExt cx="2460" cy="1047"/>
          </a:xfrm>
        </p:grpSpPr>
        <p:sp>
          <p:nvSpPr>
            <p:cNvPr id="256" name="Text Box 45">
              <a:extLst>
                <a:ext uri="{FF2B5EF4-FFF2-40B4-BE49-F238E27FC236}">
                  <a16:creationId xmlns:a16="http://schemas.microsoft.com/office/drawing/2014/main" id="{08227C49-D6DA-834A-88D1-4F61E7C3A2C1}"/>
                </a:ext>
              </a:extLst>
            </p:cNvPr>
            <p:cNvSpPr txBox="1">
              <a:spLocks noChangeArrowheads="1"/>
            </p:cNvSpPr>
            <p:nvPr/>
          </p:nvSpPr>
          <p:spPr bwMode="auto">
            <a:xfrm>
              <a:off x="133" y="1101"/>
              <a:ext cx="2332" cy="61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lnSpc>
                  <a:spcPct val="80000"/>
                </a:lnSpc>
                <a:spcBef>
                  <a:spcPts val="0"/>
                </a:spcBef>
                <a:spcAft>
                  <a:spcPts val="0"/>
                </a:spcAft>
                <a:defRPr/>
              </a:pPr>
              <a:r>
                <a:rPr lang="en-US" sz="1800" dirty="0">
                  <a:solidFill>
                    <a:prstClr val="black"/>
                  </a:solidFill>
                  <a:latin typeface="Calibri" panose="020F0502020204030204"/>
                </a:rPr>
                <a:t>handle data from multiple</a:t>
              </a:r>
            </a:p>
            <a:p>
              <a:pPr defTabSz="685800" eaLnBrk="1" fontAlgn="auto" hangingPunct="1">
                <a:lnSpc>
                  <a:spcPct val="80000"/>
                </a:lnSpc>
                <a:spcBef>
                  <a:spcPts val="0"/>
                </a:spcBef>
                <a:spcAft>
                  <a:spcPts val="0"/>
                </a:spcAft>
                <a:defRPr/>
              </a:pPr>
              <a:r>
                <a:rPr lang="en-US" sz="1800" dirty="0">
                  <a:solidFill>
                    <a:prstClr val="black"/>
                  </a:solidFill>
                  <a:latin typeface="Calibri" panose="020F0502020204030204"/>
                </a:rPr>
                <a:t>sockets, add transport header (later used for demultiplexing)</a:t>
              </a:r>
            </a:p>
          </p:txBody>
        </p:sp>
        <p:sp>
          <p:nvSpPr>
            <p:cNvPr id="257" name="Rectangle 46">
              <a:extLst>
                <a:ext uri="{FF2B5EF4-FFF2-40B4-BE49-F238E27FC236}">
                  <a16:creationId xmlns:a16="http://schemas.microsoft.com/office/drawing/2014/main" id="{3B2C1C25-63A3-9D42-A34A-56DE5B3AC226}"/>
                </a:ext>
              </a:extLst>
            </p:cNvPr>
            <p:cNvSpPr>
              <a:spLocks noChangeArrowheads="1"/>
            </p:cNvSpPr>
            <p:nvPr/>
          </p:nvSpPr>
          <p:spPr bwMode="auto">
            <a:xfrm>
              <a:off x="5" y="901"/>
              <a:ext cx="2298" cy="873"/>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ＭＳ Ｐゴシック" charset="0"/>
              </a:endParaRPr>
            </a:p>
          </p:txBody>
        </p:sp>
        <p:grpSp>
          <p:nvGrpSpPr>
            <p:cNvPr id="258" name="Group 47">
              <a:extLst>
                <a:ext uri="{FF2B5EF4-FFF2-40B4-BE49-F238E27FC236}">
                  <a16:creationId xmlns:a16="http://schemas.microsoft.com/office/drawing/2014/main" id="{9141C6D7-5B52-C14E-B286-0BE1FAEACCB8}"/>
                </a:ext>
              </a:extLst>
            </p:cNvPr>
            <p:cNvGrpSpPr>
              <a:grpSpLocks/>
            </p:cNvGrpSpPr>
            <p:nvPr/>
          </p:nvGrpSpPr>
          <p:grpSpPr bwMode="auto">
            <a:xfrm>
              <a:off x="91" y="727"/>
              <a:ext cx="1854" cy="375"/>
              <a:chOff x="869" y="3567"/>
              <a:chExt cx="1780" cy="375"/>
            </a:xfrm>
          </p:grpSpPr>
          <p:sp>
            <p:nvSpPr>
              <p:cNvPr id="259" name="Rectangle 48">
                <a:extLst>
                  <a:ext uri="{FF2B5EF4-FFF2-40B4-BE49-F238E27FC236}">
                    <a16:creationId xmlns:a16="http://schemas.microsoft.com/office/drawing/2014/main" id="{9B8AF1CA-3C6F-F243-9464-0DF4CA71C4FF}"/>
                  </a:ext>
                </a:extLst>
              </p:cNvPr>
              <p:cNvSpPr>
                <a:spLocks noChangeArrowheads="1"/>
              </p:cNvSpPr>
              <p:nvPr/>
            </p:nvSpPr>
            <p:spPr bwMode="auto">
              <a:xfrm>
                <a:off x="1422" y="3732"/>
                <a:ext cx="1006" cy="21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ＭＳ Ｐゴシック" charset="0"/>
                </a:endParaRPr>
              </a:p>
            </p:txBody>
          </p:sp>
          <p:sp>
            <p:nvSpPr>
              <p:cNvPr id="260" name="Text Box 49">
                <a:extLst>
                  <a:ext uri="{FF2B5EF4-FFF2-40B4-BE49-F238E27FC236}">
                    <a16:creationId xmlns:a16="http://schemas.microsoft.com/office/drawing/2014/main" id="{70A5AF43-DDA0-2A40-9B92-B39F358268CD}"/>
                  </a:ext>
                </a:extLst>
              </p:cNvPr>
              <p:cNvSpPr txBox="1">
                <a:spLocks noChangeArrowheads="1"/>
              </p:cNvSpPr>
              <p:nvPr/>
            </p:nvSpPr>
            <p:spPr bwMode="auto">
              <a:xfrm>
                <a:off x="869" y="3567"/>
                <a:ext cx="1780" cy="337"/>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2100" i="1" dirty="0">
                    <a:solidFill>
                      <a:srgbClr val="CC0000"/>
                    </a:solidFill>
                    <a:latin typeface="Calibri" panose="020F0502020204030204"/>
                  </a:rPr>
                  <a:t>multiplexing as sender:</a:t>
                </a:r>
              </a:p>
            </p:txBody>
          </p:sp>
        </p:grpSp>
      </p:grpSp>
      <p:sp>
        <p:nvSpPr>
          <p:cNvPr id="169" name="Freeform 142">
            <a:extLst>
              <a:ext uri="{FF2B5EF4-FFF2-40B4-BE49-F238E27FC236}">
                <a16:creationId xmlns:a16="http://schemas.microsoft.com/office/drawing/2014/main" id="{9633E13F-8D02-CA4B-A3EB-E64D4EB42802}"/>
              </a:ext>
            </a:extLst>
          </p:cNvPr>
          <p:cNvSpPr>
            <a:spLocks/>
          </p:cNvSpPr>
          <p:nvPr/>
        </p:nvSpPr>
        <p:spPr bwMode="auto">
          <a:xfrm>
            <a:off x="3149095" y="4201177"/>
            <a:ext cx="1471613" cy="1422797"/>
          </a:xfrm>
          <a:custGeom>
            <a:avLst/>
            <a:gdLst>
              <a:gd name="T0" fmla="*/ 0 w 1236"/>
              <a:gd name="T1" fmla="*/ 2147483647 h 1195"/>
              <a:gd name="T2" fmla="*/ 2147483647 w 1236"/>
              <a:gd name="T3" fmla="*/ 2147483647 h 1195"/>
              <a:gd name="T4" fmla="*/ 2147483647 w 1236"/>
              <a:gd name="T5" fmla="*/ 2147483647 h 1195"/>
              <a:gd name="T6" fmla="*/ 2147483647 w 1236"/>
              <a:gd name="T7" fmla="*/ 2147483647 h 1195"/>
              <a:gd name="T8" fmla="*/ 2147483647 w 1236"/>
              <a:gd name="T9" fmla="*/ 0 h 11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6" h="1195">
                <a:moveTo>
                  <a:pt x="0" y="202"/>
                </a:moveTo>
                <a:lnTo>
                  <a:pt x="6" y="1194"/>
                </a:lnTo>
                <a:lnTo>
                  <a:pt x="1236" y="1195"/>
                </a:lnTo>
                <a:lnTo>
                  <a:pt x="1227" y="150"/>
                </a:lnTo>
                <a:lnTo>
                  <a:pt x="1069"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dirty="0">
              <a:solidFill>
                <a:srgbClr val="000000"/>
              </a:solidFill>
              <a:latin typeface="Tahoma" panose="020B0604030504040204" pitchFamily="34" charset="0"/>
            </a:endParaRPr>
          </a:p>
        </p:txBody>
      </p:sp>
      <p:sp>
        <p:nvSpPr>
          <p:cNvPr id="168" name="Freeform 141">
            <a:extLst>
              <a:ext uri="{FF2B5EF4-FFF2-40B4-BE49-F238E27FC236}">
                <a16:creationId xmlns:a16="http://schemas.microsoft.com/office/drawing/2014/main" id="{68E70704-F4BA-164C-AD06-3859E25D67E2}"/>
              </a:ext>
            </a:extLst>
          </p:cNvPr>
          <p:cNvSpPr>
            <a:spLocks/>
          </p:cNvSpPr>
          <p:nvPr/>
        </p:nvSpPr>
        <p:spPr bwMode="auto">
          <a:xfrm>
            <a:off x="3101470" y="4182127"/>
            <a:ext cx="1620441" cy="1491854"/>
          </a:xfrm>
          <a:custGeom>
            <a:avLst/>
            <a:gdLst>
              <a:gd name="T0" fmla="*/ 0 w 1361"/>
              <a:gd name="T1" fmla="*/ 2147483647 h 1253"/>
              <a:gd name="T2" fmla="*/ 2147483647 w 1361"/>
              <a:gd name="T3" fmla="*/ 2147483647 h 1253"/>
              <a:gd name="T4" fmla="*/ 2147483647 w 1361"/>
              <a:gd name="T5" fmla="*/ 2147483647 h 1253"/>
              <a:gd name="T6" fmla="*/ 2147483647 w 1361"/>
              <a:gd name="T7" fmla="*/ 2147483647 h 1253"/>
              <a:gd name="T8" fmla="*/ 2147483647 w 1361"/>
              <a:gd name="T9" fmla="*/ 2147483647 h 1253"/>
              <a:gd name="T10" fmla="*/ 2147483647 w 1361"/>
              <a:gd name="T11" fmla="*/ 0 h 12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61" h="1253">
                <a:moveTo>
                  <a:pt x="0" y="216"/>
                </a:moveTo>
                <a:lnTo>
                  <a:pt x="7" y="1252"/>
                </a:lnTo>
                <a:lnTo>
                  <a:pt x="1320" y="1253"/>
                </a:lnTo>
                <a:lnTo>
                  <a:pt x="1361" y="1252"/>
                </a:lnTo>
                <a:lnTo>
                  <a:pt x="1353" y="114"/>
                </a:lnTo>
                <a:lnTo>
                  <a:pt x="1178"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dirty="0">
              <a:solidFill>
                <a:srgbClr val="000000"/>
              </a:solidFill>
              <a:latin typeface="Tahoma" panose="020B0604030504040204" pitchFamily="34" charset="0"/>
            </a:endParaRPr>
          </a:p>
        </p:txBody>
      </p:sp>
      <p:grpSp>
        <p:nvGrpSpPr>
          <p:cNvPr id="7" name="Group 6"/>
          <p:cNvGrpSpPr/>
          <p:nvPr/>
        </p:nvGrpSpPr>
        <p:grpSpPr>
          <a:xfrm>
            <a:off x="3338205" y="4098566"/>
            <a:ext cx="2811727" cy="86160"/>
            <a:chOff x="4450940" y="4321755"/>
            <a:chExt cx="3748969" cy="114880"/>
          </a:xfrm>
        </p:grpSpPr>
        <p:sp>
          <p:nvSpPr>
            <p:cNvPr id="6" name="Left-Right Arrow 5"/>
            <p:cNvSpPr/>
            <p:nvPr/>
          </p:nvSpPr>
          <p:spPr>
            <a:xfrm rot="20821812">
              <a:off x="4450940" y="4321755"/>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sp>
          <p:nvSpPr>
            <p:cNvPr id="261" name="Left-Right Arrow 260"/>
            <p:cNvSpPr/>
            <p:nvPr/>
          </p:nvSpPr>
          <p:spPr>
            <a:xfrm rot="778188" flipV="1">
              <a:off x="6983757" y="4337631"/>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grpSp>
      <p:sp>
        <p:nvSpPr>
          <p:cNvPr id="209" name="Slide Number Placeholder 2">
            <a:extLst>
              <a:ext uri="{FF2B5EF4-FFF2-40B4-BE49-F238E27FC236}">
                <a16:creationId xmlns:a16="http://schemas.microsoft.com/office/drawing/2014/main" id="{1BB112E7-9179-7C48-99F0-38E45F5BCFEB}"/>
              </a:ext>
            </a:extLst>
          </p:cNvPr>
          <p:cNvSpPr>
            <a:spLocks noGrp="1"/>
          </p:cNvSpPr>
          <p:nvPr>
            <p:ph type="sldNum" sz="quarter" idx="4"/>
          </p:nvPr>
        </p:nvSpPr>
        <p:spPr>
          <a:xfrm>
            <a:off x="6914712" y="5689567"/>
            <a:ext cx="2057400" cy="273844"/>
          </a:xfrm>
        </p:spPr>
        <p:txBody>
          <a:bodyPr/>
          <a:lstStyle/>
          <a:p>
            <a:pPr defTabSz="685800" eaLnBrk="1" fontAlgn="auto" hangingPunct="1">
              <a:spcBef>
                <a:spcPts val="0"/>
              </a:spcBef>
              <a:spcAft>
                <a:spcPts val="0"/>
              </a:spcAft>
              <a:defRPr/>
            </a:pPr>
            <a:r>
              <a:rPr lang="en-US" dirty="0">
                <a:solidFill>
                  <a:prstClr val="white">
                    <a:lumMod val="50000"/>
                  </a:prstClr>
                </a:solidFill>
                <a:latin typeface="Calibri" panose="020F0502020204030204"/>
                <a:ea typeface="+mn-ea"/>
              </a:rPr>
              <a:t>Transport Layer: 3-</a:t>
            </a:r>
            <a:fld id="{C4204591-24BD-A542-B9D5-F8D8A88D2FEE}" type="slidenum">
              <a:rPr lang="en-US">
                <a:solidFill>
                  <a:prstClr val="white">
                    <a:lumMod val="50000"/>
                  </a:prstClr>
                </a:solidFill>
                <a:latin typeface="Calibri" panose="020F0502020204030204"/>
                <a:ea typeface="+mn-ea"/>
              </a:rPr>
              <a:pPr defTabSz="685800" eaLnBrk="1" fontAlgn="auto" hangingPunct="1">
                <a:spcBef>
                  <a:spcPts val="0"/>
                </a:spcBef>
                <a:spcAft>
                  <a:spcPts val="0"/>
                </a:spcAft>
                <a:defRPr/>
              </a:pPr>
              <a:t>8</a:t>
            </a:fld>
            <a:endParaRPr lang="en-US" dirty="0">
              <a:solidFill>
                <a:prstClr val="white">
                  <a:lumMod val="50000"/>
                </a:prstClr>
              </a:solidFill>
              <a:latin typeface="Calibri" panose="020F0502020204030204"/>
              <a:ea typeface="+mn-ea"/>
            </a:endParaRPr>
          </a:p>
        </p:txBody>
      </p:sp>
    </p:spTree>
    <p:extLst>
      <p:ext uri="{BB962C8B-B14F-4D97-AF65-F5344CB8AC3E}">
        <p14:creationId xmlns:p14="http://schemas.microsoft.com/office/powerpoint/2010/main" val="3014452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255"/>
                                        </p:tgtEl>
                                        <p:attrNameLst>
                                          <p:attrName>style.visibility</p:attrName>
                                        </p:attrNameLst>
                                      </p:cBhvr>
                                      <p:to>
                                        <p:strVal val="visible"/>
                                      </p:to>
                                    </p:set>
                                    <p:animEffect transition="in" filter="dissolve">
                                      <p:cBhvr>
                                        <p:cTn id="15" dur="500"/>
                                        <p:tgtEl>
                                          <p:spTgt spid="25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12"/>
                                        </p:tgtEl>
                                        <p:attrNameLst>
                                          <p:attrName>style.visibility</p:attrName>
                                        </p:attrNameLst>
                                      </p:cBhvr>
                                      <p:to>
                                        <p:strVal val="visible"/>
                                      </p:to>
                                    </p:set>
                                    <p:animEffect transition="in" filter="dissolve">
                                      <p:cBhvr>
                                        <p:cTn id="18" dur="500"/>
                                        <p:tgtEl>
                                          <p:spTgt spid="212"/>
                                        </p:tgtEl>
                                      </p:cBhvr>
                                    </p:animEffect>
                                  </p:childTnLst>
                                </p:cTn>
                              </p:par>
                              <p:par>
                                <p:cTn id="19" presetID="9"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13"/>
                                        </p:tgtEl>
                                        <p:attrNameLst>
                                          <p:attrName>style.visibility</p:attrName>
                                        </p:attrNameLst>
                                      </p:cBhvr>
                                      <p:to>
                                        <p:strVal val="visible"/>
                                      </p:to>
                                    </p:set>
                                  </p:childTnLst>
                                </p:cTn>
                              </p:par>
                              <p:par>
                                <p:cTn id="26" presetID="9"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ssolve">
                                      <p:cBhvr>
                                        <p:cTn id="28" dur="500"/>
                                        <p:tgtEl>
                                          <p:spTgt spid="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68"/>
                                        </p:tgtEl>
                                        <p:attrNameLst>
                                          <p:attrName>style.visibility</p:attrName>
                                        </p:attrNameLst>
                                      </p:cBhvr>
                                      <p:to>
                                        <p:strVal val="visible"/>
                                      </p:to>
                                    </p:set>
                                    <p:animEffect transition="in" filter="dissolve">
                                      <p:cBhvr>
                                        <p:cTn id="31" dur="500"/>
                                        <p:tgtEl>
                                          <p:spTgt spid="16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06"/>
                                        </p:tgtEl>
                                        <p:attrNameLst>
                                          <p:attrName>style.visibility</p:attrName>
                                        </p:attrNameLst>
                                      </p:cBhvr>
                                      <p:to>
                                        <p:strVal val="visible"/>
                                      </p:to>
                                    </p:set>
                                    <p:animEffect transition="in" filter="dissolve">
                                      <p:cBhvr>
                                        <p:cTn id="34" dur="500"/>
                                        <p:tgtEl>
                                          <p:spTgt spid="206"/>
                                        </p:tgtEl>
                                      </p:cBhvr>
                                    </p:animEffect>
                                  </p:childTnLst>
                                </p:cTn>
                              </p:par>
                              <p:par>
                                <p:cTn id="35" presetID="9" presetClass="exit" presetSubtype="0" fill="hold" grpId="0" nodeType="withEffect">
                                  <p:stCondLst>
                                    <p:cond delay="0"/>
                                  </p:stCondLst>
                                  <p:childTnLst>
                                    <p:animEffect transition="out" filter="dissolve">
                                      <p:cBhvr>
                                        <p:cTn id="36" dur="500"/>
                                        <p:tgtEl>
                                          <p:spTgt spid="169"/>
                                        </p:tgtEl>
                                      </p:cBhvr>
                                    </p:animEffect>
                                    <p:set>
                                      <p:cBhvr>
                                        <p:cTn id="37" dur="1" fill="hold">
                                          <p:stCondLst>
                                            <p:cond delay="499"/>
                                          </p:stCondLst>
                                        </p:cTn>
                                        <p:tgtEl>
                                          <p:spTgt spid="169"/>
                                        </p:tgtEl>
                                        <p:attrNameLst>
                                          <p:attrName>style.visibility</p:attrName>
                                        </p:attrNameLst>
                                      </p:cBhvr>
                                      <p:to>
                                        <p:strVal val="hidden"/>
                                      </p:to>
                                    </p:set>
                                  </p:childTnLst>
                                </p:cTn>
                              </p:par>
                              <p:par>
                                <p:cTn id="38" presetID="9" presetClass="exit" presetSubtype="0" fill="hold" nodeType="withEffect">
                                  <p:stCondLst>
                                    <p:cond delay="0"/>
                                  </p:stCondLst>
                                  <p:childTnLst>
                                    <p:animEffect transition="out" filter="dissolve">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par>
                                <p:cTn id="41" presetID="9" presetClass="exit" presetSubtype="0" fill="hold" grpId="1" nodeType="withEffect">
                                  <p:stCondLst>
                                    <p:cond delay="0"/>
                                  </p:stCondLst>
                                  <p:childTnLst>
                                    <p:animEffect transition="out" filter="dissolve">
                                      <p:cBhvr>
                                        <p:cTn id="42" dur="500"/>
                                        <p:tgtEl>
                                          <p:spTgt spid="212"/>
                                        </p:tgtEl>
                                      </p:cBhvr>
                                    </p:animEffect>
                                    <p:set>
                                      <p:cBhvr>
                                        <p:cTn id="43" dur="1" fill="hold">
                                          <p:stCondLst>
                                            <p:cond delay="499"/>
                                          </p:stCondLst>
                                        </p:cTn>
                                        <p:tgtEl>
                                          <p:spTgt spid="212"/>
                                        </p:tgtEl>
                                        <p:attrNameLst>
                                          <p:attrName>style.visibility</p:attrName>
                                        </p:attrNameLst>
                                      </p:cBhvr>
                                      <p:to>
                                        <p:strVal val="hidden"/>
                                      </p:to>
                                    </p:set>
                                  </p:childTnLst>
                                </p:cTn>
                              </p:par>
                              <p:par>
                                <p:cTn id="44" presetID="9" presetClass="exit" presetSubtype="0" fill="hold" nodeType="withEffect">
                                  <p:stCondLst>
                                    <p:cond delay="0"/>
                                  </p:stCondLst>
                                  <p:childTnLst>
                                    <p:animEffect transition="out" filter="dissolve">
                                      <p:cBhvr>
                                        <p:cTn id="45" dur="500"/>
                                        <p:tgtEl>
                                          <p:spTgt spid="255"/>
                                        </p:tgtEl>
                                      </p:cBhvr>
                                    </p:animEffect>
                                    <p:set>
                                      <p:cBhvr>
                                        <p:cTn id="46" dur="1" fill="hold">
                                          <p:stCondLst>
                                            <p:cond delay="499"/>
                                          </p:stCondLst>
                                        </p:cTn>
                                        <p:tgtEl>
                                          <p:spTgt spid="255"/>
                                        </p:tgtEl>
                                        <p:attrNameLst>
                                          <p:attrName>style.visibility</p:attrName>
                                        </p:attrNameLst>
                                      </p:cBhvr>
                                      <p:to>
                                        <p:strVal val="hidden"/>
                                      </p:to>
                                    </p:set>
                                  </p:childTnLst>
                                </p:cTn>
                              </p:par>
                              <p:par>
                                <p:cTn id="47" presetID="9" presetClass="exit" presetSubtype="0" fill="hold" grpId="0" nodeType="withEffect">
                                  <p:stCondLst>
                                    <p:cond delay="0"/>
                                  </p:stCondLst>
                                  <p:childTnLst>
                                    <p:animEffect transition="out" filter="dissolve">
                                      <p:cBhvr>
                                        <p:cTn id="48" dur="500"/>
                                        <p:tgtEl>
                                          <p:spTgt spid="207"/>
                                        </p:tgtEl>
                                      </p:cBhvr>
                                    </p:animEffect>
                                    <p:set>
                                      <p:cBhvr>
                                        <p:cTn id="49" dur="1" fill="hold">
                                          <p:stCondLst>
                                            <p:cond delay="499"/>
                                          </p:stCondLst>
                                        </p:cTn>
                                        <p:tgtEl>
                                          <p:spTgt spid="2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animBg="1"/>
      <p:bldP spid="207" grpId="0" animBg="1"/>
      <p:bldP spid="212" grpId="0" animBg="1"/>
      <p:bldP spid="212" grpId="1" animBg="1"/>
      <p:bldP spid="169" grpId="0" animBg="1"/>
      <p:bldP spid="16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AF567B-A744-BF46-B80D-389C2E4393B6}"/>
              </a:ext>
            </a:extLst>
          </p:cNvPr>
          <p:cNvGrpSpPr/>
          <p:nvPr/>
        </p:nvGrpSpPr>
        <p:grpSpPr>
          <a:xfrm>
            <a:off x="106136" y="1477736"/>
            <a:ext cx="8931728" cy="3554711"/>
            <a:chOff x="2511281" y="3262667"/>
            <a:chExt cx="7770812" cy="3121540"/>
          </a:xfrm>
        </p:grpSpPr>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dirty="0">
                <a:solidFill>
                  <a:srgbClr val="000000"/>
                </a:solidFill>
                <a:latin typeface="Times New Roman" panose="02020603050405020304" pitchFamily="18" charset="0"/>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kern="0" dirty="0">
                <a:solidFill>
                  <a:srgbClr val="000000"/>
                </a:solidFill>
                <a:latin typeface="Times New Roman" panose="02020603050405020304" pitchFamily="18" charset="0"/>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698981" y="4480178"/>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692631" y="5377884"/>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692631" y="5084965"/>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692631" y="4793686"/>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network</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dirty="0">
                <a:solidFill>
                  <a:srgbClr val="000000"/>
                </a:solidFill>
                <a:latin typeface="Times New Roman" panose="02020603050405020304" pitchFamily="18" charset="0"/>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kern="0" dirty="0">
                <a:solidFill>
                  <a:srgbClr val="000000"/>
                </a:solidFill>
                <a:latin typeface="Times New Roman" panose="02020603050405020304" pitchFamily="18" charset="0"/>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846868" y="4833372"/>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881793" y="4037882"/>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837343" y="5745416"/>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849290" y="5438159"/>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846868" y="5150053"/>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network</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dirty="0">
                <a:solidFill>
                  <a:srgbClr val="000000"/>
                </a:solidFill>
                <a:latin typeface="Times New Roman" panose="02020603050405020304" pitchFamily="18" charset="0"/>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kern="0" dirty="0">
                <a:solidFill>
                  <a:srgbClr val="000000"/>
                </a:solidFill>
                <a:latin typeface="Times New Roman" panose="02020603050405020304" pitchFamily="18" charset="0"/>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501881" y="4841309"/>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536806" y="4045819"/>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492356" y="5746184"/>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511406" y="5453266"/>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501881" y="5157990"/>
              <a:ext cx="1317625" cy="28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network</a:t>
              </a:r>
            </a:p>
          </p:txBody>
        </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800" kern="0" dirty="0">
                  <a:solidFill>
                    <a:srgbClr val="000000"/>
                  </a:solidFill>
                  <a:latin typeface="Tahoma" panose="020B0604030504040204" pitchFamily="34" charset="0"/>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800" kern="0" dirty="0">
                  <a:solidFill>
                    <a:srgbClr val="000000"/>
                  </a:solidFill>
                  <a:latin typeface="Tahoma" panose="020B0604030504040204" pitchFamily="34" charset="0"/>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1" hangingPunct="1">
                  <a:defRPr/>
                </a:pPr>
                <a:endParaRPr lang="en-US" sz="2100" kern="0" dirty="0">
                  <a:solidFill>
                    <a:srgbClr val="FF0000"/>
                  </a:solidFill>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5E1F04B-A3B3-534D-A252-A4AC29C657DE}"/>
                </a:ext>
              </a:extLst>
            </p:cNvPr>
            <p:cNvSpPr txBox="1"/>
            <p:nvPr/>
          </p:nvSpPr>
          <p:spPr>
            <a:xfrm>
              <a:off x="5723493" y="3262667"/>
              <a:ext cx="1310134" cy="364866"/>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a:ea typeface="+mn-ea"/>
                </a:rPr>
                <a:t>HTTP server</a:t>
              </a:r>
            </a:p>
          </p:txBody>
        </p:sp>
        <p:pic>
          <p:nvPicPr>
            <p:cNvPr id="1028"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id="{E576EC8B-3CC8-044B-BD3B-8A4342C698D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id="{DC4B02DA-C340-9945-87C2-952E1901FB43}"/>
                </a:ext>
              </a:extLst>
            </p:cNvPr>
            <p:cNvSpPr txBox="1"/>
            <p:nvPr/>
          </p:nvSpPr>
          <p:spPr>
            <a:xfrm>
              <a:off x="3822815" y="3627317"/>
              <a:ext cx="684271" cy="364866"/>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a:ea typeface="+mn-ea"/>
                </a:rPr>
                <a:t>client</a:t>
              </a:r>
            </a:p>
          </p:txBody>
        </p:sp>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3267440" y="4581500"/>
            <a:ext cx="2345531" cy="112395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defTabSz="685800">
              <a:defRPr/>
            </a:pPr>
            <a:endParaRPr lang="en-US" sz="2100" dirty="0">
              <a:solidFill>
                <a:srgbClr val="000000"/>
              </a:solidFill>
              <a:latin typeface="Calibri"/>
              <a:cs typeface="Arial"/>
            </a:endParaRPr>
          </a:p>
        </p:txBody>
      </p:sp>
      <p:sp>
        <p:nvSpPr>
          <p:cNvPr id="11" name="Rectangle 10">
            <a:extLst>
              <a:ext uri="{FF2B5EF4-FFF2-40B4-BE49-F238E27FC236}">
                <a16:creationId xmlns:a16="http://schemas.microsoft.com/office/drawing/2014/main" id="{CC19030B-5BD3-114F-B249-57401BFC96FB}"/>
              </a:ext>
            </a:extLst>
          </p:cNvPr>
          <p:cNvSpPr/>
          <p:nvPr/>
        </p:nvSpPr>
        <p:spPr>
          <a:xfrm>
            <a:off x="3708164" y="2864199"/>
            <a:ext cx="1645609" cy="130937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cxnSp>
        <p:nvCxnSpPr>
          <p:cNvPr id="101" name="Straight Connector 100">
            <a:extLst>
              <a:ext uri="{FF2B5EF4-FFF2-40B4-BE49-F238E27FC236}">
                <a16:creationId xmlns:a16="http://schemas.microsoft.com/office/drawing/2014/main" id="{80C9D10E-5651-A74C-93AC-3C99ACEB97DA}"/>
              </a:ext>
            </a:extLst>
          </p:cNvPr>
          <p:cNvCxnSpPr>
            <a:cxnSpLocks/>
          </p:cNvCxnSpPr>
          <p:nvPr/>
        </p:nvCxnSpPr>
        <p:spPr>
          <a:xfrm flipV="1">
            <a:off x="2403343" y="3103946"/>
            <a:ext cx="0" cy="1876748"/>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7480C6A1-B418-BAFF-0A9B-DF3373520BD3}"/>
              </a:ext>
            </a:extLst>
          </p:cNvPr>
          <p:cNvGrpSpPr/>
          <p:nvPr/>
        </p:nvGrpSpPr>
        <p:grpSpPr>
          <a:xfrm>
            <a:off x="4383601" y="2576007"/>
            <a:ext cx="831155" cy="507831"/>
            <a:chOff x="5844802" y="2291678"/>
            <a:chExt cx="1108206" cy="677107"/>
          </a:xfrm>
        </p:grpSpPr>
        <p:sp>
          <p:nvSpPr>
            <p:cNvPr id="98" name="Rectangle 97">
              <a:extLst>
                <a:ext uri="{FF2B5EF4-FFF2-40B4-BE49-F238E27FC236}">
                  <a16:creationId xmlns:a16="http://schemas.microsoft.com/office/drawing/2014/main" id="{4FFEBBBB-2623-A645-BE22-49AB28379D36}"/>
                </a:ext>
              </a:extLst>
            </p:cNvPr>
            <p:cNvSpPr/>
            <p:nvPr/>
          </p:nvSpPr>
          <p:spPr>
            <a:xfrm>
              <a:off x="5864224" y="2340021"/>
              <a:ext cx="1063879"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sp>
          <p:nvSpPr>
            <p:cNvPr id="99" name="TextBox 98">
              <a:extLst>
                <a:ext uri="{FF2B5EF4-FFF2-40B4-BE49-F238E27FC236}">
                  <a16:creationId xmlns:a16="http://schemas.microsoft.com/office/drawing/2014/main" id="{BE6AB7BA-7EC8-0044-B495-B5FBC9F37B18}"/>
                </a:ext>
              </a:extLst>
            </p:cNvPr>
            <p:cNvSpPr txBox="1"/>
            <p:nvPr/>
          </p:nvSpPr>
          <p:spPr>
            <a:xfrm>
              <a:off x="5844802" y="2291678"/>
              <a:ext cx="1108206" cy="677107"/>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HTTP msg</a:t>
              </a:r>
            </a:p>
          </p:txBody>
        </p:sp>
      </p:grpSp>
      <p:cxnSp>
        <p:nvCxnSpPr>
          <p:cNvPr id="104" name="Straight Connector 103">
            <a:extLst>
              <a:ext uri="{FF2B5EF4-FFF2-40B4-BE49-F238E27FC236}">
                <a16:creationId xmlns:a16="http://schemas.microsoft.com/office/drawing/2014/main" id="{8F458F2E-0B98-1741-9C0D-ECC805BD8799}"/>
              </a:ext>
            </a:extLst>
          </p:cNvPr>
          <p:cNvCxnSpPr>
            <a:cxnSpLocks/>
          </p:cNvCxnSpPr>
          <p:nvPr/>
        </p:nvCxnSpPr>
        <p:spPr>
          <a:xfrm>
            <a:off x="5258548" y="2720354"/>
            <a:ext cx="0" cy="226034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43591F4-8564-6A44-BC41-A0C901C7BC9C}"/>
              </a:ext>
            </a:extLst>
          </p:cNvPr>
          <p:cNvCxnSpPr>
            <a:cxnSpLocks/>
          </p:cNvCxnSpPr>
          <p:nvPr/>
        </p:nvCxnSpPr>
        <p:spPr>
          <a:xfrm>
            <a:off x="2388430" y="4966255"/>
            <a:ext cx="2888802"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91" name="Slide Number Placeholder 2">
            <a:extLst>
              <a:ext uri="{FF2B5EF4-FFF2-40B4-BE49-F238E27FC236}">
                <a16:creationId xmlns:a16="http://schemas.microsoft.com/office/drawing/2014/main" id="{065CB0E2-E88A-814E-8D57-5A55C91AE05E}"/>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9</a:t>
            </a:fld>
            <a:endParaRPr lang="en-US" dirty="0"/>
          </a:p>
        </p:txBody>
      </p:sp>
      <p:grpSp>
        <p:nvGrpSpPr>
          <p:cNvPr id="10" name="Group 9">
            <a:extLst>
              <a:ext uri="{FF2B5EF4-FFF2-40B4-BE49-F238E27FC236}">
                <a16:creationId xmlns:a16="http://schemas.microsoft.com/office/drawing/2014/main" id="{D8F1E19D-C79D-0399-56EA-1548EEA2BB22}"/>
              </a:ext>
            </a:extLst>
          </p:cNvPr>
          <p:cNvGrpSpPr/>
          <p:nvPr/>
        </p:nvGrpSpPr>
        <p:grpSpPr>
          <a:xfrm>
            <a:off x="4146628" y="2871282"/>
            <a:ext cx="1053027" cy="519273"/>
            <a:chOff x="8597346" y="692270"/>
            <a:chExt cx="1404036" cy="692365"/>
          </a:xfrm>
        </p:grpSpPr>
        <p:sp>
          <p:nvSpPr>
            <p:cNvPr id="12" name="Rectangle 11">
              <a:extLst>
                <a:ext uri="{FF2B5EF4-FFF2-40B4-BE49-F238E27FC236}">
                  <a16:creationId xmlns:a16="http://schemas.microsoft.com/office/drawing/2014/main" id="{545E4894-255A-88E4-2AC9-82A2C51C90CE}"/>
                </a:ext>
              </a:extLst>
            </p:cNvPr>
            <p:cNvSpPr/>
            <p:nvPr/>
          </p:nvSpPr>
          <p:spPr>
            <a:xfrm>
              <a:off x="8597936" y="756182"/>
              <a:ext cx="1403446"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sp>
          <p:nvSpPr>
            <p:cNvPr id="13" name="TextBox 12">
              <a:extLst>
                <a:ext uri="{FF2B5EF4-FFF2-40B4-BE49-F238E27FC236}">
                  <a16:creationId xmlns:a16="http://schemas.microsoft.com/office/drawing/2014/main" id="{F8C4C298-170E-3D5D-F527-651548E2EB19}"/>
                </a:ext>
              </a:extLst>
            </p:cNvPr>
            <p:cNvSpPr txBox="1"/>
            <p:nvPr/>
          </p:nvSpPr>
          <p:spPr>
            <a:xfrm>
              <a:off x="8893175" y="707526"/>
              <a:ext cx="1108207" cy="677109"/>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HTTP msg</a:t>
              </a:r>
            </a:p>
          </p:txBody>
        </p:sp>
        <p:sp>
          <p:nvSpPr>
            <p:cNvPr id="14" name="TextBox 13">
              <a:extLst>
                <a:ext uri="{FF2B5EF4-FFF2-40B4-BE49-F238E27FC236}">
                  <a16:creationId xmlns:a16="http://schemas.microsoft.com/office/drawing/2014/main" id="{4315BD13-0EBF-E48C-A912-8A2018D96B53}"/>
                </a:ext>
              </a:extLst>
            </p:cNvPr>
            <p:cNvSpPr txBox="1"/>
            <p:nvPr/>
          </p:nvSpPr>
          <p:spPr>
            <a:xfrm>
              <a:off x="8597346" y="692270"/>
              <a:ext cx="440720" cy="400110"/>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a:t>
              </a:r>
              <a:r>
                <a:rPr lang="en-US" sz="1350" baseline="-25000" dirty="0">
                  <a:solidFill>
                    <a:prstClr val="black"/>
                  </a:solidFill>
                  <a:latin typeface="Calibri"/>
                  <a:ea typeface="+mn-ea"/>
                </a:rPr>
                <a:t>t</a:t>
              </a:r>
            </a:p>
          </p:txBody>
        </p:sp>
      </p:grpSp>
      <p:grpSp>
        <p:nvGrpSpPr>
          <p:cNvPr id="21" name="Group 20">
            <a:extLst>
              <a:ext uri="{FF2B5EF4-FFF2-40B4-BE49-F238E27FC236}">
                <a16:creationId xmlns:a16="http://schemas.microsoft.com/office/drawing/2014/main" id="{BD8A7E22-A105-49C5-2F08-CFBB2A4F7EB3}"/>
              </a:ext>
            </a:extLst>
          </p:cNvPr>
          <p:cNvGrpSpPr/>
          <p:nvPr/>
        </p:nvGrpSpPr>
        <p:grpSpPr>
          <a:xfrm>
            <a:off x="3954241" y="3216254"/>
            <a:ext cx="1238567" cy="522861"/>
            <a:chOff x="8349959" y="687487"/>
            <a:chExt cx="1651423" cy="697146"/>
          </a:xfrm>
        </p:grpSpPr>
        <p:sp>
          <p:nvSpPr>
            <p:cNvPr id="22" name="Rectangle 21">
              <a:extLst>
                <a:ext uri="{FF2B5EF4-FFF2-40B4-BE49-F238E27FC236}">
                  <a16:creationId xmlns:a16="http://schemas.microsoft.com/office/drawing/2014/main" id="{C55FC8CA-9850-2897-FDF7-32850A59AD47}"/>
                </a:ext>
              </a:extLst>
            </p:cNvPr>
            <p:cNvSpPr/>
            <p:nvPr/>
          </p:nvSpPr>
          <p:spPr>
            <a:xfrm>
              <a:off x="8369532" y="756182"/>
              <a:ext cx="1631850"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sp>
          <p:nvSpPr>
            <p:cNvPr id="23" name="TextBox 22">
              <a:extLst>
                <a:ext uri="{FF2B5EF4-FFF2-40B4-BE49-F238E27FC236}">
                  <a16:creationId xmlns:a16="http://schemas.microsoft.com/office/drawing/2014/main" id="{AA67C767-1F5A-6342-E5A6-3154E7B6B339}"/>
                </a:ext>
              </a:extLst>
            </p:cNvPr>
            <p:cNvSpPr txBox="1"/>
            <p:nvPr/>
          </p:nvSpPr>
          <p:spPr>
            <a:xfrm>
              <a:off x="8893175" y="707526"/>
              <a:ext cx="1108206" cy="677107"/>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HTTP msg</a:t>
              </a:r>
            </a:p>
          </p:txBody>
        </p:sp>
        <p:sp>
          <p:nvSpPr>
            <p:cNvPr id="24" name="TextBox 23">
              <a:extLst>
                <a:ext uri="{FF2B5EF4-FFF2-40B4-BE49-F238E27FC236}">
                  <a16:creationId xmlns:a16="http://schemas.microsoft.com/office/drawing/2014/main" id="{4121B5BB-BA6A-F414-E84E-3101842ACD4B}"/>
                </a:ext>
              </a:extLst>
            </p:cNvPr>
            <p:cNvSpPr txBox="1"/>
            <p:nvPr/>
          </p:nvSpPr>
          <p:spPr>
            <a:xfrm>
              <a:off x="8593764" y="690692"/>
              <a:ext cx="440720" cy="400108"/>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a:t>
              </a:r>
              <a:r>
                <a:rPr lang="en-US" sz="1350" baseline="-25000" dirty="0">
                  <a:solidFill>
                    <a:prstClr val="black"/>
                  </a:solidFill>
                  <a:latin typeface="Calibri"/>
                  <a:ea typeface="+mn-ea"/>
                </a:rPr>
                <a:t>t</a:t>
              </a:r>
            </a:p>
          </p:txBody>
        </p:sp>
        <p:sp>
          <p:nvSpPr>
            <p:cNvPr id="25" name="TextBox 24">
              <a:extLst>
                <a:ext uri="{FF2B5EF4-FFF2-40B4-BE49-F238E27FC236}">
                  <a16:creationId xmlns:a16="http://schemas.microsoft.com/office/drawing/2014/main" id="{D0750AC3-5B88-E099-CDDB-3E6C13E05DE3}"/>
                </a:ext>
              </a:extLst>
            </p:cNvPr>
            <p:cNvSpPr txBox="1"/>
            <p:nvPr/>
          </p:nvSpPr>
          <p:spPr>
            <a:xfrm>
              <a:off x="8349959" y="687487"/>
              <a:ext cx="470643" cy="400108"/>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a:t>
              </a:r>
              <a:r>
                <a:rPr lang="en-US" sz="1350" baseline="-25000" dirty="0">
                  <a:solidFill>
                    <a:prstClr val="black"/>
                  </a:solidFill>
                  <a:latin typeface="Calibri"/>
                  <a:ea typeface="+mn-ea"/>
                </a:rPr>
                <a:t>n</a:t>
              </a:r>
            </a:p>
          </p:txBody>
        </p:sp>
      </p:grpSp>
      <p:grpSp>
        <p:nvGrpSpPr>
          <p:cNvPr id="31" name="Group 30">
            <a:extLst>
              <a:ext uri="{FF2B5EF4-FFF2-40B4-BE49-F238E27FC236}">
                <a16:creationId xmlns:a16="http://schemas.microsoft.com/office/drawing/2014/main" id="{6CF77B7B-CAA6-5EE4-F51C-9FA3BA7AE0EA}"/>
              </a:ext>
            </a:extLst>
          </p:cNvPr>
          <p:cNvGrpSpPr/>
          <p:nvPr/>
        </p:nvGrpSpPr>
        <p:grpSpPr>
          <a:xfrm>
            <a:off x="3080323" y="5028623"/>
            <a:ext cx="1238567" cy="522861"/>
            <a:chOff x="8349959" y="687487"/>
            <a:chExt cx="1651423" cy="697146"/>
          </a:xfrm>
        </p:grpSpPr>
        <p:sp>
          <p:nvSpPr>
            <p:cNvPr id="32" name="Rectangle 31">
              <a:extLst>
                <a:ext uri="{FF2B5EF4-FFF2-40B4-BE49-F238E27FC236}">
                  <a16:creationId xmlns:a16="http://schemas.microsoft.com/office/drawing/2014/main" id="{362B2F3C-1A2C-22DE-11C6-35EF01FB4964}"/>
                </a:ext>
              </a:extLst>
            </p:cNvPr>
            <p:cNvSpPr/>
            <p:nvPr/>
          </p:nvSpPr>
          <p:spPr>
            <a:xfrm>
              <a:off x="8369532" y="756182"/>
              <a:ext cx="1631850"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sp>
          <p:nvSpPr>
            <p:cNvPr id="33" name="TextBox 32">
              <a:extLst>
                <a:ext uri="{FF2B5EF4-FFF2-40B4-BE49-F238E27FC236}">
                  <a16:creationId xmlns:a16="http://schemas.microsoft.com/office/drawing/2014/main" id="{63BA422A-055D-83BF-7614-2A6490E1E42A}"/>
                </a:ext>
              </a:extLst>
            </p:cNvPr>
            <p:cNvSpPr txBox="1"/>
            <p:nvPr/>
          </p:nvSpPr>
          <p:spPr>
            <a:xfrm>
              <a:off x="8893175" y="707526"/>
              <a:ext cx="1108206" cy="677107"/>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HTTP msg</a:t>
              </a:r>
            </a:p>
          </p:txBody>
        </p:sp>
        <p:sp>
          <p:nvSpPr>
            <p:cNvPr id="34" name="TextBox 33">
              <a:extLst>
                <a:ext uri="{FF2B5EF4-FFF2-40B4-BE49-F238E27FC236}">
                  <a16:creationId xmlns:a16="http://schemas.microsoft.com/office/drawing/2014/main" id="{847F086F-8EE5-B65B-F3AD-B90AC3BAA993}"/>
                </a:ext>
              </a:extLst>
            </p:cNvPr>
            <p:cNvSpPr txBox="1"/>
            <p:nvPr/>
          </p:nvSpPr>
          <p:spPr>
            <a:xfrm>
              <a:off x="8593764" y="690692"/>
              <a:ext cx="440720" cy="400108"/>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a:t>
              </a:r>
              <a:r>
                <a:rPr lang="en-US" sz="1350" baseline="-25000" dirty="0">
                  <a:solidFill>
                    <a:prstClr val="black"/>
                  </a:solidFill>
                  <a:latin typeface="Calibri"/>
                  <a:ea typeface="+mn-ea"/>
                </a:rPr>
                <a:t>t</a:t>
              </a:r>
            </a:p>
          </p:txBody>
        </p:sp>
        <p:sp>
          <p:nvSpPr>
            <p:cNvPr id="35" name="TextBox 34">
              <a:extLst>
                <a:ext uri="{FF2B5EF4-FFF2-40B4-BE49-F238E27FC236}">
                  <a16:creationId xmlns:a16="http://schemas.microsoft.com/office/drawing/2014/main" id="{A767B5E6-9B62-1E9F-8ECC-7C6440F2D722}"/>
                </a:ext>
              </a:extLst>
            </p:cNvPr>
            <p:cNvSpPr txBox="1"/>
            <p:nvPr/>
          </p:nvSpPr>
          <p:spPr>
            <a:xfrm>
              <a:off x="8349959" y="687487"/>
              <a:ext cx="470643" cy="400108"/>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a:t>
              </a:r>
              <a:r>
                <a:rPr lang="en-US" sz="1350" baseline="-25000" dirty="0">
                  <a:solidFill>
                    <a:prstClr val="black"/>
                  </a:solidFill>
                  <a:latin typeface="Calibri"/>
                  <a:ea typeface="+mn-ea"/>
                </a:rPr>
                <a:t>n</a:t>
              </a:r>
            </a:p>
          </p:txBody>
        </p:sp>
      </p:grpSp>
      <p:cxnSp>
        <p:nvCxnSpPr>
          <p:cNvPr id="36" name="Straight Connector 35">
            <a:extLst>
              <a:ext uri="{FF2B5EF4-FFF2-40B4-BE49-F238E27FC236}">
                <a16:creationId xmlns:a16="http://schemas.microsoft.com/office/drawing/2014/main" id="{C50FCAC8-2BD7-5831-502D-460A2985C4FB}"/>
              </a:ext>
            </a:extLst>
          </p:cNvPr>
          <p:cNvCxnSpPr>
            <a:cxnSpLocks/>
          </p:cNvCxnSpPr>
          <p:nvPr/>
        </p:nvCxnSpPr>
        <p:spPr>
          <a:xfrm>
            <a:off x="2388430" y="4966255"/>
            <a:ext cx="2888802" cy="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B86B99E-8B69-2971-9DBA-1E90AD4CFFA5}"/>
              </a:ext>
            </a:extLst>
          </p:cNvPr>
          <p:cNvCxnSpPr/>
          <p:nvPr/>
        </p:nvCxnSpPr>
        <p:spPr>
          <a:xfrm flipH="1">
            <a:off x="2776432" y="5188211"/>
            <a:ext cx="225197"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0F2BD8D8-9D10-8B19-1C62-4230F283322B}"/>
              </a:ext>
            </a:extLst>
          </p:cNvPr>
          <p:cNvGrpSpPr/>
          <p:nvPr/>
        </p:nvGrpSpPr>
        <p:grpSpPr>
          <a:xfrm>
            <a:off x="1369303" y="3627734"/>
            <a:ext cx="1238567" cy="522861"/>
            <a:chOff x="8349959" y="687487"/>
            <a:chExt cx="1651423" cy="697146"/>
          </a:xfrm>
        </p:grpSpPr>
        <p:sp>
          <p:nvSpPr>
            <p:cNvPr id="39" name="Rectangle 38">
              <a:extLst>
                <a:ext uri="{FF2B5EF4-FFF2-40B4-BE49-F238E27FC236}">
                  <a16:creationId xmlns:a16="http://schemas.microsoft.com/office/drawing/2014/main" id="{C37143D8-5E22-4921-A36A-DE7F809ACE66}"/>
                </a:ext>
              </a:extLst>
            </p:cNvPr>
            <p:cNvSpPr/>
            <p:nvPr/>
          </p:nvSpPr>
          <p:spPr>
            <a:xfrm>
              <a:off x="8369532" y="756182"/>
              <a:ext cx="1631850"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sp>
          <p:nvSpPr>
            <p:cNvPr id="40" name="TextBox 39">
              <a:extLst>
                <a:ext uri="{FF2B5EF4-FFF2-40B4-BE49-F238E27FC236}">
                  <a16:creationId xmlns:a16="http://schemas.microsoft.com/office/drawing/2014/main" id="{82C57A99-F5E8-A08D-D8C0-7C5182504E89}"/>
                </a:ext>
              </a:extLst>
            </p:cNvPr>
            <p:cNvSpPr txBox="1"/>
            <p:nvPr/>
          </p:nvSpPr>
          <p:spPr>
            <a:xfrm>
              <a:off x="8893175" y="707526"/>
              <a:ext cx="1108206" cy="677107"/>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HTTP msg</a:t>
              </a:r>
            </a:p>
          </p:txBody>
        </p:sp>
        <p:sp>
          <p:nvSpPr>
            <p:cNvPr id="41" name="TextBox 40">
              <a:extLst>
                <a:ext uri="{FF2B5EF4-FFF2-40B4-BE49-F238E27FC236}">
                  <a16:creationId xmlns:a16="http://schemas.microsoft.com/office/drawing/2014/main" id="{F5073EDC-3591-CB08-2DDA-368C690C6706}"/>
                </a:ext>
              </a:extLst>
            </p:cNvPr>
            <p:cNvSpPr txBox="1"/>
            <p:nvPr/>
          </p:nvSpPr>
          <p:spPr>
            <a:xfrm>
              <a:off x="8593764" y="690692"/>
              <a:ext cx="440720" cy="400108"/>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a:t>
              </a:r>
              <a:r>
                <a:rPr lang="en-US" sz="1350" baseline="-25000" dirty="0">
                  <a:solidFill>
                    <a:prstClr val="black"/>
                  </a:solidFill>
                  <a:latin typeface="Calibri"/>
                  <a:ea typeface="+mn-ea"/>
                </a:rPr>
                <a:t>t</a:t>
              </a:r>
            </a:p>
          </p:txBody>
        </p:sp>
        <p:sp>
          <p:nvSpPr>
            <p:cNvPr id="42" name="TextBox 41">
              <a:extLst>
                <a:ext uri="{FF2B5EF4-FFF2-40B4-BE49-F238E27FC236}">
                  <a16:creationId xmlns:a16="http://schemas.microsoft.com/office/drawing/2014/main" id="{C979AAC8-CBF1-2DA6-B365-73E019AA038B}"/>
                </a:ext>
              </a:extLst>
            </p:cNvPr>
            <p:cNvSpPr txBox="1"/>
            <p:nvPr/>
          </p:nvSpPr>
          <p:spPr>
            <a:xfrm>
              <a:off x="8349959" y="687487"/>
              <a:ext cx="470643" cy="400108"/>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a:t>
              </a:r>
              <a:r>
                <a:rPr lang="en-US" sz="1350" baseline="-25000" dirty="0">
                  <a:solidFill>
                    <a:prstClr val="black"/>
                  </a:solidFill>
                  <a:latin typeface="Calibri"/>
                  <a:ea typeface="+mn-ea"/>
                </a:rPr>
                <a:t>n</a:t>
              </a:r>
            </a:p>
          </p:txBody>
        </p:sp>
      </p:grpSp>
    </p:spTree>
    <p:extLst>
      <p:ext uri="{BB962C8B-B14F-4D97-AF65-F5344CB8AC3E}">
        <p14:creationId xmlns:p14="http://schemas.microsoft.com/office/powerpoint/2010/main" val="314053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nodeType="clickEffect">
                                  <p:stCondLst>
                                    <p:cond delay="0"/>
                                  </p:stCondLst>
                                  <p:childTnLst>
                                    <p:animEffect transition="out" filter="dissolve">
                                      <p:cBhvr>
                                        <p:cTn id="14" dur="500"/>
                                        <p:tgtEl>
                                          <p:spTgt spid="10"/>
                                        </p:tgtEl>
                                      </p:cBhvr>
                                    </p:animEffect>
                                    <p:set>
                                      <p:cBhvr>
                                        <p:cTn id="15" dur="1" fill="hold">
                                          <p:stCondLst>
                                            <p:cond delay="499"/>
                                          </p:stCondLst>
                                        </p:cTn>
                                        <p:tgtEl>
                                          <p:spTgt spid="10"/>
                                        </p:tgtEl>
                                        <p:attrNameLst>
                                          <p:attrName>style.visibility</p:attrName>
                                        </p:attrNameLst>
                                      </p:cBhvr>
                                      <p:to>
                                        <p:strVal val="hidden"/>
                                      </p:to>
                                    </p:set>
                                  </p:childTnLst>
                                </p:cTn>
                              </p:par>
                              <p:par>
                                <p:cTn id="16" presetID="9"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dissolve">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xit" presetSubtype="0" fill="hold" nodeType="clickEffect">
                                  <p:stCondLst>
                                    <p:cond delay="0"/>
                                  </p:stCondLst>
                                  <p:childTnLst>
                                    <p:animEffect transition="out" filter="dissolve">
                                      <p:cBhvr>
                                        <p:cTn id="22" dur="500"/>
                                        <p:tgtEl>
                                          <p:spTgt spid="21"/>
                                        </p:tgtEl>
                                      </p:cBhvr>
                                    </p:animEffect>
                                    <p:set>
                                      <p:cBhvr>
                                        <p:cTn id="23" dur="1" fill="hold">
                                          <p:stCondLst>
                                            <p:cond delay="499"/>
                                          </p:stCondLst>
                                        </p:cTn>
                                        <p:tgtEl>
                                          <p:spTgt spid="21"/>
                                        </p:tgtEl>
                                        <p:attrNameLst>
                                          <p:attrName>style.visibility</p:attrName>
                                        </p:attrNameLst>
                                      </p:cBhvr>
                                      <p:to>
                                        <p:strVal val="hidden"/>
                                      </p:to>
                                    </p:set>
                                  </p:childTnLst>
                                </p:cTn>
                              </p:par>
                            </p:childTnLst>
                          </p:cTn>
                        </p:par>
                        <p:par>
                          <p:cTn id="24" fill="hold">
                            <p:stCondLst>
                              <p:cond delay="500"/>
                            </p:stCondLst>
                            <p:childTnLst>
                              <p:par>
                                <p:cTn id="25" presetID="22" presetClass="entr" presetSubtype="2"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right)">
                                      <p:cBhvr>
                                        <p:cTn id="27" dur="500"/>
                                        <p:tgtEl>
                                          <p:spTgt spid="31"/>
                                        </p:tgtEl>
                                      </p:cBhvr>
                                    </p:animEffect>
                                  </p:childTnLst>
                                </p:cTn>
                              </p:par>
                            </p:childTnLst>
                          </p:cTn>
                        </p:par>
                        <p:par>
                          <p:cTn id="28" fill="hold">
                            <p:stCondLst>
                              <p:cond delay="1000"/>
                            </p:stCondLst>
                            <p:childTnLst>
                              <p:par>
                                <p:cTn id="29" presetID="22" presetClass="entr" presetSubtype="2"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right)">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xit" presetSubtype="0" fill="hold" nodeType="clickEffect">
                                  <p:stCondLst>
                                    <p:cond delay="0"/>
                                  </p:stCondLst>
                                  <p:childTnLst>
                                    <p:animEffect transition="out" filter="dissolve">
                                      <p:cBhvr>
                                        <p:cTn id="35" dur="500"/>
                                        <p:tgtEl>
                                          <p:spTgt spid="31"/>
                                        </p:tgtEl>
                                      </p:cBhvr>
                                    </p:animEffect>
                                    <p:set>
                                      <p:cBhvr>
                                        <p:cTn id="36" dur="1" fill="hold">
                                          <p:stCondLst>
                                            <p:cond delay="499"/>
                                          </p:stCondLst>
                                        </p:cTn>
                                        <p:tgtEl>
                                          <p:spTgt spid="31"/>
                                        </p:tgtEl>
                                        <p:attrNameLst>
                                          <p:attrName>style.visibility</p:attrName>
                                        </p:attrNameLst>
                                      </p:cBhvr>
                                      <p:to>
                                        <p:strVal val="hidden"/>
                                      </p:to>
                                    </p:set>
                                  </p:childTnLst>
                                </p:cTn>
                              </p:par>
                              <p:par>
                                <p:cTn id="37" presetID="9" presetClass="exit" presetSubtype="0" fill="hold" nodeType="withEffect">
                                  <p:stCondLst>
                                    <p:cond delay="0"/>
                                  </p:stCondLst>
                                  <p:childTnLst>
                                    <p:animEffect transition="out" filter="dissolve">
                                      <p:cBhvr>
                                        <p:cTn id="38" dur="500"/>
                                        <p:tgtEl>
                                          <p:spTgt spid="37"/>
                                        </p:tgtEl>
                                      </p:cBhvr>
                                    </p:animEffect>
                                    <p:set>
                                      <p:cBhvr>
                                        <p:cTn id="39" dur="1" fill="hold">
                                          <p:stCondLst>
                                            <p:cond delay="499"/>
                                          </p:stCondLst>
                                        </p:cTn>
                                        <p:tgtEl>
                                          <p:spTgt spid="37"/>
                                        </p:tgtEl>
                                        <p:attrNameLst>
                                          <p:attrName>style.visibility</p:attrName>
                                        </p:attrNameLst>
                                      </p:cBhvr>
                                      <p:to>
                                        <p:strVal val="hidden"/>
                                      </p:to>
                                    </p:set>
                                  </p:childTnLst>
                                </p:cTn>
                              </p:par>
                              <p:par>
                                <p:cTn id="40" presetID="9" presetClass="entr" presetSubtype="0"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dissolve">
                                      <p:cBhvr>
                                        <p:cTn id="4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AF567B-A744-BF46-B80D-389C2E4393B6}"/>
              </a:ext>
            </a:extLst>
          </p:cNvPr>
          <p:cNvGrpSpPr/>
          <p:nvPr/>
        </p:nvGrpSpPr>
        <p:grpSpPr>
          <a:xfrm>
            <a:off x="106136" y="1830842"/>
            <a:ext cx="8931728" cy="3201605"/>
            <a:chOff x="2511281" y="3572744"/>
            <a:chExt cx="7770812" cy="2811463"/>
          </a:xfrm>
        </p:grpSpPr>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dirty="0">
                <a:solidFill>
                  <a:srgbClr val="000000"/>
                </a:solidFill>
                <a:latin typeface="Times New Roman" panose="02020603050405020304" pitchFamily="18" charset="0"/>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kern="0" dirty="0">
                <a:solidFill>
                  <a:srgbClr val="000000"/>
                </a:solidFill>
                <a:latin typeface="Times New Roman" panose="02020603050405020304" pitchFamily="18" charset="0"/>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698981" y="4480178"/>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692631" y="5377884"/>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692631" y="5084965"/>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692631" y="4793686"/>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network</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dirty="0">
                <a:solidFill>
                  <a:srgbClr val="000000"/>
                </a:solidFill>
                <a:latin typeface="Times New Roman" panose="02020603050405020304" pitchFamily="18" charset="0"/>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kern="0" dirty="0">
                <a:solidFill>
                  <a:srgbClr val="000000"/>
                </a:solidFill>
                <a:latin typeface="Times New Roman" panose="02020603050405020304" pitchFamily="18" charset="0"/>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846868" y="4833372"/>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881793" y="4037882"/>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837343" y="5745416"/>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849290" y="5438159"/>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846868" y="5150053"/>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network</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dirty="0">
                <a:solidFill>
                  <a:srgbClr val="000000"/>
                </a:solidFill>
                <a:latin typeface="Times New Roman" panose="02020603050405020304" pitchFamily="18" charset="0"/>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2700" kern="0" dirty="0">
                <a:solidFill>
                  <a:srgbClr val="000000"/>
                </a:solidFill>
                <a:latin typeface="Times New Roman" panose="02020603050405020304" pitchFamily="18" charset="0"/>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501881" y="4841309"/>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a:defRPr/>
              </a:pPr>
              <a:endParaRPr lang="en-US" sz="1800" kern="0" dirty="0">
                <a:solidFill>
                  <a:srgbClr val="000000"/>
                </a:solidFill>
                <a:latin typeface="Tahoma" panose="020B0604030504040204" pitchFamily="34" charset="0"/>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536806" y="4045819"/>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492356" y="5746184"/>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511406" y="5453266"/>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501881" y="5157990"/>
              <a:ext cx="1317625" cy="282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lnSpc>
                  <a:spcPct val="110000"/>
                </a:lnSpc>
                <a:defRPr/>
              </a:pPr>
              <a:r>
                <a:rPr lang="en-US" altLang="en-US" sz="1500" kern="0" dirty="0">
                  <a:solidFill>
                    <a:srgbClr val="000000"/>
                  </a:solidFill>
                </a:rPr>
                <a:t>network</a:t>
              </a:r>
            </a:p>
          </p:txBody>
        </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a:defRPr/>
                </a:pPr>
                <a:endParaRPr lang="en-US" sz="1800" kern="0" dirty="0">
                  <a:solidFill>
                    <a:srgbClr val="000000"/>
                  </a:solidFill>
                  <a:latin typeface="Tahoma" panose="020B0604030504040204" pitchFamily="34" charset="0"/>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a:defRPr/>
                </a:pPr>
                <a:endParaRPr lang="en-US" sz="1800" kern="0" dirty="0">
                  <a:solidFill>
                    <a:srgbClr val="000000"/>
                  </a:solidFill>
                  <a:latin typeface="Tahoma" panose="020B0604030504040204" pitchFamily="34" charset="0"/>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a:defRPr/>
                </a:pPr>
                <a:endParaRPr lang="en-US" sz="1800" kern="0" dirty="0">
                  <a:solidFill>
                    <a:srgbClr val="000000"/>
                  </a:solidFill>
                  <a:latin typeface="Tahoma" panose="020B0604030504040204" pitchFamily="34" charset="0"/>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1" hangingPunct="1">
                  <a:defRPr/>
                </a:pPr>
                <a:endParaRPr lang="en-US" sz="2100" kern="0" dirty="0">
                  <a:solidFill>
                    <a:srgbClr val="FF0000"/>
                  </a:solidFill>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800" kern="0" dirty="0">
                  <a:solidFill>
                    <a:srgbClr val="000000"/>
                  </a:solidFill>
                  <a:latin typeface="Tahoma" charset="0"/>
                  <a:ea typeface="ＭＳ Ｐゴシック" charset="0"/>
                </a:endParaRPr>
              </a:p>
            </p:txBody>
          </p:sp>
        </p:grpSp>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a14="http://schemas.microsoft.com/office/drawing/2010/main" xmlns="">
                  <a:solidFill>
                    <a:srgbClr val="FFFFFF"/>
                  </a:solidFill>
                </a14:hiddenFill>
              </a:ext>
            </a:extLst>
          </p:spPr>
        </p:pic>
        <p:pic>
          <p:nvPicPr>
            <p:cNvPr id="1028"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a14="http://schemas.microsoft.com/office/drawing/2010/main" xmlns="">
                  <a:solidFill>
                    <a:srgbClr val="FFFFFF"/>
                  </a:solidFill>
                </a14:hiddenFill>
              </a:ext>
            </a:extLst>
          </p:spPr>
        </p:pic>
        <p:pic>
          <p:nvPicPr>
            <p:cNvPr id="262" name="Picture 2" descr="Image result for firefox logo">
              <a:extLst>
                <a:ext uri="{FF2B5EF4-FFF2-40B4-BE49-F238E27FC236}">
                  <a16:creationId xmlns:a16="http://schemas.microsoft.com/office/drawing/2014/main" id="{E576EC8B-3CC8-044B-BD3B-8A4342C698D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a14="http://schemas.microsoft.com/office/drawing/2010/main" xmlns="">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a14="http://schemas.microsoft.com/office/drawing/2010/main" xmlns="">
                  <a:solidFill>
                    <a:srgbClr val="FFFFFF"/>
                  </a:solidFill>
                </a14:hiddenFill>
              </a:ext>
            </a:extLst>
          </p:spPr>
        </p:pic>
        <p:sp>
          <p:nvSpPr>
            <p:cNvPr id="263" name="TextBox 262">
              <a:extLst>
                <a:ext uri="{FF2B5EF4-FFF2-40B4-BE49-F238E27FC236}">
                  <a16:creationId xmlns:a16="http://schemas.microsoft.com/office/drawing/2014/main" id="{DC4B02DA-C340-9945-87C2-952E1901FB43}"/>
                </a:ext>
              </a:extLst>
            </p:cNvPr>
            <p:cNvSpPr txBox="1"/>
            <p:nvPr/>
          </p:nvSpPr>
          <p:spPr>
            <a:xfrm>
              <a:off x="3822815" y="3627317"/>
              <a:ext cx="684271" cy="364866"/>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a:ea typeface="+mn-ea"/>
                </a:rPr>
                <a:t>client</a:t>
              </a:r>
            </a:p>
          </p:txBody>
        </p:sp>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3267440" y="4581500"/>
            <a:ext cx="2345531" cy="112395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defTabSz="685800">
              <a:defRPr/>
            </a:pPr>
            <a:endParaRPr lang="en-US" sz="2100" dirty="0">
              <a:solidFill>
                <a:srgbClr val="000000"/>
              </a:solidFill>
              <a:latin typeface="Calibri"/>
              <a:cs typeface="Arial"/>
            </a:endParaRPr>
          </a:p>
        </p:txBody>
      </p:sp>
      <p:sp>
        <p:nvSpPr>
          <p:cNvPr id="11" name="Rectangle 10">
            <a:extLst>
              <a:ext uri="{FF2B5EF4-FFF2-40B4-BE49-F238E27FC236}">
                <a16:creationId xmlns:a16="http://schemas.microsoft.com/office/drawing/2014/main" id="{CC19030B-5BD3-114F-B249-57401BFC96FB}"/>
              </a:ext>
            </a:extLst>
          </p:cNvPr>
          <p:cNvSpPr/>
          <p:nvPr/>
        </p:nvSpPr>
        <p:spPr>
          <a:xfrm>
            <a:off x="3708164" y="2864199"/>
            <a:ext cx="1645609" cy="130937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cxnSp>
        <p:nvCxnSpPr>
          <p:cNvPr id="101" name="Straight Connector 100">
            <a:extLst>
              <a:ext uri="{FF2B5EF4-FFF2-40B4-BE49-F238E27FC236}">
                <a16:creationId xmlns:a16="http://schemas.microsoft.com/office/drawing/2014/main" id="{80C9D10E-5651-A74C-93AC-3C99ACEB97DA}"/>
              </a:ext>
            </a:extLst>
          </p:cNvPr>
          <p:cNvCxnSpPr>
            <a:cxnSpLocks/>
          </p:cNvCxnSpPr>
          <p:nvPr/>
        </p:nvCxnSpPr>
        <p:spPr>
          <a:xfrm flipV="1">
            <a:off x="2403343" y="3103946"/>
            <a:ext cx="0" cy="1876748"/>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89" name="Group 88">
            <a:extLst>
              <a:ext uri="{FF2B5EF4-FFF2-40B4-BE49-F238E27FC236}">
                <a16:creationId xmlns:a16="http://schemas.microsoft.com/office/drawing/2014/main" id="{55BCE33F-AF9C-9244-A84E-ABFE39D35FDD}"/>
              </a:ext>
            </a:extLst>
          </p:cNvPr>
          <p:cNvGrpSpPr/>
          <p:nvPr/>
        </p:nvGrpSpPr>
        <p:grpSpPr>
          <a:xfrm>
            <a:off x="4143941" y="2870098"/>
            <a:ext cx="1055714" cy="520457"/>
            <a:chOff x="8593764" y="690692"/>
            <a:chExt cx="1407618" cy="693942"/>
          </a:xfrm>
        </p:grpSpPr>
        <p:sp>
          <p:nvSpPr>
            <p:cNvPr id="90" name="Rectangle 89">
              <a:extLst>
                <a:ext uri="{FF2B5EF4-FFF2-40B4-BE49-F238E27FC236}">
                  <a16:creationId xmlns:a16="http://schemas.microsoft.com/office/drawing/2014/main" id="{3181679B-461D-F54E-B35C-1F26F43C0389}"/>
                </a:ext>
              </a:extLst>
            </p:cNvPr>
            <p:cNvSpPr/>
            <p:nvPr/>
          </p:nvSpPr>
          <p:spPr>
            <a:xfrm>
              <a:off x="8597936" y="756182"/>
              <a:ext cx="1403446" cy="2661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sp>
          <p:nvSpPr>
            <p:cNvPr id="91" name="TextBox 90">
              <a:extLst>
                <a:ext uri="{FF2B5EF4-FFF2-40B4-BE49-F238E27FC236}">
                  <a16:creationId xmlns:a16="http://schemas.microsoft.com/office/drawing/2014/main" id="{3C8C24D3-DD36-2249-9CAB-AD499E2FCA24}"/>
                </a:ext>
              </a:extLst>
            </p:cNvPr>
            <p:cNvSpPr txBox="1"/>
            <p:nvPr/>
          </p:nvSpPr>
          <p:spPr>
            <a:xfrm>
              <a:off x="8893175" y="707527"/>
              <a:ext cx="1108206" cy="677107"/>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HTTP msg</a:t>
              </a:r>
            </a:p>
          </p:txBody>
        </p:sp>
        <p:sp>
          <p:nvSpPr>
            <p:cNvPr id="92" name="TextBox 91">
              <a:extLst>
                <a:ext uri="{FF2B5EF4-FFF2-40B4-BE49-F238E27FC236}">
                  <a16:creationId xmlns:a16="http://schemas.microsoft.com/office/drawing/2014/main" id="{A5E8010F-AACF-1444-9E25-B05D5044AA5A}"/>
                </a:ext>
              </a:extLst>
            </p:cNvPr>
            <p:cNvSpPr txBox="1"/>
            <p:nvPr/>
          </p:nvSpPr>
          <p:spPr>
            <a:xfrm>
              <a:off x="8593764" y="690692"/>
              <a:ext cx="440720"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a:t>
              </a:r>
              <a:r>
                <a:rPr lang="en-US" sz="1350" baseline="-25000" dirty="0">
                  <a:solidFill>
                    <a:prstClr val="black"/>
                  </a:solidFill>
                  <a:latin typeface="Calibri"/>
                  <a:ea typeface="+mn-ea"/>
                </a:rPr>
                <a:t>t</a:t>
              </a:r>
            </a:p>
          </p:txBody>
        </p:sp>
      </p:grpSp>
      <p:sp>
        <p:nvSpPr>
          <p:cNvPr id="98" name="Rectangle 97">
            <a:extLst>
              <a:ext uri="{FF2B5EF4-FFF2-40B4-BE49-F238E27FC236}">
                <a16:creationId xmlns:a16="http://schemas.microsoft.com/office/drawing/2014/main" id="{4FFEBBBB-2623-A645-BE22-49AB28379D36}"/>
              </a:ext>
            </a:extLst>
          </p:cNvPr>
          <p:cNvSpPr/>
          <p:nvPr/>
        </p:nvSpPr>
        <p:spPr>
          <a:xfrm>
            <a:off x="4398169" y="2612266"/>
            <a:ext cx="797909" cy="1996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sp>
        <p:nvSpPr>
          <p:cNvPr id="99" name="TextBox 98">
            <a:extLst>
              <a:ext uri="{FF2B5EF4-FFF2-40B4-BE49-F238E27FC236}">
                <a16:creationId xmlns:a16="http://schemas.microsoft.com/office/drawing/2014/main" id="{BE6AB7BA-7EC8-0044-B495-B5FBC9F37B18}"/>
              </a:ext>
            </a:extLst>
          </p:cNvPr>
          <p:cNvSpPr txBox="1"/>
          <p:nvPr/>
        </p:nvSpPr>
        <p:spPr>
          <a:xfrm>
            <a:off x="4364923" y="2575774"/>
            <a:ext cx="831155" cy="507831"/>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HTTP msg</a:t>
            </a:r>
          </a:p>
        </p:txBody>
      </p:sp>
      <p:cxnSp>
        <p:nvCxnSpPr>
          <p:cNvPr id="104" name="Straight Connector 103">
            <a:extLst>
              <a:ext uri="{FF2B5EF4-FFF2-40B4-BE49-F238E27FC236}">
                <a16:creationId xmlns:a16="http://schemas.microsoft.com/office/drawing/2014/main" id="{8F458F2E-0B98-1741-9C0D-ECC805BD8799}"/>
              </a:ext>
            </a:extLst>
          </p:cNvPr>
          <p:cNvCxnSpPr>
            <a:cxnSpLocks/>
          </p:cNvCxnSpPr>
          <p:nvPr/>
        </p:nvCxnSpPr>
        <p:spPr>
          <a:xfrm>
            <a:off x="5258548" y="2720354"/>
            <a:ext cx="0" cy="226034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43591F4-8564-6A44-BC41-A0C901C7BC9C}"/>
              </a:ext>
            </a:extLst>
          </p:cNvPr>
          <p:cNvCxnSpPr>
            <a:cxnSpLocks/>
          </p:cNvCxnSpPr>
          <p:nvPr/>
        </p:nvCxnSpPr>
        <p:spPr>
          <a:xfrm>
            <a:off x="2388430" y="4966255"/>
            <a:ext cx="2888802"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7E44E6E3-ED5F-EA46-A3F3-2FC71EED50CF}"/>
              </a:ext>
            </a:extLst>
          </p:cNvPr>
          <p:cNvSpPr/>
          <p:nvPr/>
        </p:nvSpPr>
        <p:spPr>
          <a:xfrm>
            <a:off x="4398169" y="2575774"/>
            <a:ext cx="797909" cy="2254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sp>
        <p:nvSpPr>
          <p:cNvPr id="102" name="Rectangle 101">
            <a:extLst>
              <a:ext uri="{FF2B5EF4-FFF2-40B4-BE49-F238E27FC236}">
                <a16:creationId xmlns:a16="http://schemas.microsoft.com/office/drawing/2014/main" id="{33F974F9-F1CB-EB4F-9996-B0CAF21D948C}"/>
              </a:ext>
            </a:extLst>
          </p:cNvPr>
          <p:cNvSpPr/>
          <p:nvPr/>
        </p:nvSpPr>
        <p:spPr>
          <a:xfrm>
            <a:off x="4106216" y="2915639"/>
            <a:ext cx="1108539" cy="2132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sp>
        <p:nvSpPr>
          <p:cNvPr id="103" name="Slide Number Placeholder 2">
            <a:extLst>
              <a:ext uri="{FF2B5EF4-FFF2-40B4-BE49-F238E27FC236}">
                <a16:creationId xmlns:a16="http://schemas.microsoft.com/office/drawing/2014/main" id="{763B7DCD-B52F-3E47-BEBE-99834B40354A}"/>
              </a:ext>
            </a:extLst>
          </p:cNvPr>
          <p:cNvSpPr>
            <a:spLocks noGrp="1"/>
          </p:cNvSpPr>
          <p:nvPr>
            <p:ph type="sldNum" sz="quarter" idx="4"/>
          </p:nvPr>
        </p:nvSpPr>
        <p:spPr>
          <a:xfrm>
            <a:off x="6914712" y="5689567"/>
            <a:ext cx="2057400" cy="273844"/>
          </a:xfrm>
        </p:spPr>
        <p:txBody>
          <a:bodyPr/>
          <a:lstStyle/>
          <a:p>
            <a:pPr defTabSz="685800" eaLnBrk="1" fontAlgn="auto" hangingPunct="1">
              <a:spcBef>
                <a:spcPts val="0"/>
              </a:spcBef>
              <a:spcAft>
                <a:spcPts val="0"/>
              </a:spcAft>
              <a:defRPr/>
            </a:pPr>
            <a:r>
              <a:rPr lang="en-US" dirty="0">
                <a:solidFill>
                  <a:prstClr val="white">
                    <a:lumMod val="50000"/>
                  </a:prstClr>
                </a:solidFill>
                <a:latin typeface="Calibri" panose="020F0502020204030204"/>
                <a:ea typeface="+mn-ea"/>
              </a:rPr>
              <a:t>Transport Layer: 3-</a:t>
            </a:r>
            <a:fld id="{C4204591-24BD-A542-B9D5-F8D8A88D2FEE}" type="slidenum">
              <a:rPr lang="en-US">
                <a:solidFill>
                  <a:prstClr val="white">
                    <a:lumMod val="50000"/>
                  </a:prstClr>
                </a:solidFill>
                <a:latin typeface="Calibri" panose="020F0502020204030204"/>
                <a:ea typeface="+mn-ea"/>
              </a:rPr>
              <a:pPr defTabSz="685800" eaLnBrk="1" fontAlgn="auto" hangingPunct="1">
                <a:spcBef>
                  <a:spcPts val="0"/>
                </a:spcBef>
                <a:spcAft>
                  <a:spcPts val="0"/>
                </a:spcAft>
                <a:defRPr/>
              </a:pPr>
              <a:t>10</a:t>
            </a:fld>
            <a:endParaRPr lang="en-US" dirty="0">
              <a:solidFill>
                <a:prstClr val="white">
                  <a:lumMod val="50000"/>
                </a:prstClr>
              </a:solidFill>
              <a:latin typeface="Calibri" panose="020F0502020204030204"/>
              <a:ea typeface="+mn-ea"/>
            </a:endParaRPr>
          </a:p>
        </p:txBody>
      </p:sp>
      <p:sp>
        <p:nvSpPr>
          <p:cNvPr id="106" name="Rectangle 105">
            <a:extLst>
              <a:ext uri="{FF2B5EF4-FFF2-40B4-BE49-F238E27FC236}">
                <a16:creationId xmlns:a16="http://schemas.microsoft.com/office/drawing/2014/main" id="{6B048DEA-97AB-1F43-8741-12645B01C3F5}"/>
              </a:ext>
            </a:extLst>
          </p:cNvPr>
          <p:cNvSpPr/>
          <p:nvPr/>
        </p:nvSpPr>
        <p:spPr>
          <a:xfrm>
            <a:off x="1332482" y="3273920"/>
            <a:ext cx="1368515" cy="130937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grpSp>
        <p:nvGrpSpPr>
          <p:cNvPr id="107" name="Group 106">
            <a:extLst>
              <a:ext uri="{FF2B5EF4-FFF2-40B4-BE49-F238E27FC236}">
                <a16:creationId xmlns:a16="http://schemas.microsoft.com/office/drawing/2014/main" id="{A739BD94-0F47-854B-9CF2-AB21F1755B7E}"/>
              </a:ext>
            </a:extLst>
          </p:cNvPr>
          <p:cNvGrpSpPr/>
          <p:nvPr/>
        </p:nvGrpSpPr>
        <p:grpSpPr>
          <a:xfrm>
            <a:off x="2304761" y="2859094"/>
            <a:ext cx="831155" cy="507831"/>
            <a:chOff x="8893175" y="707526"/>
            <a:chExt cx="1108206" cy="677109"/>
          </a:xfrm>
        </p:grpSpPr>
        <p:sp>
          <p:nvSpPr>
            <p:cNvPr id="108" name="Rectangle 107">
              <a:extLst>
                <a:ext uri="{FF2B5EF4-FFF2-40B4-BE49-F238E27FC236}">
                  <a16:creationId xmlns:a16="http://schemas.microsoft.com/office/drawing/2014/main" id="{74E14681-F8C2-E943-9036-9B66F8026102}"/>
                </a:ext>
              </a:extLst>
            </p:cNvPr>
            <p:cNvSpPr/>
            <p:nvPr/>
          </p:nvSpPr>
          <p:spPr>
            <a:xfrm>
              <a:off x="8934834" y="756182"/>
              <a:ext cx="1066547"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sp>
          <p:nvSpPr>
            <p:cNvPr id="109" name="TextBox 108">
              <a:extLst>
                <a:ext uri="{FF2B5EF4-FFF2-40B4-BE49-F238E27FC236}">
                  <a16:creationId xmlns:a16="http://schemas.microsoft.com/office/drawing/2014/main" id="{9FE05029-2B07-9140-B651-352A9EE32350}"/>
                </a:ext>
              </a:extLst>
            </p:cNvPr>
            <p:cNvSpPr txBox="1"/>
            <p:nvPr/>
          </p:nvSpPr>
          <p:spPr>
            <a:xfrm>
              <a:off x="8893175" y="707526"/>
              <a:ext cx="1108206" cy="677109"/>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HTTP msg</a:t>
              </a:r>
            </a:p>
          </p:txBody>
        </p:sp>
      </p:grpSp>
      <p:pic>
        <p:nvPicPr>
          <p:cNvPr id="111" name="Picture 8" descr="Image result for blue question mark icon">
            <a:extLst>
              <a:ext uri="{FF2B5EF4-FFF2-40B4-BE49-F238E27FC236}">
                <a16:creationId xmlns:a16="http://schemas.microsoft.com/office/drawing/2014/main" id="{7A8F5C24-D5BC-6046-A8A9-E43B225E498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8767" y="935917"/>
            <a:ext cx="1218281" cy="1218281"/>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C617D77-5487-F243-B8B2-CF4CA1D7049C}"/>
              </a:ext>
            </a:extLst>
          </p:cNvPr>
          <p:cNvSpPr txBox="1"/>
          <p:nvPr/>
        </p:nvSpPr>
        <p:spPr>
          <a:xfrm>
            <a:off x="1657350" y="1057276"/>
            <a:ext cx="7248525" cy="644151"/>
          </a:xfrm>
          <a:prstGeom prst="rect">
            <a:avLst/>
          </a:prstGeom>
          <a:noFill/>
        </p:spPr>
        <p:txBody>
          <a:bodyPr wrap="square" rtlCol="0">
            <a:spAutoFit/>
          </a:bodyPr>
          <a:lstStyle/>
          <a:p>
            <a:pPr defTabSz="685800" eaLnBrk="1" fontAlgn="auto" hangingPunct="1">
              <a:lnSpc>
                <a:spcPct val="85000"/>
              </a:lnSpc>
              <a:spcBef>
                <a:spcPts val="0"/>
              </a:spcBef>
              <a:spcAft>
                <a:spcPts val="0"/>
              </a:spcAft>
              <a:defRPr/>
            </a:pPr>
            <a:r>
              <a:rPr lang="en-US" sz="2100" i="1" dirty="0">
                <a:solidFill>
                  <a:srgbClr val="C00000"/>
                </a:solidFill>
                <a:latin typeface="Calibri" panose="020F0502020204030204"/>
                <a:ea typeface="+mn-ea"/>
              </a:rPr>
              <a:t>Q: how did transport layer know to deliver message to Firefox browser process rather then Netflix process or Skype process?</a:t>
            </a:r>
          </a:p>
        </p:txBody>
      </p:sp>
    </p:spTree>
    <p:extLst>
      <p:ext uri="{BB962C8B-B14F-4D97-AF65-F5344CB8AC3E}">
        <p14:creationId xmlns:p14="http://schemas.microsoft.com/office/powerpoint/2010/main" val="76564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111"/>
                                        </p:tgtEl>
                                        <p:attrNameLst>
                                          <p:attrName>style.visibility</p:attrName>
                                        </p:attrNameLst>
                                      </p:cBhvr>
                                      <p:to>
                                        <p:strVal val="visible"/>
                                      </p:to>
                                    </p:set>
                                    <p:animEffect transition="in" filter="dissolve">
                                      <p:cBhvr>
                                        <p:cTn id="7" dur="1000"/>
                                        <p:tgtEl>
                                          <p:spTgt spid="111"/>
                                        </p:tgtEl>
                                      </p:cBhvr>
                                    </p:animEffect>
                                  </p:childTnLst>
                                </p:cTn>
                              </p:par>
                            </p:childTnLst>
                          </p:cTn>
                        </p:par>
                        <p:par>
                          <p:cTn id="8" fill="hold">
                            <p:stCondLst>
                              <p:cond delay="30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3162612" y="2262377"/>
            <a:ext cx="2258952" cy="2505132"/>
            <a:chOff x="5478735" y="1883160"/>
            <a:chExt cx="3011935" cy="3340176"/>
          </a:xfrm>
        </p:grpSpPr>
        <p:grpSp>
          <p:nvGrpSpPr>
            <p:cNvPr id="10" name="Group 9"/>
            <p:cNvGrpSpPr/>
            <p:nvPr/>
          </p:nvGrpSpPr>
          <p:grpSpPr>
            <a:xfrm>
              <a:off x="5901165" y="1883160"/>
              <a:ext cx="2008556" cy="2443958"/>
              <a:chOff x="5901165" y="1883160"/>
              <a:chExt cx="2008556" cy="2443958"/>
            </a:xfrm>
          </p:grpSpPr>
          <p:sp>
            <p:nvSpPr>
              <p:cNvPr id="2" name="Oval 1"/>
              <p:cNvSpPr/>
              <p:nvPr/>
            </p:nvSpPr>
            <p:spPr>
              <a:xfrm>
                <a:off x="6581083" y="2834918"/>
                <a:ext cx="648720" cy="641384"/>
              </a:xfrm>
              <a:prstGeom prst="ellipse">
                <a:avLst/>
              </a:prstGeom>
              <a:solidFill>
                <a:schemeClr val="bg1"/>
              </a:solidFill>
              <a:ln w="28575">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cxnSp>
            <p:nvCxnSpPr>
              <p:cNvPr id="5" name="Straight Arrow Connector 4"/>
              <p:cNvCxnSpPr/>
              <p:nvPr/>
            </p:nvCxnSpPr>
            <p:spPr>
              <a:xfrm flipV="1">
                <a:off x="6878224" y="3527614"/>
                <a:ext cx="0" cy="799504"/>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690618" y="2768416"/>
                <a:ext cx="560411" cy="738664"/>
              </a:xfrm>
              <a:prstGeom prst="rect">
                <a:avLst/>
              </a:prstGeom>
              <a:noFill/>
            </p:spPr>
            <p:txBody>
              <a:bodyPr wrap="none" rtlCol="0">
                <a:spAutoFit/>
              </a:bodyPr>
              <a:lstStyle/>
              <a:p>
                <a:r>
                  <a:rPr lang="en-US" sz="3000" b="1" dirty="0"/>
                  <a:t>?</a:t>
                </a:r>
              </a:p>
            </p:txBody>
          </p:sp>
          <p:cxnSp>
            <p:nvCxnSpPr>
              <p:cNvPr id="93" name="Straight Arrow Connector 92"/>
              <p:cNvCxnSpPr/>
              <p:nvPr/>
            </p:nvCxnSpPr>
            <p:spPr>
              <a:xfrm flipH="1" flipV="1">
                <a:off x="5901165" y="2086013"/>
                <a:ext cx="679918" cy="682403"/>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p:nvPr/>
            </p:nvCxnSpPr>
            <p:spPr>
              <a:xfrm flipV="1">
                <a:off x="7229803" y="2090667"/>
                <a:ext cx="679918" cy="682403"/>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p:nvPr/>
            </p:nvCxnSpPr>
            <p:spPr>
              <a:xfrm flipV="1">
                <a:off x="6874209" y="1883160"/>
                <a:ext cx="0" cy="799504"/>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1" name="TextBox 10"/>
            <p:cNvSpPr txBox="1"/>
            <p:nvPr/>
          </p:nvSpPr>
          <p:spPr>
            <a:xfrm>
              <a:off x="5478735" y="4607783"/>
              <a:ext cx="3011935" cy="615553"/>
            </a:xfrm>
            <a:prstGeom prst="rect">
              <a:avLst/>
            </a:prstGeom>
            <a:noFill/>
          </p:spPr>
          <p:txBody>
            <a:bodyPr wrap="none" rtlCol="0">
              <a:spAutoFit/>
            </a:bodyPr>
            <a:lstStyle/>
            <a:p>
              <a:r>
                <a:rPr lang="en-US" dirty="0"/>
                <a:t>de-multiplexing</a:t>
              </a:r>
            </a:p>
          </p:txBody>
        </p:sp>
      </p:grpSp>
    </p:spTree>
    <p:extLst>
      <p:ext uri="{BB962C8B-B14F-4D97-AF65-F5344CB8AC3E}">
        <p14:creationId xmlns:p14="http://schemas.microsoft.com/office/powerpoint/2010/main" val="3119182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3989373" y="2976196"/>
            <a:ext cx="486540" cy="481038"/>
          </a:xfrm>
          <a:prstGeom prst="ellipse">
            <a:avLst/>
          </a:prstGeom>
          <a:solidFill>
            <a:schemeClr val="bg1"/>
          </a:solidFill>
          <a:ln w="28575">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cxnSp>
        <p:nvCxnSpPr>
          <p:cNvPr id="5" name="Straight Arrow Connector 4"/>
          <p:cNvCxnSpPr/>
          <p:nvPr/>
        </p:nvCxnSpPr>
        <p:spPr>
          <a:xfrm flipV="1">
            <a:off x="4212229" y="3495718"/>
            <a:ext cx="0" cy="599628"/>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071524" y="2926319"/>
            <a:ext cx="420308" cy="553998"/>
          </a:xfrm>
          <a:prstGeom prst="rect">
            <a:avLst/>
          </a:prstGeom>
          <a:noFill/>
        </p:spPr>
        <p:txBody>
          <a:bodyPr wrap="none" rtlCol="0">
            <a:spAutoFit/>
          </a:bodyPr>
          <a:lstStyle/>
          <a:p>
            <a:r>
              <a:rPr lang="en-US" sz="3000" b="1" dirty="0"/>
              <a:t>?</a:t>
            </a:r>
          </a:p>
        </p:txBody>
      </p:sp>
      <p:cxnSp>
        <p:nvCxnSpPr>
          <p:cNvPr id="93" name="Straight Arrow Connector 92"/>
          <p:cNvCxnSpPr/>
          <p:nvPr/>
        </p:nvCxnSpPr>
        <p:spPr>
          <a:xfrm flipH="1" flipV="1">
            <a:off x="3479434" y="2414518"/>
            <a:ext cx="509939" cy="511802"/>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p:nvPr/>
        </p:nvCxnSpPr>
        <p:spPr>
          <a:xfrm flipV="1">
            <a:off x="4475913" y="2418008"/>
            <a:ext cx="509939" cy="511802"/>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p:nvPr/>
        </p:nvCxnSpPr>
        <p:spPr>
          <a:xfrm flipV="1">
            <a:off x="4209218" y="2262377"/>
            <a:ext cx="0" cy="599628"/>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162612" y="4305845"/>
            <a:ext cx="2258952" cy="461665"/>
          </a:xfrm>
          <a:prstGeom prst="rect">
            <a:avLst/>
          </a:prstGeom>
          <a:noFill/>
        </p:spPr>
        <p:txBody>
          <a:bodyPr wrap="none" rtlCol="0">
            <a:spAutoFit/>
          </a:bodyPr>
          <a:lstStyle/>
          <a:p>
            <a:r>
              <a:rPr lang="en-US" dirty="0"/>
              <a:t>de-multiplexing</a:t>
            </a:r>
          </a:p>
        </p:txBody>
      </p:sp>
      <p:grpSp>
        <p:nvGrpSpPr>
          <p:cNvPr id="3" name="Group 2"/>
          <p:cNvGrpSpPr/>
          <p:nvPr/>
        </p:nvGrpSpPr>
        <p:grpSpPr>
          <a:xfrm>
            <a:off x="2794862" y="1708332"/>
            <a:ext cx="3643021" cy="2085629"/>
            <a:chOff x="3726482" y="1134776"/>
            <a:chExt cx="4857360" cy="2780838"/>
          </a:xfrm>
        </p:grpSpPr>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16466" y="1134776"/>
              <a:ext cx="593575" cy="550669"/>
            </a:xfrm>
            <a:prstGeom prst="rect">
              <a:avLst/>
            </a:prstGeom>
            <a:noFill/>
            <a:extLst>
              <a:ext uri="{909E8E84-426E-40dd-AFC4-6F175D3DCCD1}">
                <a14:hiddenFill xmlns:a14="http://schemas.microsoft.com/office/drawing/2010/main" xmlns="">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84338" y="1410111"/>
              <a:ext cx="593575" cy="596651"/>
            </a:xfrm>
            <a:prstGeom prst="rect">
              <a:avLst/>
            </a:prstGeom>
            <a:noFill/>
            <a:extLst>
              <a:ext uri="{909E8E84-426E-40dd-AFC4-6F175D3DCCD1}">
                <a14:hiddenFill xmlns:a14="http://schemas.microsoft.com/office/drawing/2010/main" xmlns="">
                  <a:solidFill>
                    <a:srgbClr val="FFFFFF"/>
                  </a:solidFill>
                </a14:hiddenFill>
              </a:ext>
            </a:extLst>
          </p:spPr>
        </p:pic>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42637" y="1485789"/>
              <a:ext cx="1059694" cy="590567"/>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3" name="Straight Connector 12"/>
            <p:cNvCxnSpPr/>
            <p:nvPr/>
          </p:nvCxnSpPr>
          <p:spPr>
            <a:xfrm>
              <a:off x="3726482" y="3915614"/>
              <a:ext cx="3925557" cy="0"/>
            </a:xfrm>
            <a:prstGeom prst="line">
              <a:avLst/>
            </a:prstGeom>
            <a:ln w="254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02" name="Straight Connector 101"/>
            <p:cNvCxnSpPr/>
            <p:nvPr/>
          </p:nvCxnSpPr>
          <p:spPr>
            <a:xfrm>
              <a:off x="3726482" y="2464553"/>
              <a:ext cx="4499617" cy="0"/>
            </a:xfrm>
            <a:prstGeom prst="line">
              <a:avLst/>
            </a:prstGeom>
            <a:ln w="2540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6867132" y="2931106"/>
              <a:ext cx="1460229" cy="492443"/>
            </a:xfrm>
            <a:prstGeom prst="rect">
              <a:avLst/>
            </a:prstGeom>
            <a:noFill/>
          </p:spPr>
          <p:txBody>
            <a:bodyPr wrap="none" rtlCol="0">
              <a:spAutoFit/>
            </a:bodyPr>
            <a:lstStyle/>
            <a:p>
              <a:r>
                <a:rPr lang="en-US" sz="1800" dirty="0"/>
                <a:t>transport</a:t>
              </a:r>
              <a:endParaRPr lang="en-US" dirty="0"/>
            </a:p>
          </p:txBody>
        </p:sp>
        <p:sp>
          <p:nvSpPr>
            <p:cNvPr id="105" name="TextBox 104"/>
            <p:cNvSpPr txBox="1"/>
            <p:nvPr/>
          </p:nvSpPr>
          <p:spPr>
            <a:xfrm>
              <a:off x="6867133" y="2025176"/>
              <a:ext cx="1716709" cy="492443"/>
            </a:xfrm>
            <a:prstGeom prst="rect">
              <a:avLst/>
            </a:prstGeom>
            <a:noFill/>
          </p:spPr>
          <p:txBody>
            <a:bodyPr wrap="none" rtlCol="0">
              <a:spAutoFit/>
            </a:bodyPr>
            <a:lstStyle/>
            <a:p>
              <a:r>
                <a:rPr lang="en-US" sz="1800" dirty="0"/>
                <a:t>application</a:t>
              </a:r>
              <a:endParaRPr lang="en-US" dirty="0"/>
            </a:p>
          </p:txBody>
        </p:sp>
      </p:grpSp>
    </p:spTree>
    <p:extLst>
      <p:ext uri="{BB962C8B-B14F-4D97-AF65-F5344CB8AC3E}">
        <p14:creationId xmlns:p14="http://schemas.microsoft.com/office/powerpoint/2010/main" val="164425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C86CF3-5283-F242-9D46-46CE5E5A64D4}"/>
              </a:ext>
            </a:extLst>
          </p:cNvPr>
          <p:cNvPicPr>
            <a:picLocks noChangeAspect="1"/>
          </p:cNvPicPr>
          <p:nvPr/>
        </p:nvPicPr>
        <p:blipFill>
          <a:blip r:embed="rId2"/>
          <a:stretch>
            <a:fillRect/>
          </a:stretch>
        </p:blipFill>
        <p:spPr>
          <a:xfrm>
            <a:off x="-121270" y="736915"/>
            <a:ext cx="9382416" cy="5384171"/>
          </a:xfrm>
          <a:prstGeom prst="rect">
            <a:avLst/>
          </a:prstGeom>
          <a:effectLst>
            <a:glow rad="127000">
              <a:schemeClr val="bg1"/>
            </a:glow>
          </a:effectLst>
        </p:spPr>
      </p:pic>
      <p:sp>
        <p:nvSpPr>
          <p:cNvPr id="5" name="TextBox 4">
            <a:extLst>
              <a:ext uri="{FF2B5EF4-FFF2-40B4-BE49-F238E27FC236}">
                <a16:creationId xmlns:a16="http://schemas.microsoft.com/office/drawing/2014/main" id="{BE5F1534-F52B-1947-9FF8-F3900CBE5770}"/>
              </a:ext>
            </a:extLst>
          </p:cNvPr>
          <p:cNvSpPr txBox="1"/>
          <p:nvPr/>
        </p:nvSpPr>
        <p:spPr>
          <a:xfrm>
            <a:off x="2144683" y="4873054"/>
            <a:ext cx="5234125" cy="1015663"/>
          </a:xfrm>
          <a:prstGeom prst="rect">
            <a:avLst/>
          </a:prstGeom>
          <a:noFill/>
          <a:effectLst>
            <a:glow>
              <a:schemeClr val="accent1"/>
            </a:glow>
          </a:effectLst>
        </p:spPr>
        <p:txBody>
          <a:bodyPr wrap="none" rtlCol="0">
            <a:spAutoFit/>
          </a:bodyPr>
          <a:lstStyle/>
          <a:p>
            <a:r>
              <a:rPr lang="en-US" sz="6000" dirty="0">
                <a:effectLst>
                  <a:glow rad="863600">
                    <a:schemeClr val="accent1">
                      <a:alpha val="40000"/>
                    </a:schemeClr>
                  </a:glow>
                  <a:outerShdw blurRad="50800" dist="38100" dir="2700000" algn="tl" rotWithShape="0">
                    <a:prstClr val="black">
                      <a:alpha val="40000"/>
                    </a:prstClr>
                  </a:outerShdw>
                </a:effectLst>
              </a:rPr>
              <a:t>Demultiplexing</a:t>
            </a:r>
          </a:p>
        </p:txBody>
      </p:sp>
    </p:spTree>
    <p:extLst>
      <p:ext uri="{BB962C8B-B14F-4D97-AF65-F5344CB8AC3E}">
        <p14:creationId xmlns:p14="http://schemas.microsoft.com/office/powerpoint/2010/main" val="1896213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3989373" y="2976196"/>
            <a:ext cx="486540" cy="481038"/>
          </a:xfrm>
          <a:prstGeom prst="ellipse">
            <a:avLst/>
          </a:prstGeom>
          <a:solidFill>
            <a:schemeClr val="bg1"/>
          </a:solidFill>
          <a:ln w="28575">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cxnSp>
        <p:nvCxnSpPr>
          <p:cNvPr id="5" name="Straight Arrow Connector 4"/>
          <p:cNvCxnSpPr/>
          <p:nvPr/>
        </p:nvCxnSpPr>
        <p:spPr>
          <a:xfrm flipV="1">
            <a:off x="4212229" y="3495718"/>
            <a:ext cx="0" cy="599628"/>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flipH="1" flipV="1">
            <a:off x="3479434" y="2414518"/>
            <a:ext cx="509939" cy="511802"/>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p:nvPr/>
        </p:nvCxnSpPr>
        <p:spPr>
          <a:xfrm flipV="1">
            <a:off x="4475913" y="2418008"/>
            <a:ext cx="509939" cy="511802"/>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p:nvPr/>
        </p:nvCxnSpPr>
        <p:spPr>
          <a:xfrm flipV="1">
            <a:off x="4209218" y="2262377"/>
            <a:ext cx="0" cy="599628"/>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377679" y="4305845"/>
            <a:ext cx="1813317" cy="461665"/>
          </a:xfrm>
          <a:prstGeom prst="rect">
            <a:avLst/>
          </a:prstGeom>
          <a:noFill/>
        </p:spPr>
        <p:txBody>
          <a:bodyPr wrap="none" rtlCol="0">
            <a:spAutoFit/>
          </a:bodyPr>
          <a:lstStyle/>
          <a:p>
            <a:r>
              <a:rPr lang="en-US" dirty="0"/>
              <a:t>multiplexing</a:t>
            </a:r>
          </a:p>
        </p:txBody>
      </p:sp>
    </p:spTree>
    <p:extLst>
      <p:ext uri="{BB962C8B-B14F-4D97-AF65-F5344CB8AC3E}">
        <p14:creationId xmlns:p14="http://schemas.microsoft.com/office/powerpoint/2010/main" val="391700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1000"/>
                                        <p:tgtEl>
                                          <p:spTgt spid="2"/>
                                        </p:tgtEl>
                                      </p:cBhvr>
                                    </p:animEffec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nodeType="withEffect">
                                  <p:stCondLst>
                                    <p:cond delay="0"/>
                                  </p:stCondLst>
                                  <p:childTnLst>
                                    <p:set>
                                      <p:cBhvr>
                                        <p:cTn id="12" dur="1" fill="hold">
                                          <p:stCondLst>
                                            <p:cond delay="0"/>
                                          </p:stCondLst>
                                        </p:cTn>
                                        <p:tgtEl>
                                          <p:spTgt spid="93"/>
                                        </p:tgtEl>
                                        <p:attrNameLst>
                                          <p:attrName>style.visibility</p:attrName>
                                        </p:attrNameLst>
                                      </p:cBhvr>
                                      <p:to>
                                        <p:strVal val="visible"/>
                                      </p:to>
                                    </p:set>
                                    <p:animEffect transition="in" filter="dissolve">
                                      <p:cBhvr>
                                        <p:cTn id="13" dur="500"/>
                                        <p:tgtEl>
                                          <p:spTgt spid="93"/>
                                        </p:tgtEl>
                                      </p:cBhvr>
                                    </p:animEffect>
                                  </p:childTnLst>
                                </p:cTn>
                              </p:par>
                              <p:par>
                                <p:cTn id="14" presetID="9" presetClass="entr" presetSubtype="0" fill="hold" nodeType="withEffect">
                                  <p:stCondLst>
                                    <p:cond delay="0"/>
                                  </p:stCondLst>
                                  <p:childTnLst>
                                    <p:set>
                                      <p:cBhvr>
                                        <p:cTn id="15" dur="1" fill="hold">
                                          <p:stCondLst>
                                            <p:cond delay="0"/>
                                          </p:stCondLst>
                                        </p:cTn>
                                        <p:tgtEl>
                                          <p:spTgt spid="95"/>
                                        </p:tgtEl>
                                        <p:attrNameLst>
                                          <p:attrName>style.visibility</p:attrName>
                                        </p:attrNameLst>
                                      </p:cBhvr>
                                      <p:to>
                                        <p:strVal val="visible"/>
                                      </p:to>
                                    </p:set>
                                    <p:animEffect transition="in" filter="dissolve">
                                      <p:cBhvr>
                                        <p:cTn id="16" dur="500"/>
                                        <p:tgtEl>
                                          <p:spTgt spid="95"/>
                                        </p:tgtEl>
                                      </p:cBhvr>
                                    </p:animEffect>
                                  </p:childTnLst>
                                </p:cTn>
                              </p:par>
                              <p:par>
                                <p:cTn id="17" presetID="9" presetClass="entr" presetSubtype="0" fill="hold" nodeType="withEffect">
                                  <p:stCondLst>
                                    <p:cond delay="0"/>
                                  </p:stCondLst>
                                  <p:childTnLst>
                                    <p:set>
                                      <p:cBhvr>
                                        <p:cTn id="18" dur="1" fill="hold">
                                          <p:stCondLst>
                                            <p:cond delay="0"/>
                                          </p:stCondLst>
                                        </p:cTn>
                                        <p:tgtEl>
                                          <p:spTgt spid="96"/>
                                        </p:tgtEl>
                                        <p:attrNameLst>
                                          <p:attrName>style.visibility</p:attrName>
                                        </p:attrNameLst>
                                      </p:cBhvr>
                                      <p:to>
                                        <p:strVal val="visible"/>
                                      </p:to>
                                    </p:set>
                                    <p:animEffect transition="in" filter="dissolve">
                                      <p:cBhvr>
                                        <p:cTn id="19" dur="500"/>
                                        <p:tgtEl>
                                          <p:spTgt spid="9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3989373" y="2976196"/>
            <a:ext cx="486540" cy="481038"/>
          </a:xfrm>
          <a:prstGeom prst="ellipse">
            <a:avLst/>
          </a:prstGeom>
          <a:solidFill>
            <a:schemeClr val="bg1"/>
          </a:solidFill>
          <a:ln w="28575">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cxnSp>
        <p:nvCxnSpPr>
          <p:cNvPr id="5" name="Straight Arrow Connector 4"/>
          <p:cNvCxnSpPr/>
          <p:nvPr/>
        </p:nvCxnSpPr>
        <p:spPr>
          <a:xfrm flipV="1">
            <a:off x="4212229" y="3495718"/>
            <a:ext cx="0" cy="599628"/>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flipH="1" flipV="1">
            <a:off x="3479434" y="2414518"/>
            <a:ext cx="509939" cy="511802"/>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p:nvPr/>
        </p:nvCxnSpPr>
        <p:spPr>
          <a:xfrm flipV="1">
            <a:off x="4475913" y="2418008"/>
            <a:ext cx="509939" cy="511802"/>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p:nvPr/>
        </p:nvCxnSpPr>
        <p:spPr>
          <a:xfrm flipV="1">
            <a:off x="4209218" y="2262377"/>
            <a:ext cx="0" cy="599628"/>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377679" y="4305845"/>
            <a:ext cx="1813317" cy="461665"/>
          </a:xfrm>
          <a:prstGeom prst="rect">
            <a:avLst/>
          </a:prstGeom>
          <a:noFill/>
        </p:spPr>
        <p:txBody>
          <a:bodyPr wrap="none" rtlCol="0">
            <a:spAutoFit/>
          </a:bodyPr>
          <a:lstStyle/>
          <a:p>
            <a:r>
              <a:rPr lang="en-US" dirty="0"/>
              <a:t>multiplexing</a:t>
            </a:r>
          </a:p>
        </p:txBody>
      </p:sp>
      <p:grpSp>
        <p:nvGrpSpPr>
          <p:cNvPr id="3" name="Group 2"/>
          <p:cNvGrpSpPr/>
          <p:nvPr/>
        </p:nvGrpSpPr>
        <p:grpSpPr>
          <a:xfrm>
            <a:off x="2794862" y="1708332"/>
            <a:ext cx="3643021" cy="2085629"/>
            <a:chOff x="3726482" y="1134776"/>
            <a:chExt cx="4857360" cy="2780838"/>
          </a:xfrm>
        </p:grpSpPr>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16466" y="1134776"/>
              <a:ext cx="593575" cy="550669"/>
            </a:xfrm>
            <a:prstGeom prst="rect">
              <a:avLst/>
            </a:prstGeom>
            <a:noFill/>
            <a:extLst>
              <a:ext uri="{909E8E84-426E-40dd-AFC4-6F175D3DCCD1}">
                <a14:hiddenFill xmlns:a14="http://schemas.microsoft.com/office/drawing/2010/main" xmlns="">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84338" y="1410111"/>
              <a:ext cx="593575" cy="596651"/>
            </a:xfrm>
            <a:prstGeom prst="rect">
              <a:avLst/>
            </a:prstGeom>
            <a:noFill/>
            <a:extLst>
              <a:ext uri="{909E8E84-426E-40dd-AFC4-6F175D3DCCD1}">
                <a14:hiddenFill xmlns:a14="http://schemas.microsoft.com/office/drawing/2010/main" xmlns="">
                  <a:solidFill>
                    <a:srgbClr val="FFFFFF"/>
                  </a:solidFill>
                </a14:hiddenFill>
              </a:ext>
            </a:extLst>
          </p:spPr>
        </p:pic>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42637" y="1485789"/>
              <a:ext cx="1059694" cy="590567"/>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3" name="Straight Connector 12"/>
            <p:cNvCxnSpPr/>
            <p:nvPr/>
          </p:nvCxnSpPr>
          <p:spPr>
            <a:xfrm>
              <a:off x="3726482" y="3915614"/>
              <a:ext cx="3925557" cy="0"/>
            </a:xfrm>
            <a:prstGeom prst="line">
              <a:avLst/>
            </a:prstGeom>
            <a:ln w="254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02" name="Straight Connector 101"/>
            <p:cNvCxnSpPr/>
            <p:nvPr/>
          </p:nvCxnSpPr>
          <p:spPr>
            <a:xfrm>
              <a:off x="3726482" y="2464553"/>
              <a:ext cx="4499617" cy="0"/>
            </a:xfrm>
            <a:prstGeom prst="line">
              <a:avLst/>
            </a:prstGeom>
            <a:ln w="2540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6867132" y="2931106"/>
              <a:ext cx="1460229" cy="492443"/>
            </a:xfrm>
            <a:prstGeom prst="rect">
              <a:avLst/>
            </a:prstGeom>
            <a:noFill/>
          </p:spPr>
          <p:txBody>
            <a:bodyPr wrap="none" rtlCol="0">
              <a:spAutoFit/>
            </a:bodyPr>
            <a:lstStyle/>
            <a:p>
              <a:r>
                <a:rPr lang="en-US" sz="1800" dirty="0"/>
                <a:t>transport</a:t>
              </a:r>
              <a:endParaRPr lang="en-US" dirty="0"/>
            </a:p>
          </p:txBody>
        </p:sp>
        <p:sp>
          <p:nvSpPr>
            <p:cNvPr id="105" name="TextBox 104"/>
            <p:cNvSpPr txBox="1"/>
            <p:nvPr/>
          </p:nvSpPr>
          <p:spPr>
            <a:xfrm>
              <a:off x="6867133" y="2025176"/>
              <a:ext cx="1716709" cy="492443"/>
            </a:xfrm>
            <a:prstGeom prst="rect">
              <a:avLst/>
            </a:prstGeom>
            <a:noFill/>
          </p:spPr>
          <p:txBody>
            <a:bodyPr wrap="none" rtlCol="0">
              <a:spAutoFit/>
            </a:bodyPr>
            <a:lstStyle/>
            <a:p>
              <a:r>
                <a:rPr lang="en-US" sz="1800" dirty="0"/>
                <a:t>application</a:t>
              </a:r>
              <a:endParaRPr lang="en-US" dirty="0"/>
            </a:p>
          </p:txBody>
        </p:sp>
      </p:grpSp>
    </p:spTree>
    <p:extLst>
      <p:ext uri="{BB962C8B-B14F-4D97-AF65-F5344CB8AC3E}">
        <p14:creationId xmlns:p14="http://schemas.microsoft.com/office/powerpoint/2010/main" val="226273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B9CCC5-D908-9C4E-A49D-1E21751E78A3}"/>
              </a:ext>
            </a:extLst>
          </p:cNvPr>
          <p:cNvSpPr/>
          <p:nvPr/>
        </p:nvSpPr>
        <p:spPr>
          <a:xfrm>
            <a:off x="-93945" y="857251"/>
            <a:ext cx="9347548" cy="526093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26" name="Picture 2" descr="Cars merge">
            <a:extLst>
              <a:ext uri="{FF2B5EF4-FFF2-40B4-BE49-F238E27FC236}">
                <a16:creationId xmlns:a16="http://schemas.microsoft.com/office/drawing/2014/main" id="{93314E34-1FD8-0649-B734-DBACB89E29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070" y="1139278"/>
            <a:ext cx="7049861" cy="4699907"/>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id="{2DCC19CE-833B-5F4C-B0C9-7CBB36ED852F}"/>
              </a:ext>
            </a:extLst>
          </p:cNvPr>
          <p:cNvSpPr txBox="1"/>
          <p:nvPr/>
        </p:nvSpPr>
        <p:spPr>
          <a:xfrm>
            <a:off x="2553105" y="4489815"/>
            <a:ext cx="4249881" cy="1015663"/>
          </a:xfrm>
          <a:prstGeom prst="rect">
            <a:avLst/>
          </a:prstGeom>
          <a:noFill/>
          <a:effectLst>
            <a:glow>
              <a:schemeClr val="accent1"/>
            </a:glow>
          </a:effectLst>
        </p:spPr>
        <p:txBody>
          <a:bodyPr wrap="none" rtlCol="0">
            <a:spAutoFit/>
          </a:bodyPr>
          <a:lstStyle/>
          <a:p>
            <a:r>
              <a:rPr lang="en-US" sz="6000" dirty="0">
                <a:effectLst>
                  <a:glow rad="863600">
                    <a:schemeClr val="accent1">
                      <a:alpha val="40000"/>
                    </a:schemeClr>
                  </a:glow>
                  <a:outerShdw blurRad="50800" dist="38100" dir="2700000" algn="tl" rotWithShape="0">
                    <a:prstClr val="black">
                      <a:alpha val="40000"/>
                    </a:prstClr>
                  </a:outerShdw>
                </a:effectLst>
              </a:rPr>
              <a:t>Multiplexing</a:t>
            </a:r>
          </a:p>
        </p:txBody>
      </p:sp>
    </p:spTree>
    <p:extLst>
      <p:ext uri="{BB962C8B-B14F-4D97-AF65-F5344CB8AC3E}">
        <p14:creationId xmlns:p14="http://schemas.microsoft.com/office/powerpoint/2010/main" val="40143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How demultiplexing works</a:t>
            </a:r>
          </a:p>
        </p:txBody>
      </p:sp>
      <p:sp>
        <p:nvSpPr>
          <p:cNvPr id="277" name="Rectangle 23">
            <a:extLst>
              <a:ext uri="{FF2B5EF4-FFF2-40B4-BE49-F238E27FC236}">
                <a16:creationId xmlns:a16="http://schemas.microsoft.com/office/drawing/2014/main" id="{0F916DA5-15D2-0A42-8C9B-01DCE4B192B4}"/>
              </a:ext>
            </a:extLst>
          </p:cNvPr>
          <p:cNvSpPr txBox="1">
            <a:spLocks noChangeArrowheads="1"/>
          </p:cNvSpPr>
          <p:nvPr/>
        </p:nvSpPr>
        <p:spPr bwMode="auto">
          <a:xfrm>
            <a:off x="609599" y="2031571"/>
            <a:ext cx="4277478" cy="20931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a:buFont typeface="Wingdings" charset="2"/>
              <a:buChar char="§"/>
              <a:defRPr/>
            </a:pPr>
            <a:r>
              <a:rPr lang="en-US" sz="2400" kern="0" dirty="0">
                <a:solidFill>
                  <a:srgbClr val="000000"/>
                </a:solidFill>
                <a:cs typeface="+mn-cs"/>
              </a:rPr>
              <a:t>host receives IP datagrams</a:t>
            </a:r>
          </a:p>
          <a:p>
            <a:pPr lvl="1">
              <a:buFont typeface="Arial"/>
              <a:buChar char="•"/>
              <a:defRPr/>
            </a:pPr>
            <a:r>
              <a:rPr lang="en-US" sz="2100" kern="0" dirty="0">
                <a:solidFill>
                  <a:srgbClr val="000000"/>
                </a:solidFill>
              </a:rPr>
              <a:t>each datagram has source IP address, destination IP address</a:t>
            </a:r>
          </a:p>
          <a:p>
            <a:pPr lvl="1">
              <a:buFont typeface="Arial"/>
              <a:buChar char="•"/>
              <a:defRPr/>
            </a:pPr>
            <a:r>
              <a:rPr lang="en-US" sz="2100" kern="0" dirty="0">
                <a:solidFill>
                  <a:srgbClr val="000000"/>
                </a:solidFill>
              </a:rPr>
              <a:t>each datagram carries one transport-layer segment</a:t>
            </a:r>
          </a:p>
          <a:p>
            <a:pPr lvl="1">
              <a:buFont typeface="Arial"/>
              <a:buChar char="•"/>
              <a:defRPr/>
            </a:pPr>
            <a:r>
              <a:rPr lang="en-US" sz="2100" kern="0" dirty="0">
                <a:solidFill>
                  <a:srgbClr val="000000"/>
                </a:solidFill>
              </a:rPr>
              <a:t>each segment has source, destination port number </a:t>
            </a:r>
          </a:p>
          <a:p>
            <a:pPr>
              <a:buFont typeface="Wingdings" charset="2"/>
              <a:buChar char="§"/>
              <a:defRPr/>
            </a:pPr>
            <a:r>
              <a:rPr lang="en-US" sz="2400" kern="0" dirty="0">
                <a:solidFill>
                  <a:srgbClr val="000000"/>
                </a:solidFill>
                <a:cs typeface="+mn-cs"/>
              </a:rPr>
              <a:t>host uses </a:t>
            </a:r>
            <a:r>
              <a:rPr lang="en-US" sz="2400" i="1" kern="0" dirty="0">
                <a:solidFill>
                  <a:srgbClr val="CC0000"/>
                </a:solidFill>
                <a:cs typeface="+mn-cs"/>
              </a:rPr>
              <a:t>IP addresses &amp; port numbers</a:t>
            </a:r>
            <a:r>
              <a:rPr lang="en-US" sz="2400" kern="0" dirty="0">
                <a:solidFill>
                  <a:srgbClr val="000000"/>
                </a:solidFill>
                <a:cs typeface="+mn-cs"/>
              </a:rPr>
              <a:t> to direct segment to appropriate socket</a:t>
            </a:r>
          </a:p>
        </p:txBody>
      </p:sp>
      <p:grpSp>
        <p:nvGrpSpPr>
          <p:cNvPr id="5" name="Group 4"/>
          <p:cNvGrpSpPr/>
          <p:nvPr/>
        </p:nvGrpSpPr>
        <p:grpSpPr>
          <a:xfrm>
            <a:off x="5657412" y="2135589"/>
            <a:ext cx="2561034" cy="3116372"/>
            <a:chOff x="7543216" y="1704452"/>
            <a:chExt cx="3414712" cy="4155162"/>
          </a:xfrm>
        </p:grpSpPr>
        <p:sp>
          <p:nvSpPr>
            <p:cNvPr id="275" name="Rectangle 75">
              <a:extLst>
                <a:ext uri="{FF2B5EF4-FFF2-40B4-BE49-F238E27FC236}">
                  <a16:creationId xmlns:a16="http://schemas.microsoft.com/office/drawing/2014/main" id="{FCCA66F1-5923-DC45-83A7-1942BA80E808}"/>
                </a:ext>
              </a:extLst>
            </p:cNvPr>
            <p:cNvSpPr>
              <a:spLocks noChangeArrowheads="1"/>
            </p:cNvSpPr>
            <p:nvPr/>
          </p:nvSpPr>
          <p:spPr bwMode="auto">
            <a:xfrm>
              <a:off x="7633703" y="2048939"/>
              <a:ext cx="3324225" cy="3200400"/>
            </a:xfrm>
            <a:prstGeom prst="rect">
              <a:avLst/>
            </a:prstGeom>
            <a:solidFill>
              <a:srgbClr val="000099"/>
            </a:soli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76" name="Rectangle 65">
              <a:extLst>
                <a:ext uri="{FF2B5EF4-FFF2-40B4-BE49-F238E27FC236}">
                  <a16:creationId xmlns:a16="http://schemas.microsoft.com/office/drawing/2014/main" id="{325B2818-1D14-0544-87D5-B34939698E97}"/>
                </a:ext>
              </a:extLst>
            </p:cNvPr>
            <p:cNvSpPr>
              <a:spLocks noChangeArrowheads="1"/>
            </p:cNvSpPr>
            <p:nvPr/>
          </p:nvSpPr>
          <p:spPr bwMode="auto">
            <a:xfrm>
              <a:off x="7557503" y="2144189"/>
              <a:ext cx="3324225" cy="3200400"/>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8" name="Text Box 63">
              <a:extLst>
                <a:ext uri="{FF2B5EF4-FFF2-40B4-BE49-F238E27FC236}">
                  <a16:creationId xmlns:a16="http://schemas.microsoft.com/office/drawing/2014/main" id="{0308811F-F83C-684C-9A70-7056E7030121}"/>
                </a:ext>
              </a:extLst>
            </p:cNvPr>
            <p:cNvSpPr txBox="1">
              <a:spLocks noChangeArrowheads="1"/>
            </p:cNvSpPr>
            <p:nvPr/>
          </p:nvSpPr>
          <p:spPr bwMode="auto">
            <a:xfrm>
              <a:off x="7557013" y="2156889"/>
              <a:ext cx="1644041" cy="4001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a:solidFill>
                    <a:srgbClr val="CC0000"/>
                  </a:solidFill>
                </a:rPr>
                <a:t>source port #</a:t>
              </a:r>
              <a:endParaRPr lang="en-US" sz="1800" kern="0">
                <a:solidFill>
                  <a:srgbClr val="CC0000"/>
                </a:solidFill>
              </a:endParaRPr>
            </a:p>
          </p:txBody>
        </p:sp>
        <p:sp>
          <p:nvSpPr>
            <p:cNvPr id="279" name="Text Box 64">
              <a:extLst>
                <a:ext uri="{FF2B5EF4-FFF2-40B4-BE49-F238E27FC236}">
                  <a16:creationId xmlns:a16="http://schemas.microsoft.com/office/drawing/2014/main" id="{DFDB1254-258A-D74F-9312-2F08048EE0A6}"/>
                </a:ext>
              </a:extLst>
            </p:cNvPr>
            <p:cNvSpPr txBox="1">
              <a:spLocks noChangeArrowheads="1"/>
            </p:cNvSpPr>
            <p:nvPr/>
          </p:nvSpPr>
          <p:spPr bwMode="auto">
            <a:xfrm>
              <a:off x="9345169" y="2156889"/>
              <a:ext cx="1404659" cy="4001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a:solidFill>
                    <a:srgbClr val="CC0000"/>
                  </a:solidFill>
                </a:rPr>
                <a:t>dest port #</a:t>
              </a:r>
              <a:endParaRPr lang="en-US" sz="1800" kern="0">
                <a:solidFill>
                  <a:srgbClr val="CC0000"/>
                </a:solidFill>
              </a:endParaRPr>
            </a:p>
          </p:txBody>
        </p:sp>
        <p:sp>
          <p:nvSpPr>
            <p:cNvPr id="280" name="Line 66">
              <a:extLst>
                <a:ext uri="{FF2B5EF4-FFF2-40B4-BE49-F238E27FC236}">
                  <a16:creationId xmlns:a16="http://schemas.microsoft.com/office/drawing/2014/main" id="{7758F487-6FB2-F34B-84F0-976833827475}"/>
                </a:ext>
              </a:extLst>
            </p:cNvPr>
            <p:cNvSpPr>
              <a:spLocks noChangeShapeType="1"/>
            </p:cNvSpPr>
            <p:nvPr/>
          </p:nvSpPr>
          <p:spPr bwMode="auto">
            <a:xfrm flipV="1">
              <a:off x="7547978" y="2544239"/>
              <a:ext cx="33289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1" name="Line 68">
              <a:extLst>
                <a:ext uri="{FF2B5EF4-FFF2-40B4-BE49-F238E27FC236}">
                  <a16:creationId xmlns:a16="http://schemas.microsoft.com/office/drawing/2014/main" id="{A9895192-7D02-2F4C-B006-EAE3FEF5F7A4}"/>
                </a:ext>
              </a:extLst>
            </p:cNvPr>
            <p:cNvSpPr>
              <a:spLocks noChangeShapeType="1"/>
            </p:cNvSpPr>
            <p:nvPr/>
          </p:nvSpPr>
          <p:spPr bwMode="auto">
            <a:xfrm flipV="1">
              <a:off x="7557503" y="3534839"/>
              <a:ext cx="332422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2" name="Line 69">
              <a:extLst>
                <a:ext uri="{FF2B5EF4-FFF2-40B4-BE49-F238E27FC236}">
                  <a16:creationId xmlns:a16="http://schemas.microsoft.com/office/drawing/2014/main" id="{7ABA37B1-9C1B-8F43-9F10-44126FAB2D3C}"/>
                </a:ext>
              </a:extLst>
            </p:cNvPr>
            <p:cNvSpPr>
              <a:spLocks noChangeShapeType="1"/>
            </p:cNvSpPr>
            <p:nvPr/>
          </p:nvSpPr>
          <p:spPr bwMode="auto">
            <a:xfrm flipV="1">
              <a:off x="9195803" y="2144189"/>
              <a:ext cx="0" cy="395288"/>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3" name="Text Box 70">
              <a:extLst>
                <a:ext uri="{FF2B5EF4-FFF2-40B4-BE49-F238E27FC236}">
                  <a16:creationId xmlns:a16="http://schemas.microsoft.com/office/drawing/2014/main" id="{B3C9350B-DCA6-5E4A-91AA-5C2AD14EC263}"/>
                </a:ext>
              </a:extLst>
            </p:cNvPr>
            <p:cNvSpPr txBox="1">
              <a:spLocks noChangeArrowheads="1"/>
            </p:cNvSpPr>
            <p:nvPr/>
          </p:nvSpPr>
          <p:spPr bwMode="auto">
            <a:xfrm>
              <a:off x="8705837" y="1704452"/>
              <a:ext cx="932307" cy="4001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a:solidFill>
                    <a:srgbClr val="000000"/>
                  </a:solidFill>
                </a:rPr>
                <a:t>32 bits</a:t>
              </a:r>
              <a:endParaRPr lang="en-US" sz="1800" kern="0">
                <a:solidFill>
                  <a:srgbClr val="000000"/>
                </a:solidFill>
              </a:endParaRPr>
            </a:p>
          </p:txBody>
        </p:sp>
        <p:sp>
          <p:nvSpPr>
            <p:cNvPr id="284" name="Line 71">
              <a:extLst>
                <a:ext uri="{FF2B5EF4-FFF2-40B4-BE49-F238E27FC236}">
                  <a16:creationId xmlns:a16="http://schemas.microsoft.com/office/drawing/2014/main" id="{D16D54C4-5717-9E46-AA93-1E6BB3430444}"/>
                </a:ext>
              </a:extLst>
            </p:cNvPr>
            <p:cNvSpPr>
              <a:spLocks noChangeShapeType="1"/>
            </p:cNvSpPr>
            <p:nvPr/>
          </p:nvSpPr>
          <p:spPr bwMode="auto">
            <a:xfrm>
              <a:off x="9653003" y="1910827"/>
              <a:ext cx="1200150" cy="4762"/>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5" name="Line 72">
              <a:extLst>
                <a:ext uri="{FF2B5EF4-FFF2-40B4-BE49-F238E27FC236}">
                  <a16:creationId xmlns:a16="http://schemas.microsoft.com/office/drawing/2014/main" id="{332269D9-54A4-6446-BBAD-BD3F06A73E96}"/>
                </a:ext>
              </a:extLst>
            </p:cNvPr>
            <p:cNvSpPr>
              <a:spLocks noChangeShapeType="1"/>
            </p:cNvSpPr>
            <p:nvPr/>
          </p:nvSpPr>
          <p:spPr bwMode="auto">
            <a:xfrm rot="10800000">
              <a:off x="7543216" y="1920352"/>
              <a:ext cx="1128712"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6" name="Text Box 73">
              <a:extLst>
                <a:ext uri="{FF2B5EF4-FFF2-40B4-BE49-F238E27FC236}">
                  <a16:creationId xmlns:a16="http://schemas.microsoft.com/office/drawing/2014/main" id="{8F7D97AE-E89E-684A-9571-5959DA8E3347}"/>
                </a:ext>
              </a:extLst>
            </p:cNvPr>
            <p:cNvSpPr txBox="1">
              <a:spLocks noChangeArrowheads="1"/>
            </p:cNvSpPr>
            <p:nvPr/>
          </p:nvSpPr>
          <p:spPr bwMode="auto">
            <a:xfrm>
              <a:off x="8417820" y="3865039"/>
              <a:ext cx="1455956" cy="104644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dirty="0">
                  <a:solidFill>
                    <a:srgbClr val="000000"/>
                  </a:solidFill>
                </a:rPr>
                <a:t>application</a:t>
              </a:r>
            </a:p>
            <a:p>
              <a:pPr algn="ctr">
                <a:defRPr/>
              </a:pPr>
              <a:r>
                <a:rPr lang="en-US" sz="1500" kern="0" dirty="0">
                  <a:solidFill>
                    <a:srgbClr val="000000"/>
                  </a:solidFill>
                </a:rPr>
                <a:t>data </a:t>
              </a:r>
            </a:p>
            <a:p>
              <a:pPr algn="ctr">
                <a:defRPr/>
              </a:pPr>
              <a:r>
                <a:rPr lang="en-US" sz="1500" kern="0" dirty="0">
                  <a:solidFill>
                    <a:srgbClr val="000000"/>
                  </a:solidFill>
                </a:rPr>
                <a:t>(payload)</a:t>
              </a:r>
              <a:endParaRPr lang="en-US" sz="1800" kern="0" dirty="0">
                <a:solidFill>
                  <a:srgbClr val="000000"/>
                </a:solidFill>
              </a:endParaRPr>
            </a:p>
          </p:txBody>
        </p:sp>
        <p:sp>
          <p:nvSpPr>
            <p:cNvPr id="287" name="Text Box 74">
              <a:extLst>
                <a:ext uri="{FF2B5EF4-FFF2-40B4-BE49-F238E27FC236}">
                  <a16:creationId xmlns:a16="http://schemas.microsoft.com/office/drawing/2014/main" id="{A5362E3E-8643-6A43-A4FE-BD56FF4F0BD3}"/>
                </a:ext>
              </a:extLst>
            </p:cNvPr>
            <p:cNvSpPr txBox="1">
              <a:spLocks noChangeArrowheads="1"/>
            </p:cNvSpPr>
            <p:nvPr/>
          </p:nvSpPr>
          <p:spPr bwMode="auto">
            <a:xfrm>
              <a:off x="8027104" y="2898252"/>
              <a:ext cx="2370736" cy="4308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a:solidFill>
                    <a:srgbClr val="000000"/>
                  </a:solidFill>
                </a:rPr>
                <a:t>other header fields</a:t>
              </a:r>
              <a:endParaRPr lang="en-US" sz="1800" kern="0">
                <a:solidFill>
                  <a:srgbClr val="000000"/>
                </a:solidFill>
              </a:endParaRPr>
            </a:p>
          </p:txBody>
        </p:sp>
        <p:sp>
          <p:nvSpPr>
            <p:cNvPr id="288" name="Text Box 76">
              <a:extLst>
                <a:ext uri="{FF2B5EF4-FFF2-40B4-BE49-F238E27FC236}">
                  <a16:creationId xmlns:a16="http://schemas.microsoft.com/office/drawing/2014/main" id="{2FE71CF3-191A-C44F-839C-1CF4D7DFFAA5}"/>
                </a:ext>
              </a:extLst>
            </p:cNvPr>
            <p:cNvSpPr txBox="1">
              <a:spLocks noChangeArrowheads="1"/>
            </p:cNvSpPr>
            <p:nvPr/>
          </p:nvSpPr>
          <p:spPr bwMode="auto">
            <a:xfrm>
              <a:off x="7724077" y="5428727"/>
              <a:ext cx="3153001" cy="4308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a:solidFill>
                    <a:srgbClr val="000000"/>
                  </a:solidFill>
                </a:rPr>
                <a:t>TCP/UDP segment format</a:t>
              </a:r>
              <a:endParaRPr lang="en-US" sz="1800" kern="0">
                <a:solidFill>
                  <a:srgbClr val="000000"/>
                </a:solidFill>
              </a:endParaRPr>
            </a:p>
          </p:txBody>
        </p:sp>
      </p:grpSp>
      <p:sp>
        <p:nvSpPr>
          <p:cNvPr id="4" name="Oval 3"/>
          <p:cNvSpPr/>
          <p:nvPr/>
        </p:nvSpPr>
        <p:spPr>
          <a:xfrm>
            <a:off x="5474943" y="2339517"/>
            <a:ext cx="1562404" cy="516818"/>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 name="Oval 18"/>
          <p:cNvSpPr/>
          <p:nvPr/>
        </p:nvSpPr>
        <p:spPr>
          <a:xfrm>
            <a:off x="6761046" y="2346005"/>
            <a:ext cx="1562404" cy="516818"/>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0" name="Slide Number Placeholder 2">
            <a:extLst>
              <a:ext uri="{FF2B5EF4-FFF2-40B4-BE49-F238E27FC236}">
                <a16:creationId xmlns:a16="http://schemas.microsoft.com/office/drawing/2014/main" id="{CB301DF9-007E-7F42-9982-6FB05291D925}"/>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17</a:t>
            </a:fld>
            <a:endParaRPr lang="en-US" dirty="0">
              <a:solidFill>
                <a:prstClr val="white">
                  <a:lumMod val="50000"/>
                </a:prstClr>
              </a:solidFill>
            </a:endParaRPr>
          </a:p>
        </p:txBody>
      </p:sp>
    </p:spTree>
    <p:extLst>
      <p:ext uri="{BB962C8B-B14F-4D97-AF65-F5344CB8AC3E}">
        <p14:creationId xmlns:p14="http://schemas.microsoft.com/office/powerpoint/2010/main" val="127065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UDP: User Datagram Protocol</a:t>
            </a:r>
          </a:p>
        </p:txBody>
      </p:sp>
      <p:sp>
        <p:nvSpPr>
          <p:cNvPr id="6" name="Rectangle 3">
            <a:extLst>
              <a:ext uri="{FF2B5EF4-FFF2-40B4-BE49-F238E27FC236}">
                <a16:creationId xmlns:a16="http://schemas.microsoft.com/office/drawing/2014/main" id="{C770DED9-87F6-FB46-A967-6223B68A3E96}"/>
              </a:ext>
            </a:extLst>
          </p:cNvPr>
          <p:cNvSpPr txBox="1">
            <a:spLocks noChangeArrowheads="1"/>
          </p:cNvSpPr>
          <p:nvPr/>
        </p:nvSpPr>
        <p:spPr>
          <a:xfrm>
            <a:off x="463789" y="2003665"/>
            <a:ext cx="4162946" cy="2195653"/>
          </a:xfrm>
          <a:prstGeom prst="rect">
            <a:avLst/>
          </a:prstGeom>
        </p:spPr>
        <p:txBody>
          <a:bodyPr vert="horz" lIns="68580" tIns="34290" rIns="68580" bIns="3429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5281" indent="-247650" fontAlgn="auto">
              <a:spcAft>
                <a:spcPts val="0"/>
              </a:spcAft>
              <a:defRPr/>
            </a:pPr>
            <a:r>
              <a:rPr lang="en-US" altLang="ja-JP" sz="2400" dirty="0">
                <a:solidFill>
                  <a:prstClr val="black"/>
                </a:solidFill>
                <a:ea typeface="ＭＳ Ｐゴシック" panose="020B0600070205080204" pitchFamily="34" charset="-128"/>
              </a:rPr>
              <a:t>“no frills,” “bare bones” Internet transport protocol</a:t>
            </a:r>
          </a:p>
          <a:p>
            <a:pPr marL="345281" indent="-247650" fontAlgn="auto">
              <a:spcAft>
                <a:spcPts val="0"/>
              </a:spcAft>
              <a:defRPr/>
            </a:pPr>
            <a:r>
              <a:rPr lang="en-US" altLang="ja-JP" sz="2400" dirty="0">
                <a:solidFill>
                  <a:prstClr val="black"/>
                </a:solidFill>
                <a:ea typeface="ＭＳ Ｐゴシック" panose="020B0600070205080204" pitchFamily="34" charset="-128"/>
              </a:rPr>
              <a:t>“best effort” service, UDP segments may be:</a:t>
            </a:r>
          </a:p>
          <a:p>
            <a:pPr marL="606029" lvl="1" fontAlgn="auto">
              <a:spcAft>
                <a:spcPts val="0"/>
              </a:spcAft>
              <a:defRPr/>
            </a:pPr>
            <a:r>
              <a:rPr lang="en-US" altLang="en-US" dirty="0">
                <a:solidFill>
                  <a:prstClr val="black"/>
                </a:solidFill>
                <a:ea typeface="ＭＳ Ｐゴシック" panose="020B0600070205080204" pitchFamily="34" charset="-128"/>
              </a:rPr>
              <a:t>lost</a:t>
            </a:r>
          </a:p>
          <a:p>
            <a:pPr marL="606029" lvl="1" fontAlgn="auto">
              <a:spcAft>
                <a:spcPts val="0"/>
              </a:spcAft>
              <a:defRPr/>
            </a:pPr>
            <a:r>
              <a:rPr lang="en-US" altLang="en-US" dirty="0">
                <a:solidFill>
                  <a:prstClr val="black"/>
                </a:solidFill>
                <a:ea typeface="ＭＳ Ｐゴシック" panose="020B0600070205080204" pitchFamily="34" charset="-128"/>
              </a:rPr>
              <a:t>delivered out-of-order to app</a:t>
            </a:r>
          </a:p>
        </p:txBody>
      </p:sp>
      <p:grpSp>
        <p:nvGrpSpPr>
          <p:cNvPr id="8" name="Group 7">
            <a:extLst>
              <a:ext uri="{FF2B5EF4-FFF2-40B4-BE49-F238E27FC236}">
                <a16:creationId xmlns:a16="http://schemas.microsoft.com/office/drawing/2014/main" id="{82E8D3DA-F7E2-3144-9365-F468AE5A3F1F}"/>
              </a:ext>
            </a:extLst>
          </p:cNvPr>
          <p:cNvGrpSpPr/>
          <p:nvPr/>
        </p:nvGrpSpPr>
        <p:grpSpPr>
          <a:xfrm>
            <a:off x="4926169" y="1858777"/>
            <a:ext cx="3771753" cy="3760772"/>
            <a:chOff x="4979987" y="2821302"/>
            <a:chExt cx="6630121" cy="3829830"/>
          </a:xfrm>
        </p:grpSpPr>
        <p:sp>
          <p:nvSpPr>
            <p:cNvPr id="9" name="Rectangle 26">
              <a:extLst>
                <a:ext uri="{FF2B5EF4-FFF2-40B4-BE49-F238E27FC236}">
                  <a16:creationId xmlns:a16="http://schemas.microsoft.com/office/drawing/2014/main" id="{F9D9BC33-5F55-F54A-B992-1DDB07422224}"/>
                </a:ext>
              </a:extLst>
            </p:cNvPr>
            <p:cNvSpPr txBox="1">
              <a:spLocks noChangeArrowheads="1"/>
            </p:cNvSpPr>
            <p:nvPr/>
          </p:nvSpPr>
          <p:spPr bwMode="auto">
            <a:xfrm>
              <a:off x="5218112" y="3235273"/>
              <a:ext cx="6059488" cy="30448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a:buFont typeface="Wingdings" charset="2"/>
                <a:buChar char="§"/>
                <a:defRPr/>
              </a:pPr>
              <a:r>
                <a:rPr lang="en-US" sz="2100" kern="0" dirty="0">
                  <a:solidFill>
                    <a:srgbClr val="000000"/>
                  </a:solidFill>
                  <a:cs typeface="+mn-cs"/>
                </a:rPr>
                <a:t>no connection establishment (which can add RTT delay)</a:t>
              </a:r>
            </a:p>
            <a:p>
              <a:pPr>
                <a:buFont typeface="Wingdings" charset="2"/>
                <a:buChar char="§"/>
                <a:defRPr/>
              </a:pPr>
              <a:r>
                <a:rPr lang="en-US" sz="2100" kern="0" dirty="0">
                  <a:solidFill>
                    <a:srgbClr val="000000"/>
                  </a:solidFill>
                  <a:cs typeface="+mn-cs"/>
                </a:rPr>
                <a:t>simple: no connection state at sender, receiver</a:t>
              </a:r>
            </a:p>
            <a:p>
              <a:pPr>
                <a:buFont typeface="Wingdings" charset="2"/>
                <a:buChar char="§"/>
                <a:defRPr/>
              </a:pPr>
              <a:r>
                <a:rPr lang="en-US" sz="2100" kern="0" dirty="0">
                  <a:solidFill>
                    <a:srgbClr val="000000"/>
                  </a:solidFill>
                  <a:cs typeface="+mn-cs"/>
                </a:rPr>
                <a:t>small header size</a:t>
              </a:r>
            </a:p>
            <a:p>
              <a:pPr>
                <a:buFont typeface="Wingdings" charset="2"/>
                <a:buChar char="§"/>
                <a:defRPr/>
              </a:pPr>
              <a:r>
                <a:rPr lang="en-US" sz="2100" kern="0" dirty="0">
                  <a:solidFill>
                    <a:srgbClr val="000000"/>
                  </a:solidFill>
                  <a:cs typeface="+mn-cs"/>
                </a:rPr>
                <a:t>no congestion control</a:t>
              </a:r>
            </a:p>
            <a:p>
              <a:pPr lvl="1" indent="-213122">
                <a:buSzPct val="100000"/>
                <a:buFont typeface="Wingdings" charset="2"/>
                <a:buChar char="§"/>
                <a:defRPr/>
              </a:pPr>
              <a:r>
                <a:rPr lang="en-US" sz="1800" kern="0" dirty="0">
                  <a:solidFill>
                    <a:srgbClr val="000000"/>
                  </a:solidFill>
                </a:rPr>
                <a:t>UDP can blast away as fast as desired!</a:t>
              </a:r>
            </a:p>
            <a:p>
              <a:pPr lvl="1" indent="-213122">
                <a:buSzPct val="100000"/>
                <a:buFont typeface="Wingdings" charset="2"/>
                <a:buChar char="§"/>
                <a:defRPr/>
              </a:pPr>
              <a:r>
                <a:rPr lang="en-US" sz="1800" kern="0" dirty="0">
                  <a:solidFill>
                    <a:srgbClr val="000000"/>
                  </a:solidFill>
                </a:rPr>
                <a:t>can function in the face of congestion</a:t>
              </a:r>
            </a:p>
          </p:txBody>
        </p:sp>
        <p:sp>
          <p:nvSpPr>
            <p:cNvPr id="10" name="Rectangle 27">
              <a:extLst>
                <a:ext uri="{FF2B5EF4-FFF2-40B4-BE49-F238E27FC236}">
                  <a16:creationId xmlns:a16="http://schemas.microsoft.com/office/drawing/2014/main" id="{E3B96135-5F05-0D44-B7B9-9BD478D4E907}"/>
                </a:ext>
              </a:extLst>
            </p:cNvPr>
            <p:cNvSpPr>
              <a:spLocks noChangeArrowheads="1"/>
            </p:cNvSpPr>
            <p:nvPr/>
          </p:nvSpPr>
          <p:spPr bwMode="auto">
            <a:xfrm>
              <a:off x="4979987" y="2988017"/>
              <a:ext cx="6630121" cy="3663115"/>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350">
                <a:solidFill>
                  <a:srgbClr val="000000"/>
                </a:solidFill>
                <a:latin typeface="Calibri" panose="020F0502020204030204"/>
                <a:ea typeface="ＭＳ Ｐゴシック" charset="0"/>
              </a:endParaRPr>
            </a:p>
          </p:txBody>
        </p:sp>
        <p:sp>
          <p:nvSpPr>
            <p:cNvPr id="11" name="Text Box 28">
              <a:extLst>
                <a:ext uri="{FF2B5EF4-FFF2-40B4-BE49-F238E27FC236}">
                  <a16:creationId xmlns:a16="http://schemas.microsoft.com/office/drawing/2014/main" id="{3BFEAB49-E79F-FF40-AAAE-C9820F50289A}"/>
                </a:ext>
              </a:extLst>
            </p:cNvPr>
            <p:cNvSpPr txBox="1">
              <a:spLocks noChangeArrowheads="1"/>
            </p:cNvSpPr>
            <p:nvPr/>
          </p:nvSpPr>
          <p:spPr bwMode="auto">
            <a:xfrm>
              <a:off x="5124449" y="2821302"/>
              <a:ext cx="5102112" cy="394919"/>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lnSpc>
                  <a:spcPct val="80000"/>
                </a:lnSpc>
                <a:spcBef>
                  <a:spcPct val="20000"/>
                </a:spcBef>
                <a:buClr>
                  <a:srgbClr val="000099"/>
                </a:buClr>
                <a:buSzPct val="65000"/>
                <a:buFont typeface="Wingdings" charset="0"/>
                <a:buNone/>
                <a:defRPr/>
              </a:pPr>
              <a:r>
                <a:rPr lang="en-US" sz="2400" kern="0" dirty="0">
                  <a:solidFill>
                    <a:srgbClr val="CC0000"/>
                  </a:solidFill>
                  <a:latin typeface="Calibri" panose="020F0502020204030204"/>
                </a:rPr>
                <a:t>W</a:t>
              </a:r>
              <a:r>
                <a:rPr lang="en-US" sz="2400" kern="0" dirty="0" err="1">
                  <a:solidFill>
                    <a:srgbClr val="CC0000"/>
                  </a:solidFill>
                  <a:latin typeface="Calibri" panose="020F0502020204030204"/>
                </a:rPr>
                <a:t>hy</a:t>
              </a:r>
              <a:r>
                <a:rPr lang="en-US" sz="2400" kern="0" dirty="0">
                  <a:solidFill>
                    <a:srgbClr val="CC0000"/>
                  </a:solidFill>
                  <a:latin typeface="Calibri" panose="020F0502020204030204"/>
                </a:rPr>
                <a:t> is there a UDP?</a:t>
              </a:r>
              <a:endParaRPr lang="en-US" sz="1350" kern="0" dirty="0">
                <a:solidFill>
                  <a:srgbClr val="000000"/>
                </a:solidFill>
                <a:latin typeface="Calibri" panose="020F0502020204030204"/>
              </a:endParaRPr>
            </a:p>
          </p:txBody>
        </p:sp>
      </p:grpSp>
      <p:sp>
        <p:nvSpPr>
          <p:cNvPr id="12" name="Rectangle 3">
            <a:extLst>
              <a:ext uri="{FF2B5EF4-FFF2-40B4-BE49-F238E27FC236}">
                <a16:creationId xmlns:a16="http://schemas.microsoft.com/office/drawing/2014/main" id="{B958CE44-F1A4-924D-8CEA-640B52DBA4DF}"/>
              </a:ext>
            </a:extLst>
          </p:cNvPr>
          <p:cNvSpPr txBox="1">
            <a:spLocks noChangeArrowheads="1"/>
          </p:cNvSpPr>
          <p:nvPr/>
        </p:nvSpPr>
        <p:spPr>
          <a:xfrm>
            <a:off x="481498" y="4160877"/>
            <a:ext cx="4162946" cy="1545269"/>
          </a:xfrm>
          <a:prstGeom prst="rect">
            <a:avLst/>
          </a:prstGeom>
        </p:spPr>
        <p:txBody>
          <a:bodyPr vert="horz" lIns="68580" tIns="34290" rIns="68580" bIns="3429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5281" indent="-250031" fontAlgn="auto">
              <a:spcAft>
                <a:spcPts val="0"/>
              </a:spcAft>
              <a:defRPr/>
            </a:pPr>
            <a:r>
              <a:rPr lang="en-US" altLang="en-US" sz="2400" i="1" dirty="0">
                <a:solidFill>
                  <a:srgbClr val="CC0000"/>
                </a:solidFill>
                <a:ea typeface="ＭＳ Ｐゴシック" panose="020B0600070205080204" pitchFamily="34" charset="-128"/>
              </a:rPr>
              <a:t>connectionless:</a:t>
            </a:r>
            <a:endParaRPr lang="en-US" altLang="en-US" sz="2700" dirty="0">
              <a:solidFill>
                <a:srgbClr val="CC0000"/>
              </a:solidFill>
              <a:ea typeface="ＭＳ Ｐゴシック" panose="020B0600070205080204" pitchFamily="34" charset="-128"/>
            </a:endParaRPr>
          </a:p>
          <a:p>
            <a:pPr lvl="1" fontAlgn="auto">
              <a:spcAft>
                <a:spcPts val="0"/>
              </a:spcAft>
              <a:defRPr/>
            </a:pPr>
            <a:r>
              <a:rPr lang="en-US" altLang="en-US" dirty="0">
                <a:solidFill>
                  <a:prstClr val="black"/>
                </a:solidFill>
                <a:ea typeface="ＭＳ Ｐゴシック" panose="020B0600070205080204" pitchFamily="34" charset="-128"/>
              </a:rPr>
              <a:t>no handshaking between UDP sender, receiver</a:t>
            </a:r>
          </a:p>
          <a:p>
            <a:pPr lvl="1" fontAlgn="auto">
              <a:spcAft>
                <a:spcPts val="0"/>
              </a:spcAft>
              <a:defRPr/>
            </a:pPr>
            <a:r>
              <a:rPr lang="en-US" altLang="en-US" dirty="0">
                <a:solidFill>
                  <a:prstClr val="black"/>
                </a:solidFill>
                <a:ea typeface="ＭＳ Ｐゴシック" panose="020B0600070205080204" pitchFamily="34" charset="-128"/>
              </a:rPr>
              <a:t>each UDP segment handled independently of others</a:t>
            </a:r>
          </a:p>
        </p:txBody>
      </p:sp>
      <p:sp>
        <p:nvSpPr>
          <p:cNvPr id="13" name="Slide Number Placeholder 2">
            <a:extLst>
              <a:ext uri="{FF2B5EF4-FFF2-40B4-BE49-F238E27FC236}">
                <a16:creationId xmlns:a16="http://schemas.microsoft.com/office/drawing/2014/main" id="{469890C8-B9BA-F74B-84CA-6B1BAB0F6B31}"/>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18</a:t>
            </a:fld>
            <a:endParaRPr lang="en-US" dirty="0">
              <a:solidFill>
                <a:prstClr val="white">
                  <a:lumMod val="50000"/>
                </a:prstClr>
              </a:solidFill>
            </a:endParaRPr>
          </a:p>
        </p:txBody>
      </p:sp>
    </p:spTree>
    <p:extLst>
      <p:ext uri="{BB962C8B-B14F-4D97-AF65-F5344CB8AC3E}">
        <p14:creationId xmlns:p14="http://schemas.microsoft.com/office/powerpoint/2010/main" val="3484679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UDP: User Datagram Protocol</a:t>
            </a:r>
          </a:p>
        </p:txBody>
      </p:sp>
      <p:sp>
        <p:nvSpPr>
          <p:cNvPr id="7" name="Rectangle 9">
            <a:extLst>
              <a:ext uri="{FF2B5EF4-FFF2-40B4-BE49-F238E27FC236}">
                <a16:creationId xmlns:a16="http://schemas.microsoft.com/office/drawing/2014/main" id="{0EFE9DD4-40BF-D54C-B457-743C8EAA5EAF}"/>
              </a:ext>
            </a:extLst>
          </p:cNvPr>
          <p:cNvSpPr>
            <a:spLocks noChangeArrowheads="1"/>
          </p:cNvSpPr>
          <p:nvPr/>
        </p:nvSpPr>
        <p:spPr bwMode="auto">
          <a:xfrm>
            <a:off x="599018" y="2014543"/>
            <a:ext cx="8325469" cy="36665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19075" indent="-219075" eaLnBrk="1" fontAlgn="auto" hangingPunct="1">
              <a:lnSpc>
                <a:spcPct val="85000"/>
              </a:lnSpc>
              <a:spcBef>
                <a:spcPct val="20000"/>
              </a:spcBef>
              <a:spcAft>
                <a:spcPts val="0"/>
              </a:spcAft>
              <a:buClr>
                <a:srgbClr val="000099"/>
              </a:buClr>
              <a:buSzPct val="100000"/>
              <a:buFont typeface="Wingdings" charset="2"/>
              <a:buChar char="§"/>
              <a:defRPr/>
            </a:pPr>
            <a:r>
              <a:rPr lang="en-US" dirty="0">
                <a:solidFill>
                  <a:prstClr val="black"/>
                </a:solidFill>
                <a:latin typeface="Calibri" panose="020F0502020204030204"/>
                <a:ea typeface="ＭＳ Ｐゴシック" charset="0"/>
              </a:rPr>
              <a:t>UDP use:</a:t>
            </a:r>
          </a:p>
          <a:p>
            <a:pPr marL="516731" lvl="1" indent="-173831" eaLnBrk="1" fontAlgn="auto" hangingPunct="1">
              <a:lnSpc>
                <a:spcPct val="85000"/>
              </a:lnSpc>
              <a:spcBef>
                <a:spcPct val="20000"/>
              </a:spcBef>
              <a:spcAft>
                <a:spcPts val="0"/>
              </a:spcAft>
              <a:buClr>
                <a:srgbClr val="000099"/>
              </a:buClr>
              <a:buFont typeface="Wingdings" charset="0"/>
              <a:buChar char="§"/>
              <a:defRPr/>
            </a:pPr>
            <a:r>
              <a:rPr lang="en-US" sz="2100" dirty="0">
                <a:solidFill>
                  <a:prstClr val="black"/>
                </a:solidFill>
                <a:latin typeface="Calibri" panose="020F0502020204030204"/>
                <a:ea typeface="ＭＳ Ｐゴシック" charset="0"/>
              </a:rPr>
              <a:t>streaming multimedia apps (loss tolerant, rate sensitive)</a:t>
            </a:r>
          </a:p>
          <a:p>
            <a:pPr marL="516731" lvl="1" indent="-173831" eaLnBrk="1" fontAlgn="auto" hangingPunct="1">
              <a:lnSpc>
                <a:spcPct val="85000"/>
              </a:lnSpc>
              <a:spcBef>
                <a:spcPct val="20000"/>
              </a:spcBef>
              <a:spcAft>
                <a:spcPts val="0"/>
              </a:spcAft>
              <a:buClr>
                <a:srgbClr val="000099"/>
              </a:buClr>
              <a:buFont typeface="Wingdings" charset="0"/>
              <a:buChar char="§"/>
              <a:defRPr/>
            </a:pPr>
            <a:r>
              <a:rPr lang="en-US" sz="2100" dirty="0">
                <a:solidFill>
                  <a:prstClr val="black"/>
                </a:solidFill>
                <a:latin typeface="Calibri" panose="020F0502020204030204"/>
                <a:ea typeface="ＭＳ Ｐゴシック" charset="0"/>
              </a:rPr>
              <a:t>DNS</a:t>
            </a:r>
          </a:p>
          <a:p>
            <a:pPr marL="516731" lvl="1" indent="-173831" eaLnBrk="1" fontAlgn="auto" hangingPunct="1">
              <a:lnSpc>
                <a:spcPct val="85000"/>
              </a:lnSpc>
              <a:spcBef>
                <a:spcPct val="20000"/>
              </a:spcBef>
              <a:spcAft>
                <a:spcPts val="0"/>
              </a:spcAft>
              <a:buClr>
                <a:srgbClr val="000099"/>
              </a:buClr>
              <a:buFont typeface="Wingdings" charset="0"/>
              <a:buChar char="§"/>
              <a:defRPr/>
            </a:pPr>
            <a:r>
              <a:rPr lang="en-US" sz="2100" dirty="0">
                <a:solidFill>
                  <a:prstClr val="black"/>
                </a:solidFill>
                <a:latin typeface="Calibri" panose="020F0502020204030204"/>
                <a:ea typeface="ＭＳ Ｐゴシック" charset="0"/>
              </a:rPr>
              <a:t>SNMP</a:t>
            </a:r>
          </a:p>
          <a:p>
            <a:pPr marL="516731" lvl="1" indent="-173831" eaLnBrk="1" fontAlgn="auto" hangingPunct="1">
              <a:lnSpc>
                <a:spcPct val="85000"/>
              </a:lnSpc>
              <a:spcBef>
                <a:spcPct val="20000"/>
              </a:spcBef>
              <a:spcAft>
                <a:spcPts val="0"/>
              </a:spcAft>
              <a:buClr>
                <a:srgbClr val="000099"/>
              </a:buClr>
              <a:buFont typeface="Wingdings" charset="0"/>
              <a:buChar char="§"/>
              <a:defRPr/>
            </a:pPr>
            <a:r>
              <a:rPr lang="en-US" sz="2100" dirty="0">
                <a:solidFill>
                  <a:prstClr val="black"/>
                </a:solidFill>
                <a:latin typeface="Calibri" panose="020F0502020204030204"/>
                <a:ea typeface="ＭＳ Ｐゴシック" charset="0"/>
              </a:rPr>
              <a:t>HTTP/3</a:t>
            </a:r>
          </a:p>
          <a:p>
            <a:pPr marL="219075" indent="-219075" eaLnBrk="1" fontAlgn="auto" hangingPunct="1">
              <a:lnSpc>
                <a:spcPct val="85000"/>
              </a:lnSpc>
              <a:spcBef>
                <a:spcPct val="20000"/>
              </a:spcBef>
              <a:spcAft>
                <a:spcPts val="0"/>
              </a:spcAft>
              <a:buClr>
                <a:srgbClr val="000099"/>
              </a:buClr>
              <a:buSzPct val="100000"/>
              <a:buFont typeface="Wingdings" charset="2"/>
              <a:buChar char="§"/>
              <a:defRPr/>
            </a:pPr>
            <a:r>
              <a:rPr lang="en-US" dirty="0">
                <a:solidFill>
                  <a:prstClr val="black"/>
                </a:solidFill>
                <a:latin typeface="Calibri" panose="020F0502020204030204"/>
                <a:ea typeface="ＭＳ Ｐゴシック" charset="0"/>
              </a:rPr>
              <a:t>if reliable transfer needed over UDP (e.g., HTTP/3): </a:t>
            </a:r>
          </a:p>
          <a:p>
            <a:pPr marL="516731" lvl="1" indent="-173831" eaLnBrk="1" fontAlgn="auto" hangingPunct="1">
              <a:lnSpc>
                <a:spcPct val="85000"/>
              </a:lnSpc>
              <a:spcBef>
                <a:spcPct val="20000"/>
              </a:spcBef>
              <a:spcAft>
                <a:spcPts val="0"/>
              </a:spcAft>
              <a:buClr>
                <a:srgbClr val="000099"/>
              </a:buClr>
              <a:buFont typeface="Wingdings" charset="0"/>
              <a:buChar char="§"/>
              <a:defRPr/>
            </a:pPr>
            <a:r>
              <a:rPr lang="en-US" sz="2100" dirty="0">
                <a:solidFill>
                  <a:prstClr val="black"/>
                </a:solidFill>
                <a:latin typeface="Calibri" panose="020F0502020204030204"/>
                <a:ea typeface="ＭＳ Ｐゴシック" charset="0"/>
              </a:rPr>
              <a:t>add needed reliability at application layer</a:t>
            </a:r>
          </a:p>
          <a:p>
            <a:pPr marL="516731" lvl="1" indent="-173831" eaLnBrk="1" fontAlgn="auto" hangingPunct="1">
              <a:lnSpc>
                <a:spcPct val="85000"/>
              </a:lnSpc>
              <a:spcBef>
                <a:spcPct val="20000"/>
              </a:spcBef>
              <a:spcAft>
                <a:spcPts val="0"/>
              </a:spcAft>
              <a:buClr>
                <a:srgbClr val="000099"/>
              </a:buClr>
              <a:buFont typeface="Wingdings" charset="0"/>
              <a:buChar char="§"/>
              <a:defRPr/>
            </a:pPr>
            <a:r>
              <a:rPr lang="en-US" sz="2100" dirty="0">
                <a:solidFill>
                  <a:prstClr val="black"/>
                </a:solidFill>
                <a:latin typeface="Calibri" panose="020F0502020204030204"/>
                <a:ea typeface="ＭＳ Ｐゴシック" charset="0"/>
              </a:rPr>
              <a:t>add congestion control at application layer</a:t>
            </a:r>
          </a:p>
        </p:txBody>
      </p:sp>
      <p:sp>
        <p:nvSpPr>
          <p:cNvPr id="4" name="Slide Number Placeholder 2">
            <a:extLst>
              <a:ext uri="{FF2B5EF4-FFF2-40B4-BE49-F238E27FC236}">
                <a16:creationId xmlns:a16="http://schemas.microsoft.com/office/drawing/2014/main" id="{B160F1B7-DEB2-9342-B89A-69E5B6639506}"/>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19</a:t>
            </a:fld>
            <a:endParaRPr lang="en-US" dirty="0">
              <a:solidFill>
                <a:prstClr val="white">
                  <a:lumMod val="50000"/>
                </a:prstClr>
              </a:solidFill>
            </a:endParaRPr>
          </a:p>
        </p:txBody>
      </p:sp>
    </p:spTree>
    <p:extLst>
      <p:ext uri="{BB962C8B-B14F-4D97-AF65-F5344CB8AC3E}">
        <p14:creationId xmlns:p14="http://schemas.microsoft.com/office/powerpoint/2010/main" val="4028749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7721259" y="2482854"/>
            <a:ext cx="667827" cy="218441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8216766" y="4042320"/>
            <a:ext cx="412374" cy="802661"/>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2100" kern="0">
                <a:solidFill>
                  <a:srgbClr val="FF0000"/>
                </a:solidFill>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8" name="TextBox 7">
            <a:extLst>
              <a:ext uri="{FF2B5EF4-FFF2-40B4-BE49-F238E27FC236}">
                <a16:creationId xmlns:a16="http://schemas.microsoft.com/office/drawing/2014/main" id="{95E1F04B-A3B3-534D-A252-A4AC29C657DE}"/>
              </a:ext>
            </a:extLst>
          </p:cNvPr>
          <p:cNvSpPr txBox="1"/>
          <p:nvPr/>
        </p:nvSpPr>
        <p:spPr>
          <a:xfrm>
            <a:off x="6360778" y="2010842"/>
            <a:ext cx="1598386" cy="415498"/>
          </a:xfrm>
          <a:prstGeom prst="rect">
            <a:avLst/>
          </a:prstGeom>
          <a:noFill/>
        </p:spPr>
        <p:txBody>
          <a:bodyPr wrap="none" rtlCol="0">
            <a:spAutoFit/>
          </a:bodyPr>
          <a:lstStyle/>
          <a:p>
            <a:pPr eaLnBrk="1" fontAlgn="auto" hangingPunct="1">
              <a:spcBef>
                <a:spcPts val="0"/>
              </a:spcBef>
              <a:spcAft>
                <a:spcPts val="0"/>
              </a:spcAft>
              <a:defRPr/>
            </a:pPr>
            <a:r>
              <a:rPr lang="en-US" sz="2100" dirty="0">
                <a:solidFill>
                  <a:prstClr val="black"/>
                </a:solidFill>
                <a:latin typeface="Calibri"/>
                <a:ea typeface="+mn-ea"/>
              </a:rPr>
              <a:t>SNMP server</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451490" y="2104298"/>
            <a:ext cx="1514261" cy="415498"/>
          </a:xfrm>
          <a:prstGeom prst="rect">
            <a:avLst/>
          </a:prstGeom>
          <a:noFill/>
        </p:spPr>
        <p:txBody>
          <a:bodyPr wrap="none" rtlCol="0">
            <a:spAutoFit/>
          </a:bodyPr>
          <a:lstStyle/>
          <a:p>
            <a:pPr eaLnBrk="1" fontAlgn="auto" hangingPunct="1">
              <a:spcBef>
                <a:spcPts val="0"/>
              </a:spcBef>
              <a:spcAft>
                <a:spcPts val="0"/>
              </a:spcAft>
              <a:defRPr/>
            </a:pPr>
            <a:r>
              <a:rPr lang="en-US" sz="2100" dirty="0">
                <a:solidFill>
                  <a:prstClr val="black"/>
                </a:solidFill>
                <a:latin typeface="Calibri"/>
                <a:ea typeface="+mn-ea"/>
              </a:rPr>
              <a:t>SNMP client</a:t>
            </a:r>
          </a:p>
        </p:txBody>
      </p:sp>
      <p:grpSp>
        <p:nvGrpSpPr>
          <p:cNvPr id="3" name="Group 2">
            <a:extLst>
              <a:ext uri="{FF2B5EF4-FFF2-40B4-BE49-F238E27FC236}">
                <a16:creationId xmlns:a16="http://schemas.microsoft.com/office/drawing/2014/main" id="{64AFD9EC-1CA1-D34D-965E-2E8D95748C38}"/>
              </a:ext>
            </a:extLst>
          </p:cNvPr>
          <p:cNvGrpSpPr/>
          <p:nvPr/>
        </p:nvGrpSpPr>
        <p:grpSpPr>
          <a:xfrm>
            <a:off x="6382764" y="2415966"/>
            <a:ext cx="1459754" cy="2187358"/>
            <a:chOff x="8091785" y="2078288"/>
            <a:chExt cx="2364905" cy="2916476"/>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a:solidFill>
                  <a:srgbClr val="000000"/>
                </a:solidFill>
                <a:latin typeface="Times New Roman" panose="02020603050405020304" pitchFamily="18" charset="0"/>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kern="0">
                <a:solidFill>
                  <a:srgbClr val="000000"/>
                </a:solidFill>
                <a:latin typeface="Times New Roman" panose="02020603050405020304" pitchFamily="18" charset="0"/>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4" y="2832513"/>
              <a:ext cx="1703276" cy="800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transport</a:t>
              </a:r>
            </a:p>
            <a:p>
              <a:pPr algn="ctr">
                <a:lnSpc>
                  <a:spcPct val="110000"/>
                </a:lnSpc>
                <a:defRPr/>
              </a:pPr>
              <a:r>
                <a:rPr lang="en-US" altLang="en-US" sz="1500" kern="0" dirty="0">
                  <a:solidFill>
                    <a:srgbClr val="000000"/>
                  </a:solidFill>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09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4"/>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1" y="2284368"/>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application</a:t>
              </a:r>
            </a:p>
          </p:txBody>
        </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599018" y="1074244"/>
            <a:ext cx="8325469" cy="670967"/>
          </a:xfrm>
        </p:spPr>
        <p:txBody>
          <a:bodyPr>
            <a:normAutofit/>
          </a:bodyPr>
          <a:lstStyle/>
          <a:p>
            <a:r>
              <a:rPr lang="en-US" dirty="0"/>
              <a:t>UDP: Transport Layer Actions</a:t>
            </a:r>
          </a:p>
        </p:txBody>
      </p:sp>
      <p:cxnSp>
        <p:nvCxnSpPr>
          <p:cNvPr id="10" name="Straight Connector 9">
            <a:extLst>
              <a:ext uri="{FF2B5EF4-FFF2-40B4-BE49-F238E27FC236}">
                <a16:creationId xmlns:a16="http://schemas.microsoft.com/office/drawing/2014/main" id="{19E97DC1-5C01-E843-A657-ADC5FEA14075}"/>
              </a:ext>
            </a:extLst>
          </p:cNvPr>
          <p:cNvCxnSpPr>
            <a:cxnSpLocks/>
            <a:stCxn id="151" idx="2"/>
          </p:cNvCxnSpPr>
          <p:nvPr/>
        </p:nvCxnSpPr>
        <p:spPr>
          <a:xfrm flipH="1">
            <a:off x="5979018" y="4603324"/>
            <a:ext cx="1105134" cy="3397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9C57AC1A-9B60-DC47-A97D-E9C39D845828}"/>
              </a:ext>
            </a:extLst>
          </p:cNvPr>
          <p:cNvCxnSpPr>
            <a:cxnSpLocks/>
          </p:cNvCxnSpPr>
          <p:nvPr/>
        </p:nvCxnSpPr>
        <p:spPr>
          <a:xfrm>
            <a:off x="1934108" y="4654167"/>
            <a:ext cx="1187124" cy="2269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3046891" y="4581500"/>
            <a:ext cx="3027677" cy="771548"/>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a:defRPr/>
            </a:pPr>
            <a:endParaRPr lang="en-US" sz="2100">
              <a:solidFill>
                <a:srgbClr val="000000"/>
              </a:solidFill>
              <a:latin typeface="Calibri"/>
              <a:cs typeface="Arial"/>
            </a:endParaRPr>
          </a:p>
        </p:txBody>
      </p:sp>
      <p:sp>
        <p:nvSpPr>
          <p:cNvPr id="163" name="Freeform 70">
            <a:extLst>
              <a:ext uri="{FF2B5EF4-FFF2-40B4-BE49-F238E27FC236}">
                <a16:creationId xmlns:a16="http://schemas.microsoft.com/office/drawing/2014/main" id="{93CF945F-B7C1-9B4F-9438-D2DF7708E687}"/>
              </a:ext>
            </a:extLst>
          </p:cNvPr>
          <p:cNvSpPr>
            <a:spLocks/>
          </p:cNvSpPr>
          <p:nvPr/>
        </p:nvSpPr>
        <p:spPr bwMode="auto">
          <a:xfrm>
            <a:off x="640762" y="2549742"/>
            <a:ext cx="634983" cy="219164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grpSp>
        <p:nvGrpSpPr>
          <p:cNvPr id="164" name="Group 163">
            <a:extLst>
              <a:ext uri="{FF2B5EF4-FFF2-40B4-BE49-F238E27FC236}">
                <a16:creationId xmlns:a16="http://schemas.microsoft.com/office/drawing/2014/main" id="{AA415DCF-A2D2-344B-9A45-F3F58006C5EE}"/>
              </a:ext>
            </a:extLst>
          </p:cNvPr>
          <p:cNvGrpSpPr/>
          <p:nvPr/>
        </p:nvGrpSpPr>
        <p:grpSpPr>
          <a:xfrm>
            <a:off x="1265828" y="2482854"/>
            <a:ext cx="1598776" cy="2187358"/>
            <a:chOff x="8091785" y="2078288"/>
            <a:chExt cx="2364905" cy="2916476"/>
          </a:xfrm>
        </p:grpSpPr>
        <p:sp>
          <p:nvSpPr>
            <p:cNvPr id="165" name="Rectangle 23">
              <a:extLst>
                <a:ext uri="{FF2B5EF4-FFF2-40B4-BE49-F238E27FC236}">
                  <a16:creationId xmlns:a16="http://schemas.microsoft.com/office/drawing/2014/main" id="{20790EF2-7EC4-BF46-AE61-5F193F0894CD}"/>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a:solidFill>
                  <a:srgbClr val="000000"/>
                </a:solidFill>
                <a:latin typeface="Times New Roman" panose="02020603050405020304" pitchFamily="18" charset="0"/>
              </a:endParaRPr>
            </a:p>
          </p:txBody>
        </p:sp>
        <p:sp>
          <p:nvSpPr>
            <p:cNvPr id="166" name="Rectangle 24">
              <a:extLst>
                <a:ext uri="{FF2B5EF4-FFF2-40B4-BE49-F238E27FC236}">
                  <a16:creationId xmlns:a16="http://schemas.microsoft.com/office/drawing/2014/main" id="{DF6E9285-B785-804B-BB24-0405637B9911}"/>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kern="0">
                <a:solidFill>
                  <a:srgbClr val="000000"/>
                </a:solidFill>
                <a:latin typeface="Times New Roman" panose="02020603050405020304" pitchFamily="18" charset="0"/>
              </a:endParaRPr>
            </a:p>
          </p:txBody>
        </p:sp>
        <p:sp>
          <p:nvSpPr>
            <p:cNvPr id="167" name="Line 25">
              <a:extLst>
                <a:ext uri="{FF2B5EF4-FFF2-40B4-BE49-F238E27FC236}">
                  <a16:creationId xmlns:a16="http://schemas.microsoft.com/office/drawing/2014/main" id="{C2F7FFF2-43B5-A648-8DB9-1244002B1EED}"/>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68" name="Text Box 26">
              <a:extLst>
                <a:ext uri="{FF2B5EF4-FFF2-40B4-BE49-F238E27FC236}">
                  <a16:creationId xmlns:a16="http://schemas.microsoft.com/office/drawing/2014/main" id="{38AC5752-2E10-AE4C-AE2E-F2F12589ABF6}"/>
                </a:ext>
              </a:extLst>
            </p:cNvPr>
            <p:cNvSpPr txBox="1">
              <a:spLocks noChangeArrowheads="1"/>
            </p:cNvSpPr>
            <p:nvPr/>
          </p:nvSpPr>
          <p:spPr bwMode="auto">
            <a:xfrm>
              <a:off x="8376445" y="2832513"/>
              <a:ext cx="1703276" cy="800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transport</a:t>
              </a:r>
            </a:p>
            <a:p>
              <a:pPr algn="ctr">
                <a:lnSpc>
                  <a:spcPct val="110000"/>
                </a:lnSpc>
                <a:defRPr/>
              </a:pPr>
              <a:r>
                <a:rPr lang="en-US" altLang="en-US" sz="1500" kern="0" dirty="0">
                  <a:solidFill>
                    <a:srgbClr val="000000"/>
                  </a:solidFill>
                </a:rPr>
                <a:t>(UDP)</a:t>
              </a:r>
            </a:p>
          </p:txBody>
        </p:sp>
        <p:sp>
          <p:nvSpPr>
            <p:cNvPr id="169" name="Line 27">
              <a:extLst>
                <a:ext uri="{FF2B5EF4-FFF2-40B4-BE49-F238E27FC236}">
                  <a16:creationId xmlns:a16="http://schemas.microsoft.com/office/drawing/2014/main" id="{E6411346-D908-6048-94E9-4C9C6A9C97BF}"/>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70" name="Text Box 26">
              <a:extLst>
                <a:ext uri="{FF2B5EF4-FFF2-40B4-BE49-F238E27FC236}">
                  <a16:creationId xmlns:a16="http://schemas.microsoft.com/office/drawing/2014/main" id="{2BD45E5F-4032-7A44-91A7-D2ED37DE30B7}"/>
                </a:ext>
              </a:extLst>
            </p:cNvPr>
            <p:cNvSpPr txBox="1">
              <a:spLocks noChangeArrowheads="1"/>
            </p:cNvSpPr>
            <p:nvPr/>
          </p:nvSpPr>
          <p:spPr bwMode="auto">
            <a:xfrm>
              <a:off x="8218435" y="453309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physical</a:t>
              </a:r>
            </a:p>
          </p:txBody>
        </p:sp>
        <p:sp>
          <p:nvSpPr>
            <p:cNvPr id="171" name="Text Box 26">
              <a:extLst>
                <a:ext uri="{FF2B5EF4-FFF2-40B4-BE49-F238E27FC236}">
                  <a16:creationId xmlns:a16="http://schemas.microsoft.com/office/drawing/2014/main" id="{067129BD-4E72-804E-9941-0CFB2ABB0A6B}"/>
                </a:ext>
              </a:extLst>
            </p:cNvPr>
            <p:cNvSpPr txBox="1">
              <a:spLocks noChangeArrowheads="1"/>
            </p:cNvSpPr>
            <p:nvPr/>
          </p:nvSpPr>
          <p:spPr bwMode="auto">
            <a:xfrm>
              <a:off x="8218435" y="4088344"/>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link</a:t>
              </a:r>
            </a:p>
          </p:txBody>
        </p:sp>
        <p:sp>
          <p:nvSpPr>
            <p:cNvPr id="172" name="Text Box 26">
              <a:extLst>
                <a:ext uri="{FF2B5EF4-FFF2-40B4-BE49-F238E27FC236}">
                  <a16:creationId xmlns:a16="http://schemas.microsoft.com/office/drawing/2014/main" id="{586097BE-C9CD-2B44-A610-13D1A1572A56}"/>
                </a:ext>
              </a:extLst>
            </p:cNvPr>
            <p:cNvSpPr txBox="1">
              <a:spLocks noChangeArrowheads="1"/>
            </p:cNvSpPr>
            <p:nvPr/>
          </p:nvSpPr>
          <p:spPr bwMode="auto">
            <a:xfrm>
              <a:off x="8218435" y="364607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network (IP)</a:t>
              </a:r>
            </a:p>
          </p:txBody>
        </p:sp>
        <p:sp>
          <p:nvSpPr>
            <p:cNvPr id="173" name="Line 27">
              <a:extLst>
                <a:ext uri="{FF2B5EF4-FFF2-40B4-BE49-F238E27FC236}">
                  <a16:creationId xmlns:a16="http://schemas.microsoft.com/office/drawing/2014/main" id="{9A1DE5DC-7E6A-4747-9541-02B87C77AC36}"/>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74" name="Line 27">
              <a:extLst>
                <a:ext uri="{FF2B5EF4-FFF2-40B4-BE49-F238E27FC236}">
                  <a16:creationId xmlns:a16="http://schemas.microsoft.com/office/drawing/2014/main" id="{9B2D570F-120B-6D41-8FE2-002A2DC1204D}"/>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75" name="Text Box 26">
              <a:extLst>
                <a:ext uri="{FF2B5EF4-FFF2-40B4-BE49-F238E27FC236}">
                  <a16:creationId xmlns:a16="http://schemas.microsoft.com/office/drawing/2014/main" id="{3C035217-7FD4-6C48-AB72-7561321B3669}"/>
                </a:ext>
              </a:extLst>
            </p:cNvPr>
            <p:cNvSpPr txBox="1">
              <a:spLocks noChangeArrowheads="1"/>
            </p:cNvSpPr>
            <p:nvPr/>
          </p:nvSpPr>
          <p:spPr bwMode="auto">
            <a:xfrm>
              <a:off x="8179439" y="2284368"/>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application</a:t>
              </a:r>
            </a:p>
          </p:txBody>
        </p:sp>
      </p:grpSp>
      <p:grpSp>
        <p:nvGrpSpPr>
          <p:cNvPr id="176" name="Group 175">
            <a:extLst>
              <a:ext uri="{FF2B5EF4-FFF2-40B4-BE49-F238E27FC236}">
                <a16:creationId xmlns:a16="http://schemas.microsoft.com/office/drawing/2014/main" id="{7C64A43A-1B07-3348-A5EB-9B76F69646C0}"/>
              </a:ext>
            </a:extLst>
          </p:cNvPr>
          <p:cNvGrpSpPr/>
          <p:nvPr/>
        </p:nvGrpSpPr>
        <p:grpSpPr>
          <a:xfrm>
            <a:off x="375551" y="4564935"/>
            <a:ext cx="769892" cy="447865"/>
            <a:chOff x="7493876" y="2774731"/>
            <a:chExt cx="1481958" cy="894622"/>
          </a:xfrm>
        </p:grpSpPr>
        <p:sp>
          <p:nvSpPr>
            <p:cNvPr id="177" name="Freeform 176">
              <a:extLst>
                <a:ext uri="{FF2B5EF4-FFF2-40B4-BE49-F238E27FC236}">
                  <a16:creationId xmlns:a16="http://schemas.microsoft.com/office/drawing/2014/main" id="{0DB8B5ED-7F25-B645-878C-116DE6CD5EA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78" name="Oval 177">
              <a:extLst>
                <a:ext uri="{FF2B5EF4-FFF2-40B4-BE49-F238E27FC236}">
                  <a16:creationId xmlns:a16="http://schemas.microsoft.com/office/drawing/2014/main" id="{AFB4D1D4-1D5D-7C46-A31B-48B19CA0A81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79" name="Group 178">
              <a:extLst>
                <a:ext uri="{FF2B5EF4-FFF2-40B4-BE49-F238E27FC236}">
                  <a16:creationId xmlns:a16="http://schemas.microsoft.com/office/drawing/2014/main" id="{8D1FB4E3-A216-1446-87E1-A06F139F800A}"/>
                </a:ext>
              </a:extLst>
            </p:cNvPr>
            <p:cNvGrpSpPr/>
            <p:nvPr/>
          </p:nvGrpSpPr>
          <p:grpSpPr>
            <a:xfrm>
              <a:off x="7713663" y="2848339"/>
              <a:ext cx="1042107" cy="425543"/>
              <a:chOff x="7786941" y="2884917"/>
              <a:chExt cx="897649" cy="353919"/>
            </a:xfrm>
          </p:grpSpPr>
          <p:sp>
            <p:nvSpPr>
              <p:cNvPr id="180" name="Freeform 179">
                <a:extLst>
                  <a:ext uri="{FF2B5EF4-FFF2-40B4-BE49-F238E27FC236}">
                    <a16:creationId xmlns:a16="http://schemas.microsoft.com/office/drawing/2014/main" id="{2B930530-1BA2-8049-A625-480A1F84B91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81" name="Freeform 180">
                <a:extLst>
                  <a:ext uri="{FF2B5EF4-FFF2-40B4-BE49-F238E27FC236}">
                    <a16:creationId xmlns:a16="http://schemas.microsoft.com/office/drawing/2014/main" id="{C5B65EDD-F107-4D4D-8254-28F27CB3355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5" name="Freeform 194">
                <a:extLst>
                  <a:ext uri="{FF2B5EF4-FFF2-40B4-BE49-F238E27FC236}">
                    <a16:creationId xmlns:a16="http://schemas.microsoft.com/office/drawing/2014/main" id="{052D8468-97DE-CD48-9220-0D7B5D1582B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96" name="Freeform 195">
                <a:extLst>
                  <a:ext uri="{FF2B5EF4-FFF2-40B4-BE49-F238E27FC236}">
                    <a16:creationId xmlns:a16="http://schemas.microsoft.com/office/drawing/2014/main" id="{CD0FBE04-ADDE-184C-8DFE-2575EA709AD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97" name="Group 149">
            <a:extLst>
              <a:ext uri="{FF2B5EF4-FFF2-40B4-BE49-F238E27FC236}">
                <a16:creationId xmlns:a16="http://schemas.microsoft.com/office/drawing/2014/main" id="{1F890155-D0B7-364C-891D-EC128001048E}"/>
              </a:ext>
            </a:extLst>
          </p:cNvPr>
          <p:cNvGrpSpPr>
            <a:grpSpLocks/>
          </p:cNvGrpSpPr>
          <p:nvPr/>
        </p:nvGrpSpPr>
        <p:grpSpPr bwMode="auto">
          <a:xfrm>
            <a:off x="1846655" y="2924267"/>
            <a:ext cx="309563" cy="119063"/>
            <a:chOff x="1287" y="2524"/>
            <a:chExt cx="260" cy="100"/>
          </a:xfrm>
        </p:grpSpPr>
        <p:sp>
          <p:nvSpPr>
            <p:cNvPr id="198" name="Rectangle 73">
              <a:extLst>
                <a:ext uri="{FF2B5EF4-FFF2-40B4-BE49-F238E27FC236}">
                  <a16:creationId xmlns:a16="http://schemas.microsoft.com/office/drawing/2014/main" id="{590049C7-843C-1B4A-89F9-80D6028F7F02}"/>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99" name="Rectangle 74">
              <a:extLst>
                <a:ext uri="{FF2B5EF4-FFF2-40B4-BE49-F238E27FC236}">
                  <a16:creationId xmlns:a16="http://schemas.microsoft.com/office/drawing/2014/main" id="{060ED392-F3E2-5445-9D40-5D86C1A7E8FA}"/>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00" name="Rectangle 75">
              <a:extLst>
                <a:ext uri="{FF2B5EF4-FFF2-40B4-BE49-F238E27FC236}">
                  <a16:creationId xmlns:a16="http://schemas.microsoft.com/office/drawing/2014/main" id="{33BE5C08-8C7C-7149-875A-3BD200DF748C}"/>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01" name="Rectangle 129">
              <a:extLst>
                <a:ext uri="{FF2B5EF4-FFF2-40B4-BE49-F238E27FC236}">
                  <a16:creationId xmlns:a16="http://schemas.microsoft.com/office/drawing/2014/main" id="{0140B062-405E-0A48-ABA2-65AE09DF9CCF}"/>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grpSp>
        <p:nvGrpSpPr>
          <p:cNvPr id="85" name="Group 149">
            <a:extLst>
              <a:ext uri="{FF2B5EF4-FFF2-40B4-BE49-F238E27FC236}">
                <a16:creationId xmlns:a16="http://schemas.microsoft.com/office/drawing/2014/main" id="{2BE2291A-54C4-114A-8062-D743A8CDF9EC}"/>
              </a:ext>
            </a:extLst>
          </p:cNvPr>
          <p:cNvGrpSpPr>
            <a:grpSpLocks/>
          </p:cNvGrpSpPr>
          <p:nvPr/>
        </p:nvGrpSpPr>
        <p:grpSpPr bwMode="auto">
          <a:xfrm>
            <a:off x="7260858" y="2862457"/>
            <a:ext cx="309563" cy="119063"/>
            <a:chOff x="1287" y="2524"/>
            <a:chExt cx="260" cy="100"/>
          </a:xfrm>
        </p:grpSpPr>
        <p:sp>
          <p:nvSpPr>
            <p:cNvPr id="86" name="Rectangle 73">
              <a:extLst>
                <a:ext uri="{FF2B5EF4-FFF2-40B4-BE49-F238E27FC236}">
                  <a16:creationId xmlns:a16="http://schemas.microsoft.com/office/drawing/2014/main" id="{A98E76A7-87AD-8242-988E-0E4DFC2782A9}"/>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87" name="Rectangle 74">
              <a:extLst>
                <a:ext uri="{FF2B5EF4-FFF2-40B4-BE49-F238E27FC236}">
                  <a16:creationId xmlns:a16="http://schemas.microsoft.com/office/drawing/2014/main" id="{05A0AED4-CB55-8B44-A573-91C3CC5195FE}"/>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88" name="Rectangle 75">
              <a:extLst>
                <a:ext uri="{FF2B5EF4-FFF2-40B4-BE49-F238E27FC236}">
                  <a16:creationId xmlns:a16="http://schemas.microsoft.com/office/drawing/2014/main" id="{E473A3B0-4DB9-E148-95E3-5518DB468C96}"/>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89" name="Rectangle 129">
              <a:extLst>
                <a:ext uri="{FF2B5EF4-FFF2-40B4-BE49-F238E27FC236}">
                  <a16:creationId xmlns:a16="http://schemas.microsoft.com/office/drawing/2014/main" id="{E9ED0EE1-76D9-D04D-8893-5E36E5A75578}"/>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90" name="Slide Number Placeholder 2">
            <a:extLst>
              <a:ext uri="{FF2B5EF4-FFF2-40B4-BE49-F238E27FC236}">
                <a16:creationId xmlns:a16="http://schemas.microsoft.com/office/drawing/2014/main" id="{1B520EE5-2EFC-4746-B182-97170136E2D8}"/>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20</a:t>
            </a:fld>
            <a:endParaRPr lang="en-US" dirty="0">
              <a:solidFill>
                <a:prstClr val="white">
                  <a:lumMod val="50000"/>
                </a:prstClr>
              </a:solidFill>
            </a:endParaRPr>
          </a:p>
        </p:txBody>
      </p:sp>
    </p:spTree>
    <p:extLst>
      <p:ext uri="{BB962C8B-B14F-4D97-AF65-F5344CB8AC3E}">
        <p14:creationId xmlns:p14="http://schemas.microsoft.com/office/powerpoint/2010/main" val="3711619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902B4EA-0158-774A-877D-888807F574B5}"/>
              </a:ext>
            </a:extLst>
          </p:cNvPr>
          <p:cNvGrpSpPr/>
          <p:nvPr/>
        </p:nvGrpSpPr>
        <p:grpSpPr>
          <a:xfrm>
            <a:off x="1934109" y="4581500"/>
            <a:ext cx="5150044" cy="771548"/>
            <a:chOff x="2578811" y="4965666"/>
            <a:chExt cx="6866725" cy="1028731"/>
          </a:xfrm>
        </p:grpSpPr>
        <p:cxnSp>
          <p:nvCxnSpPr>
            <p:cNvPr id="128" name="Straight Connector 127">
              <a:extLst>
                <a:ext uri="{FF2B5EF4-FFF2-40B4-BE49-F238E27FC236}">
                  <a16:creationId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a:defRPr/>
                </a:pPr>
                <a:r>
                  <a:rPr lang="en-US" sz="2100" dirty="0">
                    <a:solidFill>
                      <a:srgbClr val="000000"/>
                    </a:solidFill>
                    <a:latin typeface="Calibri"/>
                    <a:cs typeface="Arial"/>
                  </a:rPr>
                  <a:t>             </a:t>
                </a:r>
              </a:p>
            </p:txBody>
          </p:sp>
        </p:grpSp>
      </p:gr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7721259" y="2482854"/>
            <a:ext cx="667827" cy="218441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640762" y="2549742"/>
            <a:ext cx="634983" cy="219164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8216766" y="4042320"/>
            <a:ext cx="412374" cy="802661"/>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2100" kern="0">
                <a:solidFill>
                  <a:srgbClr val="FF0000"/>
                </a:solidFill>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8" name="TextBox 7">
            <a:extLst>
              <a:ext uri="{FF2B5EF4-FFF2-40B4-BE49-F238E27FC236}">
                <a16:creationId xmlns:a16="http://schemas.microsoft.com/office/drawing/2014/main" id="{95E1F04B-A3B3-534D-A252-A4AC29C657DE}"/>
              </a:ext>
            </a:extLst>
          </p:cNvPr>
          <p:cNvSpPr txBox="1"/>
          <p:nvPr/>
        </p:nvSpPr>
        <p:spPr>
          <a:xfrm>
            <a:off x="6360778" y="2010842"/>
            <a:ext cx="1598386" cy="415498"/>
          </a:xfrm>
          <a:prstGeom prst="rect">
            <a:avLst/>
          </a:prstGeom>
          <a:noFill/>
        </p:spPr>
        <p:txBody>
          <a:bodyPr wrap="none" rtlCol="0">
            <a:spAutoFit/>
          </a:bodyPr>
          <a:lstStyle/>
          <a:p>
            <a:pPr eaLnBrk="1" fontAlgn="auto" hangingPunct="1">
              <a:spcBef>
                <a:spcPts val="0"/>
              </a:spcBef>
              <a:spcAft>
                <a:spcPts val="0"/>
              </a:spcAft>
              <a:defRPr/>
            </a:pPr>
            <a:r>
              <a:rPr lang="en-US" sz="2100" dirty="0">
                <a:solidFill>
                  <a:prstClr val="black"/>
                </a:solidFill>
                <a:latin typeface="Calibri"/>
                <a:ea typeface="+mn-ea"/>
              </a:rPr>
              <a:t>SNMP server</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451490" y="2104298"/>
            <a:ext cx="1514261" cy="415498"/>
          </a:xfrm>
          <a:prstGeom prst="rect">
            <a:avLst/>
          </a:prstGeom>
          <a:noFill/>
        </p:spPr>
        <p:txBody>
          <a:bodyPr wrap="none" rtlCol="0">
            <a:spAutoFit/>
          </a:bodyPr>
          <a:lstStyle/>
          <a:p>
            <a:pPr eaLnBrk="1" fontAlgn="auto" hangingPunct="1">
              <a:spcBef>
                <a:spcPts val="0"/>
              </a:spcBef>
              <a:spcAft>
                <a:spcPts val="0"/>
              </a:spcAft>
              <a:defRPr/>
            </a:pPr>
            <a:r>
              <a:rPr lang="en-US" sz="2100" dirty="0">
                <a:solidFill>
                  <a:prstClr val="black"/>
                </a:solidFill>
                <a:latin typeface="Calibri"/>
                <a:ea typeface="+mn-ea"/>
              </a:rPr>
              <a:t>SNMP client</a:t>
            </a:r>
          </a:p>
        </p:txBody>
      </p:sp>
      <p:grpSp>
        <p:nvGrpSpPr>
          <p:cNvPr id="3" name="Group 2">
            <a:extLst>
              <a:ext uri="{FF2B5EF4-FFF2-40B4-BE49-F238E27FC236}">
                <a16:creationId xmlns:a16="http://schemas.microsoft.com/office/drawing/2014/main" id="{64AFD9EC-1CA1-D34D-965E-2E8D95748C38}"/>
              </a:ext>
            </a:extLst>
          </p:cNvPr>
          <p:cNvGrpSpPr/>
          <p:nvPr/>
        </p:nvGrpSpPr>
        <p:grpSpPr>
          <a:xfrm>
            <a:off x="6382764" y="2415966"/>
            <a:ext cx="1459754" cy="2187358"/>
            <a:chOff x="8091785" y="2078288"/>
            <a:chExt cx="2364905" cy="2916476"/>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a:solidFill>
                  <a:srgbClr val="000000"/>
                </a:solidFill>
                <a:latin typeface="Times New Roman" panose="02020603050405020304" pitchFamily="18" charset="0"/>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kern="0">
                <a:solidFill>
                  <a:srgbClr val="000000"/>
                </a:solidFill>
                <a:latin typeface="Times New Roman" panose="02020603050405020304" pitchFamily="18" charset="0"/>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4" y="2832513"/>
              <a:ext cx="1703276" cy="800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transport</a:t>
              </a:r>
            </a:p>
            <a:p>
              <a:pPr algn="ctr">
                <a:lnSpc>
                  <a:spcPct val="110000"/>
                </a:lnSpc>
                <a:defRPr/>
              </a:pPr>
              <a:r>
                <a:rPr lang="en-US" altLang="en-US" sz="1500" kern="0" dirty="0">
                  <a:solidFill>
                    <a:srgbClr val="000000"/>
                  </a:solidFill>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09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4"/>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1" y="2284368"/>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265828" y="2482854"/>
            <a:ext cx="1598776" cy="2187358"/>
            <a:chOff x="8091785" y="2078288"/>
            <a:chExt cx="2364905" cy="2916476"/>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a:solidFill>
                  <a:srgbClr val="000000"/>
                </a:solidFill>
                <a:latin typeface="Times New Roman" panose="02020603050405020304" pitchFamily="18" charset="0"/>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kern="0">
                <a:solidFill>
                  <a:srgbClr val="000000"/>
                </a:solidFill>
                <a:latin typeface="Times New Roman" panose="02020603050405020304" pitchFamily="18" charset="0"/>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0" name="Text Box 26">
              <a:extLst>
                <a:ext uri="{FF2B5EF4-FFF2-40B4-BE49-F238E27FC236}">
                  <a16:creationId xmlns:a16="http://schemas.microsoft.com/office/drawing/2014/main" id="{09388CA4-5912-3745-991A-9A3E60719DA7}"/>
                </a:ext>
              </a:extLst>
            </p:cNvPr>
            <p:cNvSpPr txBox="1">
              <a:spLocks noChangeArrowheads="1"/>
            </p:cNvSpPr>
            <p:nvPr/>
          </p:nvSpPr>
          <p:spPr bwMode="auto">
            <a:xfrm>
              <a:off x="8376445" y="2832513"/>
              <a:ext cx="1703276" cy="800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transport</a:t>
              </a:r>
            </a:p>
            <a:p>
              <a:pPr algn="ctr">
                <a:lnSpc>
                  <a:spcPct val="110000"/>
                </a:lnSpc>
                <a:defRPr/>
              </a:pPr>
              <a:r>
                <a:rPr lang="en-US" altLang="en-US" sz="1500" kern="0" dirty="0">
                  <a:solidFill>
                    <a:srgbClr val="000000"/>
                  </a:solidFill>
                </a:rPr>
                <a:t>(UDP)</a:t>
              </a: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5" y="453309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5" y="4088344"/>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5" y="364607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39" y="2284368"/>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application</a:t>
              </a:r>
            </a:p>
          </p:txBody>
        </p:sp>
      </p:grpSp>
      <p:grpSp>
        <p:nvGrpSpPr>
          <p:cNvPr id="93" name="Group 92">
            <a:extLst>
              <a:ext uri="{FF2B5EF4-FFF2-40B4-BE49-F238E27FC236}">
                <a16:creationId xmlns:a16="http://schemas.microsoft.com/office/drawing/2014/main" id="{EFA7BEBF-82FA-3440-93DD-AFB07D2DDF8D}"/>
              </a:ext>
            </a:extLst>
          </p:cNvPr>
          <p:cNvGrpSpPr/>
          <p:nvPr/>
        </p:nvGrpSpPr>
        <p:grpSpPr>
          <a:xfrm>
            <a:off x="375551" y="4564935"/>
            <a:ext cx="769892" cy="447865"/>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599018" y="1074244"/>
            <a:ext cx="8325469" cy="670967"/>
          </a:xfrm>
        </p:spPr>
        <p:txBody>
          <a:bodyPr>
            <a:normAutofit/>
          </a:bodyPr>
          <a:lstStyle/>
          <a:p>
            <a:r>
              <a:rPr lang="en-US" dirty="0"/>
              <a:t>UDP: 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1846655" y="2924267"/>
            <a:ext cx="309563" cy="119063"/>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7260858" y="2862457"/>
            <a:ext cx="309563" cy="119063"/>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 name="TextBox 1">
            <a:extLst>
              <a:ext uri="{FF2B5EF4-FFF2-40B4-BE49-F238E27FC236}">
                <a16:creationId xmlns:a16="http://schemas.microsoft.com/office/drawing/2014/main" id="{6B2BB341-9BE1-8640-8E8B-7EC80706964E}"/>
              </a:ext>
            </a:extLst>
          </p:cNvPr>
          <p:cNvSpPr txBox="1"/>
          <p:nvPr/>
        </p:nvSpPr>
        <p:spPr>
          <a:xfrm>
            <a:off x="3159358" y="2230276"/>
            <a:ext cx="2923758" cy="646331"/>
          </a:xfrm>
          <a:prstGeom prst="rect">
            <a:avLst/>
          </a:prstGeom>
          <a:noFill/>
        </p:spPr>
        <p:txBody>
          <a:bodyPr wrap="square" rtlCol="0">
            <a:spAutoFit/>
          </a:bodyPr>
          <a:lstStyle/>
          <a:p>
            <a:pPr eaLnBrk="1" fontAlgn="auto" hangingPunct="1">
              <a:spcBef>
                <a:spcPts val="0"/>
              </a:spcBef>
              <a:spcAft>
                <a:spcPts val="0"/>
              </a:spcAft>
              <a:defRPr/>
            </a:pPr>
            <a:r>
              <a:rPr lang="en-US" sz="2100" dirty="0">
                <a:solidFill>
                  <a:prstClr val="black"/>
                </a:solidFill>
                <a:latin typeface="Calibri"/>
                <a:ea typeface="+mn-ea"/>
              </a:rPr>
              <a:t>UDP sender actions:</a:t>
            </a:r>
          </a:p>
          <a:p>
            <a:pPr marL="214313" indent="-164306" eaLnBrk="1" fontAlgn="auto" hangingPunct="1">
              <a:spcBef>
                <a:spcPts val="0"/>
              </a:spcBef>
              <a:spcAft>
                <a:spcPts val="0"/>
              </a:spcAft>
              <a:buClr>
                <a:srgbClr val="0200A3"/>
              </a:buClr>
              <a:buFont typeface="Wingdings" pitchFamily="2" charset="2"/>
              <a:buChar char="§"/>
              <a:defRPr/>
            </a:pPr>
            <a:endParaRPr lang="en-US" sz="1500" dirty="0">
              <a:solidFill>
                <a:prstClr val="black"/>
              </a:solidFill>
              <a:latin typeface="Calibri"/>
              <a:ea typeface="+mn-ea"/>
            </a:endParaRPr>
          </a:p>
        </p:txBody>
      </p:sp>
      <p:sp>
        <p:nvSpPr>
          <p:cNvPr id="102" name="Rectangle 101">
            <a:extLst>
              <a:ext uri="{FF2B5EF4-FFF2-40B4-BE49-F238E27FC236}">
                <a16:creationId xmlns:a16="http://schemas.microsoft.com/office/drawing/2014/main" id="{6480FBEB-6DAE-6343-96A8-03D66CDE01DB}"/>
              </a:ext>
            </a:extLst>
          </p:cNvPr>
          <p:cNvSpPr/>
          <p:nvPr/>
        </p:nvSpPr>
        <p:spPr>
          <a:xfrm>
            <a:off x="6376591" y="2415934"/>
            <a:ext cx="1490111" cy="220377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dirty="0">
              <a:solidFill>
                <a:prstClr val="white"/>
              </a:solidFill>
            </a:endParaRPr>
          </a:p>
        </p:txBody>
      </p:sp>
      <p:grpSp>
        <p:nvGrpSpPr>
          <p:cNvPr id="88" name="Group 87">
            <a:extLst>
              <a:ext uri="{FF2B5EF4-FFF2-40B4-BE49-F238E27FC236}">
                <a16:creationId xmlns:a16="http://schemas.microsoft.com/office/drawing/2014/main" id="{CA134BD1-8CE1-DD46-92D0-46AEECA91934}"/>
              </a:ext>
            </a:extLst>
          </p:cNvPr>
          <p:cNvGrpSpPr/>
          <p:nvPr/>
        </p:nvGrpSpPr>
        <p:grpSpPr>
          <a:xfrm>
            <a:off x="6847623" y="2584582"/>
            <a:ext cx="944306" cy="300082"/>
            <a:chOff x="8934916" y="2775692"/>
            <a:chExt cx="1259074" cy="400109"/>
          </a:xfrm>
        </p:grpSpPr>
        <p:sp>
          <p:nvSpPr>
            <p:cNvPr id="89" name="Rectangle 88">
              <a:extLst>
                <a:ext uri="{FF2B5EF4-FFF2-40B4-BE49-F238E27FC236}">
                  <a16:creationId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90" name="TextBox 89">
              <a:extLst>
                <a:ext uri="{FF2B5EF4-FFF2-40B4-BE49-F238E27FC236}">
                  <a16:creationId xmlns:a16="http://schemas.microsoft.com/office/drawing/2014/main" id="{26EE5E72-5714-C64B-A3D2-C89CD03AFF69}"/>
                </a:ext>
              </a:extLst>
            </p:cNvPr>
            <p:cNvSpPr txBox="1"/>
            <p:nvPr/>
          </p:nvSpPr>
          <p:spPr>
            <a:xfrm>
              <a:off x="8934916" y="2775692"/>
              <a:ext cx="1259074" cy="400109"/>
            </a:xfrm>
            <a:prstGeom prst="rect">
              <a:avLst/>
            </a:prstGeom>
            <a:noFill/>
          </p:spPr>
          <p:txBody>
            <a:bodyPr wrap="square" rtlCol="0">
              <a:spAutoFit/>
            </a:bodyPr>
            <a:lstStyle/>
            <a:p>
              <a:pPr eaLnBrk="1" fontAlgn="auto" hangingPunct="1">
                <a:spcBef>
                  <a:spcPts val="0"/>
                </a:spcBef>
                <a:spcAft>
                  <a:spcPts val="0"/>
                </a:spcAft>
                <a:defRPr/>
              </a:pPr>
              <a:r>
                <a:rPr lang="en-US" sz="1350" dirty="0">
                  <a:solidFill>
                    <a:prstClr val="black"/>
                  </a:solidFill>
                  <a:latin typeface="Calibri"/>
                  <a:ea typeface="+mn-ea"/>
                </a:rPr>
                <a:t>SNMP msg</a:t>
              </a:r>
            </a:p>
          </p:txBody>
        </p:sp>
      </p:grpSp>
      <p:sp>
        <p:nvSpPr>
          <p:cNvPr id="91" name="TextBox 90">
            <a:extLst>
              <a:ext uri="{FF2B5EF4-FFF2-40B4-BE49-F238E27FC236}">
                <a16:creationId xmlns:a16="http://schemas.microsoft.com/office/drawing/2014/main" id="{44FC0E6A-CBE5-AC4B-BF65-426B6D4CBC72}"/>
              </a:ext>
            </a:extLst>
          </p:cNvPr>
          <p:cNvSpPr txBox="1"/>
          <p:nvPr/>
        </p:nvSpPr>
        <p:spPr>
          <a:xfrm>
            <a:off x="3293658" y="2601075"/>
            <a:ext cx="2869092" cy="563231"/>
          </a:xfrm>
          <a:prstGeom prst="rect">
            <a:avLst/>
          </a:prstGeom>
          <a:noFill/>
        </p:spPr>
        <p:txBody>
          <a:bodyPr wrap="square" rtlCol="0">
            <a:spAutoFit/>
          </a:bodyPr>
          <a:lstStyle/>
          <a:p>
            <a:pPr marL="214313" indent="-164306" eaLnBrk="1" fontAlgn="auto" hangingPunct="1">
              <a:lnSpc>
                <a:spcPct val="85000"/>
              </a:lnSpc>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is passed an application-layer message</a:t>
            </a:r>
          </a:p>
        </p:txBody>
      </p:sp>
      <p:sp>
        <p:nvSpPr>
          <p:cNvPr id="94" name="TextBox 93">
            <a:extLst>
              <a:ext uri="{FF2B5EF4-FFF2-40B4-BE49-F238E27FC236}">
                <a16:creationId xmlns:a16="http://schemas.microsoft.com/office/drawing/2014/main" id="{D9421943-E484-5046-BEAC-6D59475EF6C3}"/>
              </a:ext>
            </a:extLst>
          </p:cNvPr>
          <p:cNvSpPr txBox="1"/>
          <p:nvPr/>
        </p:nvSpPr>
        <p:spPr>
          <a:xfrm>
            <a:off x="3291140" y="3100438"/>
            <a:ext cx="2869092" cy="563231"/>
          </a:xfrm>
          <a:prstGeom prst="rect">
            <a:avLst/>
          </a:prstGeom>
          <a:noFill/>
        </p:spPr>
        <p:txBody>
          <a:bodyPr wrap="square" rtlCol="0">
            <a:spAutoFit/>
          </a:bodyPr>
          <a:lstStyle/>
          <a:p>
            <a:pPr marL="214313" indent="-164306" eaLnBrk="1" fontAlgn="auto" hangingPunct="1">
              <a:lnSpc>
                <a:spcPct val="85000"/>
              </a:lnSpc>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determines UDP segment header fields values</a:t>
            </a:r>
          </a:p>
        </p:txBody>
      </p:sp>
      <p:sp>
        <p:nvSpPr>
          <p:cNvPr id="95" name="TextBox 94">
            <a:extLst>
              <a:ext uri="{FF2B5EF4-FFF2-40B4-BE49-F238E27FC236}">
                <a16:creationId xmlns:a16="http://schemas.microsoft.com/office/drawing/2014/main" id="{BFD6C411-175C-8D4E-9A66-3E03AAA9F0F9}"/>
              </a:ext>
            </a:extLst>
          </p:cNvPr>
          <p:cNvSpPr txBox="1"/>
          <p:nvPr/>
        </p:nvSpPr>
        <p:spPr>
          <a:xfrm>
            <a:off x="3282519" y="3551897"/>
            <a:ext cx="2869092" cy="369332"/>
          </a:xfrm>
          <a:prstGeom prst="rect">
            <a:avLst/>
          </a:prstGeom>
          <a:noFill/>
        </p:spPr>
        <p:txBody>
          <a:bodyPr wrap="square" rtlCol="0">
            <a:spAutoFit/>
          </a:bodyPr>
          <a:lstStyle/>
          <a:p>
            <a:pPr marL="214313" indent="-164306" eaLnBrk="1" fontAlgn="auto" hangingPunct="1">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creates UDP segment</a:t>
            </a:r>
          </a:p>
        </p:txBody>
      </p:sp>
      <p:sp>
        <p:nvSpPr>
          <p:cNvPr id="97" name="TextBox 96">
            <a:extLst>
              <a:ext uri="{FF2B5EF4-FFF2-40B4-BE49-F238E27FC236}">
                <a16:creationId xmlns:a16="http://schemas.microsoft.com/office/drawing/2014/main" id="{A88394C2-8FDA-8F48-B59B-B744ABBDA541}"/>
              </a:ext>
            </a:extLst>
          </p:cNvPr>
          <p:cNvSpPr txBox="1"/>
          <p:nvPr/>
        </p:nvSpPr>
        <p:spPr>
          <a:xfrm>
            <a:off x="3286027" y="3876122"/>
            <a:ext cx="2869092" cy="369332"/>
          </a:xfrm>
          <a:prstGeom prst="rect">
            <a:avLst/>
          </a:prstGeom>
          <a:noFill/>
        </p:spPr>
        <p:txBody>
          <a:bodyPr wrap="square" rtlCol="0">
            <a:spAutoFit/>
          </a:bodyPr>
          <a:lstStyle/>
          <a:p>
            <a:pPr marL="214313" indent="-164306" eaLnBrk="1" fontAlgn="auto" hangingPunct="1">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passes segment to IP</a:t>
            </a:r>
          </a:p>
        </p:txBody>
      </p:sp>
      <p:sp>
        <p:nvSpPr>
          <p:cNvPr id="98" name="Rectangle 97">
            <a:extLst>
              <a:ext uri="{FF2B5EF4-FFF2-40B4-BE49-F238E27FC236}">
                <a16:creationId xmlns:a16="http://schemas.microsoft.com/office/drawing/2014/main" id="{EB709716-FAB0-AB45-BCAE-75F8CF2AEC09}"/>
              </a:ext>
            </a:extLst>
          </p:cNvPr>
          <p:cNvSpPr/>
          <p:nvPr/>
        </p:nvSpPr>
        <p:spPr>
          <a:xfrm>
            <a:off x="127000" y="1864783"/>
            <a:ext cx="2792584" cy="330200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dirty="0">
              <a:solidFill>
                <a:prstClr val="white"/>
              </a:solidFill>
            </a:endParaRPr>
          </a:p>
        </p:txBody>
      </p:sp>
      <p:grpSp>
        <p:nvGrpSpPr>
          <p:cNvPr id="106" name="Group 105">
            <a:extLst>
              <a:ext uri="{FF2B5EF4-FFF2-40B4-BE49-F238E27FC236}">
                <a16:creationId xmlns:a16="http://schemas.microsoft.com/office/drawing/2014/main" id="{73FB16D4-A4BA-C046-940D-43D50465EB6F}"/>
              </a:ext>
            </a:extLst>
          </p:cNvPr>
          <p:cNvGrpSpPr/>
          <p:nvPr/>
        </p:nvGrpSpPr>
        <p:grpSpPr>
          <a:xfrm>
            <a:off x="6355167" y="3101628"/>
            <a:ext cx="944306" cy="276999"/>
            <a:chOff x="8964789" y="2639236"/>
            <a:chExt cx="1259074" cy="369332"/>
          </a:xfrm>
        </p:grpSpPr>
        <p:sp>
          <p:nvSpPr>
            <p:cNvPr id="125" name="Rectangle 124">
              <a:extLst>
                <a:ext uri="{FF2B5EF4-FFF2-40B4-BE49-F238E27FC236}">
                  <a16:creationId xmlns:a16="http://schemas.microsoft.com/office/drawing/2014/main" id="{CA58A03E-5455-0E40-8FB9-71E1E5E2CAD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6" name="TextBox 125">
              <a:extLst>
                <a:ext uri="{FF2B5EF4-FFF2-40B4-BE49-F238E27FC236}">
                  <a16:creationId xmlns:a16="http://schemas.microsoft.com/office/drawing/2014/main" id="{97A208B0-D27E-5D40-B156-11CB7075B098}"/>
                </a:ext>
              </a:extLst>
            </p:cNvPr>
            <p:cNvSpPr txBox="1"/>
            <p:nvPr/>
          </p:nvSpPr>
          <p:spPr>
            <a:xfrm>
              <a:off x="8964789" y="2639236"/>
              <a:ext cx="1259074" cy="369332"/>
            </a:xfrm>
            <a:prstGeom prst="rect">
              <a:avLst/>
            </a:prstGeom>
            <a:noFill/>
          </p:spPr>
          <p:txBody>
            <a:bodyPr wrap="square" rtlCol="0">
              <a:spAutoFit/>
            </a:bodyPr>
            <a:lstStyle/>
            <a:p>
              <a:pPr eaLnBrk="1" fontAlgn="auto" hangingPunct="1">
                <a:spcBef>
                  <a:spcPts val="0"/>
                </a:spcBef>
                <a:spcAft>
                  <a:spcPts val="0"/>
                </a:spcAft>
                <a:defRPr/>
              </a:pPr>
              <a:r>
                <a:rPr lang="en-US" sz="1200" dirty="0" err="1">
                  <a:solidFill>
                    <a:prstClr val="black"/>
                  </a:solidFill>
                  <a:latin typeface="Calibri"/>
                  <a:ea typeface="+mn-ea"/>
                </a:rPr>
                <a:t>UDP</a:t>
              </a:r>
              <a:r>
                <a:rPr lang="en-US" sz="1200" baseline="-25000" dirty="0" err="1">
                  <a:solidFill>
                    <a:prstClr val="black"/>
                  </a:solidFill>
                  <a:latin typeface="Calibri"/>
                  <a:ea typeface="+mn-ea"/>
                </a:rPr>
                <a:t>h</a:t>
              </a:r>
              <a:endParaRPr lang="en-US" sz="1200" baseline="-25000" dirty="0">
                <a:solidFill>
                  <a:prstClr val="black"/>
                </a:solidFill>
                <a:latin typeface="Calibri"/>
                <a:ea typeface="+mn-ea"/>
              </a:endParaRPr>
            </a:p>
          </p:txBody>
        </p:sp>
      </p:grpSp>
      <p:grpSp>
        <p:nvGrpSpPr>
          <p:cNvPr id="5" name="Group 4">
            <a:extLst>
              <a:ext uri="{FF2B5EF4-FFF2-40B4-BE49-F238E27FC236}">
                <a16:creationId xmlns:a16="http://schemas.microsoft.com/office/drawing/2014/main" id="{E73E5E98-A439-0647-8DF1-844937CD72A0}"/>
              </a:ext>
            </a:extLst>
          </p:cNvPr>
          <p:cNvGrpSpPr/>
          <p:nvPr/>
        </p:nvGrpSpPr>
        <p:grpSpPr>
          <a:xfrm>
            <a:off x="6408789" y="3109972"/>
            <a:ext cx="1363517" cy="300082"/>
            <a:chOff x="7863122" y="5632673"/>
            <a:chExt cx="1818022" cy="400109"/>
          </a:xfrm>
        </p:grpSpPr>
        <p:grpSp>
          <p:nvGrpSpPr>
            <p:cNvPr id="99" name="Group 98">
              <a:extLst>
                <a:ext uri="{FF2B5EF4-FFF2-40B4-BE49-F238E27FC236}">
                  <a16:creationId xmlns:a16="http://schemas.microsoft.com/office/drawing/2014/main" id="{39CCB6B2-1F81-ED45-AF48-A3187F0215CC}"/>
                </a:ext>
              </a:extLst>
            </p:cNvPr>
            <p:cNvGrpSpPr/>
            <p:nvPr/>
          </p:nvGrpSpPr>
          <p:grpSpPr>
            <a:xfrm>
              <a:off x="7863122" y="5638955"/>
              <a:ext cx="1259074" cy="369332"/>
              <a:chOff x="8964789" y="2648929"/>
              <a:chExt cx="1259074" cy="369332"/>
            </a:xfrm>
          </p:grpSpPr>
          <p:sp>
            <p:nvSpPr>
              <p:cNvPr id="100" name="Rectangle 99">
                <a:extLst>
                  <a:ext uri="{FF2B5EF4-FFF2-40B4-BE49-F238E27FC236}">
                    <a16:creationId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1" name="TextBox 100">
                <a:extLst>
                  <a:ext uri="{FF2B5EF4-FFF2-40B4-BE49-F238E27FC236}">
                    <a16:creationId xmlns:a16="http://schemas.microsoft.com/office/drawing/2014/main" id="{AB8C9E1E-8C93-DA4B-813F-B38E4305D2BE}"/>
                  </a:ext>
                </a:extLst>
              </p:cNvPr>
              <p:cNvSpPr txBox="1"/>
              <p:nvPr/>
            </p:nvSpPr>
            <p:spPr>
              <a:xfrm>
                <a:off x="8964789" y="2648929"/>
                <a:ext cx="1259074" cy="369332"/>
              </a:xfrm>
              <a:prstGeom prst="rect">
                <a:avLst/>
              </a:prstGeom>
              <a:noFill/>
            </p:spPr>
            <p:txBody>
              <a:bodyPr wrap="square" rtlCol="0">
                <a:spAutoFit/>
              </a:bodyPr>
              <a:lstStyle/>
              <a:p>
                <a:pPr eaLnBrk="1" fontAlgn="auto" hangingPunct="1">
                  <a:spcBef>
                    <a:spcPts val="0"/>
                  </a:spcBef>
                  <a:spcAft>
                    <a:spcPts val="0"/>
                  </a:spcAft>
                  <a:defRPr/>
                </a:pPr>
                <a:r>
                  <a:rPr lang="en-US" sz="1200" dirty="0" err="1">
                    <a:solidFill>
                      <a:prstClr val="black"/>
                    </a:solidFill>
                    <a:latin typeface="Calibri"/>
                    <a:ea typeface="+mn-ea"/>
                  </a:rPr>
                  <a:t>UDP</a:t>
                </a:r>
                <a:r>
                  <a:rPr lang="en-US" sz="1200" baseline="-25000" dirty="0" err="1">
                    <a:solidFill>
                      <a:prstClr val="black"/>
                    </a:solidFill>
                    <a:latin typeface="Calibri"/>
                    <a:ea typeface="+mn-ea"/>
                  </a:rPr>
                  <a:t>h</a:t>
                </a:r>
                <a:endParaRPr lang="en-US" sz="1200" baseline="-25000" dirty="0">
                  <a:solidFill>
                    <a:prstClr val="black"/>
                  </a:solidFill>
                  <a:latin typeface="Calibri"/>
                  <a:ea typeface="+mn-ea"/>
                </a:endParaRPr>
              </a:p>
            </p:txBody>
          </p:sp>
        </p:grpSp>
        <p:grpSp>
          <p:nvGrpSpPr>
            <p:cNvPr id="103" name="Group 102">
              <a:extLst>
                <a:ext uri="{FF2B5EF4-FFF2-40B4-BE49-F238E27FC236}">
                  <a16:creationId xmlns:a16="http://schemas.microsoft.com/office/drawing/2014/main" id="{8B56BF3A-3903-6343-9BD8-2E85489C092E}"/>
                </a:ext>
              </a:extLst>
            </p:cNvPr>
            <p:cNvGrpSpPr/>
            <p:nvPr/>
          </p:nvGrpSpPr>
          <p:grpSpPr>
            <a:xfrm>
              <a:off x="8422070" y="5632673"/>
              <a:ext cx="1259074" cy="400109"/>
              <a:chOff x="8934916" y="2778923"/>
              <a:chExt cx="1259074" cy="400109"/>
            </a:xfrm>
          </p:grpSpPr>
          <p:sp>
            <p:nvSpPr>
              <p:cNvPr id="104" name="Rectangle 103">
                <a:extLst>
                  <a:ext uri="{FF2B5EF4-FFF2-40B4-BE49-F238E27FC236}">
                    <a16:creationId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5" name="TextBox 104">
                <a:extLst>
                  <a:ext uri="{FF2B5EF4-FFF2-40B4-BE49-F238E27FC236}">
                    <a16:creationId xmlns:a16="http://schemas.microsoft.com/office/drawing/2014/main" id="{E104975E-6986-5E45-89F2-36AAE86B3B12}"/>
                  </a:ext>
                </a:extLst>
              </p:cNvPr>
              <p:cNvSpPr txBox="1"/>
              <p:nvPr/>
            </p:nvSpPr>
            <p:spPr>
              <a:xfrm>
                <a:off x="8934916" y="2778923"/>
                <a:ext cx="1259074" cy="400109"/>
              </a:xfrm>
              <a:prstGeom prst="rect">
                <a:avLst/>
              </a:prstGeom>
              <a:noFill/>
            </p:spPr>
            <p:txBody>
              <a:bodyPr wrap="square" rtlCol="0">
                <a:spAutoFit/>
              </a:bodyPr>
              <a:lstStyle/>
              <a:p>
                <a:pPr eaLnBrk="1" fontAlgn="auto" hangingPunct="1">
                  <a:spcBef>
                    <a:spcPts val="0"/>
                  </a:spcBef>
                  <a:spcAft>
                    <a:spcPts val="0"/>
                  </a:spcAft>
                  <a:defRPr/>
                </a:pPr>
                <a:r>
                  <a:rPr lang="en-US" sz="1350" dirty="0">
                    <a:solidFill>
                      <a:prstClr val="black"/>
                    </a:solidFill>
                    <a:latin typeface="Calibri"/>
                    <a:ea typeface="+mn-ea"/>
                  </a:rPr>
                  <a:t>SNMP msg</a:t>
                </a:r>
              </a:p>
            </p:txBody>
          </p:sp>
        </p:grpSp>
      </p:grpSp>
      <p:sp>
        <p:nvSpPr>
          <p:cNvPr id="129" name="Slide Number Placeholder 2">
            <a:extLst>
              <a:ext uri="{FF2B5EF4-FFF2-40B4-BE49-F238E27FC236}">
                <a16:creationId xmlns:a16="http://schemas.microsoft.com/office/drawing/2014/main" id="{D1B0B0FD-EB4E-1D48-A59A-E323764428E9}"/>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21</a:t>
            </a:fld>
            <a:endParaRPr lang="en-US" dirty="0">
              <a:solidFill>
                <a:prstClr val="white">
                  <a:lumMod val="50000"/>
                </a:prstClr>
              </a:solidFill>
            </a:endParaRPr>
          </a:p>
        </p:txBody>
      </p:sp>
    </p:spTree>
    <p:extLst>
      <p:ext uri="{BB962C8B-B14F-4D97-AF65-F5344CB8AC3E}">
        <p14:creationId xmlns:p14="http://schemas.microsoft.com/office/powerpoint/2010/main" val="197131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500"/>
                                        <p:tgtEl>
                                          <p:spTgt spid="88"/>
                                        </p:tgtEl>
                                      </p:cBhvr>
                                    </p:animEffect>
                                  </p:childTnLst>
                                </p:cTn>
                              </p:par>
                              <p:par>
                                <p:cTn id="8" presetID="0" presetClass="path" presetSubtype="0" accel="50000" decel="50000" fill="hold" nodeType="withEffect">
                                  <p:stCondLst>
                                    <p:cond delay="0"/>
                                  </p:stCondLst>
                                  <p:childTnLst>
                                    <p:animMotion origin="layout" path="M -6.25E-7 -1.48148E-6 L 0.00065 0.10139 " pathEditMode="relative" rAng="0" ptsTypes="AA">
                                      <p:cBhvr>
                                        <p:cTn id="9" dur="2000" fill="hold"/>
                                        <p:tgtEl>
                                          <p:spTgt spid="88"/>
                                        </p:tgtEl>
                                        <p:attrNameLst>
                                          <p:attrName>ppt_x</p:attrName>
                                          <p:attrName>ppt_y</p:attrName>
                                        </p:attrNameLst>
                                      </p:cBhvr>
                                      <p:rCtr x="26" y="5069"/>
                                    </p:animMotion>
                                  </p:childTnLst>
                                </p:cTn>
                              </p:par>
                              <p:par>
                                <p:cTn id="10" presetID="9" presetClass="entr" presetSubtype="0" fill="hold" grpId="0" nodeType="with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dissolve">
                                      <p:cBhvr>
                                        <p:cTn id="12" dur="500"/>
                                        <p:tgtEl>
                                          <p:spTgt spid="9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6"/>
                                        </p:tgtEl>
                                        <p:attrNameLst>
                                          <p:attrName>style.visibility</p:attrName>
                                        </p:attrNameLst>
                                      </p:cBhvr>
                                      <p:to>
                                        <p:strVal val="visible"/>
                                      </p:to>
                                    </p:set>
                                    <p:animEffect transition="in" filter="dissolve">
                                      <p:cBhvr>
                                        <p:cTn id="17" dur="500"/>
                                        <p:tgtEl>
                                          <p:spTgt spid="10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dissolve">
                                      <p:cBhvr>
                                        <p:cTn id="20" dur="500"/>
                                        <p:tgtEl>
                                          <p:spTgt spid="9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nodeType="clickEffect">
                                  <p:stCondLst>
                                    <p:cond delay="0"/>
                                  </p:stCondLst>
                                  <p:childTnLst>
                                    <p:animEffect transition="out" filter="dissolve">
                                      <p:cBhvr>
                                        <p:cTn id="24" dur="500"/>
                                        <p:tgtEl>
                                          <p:spTgt spid="106"/>
                                        </p:tgtEl>
                                      </p:cBhvr>
                                    </p:animEffect>
                                    <p:set>
                                      <p:cBhvr>
                                        <p:cTn id="25" dur="1" fill="hold">
                                          <p:stCondLst>
                                            <p:cond delay="499"/>
                                          </p:stCondLst>
                                        </p:cTn>
                                        <p:tgtEl>
                                          <p:spTgt spid="106"/>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88"/>
                                        </p:tgtEl>
                                      </p:cBhvr>
                                    </p:animEffect>
                                    <p:set>
                                      <p:cBhvr>
                                        <p:cTn id="28" dur="1" fill="hold">
                                          <p:stCondLst>
                                            <p:cond delay="499"/>
                                          </p:stCondLst>
                                        </p:cTn>
                                        <p:tgtEl>
                                          <p:spTgt spid="88"/>
                                        </p:tgtEl>
                                        <p:attrNameLst>
                                          <p:attrName>style.visibility</p:attrName>
                                        </p:attrNameLst>
                                      </p:cBhvr>
                                      <p:to>
                                        <p:strVal val="hidden"/>
                                      </p:to>
                                    </p:se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dissolve">
                                      <p:cBhvr>
                                        <p:cTn id="32" dur="500"/>
                                        <p:tgtEl>
                                          <p:spTgt spid="5"/>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95"/>
                                        </p:tgtEl>
                                        <p:attrNameLst>
                                          <p:attrName>style.visibility</p:attrName>
                                        </p:attrNameLst>
                                      </p:cBhvr>
                                      <p:to>
                                        <p:strVal val="visible"/>
                                      </p:to>
                                    </p:set>
                                    <p:animEffect transition="in" filter="dissolve">
                                      <p:cBhvr>
                                        <p:cTn id="35" dur="500"/>
                                        <p:tgtEl>
                                          <p:spTgt spid="95"/>
                                        </p:tgtEl>
                                      </p:cBhvr>
                                    </p:animEffect>
                                  </p:childTnLst>
                                </p:cTn>
                              </p:par>
                            </p:childTnLst>
                          </p:cTn>
                        </p:par>
                      </p:childTnLst>
                    </p:cTn>
                  </p:par>
                  <p:par>
                    <p:cTn id="36" fill="hold">
                      <p:stCondLst>
                        <p:cond delay="indefinite"/>
                      </p:stCondLst>
                      <p:childTnLst>
                        <p:par>
                          <p:cTn id="37" fill="hold">
                            <p:stCondLst>
                              <p:cond delay="0"/>
                            </p:stCondLst>
                            <p:childTnLst>
                              <p:par>
                                <p:cTn id="38" presetID="0" presetClass="path" presetSubtype="0" accel="50000" decel="50000" fill="hold" nodeType="clickEffect">
                                  <p:stCondLst>
                                    <p:cond delay="0"/>
                                  </p:stCondLst>
                                  <p:childTnLst>
                                    <p:animMotion origin="layout" path="M -6.25E-7 -4.81481E-6 L 0.00052 0.09306 " pathEditMode="relative" rAng="0" ptsTypes="AA">
                                      <p:cBhvr>
                                        <p:cTn id="39" dur="2000" fill="hold"/>
                                        <p:tgtEl>
                                          <p:spTgt spid="5"/>
                                        </p:tgtEl>
                                        <p:attrNameLst>
                                          <p:attrName>ppt_x</p:attrName>
                                          <p:attrName>ppt_y</p:attrName>
                                        </p:attrNameLst>
                                      </p:cBhvr>
                                      <p:rCtr x="26" y="4653"/>
                                    </p:animMotion>
                                  </p:childTnLst>
                                </p:cTn>
                              </p:par>
                              <p:par>
                                <p:cTn id="40" presetID="9" presetClass="entr" presetSubtype="0" fill="hold" grpId="0" nodeType="withEffect">
                                  <p:stCondLst>
                                    <p:cond delay="0"/>
                                  </p:stCondLst>
                                  <p:childTnLst>
                                    <p:set>
                                      <p:cBhvr>
                                        <p:cTn id="41" dur="1" fill="hold">
                                          <p:stCondLst>
                                            <p:cond delay="0"/>
                                          </p:stCondLst>
                                        </p:cTn>
                                        <p:tgtEl>
                                          <p:spTgt spid="97"/>
                                        </p:tgtEl>
                                        <p:attrNameLst>
                                          <p:attrName>style.visibility</p:attrName>
                                        </p:attrNameLst>
                                      </p:cBhvr>
                                      <p:to>
                                        <p:strVal val="visible"/>
                                      </p:to>
                                    </p:set>
                                    <p:animEffect transition="in" filter="dissolve">
                                      <p:cBhvr>
                                        <p:cTn id="42" dur="500"/>
                                        <p:tgtEl>
                                          <p:spTgt spid="97"/>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nodeType="clickEffect">
                                  <p:stCondLst>
                                    <p:cond delay="0"/>
                                  </p:stCondLst>
                                  <p:childTnLst>
                                    <p:animMotion origin="layout" path="M -6.25E-7 0.09098 L -0.00221 0.25996 L -0.11419 0.32385 L -0.4332 0.31806 L -0.55885 0.275 L -0.55885 0.275 " pathEditMode="relative" ptsTypes="AAAAAA">
                                      <p:cBhvr>
                                        <p:cTn id="46"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4" grpId="0"/>
      <p:bldP spid="95" grpId="0"/>
      <p:bldP spid="9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7721259" y="2482854"/>
            <a:ext cx="667827" cy="218441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640762" y="2549742"/>
            <a:ext cx="634983" cy="219164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8216766" y="4042320"/>
            <a:ext cx="412374" cy="802661"/>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endParaRPr lang="en-US" sz="1800" kern="0">
                <a:solidFill>
                  <a:srgbClr val="000000"/>
                </a:solidFill>
                <a:latin typeface="Tahoma" panose="020B0604030504040204" pitchFamily="34" charset="0"/>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2100" kern="0">
                <a:solidFill>
                  <a:srgbClr val="FF0000"/>
                </a:solidFill>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ahoma" charset="0"/>
                <a:ea typeface="ＭＳ Ｐゴシック" charset="0"/>
              </a:endParaRPr>
            </a:p>
          </p:txBody>
        </p:sp>
      </p:grpSp>
      <p:sp>
        <p:nvSpPr>
          <p:cNvPr id="8" name="TextBox 7">
            <a:extLst>
              <a:ext uri="{FF2B5EF4-FFF2-40B4-BE49-F238E27FC236}">
                <a16:creationId xmlns:a16="http://schemas.microsoft.com/office/drawing/2014/main" id="{95E1F04B-A3B3-534D-A252-A4AC29C657DE}"/>
              </a:ext>
            </a:extLst>
          </p:cNvPr>
          <p:cNvSpPr txBox="1"/>
          <p:nvPr/>
        </p:nvSpPr>
        <p:spPr>
          <a:xfrm>
            <a:off x="6360778" y="2010842"/>
            <a:ext cx="1598386" cy="415498"/>
          </a:xfrm>
          <a:prstGeom prst="rect">
            <a:avLst/>
          </a:prstGeom>
          <a:noFill/>
        </p:spPr>
        <p:txBody>
          <a:bodyPr wrap="none" rtlCol="0">
            <a:spAutoFit/>
          </a:bodyPr>
          <a:lstStyle/>
          <a:p>
            <a:pPr eaLnBrk="1" fontAlgn="auto" hangingPunct="1">
              <a:spcBef>
                <a:spcPts val="0"/>
              </a:spcBef>
              <a:spcAft>
                <a:spcPts val="0"/>
              </a:spcAft>
              <a:defRPr/>
            </a:pPr>
            <a:r>
              <a:rPr lang="en-US" sz="2100" dirty="0">
                <a:solidFill>
                  <a:prstClr val="black"/>
                </a:solidFill>
                <a:latin typeface="Calibri"/>
                <a:ea typeface="+mn-ea"/>
              </a:rPr>
              <a:t>SNMP server</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451490" y="2104298"/>
            <a:ext cx="1514261" cy="415498"/>
          </a:xfrm>
          <a:prstGeom prst="rect">
            <a:avLst/>
          </a:prstGeom>
          <a:noFill/>
        </p:spPr>
        <p:txBody>
          <a:bodyPr wrap="none" rtlCol="0">
            <a:spAutoFit/>
          </a:bodyPr>
          <a:lstStyle/>
          <a:p>
            <a:pPr eaLnBrk="1" fontAlgn="auto" hangingPunct="1">
              <a:spcBef>
                <a:spcPts val="0"/>
              </a:spcBef>
              <a:spcAft>
                <a:spcPts val="0"/>
              </a:spcAft>
              <a:defRPr/>
            </a:pPr>
            <a:r>
              <a:rPr lang="en-US" sz="2100" dirty="0">
                <a:solidFill>
                  <a:prstClr val="black"/>
                </a:solidFill>
                <a:latin typeface="Calibri"/>
                <a:ea typeface="+mn-ea"/>
              </a:rPr>
              <a:t>SNMP client</a:t>
            </a:r>
          </a:p>
        </p:txBody>
      </p:sp>
      <p:grpSp>
        <p:nvGrpSpPr>
          <p:cNvPr id="3" name="Group 2">
            <a:extLst>
              <a:ext uri="{FF2B5EF4-FFF2-40B4-BE49-F238E27FC236}">
                <a16:creationId xmlns:a16="http://schemas.microsoft.com/office/drawing/2014/main" id="{64AFD9EC-1CA1-D34D-965E-2E8D95748C38}"/>
              </a:ext>
            </a:extLst>
          </p:cNvPr>
          <p:cNvGrpSpPr/>
          <p:nvPr/>
        </p:nvGrpSpPr>
        <p:grpSpPr>
          <a:xfrm>
            <a:off x="6382764" y="2415966"/>
            <a:ext cx="1459754" cy="2187358"/>
            <a:chOff x="8091785" y="2078288"/>
            <a:chExt cx="2364905" cy="2916476"/>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a:solidFill>
                  <a:srgbClr val="000000"/>
                </a:solidFill>
                <a:latin typeface="Times New Roman" panose="02020603050405020304" pitchFamily="18" charset="0"/>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kern="0">
                <a:solidFill>
                  <a:srgbClr val="000000"/>
                </a:solidFill>
                <a:latin typeface="Times New Roman" panose="02020603050405020304" pitchFamily="18" charset="0"/>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4" y="2832513"/>
              <a:ext cx="1703276" cy="800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transport</a:t>
              </a:r>
            </a:p>
            <a:p>
              <a:pPr algn="ctr">
                <a:lnSpc>
                  <a:spcPct val="110000"/>
                </a:lnSpc>
                <a:defRPr/>
              </a:pPr>
              <a:r>
                <a:rPr lang="en-US" altLang="en-US" sz="1500" kern="0" dirty="0">
                  <a:solidFill>
                    <a:srgbClr val="000000"/>
                  </a:solidFill>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09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4"/>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1" y="2284368"/>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265828" y="2482854"/>
            <a:ext cx="1598776" cy="2187358"/>
            <a:chOff x="8091785" y="2078288"/>
            <a:chExt cx="2364905" cy="2916476"/>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a:solidFill>
                  <a:srgbClr val="000000"/>
                </a:solidFill>
                <a:latin typeface="Times New Roman" panose="02020603050405020304" pitchFamily="18" charset="0"/>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endParaRPr lang="en-US" altLang="en-US" sz="2700" kern="0">
                <a:solidFill>
                  <a:srgbClr val="000000"/>
                </a:solidFill>
                <a:latin typeface="Times New Roman" panose="02020603050405020304" pitchFamily="18" charset="0"/>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0" name="Text Box 26">
              <a:extLst>
                <a:ext uri="{FF2B5EF4-FFF2-40B4-BE49-F238E27FC236}">
                  <a16:creationId xmlns:a16="http://schemas.microsoft.com/office/drawing/2014/main" id="{09388CA4-5912-3745-991A-9A3E60719DA7}"/>
                </a:ext>
              </a:extLst>
            </p:cNvPr>
            <p:cNvSpPr txBox="1">
              <a:spLocks noChangeArrowheads="1"/>
            </p:cNvSpPr>
            <p:nvPr/>
          </p:nvSpPr>
          <p:spPr bwMode="auto">
            <a:xfrm>
              <a:off x="8376445" y="2832513"/>
              <a:ext cx="1703276" cy="800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transport</a:t>
              </a:r>
            </a:p>
            <a:p>
              <a:pPr algn="ctr">
                <a:lnSpc>
                  <a:spcPct val="110000"/>
                </a:lnSpc>
                <a:defRPr/>
              </a:pPr>
              <a:r>
                <a:rPr lang="en-US" altLang="en-US" sz="1500" kern="0" dirty="0">
                  <a:solidFill>
                    <a:srgbClr val="000000"/>
                  </a:solidFill>
                </a:rPr>
                <a:t>(UDP)</a:t>
              </a: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5" y="453309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5" y="4088344"/>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5" y="3646079"/>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algn="ctr">
                <a:defRPr/>
              </a:pPr>
              <a:endParaRPr lang="en-US" sz="1800" kern="0">
                <a:solidFill>
                  <a:srgbClr val="000000"/>
                </a:solidFill>
                <a:latin typeface="Tahoma" panose="020B0604030504040204" pitchFamily="34" charset="0"/>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39" y="2284368"/>
              <a:ext cx="2019294"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lnSpc>
                  <a:spcPct val="110000"/>
                </a:lnSpc>
                <a:defRPr/>
              </a:pPr>
              <a:r>
                <a:rPr lang="en-US" altLang="en-US" sz="1500" kern="0" dirty="0">
                  <a:solidFill>
                    <a:srgbClr val="000000"/>
                  </a:solidFill>
                </a:rPr>
                <a:t>application</a:t>
              </a:r>
            </a:p>
          </p:txBody>
        </p:sp>
      </p:grpSp>
      <p:grpSp>
        <p:nvGrpSpPr>
          <p:cNvPr id="93" name="Group 92">
            <a:extLst>
              <a:ext uri="{FF2B5EF4-FFF2-40B4-BE49-F238E27FC236}">
                <a16:creationId xmlns:a16="http://schemas.microsoft.com/office/drawing/2014/main" id="{EFA7BEBF-82FA-3440-93DD-AFB07D2DDF8D}"/>
              </a:ext>
            </a:extLst>
          </p:cNvPr>
          <p:cNvGrpSpPr/>
          <p:nvPr/>
        </p:nvGrpSpPr>
        <p:grpSpPr>
          <a:xfrm>
            <a:off x="375551" y="4564935"/>
            <a:ext cx="769892" cy="447865"/>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599018" y="1074244"/>
            <a:ext cx="8325469" cy="670967"/>
          </a:xfrm>
        </p:spPr>
        <p:txBody>
          <a:bodyPr>
            <a:normAutofit/>
          </a:bodyPr>
          <a:lstStyle/>
          <a:p>
            <a:r>
              <a:rPr lang="en-US" dirty="0"/>
              <a:t>UDP: 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1846655" y="2924267"/>
            <a:ext cx="309563" cy="119063"/>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7260858" y="2862457"/>
            <a:ext cx="309563" cy="119063"/>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 name="TextBox 1">
            <a:extLst>
              <a:ext uri="{FF2B5EF4-FFF2-40B4-BE49-F238E27FC236}">
                <a16:creationId xmlns:a16="http://schemas.microsoft.com/office/drawing/2014/main" id="{6B2BB341-9BE1-8640-8E8B-7EC80706964E}"/>
              </a:ext>
            </a:extLst>
          </p:cNvPr>
          <p:cNvSpPr txBox="1"/>
          <p:nvPr/>
        </p:nvSpPr>
        <p:spPr>
          <a:xfrm>
            <a:off x="3159358" y="2230276"/>
            <a:ext cx="2923758" cy="646331"/>
          </a:xfrm>
          <a:prstGeom prst="rect">
            <a:avLst/>
          </a:prstGeom>
          <a:noFill/>
        </p:spPr>
        <p:txBody>
          <a:bodyPr wrap="square" rtlCol="0">
            <a:spAutoFit/>
          </a:bodyPr>
          <a:lstStyle/>
          <a:p>
            <a:pPr eaLnBrk="1" fontAlgn="auto" hangingPunct="1">
              <a:spcBef>
                <a:spcPts val="0"/>
              </a:spcBef>
              <a:spcAft>
                <a:spcPts val="0"/>
              </a:spcAft>
              <a:defRPr/>
            </a:pPr>
            <a:r>
              <a:rPr lang="en-US" sz="2100" dirty="0">
                <a:solidFill>
                  <a:prstClr val="black"/>
                </a:solidFill>
                <a:latin typeface="Calibri"/>
                <a:ea typeface="+mn-ea"/>
              </a:rPr>
              <a:t>UDP receiver actions:</a:t>
            </a:r>
          </a:p>
          <a:p>
            <a:pPr marL="214313" indent="-164306" eaLnBrk="1" fontAlgn="auto" hangingPunct="1">
              <a:spcBef>
                <a:spcPts val="0"/>
              </a:spcBef>
              <a:spcAft>
                <a:spcPts val="0"/>
              </a:spcAft>
              <a:buClr>
                <a:srgbClr val="0200A3"/>
              </a:buClr>
              <a:buFont typeface="Wingdings" pitchFamily="2" charset="2"/>
              <a:buChar char="§"/>
              <a:defRPr/>
            </a:pPr>
            <a:endParaRPr lang="en-US" sz="1500" dirty="0">
              <a:solidFill>
                <a:prstClr val="black"/>
              </a:solidFill>
              <a:latin typeface="Calibri"/>
              <a:ea typeface="+mn-ea"/>
            </a:endParaRPr>
          </a:p>
        </p:txBody>
      </p:sp>
      <p:sp>
        <p:nvSpPr>
          <p:cNvPr id="102" name="Rectangle 101">
            <a:extLst>
              <a:ext uri="{FF2B5EF4-FFF2-40B4-BE49-F238E27FC236}">
                <a16:creationId xmlns:a16="http://schemas.microsoft.com/office/drawing/2014/main" id="{6480FBEB-6DAE-6343-96A8-03D66CDE01DB}"/>
              </a:ext>
            </a:extLst>
          </p:cNvPr>
          <p:cNvSpPr/>
          <p:nvPr/>
        </p:nvSpPr>
        <p:spPr>
          <a:xfrm>
            <a:off x="1241341" y="2477501"/>
            <a:ext cx="1649843" cy="220377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dirty="0">
              <a:solidFill>
                <a:prstClr val="white"/>
              </a:solidFill>
            </a:endParaRPr>
          </a:p>
        </p:txBody>
      </p:sp>
      <p:grpSp>
        <p:nvGrpSpPr>
          <p:cNvPr id="88" name="Group 87">
            <a:extLst>
              <a:ext uri="{FF2B5EF4-FFF2-40B4-BE49-F238E27FC236}">
                <a16:creationId xmlns:a16="http://schemas.microsoft.com/office/drawing/2014/main" id="{CA134BD1-8CE1-DD46-92D0-46AEECA91934}"/>
              </a:ext>
            </a:extLst>
          </p:cNvPr>
          <p:cNvGrpSpPr/>
          <p:nvPr/>
        </p:nvGrpSpPr>
        <p:grpSpPr>
          <a:xfrm>
            <a:off x="1766770" y="3173896"/>
            <a:ext cx="944306" cy="300082"/>
            <a:chOff x="8934916" y="2775692"/>
            <a:chExt cx="1259074" cy="400109"/>
          </a:xfrm>
        </p:grpSpPr>
        <p:sp>
          <p:nvSpPr>
            <p:cNvPr id="89" name="Rectangle 88">
              <a:extLst>
                <a:ext uri="{FF2B5EF4-FFF2-40B4-BE49-F238E27FC236}">
                  <a16:creationId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90" name="TextBox 89">
              <a:extLst>
                <a:ext uri="{FF2B5EF4-FFF2-40B4-BE49-F238E27FC236}">
                  <a16:creationId xmlns:a16="http://schemas.microsoft.com/office/drawing/2014/main" id="{26EE5E72-5714-C64B-A3D2-C89CD03AFF69}"/>
                </a:ext>
              </a:extLst>
            </p:cNvPr>
            <p:cNvSpPr txBox="1"/>
            <p:nvPr/>
          </p:nvSpPr>
          <p:spPr>
            <a:xfrm>
              <a:off x="8934916" y="2775692"/>
              <a:ext cx="1259074" cy="400109"/>
            </a:xfrm>
            <a:prstGeom prst="rect">
              <a:avLst/>
            </a:prstGeom>
            <a:noFill/>
          </p:spPr>
          <p:txBody>
            <a:bodyPr wrap="square" rtlCol="0">
              <a:spAutoFit/>
            </a:bodyPr>
            <a:lstStyle/>
            <a:p>
              <a:pPr eaLnBrk="1" fontAlgn="auto" hangingPunct="1">
                <a:spcBef>
                  <a:spcPts val="0"/>
                </a:spcBef>
                <a:spcAft>
                  <a:spcPts val="0"/>
                </a:spcAft>
                <a:defRPr/>
              </a:pPr>
              <a:r>
                <a:rPr lang="en-US" sz="1350" dirty="0">
                  <a:solidFill>
                    <a:prstClr val="black"/>
                  </a:solidFill>
                  <a:latin typeface="Calibri"/>
                  <a:ea typeface="+mn-ea"/>
                </a:rPr>
                <a:t>SNMP msg</a:t>
              </a:r>
            </a:p>
          </p:txBody>
        </p:sp>
      </p:grpSp>
      <p:sp>
        <p:nvSpPr>
          <p:cNvPr id="91" name="TextBox 90">
            <a:extLst>
              <a:ext uri="{FF2B5EF4-FFF2-40B4-BE49-F238E27FC236}">
                <a16:creationId xmlns:a16="http://schemas.microsoft.com/office/drawing/2014/main" id="{44FC0E6A-CBE5-AC4B-BF65-426B6D4CBC72}"/>
              </a:ext>
            </a:extLst>
          </p:cNvPr>
          <p:cNvSpPr txBox="1"/>
          <p:nvPr/>
        </p:nvSpPr>
        <p:spPr>
          <a:xfrm>
            <a:off x="3285116" y="3350912"/>
            <a:ext cx="2869092" cy="563231"/>
          </a:xfrm>
          <a:prstGeom prst="rect">
            <a:avLst/>
          </a:prstGeom>
          <a:noFill/>
        </p:spPr>
        <p:txBody>
          <a:bodyPr wrap="square" rtlCol="0">
            <a:spAutoFit/>
          </a:bodyPr>
          <a:lstStyle/>
          <a:p>
            <a:pPr marL="214313" indent="-164306" eaLnBrk="1" fontAlgn="auto" hangingPunct="1">
              <a:lnSpc>
                <a:spcPct val="85000"/>
              </a:lnSpc>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extracts application-layer message</a:t>
            </a:r>
          </a:p>
        </p:txBody>
      </p:sp>
      <p:sp>
        <p:nvSpPr>
          <p:cNvPr id="94" name="TextBox 93">
            <a:extLst>
              <a:ext uri="{FF2B5EF4-FFF2-40B4-BE49-F238E27FC236}">
                <a16:creationId xmlns:a16="http://schemas.microsoft.com/office/drawing/2014/main" id="{D9421943-E484-5046-BEAC-6D59475EF6C3}"/>
              </a:ext>
            </a:extLst>
          </p:cNvPr>
          <p:cNvSpPr txBox="1"/>
          <p:nvPr/>
        </p:nvSpPr>
        <p:spPr>
          <a:xfrm>
            <a:off x="3283663" y="2877418"/>
            <a:ext cx="2869092" cy="563231"/>
          </a:xfrm>
          <a:prstGeom prst="rect">
            <a:avLst/>
          </a:prstGeom>
          <a:noFill/>
        </p:spPr>
        <p:txBody>
          <a:bodyPr wrap="square" rtlCol="0">
            <a:spAutoFit/>
          </a:bodyPr>
          <a:lstStyle/>
          <a:p>
            <a:pPr marL="214313" indent="-164306" eaLnBrk="1" fontAlgn="auto" hangingPunct="1">
              <a:lnSpc>
                <a:spcPct val="85000"/>
              </a:lnSpc>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checks UDP checksum header value</a:t>
            </a:r>
          </a:p>
        </p:txBody>
      </p:sp>
      <p:sp>
        <p:nvSpPr>
          <p:cNvPr id="97" name="TextBox 96">
            <a:extLst>
              <a:ext uri="{FF2B5EF4-FFF2-40B4-BE49-F238E27FC236}">
                <a16:creationId xmlns:a16="http://schemas.microsoft.com/office/drawing/2014/main" id="{A88394C2-8FDA-8F48-B59B-B744ABBDA541}"/>
              </a:ext>
            </a:extLst>
          </p:cNvPr>
          <p:cNvSpPr txBox="1"/>
          <p:nvPr/>
        </p:nvSpPr>
        <p:spPr>
          <a:xfrm>
            <a:off x="3291077" y="2565848"/>
            <a:ext cx="2869092" cy="369332"/>
          </a:xfrm>
          <a:prstGeom prst="rect">
            <a:avLst/>
          </a:prstGeom>
          <a:noFill/>
        </p:spPr>
        <p:txBody>
          <a:bodyPr wrap="square" rtlCol="0">
            <a:spAutoFit/>
          </a:bodyPr>
          <a:lstStyle/>
          <a:p>
            <a:pPr marL="214313" indent="-164306" eaLnBrk="1" fontAlgn="auto" hangingPunct="1">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receives segment from IP</a:t>
            </a:r>
          </a:p>
        </p:txBody>
      </p:sp>
      <p:grpSp>
        <p:nvGrpSpPr>
          <p:cNvPr id="5" name="Group 4">
            <a:extLst>
              <a:ext uri="{FF2B5EF4-FFF2-40B4-BE49-F238E27FC236}">
                <a16:creationId xmlns:a16="http://schemas.microsoft.com/office/drawing/2014/main" id="{E73E5E98-A439-0647-8DF1-844937CD72A0}"/>
              </a:ext>
            </a:extLst>
          </p:cNvPr>
          <p:cNvGrpSpPr/>
          <p:nvPr/>
        </p:nvGrpSpPr>
        <p:grpSpPr>
          <a:xfrm>
            <a:off x="1346870" y="3679373"/>
            <a:ext cx="1363517" cy="300082"/>
            <a:chOff x="7863122" y="5632673"/>
            <a:chExt cx="1818022" cy="400109"/>
          </a:xfrm>
        </p:grpSpPr>
        <p:grpSp>
          <p:nvGrpSpPr>
            <p:cNvPr id="99" name="Group 98">
              <a:extLst>
                <a:ext uri="{FF2B5EF4-FFF2-40B4-BE49-F238E27FC236}">
                  <a16:creationId xmlns:a16="http://schemas.microsoft.com/office/drawing/2014/main" id="{39CCB6B2-1F81-ED45-AF48-A3187F0215CC}"/>
                </a:ext>
              </a:extLst>
            </p:cNvPr>
            <p:cNvGrpSpPr/>
            <p:nvPr/>
          </p:nvGrpSpPr>
          <p:grpSpPr>
            <a:xfrm>
              <a:off x="7863122" y="5638955"/>
              <a:ext cx="1259074" cy="369332"/>
              <a:chOff x="8964789" y="2648929"/>
              <a:chExt cx="1259074" cy="369332"/>
            </a:xfrm>
          </p:grpSpPr>
          <p:sp>
            <p:nvSpPr>
              <p:cNvPr id="100" name="Rectangle 99">
                <a:extLst>
                  <a:ext uri="{FF2B5EF4-FFF2-40B4-BE49-F238E27FC236}">
                    <a16:creationId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1" name="TextBox 100">
                <a:extLst>
                  <a:ext uri="{FF2B5EF4-FFF2-40B4-BE49-F238E27FC236}">
                    <a16:creationId xmlns:a16="http://schemas.microsoft.com/office/drawing/2014/main" id="{AB8C9E1E-8C93-DA4B-813F-B38E4305D2BE}"/>
                  </a:ext>
                </a:extLst>
              </p:cNvPr>
              <p:cNvSpPr txBox="1"/>
              <p:nvPr/>
            </p:nvSpPr>
            <p:spPr>
              <a:xfrm>
                <a:off x="8964789" y="2648929"/>
                <a:ext cx="1259074" cy="369332"/>
              </a:xfrm>
              <a:prstGeom prst="rect">
                <a:avLst/>
              </a:prstGeom>
              <a:noFill/>
            </p:spPr>
            <p:txBody>
              <a:bodyPr wrap="square" rtlCol="0">
                <a:spAutoFit/>
              </a:bodyPr>
              <a:lstStyle/>
              <a:p>
                <a:pPr eaLnBrk="1" fontAlgn="auto" hangingPunct="1">
                  <a:spcBef>
                    <a:spcPts val="0"/>
                  </a:spcBef>
                  <a:spcAft>
                    <a:spcPts val="0"/>
                  </a:spcAft>
                  <a:defRPr/>
                </a:pPr>
                <a:r>
                  <a:rPr lang="en-US" sz="1200" dirty="0" err="1">
                    <a:solidFill>
                      <a:prstClr val="black"/>
                    </a:solidFill>
                    <a:latin typeface="Calibri"/>
                    <a:ea typeface="+mn-ea"/>
                  </a:rPr>
                  <a:t>UDP</a:t>
                </a:r>
                <a:r>
                  <a:rPr lang="en-US" sz="1200" baseline="-25000" dirty="0" err="1">
                    <a:solidFill>
                      <a:prstClr val="black"/>
                    </a:solidFill>
                    <a:latin typeface="Calibri"/>
                    <a:ea typeface="+mn-ea"/>
                  </a:rPr>
                  <a:t>h</a:t>
                </a:r>
                <a:endParaRPr lang="en-US" sz="1200" baseline="-25000" dirty="0">
                  <a:solidFill>
                    <a:prstClr val="black"/>
                  </a:solidFill>
                  <a:latin typeface="Calibri"/>
                  <a:ea typeface="+mn-ea"/>
                </a:endParaRPr>
              </a:p>
            </p:txBody>
          </p:sp>
        </p:grpSp>
        <p:grpSp>
          <p:nvGrpSpPr>
            <p:cNvPr id="103" name="Group 102">
              <a:extLst>
                <a:ext uri="{FF2B5EF4-FFF2-40B4-BE49-F238E27FC236}">
                  <a16:creationId xmlns:a16="http://schemas.microsoft.com/office/drawing/2014/main" id="{8B56BF3A-3903-6343-9BD8-2E85489C092E}"/>
                </a:ext>
              </a:extLst>
            </p:cNvPr>
            <p:cNvGrpSpPr/>
            <p:nvPr/>
          </p:nvGrpSpPr>
          <p:grpSpPr>
            <a:xfrm>
              <a:off x="8422070" y="5632673"/>
              <a:ext cx="1259074" cy="400109"/>
              <a:chOff x="8934916" y="2778923"/>
              <a:chExt cx="1259074" cy="400109"/>
            </a:xfrm>
          </p:grpSpPr>
          <p:sp>
            <p:nvSpPr>
              <p:cNvPr id="104" name="Rectangle 103">
                <a:extLst>
                  <a:ext uri="{FF2B5EF4-FFF2-40B4-BE49-F238E27FC236}">
                    <a16:creationId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5" name="TextBox 104">
                <a:extLst>
                  <a:ext uri="{FF2B5EF4-FFF2-40B4-BE49-F238E27FC236}">
                    <a16:creationId xmlns:a16="http://schemas.microsoft.com/office/drawing/2014/main" id="{E104975E-6986-5E45-89F2-36AAE86B3B12}"/>
                  </a:ext>
                </a:extLst>
              </p:cNvPr>
              <p:cNvSpPr txBox="1"/>
              <p:nvPr/>
            </p:nvSpPr>
            <p:spPr>
              <a:xfrm>
                <a:off x="8934916" y="2778923"/>
                <a:ext cx="1259074" cy="400109"/>
              </a:xfrm>
              <a:prstGeom prst="rect">
                <a:avLst/>
              </a:prstGeom>
              <a:noFill/>
            </p:spPr>
            <p:txBody>
              <a:bodyPr wrap="square" rtlCol="0">
                <a:spAutoFit/>
              </a:bodyPr>
              <a:lstStyle/>
              <a:p>
                <a:pPr eaLnBrk="1" fontAlgn="auto" hangingPunct="1">
                  <a:spcBef>
                    <a:spcPts val="0"/>
                  </a:spcBef>
                  <a:spcAft>
                    <a:spcPts val="0"/>
                  </a:spcAft>
                  <a:defRPr/>
                </a:pPr>
                <a:r>
                  <a:rPr lang="en-US" sz="1350" dirty="0">
                    <a:solidFill>
                      <a:prstClr val="black"/>
                    </a:solidFill>
                    <a:latin typeface="Calibri"/>
                    <a:ea typeface="+mn-ea"/>
                  </a:rPr>
                  <a:t>SNMP msg</a:t>
                </a:r>
              </a:p>
            </p:txBody>
          </p:sp>
        </p:grpSp>
      </p:grpSp>
      <p:sp>
        <p:nvSpPr>
          <p:cNvPr id="127" name="TextBox 126">
            <a:extLst>
              <a:ext uri="{FF2B5EF4-FFF2-40B4-BE49-F238E27FC236}">
                <a16:creationId xmlns:a16="http://schemas.microsoft.com/office/drawing/2014/main" id="{5F6FF1BE-CC44-0642-B5BA-79CC246557BD}"/>
              </a:ext>
            </a:extLst>
          </p:cNvPr>
          <p:cNvSpPr txBox="1"/>
          <p:nvPr/>
        </p:nvSpPr>
        <p:spPr>
          <a:xfrm>
            <a:off x="3284650" y="3806561"/>
            <a:ext cx="2869092" cy="563231"/>
          </a:xfrm>
          <a:prstGeom prst="rect">
            <a:avLst/>
          </a:prstGeom>
          <a:noFill/>
        </p:spPr>
        <p:txBody>
          <a:bodyPr wrap="square" rtlCol="0">
            <a:spAutoFit/>
          </a:bodyPr>
          <a:lstStyle/>
          <a:p>
            <a:pPr marL="214313" indent="-164306" eaLnBrk="1" fontAlgn="auto" hangingPunct="1">
              <a:lnSpc>
                <a:spcPct val="85000"/>
              </a:lnSpc>
              <a:spcBef>
                <a:spcPts val="0"/>
              </a:spcBef>
              <a:spcAft>
                <a:spcPts val="0"/>
              </a:spcAft>
              <a:buClr>
                <a:srgbClr val="0200A3"/>
              </a:buClr>
              <a:buFont typeface="Wingdings" pitchFamily="2" charset="2"/>
              <a:buChar char="§"/>
              <a:defRPr/>
            </a:pPr>
            <a:r>
              <a:rPr lang="en-US" sz="1800" dirty="0">
                <a:solidFill>
                  <a:prstClr val="black"/>
                </a:solidFill>
                <a:latin typeface="Calibri"/>
                <a:ea typeface="+mn-ea"/>
              </a:rPr>
              <a:t>demultiplexes message up to application via socket</a:t>
            </a:r>
          </a:p>
        </p:txBody>
      </p:sp>
      <p:sp>
        <p:nvSpPr>
          <p:cNvPr id="128" name="Rectangle 127">
            <a:extLst>
              <a:ext uri="{FF2B5EF4-FFF2-40B4-BE49-F238E27FC236}">
                <a16:creationId xmlns:a16="http://schemas.microsoft.com/office/drawing/2014/main" id="{279B4C12-D49E-4A40-9C38-F2E92ECDF43A}"/>
              </a:ext>
            </a:extLst>
          </p:cNvPr>
          <p:cNvSpPr/>
          <p:nvPr/>
        </p:nvSpPr>
        <p:spPr>
          <a:xfrm>
            <a:off x="6261256" y="2377729"/>
            <a:ext cx="2562402" cy="2477134"/>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dirty="0">
              <a:solidFill>
                <a:prstClr val="white"/>
              </a:solidFill>
            </a:endParaRPr>
          </a:p>
        </p:txBody>
      </p:sp>
      <p:sp>
        <p:nvSpPr>
          <p:cNvPr id="4" name="Oval 3">
            <a:extLst>
              <a:ext uri="{FF2B5EF4-FFF2-40B4-BE49-F238E27FC236}">
                <a16:creationId xmlns:a16="http://schemas.microsoft.com/office/drawing/2014/main" id="{C0F72514-945E-EB40-9BEE-202BF670272C}"/>
              </a:ext>
            </a:extLst>
          </p:cNvPr>
          <p:cNvSpPr/>
          <p:nvPr/>
        </p:nvSpPr>
        <p:spPr>
          <a:xfrm>
            <a:off x="1306025" y="3099121"/>
            <a:ext cx="572375" cy="405773"/>
          </a:xfrm>
          <a:prstGeom prst="ellipse">
            <a:avLst/>
          </a:prstGeom>
          <a:noFill/>
          <a:ln w="2540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cxnSp>
        <p:nvCxnSpPr>
          <p:cNvPr id="129" name="Straight Connector 128">
            <a:extLst>
              <a:ext uri="{FF2B5EF4-FFF2-40B4-BE49-F238E27FC236}">
                <a16:creationId xmlns:a16="http://schemas.microsoft.com/office/drawing/2014/main" id="{55A91E20-BDA5-C441-B395-6979D211F34E}"/>
              </a:ext>
            </a:extLst>
          </p:cNvPr>
          <p:cNvCxnSpPr>
            <a:cxnSpLocks/>
          </p:cNvCxnSpPr>
          <p:nvPr/>
        </p:nvCxnSpPr>
        <p:spPr>
          <a:xfrm flipH="1">
            <a:off x="5979018" y="4587280"/>
            <a:ext cx="1105135" cy="3557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F8285317-4714-1541-BC02-BED132E59B23}"/>
              </a:ext>
            </a:extLst>
          </p:cNvPr>
          <p:cNvCxnSpPr>
            <a:cxnSpLocks/>
          </p:cNvCxnSpPr>
          <p:nvPr/>
        </p:nvCxnSpPr>
        <p:spPr>
          <a:xfrm>
            <a:off x="1934108" y="4654167"/>
            <a:ext cx="1187124" cy="2269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3046891" y="4581500"/>
            <a:ext cx="3027677" cy="771548"/>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a:defRPr/>
            </a:pPr>
            <a:endParaRPr lang="en-US" sz="2100">
              <a:solidFill>
                <a:srgbClr val="000000"/>
              </a:solidFill>
              <a:latin typeface="Calibri"/>
              <a:cs typeface="Arial"/>
            </a:endParaRPr>
          </a:p>
        </p:txBody>
      </p:sp>
      <p:sp>
        <p:nvSpPr>
          <p:cNvPr id="106" name="Slide Number Placeholder 2">
            <a:extLst>
              <a:ext uri="{FF2B5EF4-FFF2-40B4-BE49-F238E27FC236}">
                <a16:creationId xmlns:a16="http://schemas.microsoft.com/office/drawing/2014/main" id="{427E91C8-0248-584A-817F-DE7D57562F29}"/>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22</a:t>
            </a:fld>
            <a:endParaRPr lang="en-US" dirty="0">
              <a:solidFill>
                <a:prstClr val="white">
                  <a:lumMod val="50000"/>
                </a:prstClr>
              </a:solidFill>
            </a:endParaRPr>
          </a:p>
        </p:txBody>
      </p:sp>
    </p:spTree>
    <p:extLst>
      <p:ext uri="{BB962C8B-B14F-4D97-AF65-F5344CB8AC3E}">
        <p14:creationId xmlns:p14="http://schemas.microsoft.com/office/powerpoint/2010/main" val="331987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0014 -0.00208 L 0.00014 -0.09676 " pathEditMode="relative" rAng="0" ptsTypes="AA">
                                      <p:cBhvr>
                                        <p:cTn id="11" dur="2000" fill="hold"/>
                                        <p:tgtEl>
                                          <p:spTgt spid="5"/>
                                        </p:tgtEl>
                                        <p:attrNameLst>
                                          <p:attrName>ppt_x</p:attrName>
                                          <p:attrName>ppt_y</p:attrName>
                                        </p:attrNameLst>
                                      </p:cBhvr>
                                      <p:rCtr x="0" y="-4745"/>
                                    </p:animMotion>
                                  </p:childTnLst>
                                </p:cTn>
                              </p:par>
                              <p:par>
                                <p:cTn id="12" presetID="9" presetClass="entr" presetSubtype="0" fill="hold" grpId="0" nodeType="withEffect">
                                  <p:stCondLst>
                                    <p:cond delay="0"/>
                                  </p:stCondLst>
                                  <p:childTnLst>
                                    <p:set>
                                      <p:cBhvr>
                                        <p:cTn id="13" dur="1" fill="hold">
                                          <p:stCondLst>
                                            <p:cond delay="0"/>
                                          </p:stCondLst>
                                        </p:cTn>
                                        <p:tgtEl>
                                          <p:spTgt spid="97"/>
                                        </p:tgtEl>
                                        <p:attrNameLst>
                                          <p:attrName>style.visibility</p:attrName>
                                        </p:attrNameLst>
                                      </p:cBhvr>
                                      <p:to>
                                        <p:strVal val="visible"/>
                                      </p:to>
                                    </p:set>
                                    <p:animEffect transition="in" filter="dissolve">
                                      <p:cBhvr>
                                        <p:cTn id="14" dur="500"/>
                                        <p:tgtEl>
                                          <p:spTgt spid="97"/>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4"/>
                                        </p:tgtEl>
                                        <p:attrNameLst>
                                          <p:attrName>style.visibility</p:attrName>
                                        </p:attrNameLst>
                                      </p:cBhvr>
                                      <p:to>
                                        <p:strVal val="visible"/>
                                      </p:to>
                                    </p:set>
                                    <p:animEffect transition="in" filter="dissolve">
                                      <p:cBhvr>
                                        <p:cTn id="22" dur="500"/>
                                        <p:tgtEl>
                                          <p:spTgt spid="9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nodeType="clickEffect">
                                  <p:stCondLst>
                                    <p:cond delay="0"/>
                                  </p:stCondLst>
                                  <p:childTnLst>
                                    <p:animEffect transition="out" filter="dissolve">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par>
                                <p:cTn id="28" presetID="9" presetClass="exit" presetSubtype="0" fill="hold" grpId="1" nodeType="withEffect">
                                  <p:stCondLst>
                                    <p:cond delay="0"/>
                                  </p:stCondLst>
                                  <p:childTnLst>
                                    <p:animEffect transition="out" filter="dissolve">
                                      <p:cBhvr>
                                        <p:cTn id="29" dur="500"/>
                                        <p:tgtEl>
                                          <p:spTgt spid="4"/>
                                        </p:tgtEl>
                                      </p:cBhvr>
                                    </p:animEffect>
                                    <p:set>
                                      <p:cBhvr>
                                        <p:cTn id="30" dur="1" fill="hold">
                                          <p:stCondLst>
                                            <p:cond delay="499"/>
                                          </p:stCondLst>
                                        </p:cTn>
                                        <p:tgtEl>
                                          <p:spTgt spid="4"/>
                                        </p:tgtEl>
                                        <p:attrNameLst>
                                          <p:attrName>style.visibility</p:attrName>
                                        </p:attrNameLst>
                                      </p:cBhvr>
                                      <p:to>
                                        <p:strVal val="hidden"/>
                                      </p:to>
                                    </p:set>
                                  </p:childTnLst>
                                </p:cTn>
                              </p:par>
                              <p:par>
                                <p:cTn id="31" presetID="9" presetClass="entr" presetSubtype="0" fill="hold" nodeType="withEffect">
                                  <p:stCondLst>
                                    <p:cond delay="0"/>
                                  </p:stCondLst>
                                  <p:childTnLst>
                                    <p:set>
                                      <p:cBhvr>
                                        <p:cTn id="32" dur="1" fill="hold">
                                          <p:stCondLst>
                                            <p:cond delay="0"/>
                                          </p:stCondLst>
                                        </p:cTn>
                                        <p:tgtEl>
                                          <p:spTgt spid="88"/>
                                        </p:tgtEl>
                                        <p:attrNameLst>
                                          <p:attrName>style.visibility</p:attrName>
                                        </p:attrNameLst>
                                      </p:cBhvr>
                                      <p:to>
                                        <p:strVal val="visible"/>
                                      </p:to>
                                    </p:set>
                                    <p:animEffect transition="in" filter="dissolve">
                                      <p:cBhvr>
                                        <p:cTn id="33" dur="500"/>
                                        <p:tgtEl>
                                          <p:spTgt spid="8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91"/>
                                        </p:tgtEl>
                                        <p:attrNameLst>
                                          <p:attrName>style.visibility</p:attrName>
                                        </p:attrNameLst>
                                      </p:cBhvr>
                                      <p:to>
                                        <p:strVal val="visible"/>
                                      </p:to>
                                    </p:set>
                                    <p:animEffect transition="in" filter="dissolve">
                                      <p:cBhvr>
                                        <p:cTn id="36" dur="500"/>
                                        <p:tgtEl>
                                          <p:spTgt spid="91"/>
                                        </p:tgtEl>
                                      </p:cBhvr>
                                    </p:animEffect>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nodeType="clickEffect">
                                  <p:stCondLst>
                                    <p:cond delay="0"/>
                                  </p:stCondLst>
                                  <p:childTnLst>
                                    <p:animMotion origin="layout" path="M -1.66667E-6 -4.81481E-6 L 0.00013 -0.10763 " pathEditMode="relative" rAng="0" ptsTypes="AA">
                                      <p:cBhvr>
                                        <p:cTn id="40" dur="2000" fill="hold"/>
                                        <p:tgtEl>
                                          <p:spTgt spid="88"/>
                                        </p:tgtEl>
                                        <p:attrNameLst>
                                          <p:attrName>ppt_x</p:attrName>
                                          <p:attrName>ppt_y</p:attrName>
                                        </p:attrNameLst>
                                      </p:cBhvr>
                                      <p:rCtr x="0" y="-5394"/>
                                    </p:animMotion>
                                  </p:childTnLst>
                                </p:cTn>
                              </p:par>
                              <p:par>
                                <p:cTn id="41" presetID="9" presetClass="entr" presetSubtype="0" fill="hold" grpId="0" nodeType="withEffect">
                                  <p:stCondLst>
                                    <p:cond delay="0"/>
                                  </p:stCondLst>
                                  <p:childTnLst>
                                    <p:set>
                                      <p:cBhvr>
                                        <p:cTn id="42" dur="1" fill="hold">
                                          <p:stCondLst>
                                            <p:cond delay="0"/>
                                          </p:stCondLst>
                                        </p:cTn>
                                        <p:tgtEl>
                                          <p:spTgt spid="127"/>
                                        </p:tgtEl>
                                        <p:attrNameLst>
                                          <p:attrName>style.visibility</p:attrName>
                                        </p:attrNameLst>
                                      </p:cBhvr>
                                      <p:to>
                                        <p:strVal val="visible"/>
                                      </p:to>
                                    </p:set>
                                    <p:animEffect transition="in" filter="dissolve">
                                      <p:cBhvr>
                                        <p:cTn id="43"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4" grpId="0"/>
      <p:bldP spid="97" grpId="0"/>
      <p:bldP spid="127" grpId="0"/>
      <p:bldP spid="4" grpId="0" animBg="1"/>
      <p:bldP spid="4"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UDP segment header</a:t>
            </a:r>
          </a:p>
        </p:txBody>
      </p:sp>
      <p:sp>
        <p:nvSpPr>
          <p:cNvPr id="29" name="Rectangle 8">
            <a:extLst>
              <a:ext uri="{FF2B5EF4-FFF2-40B4-BE49-F238E27FC236}">
                <a16:creationId xmlns:a16="http://schemas.microsoft.com/office/drawing/2014/main" id="{F52AC6CB-EA5F-E34E-A84B-F6174293B55F}"/>
              </a:ext>
            </a:extLst>
          </p:cNvPr>
          <p:cNvSpPr>
            <a:spLocks noChangeArrowheads="1"/>
          </p:cNvSpPr>
          <p:nvPr/>
        </p:nvSpPr>
        <p:spPr bwMode="auto">
          <a:xfrm>
            <a:off x="2926725" y="2370535"/>
            <a:ext cx="2493169" cy="2400300"/>
          </a:xfrm>
          <a:prstGeom prst="rect">
            <a:avLst/>
          </a:prstGeom>
          <a:solidFill>
            <a:srgbClr val="FFFFFF"/>
          </a:solidFill>
          <a:ln w="349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Times New Roman" charset="0"/>
              <a:ea typeface="ＭＳ Ｐゴシック" charset="0"/>
            </a:endParaRPr>
          </a:p>
        </p:txBody>
      </p:sp>
      <p:sp>
        <p:nvSpPr>
          <p:cNvPr id="30" name="Text Box 9">
            <a:extLst>
              <a:ext uri="{FF2B5EF4-FFF2-40B4-BE49-F238E27FC236}">
                <a16:creationId xmlns:a16="http://schemas.microsoft.com/office/drawing/2014/main" id="{C8E7AF66-85A4-6B43-AFFD-45ABC0217297}"/>
              </a:ext>
            </a:extLst>
          </p:cNvPr>
          <p:cNvSpPr txBox="1">
            <a:spLocks noChangeArrowheads="1"/>
          </p:cNvSpPr>
          <p:nvPr/>
        </p:nvSpPr>
        <p:spPr bwMode="auto">
          <a:xfrm>
            <a:off x="2926357" y="2380060"/>
            <a:ext cx="1233031"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a:solidFill>
                  <a:srgbClr val="000000"/>
                </a:solidFill>
              </a:rPr>
              <a:t>source port #</a:t>
            </a:r>
            <a:endParaRPr lang="en-US" sz="1800" kern="0">
              <a:solidFill>
                <a:srgbClr val="000000"/>
              </a:solidFill>
            </a:endParaRPr>
          </a:p>
        </p:txBody>
      </p:sp>
      <p:sp>
        <p:nvSpPr>
          <p:cNvPr id="31" name="Text Box 10">
            <a:extLst>
              <a:ext uri="{FF2B5EF4-FFF2-40B4-BE49-F238E27FC236}">
                <a16:creationId xmlns:a16="http://schemas.microsoft.com/office/drawing/2014/main" id="{2F2912E8-AD40-5541-9C73-5856C97AF53A}"/>
              </a:ext>
            </a:extLst>
          </p:cNvPr>
          <p:cNvSpPr txBox="1">
            <a:spLocks noChangeArrowheads="1"/>
          </p:cNvSpPr>
          <p:nvPr/>
        </p:nvSpPr>
        <p:spPr bwMode="auto">
          <a:xfrm>
            <a:off x="4267473" y="2380060"/>
            <a:ext cx="1053494"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a:solidFill>
                  <a:srgbClr val="000000"/>
                </a:solidFill>
              </a:rPr>
              <a:t>dest port #</a:t>
            </a:r>
          </a:p>
        </p:txBody>
      </p:sp>
      <p:sp>
        <p:nvSpPr>
          <p:cNvPr id="32" name="Line 11">
            <a:extLst>
              <a:ext uri="{FF2B5EF4-FFF2-40B4-BE49-F238E27FC236}">
                <a16:creationId xmlns:a16="http://schemas.microsoft.com/office/drawing/2014/main" id="{D9BFD291-F38C-E245-812B-D4A7B44A296C}"/>
              </a:ext>
            </a:extLst>
          </p:cNvPr>
          <p:cNvSpPr>
            <a:spLocks noChangeShapeType="1"/>
          </p:cNvSpPr>
          <p:nvPr/>
        </p:nvSpPr>
        <p:spPr bwMode="auto">
          <a:xfrm flipV="1">
            <a:off x="2919581" y="2670572"/>
            <a:ext cx="2496741"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33" name="Line 12">
            <a:extLst>
              <a:ext uri="{FF2B5EF4-FFF2-40B4-BE49-F238E27FC236}">
                <a16:creationId xmlns:a16="http://schemas.microsoft.com/office/drawing/2014/main" id="{3CE7F4CE-E33B-FD4E-B07F-F5A9DE98853E}"/>
              </a:ext>
            </a:extLst>
          </p:cNvPr>
          <p:cNvSpPr>
            <a:spLocks noChangeShapeType="1"/>
          </p:cNvSpPr>
          <p:nvPr/>
        </p:nvSpPr>
        <p:spPr bwMode="auto">
          <a:xfrm flipV="1">
            <a:off x="2912437" y="2970610"/>
            <a:ext cx="2493169"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34" name="Line 13">
            <a:extLst>
              <a:ext uri="{FF2B5EF4-FFF2-40B4-BE49-F238E27FC236}">
                <a16:creationId xmlns:a16="http://schemas.microsoft.com/office/drawing/2014/main" id="{F55DFF34-EECA-F046-9F88-B6CF84CB8E0C}"/>
              </a:ext>
            </a:extLst>
          </p:cNvPr>
          <p:cNvSpPr>
            <a:spLocks noChangeShapeType="1"/>
          </p:cNvSpPr>
          <p:nvPr/>
        </p:nvSpPr>
        <p:spPr bwMode="auto">
          <a:xfrm flipV="1">
            <a:off x="4155449" y="2370535"/>
            <a:ext cx="0" cy="29646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35" name="Text Box 14">
            <a:extLst>
              <a:ext uri="{FF2B5EF4-FFF2-40B4-BE49-F238E27FC236}">
                <a16:creationId xmlns:a16="http://schemas.microsoft.com/office/drawing/2014/main" id="{99267DCE-8159-FC45-B743-B474F3D4558D}"/>
              </a:ext>
            </a:extLst>
          </p:cNvPr>
          <p:cNvSpPr txBox="1">
            <a:spLocks noChangeArrowheads="1"/>
          </p:cNvSpPr>
          <p:nvPr/>
        </p:nvSpPr>
        <p:spPr bwMode="auto">
          <a:xfrm>
            <a:off x="3759121" y="2021682"/>
            <a:ext cx="756938" cy="3231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a:solidFill>
                  <a:srgbClr val="000000"/>
                </a:solidFill>
              </a:rPr>
              <a:t>32 bits</a:t>
            </a:r>
          </a:p>
        </p:txBody>
      </p:sp>
      <p:sp>
        <p:nvSpPr>
          <p:cNvPr id="36" name="Line 15">
            <a:extLst>
              <a:ext uri="{FF2B5EF4-FFF2-40B4-BE49-F238E27FC236}">
                <a16:creationId xmlns:a16="http://schemas.microsoft.com/office/drawing/2014/main" id="{8D62C2C2-8FA0-A54C-8811-9A937D96CD04}"/>
              </a:ext>
            </a:extLst>
          </p:cNvPr>
          <p:cNvSpPr>
            <a:spLocks noChangeShapeType="1"/>
          </p:cNvSpPr>
          <p:nvPr/>
        </p:nvSpPr>
        <p:spPr bwMode="auto">
          <a:xfrm>
            <a:off x="4498349" y="2195513"/>
            <a:ext cx="900113" cy="3572"/>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37" name="Line 16">
            <a:extLst>
              <a:ext uri="{FF2B5EF4-FFF2-40B4-BE49-F238E27FC236}">
                <a16:creationId xmlns:a16="http://schemas.microsoft.com/office/drawing/2014/main" id="{DE702B00-23E1-474A-9072-DDEE50F76714}"/>
              </a:ext>
            </a:extLst>
          </p:cNvPr>
          <p:cNvSpPr>
            <a:spLocks noChangeShapeType="1"/>
          </p:cNvSpPr>
          <p:nvPr/>
        </p:nvSpPr>
        <p:spPr bwMode="auto">
          <a:xfrm rot="10800000">
            <a:off x="2916009" y="2202656"/>
            <a:ext cx="846534"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38" name="Text Box 17">
            <a:extLst>
              <a:ext uri="{FF2B5EF4-FFF2-40B4-BE49-F238E27FC236}">
                <a16:creationId xmlns:a16="http://schemas.microsoft.com/office/drawing/2014/main" id="{7A899027-0169-0E41-A632-97B068C6DCF8}"/>
              </a:ext>
            </a:extLst>
          </p:cNvPr>
          <p:cNvSpPr txBox="1">
            <a:spLocks noChangeArrowheads="1"/>
          </p:cNvSpPr>
          <p:nvPr/>
        </p:nvSpPr>
        <p:spPr bwMode="auto">
          <a:xfrm>
            <a:off x="3533861" y="3389710"/>
            <a:ext cx="1091967" cy="78483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a:solidFill>
                  <a:srgbClr val="000000"/>
                </a:solidFill>
              </a:rPr>
              <a:t>application</a:t>
            </a:r>
          </a:p>
          <a:p>
            <a:pPr algn="ctr">
              <a:defRPr/>
            </a:pPr>
            <a:r>
              <a:rPr lang="en-US" sz="1500" kern="0">
                <a:solidFill>
                  <a:srgbClr val="000000"/>
                </a:solidFill>
              </a:rPr>
              <a:t>data </a:t>
            </a:r>
          </a:p>
          <a:p>
            <a:pPr algn="ctr">
              <a:defRPr/>
            </a:pPr>
            <a:r>
              <a:rPr lang="en-US" sz="1500" kern="0">
                <a:solidFill>
                  <a:srgbClr val="000000"/>
                </a:solidFill>
              </a:rPr>
              <a:t>(payload)</a:t>
            </a:r>
            <a:endParaRPr lang="en-US" sz="1800" kern="0">
              <a:solidFill>
                <a:srgbClr val="000000"/>
              </a:solidFill>
            </a:endParaRPr>
          </a:p>
        </p:txBody>
      </p:sp>
      <p:sp>
        <p:nvSpPr>
          <p:cNvPr id="39" name="Text Box 19">
            <a:extLst>
              <a:ext uri="{FF2B5EF4-FFF2-40B4-BE49-F238E27FC236}">
                <a16:creationId xmlns:a16="http://schemas.microsoft.com/office/drawing/2014/main" id="{CD850B08-5706-0344-961A-224002B37BA6}"/>
              </a:ext>
            </a:extLst>
          </p:cNvPr>
          <p:cNvSpPr txBox="1">
            <a:spLocks noChangeArrowheads="1"/>
          </p:cNvSpPr>
          <p:nvPr/>
        </p:nvSpPr>
        <p:spPr bwMode="auto">
          <a:xfrm>
            <a:off x="3221901" y="4826794"/>
            <a:ext cx="1957587" cy="3231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a:solidFill>
                  <a:srgbClr val="000000"/>
                </a:solidFill>
              </a:rPr>
              <a:t>UDP segment format</a:t>
            </a:r>
            <a:endParaRPr lang="en-US" sz="1800" kern="0">
              <a:solidFill>
                <a:srgbClr val="000000"/>
              </a:solidFill>
            </a:endParaRPr>
          </a:p>
        </p:txBody>
      </p:sp>
      <p:sp>
        <p:nvSpPr>
          <p:cNvPr id="40" name="Line 20">
            <a:extLst>
              <a:ext uri="{FF2B5EF4-FFF2-40B4-BE49-F238E27FC236}">
                <a16:creationId xmlns:a16="http://schemas.microsoft.com/office/drawing/2014/main" id="{23E18502-A4AB-B441-8247-C60D9AD14D77}"/>
              </a:ext>
            </a:extLst>
          </p:cNvPr>
          <p:cNvSpPr>
            <a:spLocks noChangeShapeType="1"/>
          </p:cNvSpPr>
          <p:nvPr/>
        </p:nvSpPr>
        <p:spPr bwMode="auto">
          <a:xfrm flipV="1">
            <a:off x="4155449" y="2677717"/>
            <a:ext cx="0" cy="29646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41" name="Text Box 22">
            <a:extLst>
              <a:ext uri="{FF2B5EF4-FFF2-40B4-BE49-F238E27FC236}">
                <a16:creationId xmlns:a16="http://schemas.microsoft.com/office/drawing/2014/main" id="{7C44E6B5-339B-1741-B9C3-A1E3E37268B0}"/>
              </a:ext>
            </a:extLst>
          </p:cNvPr>
          <p:cNvSpPr txBox="1">
            <a:spLocks noChangeArrowheads="1"/>
          </p:cNvSpPr>
          <p:nvPr/>
        </p:nvSpPr>
        <p:spPr bwMode="auto">
          <a:xfrm>
            <a:off x="3187880" y="2672953"/>
            <a:ext cx="662361"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a:solidFill>
                  <a:srgbClr val="000000"/>
                </a:solidFill>
              </a:rPr>
              <a:t>length</a:t>
            </a:r>
            <a:endParaRPr lang="en-US" sz="1800" kern="0">
              <a:solidFill>
                <a:srgbClr val="000000"/>
              </a:solidFill>
            </a:endParaRPr>
          </a:p>
        </p:txBody>
      </p:sp>
      <p:sp>
        <p:nvSpPr>
          <p:cNvPr id="42" name="Text Box 23">
            <a:extLst>
              <a:ext uri="{FF2B5EF4-FFF2-40B4-BE49-F238E27FC236}">
                <a16:creationId xmlns:a16="http://schemas.microsoft.com/office/drawing/2014/main" id="{47FFCC22-7372-6744-AEF8-0A8B78529255}"/>
              </a:ext>
            </a:extLst>
          </p:cNvPr>
          <p:cNvSpPr txBox="1">
            <a:spLocks noChangeArrowheads="1"/>
          </p:cNvSpPr>
          <p:nvPr/>
        </p:nvSpPr>
        <p:spPr bwMode="auto">
          <a:xfrm>
            <a:off x="4345422" y="2665810"/>
            <a:ext cx="938078"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dirty="0">
                <a:solidFill>
                  <a:srgbClr val="000000"/>
                </a:solidFill>
              </a:rPr>
              <a:t>checksum</a:t>
            </a:r>
            <a:endParaRPr lang="en-US" sz="1800" kern="0" dirty="0">
              <a:solidFill>
                <a:srgbClr val="000000"/>
              </a:solidFill>
            </a:endParaRPr>
          </a:p>
        </p:txBody>
      </p:sp>
      <p:sp>
        <p:nvSpPr>
          <p:cNvPr id="43" name="Text Box 24">
            <a:extLst>
              <a:ext uri="{FF2B5EF4-FFF2-40B4-BE49-F238E27FC236}">
                <a16:creationId xmlns:a16="http://schemas.microsoft.com/office/drawing/2014/main" id="{485622D4-EF6A-C34A-A27B-A6B8F83BC672}"/>
              </a:ext>
            </a:extLst>
          </p:cNvPr>
          <p:cNvSpPr txBox="1">
            <a:spLocks noChangeArrowheads="1"/>
          </p:cNvSpPr>
          <p:nvPr/>
        </p:nvSpPr>
        <p:spPr bwMode="auto">
          <a:xfrm>
            <a:off x="5717548" y="3423643"/>
            <a:ext cx="1804988" cy="7155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1350" kern="0" dirty="0">
                <a:solidFill>
                  <a:srgbClr val="000000"/>
                </a:solidFill>
              </a:rPr>
              <a:t>length, in bytes of UDP segment, including header</a:t>
            </a:r>
            <a:endParaRPr lang="en-US" sz="1800" kern="0" dirty="0">
              <a:solidFill>
                <a:srgbClr val="000000"/>
              </a:solidFill>
            </a:endParaRPr>
          </a:p>
        </p:txBody>
      </p:sp>
      <p:sp>
        <p:nvSpPr>
          <p:cNvPr id="44" name="Line 25">
            <a:extLst>
              <a:ext uri="{FF2B5EF4-FFF2-40B4-BE49-F238E27FC236}">
                <a16:creationId xmlns:a16="http://schemas.microsoft.com/office/drawing/2014/main" id="{1D6A5808-0448-DB49-AF97-08E63607B4AB}"/>
              </a:ext>
            </a:extLst>
          </p:cNvPr>
          <p:cNvSpPr>
            <a:spLocks noChangeShapeType="1"/>
          </p:cNvSpPr>
          <p:nvPr/>
        </p:nvSpPr>
        <p:spPr bwMode="auto">
          <a:xfrm flipH="1" flipV="1">
            <a:off x="3856602" y="2805112"/>
            <a:ext cx="2334868" cy="96404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5" name="Oval 4">
            <a:extLst>
              <a:ext uri="{FF2B5EF4-FFF2-40B4-BE49-F238E27FC236}">
                <a16:creationId xmlns:a16="http://schemas.microsoft.com/office/drawing/2014/main" id="{2155F1E7-7CEF-EC4F-9C9D-C612D6BAA462}"/>
              </a:ext>
            </a:extLst>
          </p:cNvPr>
          <p:cNvSpPr/>
          <p:nvPr/>
        </p:nvSpPr>
        <p:spPr>
          <a:xfrm>
            <a:off x="2771356" y="2325160"/>
            <a:ext cx="1573403" cy="400852"/>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6" name="Oval 25">
            <a:extLst>
              <a:ext uri="{FF2B5EF4-FFF2-40B4-BE49-F238E27FC236}">
                <a16:creationId xmlns:a16="http://schemas.microsoft.com/office/drawing/2014/main" id="{BE69DAA7-4CE3-5A48-B429-6D40B6035291}"/>
              </a:ext>
            </a:extLst>
          </p:cNvPr>
          <p:cNvSpPr/>
          <p:nvPr/>
        </p:nvSpPr>
        <p:spPr>
          <a:xfrm>
            <a:off x="3998287" y="2323656"/>
            <a:ext cx="1573403" cy="400852"/>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7" name="Oval 26">
            <a:extLst>
              <a:ext uri="{FF2B5EF4-FFF2-40B4-BE49-F238E27FC236}">
                <a16:creationId xmlns:a16="http://schemas.microsoft.com/office/drawing/2014/main" id="{AF8B7A60-8E66-CD4B-B67F-657454C69C5D}"/>
              </a:ext>
            </a:extLst>
          </p:cNvPr>
          <p:cNvSpPr/>
          <p:nvPr/>
        </p:nvSpPr>
        <p:spPr>
          <a:xfrm>
            <a:off x="2742781" y="2629351"/>
            <a:ext cx="1573403" cy="400852"/>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48" name="Oval 47">
            <a:extLst>
              <a:ext uri="{FF2B5EF4-FFF2-40B4-BE49-F238E27FC236}">
                <a16:creationId xmlns:a16="http://schemas.microsoft.com/office/drawing/2014/main" id="{AE79E99F-83A4-EE4E-9BAB-1946BFD0A4A1}"/>
              </a:ext>
            </a:extLst>
          </p:cNvPr>
          <p:cNvSpPr/>
          <p:nvPr/>
        </p:nvSpPr>
        <p:spPr>
          <a:xfrm>
            <a:off x="3967632" y="2613172"/>
            <a:ext cx="1573403" cy="400852"/>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49" name="Oval 48">
            <a:extLst>
              <a:ext uri="{FF2B5EF4-FFF2-40B4-BE49-F238E27FC236}">
                <a16:creationId xmlns:a16="http://schemas.microsoft.com/office/drawing/2014/main" id="{2AA4BE2E-C7FD-E34F-9626-C89B0B4F43FB}"/>
              </a:ext>
            </a:extLst>
          </p:cNvPr>
          <p:cNvSpPr/>
          <p:nvPr/>
        </p:nvSpPr>
        <p:spPr>
          <a:xfrm>
            <a:off x="3290100" y="3218780"/>
            <a:ext cx="1573403" cy="1170533"/>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50" name="Line 25">
            <a:extLst>
              <a:ext uri="{FF2B5EF4-FFF2-40B4-BE49-F238E27FC236}">
                <a16:creationId xmlns:a16="http://schemas.microsoft.com/office/drawing/2014/main" id="{F10F9304-7E0A-6542-A023-9D119B25A076}"/>
              </a:ext>
            </a:extLst>
          </p:cNvPr>
          <p:cNvSpPr>
            <a:spLocks noChangeShapeType="1"/>
          </p:cNvSpPr>
          <p:nvPr/>
        </p:nvSpPr>
        <p:spPr bwMode="auto">
          <a:xfrm flipH="1" flipV="1">
            <a:off x="4436402" y="3836553"/>
            <a:ext cx="2334868" cy="96404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51" name="Text Box 24">
            <a:extLst>
              <a:ext uri="{FF2B5EF4-FFF2-40B4-BE49-F238E27FC236}">
                <a16:creationId xmlns:a16="http://schemas.microsoft.com/office/drawing/2014/main" id="{E81BCD01-79B1-A943-81E4-83B20B558C90}"/>
              </a:ext>
            </a:extLst>
          </p:cNvPr>
          <p:cNvSpPr txBox="1">
            <a:spLocks noChangeArrowheads="1"/>
          </p:cNvSpPr>
          <p:nvPr/>
        </p:nvSpPr>
        <p:spPr bwMode="auto">
          <a:xfrm>
            <a:off x="6024695" y="4584420"/>
            <a:ext cx="1804988" cy="5078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1350" kern="0" dirty="0">
                <a:solidFill>
                  <a:srgbClr val="000000"/>
                </a:solidFill>
              </a:rPr>
              <a:t>data to/from application layer</a:t>
            </a:r>
            <a:endParaRPr lang="en-US" sz="1800" kern="0" dirty="0">
              <a:solidFill>
                <a:srgbClr val="000000"/>
              </a:solidFill>
            </a:endParaRPr>
          </a:p>
        </p:txBody>
      </p:sp>
      <p:sp>
        <p:nvSpPr>
          <p:cNvPr id="28" name="Slide Number Placeholder 2">
            <a:extLst>
              <a:ext uri="{FF2B5EF4-FFF2-40B4-BE49-F238E27FC236}">
                <a16:creationId xmlns:a16="http://schemas.microsoft.com/office/drawing/2014/main" id="{43CF0894-FFF1-6D45-9D05-752E85B0BFC5}"/>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23</a:t>
            </a:fld>
            <a:endParaRPr lang="en-US" dirty="0">
              <a:solidFill>
                <a:prstClr val="white">
                  <a:lumMod val="50000"/>
                </a:prstClr>
              </a:solidFill>
            </a:endParaRPr>
          </a:p>
        </p:txBody>
      </p:sp>
    </p:spTree>
    <p:extLst>
      <p:ext uri="{BB962C8B-B14F-4D97-AF65-F5344CB8AC3E}">
        <p14:creationId xmlns:p14="http://schemas.microsoft.com/office/powerpoint/2010/main" val="1835121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dissolv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dissolve">
                                      <p:cBhvr>
                                        <p:cTn id="15" dur="500"/>
                                        <p:tgtEl>
                                          <p:spTgt spid="2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dissolve">
                                      <p:cBhvr>
                                        <p:cTn id="18" dur="500"/>
                                        <p:tgtEl>
                                          <p:spTgt spid="44"/>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dissolve">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dissolve">
                                      <p:cBhvr>
                                        <p:cTn id="26" dur="500"/>
                                        <p:tgtEl>
                                          <p:spTgt spid="49"/>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dissolve">
                                      <p:cBhvr>
                                        <p:cTn id="29" dur="500"/>
                                        <p:tgtEl>
                                          <p:spTgt spid="5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dissolve">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animBg="1"/>
      <p:bldP spid="5" grpId="0" animBg="1"/>
      <p:bldP spid="26" grpId="0" animBg="1"/>
      <p:bldP spid="27" grpId="0" animBg="1"/>
      <p:bldP spid="48" grpId="0" animBg="1"/>
      <p:bldP spid="49" grpId="0" animBg="1"/>
      <p:bldP spid="50" grpId="0" animBg="1"/>
      <p:bldP spid="5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UDP checksum</a:t>
            </a:r>
          </a:p>
        </p:txBody>
      </p:sp>
      <p:sp>
        <p:nvSpPr>
          <p:cNvPr id="48" name="Rectangle 4">
            <a:extLst>
              <a:ext uri="{FF2B5EF4-FFF2-40B4-BE49-F238E27FC236}">
                <a16:creationId xmlns:a16="http://schemas.microsoft.com/office/drawing/2014/main" id="{673A6B1C-AEDF-5947-AFDF-9232983233A4}"/>
              </a:ext>
            </a:extLst>
          </p:cNvPr>
          <p:cNvSpPr txBox="1">
            <a:spLocks noChangeArrowheads="1"/>
          </p:cNvSpPr>
          <p:nvPr/>
        </p:nvSpPr>
        <p:spPr>
          <a:xfrm>
            <a:off x="953147" y="2846845"/>
            <a:ext cx="7680984" cy="430079"/>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7631" indent="0" defTabSz="685800" fontAlgn="auto">
              <a:spcBef>
                <a:spcPts val="750"/>
              </a:spcBef>
              <a:spcAft>
                <a:spcPts val="0"/>
              </a:spcAft>
              <a:buNone/>
              <a:defRPr/>
            </a:pPr>
            <a:r>
              <a:rPr lang="en-US" altLang="en-US" sz="2100" dirty="0">
                <a:solidFill>
                  <a:prstClr val="black"/>
                </a:solidFill>
                <a:latin typeface="Calibri" panose="020F0502020204030204"/>
                <a:ea typeface="ＭＳ Ｐゴシック" panose="020B0600070205080204" pitchFamily="34" charset="-128"/>
              </a:rPr>
              <a:t>Transmitted:            5               6                11</a:t>
            </a:r>
          </a:p>
        </p:txBody>
      </p:sp>
      <p:sp>
        <p:nvSpPr>
          <p:cNvPr id="49" name="Rectangle 5">
            <a:extLst>
              <a:ext uri="{FF2B5EF4-FFF2-40B4-BE49-F238E27FC236}">
                <a16:creationId xmlns:a16="http://schemas.microsoft.com/office/drawing/2014/main" id="{F6F1E6ED-F1FB-7542-8156-6A1C186D48CB}"/>
              </a:ext>
            </a:extLst>
          </p:cNvPr>
          <p:cNvSpPr>
            <a:spLocks noChangeArrowheads="1"/>
          </p:cNvSpPr>
          <p:nvPr/>
        </p:nvSpPr>
        <p:spPr bwMode="auto">
          <a:xfrm>
            <a:off x="599018" y="1885665"/>
            <a:ext cx="8325468" cy="6357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defTabSz="685800" eaLnBrk="1" fontAlgn="auto" hangingPunct="1">
              <a:lnSpc>
                <a:spcPct val="85000"/>
              </a:lnSpc>
              <a:spcBef>
                <a:spcPct val="20000"/>
              </a:spcBef>
              <a:spcAft>
                <a:spcPts val="0"/>
              </a:spcAft>
              <a:buClr>
                <a:srgbClr val="000099"/>
              </a:buClr>
              <a:buSzPct val="65000"/>
              <a:defRPr/>
            </a:pPr>
            <a:r>
              <a:rPr lang="en-US" altLang="en-US" sz="2400" i="1" dirty="0">
                <a:solidFill>
                  <a:srgbClr val="CC0000"/>
                </a:solidFill>
                <a:latin typeface="Calibri" panose="020F0502020204030204"/>
              </a:rPr>
              <a:t>Goal:</a:t>
            </a:r>
            <a:r>
              <a:rPr lang="en-US" altLang="en-US" sz="2400" dirty="0">
                <a:solidFill>
                  <a:prstClr val="black"/>
                </a:solidFill>
                <a:latin typeface="Calibri" panose="020F0502020204030204"/>
              </a:rPr>
              <a:t> detect </a:t>
            </a:r>
            <a:r>
              <a:rPr lang="en-US" altLang="ja-JP" sz="2400" dirty="0">
                <a:solidFill>
                  <a:prstClr val="black"/>
                </a:solidFill>
                <a:latin typeface="Calibri" panose="020F0502020204030204"/>
              </a:rPr>
              <a:t>errors (</a:t>
            </a:r>
            <a:r>
              <a:rPr lang="en-US" altLang="ja-JP" sz="2400" i="1" dirty="0">
                <a:solidFill>
                  <a:prstClr val="black"/>
                </a:solidFill>
                <a:latin typeface="Calibri" panose="020F0502020204030204"/>
              </a:rPr>
              <a:t>i.e., </a:t>
            </a:r>
            <a:r>
              <a:rPr lang="en-US" altLang="ja-JP" sz="2400" dirty="0">
                <a:solidFill>
                  <a:prstClr val="black"/>
                </a:solidFill>
                <a:latin typeface="Calibri" panose="020F0502020204030204"/>
              </a:rPr>
              <a:t>flipped bits) in transmitted segment</a:t>
            </a:r>
          </a:p>
          <a:p>
            <a:pPr marL="257175" indent="-257175" defTabSz="685800" eaLnBrk="1" fontAlgn="auto" hangingPunct="1">
              <a:lnSpc>
                <a:spcPct val="85000"/>
              </a:lnSpc>
              <a:spcBef>
                <a:spcPct val="20000"/>
              </a:spcBef>
              <a:spcAft>
                <a:spcPts val="0"/>
              </a:spcAft>
              <a:buClr>
                <a:srgbClr val="000099"/>
              </a:buClr>
              <a:buSzPct val="65000"/>
              <a:buFont typeface="Wingdings" pitchFamily="2" charset="2"/>
              <a:buChar char="v"/>
              <a:defRPr/>
            </a:pPr>
            <a:endParaRPr lang="en-US" altLang="en-US" sz="2100" dirty="0">
              <a:solidFill>
                <a:prstClr val="black"/>
              </a:solidFill>
              <a:latin typeface="Gill Sans MT" panose="020B0502020104020203" pitchFamily="34" charset="77"/>
            </a:endParaRPr>
          </a:p>
        </p:txBody>
      </p:sp>
      <p:sp>
        <p:nvSpPr>
          <p:cNvPr id="6" name="Rectangle 4">
            <a:extLst>
              <a:ext uri="{FF2B5EF4-FFF2-40B4-BE49-F238E27FC236}">
                <a16:creationId xmlns:a16="http://schemas.microsoft.com/office/drawing/2014/main" id="{E6366BE9-1119-E949-B583-83377BE7B2FA}"/>
              </a:ext>
            </a:extLst>
          </p:cNvPr>
          <p:cNvSpPr txBox="1">
            <a:spLocks noChangeArrowheads="1"/>
          </p:cNvSpPr>
          <p:nvPr/>
        </p:nvSpPr>
        <p:spPr>
          <a:xfrm>
            <a:off x="1288298" y="4179697"/>
            <a:ext cx="7680984" cy="430079"/>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7631" indent="0" defTabSz="685800" fontAlgn="auto">
              <a:spcBef>
                <a:spcPts val="750"/>
              </a:spcBef>
              <a:spcAft>
                <a:spcPts val="0"/>
              </a:spcAft>
              <a:buNone/>
              <a:defRPr/>
            </a:pPr>
            <a:r>
              <a:rPr lang="en-US" altLang="en-US" sz="2100" dirty="0">
                <a:solidFill>
                  <a:prstClr val="black"/>
                </a:solidFill>
                <a:latin typeface="Calibri" panose="020F0502020204030204"/>
                <a:ea typeface="ＭＳ Ｐゴシック" panose="020B0600070205080204" pitchFamily="34" charset="-128"/>
              </a:rPr>
              <a:t>Received:            4               6                11</a:t>
            </a:r>
          </a:p>
        </p:txBody>
      </p:sp>
      <p:grpSp>
        <p:nvGrpSpPr>
          <p:cNvPr id="18" name="Group 17">
            <a:extLst>
              <a:ext uri="{FF2B5EF4-FFF2-40B4-BE49-F238E27FC236}">
                <a16:creationId xmlns:a16="http://schemas.microsoft.com/office/drawing/2014/main" id="{E83263DD-30EB-3A47-BB43-1008E7B8EB3B}"/>
              </a:ext>
            </a:extLst>
          </p:cNvPr>
          <p:cNvGrpSpPr/>
          <p:nvPr/>
        </p:nvGrpSpPr>
        <p:grpSpPr>
          <a:xfrm>
            <a:off x="2836191" y="2445824"/>
            <a:ext cx="2887056" cy="303957"/>
            <a:chOff x="3781587" y="2118101"/>
            <a:chExt cx="3849407" cy="405276"/>
          </a:xfrm>
        </p:grpSpPr>
        <p:sp>
          <p:nvSpPr>
            <p:cNvPr id="3" name="TextBox 2">
              <a:extLst>
                <a:ext uri="{FF2B5EF4-FFF2-40B4-BE49-F238E27FC236}">
                  <a16:creationId xmlns:a16="http://schemas.microsoft.com/office/drawing/2014/main" id="{875CCDE0-7CCA-374E-AAE6-7714B8510863}"/>
                </a:ext>
              </a:extLst>
            </p:cNvPr>
            <p:cNvSpPr txBox="1"/>
            <p:nvPr/>
          </p:nvSpPr>
          <p:spPr>
            <a:xfrm>
              <a:off x="3781587" y="2123268"/>
              <a:ext cx="1270433"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1</a:t>
              </a:r>
              <a:r>
                <a:rPr lang="en-US" sz="1350" baseline="30000" dirty="0">
                  <a:solidFill>
                    <a:prstClr val="black"/>
                  </a:solidFill>
                  <a:latin typeface="Calibri"/>
                  <a:ea typeface="+mn-ea"/>
                </a:rPr>
                <a:t>st</a:t>
              </a:r>
              <a:r>
                <a:rPr lang="en-US" sz="1350" dirty="0">
                  <a:solidFill>
                    <a:prstClr val="black"/>
                  </a:solidFill>
                  <a:latin typeface="Calibri"/>
                  <a:ea typeface="+mn-ea"/>
                </a:rPr>
                <a:t> number</a:t>
              </a:r>
            </a:p>
          </p:txBody>
        </p:sp>
        <p:sp>
          <p:nvSpPr>
            <p:cNvPr id="8" name="TextBox 7">
              <a:extLst>
                <a:ext uri="{FF2B5EF4-FFF2-40B4-BE49-F238E27FC236}">
                  <a16:creationId xmlns:a16="http://schemas.microsoft.com/office/drawing/2014/main" id="{AC036BB1-E12C-9F45-B7AC-A46C43550AB8}"/>
                </a:ext>
              </a:extLst>
            </p:cNvPr>
            <p:cNvSpPr txBox="1"/>
            <p:nvPr/>
          </p:nvSpPr>
          <p:spPr>
            <a:xfrm>
              <a:off x="5173851" y="2120685"/>
              <a:ext cx="13234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2</a:t>
              </a:r>
              <a:r>
                <a:rPr lang="en-US" sz="1350" baseline="30000" dirty="0">
                  <a:solidFill>
                    <a:prstClr val="black"/>
                  </a:solidFill>
                  <a:latin typeface="Calibri"/>
                  <a:ea typeface="+mn-ea"/>
                </a:rPr>
                <a:t>nd</a:t>
              </a:r>
              <a:r>
                <a:rPr lang="en-US" sz="1350" dirty="0">
                  <a:solidFill>
                    <a:prstClr val="black"/>
                  </a:solidFill>
                  <a:latin typeface="Calibri"/>
                  <a:ea typeface="+mn-ea"/>
                </a:rPr>
                <a:t> number</a:t>
              </a:r>
            </a:p>
          </p:txBody>
        </p:sp>
        <p:sp>
          <p:nvSpPr>
            <p:cNvPr id="9" name="TextBox 8">
              <a:extLst>
                <a:ext uri="{FF2B5EF4-FFF2-40B4-BE49-F238E27FC236}">
                  <a16:creationId xmlns:a16="http://schemas.microsoft.com/office/drawing/2014/main" id="{0EF766B9-0BC5-B243-8C87-21D6B656B474}"/>
                </a:ext>
              </a:extLst>
            </p:cNvPr>
            <p:cNvSpPr txBox="1"/>
            <p:nvPr/>
          </p:nvSpPr>
          <p:spPr>
            <a:xfrm>
              <a:off x="6938069" y="2118101"/>
              <a:ext cx="692925"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a:ea typeface="+mn-ea"/>
                </a:rPr>
                <a:t> sum</a:t>
              </a:r>
            </a:p>
          </p:txBody>
        </p:sp>
      </p:grpSp>
      <p:sp>
        <p:nvSpPr>
          <p:cNvPr id="5" name="Down Arrow 4">
            <a:extLst>
              <a:ext uri="{FF2B5EF4-FFF2-40B4-BE49-F238E27FC236}">
                <a16:creationId xmlns:a16="http://schemas.microsoft.com/office/drawing/2014/main" id="{25D45AF0-1848-CC41-9B94-776A4F00467D}"/>
              </a:ext>
            </a:extLst>
          </p:cNvPr>
          <p:cNvSpPr/>
          <p:nvPr/>
        </p:nvSpPr>
        <p:spPr>
          <a:xfrm>
            <a:off x="3952068" y="3344728"/>
            <a:ext cx="848532" cy="733806"/>
          </a:xfrm>
          <a:prstGeom prst="downArrow">
            <a:avLst/>
          </a:prstGeom>
          <a:gradFill>
            <a:gsLst>
              <a:gs pos="0">
                <a:schemeClr val="accent1">
                  <a:lumMod val="5000"/>
                  <a:lumOff val="95000"/>
                </a:schemeClr>
              </a:gs>
              <a:gs pos="55000">
                <a:srgbClr val="E47E9F"/>
              </a:gs>
              <a:gs pos="83000">
                <a:srgbClr val="CD0004"/>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grpSp>
        <p:nvGrpSpPr>
          <p:cNvPr id="11" name="Group 10">
            <a:extLst>
              <a:ext uri="{FF2B5EF4-FFF2-40B4-BE49-F238E27FC236}">
                <a16:creationId xmlns:a16="http://schemas.microsoft.com/office/drawing/2014/main" id="{AED0B8C6-3F4F-D744-B0D5-012F7CCC8026}"/>
              </a:ext>
            </a:extLst>
          </p:cNvPr>
          <p:cNvGrpSpPr/>
          <p:nvPr/>
        </p:nvGrpSpPr>
        <p:grpSpPr>
          <a:xfrm>
            <a:off x="2952249" y="4507103"/>
            <a:ext cx="1715471" cy="832965"/>
            <a:chOff x="3936332" y="4866468"/>
            <a:chExt cx="2287294" cy="1110619"/>
          </a:xfrm>
        </p:grpSpPr>
        <p:sp>
          <p:nvSpPr>
            <p:cNvPr id="4" name="TextBox 3">
              <a:extLst>
                <a:ext uri="{FF2B5EF4-FFF2-40B4-BE49-F238E27FC236}">
                  <a16:creationId xmlns:a16="http://schemas.microsoft.com/office/drawing/2014/main" id="{80290089-A408-1F4D-AD89-57B6FA475BD4}"/>
                </a:ext>
              </a:extLst>
            </p:cNvPr>
            <p:cNvSpPr txBox="1"/>
            <p:nvPr/>
          </p:nvSpPr>
          <p:spPr>
            <a:xfrm>
              <a:off x="3936332" y="5238423"/>
              <a:ext cx="2287294" cy="738664"/>
            </a:xfrm>
            <a:prstGeom prst="rect">
              <a:avLst/>
            </a:prstGeom>
            <a:noFill/>
          </p:spPr>
          <p:txBody>
            <a:bodyPr wrap="none" rtlCol="0">
              <a:spAutoFit/>
            </a:bodyPr>
            <a:lstStyle/>
            <a:p>
              <a:pPr algn="r" defTabSz="685800" eaLnBrk="1" fontAlgn="auto" hangingPunct="1">
                <a:spcBef>
                  <a:spcPts val="0"/>
                </a:spcBef>
                <a:spcAft>
                  <a:spcPts val="0"/>
                </a:spcAft>
                <a:defRPr/>
              </a:pPr>
              <a:r>
                <a:rPr lang="en-US" sz="1500" dirty="0">
                  <a:solidFill>
                    <a:prstClr val="black"/>
                  </a:solidFill>
                  <a:latin typeface="Calibri"/>
                  <a:ea typeface="+mn-ea"/>
                </a:rPr>
                <a:t>receiver-computed </a:t>
              </a:r>
            </a:p>
            <a:p>
              <a:pPr algn="r" defTabSz="685800" eaLnBrk="1" fontAlgn="auto" hangingPunct="1">
                <a:spcBef>
                  <a:spcPts val="0"/>
                </a:spcBef>
                <a:spcAft>
                  <a:spcPts val="0"/>
                </a:spcAft>
                <a:defRPr/>
              </a:pPr>
              <a:r>
                <a:rPr lang="en-US" sz="1500" dirty="0">
                  <a:solidFill>
                    <a:prstClr val="black"/>
                  </a:solidFill>
                  <a:latin typeface="Calibri"/>
                  <a:ea typeface="+mn-ea"/>
                </a:rPr>
                <a:t>checksum</a:t>
              </a:r>
            </a:p>
          </p:txBody>
        </p:sp>
        <p:sp>
          <p:nvSpPr>
            <p:cNvPr id="7" name="Right Brace 6">
              <a:extLst>
                <a:ext uri="{FF2B5EF4-FFF2-40B4-BE49-F238E27FC236}">
                  <a16:creationId xmlns:a16="http://schemas.microsoft.com/office/drawing/2014/main" id="{70805D62-6F2B-1F49-A297-2C93A181F097}"/>
                </a:ext>
              </a:extLst>
            </p:cNvPr>
            <p:cNvSpPr/>
            <p:nvPr/>
          </p:nvSpPr>
          <p:spPr>
            <a:xfrm rot="5400000">
              <a:off x="5005953" y="4107051"/>
              <a:ext cx="302449" cy="1821283"/>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eaLnBrk="1" fontAlgn="auto" hangingPunct="1">
                <a:spcBef>
                  <a:spcPts val="0"/>
                </a:spcBef>
                <a:spcAft>
                  <a:spcPts val="0"/>
                </a:spcAft>
                <a:defRPr/>
              </a:pPr>
              <a:endParaRPr lang="en-US" sz="1350" dirty="0">
                <a:solidFill>
                  <a:prstClr val="black"/>
                </a:solidFill>
                <a:latin typeface="Calibri"/>
              </a:endParaRPr>
            </a:p>
          </p:txBody>
        </p:sp>
      </p:grpSp>
      <p:grpSp>
        <p:nvGrpSpPr>
          <p:cNvPr id="13" name="Group 12">
            <a:extLst>
              <a:ext uri="{FF2B5EF4-FFF2-40B4-BE49-F238E27FC236}">
                <a16:creationId xmlns:a16="http://schemas.microsoft.com/office/drawing/2014/main" id="{5499C2F8-4129-1B44-8C70-BBDF08BD1536}"/>
              </a:ext>
            </a:extLst>
          </p:cNvPr>
          <p:cNvGrpSpPr/>
          <p:nvPr/>
        </p:nvGrpSpPr>
        <p:grpSpPr>
          <a:xfrm>
            <a:off x="5160354" y="4516790"/>
            <a:ext cx="1996252" cy="821340"/>
            <a:chOff x="6880470" y="4879385"/>
            <a:chExt cx="2661669" cy="1095119"/>
          </a:xfrm>
        </p:grpSpPr>
        <p:sp>
          <p:nvSpPr>
            <p:cNvPr id="12" name="TextBox 11">
              <a:extLst>
                <a:ext uri="{FF2B5EF4-FFF2-40B4-BE49-F238E27FC236}">
                  <a16:creationId xmlns:a16="http://schemas.microsoft.com/office/drawing/2014/main" id="{D9DCA310-B7D2-5B47-90B9-563B10E091FB}"/>
                </a:ext>
              </a:extLst>
            </p:cNvPr>
            <p:cNvSpPr txBox="1"/>
            <p:nvPr/>
          </p:nvSpPr>
          <p:spPr>
            <a:xfrm>
              <a:off x="6880470" y="5235841"/>
              <a:ext cx="2661669" cy="738663"/>
            </a:xfrm>
            <a:prstGeom prst="rect">
              <a:avLst/>
            </a:prstGeom>
            <a:noFill/>
          </p:spPr>
          <p:txBody>
            <a:bodyPr wrap="none" rtlCol="0">
              <a:spAutoFit/>
            </a:bodyPr>
            <a:lstStyle/>
            <a:p>
              <a:pPr defTabSz="685800" eaLnBrk="1" fontAlgn="auto" hangingPunct="1">
                <a:spcBef>
                  <a:spcPts val="0"/>
                </a:spcBef>
                <a:spcAft>
                  <a:spcPts val="0"/>
                </a:spcAft>
                <a:defRPr/>
              </a:pPr>
              <a:r>
                <a:rPr lang="en-US" sz="1500" dirty="0">
                  <a:solidFill>
                    <a:prstClr val="black"/>
                  </a:solidFill>
                  <a:latin typeface="Calibri"/>
                  <a:ea typeface="+mn-ea"/>
                </a:rPr>
                <a:t>sender-computed </a:t>
              </a:r>
            </a:p>
            <a:p>
              <a:pPr defTabSz="685800" eaLnBrk="1" fontAlgn="auto" hangingPunct="1">
                <a:spcBef>
                  <a:spcPts val="0"/>
                </a:spcBef>
                <a:spcAft>
                  <a:spcPts val="0"/>
                </a:spcAft>
                <a:defRPr/>
              </a:pPr>
              <a:r>
                <a:rPr lang="en-US" sz="1500" dirty="0">
                  <a:solidFill>
                    <a:prstClr val="black"/>
                  </a:solidFill>
                  <a:latin typeface="Calibri"/>
                  <a:ea typeface="+mn-ea"/>
                </a:rPr>
                <a:t>checksum (as received)</a:t>
              </a:r>
            </a:p>
          </p:txBody>
        </p:sp>
        <p:sp>
          <p:nvSpPr>
            <p:cNvPr id="15" name="Right Brace 14">
              <a:extLst>
                <a:ext uri="{FF2B5EF4-FFF2-40B4-BE49-F238E27FC236}">
                  <a16:creationId xmlns:a16="http://schemas.microsoft.com/office/drawing/2014/main" id="{DA615DF0-68E8-EC4F-807E-D486A3197601}"/>
                </a:ext>
              </a:extLst>
            </p:cNvPr>
            <p:cNvSpPr/>
            <p:nvPr/>
          </p:nvSpPr>
          <p:spPr>
            <a:xfrm rot="5400000">
              <a:off x="7219627" y="4631412"/>
              <a:ext cx="266054" cy="761999"/>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eaLnBrk="1" fontAlgn="auto" hangingPunct="1">
                <a:spcBef>
                  <a:spcPts val="0"/>
                </a:spcBef>
                <a:spcAft>
                  <a:spcPts val="0"/>
                </a:spcAft>
                <a:defRPr/>
              </a:pPr>
              <a:endParaRPr lang="en-US" sz="1350" dirty="0">
                <a:solidFill>
                  <a:prstClr val="black"/>
                </a:solidFill>
                <a:latin typeface="Calibri"/>
              </a:endParaRPr>
            </a:p>
          </p:txBody>
        </p:sp>
      </p:grpSp>
      <p:grpSp>
        <p:nvGrpSpPr>
          <p:cNvPr id="17" name="Group 16">
            <a:extLst>
              <a:ext uri="{FF2B5EF4-FFF2-40B4-BE49-F238E27FC236}">
                <a16:creationId xmlns:a16="http://schemas.microsoft.com/office/drawing/2014/main" id="{5F01925F-F602-844A-BEF4-A6395DF560AD}"/>
              </a:ext>
            </a:extLst>
          </p:cNvPr>
          <p:cNvGrpSpPr/>
          <p:nvPr/>
        </p:nvGrpSpPr>
        <p:grpSpPr>
          <a:xfrm>
            <a:off x="4591374" y="4758251"/>
            <a:ext cx="616058" cy="1010024"/>
            <a:chOff x="6121831" y="5201334"/>
            <a:chExt cx="821411" cy="1346699"/>
          </a:xfrm>
        </p:grpSpPr>
        <p:pic>
          <p:nvPicPr>
            <p:cNvPr id="1026" name="Picture 2" descr="Image result for error">
              <a:extLst>
                <a:ext uri="{FF2B5EF4-FFF2-40B4-BE49-F238E27FC236}">
                  <a16:creationId xmlns:a16="http://schemas.microsoft.com/office/drawing/2014/main" id="{0F8C0CDD-8B63-9A4B-B799-33D82D530B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21831" y="5782776"/>
              <a:ext cx="821411" cy="76525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0916598-558E-9245-AD24-594E54348A33}"/>
                </a:ext>
              </a:extLst>
            </p:cNvPr>
            <p:cNvSpPr txBox="1"/>
            <p:nvPr/>
          </p:nvSpPr>
          <p:spPr>
            <a:xfrm>
              <a:off x="6307811" y="5201334"/>
              <a:ext cx="477054" cy="677108"/>
            </a:xfrm>
            <a:prstGeom prst="rect">
              <a:avLst/>
            </a:prstGeom>
            <a:noFill/>
          </p:spPr>
          <p:txBody>
            <a:bodyPr wrap="none" rtlCol="0">
              <a:spAutoFit/>
            </a:bodyPr>
            <a:lstStyle/>
            <a:p>
              <a:pPr defTabSz="685800" eaLnBrk="1" fontAlgn="auto" hangingPunct="1">
                <a:spcBef>
                  <a:spcPts val="0"/>
                </a:spcBef>
                <a:spcAft>
                  <a:spcPts val="0"/>
                </a:spcAft>
                <a:defRPr/>
              </a:pPr>
              <a:r>
                <a:rPr lang="en-US" sz="2700" b="1" dirty="0">
                  <a:solidFill>
                    <a:srgbClr val="CD0004"/>
                  </a:solidFill>
                  <a:latin typeface="Calibri"/>
                  <a:ea typeface="+mn-ea"/>
                </a:rPr>
                <a:t>=</a:t>
              </a:r>
            </a:p>
          </p:txBody>
        </p:sp>
        <p:cxnSp>
          <p:nvCxnSpPr>
            <p:cNvPr id="16" name="Straight Connector 15">
              <a:extLst>
                <a:ext uri="{FF2B5EF4-FFF2-40B4-BE49-F238E27FC236}">
                  <a16:creationId xmlns:a16="http://schemas.microsoft.com/office/drawing/2014/main" id="{33E17EE6-50CC-C042-BC48-5E6E3B972272}"/>
                </a:ext>
              </a:extLst>
            </p:cNvPr>
            <p:cNvCxnSpPr/>
            <p:nvPr/>
          </p:nvCxnSpPr>
          <p:spPr>
            <a:xfrm flipH="1">
              <a:off x="6460174" y="5418195"/>
              <a:ext cx="108488" cy="247973"/>
            </a:xfrm>
            <a:prstGeom prst="line">
              <a:avLst/>
            </a:prstGeom>
            <a:ln w="31750">
              <a:solidFill>
                <a:srgbClr val="CD0004"/>
              </a:solidFill>
            </a:ln>
          </p:spPr>
          <p:style>
            <a:lnRef idx="1">
              <a:schemeClr val="accent1"/>
            </a:lnRef>
            <a:fillRef idx="0">
              <a:schemeClr val="accent1"/>
            </a:fillRef>
            <a:effectRef idx="0">
              <a:schemeClr val="accent1"/>
            </a:effectRef>
            <a:fontRef idx="minor">
              <a:schemeClr val="tx1"/>
            </a:fontRef>
          </p:style>
        </p:cxnSp>
      </p:grpSp>
      <p:sp>
        <p:nvSpPr>
          <p:cNvPr id="21" name="Slide Number Placeholder 2">
            <a:extLst>
              <a:ext uri="{FF2B5EF4-FFF2-40B4-BE49-F238E27FC236}">
                <a16:creationId xmlns:a16="http://schemas.microsoft.com/office/drawing/2014/main" id="{D5723390-FF65-C242-9B32-1814D9E35B6A}"/>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24</a:t>
            </a:fld>
            <a:endParaRPr lang="en-US" dirty="0"/>
          </a:p>
        </p:txBody>
      </p:sp>
    </p:spTree>
    <p:extLst>
      <p:ext uri="{BB962C8B-B14F-4D97-AF65-F5344CB8AC3E}">
        <p14:creationId xmlns:p14="http://schemas.microsoft.com/office/powerpoint/2010/main" val="16949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dissolve">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10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dissolve">
                                      <p:cBhvr>
                                        <p:cTn id="29" dur="10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dissolve">
                                      <p:cBhvr>
                                        <p:cTn id="34"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6" grpId="0"/>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Internet checksum</a:t>
            </a:r>
          </a:p>
        </p:txBody>
      </p:sp>
      <p:sp>
        <p:nvSpPr>
          <p:cNvPr id="27" name="Rectangle 3">
            <a:extLst>
              <a:ext uri="{FF2B5EF4-FFF2-40B4-BE49-F238E27FC236}">
                <a16:creationId xmlns:a16="http://schemas.microsoft.com/office/drawing/2014/main" id="{31698387-9861-714A-B5A0-B2C8BE36CD3A}"/>
              </a:ext>
            </a:extLst>
          </p:cNvPr>
          <p:cNvSpPr txBox="1">
            <a:spLocks noChangeArrowheads="1"/>
          </p:cNvSpPr>
          <p:nvPr/>
        </p:nvSpPr>
        <p:spPr>
          <a:xfrm>
            <a:off x="742950" y="2521458"/>
            <a:ext cx="3496541" cy="3358552"/>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fontAlgn="auto">
              <a:lnSpc>
                <a:spcPct val="70000"/>
              </a:lnSpc>
              <a:spcBef>
                <a:spcPts val="750"/>
              </a:spcBef>
              <a:spcAft>
                <a:spcPts val="0"/>
              </a:spcAft>
              <a:buNone/>
              <a:defRPr/>
            </a:pPr>
            <a:r>
              <a:rPr lang="en-US" altLang="en-US" sz="2400" dirty="0">
                <a:solidFill>
                  <a:srgbClr val="CC0000"/>
                </a:solidFill>
                <a:latin typeface="Calibri" panose="020F0502020204030204"/>
                <a:ea typeface="ＭＳ Ｐゴシック" panose="020B0600070205080204" pitchFamily="34" charset="-128"/>
              </a:rPr>
              <a:t>sender:</a:t>
            </a:r>
          </a:p>
          <a:p>
            <a:pPr marL="264319" indent="-166688" defTabSz="685800" fontAlgn="auto">
              <a:lnSpc>
                <a:spcPct val="80000"/>
              </a:lnSpc>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treat contents of UDP segment </a:t>
            </a:r>
            <a:r>
              <a:rPr lang="en-US" altLang="en-US" sz="1800" dirty="0">
                <a:solidFill>
                  <a:prstClr val="black"/>
                </a:solidFill>
                <a:latin typeface="Calibri" panose="020F0502020204030204"/>
                <a:ea typeface="ＭＳ Ｐゴシック" panose="020B0600070205080204" pitchFamily="34" charset="-128"/>
              </a:rPr>
              <a:t>(including UDP header fields and IP addresses) </a:t>
            </a:r>
            <a:r>
              <a:rPr lang="en-US" altLang="en-US" sz="2100" dirty="0">
                <a:solidFill>
                  <a:prstClr val="black"/>
                </a:solidFill>
                <a:latin typeface="Calibri" panose="020F0502020204030204"/>
                <a:ea typeface="ＭＳ Ｐゴシック" panose="020B0600070205080204" pitchFamily="34" charset="-128"/>
              </a:rPr>
              <a:t>as sequence of 16-bit integers</a:t>
            </a:r>
          </a:p>
          <a:p>
            <a:pPr marL="264319" indent="-166688" defTabSz="685800" fontAlgn="auto">
              <a:lnSpc>
                <a:spcPct val="80000"/>
              </a:lnSpc>
              <a:spcBef>
                <a:spcPts val="750"/>
              </a:spcBef>
              <a:spcAft>
                <a:spcPts val="0"/>
              </a:spcAft>
              <a:defRPr/>
            </a:pPr>
            <a:r>
              <a:rPr lang="en-US" altLang="en-US" sz="2100" dirty="0">
                <a:solidFill>
                  <a:srgbClr val="C00000"/>
                </a:solidFill>
                <a:latin typeface="Calibri" panose="020F0502020204030204"/>
                <a:ea typeface="ＭＳ Ｐゴシック" panose="020B0600070205080204" pitchFamily="34" charset="-128"/>
              </a:rPr>
              <a:t>checksum: </a:t>
            </a:r>
            <a:r>
              <a:rPr lang="en-US" altLang="en-US" sz="2100" dirty="0">
                <a:solidFill>
                  <a:prstClr val="black"/>
                </a:solidFill>
                <a:latin typeface="Calibri" panose="020F0502020204030204"/>
                <a:ea typeface="ＭＳ Ｐゴシック" panose="020B0600070205080204" pitchFamily="34" charset="-128"/>
              </a:rPr>
              <a:t>addition </a:t>
            </a:r>
            <a:r>
              <a:rPr lang="en-US" altLang="en-US" sz="1800" dirty="0">
                <a:solidFill>
                  <a:prstClr val="black"/>
                </a:solidFill>
                <a:latin typeface="Calibri" panose="020F0502020204030204"/>
                <a:ea typeface="ＭＳ Ｐゴシック" panose="020B0600070205080204" pitchFamily="34" charset="-128"/>
              </a:rPr>
              <a:t>(one’</a:t>
            </a:r>
            <a:r>
              <a:rPr lang="en-US" altLang="ja-JP" sz="1800" dirty="0">
                <a:solidFill>
                  <a:prstClr val="black"/>
                </a:solidFill>
                <a:latin typeface="Calibri" panose="020F0502020204030204"/>
                <a:ea typeface="ＭＳ Ｐゴシック" panose="020B0600070205080204" pitchFamily="34" charset="-128"/>
              </a:rPr>
              <a:t>s complement sum)</a:t>
            </a:r>
            <a:r>
              <a:rPr lang="en-US" altLang="ja-JP" sz="2100" dirty="0">
                <a:solidFill>
                  <a:prstClr val="black"/>
                </a:solidFill>
                <a:latin typeface="Calibri" panose="020F0502020204030204"/>
                <a:ea typeface="ＭＳ Ｐゴシック" panose="020B0600070205080204" pitchFamily="34" charset="-128"/>
              </a:rPr>
              <a:t> of segment content</a:t>
            </a:r>
          </a:p>
          <a:p>
            <a:pPr marL="264319" indent="-166688" defTabSz="685800" fontAlgn="auto">
              <a:lnSpc>
                <a:spcPct val="80000"/>
              </a:lnSpc>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checksum value put into UDP checksum field</a:t>
            </a:r>
          </a:p>
          <a:p>
            <a:pPr marL="264319" indent="-166688" defTabSz="685800" fontAlgn="auto">
              <a:lnSpc>
                <a:spcPct val="70000"/>
              </a:lnSpc>
              <a:spcBef>
                <a:spcPts val="750"/>
              </a:spcBef>
              <a:spcAft>
                <a:spcPts val="0"/>
              </a:spcAft>
              <a:buNone/>
              <a:defRPr/>
            </a:pPr>
            <a:endParaRPr lang="en-US" altLang="en-US" sz="1800" dirty="0">
              <a:solidFill>
                <a:prstClr val="black"/>
              </a:solidFill>
              <a:latin typeface="Calibri" panose="020F0502020204030204"/>
              <a:ea typeface="ＭＳ Ｐゴシック" panose="020B0600070205080204" pitchFamily="34" charset="-128"/>
            </a:endParaRPr>
          </a:p>
          <a:p>
            <a:pPr marL="264319" indent="-166688" defTabSz="685800" fontAlgn="auto">
              <a:lnSpc>
                <a:spcPct val="70000"/>
              </a:lnSpc>
              <a:spcBef>
                <a:spcPts val="750"/>
              </a:spcBef>
              <a:spcAft>
                <a:spcPts val="0"/>
              </a:spcAft>
              <a:defRPr/>
            </a:pPr>
            <a:endParaRPr lang="en-US" altLang="en-US" sz="2400" dirty="0">
              <a:solidFill>
                <a:prstClr val="black"/>
              </a:solidFill>
              <a:latin typeface="Calibri" panose="020F0502020204030204"/>
              <a:ea typeface="ＭＳ Ｐゴシック" panose="020B0600070205080204" pitchFamily="34" charset="-128"/>
            </a:endParaRPr>
          </a:p>
        </p:txBody>
      </p:sp>
      <p:sp>
        <p:nvSpPr>
          <p:cNvPr id="48" name="Rectangle 4">
            <a:extLst>
              <a:ext uri="{FF2B5EF4-FFF2-40B4-BE49-F238E27FC236}">
                <a16:creationId xmlns:a16="http://schemas.microsoft.com/office/drawing/2014/main" id="{673A6B1C-AEDF-5947-AFDF-9232983233A4}"/>
              </a:ext>
            </a:extLst>
          </p:cNvPr>
          <p:cNvSpPr txBox="1">
            <a:spLocks noChangeArrowheads="1"/>
          </p:cNvSpPr>
          <p:nvPr/>
        </p:nvSpPr>
        <p:spPr>
          <a:xfrm>
            <a:off x="4325866" y="2456918"/>
            <a:ext cx="4296641" cy="3061857"/>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fontAlgn="auto">
              <a:spcBef>
                <a:spcPts val="750"/>
              </a:spcBef>
              <a:spcAft>
                <a:spcPts val="0"/>
              </a:spcAft>
              <a:buNone/>
              <a:defRPr/>
            </a:pPr>
            <a:r>
              <a:rPr lang="en-US" altLang="en-US" sz="2400" dirty="0">
                <a:solidFill>
                  <a:srgbClr val="CC0000"/>
                </a:solidFill>
                <a:latin typeface="Calibri" panose="020F0502020204030204"/>
                <a:ea typeface="ＭＳ Ｐゴシック" panose="020B0600070205080204" pitchFamily="34" charset="-128"/>
              </a:rPr>
              <a:t>receiver</a:t>
            </a:r>
            <a:r>
              <a:rPr lang="en-US" altLang="en-US" sz="2625" dirty="0">
                <a:solidFill>
                  <a:srgbClr val="CC0000"/>
                </a:solidFill>
                <a:latin typeface="Calibri" panose="020F0502020204030204"/>
                <a:ea typeface="ＭＳ Ｐゴシック" panose="020B0600070205080204" pitchFamily="34" charset="-128"/>
              </a:rPr>
              <a:t>:</a:t>
            </a:r>
          </a:p>
          <a:p>
            <a:pPr marL="264319" indent="-166688" defTabSz="685800" fontAlgn="auto">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compute checksum of received segment</a:t>
            </a:r>
          </a:p>
          <a:p>
            <a:pPr marL="264319" indent="-166688" defTabSz="685800" fontAlgn="auto">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check if computed checksum equals checksum field value:</a:t>
            </a:r>
          </a:p>
          <a:p>
            <a:pPr marL="521494" lvl="1" indent="-173831" defTabSz="685800" fontAlgn="auto">
              <a:spcBef>
                <a:spcPts val="375"/>
              </a:spcBef>
              <a:spcAft>
                <a:spcPts val="0"/>
              </a:spcAft>
              <a:defRPr/>
            </a:pPr>
            <a:r>
              <a:rPr lang="en-US" altLang="en-US" sz="1800" dirty="0">
                <a:solidFill>
                  <a:prstClr val="black"/>
                </a:solidFill>
                <a:latin typeface="Calibri" panose="020F0502020204030204"/>
                <a:ea typeface="ＭＳ Ｐゴシック" panose="020B0600070205080204" pitchFamily="34" charset="-128"/>
              </a:rPr>
              <a:t>not equal - error detected</a:t>
            </a:r>
          </a:p>
          <a:p>
            <a:pPr marL="521494" lvl="1" indent="-173831" defTabSz="685800" fontAlgn="auto">
              <a:spcBef>
                <a:spcPts val="375"/>
              </a:spcBef>
              <a:spcAft>
                <a:spcPts val="0"/>
              </a:spcAft>
              <a:defRPr/>
            </a:pPr>
            <a:r>
              <a:rPr lang="en-US" altLang="en-US" sz="1800" dirty="0">
                <a:solidFill>
                  <a:prstClr val="black"/>
                </a:solidFill>
                <a:latin typeface="Calibri" panose="020F0502020204030204"/>
                <a:ea typeface="ＭＳ Ｐゴシック" panose="020B0600070205080204" pitchFamily="34" charset="-128"/>
              </a:rPr>
              <a:t>equal - no error detected. </a:t>
            </a:r>
            <a:r>
              <a:rPr lang="en-US" altLang="en-US" sz="1800" i="1" dirty="0">
                <a:solidFill>
                  <a:prstClr val="black"/>
                </a:solidFill>
                <a:latin typeface="Calibri" panose="020F0502020204030204"/>
                <a:ea typeface="ＭＳ Ｐゴシック" panose="020B0600070205080204" pitchFamily="34" charset="-128"/>
              </a:rPr>
              <a:t>But maybe errors nonetheless?</a:t>
            </a:r>
            <a:r>
              <a:rPr lang="en-US" altLang="en-US" sz="1800" dirty="0">
                <a:solidFill>
                  <a:prstClr val="black"/>
                </a:solidFill>
                <a:latin typeface="Calibri" panose="020F0502020204030204"/>
                <a:ea typeface="ＭＳ Ｐゴシック" panose="020B0600070205080204" pitchFamily="34" charset="-128"/>
              </a:rPr>
              <a:t> More later ….</a:t>
            </a:r>
          </a:p>
          <a:p>
            <a:pPr marL="264319" indent="-166688" defTabSz="685800" fontAlgn="auto">
              <a:spcBef>
                <a:spcPts val="750"/>
              </a:spcBef>
              <a:spcAft>
                <a:spcPts val="0"/>
              </a:spcAft>
              <a:defRPr/>
            </a:pPr>
            <a:endParaRPr lang="en-US" altLang="en-US" sz="2100" dirty="0">
              <a:solidFill>
                <a:prstClr val="black"/>
              </a:solidFill>
              <a:latin typeface="Calibri" panose="020F0502020204030204"/>
              <a:ea typeface="ＭＳ Ｐゴシック" panose="020B0600070205080204" pitchFamily="34" charset="-128"/>
            </a:endParaRPr>
          </a:p>
        </p:txBody>
      </p:sp>
      <p:sp>
        <p:nvSpPr>
          <p:cNvPr id="49" name="Rectangle 5">
            <a:extLst>
              <a:ext uri="{FF2B5EF4-FFF2-40B4-BE49-F238E27FC236}">
                <a16:creationId xmlns:a16="http://schemas.microsoft.com/office/drawing/2014/main" id="{F6F1E6ED-F1FB-7542-8156-6A1C186D48CB}"/>
              </a:ext>
            </a:extLst>
          </p:cNvPr>
          <p:cNvSpPr>
            <a:spLocks noChangeArrowheads="1"/>
          </p:cNvSpPr>
          <p:nvPr/>
        </p:nvSpPr>
        <p:spPr bwMode="auto">
          <a:xfrm>
            <a:off x="599018" y="1885665"/>
            <a:ext cx="8325468" cy="6357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defTabSz="685800" eaLnBrk="1" fontAlgn="auto" hangingPunct="1">
              <a:lnSpc>
                <a:spcPct val="85000"/>
              </a:lnSpc>
              <a:spcBef>
                <a:spcPct val="20000"/>
              </a:spcBef>
              <a:spcAft>
                <a:spcPts val="0"/>
              </a:spcAft>
              <a:buClr>
                <a:srgbClr val="000099"/>
              </a:buClr>
              <a:buSzPct val="65000"/>
              <a:defRPr/>
            </a:pPr>
            <a:r>
              <a:rPr lang="en-US" altLang="en-US" sz="2400" i="1" dirty="0">
                <a:solidFill>
                  <a:srgbClr val="CC0000"/>
                </a:solidFill>
                <a:latin typeface="Calibri" panose="020F0502020204030204"/>
              </a:rPr>
              <a:t>Goal:</a:t>
            </a:r>
            <a:r>
              <a:rPr lang="en-US" altLang="en-US" sz="2400" dirty="0">
                <a:solidFill>
                  <a:prstClr val="black"/>
                </a:solidFill>
                <a:latin typeface="Calibri" panose="020F0502020204030204"/>
              </a:rPr>
              <a:t> detect </a:t>
            </a:r>
            <a:r>
              <a:rPr lang="en-US" altLang="ja-JP" sz="2400" dirty="0">
                <a:solidFill>
                  <a:prstClr val="black"/>
                </a:solidFill>
                <a:latin typeface="Calibri" panose="020F0502020204030204"/>
              </a:rPr>
              <a:t>errors (</a:t>
            </a:r>
            <a:r>
              <a:rPr lang="en-US" altLang="ja-JP" sz="2400" i="1" dirty="0">
                <a:solidFill>
                  <a:prstClr val="black"/>
                </a:solidFill>
                <a:latin typeface="Calibri" panose="020F0502020204030204"/>
              </a:rPr>
              <a:t>i.e., </a:t>
            </a:r>
            <a:r>
              <a:rPr lang="en-US" altLang="ja-JP" sz="2400" dirty="0">
                <a:solidFill>
                  <a:prstClr val="black"/>
                </a:solidFill>
                <a:latin typeface="Calibri" panose="020F0502020204030204"/>
              </a:rPr>
              <a:t>flipped bits) in transmitted segment</a:t>
            </a:r>
          </a:p>
          <a:p>
            <a:pPr marL="257175" indent="-257175" defTabSz="685800" eaLnBrk="1" fontAlgn="auto" hangingPunct="1">
              <a:lnSpc>
                <a:spcPct val="85000"/>
              </a:lnSpc>
              <a:spcBef>
                <a:spcPct val="20000"/>
              </a:spcBef>
              <a:spcAft>
                <a:spcPts val="0"/>
              </a:spcAft>
              <a:buClr>
                <a:srgbClr val="000099"/>
              </a:buClr>
              <a:buSzPct val="65000"/>
              <a:buFont typeface="Wingdings" pitchFamily="2" charset="2"/>
              <a:buChar char="v"/>
              <a:defRPr/>
            </a:pPr>
            <a:endParaRPr lang="en-US" altLang="en-US" sz="2100" dirty="0">
              <a:solidFill>
                <a:prstClr val="black"/>
              </a:solidFill>
              <a:latin typeface="Gill Sans MT" panose="020B0502020104020203" pitchFamily="34" charset="77"/>
            </a:endParaRPr>
          </a:p>
        </p:txBody>
      </p:sp>
      <p:sp>
        <p:nvSpPr>
          <p:cNvPr id="6" name="Slide Number Placeholder 2">
            <a:extLst>
              <a:ext uri="{FF2B5EF4-FFF2-40B4-BE49-F238E27FC236}">
                <a16:creationId xmlns:a16="http://schemas.microsoft.com/office/drawing/2014/main" id="{D9262EE8-BA51-1D4E-A36D-BDC09C45FA07}"/>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25</a:t>
            </a:fld>
            <a:endParaRPr lang="en-US" dirty="0"/>
          </a:p>
        </p:txBody>
      </p:sp>
    </p:spTree>
    <p:extLst>
      <p:ext uri="{BB962C8B-B14F-4D97-AF65-F5344CB8AC3E}">
        <p14:creationId xmlns:p14="http://schemas.microsoft.com/office/powerpoint/2010/main" val="121197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Internet checksum: an example</a:t>
            </a:r>
          </a:p>
        </p:txBody>
      </p:sp>
      <p:sp>
        <p:nvSpPr>
          <p:cNvPr id="7" name="Rectangle 3">
            <a:extLst>
              <a:ext uri="{FF2B5EF4-FFF2-40B4-BE49-F238E27FC236}">
                <a16:creationId xmlns:a16="http://schemas.microsoft.com/office/drawing/2014/main" id="{7C7658E3-6D58-8445-A9E1-703A91A67575}"/>
              </a:ext>
            </a:extLst>
          </p:cNvPr>
          <p:cNvSpPr txBox="1">
            <a:spLocks noChangeArrowheads="1"/>
          </p:cNvSpPr>
          <p:nvPr/>
        </p:nvSpPr>
        <p:spPr>
          <a:xfrm>
            <a:off x="911581" y="1946333"/>
            <a:ext cx="5829300" cy="205740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5022" indent="-175022" defTabSz="685800" fontAlgn="auto">
              <a:lnSpc>
                <a:spcPct val="130000"/>
              </a:lnSpc>
              <a:spcBef>
                <a:spcPts val="750"/>
              </a:spcBef>
              <a:spcAft>
                <a:spcPts val="0"/>
              </a:spcAft>
              <a:buNone/>
              <a:defRPr/>
            </a:pPr>
            <a:r>
              <a:rPr lang="en-US" sz="2100" dirty="0">
                <a:solidFill>
                  <a:prstClr val="black"/>
                </a:solidFill>
                <a:latin typeface="Calibri" panose="020F0502020204030204"/>
              </a:rPr>
              <a:t>example: add two 16-bit integers</a:t>
            </a:r>
          </a:p>
        </p:txBody>
      </p:sp>
      <p:sp>
        <p:nvSpPr>
          <p:cNvPr id="9" name="Line 5">
            <a:extLst>
              <a:ext uri="{FF2B5EF4-FFF2-40B4-BE49-F238E27FC236}">
                <a16:creationId xmlns:a16="http://schemas.microsoft.com/office/drawing/2014/main" id="{763B3A78-1E2C-5A4B-AA3C-267B38DDCC5E}"/>
              </a:ext>
            </a:extLst>
          </p:cNvPr>
          <p:cNvSpPr>
            <a:spLocks noChangeShapeType="1"/>
          </p:cNvSpPr>
          <p:nvPr/>
        </p:nvSpPr>
        <p:spPr bwMode="auto">
          <a:xfrm flipH="1">
            <a:off x="1849793" y="3159581"/>
            <a:ext cx="485775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2" name="Text Box 8">
            <a:extLst>
              <a:ext uri="{FF2B5EF4-FFF2-40B4-BE49-F238E27FC236}">
                <a16:creationId xmlns:a16="http://schemas.microsoft.com/office/drawing/2014/main" id="{5EB760DD-5067-0241-ACCB-6E4282E949DB}"/>
              </a:ext>
            </a:extLst>
          </p:cNvPr>
          <p:cNvSpPr txBox="1">
            <a:spLocks noChangeArrowheads="1"/>
          </p:cNvSpPr>
          <p:nvPr/>
        </p:nvSpPr>
        <p:spPr bwMode="auto">
          <a:xfrm>
            <a:off x="1332972" y="3754322"/>
            <a:ext cx="514885" cy="3231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500" dirty="0">
                <a:solidFill>
                  <a:prstClr val="black"/>
                </a:solidFill>
                <a:latin typeface="Calibri" panose="020F0502020204030204"/>
              </a:rPr>
              <a:t>sum</a:t>
            </a:r>
          </a:p>
        </p:txBody>
      </p:sp>
      <p:sp>
        <p:nvSpPr>
          <p:cNvPr id="13" name="Text Box 9">
            <a:extLst>
              <a:ext uri="{FF2B5EF4-FFF2-40B4-BE49-F238E27FC236}">
                <a16:creationId xmlns:a16="http://schemas.microsoft.com/office/drawing/2014/main" id="{D58D347C-3618-AD46-999E-771E7BB4EFFB}"/>
              </a:ext>
            </a:extLst>
          </p:cNvPr>
          <p:cNvSpPr txBox="1">
            <a:spLocks noChangeArrowheads="1"/>
          </p:cNvSpPr>
          <p:nvPr/>
        </p:nvSpPr>
        <p:spPr bwMode="auto">
          <a:xfrm>
            <a:off x="894632" y="4082628"/>
            <a:ext cx="961930" cy="3231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500" dirty="0">
                <a:solidFill>
                  <a:prstClr val="black"/>
                </a:solidFill>
                <a:latin typeface="Calibri" panose="020F0502020204030204"/>
              </a:rPr>
              <a:t>checksum</a:t>
            </a:r>
          </a:p>
        </p:txBody>
      </p:sp>
      <p:sp>
        <p:nvSpPr>
          <p:cNvPr id="16" name="Text Box 15">
            <a:extLst>
              <a:ext uri="{FF2B5EF4-FFF2-40B4-BE49-F238E27FC236}">
                <a16:creationId xmlns:a16="http://schemas.microsoft.com/office/drawing/2014/main" id="{228BD91C-645B-7B49-B807-EF571877C7E5}"/>
              </a:ext>
            </a:extLst>
          </p:cNvPr>
          <p:cNvSpPr txBox="1">
            <a:spLocks noChangeArrowheads="1"/>
          </p:cNvSpPr>
          <p:nvPr/>
        </p:nvSpPr>
        <p:spPr bwMode="auto">
          <a:xfrm>
            <a:off x="599018" y="4660958"/>
            <a:ext cx="7775971" cy="8402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lnSpc>
                <a:spcPct val="85000"/>
              </a:lnSpc>
              <a:spcBef>
                <a:spcPct val="20000"/>
              </a:spcBef>
              <a:spcAft>
                <a:spcPts val="0"/>
              </a:spcAft>
              <a:buClr>
                <a:srgbClr val="000099"/>
              </a:buClr>
              <a:buSzPct val="65000"/>
              <a:defRPr/>
            </a:pPr>
            <a:r>
              <a:rPr lang="en-US" sz="1800" i="1" dirty="0">
                <a:solidFill>
                  <a:prstClr val="black"/>
                </a:solidFill>
                <a:latin typeface="Calibri" panose="020F0502020204030204"/>
              </a:rPr>
              <a:t>Note:</a:t>
            </a:r>
            <a:r>
              <a:rPr lang="en-US" sz="1800" dirty="0">
                <a:solidFill>
                  <a:prstClr val="black"/>
                </a:solidFill>
                <a:latin typeface="Calibri" panose="020F0502020204030204"/>
              </a:rPr>
              <a:t> when adding numbers, a carryout from the most significant bit needs to be added to the result</a:t>
            </a:r>
          </a:p>
          <a:p>
            <a:pPr defTabSz="685800" eaLnBrk="1" fontAlgn="auto" hangingPunct="1">
              <a:spcBef>
                <a:spcPts val="0"/>
              </a:spcBef>
              <a:spcAft>
                <a:spcPts val="0"/>
              </a:spcAft>
              <a:defRPr/>
            </a:pPr>
            <a:endParaRPr lang="en-US" sz="1800" dirty="0">
              <a:solidFill>
                <a:prstClr val="black"/>
              </a:solidFill>
            </a:endParaRPr>
          </a:p>
        </p:txBody>
      </p:sp>
      <p:sp>
        <p:nvSpPr>
          <p:cNvPr id="17" name="TextBox 1">
            <a:extLst>
              <a:ext uri="{FF2B5EF4-FFF2-40B4-BE49-F238E27FC236}">
                <a16:creationId xmlns:a16="http://schemas.microsoft.com/office/drawing/2014/main" id="{898A9607-38BF-9544-B70F-067CC64A39AE}"/>
              </a:ext>
            </a:extLst>
          </p:cNvPr>
          <p:cNvSpPr txBox="1">
            <a:spLocks noChangeArrowheads="1"/>
          </p:cNvSpPr>
          <p:nvPr/>
        </p:nvSpPr>
        <p:spPr bwMode="auto">
          <a:xfrm>
            <a:off x="637850" y="5552924"/>
            <a:ext cx="739291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050" dirty="0">
                <a:solidFill>
                  <a:prstClr val="black"/>
                </a:solidFill>
                <a:latin typeface="Arial" panose="020B0604020202020204" pitchFamily="34" charset="0"/>
              </a:rPr>
              <a:t>* Check out the online interactive exercises for more examples: h</a:t>
            </a:r>
            <a:r>
              <a:rPr lang="en-US" altLang="en-US" sz="900" dirty="0">
                <a:solidFill>
                  <a:prstClr val="black"/>
                </a:solidFill>
                <a:latin typeface="Arial" panose="020B0604020202020204" pitchFamily="34" charset="0"/>
              </a:rPr>
              <a:t>ttp://gaia.cs.umass.edu/kurose_ross/interactive/</a:t>
            </a:r>
          </a:p>
        </p:txBody>
      </p:sp>
      <p:sp>
        <p:nvSpPr>
          <p:cNvPr id="4" name="TextBox 3">
            <a:extLst>
              <a:ext uri="{FF2B5EF4-FFF2-40B4-BE49-F238E27FC236}">
                <a16:creationId xmlns:a16="http://schemas.microsoft.com/office/drawing/2014/main" id="{55CFACF2-9C75-D845-963C-B6B5F2FFE843}"/>
              </a:ext>
            </a:extLst>
          </p:cNvPr>
          <p:cNvSpPr txBox="1"/>
          <p:nvPr/>
        </p:nvSpPr>
        <p:spPr>
          <a:xfrm>
            <a:off x="2147969" y="2511023"/>
            <a:ext cx="4458272" cy="369332"/>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1 1 1 0 0 1 1 0 0 1 1 0 0 1 1 0</a:t>
            </a:r>
          </a:p>
        </p:txBody>
      </p:sp>
      <p:sp>
        <p:nvSpPr>
          <p:cNvPr id="19" name="TextBox 18">
            <a:extLst>
              <a:ext uri="{FF2B5EF4-FFF2-40B4-BE49-F238E27FC236}">
                <a16:creationId xmlns:a16="http://schemas.microsoft.com/office/drawing/2014/main" id="{A0134F71-DAF2-4A4A-8007-D61D5E84A131}"/>
              </a:ext>
            </a:extLst>
          </p:cNvPr>
          <p:cNvSpPr txBox="1"/>
          <p:nvPr/>
        </p:nvSpPr>
        <p:spPr>
          <a:xfrm>
            <a:off x="2151533" y="2792933"/>
            <a:ext cx="4458272" cy="369332"/>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1 1 0 1 0 1 0 1 0 1 0 1 0 1 0 1</a:t>
            </a:r>
          </a:p>
        </p:txBody>
      </p:sp>
      <p:sp>
        <p:nvSpPr>
          <p:cNvPr id="20" name="TextBox 19">
            <a:extLst>
              <a:ext uri="{FF2B5EF4-FFF2-40B4-BE49-F238E27FC236}">
                <a16:creationId xmlns:a16="http://schemas.microsoft.com/office/drawing/2014/main" id="{890C7D96-F575-4046-84E4-2FDF9898E9B2}"/>
              </a:ext>
            </a:extLst>
          </p:cNvPr>
          <p:cNvSpPr txBox="1"/>
          <p:nvPr/>
        </p:nvSpPr>
        <p:spPr>
          <a:xfrm>
            <a:off x="1876476" y="3253277"/>
            <a:ext cx="4733988" cy="369332"/>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1 1 0 1 1 1 0 1 1 1 0 1 1 1 0 1 1</a:t>
            </a:r>
          </a:p>
        </p:txBody>
      </p:sp>
      <p:sp>
        <p:nvSpPr>
          <p:cNvPr id="10" name="Oval 6">
            <a:extLst>
              <a:ext uri="{FF2B5EF4-FFF2-40B4-BE49-F238E27FC236}">
                <a16:creationId xmlns:a16="http://schemas.microsoft.com/office/drawing/2014/main" id="{23B7D25F-DD2D-6943-A612-1B140865E470}"/>
              </a:ext>
            </a:extLst>
          </p:cNvPr>
          <p:cNvSpPr>
            <a:spLocks noChangeArrowheads="1"/>
          </p:cNvSpPr>
          <p:nvPr/>
        </p:nvSpPr>
        <p:spPr bwMode="auto">
          <a:xfrm>
            <a:off x="1887625" y="3305362"/>
            <a:ext cx="228600" cy="2286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1" name="Text Box 7">
            <a:extLst>
              <a:ext uri="{FF2B5EF4-FFF2-40B4-BE49-F238E27FC236}">
                <a16:creationId xmlns:a16="http://schemas.microsoft.com/office/drawing/2014/main" id="{02C19D06-A871-3D4E-A141-88A98E4A3180}"/>
              </a:ext>
            </a:extLst>
          </p:cNvPr>
          <p:cNvSpPr txBox="1">
            <a:spLocks noChangeArrowheads="1"/>
          </p:cNvSpPr>
          <p:nvPr/>
        </p:nvSpPr>
        <p:spPr bwMode="auto">
          <a:xfrm>
            <a:off x="687475" y="3258402"/>
            <a:ext cx="1137812" cy="3231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500" dirty="0">
                <a:solidFill>
                  <a:prstClr val="black"/>
                </a:solidFill>
                <a:latin typeface="Calibri" panose="020F0502020204030204"/>
              </a:rPr>
              <a:t>wraparound</a:t>
            </a:r>
          </a:p>
        </p:txBody>
      </p:sp>
      <p:sp>
        <p:nvSpPr>
          <p:cNvPr id="14" name="Line 10">
            <a:extLst>
              <a:ext uri="{FF2B5EF4-FFF2-40B4-BE49-F238E27FC236}">
                <a16:creationId xmlns:a16="http://schemas.microsoft.com/office/drawing/2014/main" id="{D9BAD80C-425E-F145-9700-2D18230226CD}"/>
              </a:ext>
            </a:extLst>
          </p:cNvPr>
          <p:cNvSpPr>
            <a:spLocks noChangeShapeType="1"/>
          </p:cNvSpPr>
          <p:nvPr/>
        </p:nvSpPr>
        <p:spPr bwMode="auto">
          <a:xfrm flipH="1">
            <a:off x="1830475" y="3698933"/>
            <a:ext cx="485775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5" name="Freeform 11">
            <a:extLst>
              <a:ext uri="{FF2B5EF4-FFF2-40B4-BE49-F238E27FC236}">
                <a16:creationId xmlns:a16="http://schemas.microsoft.com/office/drawing/2014/main" id="{5AD71209-A9E2-794D-88A1-4B84AF2607D1}"/>
              </a:ext>
            </a:extLst>
          </p:cNvPr>
          <p:cNvSpPr>
            <a:spLocks/>
          </p:cNvSpPr>
          <p:nvPr/>
        </p:nvSpPr>
        <p:spPr bwMode="auto">
          <a:xfrm>
            <a:off x="2001925" y="3539649"/>
            <a:ext cx="4346655" cy="71308"/>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1" name="TextBox 20">
            <a:extLst>
              <a:ext uri="{FF2B5EF4-FFF2-40B4-BE49-F238E27FC236}">
                <a16:creationId xmlns:a16="http://schemas.microsoft.com/office/drawing/2014/main" id="{C9994788-E9D3-5D40-89C2-5666242ECA9E}"/>
              </a:ext>
            </a:extLst>
          </p:cNvPr>
          <p:cNvSpPr txBox="1"/>
          <p:nvPr/>
        </p:nvSpPr>
        <p:spPr>
          <a:xfrm>
            <a:off x="1856609" y="3754958"/>
            <a:ext cx="4733988" cy="369332"/>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  1 0 1 1 1 0 1 1 1 0 1 1 1 1 0 0</a:t>
            </a:r>
          </a:p>
        </p:txBody>
      </p:sp>
      <p:sp>
        <p:nvSpPr>
          <p:cNvPr id="22" name="TextBox 21">
            <a:extLst>
              <a:ext uri="{FF2B5EF4-FFF2-40B4-BE49-F238E27FC236}">
                <a16:creationId xmlns:a16="http://schemas.microsoft.com/office/drawing/2014/main" id="{6DDD65BC-0FF7-354F-9157-61D155DA77EA}"/>
              </a:ext>
            </a:extLst>
          </p:cNvPr>
          <p:cNvSpPr txBox="1"/>
          <p:nvPr/>
        </p:nvSpPr>
        <p:spPr>
          <a:xfrm>
            <a:off x="1879373" y="4073193"/>
            <a:ext cx="4733988" cy="369332"/>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  0 1 0 0 0 1 0 0 0 1 0 0 0 0 1 1</a:t>
            </a:r>
          </a:p>
        </p:txBody>
      </p:sp>
      <p:sp>
        <p:nvSpPr>
          <p:cNvPr id="18" name="Slide Number Placeholder 2">
            <a:extLst>
              <a:ext uri="{FF2B5EF4-FFF2-40B4-BE49-F238E27FC236}">
                <a16:creationId xmlns:a16="http://schemas.microsoft.com/office/drawing/2014/main" id="{27145B4A-DA47-BA4F-95DB-F98A913F0982}"/>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26</a:t>
            </a:fld>
            <a:endParaRPr lang="en-US" dirty="0"/>
          </a:p>
        </p:txBody>
      </p:sp>
    </p:spTree>
    <p:extLst>
      <p:ext uri="{BB962C8B-B14F-4D97-AF65-F5344CB8AC3E}">
        <p14:creationId xmlns:p14="http://schemas.microsoft.com/office/powerpoint/2010/main" val="222797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500"/>
                                        <p:tgtEl>
                                          <p:spTgt spid="10"/>
                                        </p:tgtEl>
                                      </p:cBhvr>
                                    </p:animEffect>
                                  </p:childTnLst>
                                </p:cTn>
                              </p:par>
                            </p:childTnLst>
                          </p:cTn>
                        </p:par>
                        <p:par>
                          <p:cTn id="16" fill="hold">
                            <p:stCondLst>
                              <p:cond delay="500"/>
                            </p:stCondLst>
                            <p:childTnLst>
                              <p:par>
                                <p:cTn id="17" presetID="22" presetClass="entr" presetSubtype="8" fill="hold" grpId="0" nodeType="afterEffect">
                                  <p:stCondLst>
                                    <p:cond delay="50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par>
                          <p:cTn id="20" fill="hold">
                            <p:stCondLst>
                              <p:cond delay="1500"/>
                            </p:stCondLst>
                            <p:childTnLst>
                              <p:par>
                                <p:cTn id="21" presetID="9" presetClass="entr" presetSubtype="0" fill="hold" grpId="0" nodeType="afterEffect">
                                  <p:stCondLst>
                                    <p:cond delay="500"/>
                                  </p:stCondLst>
                                  <p:childTnLst>
                                    <p:set>
                                      <p:cBhvr>
                                        <p:cTn id="22" dur="1" fill="hold">
                                          <p:stCondLst>
                                            <p:cond delay="0"/>
                                          </p:stCondLst>
                                        </p:cTn>
                                        <p:tgtEl>
                                          <p:spTgt spid="14"/>
                                        </p:tgtEl>
                                        <p:attrNameLst>
                                          <p:attrName>style.visibility</p:attrName>
                                        </p:attrNameLst>
                                      </p:cBhvr>
                                      <p:to>
                                        <p:strVal val="visible"/>
                                      </p:to>
                                    </p:set>
                                    <p:animEffect transition="in" filter="dissolve">
                                      <p:cBhvr>
                                        <p:cTn id="23" dur="500"/>
                                        <p:tgtEl>
                                          <p:spTgt spid="1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dissolv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ssolve">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6" grpId="0"/>
      <p:bldP spid="20" grpId="0"/>
      <p:bldP spid="10" grpId="0" animBg="1"/>
      <p:bldP spid="11" grpId="0"/>
      <p:bldP spid="14" grpId="0" animBg="1"/>
      <p:bldP spid="15" grpId="0" animBg="1"/>
      <p:bldP spid="21" grpId="0"/>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Internet checksum: weak protection!</a:t>
            </a:r>
          </a:p>
        </p:txBody>
      </p:sp>
      <p:sp>
        <p:nvSpPr>
          <p:cNvPr id="7" name="Rectangle 3">
            <a:extLst>
              <a:ext uri="{FF2B5EF4-FFF2-40B4-BE49-F238E27FC236}">
                <a16:creationId xmlns:a16="http://schemas.microsoft.com/office/drawing/2014/main" id="{7C7658E3-6D58-8445-A9E1-703A91A67575}"/>
              </a:ext>
            </a:extLst>
          </p:cNvPr>
          <p:cNvSpPr txBox="1">
            <a:spLocks noChangeArrowheads="1"/>
          </p:cNvSpPr>
          <p:nvPr/>
        </p:nvSpPr>
        <p:spPr>
          <a:xfrm>
            <a:off x="911581" y="1946333"/>
            <a:ext cx="5829300" cy="205740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5022" indent="-175022" defTabSz="685800" fontAlgn="auto">
              <a:lnSpc>
                <a:spcPct val="130000"/>
              </a:lnSpc>
              <a:spcBef>
                <a:spcPts val="750"/>
              </a:spcBef>
              <a:spcAft>
                <a:spcPts val="0"/>
              </a:spcAft>
              <a:buNone/>
              <a:defRPr/>
            </a:pPr>
            <a:r>
              <a:rPr lang="en-US" sz="2100" dirty="0">
                <a:solidFill>
                  <a:prstClr val="black"/>
                </a:solidFill>
                <a:latin typeface="Calibri" panose="020F0502020204030204"/>
              </a:rPr>
              <a:t>example: add two 16-bit integers</a:t>
            </a:r>
          </a:p>
        </p:txBody>
      </p:sp>
      <p:sp>
        <p:nvSpPr>
          <p:cNvPr id="9" name="Line 5">
            <a:extLst>
              <a:ext uri="{FF2B5EF4-FFF2-40B4-BE49-F238E27FC236}">
                <a16:creationId xmlns:a16="http://schemas.microsoft.com/office/drawing/2014/main" id="{763B3A78-1E2C-5A4B-AA3C-267B38DDCC5E}"/>
              </a:ext>
            </a:extLst>
          </p:cNvPr>
          <p:cNvSpPr>
            <a:spLocks noChangeShapeType="1"/>
          </p:cNvSpPr>
          <p:nvPr/>
        </p:nvSpPr>
        <p:spPr bwMode="auto">
          <a:xfrm flipH="1">
            <a:off x="1849793" y="3159581"/>
            <a:ext cx="485775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2" name="Text Box 8">
            <a:extLst>
              <a:ext uri="{FF2B5EF4-FFF2-40B4-BE49-F238E27FC236}">
                <a16:creationId xmlns:a16="http://schemas.microsoft.com/office/drawing/2014/main" id="{5EB760DD-5067-0241-ACCB-6E4282E949DB}"/>
              </a:ext>
            </a:extLst>
          </p:cNvPr>
          <p:cNvSpPr txBox="1">
            <a:spLocks noChangeArrowheads="1"/>
          </p:cNvSpPr>
          <p:nvPr/>
        </p:nvSpPr>
        <p:spPr bwMode="auto">
          <a:xfrm>
            <a:off x="1332972" y="3754322"/>
            <a:ext cx="514885" cy="3231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500" dirty="0">
                <a:solidFill>
                  <a:prstClr val="black"/>
                </a:solidFill>
                <a:latin typeface="Calibri" panose="020F0502020204030204"/>
              </a:rPr>
              <a:t>sum</a:t>
            </a:r>
          </a:p>
        </p:txBody>
      </p:sp>
      <p:sp>
        <p:nvSpPr>
          <p:cNvPr id="13" name="Text Box 9">
            <a:extLst>
              <a:ext uri="{FF2B5EF4-FFF2-40B4-BE49-F238E27FC236}">
                <a16:creationId xmlns:a16="http://schemas.microsoft.com/office/drawing/2014/main" id="{D58D347C-3618-AD46-999E-771E7BB4EFFB}"/>
              </a:ext>
            </a:extLst>
          </p:cNvPr>
          <p:cNvSpPr txBox="1">
            <a:spLocks noChangeArrowheads="1"/>
          </p:cNvSpPr>
          <p:nvPr/>
        </p:nvSpPr>
        <p:spPr bwMode="auto">
          <a:xfrm>
            <a:off x="894632" y="4082628"/>
            <a:ext cx="961930" cy="3231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500" dirty="0">
                <a:solidFill>
                  <a:prstClr val="black"/>
                </a:solidFill>
                <a:latin typeface="Calibri" panose="020F0502020204030204"/>
              </a:rPr>
              <a:t>checksum</a:t>
            </a:r>
          </a:p>
        </p:txBody>
      </p:sp>
      <p:sp>
        <p:nvSpPr>
          <p:cNvPr id="4" name="TextBox 3">
            <a:extLst>
              <a:ext uri="{FF2B5EF4-FFF2-40B4-BE49-F238E27FC236}">
                <a16:creationId xmlns:a16="http://schemas.microsoft.com/office/drawing/2014/main" id="{55CFACF2-9C75-D845-963C-B6B5F2FFE843}"/>
              </a:ext>
            </a:extLst>
          </p:cNvPr>
          <p:cNvSpPr txBox="1"/>
          <p:nvPr/>
        </p:nvSpPr>
        <p:spPr>
          <a:xfrm>
            <a:off x="2147969" y="2511023"/>
            <a:ext cx="4458272" cy="369332"/>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1 1 1 0 0 1 1 0 0 1 1 0 0 1 1 0</a:t>
            </a:r>
          </a:p>
        </p:txBody>
      </p:sp>
      <p:sp>
        <p:nvSpPr>
          <p:cNvPr id="19" name="TextBox 18">
            <a:extLst>
              <a:ext uri="{FF2B5EF4-FFF2-40B4-BE49-F238E27FC236}">
                <a16:creationId xmlns:a16="http://schemas.microsoft.com/office/drawing/2014/main" id="{A0134F71-DAF2-4A4A-8007-D61D5E84A131}"/>
              </a:ext>
            </a:extLst>
          </p:cNvPr>
          <p:cNvSpPr txBox="1"/>
          <p:nvPr/>
        </p:nvSpPr>
        <p:spPr>
          <a:xfrm>
            <a:off x="2151533" y="2792933"/>
            <a:ext cx="4458272" cy="369332"/>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1 1 0 1 0 1 0 1 0 1 0 1 0 1 0 1</a:t>
            </a:r>
          </a:p>
        </p:txBody>
      </p:sp>
      <p:sp>
        <p:nvSpPr>
          <p:cNvPr id="20" name="TextBox 19">
            <a:extLst>
              <a:ext uri="{FF2B5EF4-FFF2-40B4-BE49-F238E27FC236}">
                <a16:creationId xmlns:a16="http://schemas.microsoft.com/office/drawing/2014/main" id="{890C7D96-F575-4046-84E4-2FDF9898E9B2}"/>
              </a:ext>
            </a:extLst>
          </p:cNvPr>
          <p:cNvSpPr txBox="1"/>
          <p:nvPr/>
        </p:nvSpPr>
        <p:spPr>
          <a:xfrm>
            <a:off x="1876476" y="3253277"/>
            <a:ext cx="4733988" cy="369332"/>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1 1 0 1 1 1 0 1 1 1 0 1 1 1 0 1 1</a:t>
            </a:r>
          </a:p>
        </p:txBody>
      </p:sp>
      <p:grpSp>
        <p:nvGrpSpPr>
          <p:cNvPr id="5" name="Group 4">
            <a:extLst>
              <a:ext uri="{FF2B5EF4-FFF2-40B4-BE49-F238E27FC236}">
                <a16:creationId xmlns:a16="http://schemas.microsoft.com/office/drawing/2014/main" id="{5970902B-ACCE-A04E-88F8-76E3A68380F6}"/>
              </a:ext>
            </a:extLst>
          </p:cNvPr>
          <p:cNvGrpSpPr/>
          <p:nvPr/>
        </p:nvGrpSpPr>
        <p:grpSpPr>
          <a:xfrm>
            <a:off x="706793" y="3258403"/>
            <a:ext cx="6000750" cy="865888"/>
            <a:chOff x="942391" y="3201536"/>
            <a:chExt cx="8001000" cy="1154516"/>
          </a:xfrm>
        </p:grpSpPr>
        <p:sp>
          <p:nvSpPr>
            <p:cNvPr id="10" name="Oval 6">
              <a:extLst>
                <a:ext uri="{FF2B5EF4-FFF2-40B4-BE49-F238E27FC236}">
                  <a16:creationId xmlns:a16="http://schemas.microsoft.com/office/drawing/2014/main" id="{23B7D25F-DD2D-6943-A612-1B140865E470}"/>
                </a:ext>
              </a:extLst>
            </p:cNvPr>
            <p:cNvSpPr>
              <a:spLocks noChangeArrowheads="1"/>
            </p:cNvSpPr>
            <p:nvPr/>
          </p:nvSpPr>
          <p:spPr bwMode="auto">
            <a:xfrm>
              <a:off x="2542591" y="3264149"/>
              <a:ext cx="304800" cy="3048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1" name="Text Box 7">
              <a:extLst>
                <a:ext uri="{FF2B5EF4-FFF2-40B4-BE49-F238E27FC236}">
                  <a16:creationId xmlns:a16="http://schemas.microsoft.com/office/drawing/2014/main" id="{02C19D06-A871-3D4E-A141-88A98E4A3180}"/>
                </a:ext>
              </a:extLst>
            </p:cNvPr>
            <p:cNvSpPr txBox="1">
              <a:spLocks noChangeArrowheads="1"/>
            </p:cNvSpPr>
            <p:nvPr/>
          </p:nvSpPr>
          <p:spPr bwMode="auto">
            <a:xfrm>
              <a:off x="942391" y="3201536"/>
              <a:ext cx="1517083" cy="43088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500" dirty="0">
                  <a:solidFill>
                    <a:prstClr val="black"/>
                  </a:solidFill>
                  <a:latin typeface="Calibri" panose="020F0502020204030204"/>
                </a:rPr>
                <a:t>wraparound</a:t>
              </a:r>
            </a:p>
          </p:txBody>
        </p:sp>
        <p:sp>
          <p:nvSpPr>
            <p:cNvPr id="14" name="Line 10">
              <a:extLst>
                <a:ext uri="{FF2B5EF4-FFF2-40B4-BE49-F238E27FC236}">
                  <a16:creationId xmlns:a16="http://schemas.microsoft.com/office/drawing/2014/main" id="{D9BAD80C-425E-F145-9700-2D18230226CD}"/>
                </a:ext>
              </a:extLst>
            </p:cNvPr>
            <p:cNvSpPr>
              <a:spLocks noChangeShapeType="1"/>
            </p:cNvSpPr>
            <p:nvPr/>
          </p:nvSpPr>
          <p:spPr bwMode="auto">
            <a:xfrm flipH="1">
              <a:off x="2466391" y="3788911"/>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5" name="Freeform 11">
              <a:extLst>
                <a:ext uri="{FF2B5EF4-FFF2-40B4-BE49-F238E27FC236}">
                  <a16:creationId xmlns:a16="http://schemas.microsoft.com/office/drawing/2014/main" id="{5AD71209-A9E2-794D-88A1-4B84AF2607D1}"/>
                </a:ext>
              </a:extLst>
            </p:cNvPr>
            <p:cNvSpPr>
              <a:spLocks/>
            </p:cNvSpPr>
            <p:nvPr/>
          </p:nvSpPr>
          <p:spPr bwMode="auto">
            <a:xfrm>
              <a:off x="2694991" y="3576532"/>
              <a:ext cx="5795540" cy="95077"/>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1" name="TextBox 20">
              <a:extLst>
                <a:ext uri="{FF2B5EF4-FFF2-40B4-BE49-F238E27FC236}">
                  <a16:creationId xmlns:a16="http://schemas.microsoft.com/office/drawing/2014/main" id="{C9994788-E9D3-5D40-89C2-5666242ECA9E}"/>
                </a:ext>
              </a:extLst>
            </p:cNvPr>
            <p:cNvSpPr txBox="1"/>
            <p:nvPr/>
          </p:nvSpPr>
          <p:spPr>
            <a:xfrm>
              <a:off x="2501236" y="3863610"/>
              <a:ext cx="6311984" cy="492442"/>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  1 0 1 1 1 0 1 1 1 0 1 1 1 1 0 0</a:t>
              </a:r>
            </a:p>
          </p:txBody>
        </p:sp>
      </p:grpSp>
      <p:sp>
        <p:nvSpPr>
          <p:cNvPr id="22" name="TextBox 21">
            <a:extLst>
              <a:ext uri="{FF2B5EF4-FFF2-40B4-BE49-F238E27FC236}">
                <a16:creationId xmlns:a16="http://schemas.microsoft.com/office/drawing/2014/main" id="{6DDD65BC-0FF7-354F-9157-61D155DA77EA}"/>
              </a:ext>
            </a:extLst>
          </p:cNvPr>
          <p:cNvSpPr txBox="1"/>
          <p:nvPr/>
        </p:nvSpPr>
        <p:spPr>
          <a:xfrm>
            <a:off x="1879373" y="4073193"/>
            <a:ext cx="4733988" cy="369332"/>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  0 1 0 0 0 1 0 0 0 1 0 0 0 0 1 1</a:t>
            </a:r>
          </a:p>
        </p:txBody>
      </p:sp>
      <p:grpSp>
        <p:nvGrpSpPr>
          <p:cNvPr id="25" name="Group 24">
            <a:extLst>
              <a:ext uri="{FF2B5EF4-FFF2-40B4-BE49-F238E27FC236}">
                <a16:creationId xmlns:a16="http://schemas.microsoft.com/office/drawing/2014/main" id="{68762320-BD6D-C948-B1B7-DB283C97C3F4}"/>
              </a:ext>
            </a:extLst>
          </p:cNvPr>
          <p:cNvGrpSpPr/>
          <p:nvPr/>
        </p:nvGrpSpPr>
        <p:grpSpPr>
          <a:xfrm>
            <a:off x="5921563" y="2302884"/>
            <a:ext cx="1730931" cy="534386"/>
            <a:chOff x="9436187" y="4862446"/>
            <a:chExt cx="2307908" cy="712515"/>
          </a:xfrm>
        </p:grpSpPr>
        <p:sp>
          <p:nvSpPr>
            <p:cNvPr id="6" name="Oval 5">
              <a:extLst>
                <a:ext uri="{FF2B5EF4-FFF2-40B4-BE49-F238E27FC236}">
                  <a16:creationId xmlns:a16="http://schemas.microsoft.com/office/drawing/2014/main" id="{284FB029-4B65-2048-954A-3FF0EC7EB970}"/>
                </a:ext>
              </a:extLst>
            </p:cNvPr>
            <p:cNvSpPr/>
            <p:nvPr/>
          </p:nvSpPr>
          <p:spPr>
            <a:xfrm>
              <a:off x="9436187" y="5113295"/>
              <a:ext cx="802095" cy="46166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cxnSp>
          <p:nvCxnSpPr>
            <p:cNvPr id="18" name="Straight Arrow Connector 17">
              <a:extLst>
                <a:ext uri="{FF2B5EF4-FFF2-40B4-BE49-F238E27FC236}">
                  <a16:creationId xmlns:a16="http://schemas.microsoft.com/office/drawing/2014/main" id="{776E060C-7039-6D4E-922A-B4F2B25FA505}"/>
                </a:ext>
              </a:extLst>
            </p:cNvPr>
            <p:cNvCxnSpPr>
              <a:cxnSpLocks/>
            </p:cNvCxnSpPr>
            <p:nvPr/>
          </p:nvCxnSpPr>
          <p:spPr>
            <a:xfrm flipV="1">
              <a:off x="10238282" y="5111429"/>
              <a:ext cx="546739" cy="21268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EDC7E60-52B8-E24C-AD91-442CF1A81D58}"/>
                </a:ext>
              </a:extLst>
            </p:cNvPr>
            <p:cNvSpPr txBox="1"/>
            <p:nvPr/>
          </p:nvSpPr>
          <p:spPr>
            <a:xfrm>
              <a:off x="10395008" y="4862446"/>
              <a:ext cx="1349087" cy="492443"/>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  0 1 </a:t>
              </a:r>
            </a:p>
          </p:txBody>
        </p:sp>
      </p:grpSp>
      <p:grpSp>
        <p:nvGrpSpPr>
          <p:cNvPr id="26" name="Group 25">
            <a:extLst>
              <a:ext uri="{FF2B5EF4-FFF2-40B4-BE49-F238E27FC236}">
                <a16:creationId xmlns:a16="http://schemas.microsoft.com/office/drawing/2014/main" id="{F267688F-D990-804C-9C00-CC1C467BE801}"/>
              </a:ext>
            </a:extLst>
          </p:cNvPr>
          <p:cNvGrpSpPr/>
          <p:nvPr/>
        </p:nvGrpSpPr>
        <p:grpSpPr>
          <a:xfrm>
            <a:off x="5932805" y="2574152"/>
            <a:ext cx="1730931" cy="534386"/>
            <a:chOff x="9436187" y="4862446"/>
            <a:chExt cx="2307908" cy="712515"/>
          </a:xfrm>
        </p:grpSpPr>
        <p:sp>
          <p:nvSpPr>
            <p:cNvPr id="27" name="Oval 26">
              <a:extLst>
                <a:ext uri="{FF2B5EF4-FFF2-40B4-BE49-F238E27FC236}">
                  <a16:creationId xmlns:a16="http://schemas.microsoft.com/office/drawing/2014/main" id="{7C22365B-07EC-4545-B454-E8C0FAD379FA}"/>
                </a:ext>
              </a:extLst>
            </p:cNvPr>
            <p:cNvSpPr/>
            <p:nvPr/>
          </p:nvSpPr>
          <p:spPr>
            <a:xfrm>
              <a:off x="9436187" y="5113295"/>
              <a:ext cx="802095" cy="46166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a:endParaRPr>
            </a:p>
          </p:txBody>
        </p:sp>
        <p:cxnSp>
          <p:nvCxnSpPr>
            <p:cNvPr id="28" name="Straight Arrow Connector 27">
              <a:extLst>
                <a:ext uri="{FF2B5EF4-FFF2-40B4-BE49-F238E27FC236}">
                  <a16:creationId xmlns:a16="http://schemas.microsoft.com/office/drawing/2014/main" id="{3D4A8702-0D2D-8243-9C39-DC082DD83FD6}"/>
                </a:ext>
              </a:extLst>
            </p:cNvPr>
            <p:cNvCxnSpPr>
              <a:cxnSpLocks/>
            </p:cNvCxnSpPr>
            <p:nvPr/>
          </p:nvCxnSpPr>
          <p:spPr>
            <a:xfrm flipV="1">
              <a:off x="10238282" y="5111429"/>
              <a:ext cx="546739" cy="21268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EE21CCB-6730-9040-AA0C-B91C9765D0AC}"/>
                </a:ext>
              </a:extLst>
            </p:cNvPr>
            <p:cNvSpPr txBox="1"/>
            <p:nvPr/>
          </p:nvSpPr>
          <p:spPr>
            <a:xfrm>
              <a:off x="10395008" y="4862446"/>
              <a:ext cx="1349087" cy="492443"/>
            </a:xfrm>
            <a:prstGeom prst="rect">
              <a:avLst/>
            </a:prstGeom>
            <a:noFill/>
          </p:spPr>
          <p:txBody>
            <a:bodyPr wrap="none" rtlCol="0">
              <a:spAutoFit/>
            </a:bodyPr>
            <a:lstStyle/>
            <a:p>
              <a:pPr defTabSz="685800" eaLnBrk="1" fontAlgn="auto" hangingPunct="1">
                <a:spcBef>
                  <a:spcPts val="0"/>
                </a:spcBef>
                <a:spcAft>
                  <a:spcPts val="0"/>
                </a:spcAft>
                <a:defRPr/>
              </a:pPr>
              <a:r>
                <a:rPr lang="en-US" sz="1800" b="1" dirty="0">
                  <a:solidFill>
                    <a:prstClr val="black"/>
                  </a:solidFill>
                  <a:latin typeface="Courier" pitchFamily="2" charset="0"/>
                  <a:ea typeface="+mn-ea"/>
                </a:rPr>
                <a:t>  1 0 </a:t>
              </a:r>
            </a:p>
          </p:txBody>
        </p:sp>
      </p:grpSp>
      <p:grpSp>
        <p:nvGrpSpPr>
          <p:cNvPr id="33" name="Group 32">
            <a:extLst>
              <a:ext uri="{FF2B5EF4-FFF2-40B4-BE49-F238E27FC236}">
                <a16:creationId xmlns:a16="http://schemas.microsoft.com/office/drawing/2014/main" id="{99699F57-48BE-454E-800A-4CC5A118241E}"/>
              </a:ext>
            </a:extLst>
          </p:cNvPr>
          <p:cNvGrpSpPr/>
          <p:nvPr/>
        </p:nvGrpSpPr>
        <p:grpSpPr>
          <a:xfrm>
            <a:off x="6699877" y="3198633"/>
            <a:ext cx="2047124" cy="1338828"/>
            <a:chOff x="8933167" y="3121843"/>
            <a:chExt cx="2729498" cy="1785104"/>
          </a:xfrm>
        </p:grpSpPr>
        <p:sp>
          <p:nvSpPr>
            <p:cNvPr id="31" name="Right Brace 30">
              <a:extLst>
                <a:ext uri="{FF2B5EF4-FFF2-40B4-BE49-F238E27FC236}">
                  <a16:creationId xmlns:a16="http://schemas.microsoft.com/office/drawing/2014/main" id="{BC6D80E3-4974-474B-9338-024650CB8A51}"/>
                </a:ext>
              </a:extLst>
            </p:cNvPr>
            <p:cNvSpPr/>
            <p:nvPr/>
          </p:nvSpPr>
          <p:spPr>
            <a:xfrm>
              <a:off x="8933167" y="3244723"/>
              <a:ext cx="247697" cy="1504855"/>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eaLnBrk="1" fontAlgn="auto" hangingPunct="1">
                <a:spcBef>
                  <a:spcPts val="0"/>
                </a:spcBef>
                <a:spcAft>
                  <a:spcPts val="0"/>
                </a:spcAft>
                <a:defRPr/>
              </a:pPr>
              <a:endParaRPr lang="en-US" sz="1350" dirty="0">
                <a:solidFill>
                  <a:prstClr val="black"/>
                </a:solidFill>
                <a:latin typeface="Calibri"/>
              </a:endParaRPr>
            </a:p>
          </p:txBody>
        </p:sp>
        <p:sp>
          <p:nvSpPr>
            <p:cNvPr id="32" name="TextBox 31">
              <a:extLst>
                <a:ext uri="{FF2B5EF4-FFF2-40B4-BE49-F238E27FC236}">
                  <a16:creationId xmlns:a16="http://schemas.microsoft.com/office/drawing/2014/main" id="{3F87D51E-FE73-0B41-A199-876E1DAEB87D}"/>
                </a:ext>
              </a:extLst>
            </p:cNvPr>
            <p:cNvSpPr txBox="1"/>
            <p:nvPr/>
          </p:nvSpPr>
          <p:spPr>
            <a:xfrm>
              <a:off x="9259242" y="3121843"/>
              <a:ext cx="2403423" cy="1785104"/>
            </a:xfrm>
            <a:prstGeom prst="rect">
              <a:avLst/>
            </a:prstGeom>
            <a:noFill/>
          </p:spPr>
          <p:txBody>
            <a:bodyPr wrap="square" rtlCol="0">
              <a:spAutoFit/>
            </a:bodyPr>
            <a:lstStyle/>
            <a:p>
              <a:pPr defTabSz="685800" eaLnBrk="1" fontAlgn="auto" hangingPunct="1">
                <a:lnSpc>
                  <a:spcPct val="90000"/>
                </a:lnSpc>
                <a:spcBef>
                  <a:spcPts val="0"/>
                </a:spcBef>
                <a:spcAft>
                  <a:spcPts val="0"/>
                </a:spcAft>
                <a:defRPr/>
              </a:pPr>
              <a:r>
                <a:rPr lang="en-US" sz="1800" dirty="0">
                  <a:solidFill>
                    <a:prstClr val="black"/>
                  </a:solidFill>
                  <a:latin typeface="Calibri"/>
                  <a:ea typeface="+mn-ea"/>
                </a:rPr>
                <a:t>Even though numbers have changed (bit flips), </a:t>
              </a:r>
              <a:r>
                <a:rPr lang="en-US" sz="1800" i="1" dirty="0">
                  <a:solidFill>
                    <a:srgbClr val="C00000"/>
                  </a:solidFill>
                  <a:latin typeface="Calibri"/>
                  <a:ea typeface="+mn-ea"/>
                </a:rPr>
                <a:t>no</a:t>
              </a:r>
              <a:r>
                <a:rPr lang="en-US" sz="1800" dirty="0">
                  <a:solidFill>
                    <a:prstClr val="black"/>
                  </a:solidFill>
                  <a:latin typeface="Calibri"/>
                  <a:ea typeface="+mn-ea"/>
                </a:rPr>
                <a:t> change in checksum!</a:t>
              </a:r>
            </a:p>
          </p:txBody>
        </p:sp>
      </p:grpSp>
      <p:sp>
        <p:nvSpPr>
          <p:cNvPr id="30" name="Slide Number Placeholder 2">
            <a:extLst>
              <a:ext uri="{FF2B5EF4-FFF2-40B4-BE49-F238E27FC236}">
                <a16:creationId xmlns:a16="http://schemas.microsoft.com/office/drawing/2014/main" id="{D233B24E-8C39-314A-B31B-073F993E5C5B}"/>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27</a:t>
            </a:fld>
            <a:endParaRPr lang="en-US" dirty="0"/>
          </a:p>
        </p:txBody>
      </p:sp>
    </p:spTree>
    <p:extLst>
      <p:ext uri="{BB962C8B-B14F-4D97-AF65-F5344CB8AC3E}">
        <p14:creationId xmlns:p14="http://schemas.microsoft.com/office/powerpoint/2010/main" val="119538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Principles of reliable data transfer </a:t>
            </a:r>
          </a:p>
        </p:txBody>
      </p:sp>
      <p:grpSp>
        <p:nvGrpSpPr>
          <p:cNvPr id="160" name="Group 159">
            <a:extLst>
              <a:ext uri="{FF2B5EF4-FFF2-40B4-BE49-F238E27FC236}">
                <a16:creationId xmlns:a16="http://schemas.microsoft.com/office/drawing/2014/main" id="{AA406E8C-63BA-BB42-9548-F314CBF3CE0A}"/>
              </a:ext>
            </a:extLst>
          </p:cNvPr>
          <p:cNvGrpSpPr/>
          <p:nvPr/>
        </p:nvGrpSpPr>
        <p:grpSpPr>
          <a:xfrm>
            <a:off x="179137" y="2291085"/>
            <a:ext cx="3860507" cy="1578469"/>
            <a:chOff x="737513" y="2398718"/>
            <a:chExt cx="5595549" cy="2104625"/>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522023"/>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200" dirty="0">
                    <a:solidFill>
                      <a:prstClr val="black"/>
                    </a:solidFill>
                    <a:latin typeface="Calibri" panose="020F0502020204030204"/>
                    <a:ea typeface="+mn-ea"/>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553996"/>
              <a:chOff x="9950444" y="999755"/>
              <a:chExt cx="577241" cy="553996"/>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553996"/>
              </a:xfrm>
              <a:prstGeom prst="rect">
                <a:avLst/>
              </a:prstGeom>
              <a:noFill/>
            </p:spPr>
            <p:txBody>
              <a:bodyPr wrap="square" rtlCol="0">
                <a:spAutoFit/>
              </a:bodyPr>
              <a:lstStyle/>
              <a:p>
                <a:pPr defTabSz="685800" eaLnBrk="1" fontAlgn="auto" hangingPunct="1">
                  <a:spcBef>
                    <a:spcPts val="0"/>
                  </a:spcBef>
                  <a:spcAft>
                    <a:spcPts val="0"/>
                  </a:spcAft>
                  <a:defRPr/>
                </a:pPr>
                <a:r>
                  <a:rPr lang="en-US" sz="105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kern="0" dirty="0">
                  <a:solidFill>
                    <a:srgbClr val="000000"/>
                  </a:solidFill>
                  <a:latin typeface="Tahoma" panose="020B0604030504040204" pitchFamily="34" charset="0"/>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522023"/>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200" dirty="0">
                    <a:solidFill>
                      <a:prstClr val="black"/>
                    </a:solidFill>
                    <a:latin typeface="Calibri" panose="020F0502020204030204"/>
                    <a:ea typeface="+mn-ea"/>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553997"/>
              <a:chOff x="9678159" y="981583"/>
              <a:chExt cx="577241" cy="55399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553997"/>
              </a:xfrm>
              <a:prstGeom prst="rect">
                <a:avLst/>
              </a:prstGeom>
              <a:noFill/>
            </p:spPr>
            <p:txBody>
              <a:bodyPr wrap="square" rtlCol="0">
                <a:spAutoFit/>
              </a:bodyPr>
              <a:lstStyle/>
              <a:p>
                <a:pPr defTabSz="685800" eaLnBrk="1" fontAlgn="auto" hangingPunct="1">
                  <a:spcBef>
                    <a:spcPts val="0"/>
                  </a:spcBef>
                  <a:spcAft>
                    <a:spcPts val="0"/>
                  </a:spcAft>
                  <a:defRPr/>
                </a:pPr>
                <a:r>
                  <a:rPr lang="en-US" sz="105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1" hangingPunct="1">
                  <a:defRPr/>
                </a:pPr>
                <a:endParaRPr lang="en-US" sz="1350" kern="0" dirty="0">
                  <a:solidFill>
                    <a:srgbClr val="FF0000"/>
                  </a:solidFill>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86764" cy="400109"/>
              <a:chOff x="7504363" y="3141846"/>
              <a:chExt cx="2086764" cy="400109"/>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895375"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white"/>
                    </a:solidFill>
                    <a:latin typeface="Calibri" panose="020F0502020204030204"/>
                    <a:ea typeface="+mn-ea"/>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4"/>
              <a:ext cx="1143602"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application</a:t>
              </a:r>
              <a:endParaRPr lang="en-US" sz="1350" dirty="0">
                <a:solidFill>
                  <a:prstClr val="black"/>
                </a:solidFill>
                <a:latin typeface="Calibri" panose="020F0502020204030204"/>
                <a:ea typeface="+mn-ea"/>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2"/>
              <a:ext cx="1008841"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transport</a:t>
              </a:r>
              <a:endParaRPr lang="en-US" sz="1350" dirty="0">
                <a:solidFill>
                  <a:prstClr val="black"/>
                </a:solidFill>
                <a:latin typeface="Calibri" panose="020F0502020204030204"/>
                <a:ea typeface="+mn-ea"/>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6" y="4010900"/>
              <a:ext cx="4025651" cy="492443"/>
            </a:xfrm>
            <a:prstGeom prst="rect">
              <a:avLst/>
            </a:prstGeom>
            <a:noFill/>
          </p:spPr>
          <p:txBody>
            <a:bodyPr wrap="square" rtlCol="0">
              <a:spAutoFit/>
            </a:bodyPr>
            <a:lstStyle/>
            <a:p>
              <a:pPr defTabSz="685800" eaLnBrk="1" fontAlgn="auto" hangingPunct="1">
                <a:spcBef>
                  <a:spcPts val="0"/>
                </a:spcBef>
                <a:spcAft>
                  <a:spcPts val="0"/>
                </a:spcAft>
                <a:defRPr/>
              </a:pPr>
              <a:r>
                <a:rPr lang="en-US" sz="1800" dirty="0">
                  <a:solidFill>
                    <a:prstClr val="black"/>
                  </a:solidFill>
                  <a:latin typeface="Calibri" panose="020F0502020204030204"/>
                  <a:ea typeface="+mn-ea"/>
                </a:rPr>
                <a:t>reliable service </a:t>
              </a:r>
              <a:r>
                <a:rPr lang="en-US" sz="1800" i="1" dirty="0">
                  <a:solidFill>
                    <a:srgbClr val="C00000"/>
                  </a:solidFill>
                  <a:latin typeface="Calibri" panose="020F0502020204030204"/>
                  <a:ea typeface="+mn-ea"/>
                </a:rPr>
                <a:t>abstraction</a:t>
              </a:r>
            </a:p>
          </p:txBody>
        </p:sp>
      </p:grpSp>
      <p:sp>
        <p:nvSpPr>
          <p:cNvPr id="66" name="Slide Number Placeholder 2">
            <a:extLst>
              <a:ext uri="{FF2B5EF4-FFF2-40B4-BE49-F238E27FC236}">
                <a16:creationId xmlns:a16="http://schemas.microsoft.com/office/drawing/2014/main" id="{F496148B-2840-6E48-8844-F185577E4A6A}"/>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28</a:t>
            </a:fld>
            <a:endParaRPr lang="en-US" dirty="0"/>
          </a:p>
        </p:txBody>
      </p:sp>
    </p:spTree>
    <p:extLst>
      <p:ext uri="{BB962C8B-B14F-4D97-AF65-F5344CB8AC3E}">
        <p14:creationId xmlns:p14="http://schemas.microsoft.com/office/powerpoint/2010/main" val="3177238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Principles of reliable data 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4669561" y="2282929"/>
            <a:ext cx="4198938" cy="3094846"/>
            <a:chOff x="6226081" y="2364366"/>
            <a:chExt cx="5598584" cy="4126462"/>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608646"/>
              <a:chOff x="9852456" y="608434"/>
              <a:chExt cx="1245036" cy="608646"/>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71867"/>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350" dirty="0">
                    <a:solidFill>
                      <a:prstClr val="black"/>
                    </a:solidFill>
                    <a:latin typeface="Calibri" panose="020F0502020204030204"/>
                    <a:ea typeface="+mn-ea"/>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615555"/>
              <a:chOff x="9950444" y="999755"/>
              <a:chExt cx="577241" cy="615555"/>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615555"/>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kern="0" dirty="0">
                  <a:solidFill>
                    <a:srgbClr val="000000"/>
                  </a:solidFill>
                  <a:latin typeface="Tahoma" panose="020B0604030504040204" pitchFamily="34" charset="0"/>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608646"/>
              <a:chOff x="9852456" y="608434"/>
              <a:chExt cx="1245036" cy="608646"/>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71867"/>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350" dirty="0">
                    <a:solidFill>
                      <a:prstClr val="black"/>
                    </a:solidFill>
                    <a:latin typeface="Calibri" panose="020F0502020204030204"/>
                    <a:ea typeface="+mn-ea"/>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615553"/>
              <a:chOff x="9678159" y="981583"/>
              <a:chExt cx="577241" cy="615553"/>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615553"/>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1" hangingPunct="1">
                  <a:defRPr/>
                </a:pPr>
                <a:endParaRPr lang="en-US" sz="1350" kern="0" dirty="0">
                  <a:solidFill>
                    <a:srgbClr val="FF0000"/>
                  </a:solidFill>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1051999"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application</a:t>
              </a:r>
              <a:endParaRPr lang="en-US" sz="1350" dirty="0">
                <a:solidFill>
                  <a:prstClr val="black"/>
                </a:solidFill>
                <a:latin typeface="Calibri" panose="020F0502020204030204"/>
                <a:ea typeface="+mn-ea"/>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928032"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transport</a:t>
              </a:r>
              <a:endParaRPr lang="en-US" sz="1350" dirty="0">
                <a:solidFill>
                  <a:prstClr val="black"/>
                </a:solidFill>
                <a:latin typeface="Calibri" panose="020F0502020204030204"/>
                <a:ea typeface="+mn-ea"/>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92443"/>
            </a:xfrm>
            <a:prstGeom prst="rect">
              <a:avLst/>
            </a:prstGeom>
            <a:noFill/>
          </p:spPr>
          <p:txBody>
            <a:bodyPr wrap="square" rtlCol="0">
              <a:spAutoFit/>
            </a:bodyPr>
            <a:lstStyle/>
            <a:p>
              <a:pPr defTabSz="685800" eaLnBrk="1" fontAlgn="auto" hangingPunct="1">
                <a:spcBef>
                  <a:spcPts val="0"/>
                </a:spcBef>
                <a:spcAft>
                  <a:spcPts val="0"/>
                </a:spcAft>
                <a:defRPr/>
              </a:pPr>
              <a:r>
                <a:rPr lang="en-US" sz="1800" dirty="0">
                  <a:solidFill>
                    <a:prstClr val="black"/>
                  </a:solidFill>
                  <a:latin typeface="Calibri" panose="020F0502020204030204"/>
                  <a:ea typeface="+mn-ea"/>
                </a:rPr>
                <a:t>reliable service </a:t>
              </a:r>
              <a:r>
                <a:rPr lang="en-US" sz="1800" i="1" dirty="0">
                  <a:solidFill>
                    <a:srgbClr val="C00000"/>
                  </a:solidFill>
                  <a:latin typeface="Calibri" panose="020F0502020204030204"/>
                  <a:ea typeface="+mn-ea"/>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512359"/>
              <a:chOff x="6737055" y="3471301"/>
              <a:chExt cx="5250830" cy="512359"/>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109326" cy="400110"/>
                <a:chOff x="7504363" y="3155701"/>
                <a:chExt cx="2109326" cy="400110"/>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8" y="3155701"/>
                  <a:ext cx="1987211" cy="400110"/>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white"/>
                      </a:solidFill>
                      <a:latin typeface="Calibri" panose="020F0502020204030204"/>
                      <a:ea typeface="+mn-ea"/>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855363"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network</a:t>
              </a:r>
              <a:endParaRPr lang="en-US" sz="1350" dirty="0">
                <a:solidFill>
                  <a:prstClr val="black"/>
                </a:solidFill>
                <a:latin typeface="Calibri" panose="020F0502020204030204"/>
                <a:ea typeface="+mn-ea"/>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928032"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transport</a:t>
              </a:r>
              <a:endParaRPr lang="en-US" sz="1350" dirty="0">
                <a:solidFill>
                  <a:prstClr val="black"/>
                </a:solidFill>
                <a:latin typeface="Calibri" panose="020F0502020204030204"/>
                <a:ea typeface="+mn-ea"/>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71008"/>
            </a:xfrm>
            <a:prstGeom prst="rect">
              <a:avLst/>
            </a:prstGeom>
            <a:noFill/>
          </p:spPr>
          <p:txBody>
            <a:bodyPr wrap="square" rtlCol="0">
              <a:spAutoFit/>
            </a:bodyPr>
            <a:lstStyle/>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sender-side of</a:t>
              </a:r>
            </a:p>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6" y="3826493"/>
              <a:ext cx="1896984" cy="871008"/>
            </a:xfrm>
            <a:prstGeom prst="rect">
              <a:avLst/>
            </a:prstGeom>
            <a:noFill/>
          </p:spPr>
          <p:txBody>
            <a:bodyPr wrap="square" rtlCol="0">
              <a:spAutoFit/>
            </a:bodyPr>
            <a:lstStyle/>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receiver-side</a:t>
              </a:r>
            </a:p>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0" name="Group 159">
            <a:extLst>
              <a:ext uri="{FF2B5EF4-FFF2-40B4-BE49-F238E27FC236}">
                <a16:creationId xmlns:a16="http://schemas.microsoft.com/office/drawing/2014/main" id="{AA406E8C-63BA-BB42-9548-F314CBF3CE0A}"/>
              </a:ext>
            </a:extLst>
          </p:cNvPr>
          <p:cNvGrpSpPr/>
          <p:nvPr/>
        </p:nvGrpSpPr>
        <p:grpSpPr>
          <a:xfrm>
            <a:off x="179137" y="2291085"/>
            <a:ext cx="3860507" cy="1578469"/>
            <a:chOff x="737513" y="2398718"/>
            <a:chExt cx="5595549" cy="2104625"/>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522023"/>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200" dirty="0">
                    <a:solidFill>
                      <a:prstClr val="black"/>
                    </a:solidFill>
                    <a:latin typeface="Calibri" panose="020F0502020204030204"/>
                    <a:ea typeface="+mn-ea"/>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553996"/>
              <a:chOff x="9950444" y="999755"/>
              <a:chExt cx="577241" cy="553996"/>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553996"/>
              </a:xfrm>
              <a:prstGeom prst="rect">
                <a:avLst/>
              </a:prstGeom>
              <a:noFill/>
            </p:spPr>
            <p:txBody>
              <a:bodyPr wrap="square" rtlCol="0">
                <a:spAutoFit/>
              </a:bodyPr>
              <a:lstStyle/>
              <a:p>
                <a:pPr defTabSz="685800" eaLnBrk="1" fontAlgn="auto" hangingPunct="1">
                  <a:spcBef>
                    <a:spcPts val="0"/>
                  </a:spcBef>
                  <a:spcAft>
                    <a:spcPts val="0"/>
                  </a:spcAft>
                  <a:defRPr/>
                </a:pPr>
                <a:r>
                  <a:rPr lang="en-US" sz="105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kern="0" dirty="0">
                  <a:solidFill>
                    <a:srgbClr val="000000"/>
                  </a:solidFill>
                  <a:latin typeface="Tahoma" panose="020B0604030504040204" pitchFamily="34" charset="0"/>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522023"/>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200" dirty="0">
                    <a:solidFill>
                      <a:prstClr val="black"/>
                    </a:solidFill>
                    <a:latin typeface="Calibri" panose="020F0502020204030204"/>
                    <a:ea typeface="+mn-ea"/>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553997"/>
              <a:chOff x="9678159" y="981583"/>
              <a:chExt cx="577241" cy="55399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553997"/>
              </a:xfrm>
              <a:prstGeom prst="rect">
                <a:avLst/>
              </a:prstGeom>
              <a:noFill/>
            </p:spPr>
            <p:txBody>
              <a:bodyPr wrap="square" rtlCol="0">
                <a:spAutoFit/>
              </a:bodyPr>
              <a:lstStyle/>
              <a:p>
                <a:pPr defTabSz="685800" eaLnBrk="1" fontAlgn="auto" hangingPunct="1">
                  <a:spcBef>
                    <a:spcPts val="0"/>
                  </a:spcBef>
                  <a:spcAft>
                    <a:spcPts val="0"/>
                  </a:spcAft>
                  <a:defRPr/>
                </a:pPr>
                <a:r>
                  <a:rPr lang="en-US" sz="105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1" hangingPunct="1">
                  <a:defRPr/>
                </a:pPr>
                <a:endParaRPr lang="en-US" sz="1350" kern="0" dirty="0">
                  <a:solidFill>
                    <a:srgbClr val="FF0000"/>
                  </a:solidFill>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86764" cy="400109"/>
              <a:chOff x="7504363" y="3141846"/>
              <a:chExt cx="2086764" cy="400109"/>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895375"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white"/>
                    </a:solidFill>
                    <a:latin typeface="Calibri" panose="020F0502020204030204"/>
                    <a:ea typeface="+mn-ea"/>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4"/>
              <a:ext cx="1143602"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application</a:t>
              </a:r>
              <a:endParaRPr lang="en-US" sz="1350" dirty="0">
                <a:solidFill>
                  <a:prstClr val="black"/>
                </a:solidFill>
                <a:latin typeface="Calibri" panose="020F0502020204030204"/>
                <a:ea typeface="+mn-ea"/>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2"/>
              <a:ext cx="1008841"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transport</a:t>
              </a:r>
              <a:endParaRPr lang="en-US" sz="1350" dirty="0">
                <a:solidFill>
                  <a:prstClr val="black"/>
                </a:solidFill>
                <a:latin typeface="Calibri" panose="020F0502020204030204"/>
                <a:ea typeface="+mn-ea"/>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6" y="4010900"/>
              <a:ext cx="4025651" cy="492443"/>
            </a:xfrm>
            <a:prstGeom prst="rect">
              <a:avLst/>
            </a:prstGeom>
            <a:noFill/>
          </p:spPr>
          <p:txBody>
            <a:bodyPr wrap="square" rtlCol="0">
              <a:spAutoFit/>
            </a:bodyPr>
            <a:lstStyle/>
            <a:p>
              <a:pPr defTabSz="685800" eaLnBrk="1" fontAlgn="auto" hangingPunct="1">
                <a:spcBef>
                  <a:spcPts val="0"/>
                </a:spcBef>
                <a:spcAft>
                  <a:spcPts val="0"/>
                </a:spcAft>
                <a:defRPr/>
              </a:pPr>
              <a:r>
                <a:rPr lang="en-US" sz="1800" dirty="0">
                  <a:solidFill>
                    <a:prstClr val="black"/>
                  </a:solidFill>
                  <a:latin typeface="Calibri" panose="020F0502020204030204"/>
                  <a:ea typeface="+mn-ea"/>
                </a:rPr>
                <a:t>reliable service </a:t>
              </a:r>
              <a:r>
                <a:rPr lang="en-US" sz="1800" i="1" dirty="0">
                  <a:solidFill>
                    <a:prstClr val="black"/>
                  </a:solidFill>
                  <a:latin typeface="Calibri" panose="020F0502020204030204"/>
                  <a:ea typeface="+mn-ea"/>
                </a:rPr>
                <a:t>abstraction</a:t>
              </a:r>
            </a:p>
          </p:txBody>
        </p:sp>
      </p:grpSp>
      <p:sp>
        <p:nvSpPr>
          <p:cNvPr id="8" name="Rectangle 7">
            <a:extLst>
              <a:ext uri="{FF2B5EF4-FFF2-40B4-BE49-F238E27FC236}">
                <a16:creationId xmlns:a16="http://schemas.microsoft.com/office/drawing/2014/main" id="{7A8CA74F-CA34-FE4D-BBA8-48490B128E60}"/>
              </a:ext>
            </a:extLst>
          </p:cNvPr>
          <p:cNvSpPr/>
          <p:nvPr/>
        </p:nvSpPr>
        <p:spPr>
          <a:xfrm>
            <a:off x="221920" y="2219457"/>
            <a:ext cx="3949248" cy="179595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 name="Right Arrow 13">
            <a:extLst>
              <a:ext uri="{FF2B5EF4-FFF2-40B4-BE49-F238E27FC236}">
                <a16:creationId xmlns:a16="http://schemas.microsoft.com/office/drawing/2014/main" id="{801B4EA5-1C05-1743-AB9A-0E0C38CDA1C5}"/>
              </a:ext>
            </a:extLst>
          </p:cNvPr>
          <p:cNvSpPr/>
          <p:nvPr/>
        </p:nvSpPr>
        <p:spPr>
          <a:xfrm>
            <a:off x="4086617" y="3187092"/>
            <a:ext cx="479120" cy="760956"/>
          </a:xfrm>
          <a:prstGeom prst="rightArrow">
            <a:avLst/>
          </a:prstGeom>
          <a:gradFill>
            <a:gsLst>
              <a:gs pos="0">
                <a:schemeClr val="accent1">
                  <a:lumMod val="5000"/>
                  <a:lumOff val="95000"/>
                </a:schemeClr>
              </a:gs>
              <a:gs pos="56000">
                <a:srgbClr val="C0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 name="Oval 2">
            <a:extLst>
              <a:ext uri="{FF2B5EF4-FFF2-40B4-BE49-F238E27FC236}">
                <a16:creationId xmlns:a16="http://schemas.microsoft.com/office/drawing/2014/main" id="{5B614158-9985-B744-A5F2-706D5EF5D7E9}"/>
              </a:ext>
            </a:extLst>
          </p:cNvPr>
          <p:cNvSpPr/>
          <p:nvPr/>
        </p:nvSpPr>
        <p:spPr>
          <a:xfrm>
            <a:off x="4940084" y="3240114"/>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31" name="Oval 230">
            <a:extLst>
              <a:ext uri="{FF2B5EF4-FFF2-40B4-BE49-F238E27FC236}">
                <a16:creationId xmlns:a16="http://schemas.microsoft.com/office/drawing/2014/main" id="{4368BA48-D0C1-5949-880D-4FFAA26CCECD}"/>
              </a:ext>
            </a:extLst>
          </p:cNvPr>
          <p:cNvSpPr/>
          <p:nvPr/>
        </p:nvSpPr>
        <p:spPr>
          <a:xfrm>
            <a:off x="7414002" y="3238177"/>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9" name="Slide Number Placeholder 2">
            <a:extLst>
              <a:ext uri="{FF2B5EF4-FFF2-40B4-BE49-F238E27FC236}">
                <a16:creationId xmlns:a16="http://schemas.microsoft.com/office/drawing/2014/main" id="{F8B5D732-7735-9D4B-9D7A-0E2219A426F1}"/>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29</a:t>
            </a:fld>
            <a:endParaRPr lang="en-US" dirty="0"/>
          </a:p>
        </p:txBody>
      </p:sp>
    </p:spTree>
    <p:extLst>
      <p:ext uri="{BB962C8B-B14F-4D97-AF65-F5344CB8AC3E}">
        <p14:creationId xmlns:p14="http://schemas.microsoft.com/office/powerpoint/2010/main" val="327558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00"/>
                                        <p:tgtEl>
                                          <p:spTgt spid="9"/>
                                        </p:tgtEl>
                                      </p:cBhvr>
                                    </p:animEffect>
                                  </p:childTnLst>
                                </p:cTn>
                              </p:par>
                            </p:childTnLst>
                          </p:cTn>
                        </p:par>
                        <p:par>
                          <p:cTn id="12" fill="hold">
                            <p:stCondLst>
                              <p:cond delay="1500"/>
                            </p:stCondLst>
                            <p:childTnLst>
                              <p:par>
                                <p:cTn id="13" presetID="9" presetClass="exit" presetSubtype="0" fill="hold" grpId="1" nodeType="afterEffect">
                                  <p:stCondLst>
                                    <p:cond delay="0"/>
                                  </p:stCondLst>
                                  <p:childTnLst>
                                    <p:animEffect transition="out" filter="dissolve">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par>
                          <p:cTn id="21" fill="hold">
                            <p:stCondLst>
                              <p:cond delay="500"/>
                            </p:stCondLst>
                            <p:childTnLst>
                              <p:par>
                                <p:cTn id="22" presetID="9" presetClass="entr" presetSubtype="0" fill="hold" grpId="0" nodeType="afterEffect">
                                  <p:stCondLst>
                                    <p:cond delay="1000"/>
                                  </p:stCondLst>
                                  <p:childTnLst>
                                    <p:set>
                                      <p:cBhvr>
                                        <p:cTn id="23" dur="1" fill="hold">
                                          <p:stCondLst>
                                            <p:cond delay="0"/>
                                          </p:stCondLst>
                                        </p:cTn>
                                        <p:tgtEl>
                                          <p:spTgt spid="231"/>
                                        </p:tgtEl>
                                        <p:attrNameLst>
                                          <p:attrName>style.visibility</p:attrName>
                                        </p:attrNameLst>
                                      </p:cBhvr>
                                      <p:to>
                                        <p:strVal val="visible"/>
                                      </p:to>
                                    </p:set>
                                    <p:animEffect transition="in" filter="dissolve">
                                      <p:cBhvr>
                                        <p:cTn id="24"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3" grpId="0" animBg="1"/>
      <p:bldP spid="23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Principles of reliable data 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4669561" y="2282929"/>
            <a:ext cx="4198938" cy="3094846"/>
            <a:chOff x="6226081" y="2364366"/>
            <a:chExt cx="5598584" cy="4126462"/>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608646"/>
              <a:chOff x="9852456" y="608434"/>
              <a:chExt cx="1245036" cy="608646"/>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71867"/>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350" dirty="0">
                    <a:solidFill>
                      <a:prstClr val="black"/>
                    </a:solidFill>
                    <a:latin typeface="Calibri" panose="020F0502020204030204"/>
                    <a:ea typeface="+mn-ea"/>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615555"/>
              <a:chOff x="9950444" y="999755"/>
              <a:chExt cx="577241" cy="615555"/>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615555"/>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kern="0" dirty="0">
                  <a:solidFill>
                    <a:srgbClr val="000000"/>
                  </a:solidFill>
                  <a:latin typeface="Tahoma" panose="020B0604030504040204" pitchFamily="34" charset="0"/>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608646"/>
              <a:chOff x="9852456" y="608434"/>
              <a:chExt cx="1245036" cy="608646"/>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71867"/>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350" dirty="0">
                    <a:solidFill>
                      <a:prstClr val="black"/>
                    </a:solidFill>
                    <a:latin typeface="Calibri" panose="020F0502020204030204"/>
                    <a:ea typeface="+mn-ea"/>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615553"/>
              <a:chOff x="9678159" y="981583"/>
              <a:chExt cx="577241" cy="615553"/>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615553"/>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1" hangingPunct="1">
                  <a:defRPr/>
                </a:pPr>
                <a:endParaRPr lang="en-US" sz="1350" kern="0" dirty="0">
                  <a:solidFill>
                    <a:srgbClr val="FF0000"/>
                  </a:solidFill>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1051999"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application</a:t>
              </a:r>
              <a:endParaRPr lang="en-US" sz="1350" dirty="0">
                <a:solidFill>
                  <a:prstClr val="black"/>
                </a:solidFill>
                <a:latin typeface="Calibri" panose="020F0502020204030204"/>
                <a:ea typeface="+mn-ea"/>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928032"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transport</a:t>
              </a:r>
              <a:endParaRPr lang="en-US" sz="1350" dirty="0">
                <a:solidFill>
                  <a:prstClr val="black"/>
                </a:solidFill>
                <a:latin typeface="Calibri" panose="020F0502020204030204"/>
                <a:ea typeface="+mn-ea"/>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92443"/>
            </a:xfrm>
            <a:prstGeom prst="rect">
              <a:avLst/>
            </a:prstGeom>
            <a:noFill/>
          </p:spPr>
          <p:txBody>
            <a:bodyPr wrap="square" rtlCol="0">
              <a:spAutoFit/>
            </a:bodyPr>
            <a:lstStyle/>
            <a:p>
              <a:pPr defTabSz="685800" eaLnBrk="1" fontAlgn="auto" hangingPunct="1">
                <a:spcBef>
                  <a:spcPts val="0"/>
                </a:spcBef>
                <a:spcAft>
                  <a:spcPts val="0"/>
                </a:spcAft>
                <a:defRPr/>
              </a:pPr>
              <a:r>
                <a:rPr lang="en-US" sz="1800" dirty="0">
                  <a:solidFill>
                    <a:prstClr val="black"/>
                  </a:solidFill>
                  <a:latin typeface="Calibri" panose="020F0502020204030204"/>
                  <a:ea typeface="+mn-ea"/>
                </a:rPr>
                <a:t>reliable service </a:t>
              </a:r>
              <a:r>
                <a:rPr lang="en-US" sz="1800" i="1" dirty="0">
                  <a:solidFill>
                    <a:srgbClr val="C00000"/>
                  </a:solidFill>
                  <a:latin typeface="Calibri" panose="020F0502020204030204"/>
                  <a:ea typeface="+mn-ea"/>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512359"/>
              <a:chOff x="6737055" y="3471301"/>
              <a:chExt cx="5250830" cy="512359"/>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109326" cy="400110"/>
                <a:chOff x="7504363" y="3155701"/>
                <a:chExt cx="2109326" cy="400110"/>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8" y="3155701"/>
                  <a:ext cx="1987211" cy="400110"/>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white"/>
                      </a:solidFill>
                      <a:latin typeface="Calibri" panose="020F0502020204030204"/>
                      <a:ea typeface="+mn-ea"/>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855363"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network</a:t>
              </a:r>
              <a:endParaRPr lang="en-US" sz="1350" dirty="0">
                <a:solidFill>
                  <a:prstClr val="black"/>
                </a:solidFill>
                <a:latin typeface="Calibri" panose="020F0502020204030204"/>
                <a:ea typeface="+mn-ea"/>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928032"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transport</a:t>
              </a:r>
              <a:endParaRPr lang="en-US" sz="1350" dirty="0">
                <a:solidFill>
                  <a:prstClr val="black"/>
                </a:solidFill>
                <a:latin typeface="Calibri" panose="020F0502020204030204"/>
                <a:ea typeface="+mn-ea"/>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71008"/>
            </a:xfrm>
            <a:prstGeom prst="rect">
              <a:avLst/>
            </a:prstGeom>
            <a:noFill/>
          </p:spPr>
          <p:txBody>
            <a:bodyPr wrap="square" rtlCol="0">
              <a:spAutoFit/>
            </a:bodyPr>
            <a:lstStyle/>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sender-side of</a:t>
              </a:r>
            </a:p>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6" y="3826493"/>
              <a:ext cx="1896984" cy="871008"/>
            </a:xfrm>
            <a:prstGeom prst="rect">
              <a:avLst/>
            </a:prstGeom>
            <a:noFill/>
          </p:spPr>
          <p:txBody>
            <a:bodyPr wrap="square" rtlCol="0">
              <a:spAutoFit/>
            </a:bodyPr>
            <a:lstStyle/>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receiver-side</a:t>
              </a:r>
            </a:p>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 name="Group 15">
            <a:extLst>
              <a:ext uri="{FF2B5EF4-FFF2-40B4-BE49-F238E27FC236}">
                <a16:creationId xmlns:a16="http://schemas.microsoft.com/office/drawing/2014/main" id="{3F910FC6-F569-2147-8E13-9C3CBF349C22}"/>
              </a:ext>
            </a:extLst>
          </p:cNvPr>
          <p:cNvGrpSpPr/>
          <p:nvPr/>
        </p:nvGrpSpPr>
        <p:grpSpPr>
          <a:xfrm>
            <a:off x="746767" y="3520100"/>
            <a:ext cx="6762563" cy="1708160"/>
            <a:chOff x="995688" y="4013928"/>
            <a:chExt cx="9016751" cy="2277547"/>
          </a:xfrm>
        </p:grpSpPr>
        <p:sp>
          <p:nvSpPr>
            <p:cNvPr id="254" name="TextBox 253">
              <a:extLst>
                <a:ext uri="{FF2B5EF4-FFF2-40B4-BE49-F238E27FC236}">
                  <a16:creationId xmlns:a16="http://schemas.microsoft.com/office/drawing/2014/main" id="{B694493B-88BF-134F-B1BA-C0BD341D486C}"/>
                </a:ext>
              </a:extLst>
            </p:cNvPr>
            <p:cNvSpPr txBox="1"/>
            <p:nvPr/>
          </p:nvSpPr>
          <p:spPr>
            <a:xfrm>
              <a:off x="995688" y="4013928"/>
              <a:ext cx="4815358" cy="2277547"/>
            </a:xfrm>
            <a:prstGeom prst="rect">
              <a:avLst/>
            </a:prstGeom>
            <a:noFill/>
          </p:spPr>
          <p:txBody>
            <a:bodyPr wrap="square" rtlCol="0">
              <a:spAutoFit/>
            </a:bodyPr>
            <a:lstStyle/>
            <a:p>
              <a:pPr algn="r" defTabSz="685800" eaLnBrk="1" fontAlgn="auto" hangingPunct="1">
                <a:spcBef>
                  <a:spcPts val="0"/>
                </a:spcBef>
                <a:spcAft>
                  <a:spcPts val="0"/>
                </a:spcAft>
                <a:defRPr/>
              </a:pPr>
              <a:r>
                <a:rPr lang="en-US" sz="2100" dirty="0">
                  <a:solidFill>
                    <a:prstClr val="black"/>
                  </a:solidFill>
                  <a:latin typeface="Calibri" panose="020F0502020204030204"/>
                  <a:ea typeface="+mn-ea"/>
                </a:rPr>
                <a:t>Complexity of reliable data transfer protocol  will depend (strongly) on characteristics of unreliable channel (lose, corrupt, reorder data?)</a:t>
              </a:r>
            </a:p>
          </p:txBody>
        </p:sp>
        <p:cxnSp>
          <p:nvCxnSpPr>
            <p:cNvPr id="10" name="Straight Connector 9">
              <a:extLst>
                <a:ext uri="{FF2B5EF4-FFF2-40B4-BE49-F238E27FC236}">
                  <a16:creationId xmlns:a16="http://schemas.microsoft.com/office/drawing/2014/main" id="{CF6FCEAF-463D-2648-AB33-C825C90C616E}"/>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E0B021F0-9489-874C-A482-48774A1F4135}"/>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1" name="Oval 230">
            <a:extLst>
              <a:ext uri="{FF2B5EF4-FFF2-40B4-BE49-F238E27FC236}">
                <a16:creationId xmlns:a16="http://schemas.microsoft.com/office/drawing/2014/main" id="{05A41E28-36B5-F84E-9E12-7529960E3C65}"/>
              </a:ext>
            </a:extLst>
          </p:cNvPr>
          <p:cNvSpPr/>
          <p:nvPr/>
        </p:nvSpPr>
        <p:spPr>
          <a:xfrm>
            <a:off x="4940084" y="3240114"/>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36" name="Oval 235">
            <a:extLst>
              <a:ext uri="{FF2B5EF4-FFF2-40B4-BE49-F238E27FC236}">
                <a16:creationId xmlns:a16="http://schemas.microsoft.com/office/drawing/2014/main" id="{1C1568F9-7215-6C43-8C2A-E0D8D4F2877D}"/>
              </a:ext>
            </a:extLst>
          </p:cNvPr>
          <p:cNvSpPr/>
          <p:nvPr/>
        </p:nvSpPr>
        <p:spPr>
          <a:xfrm>
            <a:off x="7414002" y="3238177"/>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85" name="Slide Number Placeholder 2">
            <a:extLst>
              <a:ext uri="{FF2B5EF4-FFF2-40B4-BE49-F238E27FC236}">
                <a16:creationId xmlns:a16="http://schemas.microsoft.com/office/drawing/2014/main" id="{ADF8FD71-EE62-D045-9E44-162D85579691}"/>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30</a:t>
            </a:fld>
            <a:endParaRPr lang="en-US" dirty="0"/>
          </a:p>
        </p:txBody>
      </p:sp>
    </p:spTree>
    <p:extLst>
      <p:ext uri="{BB962C8B-B14F-4D97-AF65-F5344CB8AC3E}">
        <p14:creationId xmlns:p14="http://schemas.microsoft.com/office/powerpoint/2010/main" val="56427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Principles of reliable data 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4669561" y="2282929"/>
            <a:ext cx="4198938" cy="3094846"/>
            <a:chOff x="6226081" y="2364366"/>
            <a:chExt cx="5598584" cy="4126462"/>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608646"/>
              <a:chOff x="9852456" y="608434"/>
              <a:chExt cx="1245036" cy="608646"/>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71867"/>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350" dirty="0">
                    <a:solidFill>
                      <a:prstClr val="black"/>
                    </a:solidFill>
                    <a:latin typeface="Calibri" panose="020F0502020204030204"/>
                    <a:ea typeface="+mn-ea"/>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615555"/>
              <a:chOff x="9950444" y="999755"/>
              <a:chExt cx="577241" cy="615555"/>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615555"/>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kern="0" dirty="0">
                  <a:solidFill>
                    <a:srgbClr val="000000"/>
                  </a:solidFill>
                  <a:latin typeface="Tahoma" panose="020B0604030504040204" pitchFamily="34" charset="0"/>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608646"/>
              <a:chOff x="9852456" y="608434"/>
              <a:chExt cx="1245036" cy="608646"/>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71867"/>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350" dirty="0">
                    <a:solidFill>
                      <a:prstClr val="black"/>
                    </a:solidFill>
                    <a:latin typeface="Calibri" panose="020F0502020204030204"/>
                    <a:ea typeface="+mn-ea"/>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615553"/>
              <a:chOff x="9678159" y="981583"/>
              <a:chExt cx="577241" cy="615553"/>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615553"/>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1" hangingPunct="1">
                  <a:defRPr/>
                </a:pPr>
                <a:endParaRPr lang="en-US" sz="1350" kern="0" dirty="0">
                  <a:solidFill>
                    <a:srgbClr val="FF0000"/>
                  </a:solidFill>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1051999"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application</a:t>
              </a:r>
              <a:endParaRPr lang="en-US" sz="1350" dirty="0">
                <a:solidFill>
                  <a:prstClr val="black"/>
                </a:solidFill>
                <a:latin typeface="Calibri" panose="020F0502020204030204"/>
                <a:ea typeface="+mn-ea"/>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928032"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transport</a:t>
              </a:r>
              <a:endParaRPr lang="en-US" sz="1350" dirty="0">
                <a:solidFill>
                  <a:prstClr val="black"/>
                </a:solidFill>
                <a:latin typeface="Calibri" panose="020F0502020204030204"/>
                <a:ea typeface="+mn-ea"/>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92443"/>
            </a:xfrm>
            <a:prstGeom prst="rect">
              <a:avLst/>
            </a:prstGeom>
            <a:noFill/>
          </p:spPr>
          <p:txBody>
            <a:bodyPr wrap="square" rtlCol="0">
              <a:spAutoFit/>
            </a:bodyPr>
            <a:lstStyle/>
            <a:p>
              <a:pPr defTabSz="685800" eaLnBrk="1" fontAlgn="auto" hangingPunct="1">
                <a:spcBef>
                  <a:spcPts val="0"/>
                </a:spcBef>
                <a:spcAft>
                  <a:spcPts val="0"/>
                </a:spcAft>
                <a:defRPr/>
              </a:pPr>
              <a:r>
                <a:rPr lang="en-US" sz="1800" dirty="0">
                  <a:solidFill>
                    <a:prstClr val="black"/>
                  </a:solidFill>
                  <a:latin typeface="Calibri" panose="020F0502020204030204"/>
                  <a:ea typeface="+mn-ea"/>
                </a:rPr>
                <a:t>reliable service </a:t>
              </a:r>
              <a:r>
                <a:rPr lang="en-US" sz="1800" i="1" dirty="0">
                  <a:solidFill>
                    <a:srgbClr val="C00000"/>
                  </a:solidFill>
                  <a:latin typeface="Calibri" panose="020F0502020204030204"/>
                  <a:ea typeface="+mn-ea"/>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512359"/>
              <a:chOff x="6737055" y="3471301"/>
              <a:chExt cx="5250830" cy="512359"/>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109326" cy="400110"/>
                <a:chOff x="7504363" y="3155701"/>
                <a:chExt cx="2109326" cy="400110"/>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8" y="3155701"/>
                  <a:ext cx="1987211" cy="400110"/>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white"/>
                      </a:solidFill>
                      <a:latin typeface="Calibri" panose="020F0502020204030204"/>
                      <a:ea typeface="+mn-ea"/>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855363"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network</a:t>
              </a:r>
              <a:endParaRPr lang="en-US" sz="1350" dirty="0">
                <a:solidFill>
                  <a:prstClr val="black"/>
                </a:solidFill>
                <a:latin typeface="Calibri" panose="020F0502020204030204"/>
                <a:ea typeface="+mn-ea"/>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928032"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transport</a:t>
              </a:r>
              <a:endParaRPr lang="en-US" sz="1350" dirty="0">
                <a:solidFill>
                  <a:prstClr val="black"/>
                </a:solidFill>
                <a:latin typeface="Calibri" panose="020F0502020204030204"/>
                <a:ea typeface="+mn-ea"/>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71008"/>
            </a:xfrm>
            <a:prstGeom prst="rect">
              <a:avLst/>
            </a:prstGeom>
            <a:noFill/>
          </p:spPr>
          <p:txBody>
            <a:bodyPr wrap="square" rtlCol="0">
              <a:spAutoFit/>
            </a:bodyPr>
            <a:lstStyle/>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sender-side of</a:t>
              </a:r>
            </a:p>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6" y="3826493"/>
              <a:ext cx="1896984" cy="871008"/>
            </a:xfrm>
            <a:prstGeom prst="rect">
              <a:avLst/>
            </a:prstGeom>
            <a:noFill/>
          </p:spPr>
          <p:txBody>
            <a:bodyPr wrap="square" rtlCol="0">
              <a:spAutoFit/>
            </a:bodyPr>
            <a:lstStyle/>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receiver-side</a:t>
              </a:r>
            </a:p>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a16="http://schemas.microsoft.com/office/drawing/2014/main" id="{CC1537B2-998E-7649-AE3E-ACB471EB73E8}"/>
              </a:ext>
            </a:extLst>
          </p:cNvPr>
          <p:cNvGrpSpPr/>
          <p:nvPr/>
        </p:nvGrpSpPr>
        <p:grpSpPr>
          <a:xfrm>
            <a:off x="781637" y="3543348"/>
            <a:ext cx="6727692" cy="1708160"/>
            <a:chOff x="1042183" y="4044925"/>
            <a:chExt cx="8970256" cy="2277547"/>
          </a:xfrm>
        </p:grpSpPr>
        <p:sp>
          <p:nvSpPr>
            <p:cNvPr id="89" name="TextBox 88">
              <a:extLst>
                <a:ext uri="{FF2B5EF4-FFF2-40B4-BE49-F238E27FC236}">
                  <a16:creationId xmlns:a16="http://schemas.microsoft.com/office/drawing/2014/main" id="{910591A5-B3B8-B947-A7F1-BDBD4F667F70}"/>
                </a:ext>
              </a:extLst>
            </p:cNvPr>
            <p:cNvSpPr txBox="1"/>
            <p:nvPr/>
          </p:nvSpPr>
          <p:spPr>
            <a:xfrm>
              <a:off x="1042183" y="4044925"/>
              <a:ext cx="4815357" cy="2277547"/>
            </a:xfrm>
            <a:prstGeom prst="rect">
              <a:avLst/>
            </a:prstGeom>
            <a:noFill/>
          </p:spPr>
          <p:txBody>
            <a:bodyPr wrap="squar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Sender, receiver do </a:t>
              </a:r>
              <a:r>
                <a:rPr lang="en-US" sz="2100" i="1" dirty="0">
                  <a:solidFill>
                    <a:prstClr val="black"/>
                  </a:solidFill>
                  <a:latin typeface="Calibri" panose="020F0502020204030204"/>
                  <a:ea typeface="+mn-ea"/>
                </a:rPr>
                <a:t>not</a:t>
              </a:r>
              <a:r>
                <a:rPr lang="en-US" sz="2100" dirty="0">
                  <a:solidFill>
                    <a:prstClr val="black"/>
                  </a:solidFill>
                  <a:latin typeface="Calibri" panose="020F0502020204030204"/>
                  <a:ea typeface="+mn-ea"/>
                </a:rPr>
                <a:t> know the “state” of each other, e.g., was a message received?</a:t>
              </a:r>
            </a:p>
            <a:p>
              <a:pPr marL="342900" indent="-342900" defTabSz="685800" eaLnBrk="1" fontAlgn="auto" hangingPunct="1">
                <a:spcBef>
                  <a:spcPts val="0"/>
                </a:spcBef>
                <a:spcAft>
                  <a:spcPts val="0"/>
                </a:spcAft>
                <a:buClr>
                  <a:srgbClr val="0013A3"/>
                </a:buClr>
                <a:buFont typeface="Wingdings" pitchFamily="2" charset="2"/>
                <a:buChar char="§"/>
                <a:defRPr/>
              </a:pPr>
              <a:r>
                <a:rPr lang="en-US" sz="2100" dirty="0">
                  <a:solidFill>
                    <a:prstClr val="black"/>
                  </a:solidFill>
                  <a:latin typeface="Calibri" panose="020F0502020204030204"/>
                  <a:ea typeface="+mn-ea"/>
                </a:rPr>
                <a:t>unless communicated via a message</a:t>
              </a:r>
            </a:p>
          </p:txBody>
        </p:sp>
        <p:cxnSp>
          <p:nvCxnSpPr>
            <p:cNvPr id="90" name="Straight Connector 89">
              <a:extLst>
                <a:ext uri="{FF2B5EF4-FFF2-40B4-BE49-F238E27FC236}">
                  <a16:creationId xmlns:a16="http://schemas.microsoft.com/office/drawing/2014/main" id="{655271F5-62E0-BF47-BF60-FE01086FB678}"/>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33B8B2C-3583-1D4A-9253-C59A292E0DE2}"/>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3" name="Oval 92">
            <a:extLst>
              <a:ext uri="{FF2B5EF4-FFF2-40B4-BE49-F238E27FC236}">
                <a16:creationId xmlns:a16="http://schemas.microsoft.com/office/drawing/2014/main" id="{80A6EEAE-C014-954F-ADE6-66049A46FFBE}"/>
              </a:ext>
            </a:extLst>
          </p:cNvPr>
          <p:cNvSpPr/>
          <p:nvPr/>
        </p:nvSpPr>
        <p:spPr>
          <a:xfrm>
            <a:off x="4940084" y="3240114"/>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94" name="Oval 93">
            <a:extLst>
              <a:ext uri="{FF2B5EF4-FFF2-40B4-BE49-F238E27FC236}">
                <a16:creationId xmlns:a16="http://schemas.microsoft.com/office/drawing/2014/main" id="{0FE70045-1128-264B-A4F3-CC9AAED801DA}"/>
              </a:ext>
            </a:extLst>
          </p:cNvPr>
          <p:cNvSpPr/>
          <p:nvPr/>
        </p:nvSpPr>
        <p:spPr>
          <a:xfrm>
            <a:off x="7414002" y="3238177"/>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pic>
        <p:nvPicPr>
          <p:cNvPr id="6" name="Picture 5" descr="A shower curtain&#10;&#10;Description automatically generated">
            <a:extLst>
              <a:ext uri="{FF2B5EF4-FFF2-40B4-BE49-F238E27FC236}">
                <a16:creationId xmlns:a16="http://schemas.microsoft.com/office/drawing/2014/main" id="{916F2FD5-AF05-E24C-BB57-482FB6C40C8C}"/>
              </a:ext>
            </a:extLst>
          </p:cNvPr>
          <p:cNvPicPr>
            <a:picLocks noChangeAspect="1"/>
          </p:cNvPicPr>
          <p:nvPr/>
        </p:nvPicPr>
        <p:blipFill>
          <a:blip r:embed="rId4"/>
          <a:stretch>
            <a:fillRect/>
          </a:stretch>
        </p:blipFill>
        <p:spPr>
          <a:xfrm>
            <a:off x="6219357" y="1826217"/>
            <a:ext cx="1482009" cy="3295327"/>
          </a:xfrm>
          <a:prstGeom prst="rect">
            <a:avLst/>
          </a:prstGeom>
        </p:spPr>
      </p:pic>
      <p:pic>
        <p:nvPicPr>
          <p:cNvPr id="92" name="Picture 91" descr="A shower curtain&#10;&#10;Description automatically generated">
            <a:extLst>
              <a:ext uri="{FF2B5EF4-FFF2-40B4-BE49-F238E27FC236}">
                <a16:creationId xmlns:a16="http://schemas.microsoft.com/office/drawing/2014/main" id="{60AABE17-DADA-B14B-B0C4-01EC1B9C6813}"/>
              </a:ext>
            </a:extLst>
          </p:cNvPr>
          <p:cNvPicPr>
            <a:picLocks noChangeAspect="1"/>
          </p:cNvPicPr>
          <p:nvPr/>
        </p:nvPicPr>
        <p:blipFill>
          <a:blip r:embed="rId4"/>
          <a:stretch>
            <a:fillRect/>
          </a:stretch>
        </p:blipFill>
        <p:spPr>
          <a:xfrm>
            <a:off x="6164467" y="1731129"/>
            <a:ext cx="2979533" cy="3434812"/>
          </a:xfrm>
          <a:prstGeom prst="rect">
            <a:avLst/>
          </a:prstGeom>
        </p:spPr>
      </p:pic>
      <p:sp>
        <p:nvSpPr>
          <p:cNvPr id="87" name="Slide Number Placeholder 2">
            <a:extLst>
              <a:ext uri="{FF2B5EF4-FFF2-40B4-BE49-F238E27FC236}">
                <a16:creationId xmlns:a16="http://schemas.microsoft.com/office/drawing/2014/main" id="{A2229121-4A15-DF44-A869-74D8C822A5F1}"/>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31</a:t>
            </a:fld>
            <a:endParaRPr lang="en-US" dirty="0"/>
          </a:p>
        </p:txBody>
      </p:sp>
    </p:spTree>
    <p:extLst>
      <p:ext uri="{BB962C8B-B14F-4D97-AF65-F5344CB8AC3E}">
        <p14:creationId xmlns:p14="http://schemas.microsoft.com/office/powerpoint/2010/main" val="329888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1000"/>
                                        <p:tgtEl>
                                          <p:spTgt spid="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wipe(left)">
                                      <p:cBhvr>
                                        <p:cTn id="17"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Reliable data transfer protocol (rdt): interfaces</a:t>
            </a:r>
          </a:p>
        </p:txBody>
      </p:sp>
      <p:grpSp>
        <p:nvGrpSpPr>
          <p:cNvPr id="15" name="Group 14">
            <a:extLst>
              <a:ext uri="{FF2B5EF4-FFF2-40B4-BE49-F238E27FC236}">
                <a16:creationId xmlns:a16="http://schemas.microsoft.com/office/drawing/2014/main" id="{5F3D26B5-5E98-5E4A-87D8-7FA097DF959B}"/>
              </a:ext>
            </a:extLst>
          </p:cNvPr>
          <p:cNvGrpSpPr/>
          <p:nvPr/>
        </p:nvGrpSpPr>
        <p:grpSpPr>
          <a:xfrm>
            <a:off x="1934626" y="2481119"/>
            <a:ext cx="5316313" cy="2587425"/>
            <a:chOff x="2293693" y="1943479"/>
            <a:chExt cx="7088417" cy="3449900"/>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3481010" y="2124363"/>
              <a:ext cx="1245036" cy="608646"/>
              <a:chOff x="9852456" y="608434"/>
              <a:chExt cx="1245036" cy="608646"/>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71867"/>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350" dirty="0">
                    <a:solidFill>
                      <a:prstClr val="black"/>
                    </a:solidFill>
                    <a:latin typeface="Calibri" panose="020F0502020204030204"/>
                    <a:ea typeface="+mn-ea"/>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4077480" y="2576394"/>
              <a:ext cx="577241" cy="615552"/>
              <a:chOff x="9950444" y="999755"/>
              <a:chExt cx="577241" cy="615552"/>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615552"/>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3214263" y="2004894"/>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a:defRPr/>
                </a:pPr>
                <a:endParaRPr lang="en-US" sz="1200" kern="0" dirty="0">
                  <a:solidFill>
                    <a:srgbClr val="000000"/>
                  </a:solidFill>
                  <a:latin typeface="Tahoma" panose="020B0604030504040204" pitchFamily="34" charset="0"/>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6726088" y="2075463"/>
              <a:ext cx="1245036" cy="608646"/>
              <a:chOff x="9852456" y="608434"/>
              <a:chExt cx="1245036" cy="608646"/>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Calibri" panose="020F0502020204030204"/>
                  <a:ea typeface="ＭＳ Ｐゴシック" charset="0"/>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71867"/>
              </a:xfrm>
              <a:prstGeom prst="rect">
                <a:avLst/>
              </a:prstGeom>
              <a:noFill/>
            </p:spPr>
            <p:txBody>
              <a:bodyPr wrap="square" rtlCol="0">
                <a:spAutoFit/>
              </a:bodyPr>
              <a:lstStyle/>
              <a:p>
                <a:pPr algn="ctr" defTabSz="685800" eaLnBrk="1" fontAlgn="auto" hangingPunct="1">
                  <a:lnSpc>
                    <a:spcPct val="80000"/>
                  </a:lnSpc>
                  <a:spcBef>
                    <a:spcPts val="0"/>
                  </a:spcBef>
                  <a:spcAft>
                    <a:spcPts val="0"/>
                  </a:spcAft>
                  <a:defRPr/>
                </a:pPr>
                <a:r>
                  <a:rPr lang="en-US" sz="1350" dirty="0">
                    <a:solidFill>
                      <a:prstClr val="black"/>
                    </a:solidFill>
                    <a:latin typeface="Calibri" panose="020F0502020204030204"/>
                    <a:ea typeface="+mn-ea"/>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6785217" y="2548684"/>
              <a:ext cx="577241" cy="615553"/>
              <a:chOff x="9678159" y="981583"/>
              <a:chExt cx="577241" cy="615553"/>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615553"/>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7823735" y="1943479"/>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1" hangingPunct="1">
                  <a:defRPr/>
                </a:pPr>
                <a:endParaRPr lang="en-US" sz="1350" kern="0" dirty="0">
                  <a:solidFill>
                    <a:srgbClr val="FF0000"/>
                  </a:solidFill>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3121019" y="289801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6614663" y="287030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33" name="Group 232">
              <a:extLst>
                <a:ext uri="{FF2B5EF4-FFF2-40B4-BE49-F238E27FC236}">
                  <a16:creationId xmlns:a16="http://schemas.microsoft.com/office/drawing/2014/main" id="{0D04F411-4AAF-BC49-BC7A-363692477E93}"/>
                </a:ext>
              </a:extLst>
            </p:cNvPr>
            <p:cNvGrpSpPr/>
            <p:nvPr/>
          </p:nvGrpSpPr>
          <p:grpSpPr>
            <a:xfrm>
              <a:off x="3110199" y="4881020"/>
              <a:ext cx="5250830" cy="512359"/>
              <a:chOff x="6737055" y="3471301"/>
              <a:chExt cx="5250830" cy="512359"/>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109326" cy="400110"/>
                <a:chOff x="7504363" y="3155701"/>
                <a:chExt cx="2109326" cy="400110"/>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8" y="3155701"/>
                  <a:ext cx="1987211" cy="400110"/>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white"/>
                      </a:solidFill>
                      <a:latin typeface="Calibri" panose="020F0502020204030204"/>
                      <a:ea typeface="+mn-ea"/>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4069352" y="2795325"/>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7403443" y="2731748"/>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3042206" y="3300756"/>
              <a:ext cx="2001039" cy="1120307"/>
            </a:xfrm>
            <a:prstGeom prst="rect">
              <a:avLst/>
            </a:prstGeom>
            <a:noFill/>
          </p:spPr>
          <p:txBody>
            <a:bodyPr wrap="square" rtlCol="0">
              <a:spAutoFit/>
            </a:bodyPr>
            <a:lstStyle/>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sender-side</a:t>
              </a:r>
            </a:p>
            <a:p>
              <a:pPr algn="ctr" defTabSz="685800" eaLnBrk="1" fontAlgn="auto" hangingPunct="1">
                <a:lnSpc>
                  <a:spcPct val="90000"/>
                </a:lnSpc>
                <a:spcBef>
                  <a:spcPts val="0"/>
                </a:spcBef>
                <a:spcAft>
                  <a:spcPts val="0"/>
                </a:spcAft>
                <a:defRPr/>
              </a:pPr>
              <a:r>
                <a:rPr lang="en-US" sz="1350" i="1" dirty="0">
                  <a:solidFill>
                    <a:prstClr val="black"/>
                  </a:solidFill>
                  <a:latin typeface="Calibri" panose="020F0502020204030204"/>
                  <a:ea typeface="+mn-ea"/>
                </a:rPr>
                <a:t>implementation</a:t>
              </a:r>
              <a:r>
                <a:rPr lang="en-US" sz="1350" dirty="0">
                  <a:solidFill>
                    <a:prstClr val="black"/>
                  </a:solidFill>
                  <a:latin typeface="Calibri" panose="020F0502020204030204"/>
                  <a:ea typeface="+mn-ea"/>
                </a:rPr>
                <a:t> of </a:t>
              </a:r>
              <a:r>
                <a:rPr lang="en-US" sz="1350" dirty="0">
                  <a:solidFill>
                    <a:prstClr val="black"/>
                  </a:solidFill>
                  <a:latin typeface="Courier" pitchFamily="2" charset="0"/>
                  <a:ea typeface="+mn-ea"/>
                </a:rPr>
                <a:t>rdt</a:t>
              </a:r>
              <a:r>
                <a:rPr lang="en-US" sz="1350" dirty="0">
                  <a:solidFill>
                    <a:prstClr val="black"/>
                  </a:solidFill>
                  <a:latin typeface="Calibri" panose="020F0502020204030204"/>
                  <a:ea typeface="+mn-ea"/>
                </a:rPr>
                <a:t> 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6413059" y="3328511"/>
              <a:ext cx="2001033" cy="1120307"/>
            </a:xfrm>
            <a:prstGeom prst="rect">
              <a:avLst/>
            </a:prstGeom>
            <a:noFill/>
          </p:spPr>
          <p:txBody>
            <a:bodyPr wrap="square" rtlCol="0">
              <a:spAutoFit/>
            </a:bodyPr>
            <a:lstStyle/>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receiver-side</a:t>
              </a:r>
            </a:p>
            <a:p>
              <a:pPr algn="ctr" defTabSz="685800" eaLnBrk="1" fontAlgn="auto" hangingPunct="1">
                <a:lnSpc>
                  <a:spcPct val="90000"/>
                </a:lnSpc>
                <a:spcBef>
                  <a:spcPts val="0"/>
                </a:spcBef>
                <a:spcAft>
                  <a:spcPts val="0"/>
                </a:spcAft>
                <a:defRPr/>
              </a:pPr>
              <a:r>
                <a:rPr lang="en-US" sz="1350" i="1" dirty="0">
                  <a:solidFill>
                    <a:prstClr val="black"/>
                  </a:solidFill>
                  <a:latin typeface="Calibri" panose="020F0502020204030204"/>
                  <a:ea typeface="+mn-ea"/>
                </a:rPr>
                <a:t>implementation</a:t>
              </a:r>
              <a:r>
                <a:rPr lang="en-US" sz="1350" dirty="0">
                  <a:solidFill>
                    <a:prstClr val="black"/>
                  </a:solidFill>
                  <a:latin typeface="Calibri" panose="020F0502020204030204"/>
                  <a:ea typeface="+mn-ea"/>
                </a:rPr>
                <a:t> of </a:t>
              </a:r>
              <a:r>
                <a:rPr lang="en-US" sz="1350" dirty="0">
                  <a:solidFill>
                    <a:prstClr val="black"/>
                  </a:solidFill>
                  <a:latin typeface="Courier" pitchFamily="2" charset="0"/>
                  <a:ea typeface="+mn-ea"/>
                </a:rPr>
                <a:t>rdt </a:t>
              </a:r>
              <a:r>
                <a:rPr lang="en-US" sz="1350" dirty="0">
                  <a:solidFill>
                    <a:prstClr val="black"/>
                  </a:solidFill>
                  <a:latin typeface="Calibri" panose="020F0502020204030204"/>
                  <a:ea typeface="+mn-ea"/>
                </a:rPr>
                <a:t>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4071724" y="4602963"/>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6784894" y="4598122"/>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C2F0730B-D0ED-F641-98C5-78E791D1F90B}"/>
                </a:ext>
              </a:extLst>
            </p:cNvPr>
            <p:cNvSpPr txBox="1"/>
            <p:nvPr/>
          </p:nvSpPr>
          <p:spPr>
            <a:xfrm>
              <a:off x="2293693" y="2546898"/>
              <a:ext cx="1687911" cy="369332"/>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black"/>
                  </a:solidFill>
                  <a:latin typeface="Courier" pitchFamily="2" charset="0"/>
                  <a:ea typeface="+mn-ea"/>
                </a:rPr>
                <a:t>rdt_send()</a:t>
              </a:r>
            </a:p>
          </p:txBody>
        </p:sp>
        <p:sp>
          <p:nvSpPr>
            <p:cNvPr id="160" name="TextBox 159">
              <a:extLst>
                <a:ext uri="{FF2B5EF4-FFF2-40B4-BE49-F238E27FC236}">
                  <a16:creationId xmlns:a16="http://schemas.microsoft.com/office/drawing/2014/main" id="{5F274F00-C43B-6D4C-8305-49C2887DFDB8}"/>
                </a:ext>
              </a:extLst>
            </p:cNvPr>
            <p:cNvSpPr txBox="1"/>
            <p:nvPr/>
          </p:nvSpPr>
          <p:spPr>
            <a:xfrm>
              <a:off x="2637056" y="4529903"/>
              <a:ext cx="1687911" cy="369332"/>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black"/>
                  </a:solidFill>
                  <a:latin typeface="Courier" pitchFamily="2" charset="0"/>
                  <a:ea typeface="+mn-ea"/>
                </a:rPr>
                <a:t>udt_send()</a:t>
              </a:r>
            </a:p>
          </p:txBody>
        </p:sp>
        <p:sp>
          <p:nvSpPr>
            <p:cNvPr id="161" name="TextBox 160">
              <a:extLst>
                <a:ext uri="{FF2B5EF4-FFF2-40B4-BE49-F238E27FC236}">
                  <a16:creationId xmlns:a16="http://schemas.microsoft.com/office/drawing/2014/main" id="{8360D8A8-FCEB-0748-86B2-6367F0490699}"/>
                </a:ext>
              </a:extLst>
            </p:cNvPr>
            <p:cNvSpPr txBox="1"/>
            <p:nvPr/>
          </p:nvSpPr>
          <p:spPr>
            <a:xfrm>
              <a:off x="7460091" y="4522694"/>
              <a:ext cx="1687911" cy="369332"/>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black"/>
                  </a:solidFill>
                  <a:latin typeface="Courier" pitchFamily="2" charset="0"/>
                  <a:ea typeface="+mn-ea"/>
                </a:rPr>
                <a:t>rdt_rcv()</a:t>
              </a:r>
            </a:p>
          </p:txBody>
        </p:sp>
        <p:sp>
          <p:nvSpPr>
            <p:cNvPr id="162" name="TextBox 161">
              <a:extLst>
                <a:ext uri="{FF2B5EF4-FFF2-40B4-BE49-F238E27FC236}">
                  <a16:creationId xmlns:a16="http://schemas.microsoft.com/office/drawing/2014/main" id="{D4C97A67-5BFF-1F4C-BB10-0037874E0FBC}"/>
                </a:ext>
              </a:extLst>
            </p:cNvPr>
            <p:cNvSpPr txBox="1"/>
            <p:nvPr/>
          </p:nvSpPr>
          <p:spPr>
            <a:xfrm>
              <a:off x="7446811" y="2872208"/>
              <a:ext cx="1935299" cy="615553"/>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black"/>
                  </a:solidFill>
                  <a:latin typeface="Courier" pitchFamily="2" charset="0"/>
                  <a:ea typeface="+mn-ea"/>
                </a:rPr>
                <a:t>deliver_data()</a:t>
              </a:r>
            </a:p>
          </p:txBody>
        </p:sp>
        <p:grpSp>
          <p:nvGrpSpPr>
            <p:cNvPr id="14" name="Group 13">
              <a:extLst>
                <a:ext uri="{FF2B5EF4-FFF2-40B4-BE49-F238E27FC236}">
                  <a16:creationId xmlns:a16="http://schemas.microsoft.com/office/drawing/2014/main" id="{F43034C5-12D0-B544-8624-5B957307D6C4}"/>
                </a:ext>
              </a:extLst>
            </p:cNvPr>
            <p:cNvGrpSpPr/>
            <p:nvPr/>
          </p:nvGrpSpPr>
          <p:grpSpPr>
            <a:xfrm>
              <a:off x="4198761" y="4538107"/>
              <a:ext cx="1129178" cy="615552"/>
              <a:chOff x="4492148" y="4699180"/>
              <a:chExt cx="1129178" cy="615552"/>
            </a:xfrm>
          </p:grpSpPr>
          <p:grpSp>
            <p:nvGrpSpPr>
              <p:cNvPr id="163" name="Group 162">
                <a:extLst>
                  <a:ext uri="{FF2B5EF4-FFF2-40B4-BE49-F238E27FC236}">
                    <a16:creationId xmlns:a16="http://schemas.microsoft.com/office/drawing/2014/main" id="{6EE61F86-BE11-7149-9359-71FBA7C666F1}"/>
                  </a:ext>
                </a:extLst>
              </p:cNvPr>
              <p:cNvGrpSpPr/>
              <p:nvPr/>
            </p:nvGrpSpPr>
            <p:grpSpPr>
              <a:xfrm>
                <a:off x="5044085" y="4699180"/>
                <a:ext cx="577241" cy="615552"/>
                <a:chOff x="9950444" y="999755"/>
                <a:chExt cx="577241" cy="615552"/>
              </a:xfrm>
            </p:grpSpPr>
            <p:sp>
              <p:nvSpPr>
                <p:cNvPr id="164" name="Rectangle 163">
                  <a:extLst>
                    <a:ext uri="{FF2B5EF4-FFF2-40B4-BE49-F238E27FC236}">
                      <a16:creationId xmlns:a16="http://schemas.microsoft.com/office/drawing/2014/main" id="{57D8AC92-EC61-6A41-96EB-9AC393F717F1}"/>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5" name="TextBox 164">
                  <a:extLst>
                    <a:ext uri="{FF2B5EF4-FFF2-40B4-BE49-F238E27FC236}">
                      <a16:creationId xmlns:a16="http://schemas.microsoft.com/office/drawing/2014/main" id="{F1637E6F-EFC0-D84A-BD43-1DD363CF3717}"/>
                    </a:ext>
                  </a:extLst>
                </p:cNvPr>
                <p:cNvSpPr txBox="1"/>
                <p:nvPr/>
              </p:nvSpPr>
              <p:spPr>
                <a:xfrm>
                  <a:off x="9950444" y="999755"/>
                  <a:ext cx="577241" cy="615552"/>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67" name="Group 166">
                <a:extLst>
                  <a:ext uri="{FF2B5EF4-FFF2-40B4-BE49-F238E27FC236}">
                    <a16:creationId xmlns:a16="http://schemas.microsoft.com/office/drawing/2014/main" id="{65EE0A01-2F8E-5749-87FB-D527A9FE564A}"/>
                  </a:ext>
                </a:extLst>
              </p:cNvPr>
              <p:cNvGrpSpPr/>
              <p:nvPr/>
            </p:nvGrpSpPr>
            <p:grpSpPr>
              <a:xfrm>
                <a:off x="4492148" y="4738794"/>
                <a:ext cx="684009" cy="492443"/>
                <a:chOff x="9965227" y="1039458"/>
                <a:chExt cx="684009" cy="492443"/>
              </a:xfrm>
            </p:grpSpPr>
            <p:sp>
              <p:nvSpPr>
                <p:cNvPr id="168" name="Rectangle 167">
                  <a:extLst>
                    <a:ext uri="{FF2B5EF4-FFF2-40B4-BE49-F238E27FC236}">
                      <a16:creationId xmlns:a16="http://schemas.microsoft.com/office/drawing/2014/main" id="{04B6CB81-4155-2746-910F-3F3A2CCC25D4}"/>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9" name="TextBox 168">
                  <a:extLst>
                    <a:ext uri="{FF2B5EF4-FFF2-40B4-BE49-F238E27FC236}">
                      <a16:creationId xmlns:a16="http://schemas.microsoft.com/office/drawing/2014/main" id="{6539C471-3169-F34C-99B5-F3105A964D11}"/>
                    </a:ext>
                  </a:extLst>
                </p:cNvPr>
                <p:cNvSpPr txBox="1"/>
                <p:nvPr/>
              </p:nvSpPr>
              <p:spPr>
                <a:xfrm>
                  <a:off x="9965227" y="1039458"/>
                  <a:ext cx="684009" cy="492443"/>
                </a:xfrm>
                <a:prstGeom prst="rect">
                  <a:avLst/>
                </a:prstGeom>
                <a:noFill/>
              </p:spPr>
              <p:txBody>
                <a:bodyPr wrap="square" rtlCol="0">
                  <a:spAutoFit/>
                </a:bodyPr>
                <a:lstStyle/>
                <a:p>
                  <a:pPr defTabSz="685800" eaLnBrk="1" fontAlgn="auto" hangingPunct="1">
                    <a:spcBef>
                      <a:spcPts val="0"/>
                    </a:spcBef>
                    <a:spcAft>
                      <a:spcPts val="0"/>
                    </a:spcAft>
                    <a:defRPr/>
                  </a:pPr>
                  <a:r>
                    <a:rPr lang="en-US" sz="900" dirty="0">
                      <a:solidFill>
                        <a:prstClr val="white"/>
                      </a:solidFill>
                      <a:latin typeface="Calibri" panose="020F0502020204030204"/>
                      <a:ea typeface="+mn-ea"/>
                    </a:rPr>
                    <a:t>Header</a:t>
                  </a:r>
                  <a:endParaRPr lang="en-US" sz="1350" dirty="0">
                    <a:solidFill>
                      <a:prstClr val="white"/>
                    </a:solidFill>
                    <a:latin typeface="Calibri" panose="020F0502020204030204"/>
                    <a:ea typeface="+mn-ea"/>
                  </a:endParaRPr>
                </a:p>
              </p:txBody>
            </p:sp>
          </p:grpSp>
        </p:grpSp>
        <p:grpSp>
          <p:nvGrpSpPr>
            <p:cNvPr id="170" name="Group 169">
              <a:extLst>
                <a:ext uri="{FF2B5EF4-FFF2-40B4-BE49-F238E27FC236}">
                  <a16:creationId xmlns:a16="http://schemas.microsoft.com/office/drawing/2014/main" id="{B6FA9AE8-EBC5-0147-94F3-3E921D2CC449}"/>
                </a:ext>
              </a:extLst>
            </p:cNvPr>
            <p:cNvGrpSpPr/>
            <p:nvPr/>
          </p:nvGrpSpPr>
          <p:grpSpPr>
            <a:xfrm>
              <a:off x="6194588" y="4534824"/>
              <a:ext cx="1129178" cy="615552"/>
              <a:chOff x="4492148" y="4699180"/>
              <a:chExt cx="1129178" cy="615552"/>
            </a:xfrm>
          </p:grpSpPr>
          <p:grpSp>
            <p:nvGrpSpPr>
              <p:cNvPr id="171" name="Group 170">
                <a:extLst>
                  <a:ext uri="{FF2B5EF4-FFF2-40B4-BE49-F238E27FC236}">
                    <a16:creationId xmlns:a16="http://schemas.microsoft.com/office/drawing/2014/main" id="{914827A5-B36D-5447-BDA9-1E2D6F444CD2}"/>
                  </a:ext>
                </a:extLst>
              </p:cNvPr>
              <p:cNvGrpSpPr/>
              <p:nvPr/>
            </p:nvGrpSpPr>
            <p:grpSpPr>
              <a:xfrm>
                <a:off x="5044085" y="4699180"/>
                <a:ext cx="577241" cy="615552"/>
                <a:chOff x="9950444" y="999755"/>
                <a:chExt cx="577241" cy="615552"/>
              </a:xfrm>
            </p:grpSpPr>
            <p:sp>
              <p:nvSpPr>
                <p:cNvPr id="175" name="Rectangle 174">
                  <a:extLst>
                    <a:ext uri="{FF2B5EF4-FFF2-40B4-BE49-F238E27FC236}">
                      <a16:creationId xmlns:a16="http://schemas.microsoft.com/office/drawing/2014/main" id="{86365D49-EBCD-6849-85B0-2CEB5230224A}"/>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6" name="TextBox 175">
                  <a:extLst>
                    <a:ext uri="{FF2B5EF4-FFF2-40B4-BE49-F238E27FC236}">
                      <a16:creationId xmlns:a16="http://schemas.microsoft.com/office/drawing/2014/main" id="{595BF0A2-D091-7845-BCE5-75F48AA8E23A}"/>
                    </a:ext>
                  </a:extLst>
                </p:cNvPr>
                <p:cNvSpPr txBox="1"/>
                <p:nvPr/>
              </p:nvSpPr>
              <p:spPr>
                <a:xfrm>
                  <a:off x="9950444" y="999755"/>
                  <a:ext cx="577241" cy="615552"/>
                </a:xfrm>
                <a:prstGeom prst="rect">
                  <a:avLst/>
                </a:prstGeom>
                <a:noFill/>
              </p:spPr>
              <p:txBody>
                <a:bodyPr wrap="square" rtlCol="0">
                  <a:spAutoFit/>
                </a:bodyPr>
                <a:lstStyle/>
                <a:p>
                  <a:pPr defTabSz="685800" eaLnBrk="1" fontAlgn="auto" hangingPunct="1">
                    <a:spcBef>
                      <a:spcPts val="0"/>
                    </a:spcBef>
                    <a:spcAft>
                      <a:spcPts val="0"/>
                    </a:spcAft>
                    <a:defRPr/>
                  </a:pPr>
                  <a:r>
                    <a:rPr lang="en-US" sz="1200" dirty="0">
                      <a:solidFill>
                        <a:prstClr val="white"/>
                      </a:solidFill>
                      <a:latin typeface="Calibri" panose="020F0502020204030204"/>
                      <a:ea typeface="+mn-ea"/>
                    </a:rPr>
                    <a:t>data</a:t>
                  </a:r>
                  <a:endParaRPr lang="en-US" sz="1350" dirty="0">
                    <a:solidFill>
                      <a:prstClr val="white"/>
                    </a:solidFill>
                    <a:latin typeface="Calibri" panose="020F0502020204030204"/>
                    <a:ea typeface="+mn-ea"/>
                  </a:endParaRPr>
                </a:p>
              </p:txBody>
            </p:sp>
          </p:grpSp>
          <p:grpSp>
            <p:nvGrpSpPr>
              <p:cNvPr id="172" name="Group 171">
                <a:extLst>
                  <a:ext uri="{FF2B5EF4-FFF2-40B4-BE49-F238E27FC236}">
                    <a16:creationId xmlns:a16="http://schemas.microsoft.com/office/drawing/2014/main" id="{67440755-0E4E-954E-AF41-146130A58AC5}"/>
                  </a:ext>
                </a:extLst>
              </p:cNvPr>
              <p:cNvGrpSpPr/>
              <p:nvPr/>
            </p:nvGrpSpPr>
            <p:grpSpPr>
              <a:xfrm>
                <a:off x="4492148" y="4738794"/>
                <a:ext cx="684009" cy="492443"/>
                <a:chOff x="9965227" y="1039458"/>
                <a:chExt cx="684009" cy="492443"/>
              </a:xfrm>
            </p:grpSpPr>
            <p:sp>
              <p:nvSpPr>
                <p:cNvPr id="173" name="Rectangle 172">
                  <a:extLst>
                    <a:ext uri="{FF2B5EF4-FFF2-40B4-BE49-F238E27FC236}">
                      <a16:creationId xmlns:a16="http://schemas.microsoft.com/office/drawing/2014/main" id="{570E072F-7451-6049-8AE4-47E446A3608F}"/>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4" name="TextBox 173">
                  <a:extLst>
                    <a:ext uri="{FF2B5EF4-FFF2-40B4-BE49-F238E27FC236}">
                      <a16:creationId xmlns:a16="http://schemas.microsoft.com/office/drawing/2014/main" id="{FC86A8E8-F3DF-0C45-B9B7-56C26EB61CCB}"/>
                    </a:ext>
                  </a:extLst>
                </p:cNvPr>
                <p:cNvSpPr txBox="1"/>
                <p:nvPr/>
              </p:nvSpPr>
              <p:spPr>
                <a:xfrm>
                  <a:off x="9965227" y="1039458"/>
                  <a:ext cx="684009" cy="492443"/>
                </a:xfrm>
                <a:prstGeom prst="rect">
                  <a:avLst/>
                </a:prstGeom>
                <a:noFill/>
              </p:spPr>
              <p:txBody>
                <a:bodyPr wrap="square" rtlCol="0">
                  <a:spAutoFit/>
                </a:bodyPr>
                <a:lstStyle/>
                <a:p>
                  <a:pPr defTabSz="685800" eaLnBrk="1" fontAlgn="auto" hangingPunct="1">
                    <a:spcBef>
                      <a:spcPts val="0"/>
                    </a:spcBef>
                    <a:spcAft>
                      <a:spcPts val="0"/>
                    </a:spcAft>
                    <a:defRPr/>
                  </a:pPr>
                  <a:r>
                    <a:rPr lang="en-US" sz="900" dirty="0">
                      <a:solidFill>
                        <a:prstClr val="white"/>
                      </a:solidFill>
                      <a:latin typeface="Calibri" panose="020F0502020204030204"/>
                      <a:ea typeface="+mn-ea"/>
                    </a:rPr>
                    <a:t>Header</a:t>
                  </a:r>
                  <a:endParaRPr lang="en-US" sz="1350" dirty="0">
                    <a:solidFill>
                      <a:prstClr val="white"/>
                    </a:solidFill>
                    <a:latin typeface="Calibri" panose="020F0502020204030204"/>
                    <a:ea typeface="+mn-ea"/>
                  </a:endParaRPr>
                </a:p>
              </p:txBody>
            </p:sp>
          </p:grpSp>
        </p:grpSp>
      </p:grpSp>
      <p:grpSp>
        <p:nvGrpSpPr>
          <p:cNvPr id="197" name="Group 6">
            <a:extLst>
              <a:ext uri="{FF2B5EF4-FFF2-40B4-BE49-F238E27FC236}">
                <a16:creationId xmlns:a16="http://schemas.microsoft.com/office/drawing/2014/main" id="{71667032-3DE5-D641-AF89-31661341B629}"/>
              </a:ext>
            </a:extLst>
          </p:cNvPr>
          <p:cNvGrpSpPr>
            <a:grpSpLocks/>
          </p:cNvGrpSpPr>
          <p:nvPr/>
        </p:nvGrpSpPr>
        <p:grpSpPr bwMode="auto">
          <a:xfrm>
            <a:off x="264331" y="1945327"/>
            <a:ext cx="2405063" cy="1072754"/>
            <a:chOff x="240" y="920"/>
            <a:chExt cx="2020" cy="901"/>
          </a:xfrm>
        </p:grpSpPr>
        <p:sp>
          <p:nvSpPr>
            <p:cNvPr id="198" name="Text Box 7">
              <a:extLst>
                <a:ext uri="{FF2B5EF4-FFF2-40B4-BE49-F238E27FC236}">
                  <a16:creationId xmlns:a16="http://schemas.microsoft.com/office/drawing/2014/main" id="{B992066A-2018-C94C-AFAF-EE19612D0A94}"/>
                </a:ext>
              </a:extLst>
            </p:cNvPr>
            <p:cNvSpPr txBox="1">
              <a:spLocks noChangeArrowheads="1"/>
            </p:cNvSpPr>
            <p:nvPr/>
          </p:nvSpPr>
          <p:spPr bwMode="auto">
            <a:xfrm>
              <a:off x="318" y="920"/>
              <a:ext cx="1895" cy="7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350" b="1" dirty="0">
                  <a:solidFill>
                    <a:srgbClr val="C00000"/>
                  </a:solidFill>
                  <a:latin typeface="Calibri" panose="020F0502020204030204"/>
                </a:rPr>
                <a:t>rdt_send():</a:t>
              </a:r>
              <a:r>
                <a:rPr lang="en-US" sz="1350" dirty="0">
                  <a:solidFill>
                    <a:srgbClr val="C00000"/>
                  </a:solidFill>
                  <a:latin typeface="Calibri" panose="020F0502020204030204"/>
                </a:rPr>
                <a:t> </a:t>
              </a:r>
              <a:r>
                <a:rPr lang="en-US" sz="1350" dirty="0">
                  <a:solidFill>
                    <a:prstClr val="black"/>
                  </a:solidFill>
                  <a:latin typeface="Calibri" panose="020F0502020204030204"/>
                </a:rPr>
                <a:t>called from above, (e.g., by app.). Passed data to deliver to receiver upper layer</a:t>
              </a:r>
              <a:endParaRPr lang="en-US" sz="1800" dirty="0">
                <a:solidFill>
                  <a:prstClr val="black"/>
                </a:solidFill>
                <a:latin typeface="Calibri" panose="020F0502020204030204"/>
              </a:endParaRPr>
            </a:p>
          </p:txBody>
        </p:sp>
        <p:grpSp>
          <p:nvGrpSpPr>
            <p:cNvPr id="199" name="Group 8">
              <a:extLst>
                <a:ext uri="{FF2B5EF4-FFF2-40B4-BE49-F238E27FC236}">
                  <a16:creationId xmlns:a16="http://schemas.microsoft.com/office/drawing/2014/main" id="{9A43EE55-B459-A442-AF20-820C98C69C07}"/>
                </a:ext>
              </a:extLst>
            </p:cNvPr>
            <p:cNvGrpSpPr>
              <a:grpSpLocks/>
            </p:cNvGrpSpPr>
            <p:nvPr/>
          </p:nvGrpSpPr>
          <p:grpSpPr bwMode="auto">
            <a:xfrm>
              <a:off x="240" y="921"/>
              <a:ext cx="2020" cy="900"/>
              <a:chOff x="240" y="933"/>
              <a:chExt cx="2020" cy="900"/>
            </a:xfrm>
          </p:grpSpPr>
          <p:sp>
            <p:nvSpPr>
              <p:cNvPr id="200" name="Line 9">
                <a:extLst>
                  <a:ext uri="{FF2B5EF4-FFF2-40B4-BE49-F238E27FC236}">
                    <a16:creationId xmlns:a16="http://schemas.microsoft.com/office/drawing/2014/main" id="{D59558C8-6B42-C945-B92F-70A2CBF157D5}"/>
                  </a:ext>
                </a:extLst>
              </p:cNvPr>
              <p:cNvSpPr>
                <a:spLocks noChangeShapeType="1"/>
              </p:cNvSpPr>
              <p:nvPr/>
            </p:nvSpPr>
            <p:spPr bwMode="auto">
              <a:xfrm>
                <a:off x="1787" y="1509"/>
                <a:ext cx="174" cy="324"/>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201" name="Rectangle 10">
                <a:extLst>
                  <a:ext uri="{FF2B5EF4-FFF2-40B4-BE49-F238E27FC236}">
                    <a16:creationId xmlns:a16="http://schemas.microsoft.com/office/drawing/2014/main" id="{686FEA1A-00FC-FD44-B59F-41229CD93A2C}"/>
                  </a:ext>
                </a:extLst>
              </p:cNvPr>
              <p:cNvSpPr>
                <a:spLocks noChangeArrowheads="1"/>
              </p:cNvSpPr>
              <p:nvPr/>
            </p:nvSpPr>
            <p:spPr bwMode="auto">
              <a:xfrm>
                <a:off x="240" y="933"/>
                <a:ext cx="2020" cy="558"/>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grpSp>
      <p:grpSp>
        <p:nvGrpSpPr>
          <p:cNvPr id="202" name="Group 11">
            <a:extLst>
              <a:ext uri="{FF2B5EF4-FFF2-40B4-BE49-F238E27FC236}">
                <a16:creationId xmlns:a16="http://schemas.microsoft.com/office/drawing/2014/main" id="{D5975D2B-C7D8-5443-B05C-D424C6687958}"/>
              </a:ext>
            </a:extLst>
          </p:cNvPr>
          <p:cNvGrpSpPr>
            <a:grpSpLocks/>
          </p:cNvGrpSpPr>
          <p:nvPr/>
        </p:nvGrpSpPr>
        <p:grpSpPr bwMode="auto">
          <a:xfrm>
            <a:off x="499214" y="4680692"/>
            <a:ext cx="2306241" cy="1282303"/>
            <a:chOff x="218" y="3055"/>
            <a:chExt cx="1937" cy="1077"/>
          </a:xfrm>
        </p:grpSpPr>
        <p:sp>
          <p:nvSpPr>
            <p:cNvPr id="203" name="Text Box 12">
              <a:extLst>
                <a:ext uri="{FF2B5EF4-FFF2-40B4-BE49-F238E27FC236}">
                  <a16:creationId xmlns:a16="http://schemas.microsoft.com/office/drawing/2014/main" id="{3112DCC3-CE7F-0946-98BD-677D47E5D9EC}"/>
                </a:ext>
              </a:extLst>
            </p:cNvPr>
            <p:cNvSpPr txBox="1">
              <a:spLocks noChangeArrowheads="1"/>
            </p:cNvSpPr>
            <p:nvPr/>
          </p:nvSpPr>
          <p:spPr bwMode="auto">
            <a:xfrm>
              <a:off x="233" y="3356"/>
              <a:ext cx="1878" cy="7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350" b="1" dirty="0">
                  <a:solidFill>
                    <a:srgbClr val="C00000"/>
                  </a:solidFill>
                  <a:latin typeface="Calibri" panose="020F0502020204030204"/>
                </a:rPr>
                <a:t>udt_send():</a:t>
              </a:r>
              <a:r>
                <a:rPr lang="en-US" sz="1350" dirty="0">
                  <a:solidFill>
                    <a:srgbClr val="C00000"/>
                  </a:solidFill>
                  <a:latin typeface="Calibri" panose="020F0502020204030204"/>
                </a:rPr>
                <a:t> </a:t>
              </a:r>
              <a:r>
                <a:rPr lang="en-US" sz="1350" dirty="0">
                  <a:solidFill>
                    <a:prstClr val="black"/>
                  </a:solidFill>
                  <a:latin typeface="Calibri" panose="020F0502020204030204"/>
                </a:rPr>
                <a:t>called by </a:t>
              </a:r>
              <a:r>
                <a:rPr lang="en-US" sz="1350" dirty="0">
                  <a:solidFill>
                    <a:prstClr val="black"/>
                  </a:solidFill>
                  <a:latin typeface="Courier" pitchFamily="2" charset="0"/>
                </a:rPr>
                <a:t>rdt</a:t>
              </a:r>
            </a:p>
            <a:p>
              <a:pPr defTabSz="685800" eaLnBrk="1" fontAlgn="auto" hangingPunct="1">
                <a:spcBef>
                  <a:spcPts val="0"/>
                </a:spcBef>
                <a:spcAft>
                  <a:spcPts val="0"/>
                </a:spcAft>
                <a:defRPr/>
              </a:pPr>
              <a:r>
                <a:rPr lang="en-US" sz="1350" dirty="0">
                  <a:solidFill>
                    <a:prstClr val="black"/>
                  </a:solidFill>
                  <a:latin typeface="Calibri" panose="020F0502020204030204"/>
                </a:rPr>
                <a:t>to transfer packet over </a:t>
              </a:r>
            </a:p>
            <a:p>
              <a:pPr defTabSz="685800" eaLnBrk="1" fontAlgn="auto" hangingPunct="1">
                <a:spcBef>
                  <a:spcPts val="0"/>
                </a:spcBef>
                <a:spcAft>
                  <a:spcPts val="0"/>
                </a:spcAft>
                <a:defRPr/>
              </a:pPr>
              <a:r>
                <a:rPr lang="en-US" sz="1350" dirty="0">
                  <a:solidFill>
                    <a:prstClr val="black"/>
                  </a:solidFill>
                  <a:latin typeface="Calibri" panose="020F0502020204030204"/>
                </a:rPr>
                <a:t>unreliable channel to receiver</a:t>
              </a:r>
              <a:endParaRPr lang="en-US" sz="1800" dirty="0">
                <a:solidFill>
                  <a:prstClr val="black"/>
                </a:solidFill>
                <a:latin typeface="Calibri" panose="020F0502020204030204"/>
              </a:endParaRPr>
            </a:p>
          </p:txBody>
        </p:sp>
        <p:grpSp>
          <p:nvGrpSpPr>
            <p:cNvPr id="204" name="Group 13">
              <a:extLst>
                <a:ext uri="{FF2B5EF4-FFF2-40B4-BE49-F238E27FC236}">
                  <a16:creationId xmlns:a16="http://schemas.microsoft.com/office/drawing/2014/main" id="{B6C30B44-1E4C-5642-B786-3E6EA26B0E37}"/>
                </a:ext>
              </a:extLst>
            </p:cNvPr>
            <p:cNvGrpSpPr>
              <a:grpSpLocks/>
            </p:cNvGrpSpPr>
            <p:nvPr/>
          </p:nvGrpSpPr>
          <p:grpSpPr bwMode="auto">
            <a:xfrm>
              <a:off x="218" y="3055"/>
              <a:ext cx="1937" cy="867"/>
              <a:chOff x="218" y="3055"/>
              <a:chExt cx="1937" cy="867"/>
            </a:xfrm>
          </p:grpSpPr>
          <p:sp>
            <p:nvSpPr>
              <p:cNvPr id="205" name="Line 14">
                <a:extLst>
                  <a:ext uri="{FF2B5EF4-FFF2-40B4-BE49-F238E27FC236}">
                    <a16:creationId xmlns:a16="http://schemas.microsoft.com/office/drawing/2014/main" id="{E0160BA3-7E99-FF4F-B251-3A57C4067339}"/>
                  </a:ext>
                </a:extLst>
              </p:cNvPr>
              <p:cNvSpPr>
                <a:spLocks noChangeShapeType="1"/>
              </p:cNvSpPr>
              <p:nvPr/>
            </p:nvSpPr>
            <p:spPr bwMode="auto">
              <a:xfrm flipV="1">
                <a:off x="1433" y="3055"/>
                <a:ext cx="359" cy="303"/>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206" name="Rectangle 15">
                <a:extLst>
                  <a:ext uri="{FF2B5EF4-FFF2-40B4-BE49-F238E27FC236}">
                    <a16:creationId xmlns:a16="http://schemas.microsoft.com/office/drawing/2014/main" id="{9DF0B33E-9F7D-6D42-BB3E-B10B8F37A046}"/>
                  </a:ext>
                </a:extLst>
              </p:cNvPr>
              <p:cNvSpPr>
                <a:spLocks noChangeArrowheads="1"/>
              </p:cNvSpPr>
              <p:nvPr/>
            </p:nvSpPr>
            <p:spPr bwMode="auto">
              <a:xfrm>
                <a:off x="218" y="3364"/>
                <a:ext cx="1937" cy="558"/>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grpSp>
      <p:grpSp>
        <p:nvGrpSpPr>
          <p:cNvPr id="207" name="Group 16">
            <a:extLst>
              <a:ext uri="{FF2B5EF4-FFF2-40B4-BE49-F238E27FC236}">
                <a16:creationId xmlns:a16="http://schemas.microsoft.com/office/drawing/2014/main" id="{17BBEB73-4D20-4E49-B116-621BC3CAA3C6}"/>
              </a:ext>
            </a:extLst>
          </p:cNvPr>
          <p:cNvGrpSpPr>
            <a:grpSpLocks/>
          </p:cNvGrpSpPr>
          <p:nvPr/>
        </p:nvGrpSpPr>
        <p:grpSpPr bwMode="auto">
          <a:xfrm>
            <a:off x="6334805" y="4639017"/>
            <a:ext cx="2341960" cy="1163241"/>
            <a:chOff x="3071" y="2986"/>
            <a:chExt cx="1967" cy="977"/>
          </a:xfrm>
        </p:grpSpPr>
        <p:sp>
          <p:nvSpPr>
            <p:cNvPr id="208" name="Text Box 17">
              <a:extLst>
                <a:ext uri="{FF2B5EF4-FFF2-40B4-BE49-F238E27FC236}">
                  <a16:creationId xmlns:a16="http://schemas.microsoft.com/office/drawing/2014/main" id="{13F46785-7C2F-3743-9685-4279D33DE680}"/>
                </a:ext>
              </a:extLst>
            </p:cNvPr>
            <p:cNvSpPr txBox="1">
              <a:spLocks noChangeArrowheads="1"/>
            </p:cNvSpPr>
            <p:nvPr/>
          </p:nvSpPr>
          <p:spPr bwMode="auto">
            <a:xfrm>
              <a:off x="3101" y="3362"/>
              <a:ext cx="1937" cy="60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350" b="1" dirty="0">
                  <a:solidFill>
                    <a:srgbClr val="C00000"/>
                  </a:solidFill>
                  <a:latin typeface="Calibri" panose="020F0502020204030204"/>
                </a:rPr>
                <a:t>rdt_rcv():</a:t>
              </a:r>
              <a:r>
                <a:rPr lang="en-US" sz="1350" dirty="0">
                  <a:solidFill>
                    <a:srgbClr val="C00000"/>
                  </a:solidFill>
                  <a:latin typeface="Calibri" panose="020F0502020204030204"/>
                </a:rPr>
                <a:t> </a:t>
              </a:r>
              <a:r>
                <a:rPr lang="en-US" sz="1350" dirty="0">
                  <a:solidFill>
                    <a:prstClr val="black"/>
                  </a:solidFill>
                  <a:latin typeface="Calibri" panose="020F0502020204030204"/>
                </a:rPr>
                <a:t>called when packet arrives on receiver side of channel</a:t>
              </a:r>
              <a:endParaRPr lang="en-US" sz="1800" dirty="0">
                <a:solidFill>
                  <a:prstClr val="black"/>
                </a:solidFill>
                <a:latin typeface="Calibri" panose="020F0502020204030204"/>
              </a:endParaRPr>
            </a:p>
          </p:txBody>
        </p:sp>
        <p:grpSp>
          <p:nvGrpSpPr>
            <p:cNvPr id="209" name="Group 18">
              <a:extLst>
                <a:ext uri="{FF2B5EF4-FFF2-40B4-BE49-F238E27FC236}">
                  <a16:creationId xmlns:a16="http://schemas.microsoft.com/office/drawing/2014/main" id="{6F4A03FB-C196-4245-A236-BAE0357475F2}"/>
                </a:ext>
              </a:extLst>
            </p:cNvPr>
            <p:cNvGrpSpPr>
              <a:grpSpLocks/>
            </p:cNvGrpSpPr>
            <p:nvPr/>
          </p:nvGrpSpPr>
          <p:grpSpPr bwMode="auto">
            <a:xfrm>
              <a:off x="3071" y="2986"/>
              <a:ext cx="1937" cy="943"/>
              <a:chOff x="3071" y="2986"/>
              <a:chExt cx="1937" cy="943"/>
            </a:xfrm>
          </p:grpSpPr>
          <p:sp>
            <p:nvSpPr>
              <p:cNvPr id="210" name="Line 19">
                <a:extLst>
                  <a:ext uri="{FF2B5EF4-FFF2-40B4-BE49-F238E27FC236}">
                    <a16:creationId xmlns:a16="http://schemas.microsoft.com/office/drawing/2014/main" id="{DFAB6866-5B35-6E41-8F29-0263EC44C604}"/>
                  </a:ext>
                </a:extLst>
              </p:cNvPr>
              <p:cNvSpPr>
                <a:spLocks noChangeShapeType="1"/>
              </p:cNvSpPr>
              <p:nvPr/>
            </p:nvSpPr>
            <p:spPr bwMode="auto">
              <a:xfrm flipH="1" flipV="1">
                <a:off x="3312" y="2986"/>
                <a:ext cx="398" cy="371"/>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211" name="Rectangle 20">
                <a:extLst>
                  <a:ext uri="{FF2B5EF4-FFF2-40B4-BE49-F238E27FC236}">
                    <a16:creationId xmlns:a16="http://schemas.microsoft.com/office/drawing/2014/main" id="{144EF218-DC19-974D-9D41-3796E5959FAA}"/>
                  </a:ext>
                </a:extLst>
              </p:cNvPr>
              <p:cNvSpPr>
                <a:spLocks noChangeArrowheads="1"/>
              </p:cNvSpPr>
              <p:nvPr/>
            </p:nvSpPr>
            <p:spPr bwMode="auto">
              <a:xfrm>
                <a:off x="3071" y="3348"/>
                <a:ext cx="1937" cy="581"/>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grpSp>
      <p:grpSp>
        <p:nvGrpSpPr>
          <p:cNvPr id="212" name="Group 21">
            <a:extLst>
              <a:ext uri="{FF2B5EF4-FFF2-40B4-BE49-F238E27FC236}">
                <a16:creationId xmlns:a16="http://schemas.microsoft.com/office/drawing/2014/main" id="{42650407-45AA-3C47-B59D-AAD89CBCEE9E}"/>
              </a:ext>
            </a:extLst>
          </p:cNvPr>
          <p:cNvGrpSpPr>
            <a:grpSpLocks/>
          </p:cNvGrpSpPr>
          <p:nvPr/>
        </p:nvGrpSpPr>
        <p:grpSpPr bwMode="auto">
          <a:xfrm>
            <a:off x="6618601" y="2023665"/>
            <a:ext cx="2297907" cy="1178719"/>
            <a:chOff x="3138" y="936"/>
            <a:chExt cx="1930" cy="990"/>
          </a:xfrm>
        </p:grpSpPr>
        <p:sp>
          <p:nvSpPr>
            <p:cNvPr id="213" name="Text Box 22">
              <a:extLst>
                <a:ext uri="{FF2B5EF4-FFF2-40B4-BE49-F238E27FC236}">
                  <a16:creationId xmlns:a16="http://schemas.microsoft.com/office/drawing/2014/main" id="{A91EF9B4-2F2C-834D-A9F0-AF5FF0012C06}"/>
                </a:ext>
              </a:extLst>
            </p:cNvPr>
            <p:cNvSpPr txBox="1">
              <a:spLocks noChangeArrowheads="1"/>
            </p:cNvSpPr>
            <p:nvPr/>
          </p:nvSpPr>
          <p:spPr bwMode="auto">
            <a:xfrm>
              <a:off x="3168" y="936"/>
              <a:ext cx="1900" cy="42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350" b="1" dirty="0">
                  <a:solidFill>
                    <a:srgbClr val="C00000"/>
                  </a:solidFill>
                  <a:latin typeface="Calibri" panose="020F0502020204030204"/>
                </a:rPr>
                <a:t>deliver_data():</a:t>
              </a:r>
              <a:r>
                <a:rPr lang="en-US" sz="1350" dirty="0">
                  <a:solidFill>
                    <a:srgbClr val="C00000"/>
                  </a:solidFill>
                  <a:latin typeface="Calibri" panose="020F0502020204030204"/>
                </a:rPr>
                <a:t> </a:t>
              </a:r>
              <a:r>
                <a:rPr lang="en-US" sz="1350" dirty="0">
                  <a:solidFill>
                    <a:prstClr val="black"/>
                  </a:solidFill>
                  <a:latin typeface="Calibri" panose="020F0502020204030204"/>
                </a:rPr>
                <a:t>called by </a:t>
              </a:r>
              <a:r>
                <a:rPr lang="en-US" sz="1350" dirty="0">
                  <a:solidFill>
                    <a:prstClr val="black"/>
                  </a:solidFill>
                  <a:latin typeface="Courier" pitchFamily="2" charset="0"/>
                </a:rPr>
                <a:t>rdt </a:t>
              </a:r>
              <a:r>
                <a:rPr lang="en-US" sz="1350" dirty="0">
                  <a:solidFill>
                    <a:prstClr val="black"/>
                  </a:solidFill>
                  <a:latin typeface="Calibri" panose="020F0502020204030204"/>
                </a:rPr>
                <a:t>to deliver data to upper layer</a:t>
              </a:r>
            </a:p>
          </p:txBody>
        </p:sp>
        <p:grpSp>
          <p:nvGrpSpPr>
            <p:cNvPr id="214" name="Group 23">
              <a:extLst>
                <a:ext uri="{FF2B5EF4-FFF2-40B4-BE49-F238E27FC236}">
                  <a16:creationId xmlns:a16="http://schemas.microsoft.com/office/drawing/2014/main" id="{2D175EAB-99E5-D446-9FA5-DA6520AC99E3}"/>
                </a:ext>
              </a:extLst>
            </p:cNvPr>
            <p:cNvGrpSpPr>
              <a:grpSpLocks/>
            </p:cNvGrpSpPr>
            <p:nvPr/>
          </p:nvGrpSpPr>
          <p:grpSpPr bwMode="auto">
            <a:xfrm>
              <a:off x="3138" y="942"/>
              <a:ext cx="1899" cy="984"/>
              <a:chOff x="3138" y="942"/>
              <a:chExt cx="1899" cy="984"/>
            </a:xfrm>
          </p:grpSpPr>
          <p:sp>
            <p:nvSpPr>
              <p:cNvPr id="215" name="Line 24">
                <a:extLst>
                  <a:ext uri="{FF2B5EF4-FFF2-40B4-BE49-F238E27FC236}">
                    <a16:creationId xmlns:a16="http://schemas.microsoft.com/office/drawing/2014/main" id="{B4F4A625-25A9-7C49-A577-9E5369A60459}"/>
                  </a:ext>
                </a:extLst>
              </p:cNvPr>
              <p:cNvSpPr>
                <a:spLocks noChangeShapeType="1"/>
              </p:cNvSpPr>
              <p:nvPr/>
            </p:nvSpPr>
            <p:spPr bwMode="auto">
              <a:xfrm flipH="1">
                <a:off x="3328" y="1334"/>
                <a:ext cx="325" cy="592"/>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216" name="Rectangle 25">
                <a:extLst>
                  <a:ext uri="{FF2B5EF4-FFF2-40B4-BE49-F238E27FC236}">
                    <a16:creationId xmlns:a16="http://schemas.microsoft.com/office/drawing/2014/main" id="{EB9BAEEC-FC22-9041-B4A4-025004EA540A}"/>
                  </a:ext>
                </a:extLst>
              </p:cNvPr>
              <p:cNvSpPr>
                <a:spLocks noChangeArrowheads="1"/>
              </p:cNvSpPr>
              <p:nvPr/>
            </p:nvSpPr>
            <p:spPr bwMode="auto">
              <a:xfrm>
                <a:off x="3138" y="942"/>
                <a:ext cx="1899" cy="396"/>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grpSp>
      <p:grpSp>
        <p:nvGrpSpPr>
          <p:cNvPr id="217" name="Group 216">
            <a:extLst>
              <a:ext uri="{FF2B5EF4-FFF2-40B4-BE49-F238E27FC236}">
                <a16:creationId xmlns:a16="http://schemas.microsoft.com/office/drawing/2014/main" id="{6F41A62F-3DD7-6346-9896-7AA8D52AFD01}"/>
              </a:ext>
            </a:extLst>
          </p:cNvPr>
          <p:cNvGrpSpPr/>
          <p:nvPr/>
        </p:nvGrpSpPr>
        <p:grpSpPr>
          <a:xfrm>
            <a:off x="3293168" y="4992566"/>
            <a:ext cx="2864374" cy="821356"/>
            <a:chOff x="2631911" y="5334147"/>
            <a:chExt cx="3819165" cy="1095142"/>
          </a:xfrm>
        </p:grpSpPr>
        <p:sp>
          <p:nvSpPr>
            <p:cNvPr id="218" name="TextBox 217">
              <a:extLst>
                <a:ext uri="{FF2B5EF4-FFF2-40B4-BE49-F238E27FC236}">
                  <a16:creationId xmlns:a16="http://schemas.microsoft.com/office/drawing/2014/main" id="{81FE2BAE-2017-AB42-AD7C-774573E3F768}"/>
                </a:ext>
              </a:extLst>
            </p:cNvPr>
            <p:cNvSpPr txBox="1"/>
            <p:nvPr/>
          </p:nvSpPr>
          <p:spPr>
            <a:xfrm>
              <a:off x="2631911" y="5807581"/>
              <a:ext cx="3819165" cy="621708"/>
            </a:xfrm>
            <a:prstGeom prst="rect">
              <a:avLst/>
            </a:prstGeom>
            <a:noFill/>
          </p:spPr>
          <p:txBody>
            <a:bodyPr wrap="square" rtlCol="0">
              <a:spAutoFit/>
            </a:bodyPr>
            <a:lstStyle/>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Bi-directional communication over unreliable channel</a:t>
              </a:r>
            </a:p>
          </p:txBody>
        </p:sp>
        <p:cxnSp>
          <p:nvCxnSpPr>
            <p:cNvPr id="219" name="Straight Connector 218">
              <a:extLst>
                <a:ext uri="{FF2B5EF4-FFF2-40B4-BE49-F238E27FC236}">
                  <a16:creationId xmlns:a16="http://schemas.microsoft.com/office/drawing/2014/main" id="{69CFE212-FAA9-9642-8915-72A4331BBDCC}"/>
                </a:ext>
              </a:extLst>
            </p:cNvPr>
            <p:cNvCxnSpPr>
              <a:cxnSpLocks/>
            </p:cNvCxnSpPr>
            <p:nvPr/>
          </p:nvCxnSpPr>
          <p:spPr>
            <a:xfrm>
              <a:off x="2905750" y="5334147"/>
              <a:ext cx="1431271" cy="4734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648DDD5-23AA-D944-BD74-7186BAB3A91E}"/>
                </a:ext>
              </a:extLst>
            </p:cNvPr>
            <p:cNvCxnSpPr>
              <a:cxnSpLocks/>
            </p:cNvCxnSpPr>
            <p:nvPr/>
          </p:nvCxnSpPr>
          <p:spPr>
            <a:xfrm flipH="1">
              <a:off x="4339308" y="5338301"/>
              <a:ext cx="1358761" cy="4692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id="{24DA57A5-E7F2-7A4B-9805-D1B62272D517}"/>
              </a:ext>
            </a:extLst>
          </p:cNvPr>
          <p:cNvGrpSpPr/>
          <p:nvPr/>
        </p:nvGrpSpPr>
        <p:grpSpPr>
          <a:xfrm>
            <a:off x="3131418" y="3396691"/>
            <a:ext cx="2864374" cy="321480"/>
            <a:chOff x="2418275" y="5714545"/>
            <a:chExt cx="3819165" cy="428640"/>
          </a:xfrm>
        </p:grpSpPr>
        <p:sp>
          <p:nvSpPr>
            <p:cNvPr id="222" name="TextBox 221">
              <a:extLst>
                <a:ext uri="{FF2B5EF4-FFF2-40B4-BE49-F238E27FC236}">
                  <a16:creationId xmlns:a16="http://schemas.microsoft.com/office/drawing/2014/main" id="{AA641F40-AD8C-4445-92AF-C75760D41DB5}"/>
                </a:ext>
              </a:extLst>
            </p:cNvPr>
            <p:cNvSpPr txBox="1"/>
            <p:nvPr/>
          </p:nvSpPr>
          <p:spPr>
            <a:xfrm>
              <a:off x="2418275" y="5770776"/>
              <a:ext cx="3819165" cy="372409"/>
            </a:xfrm>
            <a:prstGeom prst="rect">
              <a:avLst/>
            </a:prstGeom>
            <a:noFill/>
          </p:spPr>
          <p:txBody>
            <a:bodyPr wrap="square" rtlCol="0">
              <a:spAutoFit/>
            </a:bodyPr>
            <a:lstStyle/>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data</a:t>
              </a:r>
            </a:p>
          </p:txBody>
        </p:sp>
        <p:cxnSp>
          <p:nvCxnSpPr>
            <p:cNvPr id="231" name="Straight Connector 230">
              <a:extLst>
                <a:ext uri="{FF2B5EF4-FFF2-40B4-BE49-F238E27FC236}">
                  <a16:creationId xmlns:a16="http://schemas.microsoft.com/office/drawing/2014/main" id="{5EC91614-D442-594E-977D-A7CD27559B86}"/>
                </a:ext>
              </a:extLst>
            </p:cNvPr>
            <p:cNvCxnSpPr>
              <a:cxnSpLocks/>
              <a:stCxn id="156" idx="2"/>
            </p:cNvCxnSpPr>
            <p:nvPr/>
          </p:nvCxnSpPr>
          <p:spPr>
            <a:xfrm>
              <a:off x="2894960" y="5742253"/>
              <a:ext cx="1442061" cy="65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F28C5F11-037B-3141-81EB-95B8DB592151}"/>
                </a:ext>
              </a:extLst>
            </p:cNvPr>
            <p:cNvCxnSpPr>
              <a:cxnSpLocks/>
              <a:stCxn id="150" idx="2"/>
            </p:cNvCxnSpPr>
            <p:nvPr/>
          </p:nvCxnSpPr>
          <p:spPr>
            <a:xfrm flipH="1">
              <a:off x="4339309" y="5714545"/>
              <a:ext cx="1263388" cy="9303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50AC3C84-7598-504F-A405-3ABFEB5F658C}"/>
              </a:ext>
            </a:extLst>
          </p:cNvPr>
          <p:cNvGrpSpPr/>
          <p:nvPr/>
        </p:nvGrpSpPr>
        <p:grpSpPr>
          <a:xfrm>
            <a:off x="3844238" y="3943371"/>
            <a:ext cx="1330941" cy="515885"/>
            <a:chOff x="5125651" y="4114827"/>
            <a:chExt cx="1774588" cy="687847"/>
          </a:xfrm>
        </p:grpSpPr>
        <p:sp>
          <p:nvSpPr>
            <p:cNvPr id="241" name="TextBox 240">
              <a:extLst>
                <a:ext uri="{FF2B5EF4-FFF2-40B4-BE49-F238E27FC236}">
                  <a16:creationId xmlns:a16="http://schemas.microsoft.com/office/drawing/2014/main" id="{EDB0CBDE-E11E-4D44-A1B1-F46AB6BB5EE3}"/>
                </a:ext>
              </a:extLst>
            </p:cNvPr>
            <p:cNvSpPr txBox="1"/>
            <p:nvPr/>
          </p:nvSpPr>
          <p:spPr>
            <a:xfrm>
              <a:off x="5532498" y="4114827"/>
              <a:ext cx="1135643" cy="372410"/>
            </a:xfrm>
            <a:prstGeom prst="rect">
              <a:avLst/>
            </a:prstGeom>
            <a:noFill/>
          </p:spPr>
          <p:txBody>
            <a:bodyPr wrap="square" rtlCol="0">
              <a:spAutoFit/>
            </a:bodyPr>
            <a:lstStyle/>
            <a:p>
              <a:pPr algn="ctr" defTabSz="685800" eaLnBrk="1" fontAlgn="auto" hangingPunct="1">
                <a:lnSpc>
                  <a:spcPct val="90000"/>
                </a:lnSpc>
                <a:spcBef>
                  <a:spcPts val="0"/>
                </a:spcBef>
                <a:spcAft>
                  <a:spcPts val="0"/>
                </a:spcAft>
                <a:defRPr/>
              </a:pPr>
              <a:r>
                <a:rPr lang="en-US" sz="1350" dirty="0">
                  <a:solidFill>
                    <a:prstClr val="black"/>
                  </a:solidFill>
                  <a:latin typeface="Calibri" panose="020F0502020204030204"/>
                  <a:ea typeface="+mn-ea"/>
                </a:rPr>
                <a:t>packet</a:t>
              </a:r>
            </a:p>
          </p:txBody>
        </p:sp>
        <p:grpSp>
          <p:nvGrpSpPr>
            <p:cNvPr id="27" name="Group 26">
              <a:extLst>
                <a:ext uri="{FF2B5EF4-FFF2-40B4-BE49-F238E27FC236}">
                  <a16:creationId xmlns:a16="http://schemas.microsoft.com/office/drawing/2014/main" id="{9D568B1D-51FF-AA46-90CF-7CFEE16AA233}"/>
                </a:ext>
              </a:extLst>
            </p:cNvPr>
            <p:cNvGrpSpPr/>
            <p:nvPr/>
          </p:nvGrpSpPr>
          <p:grpSpPr>
            <a:xfrm flipV="1">
              <a:off x="5125651" y="4373167"/>
              <a:ext cx="1774588" cy="429507"/>
              <a:chOff x="8970705" y="3780959"/>
              <a:chExt cx="2707737" cy="429507"/>
            </a:xfrm>
          </p:grpSpPr>
          <p:cxnSp>
            <p:nvCxnSpPr>
              <p:cNvPr id="242" name="Straight Connector 241">
                <a:extLst>
                  <a:ext uri="{FF2B5EF4-FFF2-40B4-BE49-F238E27FC236}">
                    <a16:creationId xmlns:a16="http://schemas.microsoft.com/office/drawing/2014/main" id="{E2B11327-3736-0944-A286-E629946AF6C2}"/>
                  </a:ext>
                </a:extLst>
              </p:cNvPr>
              <p:cNvCxnSpPr>
                <a:cxnSpLocks/>
              </p:cNvCxnSpPr>
              <p:nvPr/>
            </p:nvCxnSpPr>
            <p:spPr>
              <a:xfrm>
                <a:off x="8970705" y="3808669"/>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A509D373-1A9D-6F41-B2A3-89CFB48DFD95}"/>
                  </a:ext>
                </a:extLst>
              </p:cNvPr>
              <p:cNvCxnSpPr>
                <a:cxnSpLocks/>
              </p:cNvCxnSpPr>
              <p:nvPr/>
            </p:nvCxnSpPr>
            <p:spPr>
              <a:xfrm flipH="1">
                <a:off x="10427754" y="3780959"/>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59" name="Oval 158">
            <a:extLst>
              <a:ext uri="{FF2B5EF4-FFF2-40B4-BE49-F238E27FC236}">
                <a16:creationId xmlns:a16="http://schemas.microsoft.com/office/drawing/2014/main" id="{C022FBDC-CC2E-5E47-9678-89FEA29CD830}"/>
              </a:ext>
            </a:extLst>
          </p:cNvPr>
          <p:cNvSpPr/>
          <p:nvPr/>
        </p:nvSpPr>
        <p:spPr>
          <a:xfrm>
            <a:off x="2425483" y="3468714"/>
            <a:ext cx="1651217"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6" name="Oval 165">
            <a:extLst>
              <a:ext uri="{FF2B5EF4-FFF2-40B4-BE49-F238E27FC236}">
                <a16:creationId xmlns:a16="http://schemas.microsoft.com/office/drawing/2014/main" id="{FF958383-DD7C-5640-BB35-D8FF6965A3B4}"/>
              </a:ext>
            </a:extLst>
          </p:cNvPr>
          <p:cNvSpPr/>
          <p:nvPr/>
        </p:nvSpPr>
        <p:spPr>
          <a:xfrm>
            <a:off x="4930558" y="3478239"/>
            <a:ext cx="1651217"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7" name="Slide Number Placeholder 2">
            <a:extLst>
              <a:ext uri="{FF2B5EF4-FFF2-40B4-BE49-F238E27FC236}">
                <a16:creationId xmlns:a16="http://schemas.microsoft.com/office/drawing/2014/main" id="{6DBFA797-FCF1-D64C-B202-129E2249C30F}"/>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32</a:t>
            </a:fld>
            <a:endParaRPr lang="en-US" dirty="0"/>
          </a:p>
        </p:txBody>
      </p:sp>
    </p:spTree>
    <p:extLst>
      <p:ext uri="{BB962C8B-B14F-4D97-AF65-F5344CB8AC3E}">
        <p14:creationId xmlns:p14="http://schemas.microsoft.com/office/powerpoint/2010/main" val="87264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500" fill="hold"/>
                                        <p:tgtEl>
                                          <p:spTgt spid="197"/>
                                        </p:tgtEl>
                                        <p:attrNameLst>
                                          <p:attrName>ppt_x</p:attrName>
                                        </p:attrNameLst>
                                      </p:cBhvr>
                                      <p:tavLst>
                                        <p:tav tm="0">
                                          <p:val>
                                            <p:strVal val="0-#ppt_w/2"/>
                                          </p:val>
                                        </p:tav>
                                        <p:tav tm="100000">
                                          <p:val>
                                            <p:strVal val="#ppt_x"/>
                                          </p:val>
                                        </p:tav>
                                      </p:tavLst>
                                    </p:anim>
                                    <p:anim calcmode="lin" valueType="num">
                                      <p:cBhvr additive="base">
                                        <p:cTn id="8" dur="500" fill="hold"/>
                                        <p:tgtEl>
                                          <p:spTgt spid="1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2"/>
                                        </p:tgtEl>
                                        <p:attrNameLst>
                                          <p:attrName>style.visibility</p:attrName>
                                        </p:attrNameLst>
                                      </p:cBhvr>
                                      <p:to>
                                        <p:strVal val="visible"/>
                                      </p:to>
                                    </p:set>
                                    <p:anim calcmode="lin" valueType="num">
                                      <p:cBhvr additive="base">
                                        <p:cTn id="13" dur="500" fill="hold"/>
                                        <p:tgtEl>
                                          <p:spTgt spid="202"/>
                                        </p:tgtEl>
                                        <p:attrNameLst>
                                          <p:attrName>ppt_x</p:attrName>
                                        </p:attrNameLst>
                                      </p:cBhvr>
                                      <p:tavLst>
                                        <p:tav tm="0">
                                          <p:val>
                                            <p:strVal val="0-#ppt_w/2"/>
                                          </p:val>
                                        </p:tav>
                                        <p:tav tm="100000">
                                          <p:val>
                                            <p:strVal val="#ppt_x"/>
                                          </p:val>
                                        </p:tav>
                                      </p:tavLst>
                                    </p:anim>
                                    <p:anim calcmode="lin" valueType="num">
                                      <p:cBhvr additive="base">
                                        <p:cTn id="14" dur="500" fill="hold"/>
                                        <p:tgtEl>
                                          <p:spTgt spid="20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07"/>
                                        </p:tgtEl>
                                        <p:attrNameLst>
                                          <p:attrName>style.visibility</p:attrName>
                                        </p:attrNameLst>
                                      </p:cBhvr>
                                      <p:to>
                                        <p:strVal val="visible"/>
                                      </p:to>
                                    </p:set>
                                    <p:anim calcmode="lin" valueType="num">
                                      <p:cBhvr additive="base">
                                        <p:cTn id="19" dur="500" fill="hold"/>
                                        <p:tgtEl>
                                          <p:spTgt spid="207"/>
                                        </p:tgtEl>
                                        <p:attrNameLst>
                                          <p:attrName>ppt_x</p:attrName>
                                        </p:attrNameLst>
                                      </p:cBhvr>
                                      <p:tavLst>
                                        <p:tav tm="0">
                                          <p:val>
                                            <p:strVal val="1+#ppt_w/2"/>
                                          </p:val>
                                        </p:tav>
                                        <p:tav tm="100000">
                                          <p:val>
                                            <p:strVal val="#ppt_x"/>
                                          </p:val>
                                        </p:tav>
                                      </p:tavLst>
                                    </p:anim>
                                    <p:anim calcmode="lin" valueType="num">
                                      <p:cBhvr additive="base">
                                        <p:cTn id="20" dur="500" fill="hold"/>
                                        <p:tgtEl>
                                          <p:spTgt spid="20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12"/>
                                        </p:tgtEl>
                                        <p:attrNameLst>
                                          <p:attrName>style.visibility</p:attrName>
                                        </p:attrNameLst>
                                      </p:cBhvr>
                                      <p:to>
                                        <p:strVal val="visible"/>
                                      </p:to>
                                    </p:set>
                                    <p:anim calcmode="lin" valueType="num">
                                      <p:cBhvr additive="base">
                                        <p:cTn id="25" dur="500" fill="hold"/>
                                        <p:tgtEl>
                                          <p:spTgt spid="212"/>
                                        </p:tgtEl>
                                        <p:attrNameLst>
                                          <p:attrName>ppt_x</p:attrName>
                                        </p:attrNameLst>
                                      </p:cBhvr>
                                      <p:tavLst>
                                        <p:tav tm="0">
                                          <p:val>
                                            <p:strVal val="1+#ppt_w/2"/>
                                          </p:val>
                                        </p:tav>
                                        <p:tav tm="100000">
                                          <p:val>
                                            <p:strVal val="#ppt_x"/>
                                          </p:val>
                                        </p:tav>
                                      </p:tavLst>
                                    </p:anim>
                                    <p:anim calcmode="lin" valueType="num">
                                      <p:cBhvr additive="base">
                                        <p:cTn id="26" dur="500" fill="hold"/>
                                        <p:tgtEl>
                                          <p:spTgt spid="2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7"/>
                                        </p:tgtEl>
                                        <p:attrNameLst>
                                          <p:attrName>style.visibility</p:attrName>
                                        </p:attrNameLst>
                                      </p:cBhvr>
                                      <p:to>
                                        <p:strVal val="visible"/>
                                      </p:to>
                                    </p:set>
                                    <p:animEffect transition="in" filter="dissolve">
                                      <p:cBhvr>
                                        <p:cTn id="31" dur="500"/>
                                        <p:tgtEl>
                                          <p:spTgt spid="21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21"/>
                                        </p:tgtEl>
                                        <p:attrNameLst>
                                          <p:attrName>style.visibility</p:attrName>
                                        </p:attrNameLst>
                                      </p:cBhvr>
                                      <p:to>
                                        <p:strVal val="visible"/>
                                      </p:to>
                                    </p:set>
                                    <p:animEffect transition="in" filter="dissolve">
                                      <p:cBhvr>
                                        <p:cTn id="36" dur="500"/>
                                        <p:tgtEl>
                                          <p:spTgt spid="22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dissolve">
                                      <p:cBhvr>
                                        <p:cTn id="4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Reliable data transfer: getting started</a:t>
            </a:r>
          </a:p>
        </p:txBody>
      </p:sp>
      <p:sp>
        <p:nvSpPr>
          <p:cNvPr id="193" name="Rectangle 3">
            <a:extLst>
              <a:ext uri="{FF2B5EF4-FFF2-40B4-BE49-F238E27FC236}">
                <a16:creationId xmlns:a16="http://schemas.microsoft.com/office/drawing/2014/main" id="{5D93718A-0690-8C4E-A748-FD7FA291E0B5}"/>
              </a:ext>
            </a:extLst>
          </p:cNvPr>
          <p:cNvSpPr txBox="1">
            <a:spLocks noChangeArrowheads="1"/>
          </p:cNvSpPr>
          <p:nvPr/>
        </p:nvSpPr>
        <p:spPr bwMode="auto">
          <a:xfrm>
            <a:off x="679680" y="1764506"/>
            <a:ext cx="8292433" cy="2514600"/>
          </a:xfrm>
          <a:prstGeom prst="rect">
            <a:avLst/>
          </a:prstGeom>
          <a:noFill/>
          <a:ln>
            <a:noFill/>
          </a:ln>
          <a:effectLst/>
          <a:extLst>
            <a:ext uri="{91240B29-F687-4f45-9708-019B960494DF}">
              <a14:hiddenLine xmlns:a14="http://schemas.microsoft.com/office/drawing/2010/main" xmlns="" w="9525">
                <a:solidFill>
                  <a:srgbClr val="CC0000"/>
                </a:solidFill>
                <a:miter lim="800000"/>
                <a:headEnd/>
                <a:tailEnd/>
              </a14:hiddenLine>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buNone/>
              <a:defRPr/>
            </a:pPr>
            <a:r>
              <a:rPr lang="en-US" altLang="ja-JP" sz="2400" kern="0" dirty="0">
                <a:solidFill>
                  <a:srgbClr val="C00000"/>
                </a:solidFill>
                <a:latin typeface="Calibri" panose="020F0502020204030204"/>
                <a:ea typeface="ＭＳ Ｐゴシック" panose="020B0600070205080204" pitchFamily="34" charset="-128"/>
              </a:rPr>
              <a:t>We will:</a:t>
            </a:r>
          </a:p>
          <a:p>
            <a:pPr marL="213122" indent="-213122" defTabSz="685800">
              <a:defRPr/>
            </a:pPr>
            <a:r>
              <a:rPr lang="en-US" altLang="en-US" sz="2100" kern="0" dirty="0">
                <a:solidFill>
                  <a:prstClr val="black"/>
                </a:solidFill>
                <a:latin typeface="Calibri" panose="020F0502020204030204"/>
                <a:ea typeface="ＭＳ Ｐゴシック" panose="020B0600070205080204" pitchFamily="34" charset="-128"/>
              </a:rPr>
              <a:t>incrementally develop sender, receiver sides of </a:t>
            </a:r>
            <a:r>
              <a:rPr lang="en-US" altLang="en-US" sz="2100" u="sng" kern="0" dirty="0">
                <a:solidFill>
                  <a:srgbClr val="CC0000"/>
                </a:solidFill>
                <a:latin typeface="Calibri" panose="020F0502020204030204"/>
                <a:ea typeface="ＭＳ Ｐゴシック" panose="020B0600070205080204" pitchFamily="34" charset="-128"/>
              </a:rPr>
              <a:t>r</a:t>
            </a:r>
            <a:r>
              <a:rPr lang="en-US" altLang="en-US" sz="2100" kern="0" dirty="0">
                <a:solidFill>
                  <a:prstClr val="black"/>
                </a:solidFill>
                <a:latin typeface="Calibri" panose="020F0502020204030204"/>
                <a:ea typeface="ＭＳ Ｐゴシック" panose="020B0600070205080204" pitchFamily="34" charset="-128"/>
              </a:rPr>
              <a:t>eliable </a:t>
            </a:r>
            <a:r>
              <a:rPr lang="en-US" altLang="en-US" sz="2100" u="sng" kern="0" dirty="0">
                <a:solidFill>
                  <a:srgbClr val="CC0000"/>
                </a:solidFill>
                <a:latin typeface="Calibri" panose="020F0502020204030204"/>
                <a:ea typeface="ＭＳ Ｐゴシック" panose="020B0600070205080204" pitchFamily="34" charset="-128"/>
              </a:rPr>
              <a:t>d</a:t>
            </a:r>
            <a:r>
              <a:rPr lang="en-US" altLang="en-US" sz="2100" kern="0" dirty="0">
                <a:solidFill>
                  <a:prstClr val="black"/>
                </a:solidFill>
                <a:latin typeface="Calibri" panose="020F0502020204030204"/>
                <a:ea typeface="ＭＳ Ｐゴシック" panose="020B0600070205080204" pitchFamily="34" charset="-128"/>
              </a:rPr>
              <a:t>ata </a:t>
            </a:r>
            <a:r>
              <a:rPr lang="en-US" altLang="en-US" sz="2100" u="sng" kern="0" dirty="0">
                <a:solidFill>
                  <a:srgbClr val="CC0000"/>
                </a:solidFill>
                <a:latin typeface="Calibri" panose="020F0502020204030204"/>
                <a:ea typeface="ＭＳ Ｐゴシック" panose="020B0600070205080204" pitchFamily="34" charset="-128"/>
              </a:rPr>
              <a:t>t</a:t>
            </a:r>
            <a:r>
              <a:rPr lang="en-US" altLang="en-US" sz="2100" kern="0" dirty="0">
                <a:solidFill>
                  <a:prstClr val="black"/>
                </a:solidFill>
                <a:latin typeface="Calibri" panose="020F0502020204030204"/>
                <a:ea typeface="ＭＳ Ｐゴシック" panose="020B0600070205080204" pitchFamily="34" charset="-128"/>
              </a:rPr>
              <a:t>ransfer protocol (</a:t>
            </a:r>
            <a:r>
              <a:rPr lang="en-US" altLang="en-US" sz="2100" kern="0" dirty="0">
                <a:solidFill>
                  <a:prstClr val="black"/>
                </a:solidFill>
                <a:latin typeface="Courier" pitchFamily="2" charset="0"/>
                <a:ea typeface="ＭＳ Ｐゴシック" panose="020B0600070205080204" pitchFamily="34" charset="-128"/>
              </a:rPr>
              <a:t>rdt</a:t>
            </a:r>
            <a:r>
              <a:rPr lang="en-US" altLang="en-US" sz="2100" kern="0" dirty="0">
                <a:solidFill>
                  <a:prstClr val="black"/>
                </a:solidFill>
                <a:latin typeface="Calibri" panose="020F0502020204030204"/>
                <a:ea typeface="ＭＳ Ｐゴシック" panose="020B0600070205080204" pitchFamily="34" charset="-128"/>
              </a:rPr>
              <a:t>)</a:t>
            </a:r>
          </a:p>
          <a:p>
            <a:pPr marL="213122" indent="-213122" defTabSz="685800">
              <a:defRPr/>
            </a:pPr>
            <a:r>
              <a:rPr lang="en-US" altLang="en-US" sz="2100" kern="0" dirty="0">
                <a:solidFill>
                  <a:prstClr val="black"/>
                </a:solidFill>
                <a:latin typeface="Calibri" panose="020F0502020204030204"/>
                <a:ea typeface="ＭＳ Ｐゴシック" panose="020B0600070205080204" pitchFamily="34" charset="-128"/>
              </a:rPr>
              <a:t>consider only unidirectional data transfer</a:t>
            </a:r>
          </a:p>
          <a:p>
            <a:pPr marL="515541" lvl="1" indent="-172641" defTabSz="685800">
              <a:defRPr/>
            </a:pPr>
            <a:r>
              <a:rPr lang="en-US" altLang="en-US" sz="1800" kern="0" dirty="0">
                <a:solidFill>
                  <a:prstClr val="black"/>
                </a:solidFill>
                <a:latin typeface="Calibri" panose="020F0502020204030204"/>
                <a:ea typeface="ＭＳ Ｐゴシック" panose="020B0600070205080204" pitchFamily="34" charset="-128"/>
              </a:rPr>
              <a:t>but control info will flow in both directions!</a:t>
            </a:r>
          </a:p>
        </p:txBody>
      </p:sp>
      <p:sp>
        <p:nvSpPr>
          <p:cNvPr id="194" name="Oval 5">
            <a:extLst>
              <a:ext uri="{FF2B5EF4-FFF2-40B4-BE49-F238E27FC236}">
                <a16:creationId xmlns:a16="http://schemas.microsoft.com/office/drawing/2014/main" id="{239622CA-E70A-CC42-B345-49DC0319BAA9}"/>
              </a:ext>
            </a:extLst>
          </p:cNvPr>
          <p:cNvSpPr>
            <a:spLocks noChangeArrowheads="1"/>
          </p:cNvSpPr>
          <p:nvPr/>
        </p:nvSpPr>
        <p:spPr bwMode="auto">
          <a:xfrm>
            <a:off x="3013204" y="4512671"/>
            <a:ext cx="664369" cy="657225"/>
          </a:xfrm>
          <a:prstGeom prst="ellipse">
            <a:avLst/>
          </a:prstGeom>
          <a:solidFill>
            <a:srgbClr val="000099"/>
          </a:solidFill>
          <a:ln>
            <a:noFill/>
          </a:ln>
          <a:effectLst/>
          <a:extLst>
            <a:ext uri="{91240B29-F687-4f45-9708-019B960494DF}">
              <a14:hiddenLine xmlns:a14="http://schemas.microsoft.com/office/drawing/2010/main" xmlns="" w="1905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dirty="0">
              <a:solidFill>
                <a:srgbClr val="000000"/>
              </a:solidFill>
              <a:latin typeface="Tahoma" charset="0"/>
              <a:ea typeface="ＭＳ Ｐゴシック" charset="0"/>
            </a:endParaRPr>
          </a:p>
        </p:txBody>
      </p:sp>
      <p:sp>
        <p:nvSpPr>
          <p:cNvPr id="195" name="Oval 6">
            <a:extLst>
              <a:ext uri="{FF2B5EF4-FFF2-40B4-BE49-F238E27FC236}">
                <a16:creationId xmlns:a16="http://schemas.microsoft.com/office/drawing/2014/main" id="{3070A472-417C-B64C-8596-E60CAE3FAF1E}"/>
              </a:ext>
            </a:extLst>
          </p:cNvPr>
          <p:cNvSpPr>
            <a:spLocks noChangeArrowheads="1"/>
          </p:cNvSpPr>
          <p:nvPr/>
        </p:nvSpPr>
        <p:spPr bwMode="auto">
          <a:xfrm>
            <a:off x="2945338" y="4531721"/>
            <a:ext cx="707231" cy="657225"/>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196" name="Text Box 7">
            <a:extLst>
              <a:ext uri="{FF2B5EF4-FFF2-40B4-BE49-F238E27FC236}">
                <a16:creationId xmlns:a16="http://schemas.microsoft.com/office/drawing/2014/main" id="{08B8C369-B54C-DA42-A239-7C5638495649}"/>
              </a:ext>
            </a:extLst>
          </p:cNvPr>
          <p:cNvSpPr txBox="1">
            <a:spLocks noChangeArrowheads="1"/>
          </p:cNvSpPr>
          <p:nvPr/>
        </p:nvSpPr>
        <p:spPr bwMode="auto">
          <a:xfrm>
            <a:off x="3028682" y="4617445"/>
            <a:ext cx="551259" cy="7848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kern="0" dirty="0">
                <a:solidFill>
                  <a:srgbClr val="000000"/>
                </a:solidFill>
              </a:rPr>
              <a:t>state</a:t>
            </a:r>
          </a:p>
          <a:p>
            <a:pPr algn="ctr" defTabSz="685800">
              <a:defRPr/>
            </a:pPr>
            <a:r>
              <a:rPr lang="en-US" sz="1500" kern="0" dirty="0">
                <a:solidFill>
                  <a:srgbClr val="000000"/>
                </a:solidFill>
              </a:rPr>
              <a:t>1</a:t>
            </a:r>
          </a:p>
        </p:txBody>
      </p:sp>
      <p:sp>
        <p:nvSpPr>
          <p:cNvPr id="234" name="Freeform 8">
            <a:extLst>
              <a:ext uri="{FF2B5EF4-FFF2-40B4-BE49-F238E27FC236}">
                <a16:creationId xmlns:a16="http://schemas.microsoft.com/office/drawing/2014/main" id="{3475345F-C536-0A44-888E-B17681F112D6}"/>
              </a:ext>
            </a:extLst>
          </p:cNvPr>
          <p:cNvSpPr>
            <a:spLocks/>
          </p:cNvSpPr>
          <p:nvPr/>
        </p:nvSpPr>
        <p:spPr bwMode="auto">
          <a:xfrm>
            <a:off x="3652570" y="4496002"/>
            <a:ext cx="2964656" cy="214313"/>
          </a:xfrm>
          <a:custGeom>
            <a:avLst/>
            <a:gdLst>
              <a:gd name="T0" fmla="*/ 0 w 1446"/>
              <a:gd name="T1" fmla="*/ 2147483647 h 180"/>
              <a:gd name="T2" fmla="*/ 2147483647 w 1446"/>
              <a:gd name="T3" fmla="*/ 2147483647 h 180"/>
              <a:gd name="T4" fmla="*/ 0 60000 65536"/>
              <a:gd name="T5" fmla="*/ 0 60000 65536"/>
            </a:gdLst>
            <a:ahLst/>
            <a:cxnLst>
              <a:cxn ang="T4">
                <a:pos x="T0" y="T1"/>
              </a:cxn>
              <a:cxn ang="T5">
                <a:pos x="T2" y="T3"/>
              </a:cxn>
            </a:cxnLst>
            <a:rect l="0" t="0" r="r" b="b"/>
            <a:pathLst>
              <a:path w="1446" h="180">
                <a:moveTo>
                  <a:pt x="0" y="180"/>
                </a:moveTo>
                <a:cubicBezTo>
                  <a:pt x="540" y="30"/>
                  <a:pt x="972" y="0"/>
                  <a:pt x="1446" y="168"/>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a:defRPr/>
            </a:pPr>
            <a:endParaRPr lang="en-US" sz="1200" dirty="0">
              <a:solidFill>
                <a:srgbClr val="000000"/>
              </a:solidFill>
              <a:latin typeface="Tahoma" panose="020B0604030504040204" pitchFamily="34" charset="0"/>
            </a:endParaRPr>
          </a:p>
        </p:txBody>
      </p:sp>
      <p:sp>
        <p:nvSpPr>
          <p:cNvPr id="235" name="Oval 10">
            <a:extLst>
              <a:ext uri="{FF2B5EF4-FFF2-40B4-BE49-F238E27FC236}">
                <a16:creationId xmlns:a16="http://schemas.microsoft.com/office/drawing/2014/main" id="{746ECFE2-5CD0-C04F-8B87-C645E1556A9F}"/>
              </a:ext>
            </a:extLst>
          </p:cNvPr>
          <p:cNvSpPr>
            <a:spLocks noChangeArrowheads="1"/>
          </p:cNvSpPr>
          <p:nvPr/>
        </p:nvSpPr>
        <p:spPr bwMode="auto">
          <a:xfrm>
            <a:off x="6601748" y="4590476"/>
            <a:ext cx="654843" cy="657225"/>
          </a:xfrm>
          <a:prstGeom prst="ellipse">
            <a:avLst/>
          </a:prstGeom>
          <a:solidFill>
            <a:srgbClr val="000099"/>
          </a:solidFill>
          <a:ln>
            <a:noFill/>
          </a:ln>
          <a:effectLst/>
          <a:extLst>
            <a:ext uri="{91240B29-F687-4f45-9708-019B960494DF}">
              <a14:hiddenLine xmlns:a14="http://schemas.microsoft.com/office/drawing/2010/main" xmlns="" w="1905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dirty="0">
              <a:solidFill>
                <a:srgbClr val="000000"/>
              </a:solidFill>
              <a:latin typeface="Tahoma" charset="0"/>
              <a:ea typeface="ＭＳ Ｐゴシック" charset="0"/>
            </a:endParaRPr>
          </a:p>
        </p:txBody>
      </p:sp>
      <p:sp>
        <p:nvSpPr>
          <p:cNvPr id="238" name="Oval 11">
            <a:extLst>
              <a:ext uri="{FF2B5EF4-FFF2-40B4-BE49-F238E27FC236}">
                <a16:creationId xmlns:a16="http://schemas.microsoft.com/office/drawing/2014/main" id="{64FCB6C7-C6F9-8C46-BF1F-E9242E6C942E}"/>
              </a:ext>
            </a:extLst>
          </p:cNvPr>
          <p:cNvSpPr>
            <a:spLocks noChangeArrowheads="1"/>
          </p:cNvSpPr>
          <p:nvPr/>
        </p:nvSpPr>
        <p:spPr bwMode="auto">
          <a:xfrm>
            <a:off x="6552932" y="4610302"/>
            <a:ext cx="664369" cy="657225"/>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kern="0" dirty="0">
              <a:solidFill>
                <a:srgbClr val="000000"/>
              </a:solidFill>
              <a:latin typeface="Tahoma" charset="0"/>
              <a:ea typeface="ＭＳ Ｐゴシック" charset="0"/>
            </a:endParaRPr>
          </a:p>
        </p:txBody>
      </p:sp>
      <p:sp>
        <p:nvSpPr>
          <p:cNvPr id="239" name="Text Box 12">
            <a:extLst>
              <a:ext uri="{FF2B5EF4-FFF2-40B4-BE49-F238E27FC236}">
                <a16:creationId xmlns:a16="http://schemas.microsoft.com/office/drawing/2014/main" id="{57C97D62-0B61-3848-BBA8-5FCC09BFDC01}"/>
              </a:ext>
            </a:extLst>
          </p:cNvPr>
          <p:cNvSpPr txBox="1">
            <a:spLocks noChangeArrowheads="1"/>
          </p:cNvSpPr>
          <p:nvPr/>
        </p:nvSpPr>
        <p:spPr bwMode="auto">
          <a:xfrm>
            <a:off x="6576419" y="4691264"/>
            <a:ext cx="601447" cy="55399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kern="0" dirty="0">
                <a:solidFill>
                  <a:srgbClr val="000000"/>
                </a:solidFill>
              </a:rPr>
              <a:t>state</a:t>
            </a:r>
          </a:p>
          <a:p>
            <a:pPr algn="ctr" defTabSz="685800">
              <a:defRPr/>
            </a:pPr>
            <a:r>
              <a:rPr lang="en-US" sz="1500" kern="0" dirty="0">
                <a:solidFill>
                  <a:srgbClr val="000000"/>
                </a:solidFill>
              </a:rPr>
              <a:t>2</a:t>
            </a:r>
          </a:p>
        </p:txBody>
      </p:sp>
      <p:sp>
        <p:nvSpPr>
          <p:cNvPr id="246" name="Text Box 13">
            <a:extLst>
              <a:ext uri="{FF2B5EF4-FFF2-40B4-BE49-F238E27FC236}">
                <a16:creationId xmlns:a16="http://schemas.microsoft.com/office/drawing/2014/main" id="{807A58CF-7E9F-DF4E-9818-2CBC4ED16CA2}"/>
              </a:ext>
            </a:extLst>
          </p:cNvPr>
          <p:cNvSpPr txBox="1">
            <a:spLocks noChangeArrowheads="1"/>
          </p:cNvSpPr>
          <p:nvPr/>
        </p:nvSpPr>
        <p:spPr bwMode="auto">
          <a:xfrm>
            <a:off x="3789058" y="4019752"/>
            <a:ext cx="2436886"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CC0000"/>
                </a:solidFill>
              </a:rPr>
              <a:t>event causing state transition</a:t>
            </a:r>
            <a:endParaRPr lang="en-US" sz="1800" kern="0" dirty="0">
              <a:solidFill>
                <a:srgbClr val="CC0000"/>
              </a:solidFill>
            </a:endParaRPr>
          </a:p>
        </p:txBody>
      </p:sp>
      <p:sp>
        <p:nvSpPr>
          <p:cNvPr id="248" name="Text Box 14">
            <a:extLst>
              <a:ext uri="{FF2B5EF4-FFF2-40B4-BE49-F238E27FC236}">
                <a16:creationId xmlns:a16="http://schemas.microsoft.com/office/drawing/2014/main" id="{6FE48C09-1C7F-8C4D-B56E-B697D8EF6AD8}"/>
              </a:ext>
            </a:extLst>
          </p:cNvPr>
          <p:cNvSpPr txBox="1">
            <a:spLocks noChangeArrowheads="1"/>
          </p:cNvSpPr>
          <p:nvPr/>
        </p:nvSpPr>
        <p:spPr bwMode="auto">
          <a:xfrm>
            <a:off x="3732305" y="4241208"/>
            <a:ext cx="2642070"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CC0000"/>
                </a:solidFill>
              </a:rPr>
              <a:t>actions taken on state transition</a:t>
            </a:r>
            <a:endParaRPr lang="en-US" sz="1800" kern="0" dirty="0">
              <a:solidFill>
                <a:srgbClr val="CC0000"/>
              </a:solidFill>
            </a:endParaRPr>
          </a:p>
        </p:txBody>
      </p:sp>
      <p:sp>
        <p:nvSpPr>
          <p:cNvPr id="254" name="Line 15">
            <a:extLst>
              <a:ext uri="{FF2B5EF4-FFF2-40B4-BE49-F238E27FC236}">
                <a16:creationId xmlns:a16="http://schemas.microsoft.com/office/drawing/2014/main" id="{C6A8A602-5239-A74B-AD17-B72696EF3F0B}"/>
              </a:ext>
            </a:extLst>
          </p:cNvPr>
          <p:cNvSpPr>
            <a:spLocks noChangeShapeType="1"/>
          </p:cNvSpPr>
          <p:nvPr/>
        </p:nvSpPr>
        <p:spPr bwMode="auto">
          <a:xfrm>
            <a:off x="3745438" y="4281689"/>
            <a:ext cx="2536031"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dirty="0">
              <a:solidFill>
                <a:srgbClr val="000000"/>
              </a:solidFill>
              <a:latin typeface="Tahoma" charset="0"/>
              <a:ea typeface="ＭＳ Ｐゴシック" charset="0"/>
            </a:endParaRPr>
          </a:p>
        </p:txBody>
      </p:sp>
      <p:sp>
        <p:nvSpPr>
          <p:cNvPr id="255" name="Rectangle 16">
            <a:extLst>
              <a:ext uri="{FF2B5EF4-FFF2-40B4-BE49-F238E27FC236}">
                <a16:creationId xmlns:a16="http://schemas.microsoft.com/office/drawing/2014/main" id="{C0FAC860-2F25-F545-9139-9C98D6260A8C}"/>
              </a:ext>
            </a:extLst>
          </p:cNvPr>
          <p:cNvSpPr>
            <a:spLocks noChangeArrowheads="1"/>
          </p:cNvSpPr>
          <p:nvPr/>
        </p:nvSpPr>
        <p:spPr bwMode="auto">
          <a:xfrm>
            <a:off x="759351" y="4531720"/>
            <a:ext cx="2078831" cy="9286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algn="r" defTabSz="685800">
              <a:lnSpc>
                <a:spcPct val="85000"/>
              </a:lnSpc>
              <a:spcBef>
                <a:spcPct val="20000"/>
              </a:spcBef>
              <a:buClr>
                <a:srgbClr val="000099"/>
              </a:buClr>
              <a:buSzPct val="65000"/>
              <a:defRPr/>
            </a:pPr>
            <a:r>
              <a:rPr lang="en-US" altLang="en-US" sz="1350" kern="0" dirty="0">
                <a:solidFill>
                  <a:srgbClr val="CC0000"/>
                </a:solidFill>
                <a:latin typeface="Calibri" panose="020F0502020204030204"/>
              </a:rPr>
              <a:t>state:</a:t>
            </a:r>
            <a:r>
              <a:rPr lang="en-US" altLang="en-US" sz="1350" kern="0" dirty="0">
                <a:solidFill>
                  <a:srgbClr val="000000"/>
                </a:solidFill>
                <a:latin typeface="Calibri" panose="020F0502020204030204"/>
              </a:rPr>
              <a:t> when in this </a:t>
            </a:r>
            <a:r>
              <a:rPr lang="ja-JP" altLang="en-US" sz="1350" kern="0">
                <a:solidFill>
                  <a:srgbClr val="000000"/>
                </a:solidFill>
                <a:latin typeface="Calibri" panose="020F0502020204030204"/>
              </a:rPr>
              <a:t>“</a:t>
            </a:r>
            <a:r>
              <a:rPr lang="en-US" altLang="ja-JP" sz="1350" kern="0" dirty="0">
                <a:solidFill>
                  <a:srgbClr val="000000"/>
                </a:solidFill>
                <a:latin typeface="Calibri" panose="020F0502020204030204"/>
              </a:rPr>
              <a:t>state</a:t>
            </a:r>
            <a:r>
              <a:rPr lang="ja-JP" altLang="en-US" sz="1350" kern="0">
                <a:solidFill>
                  <a:srgbClr val="000000"/>
                </a:solidFill>
                <a:latin typeface="Calibri" panose="020F0502020204030204"/>
              </a:rPr>
              <a:t>”</a:t>
            </a:r>
            <a:r>
              <a:rPr lang="en-US" altLang="ja-JP" sz="1350" kern="0" dirty="0">
                <a:solidFill>
                  <a:srgbClr val="000000"/>
                </a:solidFill>
                <a:latin typeface="Calibri" panose="020F0502020204030204"/>
              </a:rPr>
              <a:t> next state uniquely determined by next event</a:t>
            </a:r>
            <a:endParaRPr lang="en-US" altLang="en-US" sz="1350" kern="0" dirty="0">
              <a:solidFill>
                <a:srgbClr val="000000"/>
              </a:solidFill>
              <a:latin typeface="Calibri" panose="020F0502020204030204"/>
            </a:endParaRPr>
          </a:p>
        </p:txBody>
      </p:sp>
      <p:sp>
        <p:nvSpPr>
          <p:cNvPr id="256" name="Freeform 17">
            <a:extLst>
              <a:ext uri="{FF2B5EF4-FFF2-40B4-BE49-F238E27FC236}">
                <a16:creationId xmlns:a16="http://schemas.microsoft.com/office/drawing/2014/main" id="{6C66B08F-D328-CD47-A7C2-DEFD7C90E7AF}"/>
              </a:ext>
            </a:extLst>
          </p:cNvPr>
          <p:cNvSpPr>
            <a:spLocks/>
          </p:cNvSpPr>
          <p:nvPr/>
        </p:nvSpPr>
        <p:spPr bwMode="auto">
          <a:xfrm>
            <a:off x="3202513" y="5188946"/>
            <a:ext cx="71438" cy="435769"/>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a:defRPr/>
            </a:pPr>
            <a:endParaRPr lang="en-US" sz="1200" dirty="0">
              <a:solidFill>
                <a:srgbClr val="000000"/>
              </a:solidFill>
              <a:latin typeface="Tahoma" panose="020B0604030504040204" pitchFamily="34" charset="0"/>
            </a:endParaRPr>
          </a:p>
        </p:txBody>
      </p:sp>
      <p:sp>
        <p:nvSpPr>
          <p:cNvPr id="257" name="Freeform 18">
            <a:extLst>
              <a:ext uri="{FF2B5EF4-FFF2-40B4-BE49-F238E27FC236}">
                <a16:creationId xmlns:a16="http://schemas.microsoft.com/office/drawing/2014/main" id="{EBD24A16-C963-134E-B147-F90FBCE99895}"/>
              </a:ext>
            </a:extLst>
          </p:cNvPr>
          <p:cNvSpPr>
            <a:spLocks/>
          </p:cNvSpPr>
          <p:nvPr/>
        </p:nvSpPr>
        <p:spPr bwMode="auto">
          <a:xfrm flipH="1" flipV="1">
            <a:off x="7060138" y="5217521"/>
            <a:ext cx="71438" cy="435769"/>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a:defRPr/>
            </a:pPr>
            <a:endParaRPr lang="en-US" sz="1200" dirty="0">
              <a:solidFill>
                <a:srgbClr val="000000"/>
              </a:solidFill>
              <a:latin typeface="Tahoma" panose="020B0604030504040204" pitchFamily="34" charset="0"/>
            </a:endParaRPr>
          </a:p>
        </p:txBody>
      </p:sp>
      <p:sp>
        <p:nvSpPr>
          <p:cNvPr id="258" name="Line 19">
            <a:extLst>
              <a:ext uri="{FF2B5EF4-FFF2-40B4-BE49-F238E27FC236}">
                <a16:creationId xmlns:a16="http://schemas.microsoft.com/office/drawing/2014/main" id="{8C0C0821-24D7-9B48-B890-E098F3F3B2F5}"/>
              </a:ext>
            </a:extLst>
          </p:cNvPr>
          <p:cNvSpPr>
            <a:spLocks noChangeShapeType="1"/>
          </p:cNvSpPr>
          <p:nvPr/>
        </p:nvSpPr>
        <p:spPr bwMode="auto">
          <a:xfrm>
            <a:off x="3618041" y="5006798"/>
            <a:ext cx="1156097" cy="553623"/>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dirty="0">
              <a:solidFill>
                <a:srgbClr val="000000"/>
              </a:solidFill>
              <a:latin typeface="Tahoma" charset="0"/>
              <a:ea typeface="ＭＳ Ｐゴシック" charset="0"/>
            </a:endParaRPr>
          </a:p>
        </p:txBody>
      </p:sp>
      <p:sp>
        <p:nvSpPr>
          <p:cNvPr id="259" name="Text Box 21">
            <a:extLst>
              <a:ext uri="{FF2B5EF4-FFF2-40B4-BE49-F238E27FC236}">
                <a16:creationId xmlns:a16="http://schemas.microsoft.com/office/drawing/2014/main" id="{7E164E54-B268-A247-AA63-9539F6FF224A}"/>
              </a:ext>
            </a:extLst>
          </p:cNvPr>
          <p:cNvSpPr txBox="1">
            <a:spLocks noChangeArrowheads="1"/>
          </p:cNvSpPr>
          <p:nvPr/>
        </p:nvSpPr>
        <p:spPr bwMode="auto">
          <a:xfrm>
            <a:off x="4145169" y="4841283"/>
            <a:ext cx="607859"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CC0000"/>
                </a:solidFill>
              </a:rPr>
              <a:t>event</a:t>
            </a:r>
            <a:endParaRPr lang="en-US" sz="1800" kern="0" dirty="0">
              <a:solidFill>
                <a:srgbClr val="CC0000"/>
              </a:solidFill>
            </a:endParaRPr>
          </a:p>
        </p:txBody>
      </p:sp>
      <p:sp>
        <p:nvSpPr>
          <p:cNvPr id="260" name="Text Box 22">
            <a:extLst>
              <a:ext uri="{FF2B5EF4-FFF2-40B4-BE49-F238E27FC236}">
                <a16:creationId xmlns:a16="http://schemas.microsoft.com/office/drawing/2014/main" id="{DE18FED2-1875-864F-91AF-6509DB74229F}"/>
              </a:ext>
            </a:extLst>
          </p:cNvPr>
          <p:cNvSpPr txBox="1">
            <a:spLocks noChangeArrowheads="1"/>
          </p:cNvSpPr>
          <p:nvPr/>
        </p:nvSpPr>
        <p:spPr bwMode="auto">
          <a:xfrm>
            <a:off x="4113860" y="5069883"/>
            <a:ext cx="721672"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CC0000"/>
                </a:solidFill>
              </a:rPr>
              <a:t>actions</a:t>
            </a:r>
            <a:endParaRPr lang="en-US" sz="1800" kern="0" dirty="0">
              <a:solidFill>
                <a:srgbClr val="CC0000"/>
              </a:solidFill>
            </a:endParaRPr>
          </a:p>
        </p:txBody>
      </p:sp>
      <p:sp>
        <p:nvSpPr>
          <p:cNvPr id="261" name="Line 23">
            <a:extLst>
              <a:ext uri="{FF2B5EF4-FFF2-40B4-BE49-F238E27FC236}">
                <a16:creationId xmlns:a16="http://schemas.microsoft.com/office/drawing/2014/main" id="{F2E746A2-18BE-7647-9805-C4C76DAACB29}"/>
              </a:ext>
            </a:extLst>
          </p:cNvPr>
          <p:cNvSpPr>
            <a:spLocks noChangeShapeType="1"/>
          </p:cNvSpPr>
          <p:nvPr/>
        </p:nvSpPr>
        <p:spPr bwMode="auto">
          <a:xfrm>
            <a:off x="4102626" y="5110364"/>
            <a:ext cx="707231"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a:defRPr/>
            </a:pPr>
            <a:endParaRPr lang="en-US" sz="1200" dirty="0">
              <a:solidFill>
                <a:srgbClr val="000000"/>
              </a:solidFill>
              <a:latin typeface="Tahoma" charset="0"/>
              <a:ea typeface="ＭＳ Ｐゴシック" charset="0"/>
            </a:endParaRPr>
          </a:p>
        </p:txBody>
      </p:sp>
      <p:sp>
        <p:nvSpPr>
          <p:cNvPr id="23" name="Rectangle 3">
            <a:extLst>
              <a:ext uri="{FF2B5EF4-FFF2-40B4-BE49-F238E27FC236}">
                <a16:creationId xmlns:a16="http://schemas.microsoft.com/office/drawing/2014/main" id="{3081F250-E04F-164D-8093-2C4E84FB9F25}"/>
              </a:ext>
            </a:extLst>
          </p:cNvPr>
          <p:cNvSpPr txBox="1">
            <a:spLocks noChangeArrowheads="1"/>
          </p:cNvSpPr>
          <p:nvPr/>
        </p:nvSpPr>
        <p:spPr bwMode="auto">
          <a:xfrm>
            <a:off x="689205" y="3459957"/>
            <a:ext cx="8292433" cy="407194"/>
          </a:xfrm>
          <a:prstGeom prst="rect">
            <a:avLst/>
          </a:prstGeom>
          <a:noFill/>
          <a:ln>
            <a:noFill/>
          </a:ln>
          <a:effectLst/>
          <a:extLst>
            <a:ext uri="{91240B29-F687-4f45-9708-019B960494DF}">
              <a14:hiddenLine xmlns:a14="http://schemas.microsoft.com/office/drawing/2010/main" xmlns="" w="9525">
                <a:solidFill>
                  <a:srgbClr val="CC0000"/>
                </a:solidFill>
                <a:miter lim="800000"/>
                <a:headEnd/>
                <a:tailEnd/>
              </a14:hiddenLine>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defRPr/>
            </a:pPr>
            <a:r>
              <a:rPr lang="en-US" altLang="en-US" sz="2100" kern="0" dirty="0">
                <a:solidFill>
                  <a:prstClr val="black"/>
                </a:solidFill>
                <a:latin typeface="Calibri" panose="020F0502020204030204"/>
                <a:ea typeface="ＭＳ Ｐゴシック" panose="020B0600070205080204" pitchFamily="34" charset="-128"/>
              </a:rPr>
              <a:t>use finite state machines (FSM)  to specify sender, receiver</a:t>
            </a:r>
          </a:p>
        </p:txBody>
      </p:sp>
      <p:sp>
        <p:nvSpPr>
          <p:cNvPr id="22" name="Slide Number Placeholder 2">
            <a:extLst>
              <a:ext uri="{FF2B5EF4-FFF2-40B4-BE49-F238E27FC236}">
                <a16:creationId xmlns:a16="http://schemas.microsoft.com/office/drawing/2014/main" id="{659D8DFE-4F7C-F240-94AE-B357C5060578}"/>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33</a:t>
            </a:fld>
            <a:endParaRPr lang="en-US" dirty="0"/>
          </a:p>
        </p:txBody>
      </p:sp>
    </p:spTree>
    <p:extLst>
      <p:ext uri="{BB962C8B-B14F-4D97-AF65-F5344CB8AC3E}">
        <p14:creationId xmlns:p14="http://schemas.microsoft.com/office/powerpoint/2010/main" val="159988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dissolve">
                                      <p:cBhvr>
                                        <p:cTn id="7" dur="500"/>
                                        <p:tgtEl>
                                          <p:spTgt spid="19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5"/>
                                        </p:tgtEl>
                                        <p:attrNameLst>
                                          <p:attrName>style.visibility</p:attrName>
                                        </p:attrNameLst>
                                      </p:cBhvr>
                                      <p:to>
                                        <p:strVal val="visible"/>
                                      </p:to>
                                    </p:set>
                                    <p:animEffect transition="in" filter="dissolve">
                                      <p:cBhvr>
                                        <p:cTn id="10" dur="500"/>
                                        <p:tgtEl>
                                          <p:spTgt spid="19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96"/>
                                        </p:tgtEl>
                                        <p:attrNameLst>
                                          <p:attrName>style.visibility</p:attrName>
                                        </p:attrNameLst>
                                      </p:cBhvr>
                                      <p:to>
                                        <p:strVal val="visible"/>
                                      </p:to>
                                    </p:set>
                                    <p:animEffect transition="in" filter="dissolve">
                                      <p:cBhvr>
                                        <p:cTn id="13" dur="500"/>
                                        <p:tgtEl>
                                          <p:spTgt spid="19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34"/>
                                        </p:tgtEl>
                                        <p:attrNameLst>
                                          <p:attrName>style.visibility</p:attrName>
                                        </p:attrNameLst>
                                      </p:cBhvr>
                                      <p:to>
                                        <p:strVal val="visible"/>
                                      </p:to>
                                    </p:set>
                                    <p:animEffect transition="in" filter="dissolve">
                                      <p:cBhvr>
                                        <p:cTn id="16" dur="500"/>
                                        <p:tgtEl>
                                          <p:spTgt spid="234"/>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35"/>
                                        </p:tgtEl>
                                        <p:attrNameLst>
                                          <p:attrName>style.visibility</p:attrName>
                                        </p:attrNameLst>
                                      </p:cBhvr>
                                      <p:to>
                                        <p:strVal val="visible"/>
                                      </p:to>
                                    </p:set>
                                    <p:animEffect transition="in" filter="dissolve">
                                      <p:cBhvr>
                                        <p:cTn id="19" dur="500"/>
                                        <p:tgtEl>
                                          <p:spTgt spid="23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8"/>
                                        </p:tgtEl>
                                        <p:attrNameLst>
                                          <p:attrName>style.visibility</p:attrName>
                                        </p:attrNameLst>
                                      </p:cBhvr>
                                      <p:to>
                                        <p:strVal val="visible"/>
                                      </p:to>
                                    </p:set>
                                    <p:animEffect transition="in" filter="dissolve">
                                      <p:cBhvr>
                                        <p:cTn id="22" dur="500"/>
                                        <p:tgtEl>
                                          <p:spTgt spid="23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39"/>
                                        </p:tgtEl>
                                        <p:attrNameLst>
                                          <p:attrName>style.visibility</p:attrName>
                                        </p:attrNameLst>
                                      </p:cBhvr>
                                      <p:to>
                                        <p:strVal val="visible"/>
                                      </p:to>
                                    </p:set>
                                    <p:animEffect transition="in" filter="dissolve">
                                      <p:cBhvr>
                                        <p:cTn id="25" dur="500"/>
                                        <p:tgtEl>
                                          <p:spTgt spid="23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46"/>
                                        </p:tgtEl>
                                        <p:attrNameLst>
                                          <p:attrName>style.visibility</p:attrName>
                                        </p:attrNameLst>
                                      </p:cBhvr>
                                      <p:to>
                                        <p:strVal val="visible"/>
                                      </p:to>
                                    </p:set>
                                    <p:animEffect transition="in" filter="dissolve">
                                      <p:cBhvr>
                                        <p:cTn id="28" dur="500"/>
                                        <p:tgtEl>
                                          <p:spTgt spid="24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48"/>
                                        </p:tgtEl>
                                        <p:attrNameLst>
                                          <p:attrName>style.visibility</p:attrName>
                                        </p:attrNameLst>
                                      </p:cBhvr>
                                      <p:to>
                                        <p:strVal val="visible"/>
                                      </p:to>
                                    </p:set>
                                    <p:animEffect transition="in" filter="dissolve">
                                      <p:cBhvr>
                                        <p:cTn id="31" dur="500"/>
                                        <p:tgtEl>
                                          <p:spTgt spid="24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54"/>
                                        </p:tgtEl>
                                        <p:attrNameLst>
                                          <p:attrName>style.visibility</p:attrName>
                                        </p:attrNameLst>
                                      </p:cBhvr>
                                      <p:to>
                                        <p:strVal val="visible"/>
                                      </p:to>
                                    </p:set>
                                    <p:animEffect transition="in" filter="dissolve">
                                      <p:cBhvr>
                                        <p:cTn id="34" dur="500"/>
                                        <p:tgtEl>
                                          <p:spTgt spid="25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55"/>
                                        </p:tgtEl>
                                        <p:attrNameLst>
                                          <p:attrName>style.visibility</p:attrName>
                                        </p:attrNameLst>
                                      </p:cBhvr>
                                      <p:to>
                                        <p:strVal val="visible"/>
                                      </p:to>
                                    </p:set>
                                    <p:animEffect transition="in" filter="dissolve">
                                      <p:cBhvr>
                                        <p:cTn id="37" dur="500"/>
                                        <p:tgtEl>
                                          <p:spTgt spid="25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56"/>
                                        </p:tgtEl>
                                        <p:attrNameLst>
                                          <p:attrName>style.visibility</p:attrName>
                                        </p:attrNameLst>
                                      </p:cBhvr>
                                      <p:to>
                                        <p:strVal val="visible"/>
                                      </p:to>
                                    </p:set>
                                    <p:animEffect transition="in" filter="dissolve">
                                      <p:cBhvr>
                                        <p:cTn id="40" dur="500"/>
                                        <p:tgtEl>
                                          <p:spTgt spid="25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57"/>
                                        </p:tgtEl>
                                        <p:attrNameLst>
                                          <p:attrName>style.visibility</p:attrName>
                                        </p:attrNameLst>
                                      </p:cBhvr>
                                      <p:to>
                                        <p:strVal val="visible"/>
                                      </p:to>
                                    </p:set>
                                    <p:animEffect transition="in" filter="dissolve">
                                      <p:cBhvr>
                                        <p:cTn id="43" dur="500"/>
                                        <p:tgtEl>
                                          <p:spTgt spid="25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58"/>
                                        </p:tgtEl>
                                        <p:attrNameLst>
                                          <p:attrName>style.visibility</p:attrName>
                                        </p:attrNameLst>
                                      </p:cBhvr>
                                      <p:to>
                                        <p:strVal val="visible"/>
                                      </p:to>
                                    </p:set>
                                    <p:animEffect transition="in" filter="dissolve">
                                      <p:cBhvr>
                                        <p:cTn id="46" dur="500"/>
                                        <p:tgtEl>
                                          <p:spTgt spid="258"/>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59"/>
                                        </p:tgtEl>
                                        <p:attrNameLst>
                                          <p:attrName>style.visibility</p:attrName>
                                        </p:attrNameLst>
                                      </p:cBhvr>
                                      <p:to>
                                        <p:strVal val="visible"/>
                                      </p:to>
                                    </p:set>
                                    <p:animEffect transition="in" filter="dissolve">
                                      <p:cBhvr>
                                        <p:cTn id="49" dur="500"/>
                                        <p:tgtEl>
                                          <p:spTgt spid="25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60"/>
                                        </p:tgtEl>
                                        <p:attrNameLst>
                                          <p:attrName>style.visibility</p:attrName>
                                        </p:attrNameLst>
                                      </p:cBhvr>
                                      <p:to>
                                        <p:strVal val="visible"/>
                                      </p:to>
                                    </p:set>
                                    <p:animEffect transition="in" filter="dissolve">
                                      <p:cBhvr>
                                        <p:cTn id="52" dur="500"/>
                                        <p:tgtEl>
                                          <p:spTgt spid="26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61"/>
                                        </p:tgtEl>
                                        <p:attrNameLst>
                                          <p:attrName>style.visibility</p:attrName>
                                        </p:attrNameLst>
                                      </p:cBhvr>
                                      <p:to>
                                        <p:strVal val="visible"/>
                                      </p:to>
                                    </p:set>
                                    <p:animEffect transition="in" filter="dissolve">
                                      <p:cBhvr>
                                        <p:cTn id="55" dur="500"/>
                                        <p:tgtEl>
                                          <p:spTgt spid="26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dissolve">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animBg="1"/>
      <p:bldP spid="195" grpId="0" animBg="1"/>
      <p:bldP spid="196" grpId="0"/>
      <p:bldP spid="234" grpId="0" animBg="1"/>
      <p:bldP spid="235" grpId="0" animBg="1"/>
      <p:bldP spid="238" grpId="0" animBg="1"/>
      <p:bldP spid="239" grpId="0"/>
      <p:bldP spid="246" grpId="0"/>
      <p:bldP spid="248" grpId="0"/>
      <p:bldP spid="254" grpId="0" animBg="1"/>
      <p:bldP spid="255" grpId="0"/>
      <p:bldP spid="256" grpId="0" animBg="1"/>
      <p:bldP spid="257" grpId="0" animBg="1"/>
      <p:bldP spid="258" grpId="0" animBg="1"/>
      <p:bldP spid="259" grpId="0"/>
      <p:bldP spid="260" grpId="0"/>
      <p:bldP spid="261" grpId="0" animBg="1"/>
      <p:bldP spid="2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rdt1.0: </a:t>
            </a:r>
            <a:r>
              <a:rPr lang="en-US" dirty="0"/>
              <a:t>reliable transfer over a reliable channel</a:t>
            </a:r>
          </a:p>
        </p:txBody>
      </p:sp>
      <p:sp>
        <p:nvSpPr>
          <p:cNvPr id="22" name="Rectangle 3">
            <a:extLst>
              <a:ext uri="{FF2B5EF4-FFF2-40B4-BE49-F238E27FC236}">
                <a16:creationId xmlns:a16="http://schemas.microsoft.com/office/drawing/2014/main" id="{973DDEF7-C28A-F04F-AD65-DE94D6CF205E}"/>
              </a:ext>
            </a:extLst>
          </p:cNvPr>
          <p:cNvSpPr txBox="1">
            <a:spLocks noChangeArrowheads="1"/>
          </p:cNvSpPr>
          <p:nvPr/>
        </p:nvSpPr>
        <p:spPr>
          <a:xfrm>
            <a:off x="599018" y="1885164"/>
            <a:ext cx="5922169" cy="2264569"/>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fontAlgn="auto">
              <a:spcBef>
                <a:spcPts val="750"/>
              </a:spcBef>
              <a:spcAft>
                <a:spcPts val="0"/>
              </a:spcAft>
              <a:buFont typeface="Wingdings" charset="2"/>
              <a:buChar char="§"/>
              <a:defRPr/>
            </a:pPr>
            <a:r>
              <a:rPr lang="en-US" sz="2100" dirty="0">
                <a:solidFill>
                  <a:prstClr val="black"/>
                </a:solidFill>
                <a:latin typeface="Calibri" panose="020F0502020204030204"/>
              </a:rPr>
              <a:t>underlying channel perfectly reliable</a:t>
            </a:r>
          </a:p>
          <a:p>
            <a:pPr marL="521494" lvl="1" indent="-173831" defTabSz="685800" fontAlgn="auto">
              <a:spcBef>
                <a:spcPts val="375"/>
              </a:spcBef>
              <a:spcAft>
                <a:spcPts val="0"/>
              </a:spcAft>
              <a:buFont typeface="Arial"/>
              <a:buChar char="•"/>
              <a:defRPr/>
            </a:pPr>
            <a:r>
              <a:rPr lang="en-US" sz="1800" dirty="0">
                <a:solidFill>
                  <a:prstClr val="black"/>
                </a:solidFill>
                <a:latin typeface="Calibri" panose="020F0502020204030204"/>
              </a:rPr>
              <a:t>no bit errors</a:t>
            </a:r>
          </a:p>
          <a:p>
            <a:pPr marL="521494" lvl="1" indent="-173831" defTabSz="685800" fontAlgn="auto">
              <a:spcBef>
                <a:spcPts val="375"/>
              </a:spcBef>
              <a:spcAft>
                <a:spcPts val="0"/>
              </a:spcAft>
              <a:buFont typeface="Arial"/>
              <a:buChar char="•"/>
              <a:defRPr/>
            </a:pPr>
            <a:r>
              <a:rPr lang="en-US" sz="1800" dirty="0">
                <a:solidFill>
                  <a:prstClr val="black"/>
                </a:solidFill>
                <a:latin typeface="Calibri" panose="020F0502020204030204"/>
              </a:rPr>
              <a:t>no loss of packets</a:t>
            </a:r>
          </a:p>
        </p:txBody>
      </p:sp>
      <p:sp>
        <p:nvSpPr>
          <p:cNvPr id="42" name="Freeform 6">
            <a:extLst>
              <a:ext uri="{FF2B5EF4-FFF2-40B4-BE49-F238E27FC236}">
                <a16:creationId xmlns:a16="http://schemas.microsoft.com/office/drawing/2014/main" id="{72679C5D-F3D6-DB4D-B0B3-7D339F36B74D}"/>
              </a:ext>
            </a:extLst>
          </p:cNvPr>
          <p:cNvSpPr>
            <a:spLocks/>
          </p:cNvSpPr>
          <p:nvPr/>
        </p:nvSpPr>
        <p:spPr bwMode="auto">
          <a:xfrm>
            <a:off x="2138070" y="4327518"/>
            <a:ext cx="458390" cy="770334"/>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43" name="Text Box 7">
            <a:extLst>
              <a:ext uri="{FF2B5EF4-FFF2-40B4-BE49-F238E27FC236}">
                <a16:creationId xmlns:a16="http://schemas.microsoft.com/office/drawing/2014/main" id="{9B9E7156-7163-514D-9217-22616724C466}"/>
              </a:ext>
            </a:extLst>
          </p:cNvPr>
          <p:cNvSpPr txBox="1">
            <a:spLocks noChangeArrowheads="1"/>
          </p:cNvSpPr>
          <p:nvPr/>
        </p:nvSpPr>
        <p:spPr bwMode="auto">
          <a:xfrm>
            <a:off x="2438761" y="4643285"/>
            <a:ext cx="2012156" cy="44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packet = make_pkt(data)</a:t>
            </a:r>
          </a:p>
          <a:p>
            <a:pPr defTabSz="685800">
              <a:defRPr/>
            </a:pPr>
            <a:r>
              <a:rPr lang="en-US" altLang="en-US" sz="1200" dirty="0">
                <a:solidFill>
                  <a:srgbClr val="000000"/>
                </a:solidFill>
                <a:latin typeface="Arial" panose="020B0604020202020204" pitchFamily="34" charset="0"/>
              </a:rPr>
              <a:t>udt_send(packet)</a:t>
            </a:r>
            <a:endParaRPr lang="en-US" altLang="en-US" sz="1200" dirty="0">
              <a:solidFill>
                <a:srgbClr val="000000"/>
              </a:solidFill>
              <a:latin typeface="Times New Roman" panose="02020603050405020304" pitchFamily="18" charset="0"/>
            </a:endParaRPr>
          </a:p>
        </p:txBody>
      </p:sp>
      <p:grpSp>
        <p:nvGrpSpPr>
          <p:cNvPr id="5" name="Group 4">
            <a:extLst>
              <a:ext uri="{FF2B5EF4-FFF2-40B4-BE49-F238E27FC236}">
                <a16:creationId xmlns:a16="http://schemas.microsoft.com/office/drawing/2014/main" id="{C7585234-D59C-0545-841B-A27D389014BC}"/>
              </a:ext>
            </a:extLst>
          </p:cNvPr>
          <p:cNvGrpSpPr/>
          <p:nvPr/>
        </p:nvGrpSpPr>
        <p:grpSpPr>
          <a:xfrm>
            <a:off x="2446441" y="4360856"/>
            <a:ext cx="1691879" cy="321469"/>
            <a:chOff x="3084121" y="4379374"/>
            <a:chExt cx="2255838" cy="428625"/>
          </a:xfrm>
        </p:grpSpPr>
        <p:sp>
          <p:nvSpPr>
            <p:cNvPr id="44" name="Text Box 8">
              <a:extLst>
                <a:ext uri="{FF2B5EF4-FFF2-40B4-BE49-F238E27FC236}">
                  <a16:creationId xmlns:a16="http://schemas.microsoft.com/office/drawing/2014/main" id="{F76E2421-9F9F-FC42-837C-A6C05CDF5A21}"/>
                </a:ext>
              </a:extLst>
            </p:cNvPr>
            <p:cNvSpPr txBox="1">
              <a:spLocks noChangeArrowheads="1"/>
            </p:cNvSpPr>
            <p:nvPr/>
          </p:nvSpPr>
          <p:spPr bwMode="auto">
            <a:xfrm>
              <a:off x="3084121" y="4379374"/>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rdt_send(data)</a:t>
              </a:r>
              <a:endParaRPr lang="en-US" altLang="en-US" sz="1200" dirty="0">
                <a:solidFill>
                  <a:srgbClr val="000000"/>
                </a:solidFill>
                <a:latin typeface="Times New Roman" panose="02020603050405020304" pitchFamily="18" charset="0"/>
              </a:endParaRPr>
            </a:p>
          </p:txBody>
        </p:sp>
        <p:sp>
          <p:nvSpPr>
            <p:cNvPr id="45" name="Line 9">
              <a:extLst>
                <a:ext uri="{FF2B5EF4-FFF2-40B4-BE49-F238E27FC236}">
                  <a16:creationId xmlns:a16="http://schemas.microsoft.com/office/drawing/2014/main" id="{7D992FAD-AF7B-FB47-8AD1-6805A49B2633}"/>
                </a:ext>
              </a:extLst>
            </p:cNvPr>
            <p:cNvSpPr>
              <a:spLocks noChangeShapeType="1"/>
            </p:cNvSpPr>
            <p:nvPr/>
          </p:nvSpPr>
          <p:spPr bwMode="auto">
            <a:xfrm>
              <a:off x="3184134" y="4722274"/>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sp>
        <p:nvSpPr>
          <p:cNvPr id="47" name="Text Box 11">
            <a:extLst>
              <a:ext uri="{FF2B5EF4-FFF2-40B4-BE49-F238E27FC236}">
                <a16:creationId xmlns:a16="http://schemas.microsoft.com/office/drawing/2014/main" id="{3D37D715-DFFD-D144-86D7-84AAD14254C9}"/>
              </a:ext>
            </a:extLst>
          </p:cNvPr>
          <p:cNvSpPr txBox="1">
            <a:spLocks noChangeArrowheads="1"/>
          </p:cNvSpPr>
          <p:nvPr/>
        </p:nvSpPr>
        <p:spPr bwMode="auto">
          <a:xfrm>
            <a:off x="7186175" y="4654704"/>
            <a:ext cx="1865709"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extract (packet,data)</a:t>
            </a:r>
          </a:p>
          <a:p>
            <a:pPr defTabSz="685800">
              <a:defRPr/>
            </a:pPr>
            <a:r>
              <a:rPr lang="en-US" altLang="en-US" sz="1200" dirty="0">
                <a:solidFill>
                  <a:srgbClr val="000000"/>
                </a:solidFill>
                <a:latin typeface="Arial" panose="020B0604020202020204" pitchFamily="34" charset="0"/>
              </a:rPr>
              <a:t>deliver_data(data)</a:t>
            </a:r>
            <a:endParaRPr lang="en-US" altLang="en-US" sz="1200" dirty="0">
              <a:solidFill>
                <a:srgbClr val="000000"/>
              </a:solidFill>
              <a:latin typeface="Times New Roman" panose="02020603050405020304" pitchFamily="18" charset="0"/>
            </a:endParaRPr>
          </a:p>
        </p:txBody>
      </p:sp>
      <p:sp>
        <p:nvSpPr>
          <p:cNvPr id="50" name="Freeform 14">
            <a:extLst>
              <a:ext uri="{FF2B5EF4-FFF2-40B4-BE49-F238E27FC236}">
                <a16:creationId xmlns:a16="http://schemas.microsoft.com/office/drawing/2014/main" id="{971AF932-17EF-C746-BE92-15D36EC0FFDD}"/>
              </a:ext>
            </a:extLst>
          </p:cNvPr>
          <p:cNvSpPr>
            <a:spLocks/>
          </p:cNvSpPr>
          <p:nvPr/>
        </p:nvSpPr>
        <p:spPr bwMode="auto">
          <a:xfrm>
            <a:off x="6878994" y="4357048"/>
            <a:ext cx="458390" cy="770335"/>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6" name="Group 5">
            <a:extLst>
              <a:ext uri="{FF2B5EF4-FFF2-40B4-BE49-F238E27FC236}">
                <a16:creationId xmlns:a16="http://schemas.microsoft.com/office/drawing/2014/main" id="{B8AF4F26-5E6F-8F4D-A612-50842B04E515}"/>
              </a:ext>
            </a:extLst>
          </p:cNvPr>
          <p:cNvGrpSpPr/>
          <p:nvPr/>
        </p:nvGrpSpPr>
        <p:grpSpPr>
          <a:xfrm>
            <a:off x="7171639" y="4414200"/>
            <a:ext cx="1208985" cy="276999"/>
            <a:chOff x="9384382" y="4450497"/>
            <a:chExt cx="1611980" cy="369331"/>
          </a:xfrm>
        </p:grpSpPr>
        <p:sp>
          <p:nvSpPr>
            <p:cNvPr id="52" name="Line 16">
              <a:extLst>
                <a:ext uri="{FF2B5EF4-FFF2-40B4-BE49-F238E27FC236}">
                  <a16:creationId xmlns:a16="http://schemas.microsoft.com/office/drawing/2014/main" id="{755DAE31-6FE9-AA43-BE65-0F2D63F3A75D}"/>
                </a:ext>
              </a:extLst>
            </p:cNvPr>
            <p:cNvSpPr>
              <a:spLocks noChangeShapeType="1"/>
            </p:cNvSpPr>
            <p:nvPr/>
          </p:nvSpPr>
          <p:spPr bwMode="auto">
            <a:xfrm>
              <a:off x="9505366" y="4774347"/>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4" name="Rectangle 18">
              <a:extLst>
                <a:ext uri="{FF2B5EF4-FFF2-40B4-BE49-F238E27FC236}">
                  <a16:creationId xmlns:a16="http://schemas.microsoft.com/office/drawing/2014/main" id="{CC7E66DF-39CF-1142-BEBC-BFB9E33B62F7}"/>
                </a:ext>
              </a:extLst>
            </p:cNvPr>
            <p:cNvSpPr>
              <a:spLocks noChangeArrowheads="1"/>
            </p:cNvSpPr>
            <p:nvPr/>
          </p:nvSpPr>
          <p:spPr bwMode="auto">
            <a:xfrm>
              <a:off x="9384382" y="4450497"/>
              <a:ext cx="1611980" cy="369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defTabSz="685800">
                <a:defRPr/>
              </a:pPr>
              <a:r>
                <a:rPr lang="en-US" sz="1200" dirty="0">
                  <a:solidFill>
                    <a:srgbClr val="000000"/>
                  </a:solidFill>
                  <a:latin typeface="Arial" charset="0"/>
                  <a:ea typeface="ＭＳ Ｐゴシック" charset="0"/>
                </a:rPr>
                <a:t>rdt_rcv(packet)</a:t>
              </a:r>
            </a:p>
          </p:txBody>
        </p:sp>
      </p:grpSp>
      <p:grpSp>
        <p:nvGrpSpPr>
          <p:cNvPr id="10" name="Group 9">
            <a:extLst>
              <a:ext uri="{FF2B5EF4-FFF2-40B4-BE49-F238E27FC236}">
                <a16:creationId xmlns:a16="http://schemas.microsoft.com/office/drawing/2014/main" id="{C6A7B144-988F-3142-A53D-2AD67E7E25EE}"/>
              </a:ext>
            </a:extLst>
          </p:cNvPr>
          <p:cNvGrpSpPr/>
          <p:nvPr/>
        </p:nvGrpSpPr>
        <p:grpSpPr>
          <a:xfrm>
            <a:off x="5081707" y="4357048"/>
            <a:ext cx="1899679" cy="770335"/>
            <a:chOff x="6039011" y="5479197"/>
            <a:chExt cx="2532905" cy="1027113"/>
          </a:xfrm>
        </p:grpSpPr>
        <p:sp>
          <p:nvSpPr>
            <p:cNvPr id="48" name="Oval 12">
              <a:extLst>
                <a:ext uri="{FF2B5EF4-FFF2-40B4-BE49-F238E27FC236}">
                  <a16:creationId xmlns:a16="http://schemas.microsoft.com/office/drawing/2014/main" id="{15A02CFE-8E15-5B47-955E-884B96AD154D}"/>
                </a:ext>
              </a:extLst>
            </p:cNvPr>
            <p:cNvSpPr>
              <a:spLocks noChangeArrowheads="1"/>
            </p:cNvSpPr>
            <p:nvPr/>
          </p:nvSpPr>
          <p:spPr bwMode="auto">
            <a:xfrm>
              <a:off x="7536866" y="5495072"/>
              <a:ext cx="955675" cy="101123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49" name="Text Box 13">
              <a:extLst>
                <a:ext uri="{FF2B5EF4-FFF2-40B4-BE49-F238E27FC236}">
                  <a16:creationId xmlns:a16="http://schemas.microsoft.com/office/drawing/2014/main" id="{CBC9B555-6B5C-7741-88F2-5079C590022D}"/>
                </a:ext>
              </a:extLst>
            </p:cNvPr>
            <p:cNvSpPr txBox="1">
              <a:spLocks noChangeArrowheads="1"/>
            </p:cNvSpPr>
            <p:nvPr/>
          </p:nvSpPr>
          <p:spPr bwMode="auto">
            <a:xfrm>
              <a:off x="7473366" y="5580797"/>
              <a:ext cx="10985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srgbClr val="000000"/>
                  </a:solidFill>
                  <a:latin typeface="Arial" panose="020B0604020202020204" pitchFamily="34" charset="0"/>
                </a:rPr>
                <a:t>Wait for call from below</a:t>
              </a:r>
              <a:endParaRPr lang="en-US" altLang="en-US" sz="1200" dirty="0">
                <a:solidFill>
                  <a:srgbClr val="000000"/>
                </a:solidFill>
                <a:latin typeface="Times New Roman" panose="02020603050405020304" pitchFamily="18" charset="0"/>
              </a:endParaRPr>
            </a:p>
          </p:txBody>
        </p:sp>
        <p:sp>
          <p:nvSpPr>
            <p:cNvPr id="53" name="Line 17">
              <a:extLst>
                <a:ext uri="{FF2B5EF4-FFF2-40B4-BE49-F238E27FC236}">
                  <a16:creationId xmlns:a16="http://schemas.microsoft.com/office/drawing/2014/main" id="{07806C13-AC0C-744F-A689-B195B8638391}"/>
                </a:ext>
              </a:extLst>
            </p:cNvPr>
            <p:cNvSpPr>
              <a:spLocks noChangeShapeType="1"/>
            </p:cNvSpPr>
            <p:nvPr/>
          </p:nvSpPr>
          <p:spPr bwMode="auto">
            <a:xfrm>
              <a:off x="7213016" y="5479197"/>
              <a:ext cx="385762" cy="242888"/>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6" name="Text Box 20">
              <a:extLst>
                <a:ext uri="{FF2B5EF4-FFF2-40B4-BE49-F238E27FC236}">
                  <a16:creationId xmlns:a16="http://schemas.microsoft.com/office/drawing/2014/main" id="{AD290DCB-DA87-BF46-B9F0-5E8404C38FE9}"/>
                </a:ext>
              </a:extLst>
            </p:cNvPr>
            <p:cNvSpPr txBox="1">
              <a:spLocks noChangeArrowheads="1"/>
            </p:cNvSpPr>
            <p:nvPr/>
          </p:nvSpPr>
          <p:spPr bwMode="auto">
            <a:xfrm>
              <a:off x="6039011" y="5745404"/>
              <a:ext cx="1321302"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800" kern="0" dirty="0">
                  <a:solidFill>
                    <a:srgbClr val="CC0000"/>
                  </a:solidFill>
                </a:rPr>
                <a:t>receiver</a:t>
              </a:r>
            </a:p>
          </p:txBody>
        </p:sp>
      </p:grpSp>
      <p:pic>
        <p:nvPicPr>
          <p:cNvPr id="25604" name="Picture 4" descr="Image result for easy button&quot;">
            <a:extLst>
              <a:ext uri="{FF2B5EF4-FFF2-40B4-BE49-F238E27FC236}">
                <a16:creationId xmlns:a16="http://schemas.microsoft.com/office/drawing/2014/main" id="{FD822998-0D59-7945-AC2A-EA37C240B2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8456" y="2260743"/>
            <a:ext cx="1604813" cy="1604813"/>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3">
            <a:extLst>
              <a:ext uri="{FF2B5EF4-FFF2-40B4-BE49-F238E27FC236}">
                <a16:creationId xmlns:a16="http://schemas.microsoft.com/office/drawing/2014/main" id="{85610A16-2670-7448-8F41-F03B9E524F38}"/>
              </a:ext>
            </a:extLst>
          </p:cNvPr>
          <p:cNvSpPr txBox="1">
            <a:spLocks noChangeArrowheads="1"/>
          </p:cNvSpPr>
          <p:nvPr/>
        </p:nvSpPr>
        <p:spPr>
          <a:xfrm>
            <a:off x="599018" y="2952751"/>
            <a:ext cx="5922169" cy="1133475"/>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fontAlgn="auto">
              <a:spcBef>
                <a:spcPts val="750"/>
              </a:spcBef>
              <a:spcAft>
                <a:spcPts val="0"/>
              </a:spcAft>
              <a:buFont typeface="Wingdings" charset="2"/>
              <a:buChar char="§"/>
              <a:defRPr/>
            </a:pPr>
            <a:r>
              <a:rPr lang="en-US" sz="2100" i="1" dirty="0">
                <a:solidFill>
                  <a:srgbClr val="C00000"/>
                </a:solidFill>
                <a:latin typeface="Calibri" panose="020F0502020204030204"/>
              </a:rPr>
              <a:t>separate</a:t>
            </a:r>
            <a:r>
              <a:rPr lang="en-US" sz="2100" dirty="0">
                <a:solidFill>
                  <a:prstClr val="black"/>
                </a:solidFill>
                <a:latin typeface="Calibri" panose="020F0502020204030204"/>
              </a:rPr>
              <a:t> FSMs for sender, receiver:</a:t>
            </a:r>
          </a:p>
          <a:p>
            <a:pPr marL="521494" lvl="1" indent="-173831" defTabSz="685800" fontAlgn="auto">
              <a:spcBef>
                <a:spcPts val="375"/>
              </a:spcBef>
              <a:spcAft>
                <a:spcPts val="0"/>
              </a:spcAft>
              <a:buFont typeface="Arial"/>
              <a:buChar char="•"/>
              <a:defRPr/>
            </a:pPr>
            <a:r>
              <a:rPr lang="en-US" sz="1800" dirty="0">
                <a:solidFill>
                  <a:prstClr val="black"/>
                </a:solidFill>
                <a:latin typeface="Calibri" panose="020F0502020204030204"/>
              </a:rPr>
              <a:t>sender sends data into underlying channel</a:t>
            </a:r>
          </a:p>
          <a:p>
            <a:pPr marL="521494" lvl="1" indent="-173831" defTabSz="685800" fontAlgn="auto">
              <a:spcBef>
                <a:spcPts val="375"/>
              </a:spcBef>
              <a:spcAft>
                <a:spcPts val="0"/>
              </a:spcAft>
              <a:buFont typeface="Arial"/>
              <a:buChar char="•"/>
              <a:defRPr/>
            </a:pPr>
            <a:r>
              <a:rPr lang="en-US" sz="1800" dirty="0">
                <a:solidFill>
                  <a:prstClr val="black"/>
                </a:solidFill>
                <a:latin typeface="Calibri" panose="020F0502020204030204"/>
              </a:rPr>
              <a:t>receiver reads data from underlying channel</a:t>
            </a:r>
          </a:p>
        </p:txBody>
      </p:sp>
      <p:grpSp>
        <p:nvGrpSpPr>
          <p:cNvPr id="9" name="Group 8">
            <a:extLst>
              <a:ext uri="{FF2B5EF4-FFF2-40B4-BE49-F238E27FC236}">
                <a16:creationId xmlns:a16="http://schemas.microsoft.com/office/drawing/2014/main" id="{7F2EE118-43B6-9B4F-B323-BCE06C274814}"/>
              </a:ext>
            </a:extLst>
          </p:cNvPr>
          <p:cNvGrpSpPr/>
          <p:nvPr/>
        </p:nvGrpSpPr>
        <p:grpSpPr>
          <a:xfrm>
            <a:off x="503139" y="4308468"/>
            <a:ext cx="1730474" cy="770334"/>
            <a:chOff x="226352" y="5579524"/>
            <a:chExt cx="2307298" cy="1027112"/>
          </a:xfrm>
        </p:grpSpPr>
        <p:grpSp>
          <p:nvGrpSpPr>
            <p:cNvPr id="8" name="Group 7">
              <a:extLst>
                <a:ext uri="{FF2B5EF4-FFF2-40B4-BE49-F238E27FC236}">
                  <a16:creationId xmlns:a16="http://schemas.microsoft.com/office/drawing/2014/main" id="{685AB00B-9A93-AB4E-B61E-272D7AC641F9}"/>
                </a:ext>
              </a:extLst>
            </p:cNvPr>
            <p:cNvGrpSpPr/>
            <p:nvPr/>
          </p:nvGrpSpPr>
          <p:grpSpPr>
            <a:xfrm>
              <a:off x="226352" y="5579524"/>
              <a:ext cx="2237057" cy="1027112"/>
              <a:chOff x="759752" y="4614324"/>
              <a:chExt cx="2237057" cy="1027112"/>
            </a:xfrm>
          </p:grpSpPr>
          <p:sp>
            <p:nvSpPr>
              <p:cNvPr id="46" name="Line 10">
                <a:extLst>
                  <a:ext uri="{FF2B5EF4-FFF2-40B4-BE49-F238E27FC236}">
                    <a16:creationId xmlns:a16="http://schemas.microsoft.com/office/drawing/2014/main" id="{53CBEB33-D2BE-EA4E-9053-8A4F592B82D6}"/>
                  </a:ext>
                </a:extLst>
              </p:cNvPr>
              <p:cNvSpPr>
                <a:spLocks noChangeShapeType="1"/>
              </p:cNvSpPr>
              <p:nvPr/>
            </p:nvSpPr>
            <p:spPr bwMode="auto">
              <a:xfrm>
                <a:off x="1717284" y="4614324"/>
                <a:ext cx="385762" cy="242887"/>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5" name="Text Box 19">
                <a:extLst>
                  <a:ext uri="{FF2B5EF4-FFF2-40B4-BE49-F238E27FC236}">
                    <a16:creationId xmlns:a16="http://schemas.microsoft.com/office/drawing/2014/main" id="{16E30F35-9D21-5542-B316-8DC5ACBE27DA}"/>
                  </a:ext>
                </a:extLst>
              </p:cNvPr>
              <p:cNvSpPr txBox="1">
                <a:spLocks noChangeArrowheads="1"/>
              </p:cNvSpPr>
              <p:nvPr/>
            </p:nvSpPr>
            <p:spPr bwMode="auto">
              <a:xfrm>
                <a:off x="759752" y="4985781"/>
                <a:ext cx="1161001"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800" kern="0" dirty="0">
                    <a:solidFill>
                      <a:srgbClr val="CC0000"/>
                    </a:solidFill>
                  </a:rPr>
                  <a:t>sender</a:t>
                </a:r>
              </a:p>
            </p:txBody>
          </p:sp>
          <p:sp>
            <p:nvSpPr>
              <p:cNvPr id="40" name="Oval 4">
                <a:extLst>
                  <a:ext uri="{FF2B5EF4-FFF2-40B4-BE49-F238E27FC236}">
                    <a16:creationId xmlns:a16="http://schemas.microsoft.com/office/drawing/2014/main" id="{1B157770-6762-CF45-9B74-7457DBFE2B56}"/>
                  </a:ext>
                </a:extLst>
              </p:cNvPr>
              <p:cNvSpPr>
                <a:spLocks noChangeArrowheads="1"/>
              </p:cNvSpPr>
              <p:nvPr/>
            </p:nvSpPr>
            <p:spPr bwMode="auto">
              <a:xfrm>
                <a:off x="2041134" y="4630199"/>
                <a:ext cx="955675" cy="1011237"/>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grpSp>
        <p:sp>
          <p:nvSpPr>
            <p:cNvPr id="41" name="Text Box 5">
              <a:extLst>
                <a:ext uri="{FF2B5EF4-FFF2-40B4-BE49-F238E27FC236}">
                  <a16:creationId xmlns:a16="http://schemas.microsoft.com/office/drawing/2014/main" id="{CE38ECA0-E265-FA4A-950E-CC50EF2CA516}"/>
                </a:ext>
              </a:extLst>
            </p:cNvPr>
            <p:cNvSpPr txBox="1">
              <a:spLocks noChangeArrowheads="1"/>
            </p:cNvSpPr>
            <p:nvPr/>
          </p:nvSpPr>
          <p:spPr bwMode="auto">
            <a:xfrm>
              <a:off x="1435100" y="5693824"/>
              <a:ext cx="109855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srgbClr val="000000"/>
                  </a:solidFill>
                  <a:latin typeface="Arial" panose="020B0604020202020204" pitchFamily="34" charset="0"/>
                </a:rPr>
                <a:t>Wait for call from above</a:t>
              </a:r>
              <a:endParaRPr lang="en-US" altLang="en-US" sz="1200" dirty="0">
                <a:solidFill>
                  <a:srgbClr val="000000"/>
                </a:solidFill>
                <a:latin typeface="Times New Roman" panose="02020603050405020304" pitchFamily="18" charset="0"/>
              </a:endParaRPr>
            </a:p>
          </p:txBody>
        </p:sp>
      </p:grpSp>
      <p:sp>
        <p:nvSpPr>
          <p:cNvPr id="27" name="Slide Number Placeholder 2">
            <a:extLst>
              <a:ext uri="{FF2B5EF4-FFF2-40B4-BE49-F238E27FC236}">
                <a16:creationId xmlns:a16="http://schemas.microsoft.com/office/drawing/2014/main" id="{4E6AC2D9-3427-7142-95C3-6DF77122338D}"/>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34</a:t>
            </a:fld>
            <a:endParaRPr lang="en-US" dirty="0"/>
          </a:p>
        </p:txBody>
      </p:sp>
    </p:spTree>
    <p:extLst>
      <p:ext uri="{BB962C8B-B14F-4D97-AF65-F5344CB8AC3E}">
        <p14:creationId xmlns:p14="http://schemas.microsoft.com/office/powerpoint/2010/main" val="85183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dissolve">
                                      <p:cBhvr>
                                        <p:cTn id="17" dur="500"/>
                                        <p:tgtEl>
                                          <p:spTgt spid="42"/>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dissolve">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dissolve">
                                      <p:cBhvr>
                                        <p:cTn id="35" dur="500"/>
                                        <p:tgtEl>
                                          <p:spTgt spid="50"/>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dissolve">
                                      <p:cBhvr>
                                        <p:cTn id="39" dur="500"/>
                                        <p:tgtEl>
                                          <p:spTgt spid="6"/>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dissolve">
                                      <p:cBhvr>
                                        <p:cTn id="43" dur="500"/>
                                        <p:tgtEl>
                                          <p:spTgt spid="4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25604"/>
                                        </p:tgtEl>
                                        <p:attrNameLst>
                                          <p:attrName>style.visibility</p:attrName>
                                        </p:attrNameLst>
                                      </p:cBhvr>
                                      <p:to>
                                        <p:strVal val="visible"/>
                                      </p:to>
                                    </p:set>
                                    <p:animEffect transition="in" filter="dissolve">
                                      <p:cBhvr>
                                        <p:cTn id="48" dur="500"/>
                                        <p:tgtEl>
                                          <p:spTgt spid="2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7" grpId="0"/>
      <p:bldP spid="50" grpId="0" animBg="1"/>
      <p:bldP spid="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rdt2.0: channel with bit errors</a:t>
            </a:r>
            <a:endParaRPr lang="en-US" dirty="0"/>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505496" y="1969312"/>
            <a:ext cx="8325469" cy="333613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219075" defTabSz="685800" fontAlgn="auto">
              <a:lnSpc>
                <a:spcPct val="75000"/>
              </a:lnSpc>
              <a:spcBef>
                <a:spcPts val="750"/>
              </a:spcBef>
              <a:spcAft>
                <a:spcPts val="0"/>
              </a:spcAft>
              <a:buFont typeface="Wingdings" charset="2"/>
              <a:buChar char="§"/>
              <a:defRPr/>
            </a:pPr>
            <a:r>
              <a:rPr lang="en-US" sz="2400" dirty="0">
                <a:solidFill>
                  <a:prstClr val="black"/>
                </a:solidFill>
                <a:latin typeface="Calibri" panose="020F0502020204030204"/>
              </a:rPr>
              <a:t>underlying channel may flip bits in packet</a:t>
            </a:r>
          </a:p>
          <a:p>
            <a:pPr marL="600075" lvl="1" indent="-171450" defTabSz="685800" fontAlgn="auto">
              <a:lnSpc>
                <a:spcPct val="75000"/>
              </a:lnSpc>
              <a:spcBef>
                <a:spcPts val="375"/>
              </a:spcBef>
              <a:spcAft>
                <a:spcPts val="0"/>
              </a:spcAft>
              <a:buFont typeface="Arial"/>
              <a:buChar char="•"/>
              <a:defRPr/>
            </a:pPr>
            <a:r>
              <a:rPr lang="en-US" sz="2100" dirty="0">
                <a:solidFill>
                  <a:prstClr val="black"/>
                </a:solidFill>
                <a:latin typeface="Calibri" panose="020F0502020204030204"/>
              </a:rPr>
              <a:t>checksum (e.g., Internet checksum) to detect bit errors</a:t>
            </a:r>
          </a:p>
          <a:p>
            <a:pPr marL="342900" indent="-219075" defTabSz="685800" fontAlgn="auto">
              <a:lnSpc>
                <a:spcPct val="75000"/>
              </a:lnSpc>
              <a:spcBef>
                <a:spcPts val="750"/>
              </a:spcBef>
              <a:spcAft>
                <a:spcPts val="0"/>
              </a:spcAft>
              <a:buFont typeface="Wingdings" charset="2"/>
              <a:buChar char="§"/>
              <a:defRPr/>
            </a:pPr>
            <a:r>
              <a:rPr lang="en-US" sz="2400" i="1" dirty="0">
                <a:solidFill>
                  <a:prstClr val="black"/>
                </a:solidFill>
                <a:latin typeface="Calibri" panose="020F0502020204030204"/>
              </a:rPr>
              <a:t>the</a:t>
            </a:r>
            <a:r>
              <a:rPr lang="en-US" sz="2400" dirty="0">
                <a:solidFill>
                  <a:prstClr val="black"/>
                </a:solidFill>
                <a:latin typeface="Calibri" panose="020F0502020204030204"/>
              </a:rPr>
              <a:t> question: how to recover from errors?</a:t>
            </a:r>
            <a:endParaRPr lang="en-US" sz="2100" dirty="0">
              <a:solidFill>
                <a:prstClr val="black"/>
              </a:solidFill>
              <a:latin typeface="Calibri" panose="020F0502020204030204"/>
            </a:endParaRPr>
          </a:p>
        </p:txBody>
      </p:sp>
      <p:sp>
        <p:nvSpPr>
          <p:cNvPr id="24" name="Text Box 10">
            <a:extLst>
              <a:ext uri="{FF2B5EF4-FFF2-40B4-BE49-F238E27FC236}">
                <a16:creationId xmlns:a16="http://schemas.microsoft.com/office/drawing/2014/main" id="{DDD1DAD8-493C-8447-8752-319FA74AD634}"/>
              </a:ext>
            </a:extLst>
          </p:cNvPr>
          <p:cNvSpPr txBox="1">
            <a:spLocks noChangeArrowheads="1"/>
          </p:cNvSpPr>
          <p:nvPr/>
        </p:nvSpPr>
        <p:spPr bwMode="auto">
          <a:xfrm>
            <a:off x="949042" y="3790637"/>
            <a:ext cx="762542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2400" i="1" dirty="0">
                <a:solidFill>
                  <a:srgbClr val="CC0000"/>
                </a:solidFill>
                <a:latin typeface="Calibri" panose="020F0502020204030204"/>
              </a:rPr>
              <a:t>How do humans recover from “</a:t>
            </a:r>
            <a:r>
              <a:rPr lang="en-US" altLang="ja-JP" sz="2400" i="1" dirty="0">
                <a:solidFill>
                  <a:srgbClr val="CC0000"/>
                </a:solidFill>
                <a:latin typeface="Calibri" panose="020F0502020204030204"/>
              </a:rPr>
              <a:t>errors” </a:t>
            </a:r>
            <a:r>
              <a:rPr lang="en-US" altLang="en-US" sz="2400" i="1" dirty="0">
                <a:solidFill>
                  <a:srgbClr val="CC0000"/>
                </a:solidFill>
                <a:latin typeface="Calibri" panose="020F0502020204030204"/>
              </a:rPr>
              <a:t>during conversation?</a:t>
            </a:r>
          </a:p>
        </p:txBody>
      </p:sp>
      <p:sp>
        <p:nvSpPr>
          <p:cNvPr id="5" name="Slide Number Placeholder 2">
            <a:extLst>
              <a:ext uri="{FF2B5EF4-FFF2-40B4-BE49-F238E27FC236}">
                <a16:creationId xmlns:a16="http://schemas.microsoft.com/office/drawing/2014/main" id="{05B1A153-C333-754C-9249-656206CB5CCF}"/>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35</a:t>
            </a:fld>
            <a:endParaRPr lang="en-US" dirty="0"/>
          </a:p>
        </p:txBody>
      </p:sp>
    </p:spTree>
    <p:extLst>
      <p:ext uri="{BB962C8B-B14F-4D97-AF65-F5344CB8AC3E}">
        <p14:creationId xmlns:p14="http://schemas.microsoft.com/office/powerpoint/2010/main" val="194831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rdt2.0: channel with bit errors</a:t>
            </a:r>
            <a:endParaRPr lang="en-US" dirty="0"/>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505496" y="1813049"/>
            <a:ext cx="8325469" cy="333613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7181" indent="-221456" defTabSz="685800" fontAlgn="auto">
              <a:lnSpc>
                <a:spcPct val="75000"/>
              </a:lnSpc>
              <a:spcBef>
                <a:spcPts val="750"/>
              </a:spcBef>
              <a:spcAft>
                <a:spcPts val="0"/>
              </a:spcAft>
              <a:buFont typeface="Wingdings" charset="2"/>
              <a:buChar char="§"/>
              <a:defRPr/>
            </a:pPr>
            <a:r>
              <a:rPr lang="en-US" sz="2400" dirty="0">
                <a:solidFill>
                  <a:prstClr val="black"/>
                </a:solidFill>
                <a:latin typeface="Calibri" panose="020F0502020204030204"/>
              </a:rPr>
              <a:t>underlying channel may flip bits in packet</a:t>
            </a:r>
          </a:p>
          <a:p>
            <a:pPr marL="521494" lvl="1" indent="-173831" defTabSz="685800" fontAlgn="auto">
              <a:lnSpc>
                <a:spcPct val="80000"/>
              </a:lnSpc>
              <a:spcBef>
                <a:spcPts val="600"/>
              </a:spcBef>
              <a:spcAft>
                <a:spcPts val="0"/>
              </a:spcAft>
              <a:buFont typeface="Arial"/>
              <a:buChar char="•"/>
              <a:defRPr/>
            </a:pPr>
            <a:r>
              <a:rPr lang="en-US" sz="2100" dirty="0">
                <a:solidFill>
                  <a:prstClr val="black"/>
                </a:solidFill>
                <a:latin typeface="Calibri" panose="020F0502020204030204"/>
              </a:rPr>
              <a:t>checksum to detect bit errors</a:t>
            </a:r>
          </a:p>
          <a:p>
            <a:pPr marL="307181" indent="-209550" defTabSz="685800" fontAlgn="auto">
              <a:lnSpc>
                <a:spcPct val="75000"/>
              </a:lnSpc>
              <a:spcBef>
                <a:spcPts val="750"/>
              </a:spcBef>
              <a:spcAft>
                <a:spcPts val="0"/>
              </a:spcAft>
              <a:buFont typeface="Wingdings" charset="2"/>
              <a:buChar char="§"/>
              <a:defRPr/>
            </a:pPr>
            <a:r>
              <a:rPr lang="en-US" sz="2400" i="1" dirty="0">
                <a:solidFill>
                  <a:prstClr val="black"/>
                </a:solidFill>
                <a:latin typeface="Calibri" panose="020F0502020204030204"/>
              </a:rPr>
              <a:t>the</a:t>
            </a:r>
            <a:r>
              <a:rPr lang="en-US" sz="2400" dirty="0">
                <a:solidFill>
                  <a:prstClr val="black"/>
                </a:solidFill>
                <a:latin typeface="Calibri" panose="020F0502020204030204"/>
              </a:rPr>
              <a:t> question: how to recover from errors?</a:t>
            </a:r>
            <a:endParaRPr lang="en-US" sz="2100" dirty="0">
              <a:solidFill>
                <a:prstClr val="black"/>
              </a:solidFill>
              <a:latin typeface="Calibri" panose="020F0502020204030204"/>
            </a:endParaRPr>
          </a:p>
        </p:txBody>
      </p:sp>
      <p:sp>
        <p:nvSpPr>
          <p:cNvPr id="25" name="Rectangle 2">
            <a:extLst>
              <a:ext uri="{FF2B5EF4-FFF2-40B4-BE49-F238E27FC236}">
                <a16:creationId xmlns:a16="http://schemas.microsoft.com/office/drawing/2014/main" id="{6EBA4373-2F4E-9C40-8D34-CD4CD038CE07}"/>
              </a:ext>
            </a:extLst>
          </p:cNvPr>
          <p:cNvSpPr txBox="1">
            <a:spLocks noChangeArrowheads="1"/>
          </p:cNvSpPr>
          <p:nvPr/>
        </p:nvSpPr>
        <p:spPr>
          <a:xfrm>
            <a:off x="496814" y="2867804"/>
            <a:ext cx="8253647" cy="1617752"/>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1494" lvl="1" indent="-173831" defTabSz="685800" fontAlgn="auto">
              <a:spcBef>
                <a:spcPct val="45000"/>
              </a:spcBef>
              <a:spcAft>
                <a:spcPts val="0"/>
              </a:spcAft>
              <a:buFont typeface="Arial"/>
              <a:buChar char="•"/>
              <a:defRPr/>
            </a:pPr>
            <a:r>
              <a:rPr lang="en-US" sz="2100" i="1" dirty="0">
                <a:solidFill>
                  <a:srgbClr val="CC0000"/>
                </a:solidFill>
                <a:latin typeface="Calibri" panose="020F0502020204030204"/>
              </a:rPr>
              <a:t>acknowledgements (ACKs):</a:t>
            </a:r>
            <a:r>
              <a:rPr lang="en-US" sz="2100" dirty="0">
                <a:solidFill>
                  <a:prstClr val="black"/>
                </a:solidFill>
                <a:latin typeface="Calibri" panose="020F0502020204030204"/>
              </a:rPr>
              <a:t> receiver explicitly tells sender that pkt received OK</a:t>
            </a:r>
          </a:p>
          <a:p>
            <a:pPr marL="521494" lvl="1" indent="-173831" defTabSz="685800" fontAlgn="auto">
              <a:spcBef>
                <a:spcPts val="375"/>
              </a:spcBef>
              <a:spcAft>
                <a:spcPts val="0"/>
              </a:spcAft>
              <a:buFont typeface="Arial"/>
              <a:buChar char="•"/>
              <a:defRPr/>
            </a:pPr>
            <a:r>
              <a:rPr lang="en-US" sz="2100" i="1" dirty="0">
                <a:solidFill>
                  <a:srgbClr val="CC0000"/>
                </a:solidFill>
                <a:latin typeface="Calibri" panose="020F0502020204030204"/>
              </a:rPr>
              <a:t>negative acknowledgements (NAKs):</a:t>
            </a:r>
            <a:r>
              <a:rPr lang="en-US" sz="2100" dirty="0">
                <a:solidFill>
                  <a:prstClr val="black"/>
                </a:solidFill>
                <a:latin typeface="Calibri" panose="020F0502020204030204"/>
              </a:rPr>
              <a:t> receiver explicitly tells sender that pkt had errors</a:t>
            </a:r>
          </a:p>
          <a:p>
            <a:pPr marL="521494" lvl="1" indent="-173831" defTabSz="685800" fontAlgn="auto">
              <a:spcBef>
                <a:spcPts val="375"/>
              </a:spcBef>
              <a:spcAft>
                <a:spcPts val="0"/>
              </a:spcAft>
              <a:buFont typeface="Arial"/>
              <a:buChar char="•"/>
              <a:defRPr/>
            </a:pPr>
            <a:r>
              <a:rPr lang="en-US" sz="2100" dirty="0">
                <a:solidFill>
                  <a:prstClr val="black"/>
                </a:solidFill>
                <a:latin typeface="Calibri" panose="020F0502020204030204"/>
              </a:rPr>
              <a:t>sender </a:t>
            </a:r>
            <a:r>
              <a:rPr lang="en-US" sz="2100" i="1" dirty="0">
                <a:solidFill>
                  <a:srgbClr val="C00000"/>
                </a:solidFill>
                <a:latin typeface="Calibri" panose="020F0502020204030204"/>
              </a:rPr>
              <a:t>retransmits</a:t>
            </a:r>
            <a:r>
              <a:rPr lang="en-US" sz="2100" dirty="0">
                <a:solidFill>
                  <a:prstClr val="black"/>
                </a:solidFill>
                <a:latin typeface="Calibri" panose="020F0502020204030204"/>
              </a:rPr>
              <a:t> pkt on receipt of NAK</a:t>
            </a:r>
          </a:p>
        </p:txBody>
      </p:sp>
      <p:grpSp>
        <p:nvGrpSpPr>
          <p:cNvPr id="7" name="Group 13">
            <a:extLst>
              <a:ext uri="{FF2B5EF4-FFF2-40B4-BE49-F238E27FC236}">
                <a16:creationId xmlns:a16="http://schemas.microsoft.com/office/drawing/2014/main" id="{0DED2191-7C7B-EA46-AFB1-5A7A4509EEC8}"/>
              </a:ext>
            </a:extLst>
          </p:cNvPr>
          <p:cNvGrpSpPr>
            <a:grpSpLocks/>
          </p:cNvGrpSpPr>
          <p:nvPr/>
        </p:nvGrpSpPr>
        <p:grpSpPr bwMode="auto">
          <a:xfrm>
            <a:off x="703162" y="4673090"/>
            <a:ext cx="8047298" cy="915591"/>
            <a:chOff x="1552" y="2800"/>
            <a:chExt cx="2578" cy="769"/>
          </a:xfrm>
        </p:grpSpPr>
        <p:sp>
          <p:nvSpPr>
            <p:cNvPr id="8" name="Rectangle 7">
              <a:extLst>
                <a:ext uri="{FF2B5EF4-FFF2-40B4-BE49-F238E27FC236}">
                  <a16:creationId xmlns:a16="http://schemas.microsoft.com/office/drawing/2014/main" id="{CA5C33DB-F1DF-074B-AA2F-B41978703359}"/>
                </a:ext>
              </a:extLst>
            </p:cNvPr>
            <p:cNvSpPr>
              <a:spLocks noChangeArrowheads="1"/>
            </p:cNvSpPr>
            <p:nvPr/>
          </p:nvSpPr>
          <p:spPr bwMode="auto">
            <a:xfrm>
              <a:off x="1552" y="2974"/>
              <a:ext cx="2578" cy="595"/>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9" name="Rectangle 9">
              <a:extLst>
                <a:ext uri="{FF2B5EF4-FFF2-40B4-BE49-F238E27FC236}">
                  <a16:creationId xmlns:a16="http://schemas.microsoft.com/office/drawing/2014/main" id="{CB4139DF-921F-E940-9AD8-677EFA8E24B3}"/>
                </a:ext>
              </a:extLst>
            </p:cNvPr>
            <p:cNvSpPr>
              <a:spLocks noChangeArrowheads="1"/>
            </p:cNvSpPr>
            <p:nvPr/>
          </p:nvSpPr>
          <p:spPr bwMode="auto">
            <a:xfrm>
              <a:off x="2226" y="2864"/>
              <a:ext cx="88" cy="22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0" name="Text Box 10">
              <a:extLst>
                <a:ext uri="{FF2B5EF4-FFF2-40B4-BE49-F238E27FC236}">
                  <a16:creationId xmlns:a16="http://schemas.microsoft.com/office/drawing/2014/main" id="{B44BC4A2-14C8-8A47-B1A1-506171B4D389}"/>
                </a:ext>
              </a:extLst>
            </p:cNvPr>
            <p:cNvSpPr txBox="1">
              <a:spLocks noChangeArrowheads="1"/>
            </p:cNvSpPr>
            <p:nvPr/>
          </p:nvSpPr>
          <p:spPr bwMode="auto">
            <a:xfrm>
              <a:off x="1724" y="2800"/>
              <a:ext cx="687" cy="38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2400" dirty="0">
                  <a:solidFill>
                    <a:srgbClr val="CC0000"/>
                  </a:solidFill>
                  <a:latin typeface="Calibri" panose="020F0502020204030204"/>
                </a:rPr>
                <a:t>stop and wait</a:t>
              </a:r>
            </a:p>
          </p:txBody>
        </p:sp>
        <p:sp>
          <p:nvSpPr>
            <p:cNvPr id="11" name="Text Box 6">
              <a:extLst>
                <a:ext uri="{FF2B5EF4-FFF2-40B4-BE49-F238E27FC236}">
                  <a16:creationId xmlns:a16="http://schemas.microsoft.com/office/drawing/2014/main" id="{EEE47A92-87A4-AD48-8A94-DC9DCFA6DD50}"/>
                </a:ext>
              </a:extLst>
            </p:cNvPr>
            <p:cNvSpPr txBox="1">
              <a:spLocks noChangeArrowheads="1"/>
            </p:cNvSpPr>
            <p:nvPr/>
          </p:nvSpPr>
          <p:spPr bwMode="auto">
            <a:xfrm>
              <a:off x="1678" y="3136"/>
              <a:ext cx="2452" cy="34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CC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lnSpc>
                  <a:spcPct val="85000"/>
                </a:lnSpc>
                <a:spcBef>
                  <a:spcPts val="0"/>
                </a:spcBef>
                <a:spcAft>
                  <a:spcPts val="0"/>
                </a:spcAft>
                <a:defRPr/>
              </a:pPr>
              <a:r>
                <a:rPr lang="en-US" sz="2400" dirty="0">
                  <a:solidFill>
                    <a:prstClr val="black"/>
                  </a:solidFill>
                  <a:latin typeface="Calibri" panose="020F0502020204030204"/>
                </a:rPr>
                <a:t>sender sends one packet,  then waits for receiver  response</a:t>
              </a:r>
            </a:p>
          </p:txBody>
        </p:sp>
      </p:grpSp>
      <p:sp>
        <p:nvSpPr>
          <p:cNvPr id="12" name="Slide Number Placeholder 2">
            <a:extLst>
              <a:ext uri="{FF2B5EF4-FFF2-40B4-BE49-F238E27FC236}">
                <a16:creationId xmlns:a16="http://schemas.microsoft.com/office/drawing/2014/main" id="{8EDA3199-9071-AC4D-8C68-A368602E92B1}"/>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36</a:t>
            </a:fld>
            <a:endParaRPr lang="en-US" dirty="0"/>
          </a:p>
        </p:txBody>
      </p:sp>
    </p:spTree>
    <p:extLst>
      <p:ext uri="{BB962C8B-B14F-4D97-AF65-F5344CB8AC3E}">
        <p14:creationId xmlns:p14="http://schemas.microsoft.com/office/powerpoint/2010/main" val="15721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dissolve">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dissolve">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dissolve">
                                      <p:cBhvr>
                                        <p:cTn id="22" dur="500"/>
                                        <p:tgtEl>
                                          <p:spTgt spid="2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build="p" bldLvl="2"/>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Rectangle 168">
            <a:extLst>
              <a:ext uri="{FF2B5EF4-FFF2-40B4-BE49-F238E27FC236}">
                <a16:creationId xmlns:a16="http://schemas.microsoft.com/office/drawing/2014/main" id="{68EB694D-F4ED-0141-BBB1-034CE4FDF113}"/>
              </a:ext>
            </a:extLst>
          </p:cNvPr>
          <p:cNvSpPr/>
          <p:nvPr/>
        </p:nvSpPr>
        <p:spPr>
          <a:xfrm>
            <a:off x="7402665" y="4665224"/>
            <a:ext cx="1251938" cy="23328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8" name="Rectangle 167">
            <a:extLst>
              <a:ext uri="{FF2B5EF4-FFF2-40B4-BE49-F238E27FC236}">
                <a16:creationId xmlns:a16="http://schemas.microsoft.com/office/drawing/2014/main" id="{D3935A0A-DEFE-0D4A-A039-8D2F8EDE2B13}"/>
              </a:ext>
            </a:extLst>
          </p:cNvPr>
          <p:cNvSpPr/>
          <p:nvPr/>
        </p:nvSpPr>
        <p:spPr>
          <a:xfrm>
            <a:off x="7577371" y="2907898"/>
            <a:ext cx="999959" cy="23328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rdt2.0: FSM specifications</a:t>
            </a:r>
            <a:endParaRPr lang="en-US" dirty="0"/>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1836714" y="2619633"/>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1760513" y="2682736"/>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Wait for call from above</a:t>
            </a:r>
            <a:endParaRPr lang="en-US" altLang="en-US" sz="1200" dirty="0">
              <a:solidFill>
                <a:prstClr val="black"/>
              </a:solidFill>
              <a:latin typeface="Times New Roman" panose="02020603050405020304" pitchFamily="18" charset="0"/>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3753620" y="2657652"/>
            <a:ext cx="2755106" cy="689453"/>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latin typeface="Times New Roman" panose="02020603050405020304" pitchFamily="18" charset="0"/>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3033291" y="2629158"/>
            <a:ext cx="806054" cy="721519"/>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Wait for ACK or NAK</a:t>
              </a:r>
              <a:endParaRPr lang="en-US" altLang="en-US" sz="1200" dirty="0">
                <a:solidFill>
                  <a:prstClr val="black"/>
                </a:solidFill>
                <a:latin typeface="Times New Roman" panose="02020603050405020304" pitchFamily="18" charset="0"/>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6244408" y="2898238"/>
            <a:ext cx="2545556" cy="777479"/>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udt_send(NAK)</a:t>
                </a:r>
                <a:endParaRPr lang="en-US" altLang="en-US" sz="1200" dirty="0">
                  <a:solidFill>
                    <a:prstClr val="black"/>
                  </a:solidFill>
                  <a:latin typeface="Times New Roman" panose="02020603050405020304" pitchFamily="18" charset="0"/>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corrupt(rcvpkt)</a:t>
                </a:r>
                <a:endParaRPr lang="en-US" altLang="en-US" sz="1200" dirty="0">
                  <a:solidFill>
                    <a:prstClr val="black"/>
                  </a:solidFill>
                  <a:latin typeface="Times New Roman" panose="02020603050405020304" pitchFamily="18" charset="0"/>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6387282" y="3638808"/>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6321797" y="3701911"/>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Wait for call from below</a:t>
            </a:r>
            <a:endParaRPr lang="en-US" altLang="en-US" sz="1200" dirty="0">
              <a:solidFill>
                <a:prstClr val="black"/>
              </a:solidFill>
              <a:latin typeface="Times New Roman" panose="02020603050405020304" pitchFamily="18" charset="0"/>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6037238" y="4300661"/>
            <a:ext cx="3106762" cy="1034904"/>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extract(rcvpkt,data)</a:t>
                </a:r>
              </a:p>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deliver_data(data)</a:t>
                </a:r>
              </a:p>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udt_send(ACK)</a:t>
                </a:r>
                <a:endParaRPr lang="en-US" altLang="en-US" sz="1200" dirty="0">
                  <a:solidFill>
                    <a:prstClr val="black"/>
                  </a:solidFill>
                  <a:latin typeface="Times New Roman" panose="02020603050405020304" pitchFamily="18" charset="0"/>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notcorrupt(rcvpkt)</a:t>
                </a:r>
                <a:endParaRPr lang="en-US" altLang="en-US" sz="1200" dirty="0">
                  <a:solidFill>
                    <a:prstClr val="black"/>
                  </a:solidFill>
                  <a:latin typeface="Times New Roman" panose="02020603050405020304" pitchFamily="18" charset="0"/>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067695" y="1862395"/>
            <a:ext cx="2732484" cy="770335"/>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snkpkt = make_pkt(data, checksum)</a:t>
              </a:r>
            </a:p>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rdt_send(data)</a:t>
              </a:r>
              <a:endParaRPr lang="en-US" altLang="en-US" sz="1200" dirty="0">
                <a:solidFill>
                  <a:prstClr val="black"/>
                </a:solidFill>
                <a:latin typeface="Times New Roman" panose="02020603050405020304" pitchFamily="18" charset="0"/>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1702768" y="3319755"/>
            <a:ext cx="2661047" cy="766554"/>
            <a:chOff x="2270357" y="3283338"/>
            <a:chExt cx="3548062" cy="1022072"/>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59487"/>
              <a:chOff x="2270357" y="3545923"/>
              <a:chExt cx="3548062" cy="759487"/>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isACK(rcvpkt)</a:t>
                </a:r>
                <a:endParaRPr lang="en-US" altLang="en-US" sz="1200" dirty="0">
                  <a:solidFill>
                    <a:prstClr val="black"/>
                  </a:solidFill>
                  <a:latin typeface="Times New Roman" panose="02020603050405020304" pitchFamily="18" charset="0"/>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200" dirty="0">
                    <a:solidFill>
                      <a:prstClr val="black"/>
                    </a:solidFill>
                    <a:latin typeface="Symbol" charset="0"/>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845309" y="2745543"/>
            <a:ext cx="87075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800" kern="0" dirty="0">
                <a:solidFill>
                  <a:srgbClr val="CC0000"/>
                </a:solidFill>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7218150" y="3828116"/>
            <a:ext cx="99097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800" kern="0" dirty="0">
                <a:solidFill>
                  <a:srgbClr val="CC0000"/>
                </a:solidFill>
              </a:rPr>
              <a:t>receiver</a:t>
            </a:r>
          </a:p>
        </p:txBody>
      </p:sp>
      <p:sp>
        <p:nvSpPr>
          <p:cNvPr id="43" name="Text Box 16">
            <a:extLst>
              <a:ext uri="{FF2B5EF4-FFF2-40B4-BE49-F238E27FC236}">
                <a16:creationId xmlns:a16="http://schemas.microsoft.com/office/drawing/2014/main" id="{99B9B250-0EDF-9940-8119-8A3858DACA6A}"/>
              </a:ext>
            </a:extLst>
          </p:cNvPr>
          <p:cNvSpPr txBox="1">
            <a:spLocks noChangeArrowheads="1"/>
          </p:cNvSpPr>
          <p:nvPr/>
        </p:nvSpPr>
        <p:spPr bwMode="auto">
          <a:xfrm>
            <a:off x="3966358" y="2473186"/>
            <a:ext cx="1564481"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rdt_rcv(rcvpkt) &amp;&amp;</a:t>
            </a:r>
          </a:p>
          <a:p>
            <a:pPr defTabSz="685800">
              <a:defRPr/>
            </a:pPr>
            <a:r>
              <a:rPr lang="en-US" altLang="en-US" sz="1200" dirty="0">
                <a:solidFill>
                  <a:srgbClr val="000000"/>
                </a:solidFill>
                <a:latin typeface="Arial" panose="020B0604020202020204" pitchFamily="34" charset="0"/>
              </a:rPr>
              <a:t>   isNAK(rcvpkt)</a:t>
            </a:r>
            <a:endParaRPr lang="en-US" altLang="en-US" sz="1200" dirty="0">
              <a:solidFill>
                <a:srgbClr val="000000"/>
              </a:solidFill>
              <a:latin typeface="Times New Roman" panose="02020603050405020304" pitchFamily="18" charset="0"/>
            </a:endParaRPr>
          </a:p>
        </p:txBody>
      </p:sp>
      <p:sp>
        <p:nvSpPr>
          <p:cNvPr id="4" name="Rectangle 3">
            <a:extLst>
              <a:ext uri="{FF2B5EF4-FFF2-40B4-BE49-F238E27FC236}">
                <a16:creationId xmlns:a16="http://schemas.microsoft.com/office/drawing/2014/main" id="{37A227A0-FE6A-9E43-8D11-7C390E9CA534}"/>
              </a:ext>
            </a:extLst>
          </p:cNvPr>
          <p:cNvSpPr/>
          <p:nvPr/>
        </p:nvSpPr>
        <p:spPr>
          <a:xfrm>
            <a:off x="5880970" y="2717365"/>
            <a:ext cx="3184742" cy="3006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44" name="Slide Number Placeholder 2">
            <a:extLst>
              <a:ext uri="{FF2B5EF4-FFF2-40B4-BE49-F238E27FC236}">
                <a16:creationId xmlns:a16="http://schemas.microsoft.com/office/drawing/2014/main" id="{C5DFF1AE-5E68-A349-98EF-93FDA9549036}"/>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37</a:t>
            </a:fld>
            <a:endParaRPr lang="en-US" dirty="0"/>
          </a:p>
        </p:txBody>
      </p:sp>
    </p:spTree>
    <p:extLst>
      <p:ext uri="{BB962C8B-B14F-4D97-AF65-F5344CB8AC3E}">
        <p14:creationId xmlns:p14="http://schemas.microsoft.com/office/powerpoint/2010/main" val="3006643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wipe(left)">
                                      <p:cBhvr>
                                        <p:cTn id="7" dur="500"/>
                                        <p:tgtEl>
                                          <p:spTgt spid="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58"/>
                                        </p:tgtEl>
                                        <p:attrNameLst>
                                          <p:attrName>style.visibility</p:attrName>
                                        </p:attrNameLst>
                                      </p:cBhvr>
                                      <p:to>
                                        <p:strVal val="visible"/>
                                      </p:to>
                                    </p:set>
                                    <p:animEffect transition="in" filter="wipe(right)">
                                      <p:cBhvr>
                                        <p:cTn id="12" dur="500"/>
                                        <p:tgtEl>
                                          <p:spTgt spid="1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6"/>
                                        </p:tgtEl>
                                        <p:attrNameLst>
                                          <p:attrName>style.visibility</p:attrName>
                                        </p:attrNameLst>
                                      </p:cBhvr>
                                      <p:to>
                                        <p:strVal val="visible"/>
                                      </p:to>
                                    </p:set>
                                    <p:animEffect transition="in" filter="wipe(up)">
                                      <p:cBhvr>
                                        <p:cTn id="17" dur="500"/>
                                        <p:tgtEl>
                                          <p:spTgt spid="15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dissolve">
                                      <p:cBhvr>
                                        <p:cTn id="20" dur="500"/>
                                        <p:tgtEl>
                                          <p:spTgt spid="4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grpId="0" nodeType="clickEffect">
                                  <p:stCondLst>
                                    <p:cond delay="0"/>
                                  </p:stCondLst>
                                  <p:childTnLst>
                                    <p:animEffect transition="out" filter="dissolve">
                                      <p:cBhvr>
                                        <p:cTn id="24" dur="500"/>
                                        <p:tgtEl>
                                          <p:spTgt spid="4"/>
                                        </p:tgtEl>
                                      </p:cBhvr>
                                    </p:animEffect>
                                    <p:set>
                                      <p:cBhvr>
                                        <p:cTn id="25" dur="1" fill="hold">
                                          <p:stCondLst>
                                            <p:cond delay="499"/>
                                          </p:stCondLst>
                                        </p:cTn>
                                        <p:tgtEl>
                                          <p:spTgt spid="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59"/>
                                        </p:tgtEl>
                                        <p:attrNameLst>
                                          <p:attrName>style.visibility</p:attrName>
                                        </p:attrNameLst>
                                      </p:cBhvr>
                                      <p:to>
                                        <p:strVal val="visible"/>
                                      </p:to>
                                    </p:set>
                                    <p:animEffect transition="in" filter="wipe(left)">
                                      <p:cBhvr>
                                        <p:cTn id="30" dur="500"/>
                                        <p:tgtEl>
                                          <p:spTgt spid="159"/>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68"/>
                                        </p:tgtEl>
                                        <p:attrNameLst>
                                          <p:attrName>style.visibility</p:attrName>
                                        </p:attrNameLst>
                                      </p:cBhvr>
                                      <p:to>
                                        <p:strVal val="visible"/>
                                      </p:to>
                                    </p:set>
                                    <p:animEffect transition="in" filter="dissolve">
                                      <p:cBhvr>
                                        <p:cTn id="33" dur="500"/>
                                        <p:tgtEl>
                                          <p:spTgt spid="16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64"/>
                                        </p:tgtEl>
                                        <p:attrNameLst>
                                          <p:attrName>style.visibility</p:attrName>
                                        </p:attrNameLst>
                                      </p:cBhvr>
                                      <p:to>
                                        <p:strVal val="visible"/>
                                      </p:to>
                                    </p:set>
                                    <p:animEffect transition="in" filter="wipe(left)">
                                      <p:cBhvr>
                                        <p:cTn id="38" dur="500"/>
                                        <p:tgtEl>
                                          <p:spTgt spid="164"/>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69"/>
                                        </p:tgtEl>
                                        <p:attrNameLst>
                                          <p:attrName>style.visibility</p:attrName>
                                        </p:attrNameLst>
                                      </p:cBhvr>
                                      <p:to>
                                        <p:strVal val="visible"/>
                                      </p:to>
                                    </p:set>
                                    <p:animEffect transition="in" filter="dissolve">
                                      <p:cBhvr>
                                        <p:cTn id="41"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animBg="1"/>
      <p:bldP spid="168" grpId="0" animBg="1"/>
      <p:bldP spid="43" grpId="0"/>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rdt2.0: FSM specification</a:t>
            </a:r>
            <a:endParaRPr lang="en-US" dirty="0"/>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1836714" y="2619633"/>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1760513" y="2682736"/>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Wait for call from above</a:t>
            </a:r>
            <a:endParaRPr lang="en-US" altLang="en-US" sz="1200" dirty="0">
              <a:solidFill>
                <a:prstClr val="black"/>
              </a:solidFill>
              <a:latin typeface="Times New Roman" panose="02020603050405020304" pitchFamily="18" charset="0"/>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3753620" y="2657652"/>
            <a:ext cx="2755106" cy="689453"/>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latin typeface="Times New Roman" panose="02020603050405020304" pitchFamily="18" charset="0"/>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3033291" y="2629158"/>
            <a:ext cx="806054" cy="721519"/>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Wait for ACK or NAK</a:t>
              </a:r>
              <a:endParaRPr lang="en-US" altLang="en-US" sz="1200" dirty="0">
                <a:solidFill>
                  <a:prstClr val="black"/>
                </a:solidFill>
                <a:latin typeface="Times New Roman" panose="02020603050405020304" pitchFamily="18" charset="0"/>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6244408" y="2898238"/>
            <a:ext cx="2545556" cy="777479"/>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udt_send(NAK)</a:t>
                </a:r>
                <a:endParaRPr lang="en-US" altLang="en-US" sz="1200" dirty="0">
                  <a:solidFill>
                    <a:prstClr val="black"/>
                  </a:solidFill>
                  <a:latin typeface="Times New Roman" panose="02020603050405020304" pitchFamily="18" charset="0"/>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corrupt(rcvpkt)</a:t>
                </a:r>
                <a:endParaRPr lang="en-US" altLang="en-US" sz="1200" dirty="0">
                  <a:solidFill>
                    <a:prstClr val="black"/>
                  </a:solidFill>
                  <a:latin typeface="Times New Roman" panose="02020603050405020304" pitchFamily="18" charset="0"/>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6387282" y="3638808"/>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6321797" y="3701911"/>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Wait for call from below</a:t>
            </a:r>
            <a:endParaRPr lang="en-US" altLang="en-US" sz="1200" dirty="0">
              <a:solidFill>
                <a:prstClr val="black"/>
              </a:solidFill>
              <a:latin typeface="Times New Roman" panose="02020603050405020304" pitchFamily="18" charset="0"/>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6037238" y="4300661"/>
            <a:ext cx="3106762" cy="1034904"/>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extract(rcvpkt,data)</a:t>
                </a:r>
              </a:p>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deliver_data(data)</a:t>
                </a:r>
              </a:p>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udt_send(ACK)</a:t>
                </a:r>
                <a:endParaRPr lang="en-US" altLang="en-US" sz="1200" dirty="0">
                  <a:solidFill>
                    <a:prstClr val="black"/>
                  </a:solidFill>
                  <a:latin typeface="Times New Roman" panose="02020603050405020304" pitchFamily="18" charset="0"/>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notcorrupt(rcvpkt)</a:t>
                </a:r>
                <a:endParaRPr lang="en-US" altLang="en-US" sz="1200" dirty="0">
                  <a:solidFill>
                    <a:prstClr val="black"/>
                  </a:solidFill>
                  <a:latin typeface="Times New Roman" panose="02020603050405020304" pitchFamily="18" charset="0"/>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067695" y="1862395"/>
            <a:ext cx="2732484" cy="770335"/>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snkpkt = make_pkt(data, checksum)</a:t>
              </a:r>
            </a:p>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rdt_send(data)</a:t>
              </a:r>
              <a:endParaRPr lang="en-US" altLang="en-US" sz="1200" dirty="0">
                <a:solidFill>
                  <a:prstClr val="black"/>
                </a:solidFill>
                <a:latin typeface="Times New Roman" panose="02020603050405020304" pitchFamily="18" charset="0"/>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1702768" y="3319755"/>
            <a:ext cx="2661047" cy="766554"/>
            <a:chOff x="2270357" y="3283338"/>
            <a:chExt cx="3548062" cy="1022072"/>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59487"/>
              <a:chOff x="2270357" y="3545923"/>
              <a:chExt cx="3548062" cy="759487"/>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isACK(rcvpkt)</a:t>
                </a:r>
                <a:endParaRPr lang="en-US" altLang="en-US" sz="1200" dirty="0">
                  <a:solidFill>
                    <a:prstClr val="black"/>
                  </a:solidFill>
                  <a:latin typeface="Times New Roman" panose="02020603050405020304" pitchFamily="18" charset="0"/>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200" dirty="0">
                    <a:solidFill>
                      <a:prstClr val="black"/>
                    </a:solidFill>
                    <a:latin typeface="Symbol" charset="0"/>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845309" y="2745543"/>
            <a:ext cx="87075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800" kern="0" dirty="0">
                <a:solidFill>
                  <a:srgbClr val="CC0000"/>
                </a:solidFill>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7218150" y="3828116"/>
            <a:ext cx="99097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800" kern="0" dirty="0">
                <a:solidFill>
                  <a:srgbClr val="CC0000"/>
                </a:solidFill>
              </a:rPr>
              <a:t>receiver</a:t>
            </a:r>
          </a:p>
        </p:txBody>
      </p:sp>
      <p:sp>
        <p:nvSpPr>
          <p:cNvPr id="4" name="TextBox 3">
            <a:extLst>
              <a:ext uri="{FF2B5EF4-FFF2-40B4-BE49-F238E27FC236}">
                <a16:creationId xmlns:a16="http://schemas.microsoft.com/office/drawing/2014/main" id="{6FA53170-F7EC-A34D-8A41-984A3AC85C5B}"/>
              </a:ext>
            </a:extLst>
          </p:cNvPr>
          <p:cNvSpPr txBox="1"/>
          <p:nvPr/>
        </p:nvSpPr>
        <p:spPr>
          <a:xfrm>
            <a:off x="724437" y="4367725"/>
            <a:ext cx="4899614" cy="1200329"/>
          </a:xfrm>
          <a:prstGeom prst="rect">
            <a:avLst/>
          </a:prstGeom>
          <a:noFill/>
        </p:spPr>
        <p:txBody>
          <a:bodyPr wrap="square" rtlCol="0">
            <a:spAutoFit/>
          </a:bodyPr>
          <a:lstStyle/>
          <a:p>
            <a:pPr defTabSz="685800" eaLnBrk="1" fontAlgn="auto" hangingPunct="1">
              <a:spcBef>
                <a:spcPts val="0"/>
              </a:spcBef>
              <a:spcAft>
                <a:spcPts val="0"/>
              </a:spcAft>
              <a:defRPr/>
            </a:pPr>
            <a:r>
              <a:rPr lang="en-US" sz="1800" dirty="0">
                <a:solidFill>
                  <a:srgbClr val="C00000"/>
                </a:solidFill>
                <a:latin typeface="Calibri" panose="020F0502020204030204"/>
                <a:ea typeface="+mn-ea"/>
              </a:rPr>
              <a:t>Note: </a:t>
            </a:r>
            <a:r>
              <a:rPr lang="en-US" sz="1800" dirty="0">
                <a:solidFill>
                  <a:prstClr val="black"/>
                </a:solidFill>
                <a:latin typeface="Calibri" panose="020F0502020204030204"/>
                <a:ea typeface="+mn-ea"/>
              </a:rPr>
              <a:t>“state” of receiver (did the receiver get my message correctly?) isn’t known to sender unless somehow communicated from receiver to sender</a:t>
            </a:r>
          </a:p>
          <a:p>
            <a:pPr marL="257175" indent="-171450" defTabSz="685800" eaLnBrk="1" fontAlgn="auto" hangingPunct="1">
              <a:spcBef>
                <a:spcPts val="0"/>
              </a:spcBef>
              <a:spcAft>
                <a:spcPts val="0"/>
              </a:spcAft>
              <a:buClr>
                <a:srgbClr val="0000A8"/>
              </a:buClr>
              <a:buFont typeface="Wingdings" pitchFamily="2" charset="2"/>
              <a:buChar char="§"/>
              <a:defRPr/>
            </a:pPr>
            <a:r>
              <a:rPr lang="en-US" sz="1800" dirty="0">
                <a:solidFill>
                  <a:prstClr val="black"/>
                </a:solidFill>
                <a:latin typeface="Calibri" panose="020F0502020204030204"/>
                <a:ea typeface="+mn-ea"/>
              </a:rPr>
              <a:t>that’s why we need a protocol!</a:t>
            </a:r>
          </a:p>
        </p:txBody>
      </p:sp>
      <p:sp>
        <p:nvSpPr>
          <p:cNvPr id="43" name="Text Box 16">
            <a:extLst>
              <a:ext uri="{FF2B5EF4-FFF2-40B4-BE49-F238E27FC236}">
                <a16:creationId xmlns:a16="http://schemas.microsoft.com/office/drawing/2014/main" id="{ADA65A1F-AF0E-7A4E-89E8-DE7816681B41}"/>
              </a:ext>
            </a:extLst>
          </p:cNvPr>
          <p:cNvSpPr txBox="1">
            <a:spLocks noChangeArrowheads="1"/>
          </p:cNvSpPr>
          <p:nvPr/>
        </p:nvSpPr>
        <p:spPr bwMode="auto">
          <a:xfrm>
            <a:off x="3966358" y="2473186"/>
            <a:ext cx="1564481"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rdt_rcv(rcvpkt) &amp;&amp;</a:t>
            </a:r>
          </a:p>
          <a:p>
            <a:pPr defTabSz="685800">
              <a:defRPr/>
            </a:pPr>
            <a:r>
              <a:rPr lang="en-US" altLang="en-US" sz="1200" dirty="0">
                <a:solidFill>
                  <a:srgbClr val="000000"/>
                </a:solidFill>
                <a:latin typeface="Arial" panose="020B0604020202020204" pitchFamily="34" charset="0"/>
              </a:rPr>
              <a:t>   isNAK(rcvpkt)</a:t>
            </a:r>
            <a:endParaRPr lang="en-US" altLang="en-US" sz="1200" dirty="0">
              <a:solidFill>
                <a:srgbClr val="000000"/>
              </a:solidFill>
              <a:latin typeface="Times New Roman" panose="02020603050405020304" pitchFamily="18" charset="0"/>
            </a:endParaRPr>
          </a:p>
        </p:txBody>
      </p:sp>
      <p:pic>
        <p:nvPicPr>
          <p:cNvPr id="44" name="Picture 43" descr="A shower curtain&#10;&#10;Description automatically generated">
            <a:extLst>
              <a:ext uri="{FF2B5EF4-FFF2-40B4-BE49-F238E27FC236}">
                <a16:creationId xmlns:a16="http://schemas.microsoft.com/office/drawing/2014/main" id="{AC45B1FA-8BA1-4648-AD93-40677902A5F6}"/>
              </a:ext>
            </a:extLst>
          </p:cNvPr>
          <p:cNvPicPr>
            <a:picLocks noChangeAspect="1"/>
          </p:cNvPicPr>
          <p:nvPr/>
        </p:nvPicPr>
        <p:blipFill>
          <a:blip r:embed="rId3"/>
          <a:stretch>
            <a:fillRect/>
          </a:stretch>
        </p:blipFill>
        <p:spPr>
          <a:xfrm>
            <a:off x="5499978" y="2474079"/>
            <a:ext cx="3482098" cy="3434812"/>
          </a:xfrm>
          <a:prstGeom prst="rect">
            <a:avLst/>
          </a:prstGeom>
        </p:spPr>
      </p:pic>
      <p:sp>
        <p:nvSpPr>
          <p:cNvPr id="46" name="Text Box 16">
            <a:extLst>
              <a:ext uri="{FF2B5EF4-FFF2-40B4-BE49-F238E27FC236}">
                <a16:creationId xmlns:a16="http://schemas.microsoft.com/office/drawing/2014/main" id="{D6DB0EA5-C28C-5D47-A606-CB6349A9853F}"/>
              </a:ext>
            </a:extLst>
          </p:cNvPr>
          <p:cNvSpPr txBox="1">
            <a:spLocks noChangeArrowheads="1"/>
          </p:cNvSpPr>
          <p:nvPr/>
        </p:nvSpPr>
        <p:spPr bwMode="auto">
          <a:xfrm>
            <a:off x="4094848" y="2657847"/>
            <a:ext cx="1564481" cy="29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highlight>
                  <a:srgbClr val="FFFF00"/>
                </a:highlight>
                <a:latin typeface="Arial" panose="020B0604020202020204" pitchFamily="34" charset="0"/>
              </a:rPr>
              <a:t>isNAK(rcvpkt)</a:t>
            </a:r>
            <a:endParaRPr lang="en-US" altLang="en-US" sz="1200" dirty="0">
              <a:solidFill>
                <a:srgbClr val="000000"/>
              </a:solidFill>
              <a:highlight>
                <a:srgbClr val="FFFF00"/>
              </a:highlight>
              <a:latin typeface="Times New Roman" panose="02020603050405020304" pitchFamily="18" charset="0"/>
            </a:endParaRPr>
          </a:p>
        </p:txBody>
      </p:sp>
      <p:sp>
        <p:nvSpPr>
          <p:cNvPr id="47" name="Text Box 16">
            <a:extLst>
              <a:ext uri="{FF2B5EF4-FFF2-40B4-BE49-F238E27FC236}">
                <a16:creationId xmlns:a16="http://schemas.microsoft.com/office/drawing/2014/main" id="{C8AFC91C-B2AA-274D-BDE6-DBE3D808D252}"/>
              </a:ext>
            </a:extLst>
          </p:cNvPr>
          <p:cNvSpPr txBox="1">
            <a:spLocks noChangeArrowheads="1"/>
          </p:cNvSpPr>
          <p:nvPr/>
        </p:nvSpPr>
        <p:spPr bwMode="auto">
          <a:xfrm>
            <a:off x="2961879" y="3525280"/>
            <a:ext cx="1564481" cy="29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highlight>
                  <a:srgbClr val="FFFF00"/>
                </a:highlight>
                <a:latin typeface="Arial" panose="020B0604020202020204" pitchFamily="34" charset="0"/>
              </a:rPr>
              <a:t>isACK(rcvpkt)</a:t>
            </a:r>
            <a:endParaRPr lang="en-US" altLang="en-US" sz="1200" dirty="0">
              <a:solidFill>
                <a:srgbClr val="000000"/>
              </a:solidFill>
              <a:highlight>
                <a:srgbClr val="FFFF00"/>
              </a:highlight>
              <a:latin typeface="Times New Roman" panose="02020603050405020304" pitchFamily="18" charset="0"/>
            </a:endParaRPr>
          </a:p>
        </p:txBody>
      </p:sp>
      <p:sp>
        <p:nvSpPr>
          <p:cNvPr id="45" name="Slide Number Placeholder 2">
            <a:extLst>
              <a:ext uri="{FF2B5EF4-FFF2-40B4-BE49-F238E27FC236}">
                <a16:creationId xmlns:a16="http://schemas.microsoft.com/office/drawing/2014/main" id="{74821291-B2F1-5248-8BEE-C21E2CB09702}"/>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38</a:t>
            </a:fld>
            <a:endParaRPr lang="en-US" dirty="0"/>
          </a:p>
        </p:txBody>
      </p:sp>
    </p:spTree>
    <p:extLst>
      <p:ext uri="{BB962C8B-B14F-4D97-AF65-F5344CB8AC3E}">
        <p14:creationId xmlns:p14="http://schemas.microsoft.com/office/powerpoint/2010/main" val="157285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10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dissolve">
                                      <p:cBhvr>
                                        <p:cTn id="1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rdt2.0: operation with no errors</a:t>
            </a:r>
            <a:endParaRPr lang="en-US" dirty="0"/>
          </a:p>
        </p:txBody>
      </p:sp>
      <p:sp>
        <p:nvSpPr>
          <p:cNvPr id="37" name="Oval 3">
            <a:extLst>
              <a:ext uri="{FF2B5EF4-FFF2-40B4-BE49-F238E27FC236}">
                <a16:creationId xmlns:a16="http://schemas.microsoft.com/office/drawing/2014/main" id="{20368D61-C8F9-C64D-9076-63AF0503E0F6}"/>
              </a:ext>
            </a:extLst>
          </p:cNvPr>
          <p:cNvSpPr>
            <a:spLocks noChangeArrowheads="1"/>
          </p:cNvSpPr>
          <p:nvPr/>
        </p:nvSpPr>
        <p:spPr bwMode="auto">
          <a:xfrm>
            <a:off x="1836714" y="2619633"/>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sp>
        <p:nvSpPr>
          <p:cNvPr id="38" name="Text Box 4">
            <a:extLst>
              <a:ext uri="{FF2B5EF4-FFF2-40B4-BE49-F238E27FC236}">
                <a16:creationId xmlns:a16="http://schemas.microsoft.com/office/drawing/2014/main" id="{229D572B-0C64-BC4F-9787-CFDFDB4AFDBE}"/>
              </a:ext>
            </a:extLst>
          </p:cNvPr>
          <p:cNvSpPr txBox="1">
            <a:spLocks noChangeArrowheads="1"/>
          </p:cNvSpPr>
          <p:nvPr/>
        </p:nvSpPr>
        <p:spPr bwMode="auto">
          <a:xfrm>
            <a:off x="1760513" y="2682736"/>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Wait for call from above</a:t>
            </a:r>
            <a:endParaRPr lang="en-US" altLang="en-US" sz="1200" dirty="0">
              <a:solidFill>
                <a:prstClr val="black"/>
              </a:solidFill>
              <a:latin typeface="Times New Roman" panose="02020603050405020304" pitchFamily="18" charset="0"/>
            </a:endParaRPr>
          </a:p>
        </p:txBody>
      </p:sp>
      <p:sp>
        <p:nvSpPr>
          <p:cNvPr id="39" name="Text Box 5">
            <a:extLst>
              <a:ext uri="{FF2B5EF4-FFF2-40B4-BE49-F238E27FC236}">
                <a16:creationId xmlns:a16="http://schemas.microsoft.com/office/drawing/2014/main" id="{7E93FFA4-44C6-0E4F-ABD0-1688475EEC2D}"/>
              </a:ext>
            </a:extLst>
          </p:cNvPr>
          <p:cNvSpPr txBox="1">
            <a:spLocks noChangeArrowheads="1"/>
          </p:cNvSpPr>
          <p:nvPr/>
        </p:nvSpPr>
        <p:spPr bwMode="auto">
          <a:xfrm>
            <a:off x="2067695" y="2080279"/>
            <a:ext cx="2732484"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snkpkt = make_pkt(data, checksum)</a:t>
            </a:r>
          </a:p>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40" name="Line 6">
            <a:extLst>
              <a:ext uri="{FF2B5EF4-FFF2-40B4-BE49-F238E27FC236}">
                <a16:creationId xmlns:a16="http://schemas.microsoft.com/office/drawing/2014/main" id="{AAE6181D-40C5-4947-8D16-192C2CC21901}"/>
              </a:ext>
            </a:extLst>
          </p:cNvPr>
          <p:cNvSpPr>
            <a:spLocks noChangeShapeType="1"/>
          </p:cNvSpPr>
          <p:nvPr/>
        </p:nvSpPr>
        <p:spPr bwMode="auto">
          <a:xfrm>
            <a:off x="2146276" y="2113617"/>
            <a:ext cx="7429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4" name="Freeform 10">
            <a:extLst>
              <a:ext uri="{FF2B5EF4-FFF2-40B4-BE49-F238E27FC236}">
                <a16:creationId xmlns:a16="http://schemas.microsoft.com/office/drawing/2014/main" id="{C49AAF37-6767-EA4A-BCF2-2730B5DAFFCF}"/>
              </a:ext>
            </a:extLst>
          </p:cNvPr>
          <p:cNvSpPr>
            <a:spLocks/>
          </p:cNvSpPr>
          <p:nvPr/>
        </p:nvSpPr>
        <p:spPr bwMode="auto">
          <a:xfrm flipV="1">
            <a:off x="2106985" y="2446992"/>
            <a:ext cx="1350169" cy="18573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5" name="Freeform 11">
            <a:extLst>
              <a:ext uri="{FF2B5EF4-FFF2-40B4-BE49-F238E27FC236}">
                <a16:creationId xmlns:a16="http://schemas.microsoft.com/office/drawing/2014/main" id="{F2665E42-05D1-2742-9715-0A7AB328CC68}"/>
              </a:ext>
            </a:extLst>
          </p:cNvPr>
          <p:cNvSpPr>
            <a:spLocks/>
          </p:cNvSpPr>
          <p:nvPr/>
        </p:nvSpPr>
        <p:spPr bwMode="auto">
          <a:xfrm>
            <a:off x="2142704" y="3317338"/>
            <a:ext cx="1350169" cy="18573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8" name="Freeform 14">
            <a:extLst>
              <a:ext uri="{FF2B5EF4-FFF2-40B4-BE49-F238E27FC236}">
                <a16:creationId xmlns:a16="http://schemas.microsoft.com/office/drawing/2014/main" id="{FF5156B3-5F3E-7247-9787-81C01F98AADA}"/>
              </a:ext>
            </a:extLst>
          </p:cNvPr>
          <p:cNvSpPr>
            <a:spLocks/>
          </p:cNvSpPr>
          <p:nvPr/>
        </p:nvSpPr>
        <p:spPr bwMode="auto">
          <a:xfrm>
            <a:off x="3753620" y="2676783"/>
            <a:ext cx="350044" cy="670322"/>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9" name="Text Box 15">
            <a:extLst>
              <a:ext uri="{FF2B5EF4-FFF2-40B4-BE49-F238E27FC236}">
                <a16:creationId xmlns:a16="http://schemas.microsoft.com/office/drawing/2014/main" id="{2F0C4339-9749-3E4B-AEF3-DFBC5861C0E1}"/>
              </a:ext>
            </a:extLst>
          </p:cNvPr>
          <p:cNvSpPr txBox="1">
            <a:spLocks noChangeArrowheads="1"/>
          </p:cNvSpPr>
          <p:nvPr/>
        </p:nvSpPr>
        <p:spPr bwMode="auto">
          <a:xfrm>
            <a:off x="3985791" y="2912526"/>
            <a:ext cx="1322785"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51" name="Line 17">
            <a:extLst>
              <a:ext uri="{FF2B5EF4-FFF2-40B4-BE49-F238E27FC236}">
                <a16:creationId xmlns:a16="http://schemas.microsoft.com/office/drawing/2014/main" id="{B12405C6-9FEC-A645-ABAA-32067C853440}"/>
              </a:ext>
            </a:extLst>
          </p:cNvPr>
          <p:cNvSpPr>
            <a:spLocks noChangeShapeType="1"/>
          </p:cNvSpPr>
          <p:nvPr/>
        </p:nvSpPr>
        <p:spPr bwMode="auto">
          <a:xfrm>
            <a:off x="4056038" y="2912526"/>
            <a:ext cx="7429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52" name="Group 18">
            <a:extLst>
              <a:ext uri="{FF2B5EF4-FFF2-40B4-BE49-F238E27FC236}">
                <a16:creationId xmlns:a16="http://schemas.microsoft.com/office/drawing/2014/main" id="{6469EBCB-9365-8146-9A22-EA4BFBF0E079}"/>
              </a:ext>
            </a:extLst>
          </p:cNvPr>
          <p:cNvGrpSpPr>
            <a:grpSpLocks/>
          </p:cNvGrpSpPr>
          <p:nvPr/>
        </p:nvGrpSpPr>
        <p:grpSpPr bwMode="auto">
          <a:xfrm>
            <a:off x="6244407" y="3178034"/>
            <a:ext cx="1371600" cy="192881"/>
            <a:chOff x="2222" y="3039"/>
            <a:chExt cx="1152" cy="162"/>
          </a:xfrm>
        </p:grpSpPr>
        <p:sp>
          <p:nvSpPr>
            <p:cNvPr id="53" name="Text Box 19">
              <a:extLst>
                <a:ext uri="{FF2B5EF4-FFF2-40B4-BE49-F238E27FC236}">
                  <a16:creationId xmlns:a16="http://schemas.microsoft.com/office/drawing/2014/main" id="{3A6C17B0-3CB8-BD4F-82A3-F8BBBF7760BF}"/>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udt_send(NAK)</a:t>
              </a:r>
              <a:endParaRPr lang="en-US" altLang="en-US" sz="1200" dirty="0">
                <a:solidFill>
                  <a:prstClr val="black"/>
                </a:solidFill>
                <a:latin typeface="Times New Roman" panose="02020603050405020304" pitchFamily="18" charset="0"/>
              </a:endParaRPr>
            </a:p>
          </p:txBody>
        </p:sp>
        <p:sp>
          <p:nvSpPr>
            <p:cNvPr id="55" name="Line 21">
              <a:extLst>
                <a:ext uri="{FF2B5EF4-FFF2-40B4-BE49-F238E27FC236}">
                  <a16:creationId xmlns:a16="http://schemas.microsoft.com/office/drawing/2014/main" id="{7262AE28-C6B2-7A4B-B2BF-40A0797B4995}"/>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56" name="Group 22">
            <a:extLst>
              <a:ext uri="{FF2B5EF4-FFF2-40B4-BE49-F238E27FC236}">
                <a16:creationId xmlns:a16="http://schemas.microsoft.com/office/drawing/2014/main" id="{E9E74661-52F5-5E48-982A-52E52A35DC45}"/>
              </a:ext>
            </a:extLst>
          </p:cNvPr>
          <p:cNvGrpSpPr>
            <a:grpSpLocks/>
          </p:cNvGrpSpPr>
          <p:nvPr/>
        </p:nvGrpSpPr>
        <p:grpSpPr bwMode="auto">
          <a:xfrm>
            <a:off x="3033291" y="2629158"/>
            <a:ext cx="806054" cy="721519"/>
            <a:chOff x="1540" y="2116"/>
            <a:chExt cx="677" cy="606"/>
          </a:xfrm>
        </p:grpSpPr>
        <p:sp>
          <p:nvSpPr>
            <p:cNvPr id="57" name="Oval 23">
              <a:extLst>
                <a:ext uri="{FF2B5EF4-FFF2-40B4-BE49-F238E27FC236}">
                  <a16:creationId xmlns:a16="http://schemas.microsoft.com/office/drawing/2014/main" id="{8D34CBBE-DA94-E64E-9580-4F3F4131C86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sp>
          <p:nvSpPr>
            <p:cNvPr id="58" name="Text Box 24">
              <a:extLst>
                <a:ext uri="{FF2B5EF4-FFF2-40B4-BE49-F238E27FC236}">
                  <a16:creationId xmlns:a16="http://schemas.microsoft.com/office/drawing/2014/main" id="{1B4A0021-CFA3-4E40-B284-73C34108A342}"/>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Wait for ACK or NAK</a:t>
              </a:r>
              <a:endParaRPr lang="en-US" altLang="en-US" sz="1200" dirty="0">
                <a:solidFill>
                  <a:prstClr val="black"/>
                </a:solidFill>
                <a:latin typeface="Times New Roman" panose="02020603050405020304" pitchFamily="18" charset="0"/>
              </a:endParaRPr>
            </a:p>
          </p:txBody>
        </p:sp>
      </p:grpSp>
      <p:sp>
        <p:nvSpPr>
          <p:cNvPr id="59" name="Freeform 25">
            <a:extLst>
              <a:ext uri="{FF2B5EF4-FFF2-40B4-BE49-F238E27FC236}">
                <a16:creationId xmlns:a16="http://schemas.microsoft.com/office/drawing/2014/main" id="{3DB66570-2E6B-DB42-959E-FB21F91FD83C}"/>
              </a:ext>
            </a:extLst>
          </p:cNvPr>
          <p:cNvSpPr>
            <a:spLocks/>
          </p:cNvSpPr>
          <p:nvPr/>
        </p:nvSpPr>
        <p:spPr bwMode="auto">
          <a:xfrm>
            <a:off x="6318226" y="3323292"/>
            <a:ext cx="942975" cy="352425"/>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60" name="Oval 26">
            <a:extLst>
              <a:ext uri="{FF2B5EF4-FFF2-40B4-BE49-F238E27FC236}">
                <a16:creationId xmlns:a16="http://schemas.microsoft.com/office/drawing/2014/main" id="{8A47B34C-876C-9A40-BB81-39CFF157E854}"/>
              </a:ext>
            </a:extLst>
          </p:cNvPr>
          <p:cNvSpPr>
            <a:spLocks noChangeArrowheads="1"/>
          </p:cNvSpPr>
          <p:nvPr/>
        </p:nvSpPr>
        <p:spPr bwMode="auto">
          <a:xfrm>
            <a:off x="6387282" y="3638808"/>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sp>
        <p:nvSpPr>
          <p:cNvPr id="61" name="Text Box 27">
            <a:extLst>
              <a:ext uri="{FF2B5EF4-FFF2-40B4-BE49-F238E27FC236}">
                <a16:creationId xmlns:a16="http://schemas.microsoft.com/office/drawing/2014/main" id="{D69029E6-5338-FD44-BC15-0BA8A98F15B0}"/>
              </a:ext>
            </a:extLst>
          </p:cNvPr>
          <p:cNvSpPr txBox="1">
            <a:spLocks noChangeArrowheads="1"/>
          </p:cNvSpPr>
          <p:nvPr/>
        </p:nvSpPr>
        <p:spPr bwMode="auto">
          <a:xfrm>
            <a:off x="6321797" y="3701911"/>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Wait for call from below</a:t>
            </a:r>
            <a:endParaRPr lang="en-US" altLang="en-US" sz="1200" dirty="0">
              <a:solidFill>
                <a:prstClr val="black"/>
              </a:solidFill>
              <a:latin typeface="Times New Roman" panose="02020603050405020304" pitchFamily="18" charset="0"/>
            </a:endParaRPr>
          </a:p>
        </p:txBody>
      </p:sp>
      <p:sp>
        <p:nvSpPr>
          <p:cNvPr id="62" name="Freeform 28">
            <a:extLst>
              <a:ext uri="{FF2B5EF4-FFF2-40B4-BE49-F238E27FC236}">
                <a16:creationId xmlns:a16="http://schemas.microsoft.com/office/drawing/2014/main" id="{062C8ABB-D477-0442-96DB-AF4A7A380558}"/>
              </a:ext>
            </a:extLst>
          </p:cNvPr>
          <p:cNvSpPr>
            <a:spLocks/>
          </p:cNvSpPr>
          <p:nvPr/>
        </p:nvSpPr>
        <p:spPr bwMode="auto">
          <a:xfrm flipV="1">
            <a:off x="6327751" y="4300661"/>
            <a:ext cx="942975" cy="352425"/>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63" name="Group 29">
            <a:extLst>
              <a:ext uri="{FF2B5EF4-FFF2-40B4-BE49-F238E27FC236}">
                <a16:creationId xmlns:a16="http://schemas.microsoft.com/office/drawing/2014/main" id="{824EB22B-3441-BB4C-9908-EA5200566BEF}"/>
              </a:ext>
            </a:extLst>
          </p:cNvPr>
          <p:cNvGrpSpPr>
            <a:grpSpLocks/>
          </p:cNvGrpSpPr>
          <p:nvPr/>
        </p:nvGrpSpPr>
        <p:grpSpPr bwMode="auto">
          <a:xfrm>
            <a:off x="1575966" y="2587486"/>
            <a:ext cx="1000125" cy="753665"/>
            <a:chOff x="220" y="1365"/>
            <a:chExt cx="840" cy="633"/>
          </a:xfrm>
        </p:grpSpPr>
        <p:sp>
          <p:nvSpPr>
            <p:cNvPr id="64" name="Line 30">
              <a:extLst>
                <a:ext uri="{FF2B5EF4-FFF2-40B4-BE49-F238E27FC236}">
                  <a16:creationId xmlns:a16="http://schemas.microsoft.com/office/drawing/2014/main" id="{E482CA24-27A0-084A-87D9-E941B0A259BA}"/>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65" name="Oval 31">
              <a:extLst>
                <a:ext uri="{FF2B5EF4-FFF2-40B4-BE49-F238E27FC236}">
                  <a16:creationId xmlns:a16="http://schemas.microsoft.com/office/drawing/2014/main" id="{B1FC38D6-025E-7842-ADA7-35FDE217EA4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grpSp>
      <p:grpSp>
        <p:nvGrpSpPr>
          <p:cNvPr id="66" name="Group 32">
            <a:extLst>
              <a:ext uri="{FF2B5EF4-FFF2-40B4-BE49-F238E27FC236}">
                <a16:creationId xmlns:a16="http://schemas.microsoft.com/office/drawing/2014/main" id="{5BBC5929-B4AB-D94E-9C05-8B8E4E50A932}"/>
              </a:ext>
            </a:extLst>
          </p:cNvPr>
          <p:cNvGrpSpPr>
            <a:grpSpLocks/>
          </p:cNvGrpSpPr>
          <p:nvPr/>
        </p:nvGrpSpPr>
        <p:grpSpPr bwMode="auto">
          <a:xfrm>
            <a:off x="6064623" y="3585229"/>
            <a:ext cx="1060847" cy="775097"/>
            <a:chOff x="3990" y="2203"/>
            <a:chExt cx="891" cy="651"/>
          </a:xfrm>
        </p:grpSpPr>
        <p:sp>
          <p:nvSpPr>
            <p:cNvPr id="67" name="Line 33">
              <a:extLst>
                <a:ext uri="{FF2B5EF4-FFF2-40B4-BE49-F238E27FC236}">
                  <a16:creationId xmlns:a16="http://schemas.microsoft.com/office/drawing/2014/main" id="{C8C95C30-694C-3343-9A2B-29D823BB5369}"/>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68" name="Oval 34">
              <a:extLst>
                <a:ext uri="{FF2B5EF4-FFF2-40B4-BE49-F238E27FC236}">
                  <a16:creationId xmlns:a16="http://schemas.microsoft.com/office/drawing/2014/main" id="{9CF26F83-62A4-774B-95EC-D614996A7AD6}"/>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grpSp>
      <p:sp>
        <p:nvSpPr>
          <p:cNvPr id="69" name="Text Box 35">
            <a:extLst>
              <a:ext uri="{FF2B5EF4-FFF2-40B4-BE49-F238E27FC236}">
                <a16:creationId xmlns:a16="http://schemas.microsoft.com/office/drawing/2014/main" id="{4F145C19-20CA-7145-8B2A-77BEB54A39E8}"/>
              </a:ext>
            </a:extLst>
          </p:cNvPr>
          <p:cNvSpPr txBox="1">
            <a:spLocks noChangeArrowheads="1"/>
          </p:cNvSpPr>
          <p:nvPr/>
        </p:nvSpPr>
        <p:spPr bwMode="auto">
          <a:xfrm>
            <a:off x="2086745" y="1862395"/>
            <a:ext cx="1691878"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rdt_send(data)</a:t>
            </a:r>
            <a:endParaRPr lang="en-US" altLang="en-US" sz="1200" dirty="0">
              <a:solidFill>
                <a:prstClr val="black"/>
              </a:solidFill>
              <a:latin typeface="Times New Roman" panose="02020603050405020304" pitchFamily="18" charset="0"/>
            </a:endParaRPr>
          </a:p>
        </p:txBody>
      </p:sp>
      <p:sp>
        <p:nvSpPr>
          <p:cNvPr id="70" name="Line 36">
            <a:extLst>
              <a:ext uri="{FF2B5EF4-FFF2-40B4-BE49-F238E27FC236}">
                <a16:creationId xmlns:a16="http://schemas.microsoft.com/office/drawing/2014/main" id="{26143F76-F1DE-F740-8D25-07F17B3B05D6}"/>
              </a:ext>
            </a:extLst>
          </p:cNvPr>
          <p:cNvSpPr>
            <a:spLocks noChangeShapeType="1"/>
          </p:cNvSpPr>
          <p:nvPr/>
        </p:nvSpPr>
        <p:spPr bwMode="auto">
          <a:xfrm>
            <a:off x="2072457" y="1929070"/>
            <a:ext cx="9525" cy="560785"/>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71" name="Freeform 37">
            <a:extLst>
              <a:ext uri="{FF2B5EF4-FFF2-40B4-BE49-F238E27FC236}">
                <a16:creationId xmlns:a16="http://schemas.microsoft.com/office/drawing/2014/main" id="{58B7878D-57FD-8A41-8E7B-6BF34CB3A771}"/>
              </a:ext>
            </a:extLst>
          </p:cNvPr>
          <p:cNvSpPr>
            <a:spLocks/>
          </p:cNvSpPr>
          <p:nvPr/>
        </p:nvSpPr>
        <p:spPr bwMode="auto">
          <a:xfrm>
            <a:off x="2072458" y="2467232"/>
            <a:ext cx="5361311" cy="2208524"/>
          </a:xfrm>
          <a:custGeom>
            <a:avLst/>
            <a:gdLst>
              <a:gd name="T0" fmla="*/ 0 w 4219"/>
              <a:gd name="T1" fmla="*/ 2147483647 h 1928"/>
              <a:gd name="T2" fmla="*/ 2147483647 w 4219"/>
              <a:gd name="T3" fmla="*/ 0 h 1928"/>
              <a:gd name="T4" fmla="*/ 2147483647 w 4219"/>
              <a:gd name="T5" fmla="*/ 2147483647 h 1928"/>
              <a:gd name="T6" fmla="*/ 2147483647 w 4219"/>
              <a:gd name="T7" fmla="*/ 2147483647 h 1928"/>
              <a:gd name="T8" fmla="*/ 0 60000 65536"/>
              <a:gd name="T9" fmla="*/ 0 60000 65536"/>
              <a:gd name="T10" fmla="*/ 0 60000 65536"/>
              <a:gd name="T11" fmla="*/ 0 60000 65536"/>
              <a:gd name="connsiteX0" fmla="*/ 0 w 10000"/>
              <a:gd name="connsiteY0" fmla="*/ 52 h 10000"/>
              <a:gd name="connsiteX1" fmla="*/ 2377 w 10000"/>
              <a:gd name="connsiteY1" fmla="*/ 0 h 10000"/>
              <a:gd name="connsiteX2" fmla="*/ 8009 w 10000"/>
              <a:gd name="connsiteY2" fmla="*/ 9621 h 10000"/>
              <a:gd name="connsiteX3" fmla="*/ 10000 w 10000"/>
              <a:gd name="connsiteY3" fmla="*/ 10000 h 10000"/>
              <a:gd name="connsiteX0" fmla="*/ 0 w 10673"/>
              <a:gd name="connsiteY0" fmla="*/ 52 h 9621"/>
              <a:gd name="connsiteX1" fmla="*/ 2377 w 10673"/>
              <a:gd name="connsiteY1" fmla="*/ 0 h 9621"/>
              <a:gd name="connsiteX2" fmla="*/ 8009 w 10673"/>
              <a:gd name="connsiteY2" fmla="*/ 9621 h 9621"/>
              <a:gd name="connsiteX3" fmla="*/ 10673 w 10673"/>
              <a:gd name="connsiteY3" fmla="*/ 9621 h 9621"/>
            </a:gdLst>
            <a:ahLst/>
            <a:cxnLst>
              <a:cxn ang="0">
                <a:pos x="connsiteX0" y="connsiteY0"/>
              </a:cxn>
              <a:cxn ang="0">
                <a:pos x="connsiteX1" y="connsiteY1"/>
              </a:cxn>
              <a:cxn ang="0">
                <a:pos x="connsiteX2" y="connsiteY2"/>
              </a:cxn>
              <a:cxn ang="0">
                <a:pos x="connsiteX3" y="connsiteY3"/>
              </a:cxn>
            </a:cxnLst>
            <a:rect l="l" t="t" r="r" b="b"/>
            <a:pathLst>
              <a:path w="10673" h="9621">
                <a:moveTo>
                  <a:pt x="0" y="52"/>
                </a:moveTo>
                <a:lnTo>
                  <a:pt x="2377" y="0"/>
                </a:lnTo>
                <a:lnTo>
                  <a:pt x="8009" y="9621"/>
                </a:lnTo>
                <a:lnTo>
                  <a:pt x="10673" y="962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72" name="Group 38">
            <a:extLst>
              <a:ext uri="{FF2B5EF4-FFF2-40B4-BE49-F238E27FC236}">
                <a16:creationId xmlns:a16="http://schemas.microsoft.com/office/drawing/2014/main" id="{81979E69-43B0-224E-AEE7-932D8FB25EC5}"/>
              </a:ext>
            </a:extLst>
          </p:cNvPr>
          <p:cNvGrpSpPr>
            <a:grpSpLocks/>
          </p:cNvGrpSpPr>
          <p:nvPr/>
        </p:nvGrpSpPr>
        <p:grpSpPr bwMode="auto">
          <a:xfrm>
            <a:off x="1574776" y="2587486"/>
            <a:ext cx="1000125" cy="753665"/>
            <a:chOff x="220" y="1365"/>
            <a:chExt cx="840" cy="633"/>
          </a:xfrm>
        </p:grpSpPr>
        <p:sp>
          <p:nvSpPr>
            <p:cNvPr id="73" name="Line 39">
              <a:extLst>
                <a:ext uri="{FF2B5EF4-FFF2-40B4-BE49-F238E27FC236}">
                  <a16:creationId xmlns:a16="http://schemas.microsoft.com/office/drawing/2014/main" id="{021756D2-A025-CF41-A055-C96F4929A19F}"/>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07" name="Oval 40">
              <a:extLst>
                <a:ext uri="{FF2B5EF4-FFF2-40B4-BE49-F238E27FC236}">
                  <a16:creationId xmlns:a16="http://schemas.microsoft.com/office/drawing/2014/main" id="{34F50062-00A1-4541-B9F4-BEF323F05F2D}"/>
                </a:ext>
              </a:extLst>
            </p:cNvPr>
            <p:cNvSpPr>
              <a:spLocks noChangeArrowheads="1"/>
            </p:cNvSpPr>
            <p:nvPr/>
          </p:nvSpPr>
          <p:spPr bwMode="auto">
            <a:xfrm>
              <a:off x="439" y="1392"/>
              <a:ext cx="621" cy="606"/>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grpSp>
      <p:sp>
        <p:nvSpPr>
          <p:cNvPr id="108" name="Oval 41">
            <a:extLst>
              <a:ext uri="{FF2B5EF4-FFF2-40B4-BE49-F238E27FC236}">
                <a16:creationId xmlns:a16="http://schemas.microsoft.com/office/drawing/2014/main" id="{9AEB6601-DAB8-A041-9DF0-30C886DDBE6D}"/>
              </a:ext>
            </a:extLst>
          </p:cNvPr>
          <p:cNvSpPr>
            <a:spLocks noChangeArrowheads="1"/>
          </p:cNvSpPr>
          <p:nvPr/>
        </p:nvSpPr>
        <p:spPr bwMode="auto">
          <a:xfrm>
            <a:off x="3063057" y="2629158"/>
            <a:ext cx="739378" cy="721519"/>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sp>
        <p:nvSpPr>
          <p:cNvPr id="109" name="Line 42">
            <a:extLst>
              <a:ext uri="{FF2B5EF4-FFF2-40B4-BE49-F238E27FC236}">
                <a16:creationId xmlns:a16="http://schemas.microsoft.com/office/drawing/2014/main" id="{2CE2B382-7E31-324B-8E6C-07DE61767B89}"/>
              </a:ext>
            </a:extLst>
          </p:cNvPr>
          <p:cNvSpPr>
            <a:spLocks noChangeShapeType="1"/>
          </p:cNvSpPr>
          <p:nvPr/>
        </p:nvSpPr>
        <p:spPr bwMode="auto">
          <a:xfrm flipH="1">
            <a:off x="6009854" y="4638932"/>
            <a:ext cx="9525" cy="895350"/>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10" name="Freeform 43">
            <a:extLst>
              <a:ext uri="{FF2B5EF4-FFF2-40B4-BE49-F238E27FC236}">
                <a16:creationId xmlns:a16="http://schemas.microsoft.com/office/drawing/2014/main" id="{A4E624BD-18B7-E144-8B12-E9F34C001BC1}"/>
              </a:ext>
            </a:extLst>
          </p:cNvPr>
          <p:cNvSpPr>
            <a:spLocks/>
          </p:cNvSpPr>
          <p:nvPr/>
        </p:nvSpPr>
        <p:spPr bwMode="auto">
          <a:xfrm>
            <a:off x="1591730" y="3760963"/>
            <a:ext cx="5589699" cy="1811419"/>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684 h 10684"/>
              <a:gd name="connsiteX1" fmla="*/ 7676 w 10000"/>
              <a:gd name="connsiteY1" fmla="*/ 10684 h 10684"/>
              <a:gd name="connsiteX2" fmla="*/ 4167 w 10000"/>
              <a:gd name="connsiteY2" fmla="*/ 0 h 10684"/>
              <a:gd name="connsiteX3" fmla="*/ 0 w 10000"/>
              <a:gd name="connsiteY3" fmla="*/ 684 h 10684"/>
              <a:gd name="connsiteX0" fmla="*/ 11178 w 11178"/>
              <a:gd name="connsiteY0" fmla="*/ 10684 h 10684"/>
              <a:gd name="connsiteX1" fmla="*/ 8854 w 11178"/>
              <a:gd name="connsiteY1" fmla="*/ 10684 h 10684"/>
              <a:gd name="connsiteX2" fmla="*/ 5345 w 11178"/>
              <a:gd name="connsiteY2" fmla="*/ 0 h 10684"/>
              <a:gd name="connsiteX3" fmla="*/ 0 w 11178"/>
              <a:gd name="connsiteY3" fmla="*/ 0 h 10684"/>
            </a:gdLst>
            <a:ahLst/>
            <a:cxnLst>
              <a:cxn ang="0">
                <a:pos x="connsiteX0" y="connsiteY0"/>
              </a:cxn>
              <a:cxn ang="0">
                <a:pos x="connsiteX1" y="connsiteY1"/>
              </a:cxn>
              <a:cxn ang="0">
                <a:pos x="connsiteX2" y="connsiteY2"/>
              </a:cxn>
              <a:cxn ang="0">
                <a:pos x="connsiteX3" y="connsiteY3"/>
              </a:cxn>
            </a:cxnLst>
            <a:rect l="l" t="t" r="r" b="b"/>
            <a:pathLst>
              <a:path w="11178" h="10684">
                <a:moveTo>
                  <a:pt x="11178" y="10684"/>
                </a:moveTo>
                <a:lnTo>
                  <a:pt x="8854" y="10684"/>
                </a:lnTo>
                <a:lnTo>
                  <a:pt x="5345"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111" name="Group 44">
            <a:extLst>
              <a:ext uri="{FF2B5EF4-FFF2-40B4-BE49-F238E27FC236}">
                <a16:creationId xmlns:a16="http://schemas.microsoft.com/office/drawing/2014/main" id="{433B53F6-3987-AD43-823C-811301531A05}"/>
              </a:ext>
            </a:extLst>
          </p:cNvPr>
          <p:cNvGrpSpPr>
            <a:grpSpLocks/>
          </p:cNvGrpSpPr>
          <p:nvPr/>
        </p:nvGrpSpPr>
        <p:grpSpPr bwMode="auto">
          <a:xfrm>
            <a:off x="1574776" y="2587486"/>
            <a:ext cx="1000125" cy="753665"/>
            <a:chOff x="220" y="1365"/>
            <a:chExt cx="840" cy="633"/>
          </a:xfrm>
        </p:grpSpPr>
        <p:sp>
          <p:nvSpPr>
            <p:cNvPr id="112" name="Line 45">
              <a:extLst>
                <a:ext uri="{FF2B5EF4-FFF2-40B4-BE49-F238E27FC236}">
                  <a16:creationId xmlns:a16="http://schemas.microsoft.com/office/drawing/2014/main" id="{4591E5D8-8C29-B847-85FE-27EBA5053B7E}"/>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13" name="Oval 46">
              <a:extLst>
                <a:ext uri="{FF2B5EF4-FFF2-40B4-BE49-F238E27FC236}">
                  <a16:creationId xmlns:a16="http://schemas.microsoft.com/office/drawing/2014/main" id="{611A2C5D-AEE6-DD42-9AF5-7922552584D9}"/>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grpSp>
      <p:sp>
        <p:nvSpPr>
          <p:cNvPr id="114" name="Oval 47">
            <a:extLst>
              <a:ext uri="{FF2B5EF4-FFF2-40B4-BE49-F238E27FC236}">
                <a16:creationId xmlns:a16="http://schemas.microsoft.com/office/drawing/2014/main" id="{14740803-52CF-044E-A44B-1C3382FD69A9}"/>
              </a:ext>
            </a:extLst>
          </p:cNvPr>
          <p:cNvSpPr>
            <a:spLocks noChangeArrowheads="1"/>
          </p:cNvSpPr>
          <p:nvPr/>
        </p:nvSpPr>
        <p:spPr bwMode="auto">
          <a:xfrm>
            <a:off x="3060676" y="2632730"/>
            <a:ext cx="739378" cy="72151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endParaRPr>
          </a:p>
        </p:txBody>
      </p:sp>
      <p:sp>
        <p:nvSpPr>
          <p:cNvPr id="117" name="Text Box 16">
            <a:extLst>
              <a:ext uri="{FF2B5EF4-FFF2-40B4-BE49-F238E27FC236}">
                <a16:creationId xmlns:a16="http://schemas.microsoft.com/office/drawing/2014/main" id="{4960424F-A39C-9F48-B10B-6B92058EBF56}"/>
              </a:ext>
            </a:extLst>
          </p:cNvPr>
          <p:cNvSpPr txBox="1">
            <a:spLocks noChangeArrowheads="1"/>
          </p:cNvSpPr>
          <p:nvPr/>
        </p:nvSpPr>
        <p:spPr bwMode="auto">
          <a:xfrm>
            <a:off x="3966741" y="2657652"/>
            <a:ext cx="2541985"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200" dirty="0">
              <a:solidFill>
                <a:prstClr val="black"/>
              </a:solidFill>
              <a:latin typeface="Times New Roman" panose="02020603050405020304" pitchFamily="18" charset="0"/>
            </a:endParaRPr>
          </a:p>
        </p:txBody>
      </p:sp>
      <p:sp>
        <p:nvSpPr>
          <p:cNvPr id="118" name="Text Box 20">
            <a:extLst>
              <a:ext uri="{FF2B5EF4-FFF2-40B4-BE49-F238E27FC236}">
                <a16:creationId xmlns:a16="http://schemas.microsoft.com/office/drawing/2014/main" id="{F83C8E12-3B9E-D846-B39E-2D62F350B930}"/>
              </a:ext>
            </a:extLst>
          </p:cNvPr>
          <p:cNvSpPr txBox="1">
            <a:spLocks noChangeArrowheads="1"/>
          </p:cNvSpPr>
          <p:nvPr/>
        </p:nvSpPr>
        <p:spPr bwMode="auto">
          <a:xfrm>
            <a:off x="6245673" y="2897650"/>
            <a:ext cx="2541985" cy="234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corrupt(rcvpkt)</a:t>
            </a:r>
            <a:endParaRPr lang="en-US" altLang="en-US" sz="1200" dirty="0">
              <a:solidFill>
                <a:prstClr val="black"/>
              </a:solidFill>
              <a:latin typeface="Times New Roman" panose="02020603050405020304" pitchFamily="18" charset="0"/>
            </a:endParaRPr>
          </a:p>
        </p:txBody>
      </p:sp>
      <p:grpSp>
        <p:nvGrpSpPr>
          <p:cNvPr id="124" name="Group 123">
            <a:extLst>
              <a:ext uri="{FF2B5EF4-FFF2-40B4-BE49-F238E27FC236}">
                <a16:creationId xmlns:a16="http://schemas.microsoft.com/office/drawing/2014/main" id="{CC5AC3F7-1DB3-CE4F-B0C7-F20072FBA703}"/>
              </a:ext>
            </a:extLst>
          </p:cNvPr>
          <p:cNvGrpSpPr/>
          <p:nvPr/>
        </p:nvGrpSpPr>
        <p:grpSpPr>
          <a:xfrm>
            <a:off x="1703556" y="3321269"/>
            <a:ext cx="2661047" cy="766554"/>
            <a:chOff x="2270357" y="3283338"/>
            <a:chExt cx="3548062" cy="1022072"/>
          </a:xfrm>
        </p:grpSpPr>
        <p:sp>
          <p:nvSpPr>
            <p:cNvPr id="125" name="Freeform 11">
              <a:extLst>
                <a:ext uri="{FF2B5EF4-FFF2-40B4-BE49-F238E27FC236}">
                  <a16:creationId xmlns:a16="http://schemas.microsoft.com/office/drawing/2014/main" id="{1ECBB11C-9731-AE49-85C4-CC54A9C37108}"/>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a:t>
              </a:r>
            </a:p>
          </p:txBody>
        </p:sp>
        <p:grpSp>
          <p:nvGrpSpPr>
            <p:cNvPr id="126" name="Group 125">
              <a:extLst>
                <a:ext uri="{FF2B5EF4-FFF2-40B4-BE49-F238E27FC236}">
                  <a16:creationId xmlns:a16="http://schemas.microsoft.com/office/drawing/2014/main" id="{803199FB-D06E-3542-B988-7EB9CD9168D8}"/>
                </a:ext>
              </a:extLst>
            </p:cNvPr>
            <p:cNvGrpSpPr/>
            <p:nvPr/>
          </p:nvGrpSpPr>
          <p:grpSpPr>
            <a:xfrm>
              <a:off x="2270357" y="3545923"/>
              <a:ext cx="3548062" cy="759487"/>
              <a:chOff x="2270357" y="3545923"/>
              <a:chExt cx="3548062" cy="759487"/>
            </a:xfrm>
          </p:grpSpPr>
          <p:sp>
            <p:nvSpPr>
              <p:cNvPr id="127" name="Text Box 12">
                <a:extLst>
                  <a:ext uri="{FF2B5EF4-FFF2-40B4-BE49-F238E27FC236}">
                    <a16:creationId xmlns:a16="http://schemas.microsoft.com/office/drawing/2014/main" id="{E0CFEDE3-2A91-2845-ABA4-C03E7492EE81}"/>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isACK(rcvpkt)</a:t>
                </a:r>
                <a:endParaRPr lang="en-US" altLang="en-US" sz="1200" dirty="0">
                  <a:solidFill>
                    <a:prstClr val="black"/>
                  </a:solidFill>
                  <a:latin typeface="Times New Roman" panose="02020603050405020304" pitchFamily="18" charset="0"/>
                </a:endParaRPr>
              </a:p>
            </p:txBody>
          </p:sp>
          <p:sp>
            <p:nvSpPr>
              <p:cNvPr id="128" name="Line 13">
                <a:extLst>
                  <a:ext uri="{FF2B5EF4-FFF2-40B4-BE49-F238E27FC236}">
                    <a16:creationId xmlns:a16="http://schemas.microsoft.com/office/drawing/2014/main" id="{332EC257-20A6-9B48-A641-8E69142E58DC}"/>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29" name="Text Box 48">
                <a:extLst>
                  <a:ext uri="{FF2B5EF4-FFF2-40B4-BE49-F238E27FC236}">
                    <a16:creationId xmlns:a16="http://schemas.microsoft.com/office/drawing/2014/main" id="{BC7A4A01-571A-C94B-BAEC-EA73E5A39295}"/>
                  </a:ext>
                </a:extLst>
              </p:cNvPr>
              <p:cNvSpPr txBox="1">
                <a:spLocks noChangeArrowheads="1"/>
              </p:cNvSpPr>
              <p:nvPr/>
            </p:nvSpPr>
            <p:spPr bwMode="auto">
              <a:xfrm>
                <a:off x="3665151" y="3936078"/>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200" dirty="0">
                    <a:solidFill>
                      <a:prstClr val="black"/>
                    </a:solidFill>
                    <a:latin typeface="Symbol" charset="0"/>
                  </a:rPr>
                  <a:t>L</a:t>
                </a:r>
              </a:p>
            </p:txBody>
          </p:sp>
        </p:grpSp>
      </p:grpSp>
      <p:grpSp>
        <p:nvGrpSpPr>
          <p:cNvPr id="130" name="Group 129">
            <a:extLst>
              <a:ext uri="{FF2B5EF4-FFF2-40B4-BE49-F238E27FC236}">
                <a16:creationId xmlns:a16="http://schemas.microsoft.com/office/drawing/2014/main" id="{5E324CA8-B37F-8C4E-9533-D4557801C16E}"/>
              </a:ext>
            </a:extLst>
          </p:cNvPr>
          <p:cNvGrpSpPr/>
          <p:nvPr/>
        </p:nvGrpSpPr>
        <p:grpSpPr>
          <a:xfrm>
            <a:off x="6037238" y="4635378"/>
            <a:ext cx="3106762" cy="700187"/>
            <a:chOff x="8049650" y="5037504"/>
            <a:chExt cx="4142349" cy="933582"/>
          </a:xfrm>
        </p:grpSpPr>
        <p:sp>
          <p:nvSpPr>
            <p:cNvPr id="131" name="Text Box 7">
              <a:extLst>
                <a:ext uri="{FF2B5EF4-FFF2-40B4-BE49-F238E27FC236}">
                  <a16:creationId xmlns:a16="http://schemas.microsoft.com/office/drawing/2014/main" id="{723DBA89-E099-1146-9344-FD97D358659B}"/>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extract(rcvpkt,data)</a:t>
              </a:r>
            </a:p>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deliver_data(data)</a:t>
              </a:r>
            </a:p>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udt_send(ACK)</a:t>
              </a:r>
              <a:endParaRPr lang="en-US" altLang="en-US" sz="1200" dirty="0">
                <a:solidFill>
                  <a:prstClr val="black"/>
                </a:solidFill>
                <a:latin typeface="Times New Roman" panose="02020603050405020304" pitchFamily="18" charset="0"/>
              </a:endParaRPr>
            </a:p>
          </p:txBody>
        </p:sp>
        <p:sp>
          <p:nvSpPr>
            <p:cNvPr id="132" name="Text Box 8">
              <a:extLst>
                <a:ext uri="{FF2B5EF4-FFF2-40B4-BE49-F238E27FC236}">
                  <a16:creationId xmlns:a16="http://schemas.microsoft.com/office/drawing/2014/main" id="{05CEFA42-064E-3142-841C-4AC47C36BCC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notcorrupt(rcvpkt)</a:t>
              </a:r>
              <a:endParaRPr lang="en-US" altLang="en-US" sz="1200" dirty="0">
                <a:solidFill>
                  <a:prstClr val="black"/>
                </a:solidFill>
                <a:latin typeface="Times New Roman" panose="02020603050405020304" pitchFamily="18" charset="0"/>
              </a:endParaRPr>
            </a:p>
          </p:txBody>
        </p:sp>
        <p:sp>
          <p:nvSpPr>
            <p:cNvPr id="133" name="Line 9">
              <a:extLst>
                <a:ext uri="{FF2B5EF4-FFF2-40B4-BE49-F238E27FC236}">
                  <a16:creationId xmlns:a16="http://schemas.microsoft.com/office/drawing/2014/main" id="{0872816E-A3BC-B14C-B375-097293AE6178}"/>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134" name="Text Box 19">
            <a:extLst>
              <a:ext uri="{FF2B5EF4-FFF2-40B4-BE49-F238E27FC236}">
                <a16:creationId xmlns:a16="http://schemas.microsoft.com/office/drawing/2014/main" id="{55D8DBB5-D62B-EB4E-B678-676582C50DB5}"/>
              </a:ext>
            </a:extLst>
          </p:cNvPr>
          <p:cNvSpPr txBox="1">
            <a:spLocks noChangeArrowheads="1"/>
          </p:cNvSpPr>
          <p:nvPr/>
        </p:nvSpPr>
        <p:spPr bwMode="auto">
          <a:xfrm>
            <a:off x="845309" y="2745543"/>
            <a:ext cx="87075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800" kern="0" dirty="0">
                <a:solidFill>
                  <a:srgbClr val="CC0000"/>
                </a:solidFill>
              </a:rPr>
              <a:t>sender</a:t>
            </a:r>
          </a:p>
        </p:txBody>
      </p:sp>
      <p:sp>
        <p:nvSpPr>
          <p:cNvPr id="135" name="Text Box 20">
            <a:extLst>
              <a:ext uri="{FF2B5EF4-FFF2-40B4-BE49-F238E27FC236}">
                <a16:creationId xmlns:a16="http://schemas.microsoft.com/office/drawing/2014/main" id="{6A4DBB19-70E8-BE4F-86ED-46D7FF5489BB}"/>
              </a:ext>
            </a:extLst>
          </p:cNvPr>
          <p:cNvSpPr txBox="1">
            <a:spLocks noChangeArrowheads="1"/>
          </p:cNvSpPr>
          <p:nvPr/>
        </p:nvSpPr>
        <p:spPr bwMode="auto">
          <a:xfrm>
            <a:off x="7218150" y="3828116"/>
            <a:ext cx="99097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800" kern="0" dirty="0">
                <a:solidFill>
                  <a:srgbClr val="CC0000"/>
                </a:solidFill>
              </a:rPr>
              <a:t>receiver</a:t>
            </a:r>
          </a:p>
        </p:txBody>
      </p:sp>
      <p:sp>
        <p:nvSpPr>
          <p:cNvPr id="74" name="Text Box 16">
            <a:extLst>
              <a:ext uri="{FF2B5EF4-FFF2-40B4-BE49-F238E27FC236}">
                <a16:creationId xmlns:a16="http://schemas.microsoft.com/office/drawing/2014/main" id="{312C203B-3A0A-BD4E-8578-6F37A2E7EB80}"/>
              </a:ext>
            </a:extLst>
          </p:cNvPr>
          <p:cNvSpPr txBox="1">
            <a:spLocks noChangeArrowheads="1"/>
          </p:cNvSpPr>
          <p:nvPr/>
        </p:nvSpPr>
        <p:spPr bwMode="auto">
          <a:xfrm>
            <a:off x="3966358" y="2473186"/>
            <a:ext cx="1564481"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rdt_rcv(rcvpkt) &amp;&amp;</a:t>
            </a:r>
          </a:p>
          <a:p>
            <a:pPr defTabSz="685800">
              <a:defRPr/>
            </a:pPr>
            <a:r>
              <a:rPr lang="en-US" altLang="en-US" sz="1200" dirty="0">
                <a:solidFill>
                  <a:srgbClr val="000000"/>
                </a:solidFill>
                <a:latin typeface="Arial" panose="020B0604020202020204" pitchFamily="34" charset="0"/>
              </a:rPr>
              <a:t>   isNAK(rcvpkt)</a:t>
            </a:r>
            <a:endParaRPr lang="en-US" altLang="en-US" sz="1200" dirty="0">
              <a:solidFill>
                <a:srgbClr val="000000"/>
              </a:solidFill>
              <a:latin typeface="Times New Roman" panose="02020603050405020304" pitchFamily="18" charset="0"/>
            </a:endParaRPr>
          </a:p>
        </p:txBody>
      </p:sp>
      <p:sp>
        <p:nvSpPr>
          <p:cNvPr id="75" name="Slide Number Placeholder 2">
            <a:extLst>
              <a:ext uri="{FF2B5EF4-FFF2-40B4-BE49-F238E27FC236}">
                <a16:creationId xmlns:a16="http://schemas.microsoft.com/office/drawing/2014/main" id="{70847C17-240C-8943-BAC9-8DEDA07FFF59}"/>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39</a:t>
            </a:fld>
            <a:endParaRPr lang="en-US" dirty="0"/>
          </a:p>
        </p:txBody>
      </p:sp>
    </p:spTree>
    <p:extLst>
      <p:ext uri="{BB962C8B-B14F-4D97-AF65-F5344CB8AC3E}">
        <p14:creationId xmlns:p14="http://schemas.microsoft.com/office/powerpoint/2010/main" val="74147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dissolve">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dissolve">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wipe(up)">
                                      <p:cBhvr>
                                        <p:cTn id="17" dur="1000"/>
                                        <p:tgtEl>
                                          <p:spTgt spid="70"/>
                                        </p:tgtEl>
                                      </p:cBhvr>
                                    </p:animEffect>
                                  </p:childTnLst>
                                  <p:subTnLst>
                                    <p:set>
                                      <p:cBhvr override="childStyle">
                                        <p:cTn dur="1" fill="hold" display="0" masterRel="nextClick" afterEffect="1"/>
                                        <p:tgtEl>
                                          <p:spTgt spid="70"/>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left)">
                                      <p:cBhvr>
                                        <p:cTn id="22" dur="1000"/>
                                        <p:tgtEl>
                                          <p:spTgt spid="71"/>
                                        </p:tgtEl>
                                      </p:cBhvr>
                                    </p:animEffect>
                                  </p:childTnLst>
                                  <p:subTnLst>
                                    <p:set>
                                      <p:cBhvr override="childStyle">
                                        <p:cTn dur="1" fill="hold" display="0" masterRel="nextClick" afterEffect="1"/>
                                        <p:tgtEl>
                                          <p:spTgt spid="71"/>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09"/>
                                        </p:tgtEl>
                                        <p:attrNameLst>
                                          <p:attrName>style.visibility</p:attrName>
                                        </p:attrNameLst>
                                      </p:cBhvr>
                                      <p:to>
                                        <p:strVal val="visible"/>
                                      </p:to>
                                    </p:set>
                                    <p:animEffect transition="in" filter="wipe(up)">
                                      <p:cBhvr>
                                        <p:cTn id="31" dur="1000"/>
                                        <p:tgtEl>
                                          <p:spTgt spid="109"/>
                                        </p:tgtEl>
                                      </p:cBhvr>
                                    </p:animEffect>
                                  </p:childTnLst>
                                  <p:subTnLst>
                                    <p:set>
                                      <p:cBhvr override="childStyle">
                                        <p:cTn dur="1" fill="hold" display="0" masterRel="nextClick" afterEffect="1"/>
                                        <p:tgtEl>
                                          <p:spTgt spid="109"/>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10"/>
                                        </p:tgtEl>
                                        <p:attrNameLst>
                                          <p:attrName>style.visibility</p:attrName>
                                        </p:attrNameLst>
                                      </p:cBhvr>
                                      <p:to>
                                        <p:strVal val="visible"/>
                                      </p:to>
                                    </p:set>
                                    <p:animEffect transition="in" filter="wipe(right)">
                                      <p:cBhvr>
                                        <p:cTn id="36" dur="1000"/>
                                        <p:tgtEl>
                                          <p:spTgt spid="110"/>
                                        </p:tgtEl>
                                      </p:cBhvr>
                                    </p:animEffect>
                                  </p:childTnLst>
                                  <p:subTnLst>
                                    <p:set>
                                      <p:cBhvr override="childStyle">
                                        <p:cTn dur="1" fill="hold" display="0" masterRel="sameClick" afterEffect="1">
                                          <p:stCondLst>
                                            <p:cond evt="end" delay="0">
                                              <p:tn val="34"/>
                                            </p:cond>
                                          </p:stCondLst>
                                        </p:cTn>
                                        <p:tgtEl>
                                          <p:spTgt spid="110"/>
                                        </p:tgtEl>
                                        <p:attrNameLst>
                                          <p:attrName>style.visibility</p:attrName>
                                        </p:attrNameLst>
                                      </p:cBhvr>
                                      <p:to>
                                        <p:strVal val="hidden"/>
                                      </p:to>
                                    </p:set>
                                  </p:subTnLst>
                                </p:cTn>
                              </p:par>
                            </p:childTnLst>
                          </p:cTn>
                        </p:par>
                        <p:par>
                          <p:cTn id="37" fill="hold">
                            <p:stCondLst>
                              <p:cond delay="1000"/>
                            </p:stCondLst>
                            <p:childTnLst>
                              <p:par>
                                <p:cTn id="38" presetID="1" presetClass="entr" presetSubtype="0" fill="hold" nodeType="afterEffect">
                                  <p:stCondLst>
                                    <p:cond delay="0"/>
                                  </p:stCondLst>
                                  <p:childTnLst>
                                    <p:set>
                                      <p:cBhvr>
                                        <p:cTn id="39" dur="1" fill="hold">
                                          <p:stCondLst>
                                            <p:cond delay="0"/>
                                          </p:stCondLst>
                                        </p:cTn>
                                        <p:tgtEl>
                                          <p:spTgt spid="11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14"/>
                                        </p:tgtEl>
                                        <p:attrNameLst>
                                          <p:attrName>style.visibility</p:attrName>
                                        </p:attrNameLst>
                                      </p:cBhvr>
                                      <p:to>
                                        <p:strVal val="visible"/>
                                      </p:to>
                                    </p:set>
                                  </p:childTnLst>
                                </p:cTn>
                              </p:par>
                              <p:par>
                                <p:cTn id="42" presetID="1" presetClass="entr" presetSubtype="0" fill="hold" grpId="1" nodeType="withEffect">
                                  <p:stCondLst>
                                    <p:cond delay="0"/>
                                  </p:stCondLst>
                                  <p:childTnLst>
                                    <p:set>
                                      <p:cBhvr>
                                        <p:cTn id="43"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14" grpId="0" animBg="1"/>
      <p:bldP spid="114"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rdt2.0: corrupted packet scenario</a:t>
            </a:r>
            <a:endParaRPr lang="en-US" dirty="0"/>
          </a:p>
        </p:txBody>
      </p:sp>
      <p:sp>
        <p:nvSpPr>
          <p:cNvPr id="133" name="Oval 3">
            <a:extLst>
              <a:ext uri="{FF2B5EF4-FFF2-40B4-BE49-F238E27FC236}">
                <a16:creationId xmlns:a16="http://schemas.microsoft.com/office/drawing/2014/main" id="{69A00FB9-348A-D448-9793-795F22B57161}"/>
              </a:ext>
            </a:extLst>
          </p:cNvPr>
          <p:cNvSpPr>
            <a:spLocks noChangeArrowheads="1"/>
          </p:cNvSpPr>
          <p:nvPr/>
        </p:nvSpPr>
        <p:spPr bwMode="auto">
          <a:xfrm>
            <a:off x="1836330" y="2619633"/>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134" name="Text Box 4">
            <a:extLst>
              <a:ext uri="{FF2B5EF4-FFF2-40B4-BE49-F238E27FC236}">
                <a16:creationId xmlns:a16="http://schemas.microsoft.com/office/drawing/2014/main" id="{77096BA8-8AE7-EA4F-B0FD-7469803EAB64}"/>
              </a:ext>
            </a:extLst>
          </p:cNvPr>
          <p:cNvSpPr txBox="1">
            <a:spLocks noChangeArrowheads="1"/>
          </p:cNvSpPr>
          <p:nvPr/>
        </p:nvSpPr>
        <p:spPr bwMode="auto">
          <a:xfrm>
            <a:off x="1760130" y="2682736"/>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srgbClr val="000000"/>
                </a:solidFill>
                <a:latin typeface="Arial" panose="020B0604020202020204" pitchFamily="34" charset="0"/>
              </a:rPr>
              <a:t>Wait for call from above</a:t>
            </a:r>
            <a:endParaRPr lang="en-US" altLang="en-US" sz="1200" dirty="0">
              <a:solidFill>
                <a:srgbClr val="000000"/>
              </a:solidFill>
              <a:latin typeface="Times New Roman" panose="02020603050405020304" pitchFamily="18" charset="0"/>
            </a:endParaRPr>
          </a:p>
        </p:txBody>
      </p:sp>
      <p:sp>
        <p:nvSpPr>
          <p:cNvPr id="135" name="Text Box 5">
            <a:extLst>
              <a:ext uri="{FF2B5EF4-FFF2-40B4-BE49-F238E27FC236}">
                <a16:creationId xmlns:a16="http://schemas.microsoft.com/office/drawing/2014/main" id="{D6DC2F34-5901-DE44-A6E9-F9649709412A}"/>
              </a:ext>
            </a:extLst>
          </p:cNvPr>
          <p:cNvSpPr txBox="1">
            <a:spLocks noChangeArrowheads="1"/>
          </p:cNvSpPr>
          <p:nvPr/>
        </p:nvSpPr>
        <p:spPr bwMode="auto">
          <a:xfrm>
            <a:off x="2067311" y="2080279"/>
            <a:ext cx="2732484"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snkpkt = make_pkt(data, checksum)</a:t>
            </a:r>
          </a:p>
          <a:p>
            <a:pPr defTabSz="685800">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sp>
        <p:nvSpPr>
          <p:cNvPr id="136" name="Line 6">
            <a:extLst>
              <a:ext uri="{FF2B5EF4-FFF2-40B4-BE49-F238E27FC236}">
                <a16:creationId xmlns:a16="http://schemas.microsoft.com/office/drawing/2014/main" id="{D357F502-19B9-7A40-B1E5-CD7250CA97C6}"/>
              </a:ext>
            </a:extLst>
          </p:cNvPr>
          <p:cNvSpPr>
            <a:spLocks noChangeShapeType="1"/>
          </p:cNvSpPr>
          <p:nvPr/>
        </p:nvSpPr>
        <p:spPr bwMode="auto">
          <a:xfrm>
            <a:off x="2145893" y="2113617"/>
            <a:ext cx="7429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40" name="Freeform 10">
            <a:extLst>
              <a:ext uri="{FF2B5EF4-FFF2-40B4-BE49-F238E27FC236}">
                <a16:creationId xmlns:a16="http://schemas.microsoft.com/office/drawing/2014/main" id="{3ADC35A3-77A4-3D42-9882-FB506CCCFA61}"/>
              </a:ext>
            </a:extLst>
          </p:cNvPr>
          <p:cNvSpPr>
            <a:spLocks/>
          </p:cNvSpPr>
          <p:nvPr/>
        </p:nvSpPr>
        <p:spPr bwMode="auto">
          <a:xfrm flipV="1">
            <a:off x="2106602" y="2446992"/>
            <a:ext cx="1350169" cy="18573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41" name="Freeform 11">
            <a:extLst>
              <a:ext uri="{FF2B5EF4-FFF2-40B4-BE49-F238E27FC236}">
                <a16:creationId xmlns:a16="http://schemas.microsoft.com/office/drawing/2014/main" id="{3907903E-8186-0B48-B29F-40C6FD559F99}"/>
              </a:ext>
            </a:extLst>
          </p:cNvPr>
          <p:cNvSpPr>
            <a:spLocks/>
          </p:cNvSpPr>
          <p:nvPr/>
        </p:nvSpPr>
        <p:spPr bwMode="auto">
          <a:xfrm>
            <a:off x="2142321" y="3317338"/>
            <a:ext cx="1350169" cy="18573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44" name="Freeform 14">
            <a:extLst>
              <a:ext uri="{FF2B5EF4-FFF2-40B4-BE49-F238E27FC236}">
                <a16:creationId xmlns:a16="http://schemas.microsoft.com/office/drawing/2014/main" id="{C5D67D61-82E5-5642-B2D5-452A20671145}"/>
              </a:ext>
            </a:extLst>
          </p:cNvPr>
          <p:cNvSpPr>
            <a:spLocks/>
          </p:cNvSpPr>
          <p:nvPr/>
        </p:nvSpPr>
        <p:spPr bwMode="auto">
          <a:xfrm>
            <a:off x="3753237" y="2676783"/>
            <a:ext cx="350044" cy="670322"/>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45" name="Text Box 15">
            <a:extLst>
              <a:ext uri="{FF2B5EF4-FFF2-40B4-BE49-F238E27FC236}">
                <a16:creationId xmlns:a16="http://schemas.microsoft.com/office/drawing/2014/main" id="{7BABC5B8-9BD6-F145-8E9A-0912B8AEEF10}"/>
              </a:ext>
            </a:extLst>
          </p:cNvPr>
          <p:cNvSpPr txBox="1">
            <a:spLocks noChangeArrowheads="1"/>
          </p:cNvSpPr>
          <p:nvPr/>
        </p:nvSpPr>
        <p:spPr bwMode="auto">
          <a:xfrm>
            <a:off x="3985408" y="2912526"/>
            <a:ext cx="1322785"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sp>
        <p:nvSpPr>
          <p:cNvPr id="146" name="Text Box 16">
            <a:extLst>
              <a:ext uri="{FF2B5EF4-FFF2-40B4-BE49-F238E27FC236}">
                <a16:creationId xmlns:a16="http://schemas.microsoft.com/office/drawing/2014/main" id="{BE38BF73-5EF1-6B42-B012-9E244200F5F0}"/>
              </a:ext>
            </a:extLst>
          </p:cNvPr>
          <p:cNvSpPr txBox="1">
            <a:spLocks noChangeArrowheads="1"/>
          </p:cNvSpPr>
          <p:nvPr/>
        </p:nvSpPr>
        <p:spPr bwMode="auto">
          <a:xfrm>
            <a:off x="3966358" y="2473186"/>
            <a:ext cx="1564481"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rdt_rcv(rcvpkt) &amp;&amp;</a:t>
            </a:r>
          </a:p>
          <a:p>
            <a:pPr defTabSz="685800">
              <a:defRPr/>
            </a:pPr>
            <a:r>
              <a:rPr lang="en-US" altLang="en-US" sz="1200" dirty="0">
                <a:solidFill>
                  <a:srgbClr val="000000"/>
                </a:solidFill>
                <a:latin typeface="Arial" panose="020B0604020202020204" pitchFamily="34" charset="0"/>
              </a:rPr>
              <a:t>   isNAK(rcvpkt)</a:t>
            </a:r>
            <a:endParaRPr lang="en-US" altLang="en-US" sz="1200" dirty="0">
              <a:solidFill>
                <a:srgbClr val="000000"/>
              </a:solidFill>
              <a:latin typeface="Times New Roman" panose="02020603050405020304" pitchFamily="18" charset="0"/>
            </a:endParaRPr>
          </a:p>
        </p:txBody>
      </p:sp>
      <p:sp>
        <p:nvSpPr>
          <p:cNvPr id="147" name="Line 17">
            <a:extLst>
              <a:ext uri="{FF2B5EF4-FFF2-40B4-BE49-F238E27FC236}">
                <a16:creationId xmlns:a16="http://schemas.microsoft.com/office/drawing/2014/main" id="{6082D473-667E-D744-BD55-1C35E0FE8710}"/>
              </a:ext>
            </a:extLst>
          </p:cNvPr>
          <p:cNvSpPr>
            <a:spLocks noChangeShapeType="1"/>
          </p:cNvSpPr>
          <p:nvPr/>
        </p:nvSpPr>
        <p:spPr bwMode="auto">
          <a:xfrm>
            <a:off x="4055655" y="2912526"/>
            <a:ext cx="7429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152" name="Group 22">
            <a:extLst>
              <a:ext uri="{FF2B5EF4-FFF2-40B4-BE49-F238E27FC236}">
                <a16:creationId xmlns:a16="http://schemas.microsoft.com/office/drawing/2014/main" id="{DCE40CB4-F0AE-734E-AA44-08F29CD02D52}"/>
              </a:ext>
            </a:extLst>
          </p:cNvPr>
          <p:cNvGrpSpPr>
            <a:grpSpLocks/>
          </p:cNvGrpSpPr>
          <p:nvPr/>
        </p:nvGrpSpPr>
        <p:grpSpPr bwMode="auto">
          <a:xfrm>
            <a:off x="3032908" y="2629158"/>
            <a:ext cx="806054" cy="721519"/>
            <a:chOff x="1540" y="2116"/>
            <a:chExt cx="677" cy="606"/>
          </a:xfrm>
        </p:grpSpPr>
        <p:sp>
          <p:nvSpPr>
            <p:cNvPr id="153" name="Oval 23">
              <a:extLst>
                <a:ext uri="{FF2B5EF4-FFF2-40B4-BE49-F238E27FC236}">
                  <a16:creationId xmlns:a16="http://schemas.microsoft.com/office/drawing/2014/main" id="{D3BB9C31-5D9C-684A-BB70-14F20480A9B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154" name="Text Box 24">
              <a:extLst>
                <a:ext uri="{FF2B5EF4-FFF2-40B4-BE49-F238E27FC236}">
                  <a16:creationId xmlns:a16="http://schemas.microsoft.com/office/drawing/2014/main" id="{7290D8CF-233C-DA4F-8144-17F1D181B533}"/>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kern="0" dirty="0">
                  <a:solidFill>
                    <a:srgbClr val="000000"/>
                  </a:solidFill>
                  <a:latin typeface="Arial" panose="020B0604020202020204" pitchFamily="34" charset="0"/>
                </a:rPr>
                <a:t>Wait for ACK or NAK</a:t>
              </a:r>
              <a:endParaRPr lang="en-US" altLang="en-US" sz="1200" kern="0" dirty="0">
                <a:solidFill>
                  <a:srgbClr val="000000"/>
                </a:solidFill>
                <a:latin typeface="Times New Roman" panose="02020603050405020304" pitchFamily="18" charset="0"/>
              </a:endParaRPr>
            </a:p>
          </p:txBody>
        </p:sp>
      </p:grpSp>
      <p:sp>
        <p:nvSpPr>
          <p:cNvPr id="155" name="Freeform 25">
            <a:extLst>
              <a:ext uri="{FF2B5EF4-FFF2-40B4-BE49-F238E27FC236}">
                <a16:creationId xmlns:a16="http://schemas.microsoft.com/office/drawing/2014/main" id="{1FC9F4AC-60DA-664B-8892-94963AC43A62}"/>
              </a:ext>
            </a:extLst>
          </p:cNvPr>
          <p:cNvSpPr>
            <a:spLocks/>
          </p:cNvSpPr>
          <p:nvPr/>
        </p:nvSpPr>
        <p:spPr bwMode="auto">
          <a:xfrm>
            <a:off x="6317843" y="3323292"/>
            <a:ext cx="942975" cy="352425"/>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56" name="Oval 26">
            <a:extLst>
              <a:ext uri="{FF2B5EF4-FFF2-40B4-BE49-F238E27FC236}">
                <a16:creationId xmlns:a16="http://schemas.microsoft.com/office/drawing/2014/main" id="{C6A7C088-049A-2642-9A7F-7E6B3149EB38}"/>
              </a:ext>
            </a:extLst>
          </p:cNvPr>
          <p:cNvSpPr>
            <a:spLocks noChangeArrowheads="1"/>
          </p:cNvSpPr>
          <p:nvPr/>
        </p:nvSpPr>
        <p:spPr bwMode="auto">
          <a:xfrm>
            <a:off x="6386899" y="3638808"/>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157" name="Text Box 27">
            <a:extLst>
              <a:ext uri="{FF2B5EF4-FFF2-40B4-BE49-F238E27FC236}">
                <a16:creationId xmlns:a16="http://schemas.microsoft.com/office/drawing/2014/main" id="{579E5E2D-B23D-BF43-A731-1D8C59C74825}"/>
              </a:ext>
            </a:extLst>
          </p:cNvPr>
          <p:cNvSpPr txBox="1">
            <a:spLocks noChangeArrowheads="1"/>
          </p:cNvSpPr>
          <p:nvPr/>
        </p:nvSpPr>
        <p:spPr bwMode="auto">
          <a:xfrm>
            <a:off x="6321414" y="3701911"/>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srgbClr val="000000"/>
                </a:solidFill>
                <a:latin typeface="Arial" panose="020B0604020202020204" pitchFamily="34" charset="0"/>
              </a:rPr>
              <a:t>Wait for call from below</a:t>
            </a:r>
            <a:endParaRPr lang="en-US" altLang="en-US" sz="1200" dirty="0">
              <a:solidFill>
                <a:srgbClr val="000000"/>
              </a:solidFill>
              <a:latin typeface="Times New Roman" panose="02020603050405020304" pitchFamily="18" charset="0"/>
            </a:endParaRPr>
          </a:p>
        </p:txBody>
      </p:sp>
      <p:sp>
        <p:nvSpPr>
          <p:cNvPr id="158" name="Freeform 28">
            <a:extLst>
              <a:ext uri="{FF2B5EF4-FFF2-40B4-BE49-F238E27FC236}">
                <a16:creationId xmlns:a16="http://schemas.microsoft.com/office/drawing/2014/main" id="{82DEFCAC-19A6-8E44-8FD1-83883629ABA7}"/>
              </a:ext>
            </a:extLst>
          </p:cNvPr>
          <p:cNvSpPr>
            <a:spLocks/>
          </p:cNvSpPr>
          <p:nvPr/>
        </p:nvSpPr>
        <p:spPr bwMode="auto">
          <a:xfrm flipV="1">
            <a:off x="6327368" y="4300661"/>
            <a:ext cx="942975" cy="352425"/>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159" name="Group 29">
            <a:extLst>
              <a:ext uri="{FF2B5EF4-FFF2-40B4-BE49-F238E27FC236}">
                <a16:creationId xmlns:a16="http://schemas.microsoft.com/office/drawing/2014/main" id="{C486E2AA-5514-8349-8774-4B86574332CB}"/>
              </a:ext>
            </a:extLst>
          </p:cNvPr>
          <p:cNvGrpSpPr>
            <a:grpSpLocks/>
          </p:cNvGrpSpPr>
          <p:nvPr/>
        </p:nvGrpSpPr>
        <p:grpSpPr bwMode="auto">
          <a:xfrm>
            <a:off x="1575583" y="2587486"/>
            <a:ext cx="1000125" cy="753665"/>
            <a:chOff x="220" y="1365"/>
            <a:chExt cx="840" cy="633"/>
          </a:xfrm>
        </p:grpSpPr>
        <p:sp>
          <p:nvSpPr>
            <p:cNvPr id="160" name="Line 30">
              <a:extLst>
                <a:ext uri="{FF2B5EF4-FFF2-40B4-BE49-F238E27FC236}">
                  <a16:creationId xmlns:a16="http://schemas.microsoft.com/office/drawing/2014/main" id="{C0CC58D1-8C84-3E47-909F-D82E63AA1223}"/>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61" name="Oval 31">
              <a:extLst>
                <a:ext uri="{FF2B5EF4-FFF2-40B4-BE49-F238E27FC236}">
                  <a16:creationId xmlns:a16="http://schemas.microsoft.com/office/drawing/2014/main" id="{852C29BD-DA30-1D45-9733-0851CEB0A1B7}"/>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grpSp>
      <p:grpSp>
        <p:nvGrpSpPr>
          <p:cNvPr id="162" name="Group 32">
            <a:extLst>
              <a:ext uri="{FF2B5EF4-FFF2-40B4-BE49-F238E27FC236}">
                <a16:creationId xmlns:a16="http://schemas.microsoft.com/office/drawing/2014/main" id="{A05DCA54-BB9F-EB48-8E9C-19DBD5FE15BE}"/>
              </a:ext>
            </a:extLst>
          </p:cNvPr>
          <p:cNvGrpSpPr>
            <a:grpSpLocks/>
          </p:cNvGrpSpPr>
          <p:nvPr/>
        </p:nvGrpSpPr>
        <p:grpSpPr bwMode="auto">
          <a:xfrm>
            <a:off x="6064240" y="3585229"/>
            <a:ext cx="1060847" cy="775097"/>
            <a:chOff x="3990" y="2203"/>
            <a:chExt cx="891" cy="651"/>
          </a:xfrm>
        </p:grpSpPr>
        <p:sp>
          <p:nvSpPr>
            <p:cNvPr id="163" name="Line 33">
              <a:extLst>
                <a:ext uri="{FF2B5EF4-FFF2-40B4-BE49-F238E27FC236}">
                  <a16:creationId xmlns:a16="http://schemas.microsoft.com/office/drawing/2014/main" id="{E80E2DDF-EEB5-964A-90BC-641CEA2AE378}"/>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64" name="Oval 34">
              <a:extLst>
                <a:ext uri="{FF2B5EF4-FFF2-40B4-BE49-F238E27FC236}">
                  <a16:creationId xmlns:a16="http://schemas.microsoft.com/office/drawing/2014/main" id="{1AD65A4C-E940-0B4D-BFA8-963C7F4DFAD4}"/>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grpSp>
      <p:sp>
        <p:nvSpPr>
          <p:cNvPr id="165" name="Text Box 35">
            <a:extLst>
              <a:ext uri="{FF2B5EF4-FFF2-40B4-BE49-F238E27FC236}">
                <a16:creationId xmlns:a16="http://schemas.microsoft.com/office/drawing/2014/main" id="{EB12FDE8-F0FD-FF44-9743-6CC34031C13C}"/>
              </a:ext>
            </a:extLst>
          </p:cNvPr>
          <p:cNvSpPr txBox="1">
            <a:spLocks noChangeArrowheads="1"/>
          </p:cNvSpPr>
          <p:nvPr/>
        </p:nvSpPr>
        <p:spPr bwMode="auto">
          <a:xfrm>
            <a:off x="2086362" y="1862395"/>
            <a:ext cx="1691878"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rdt_send(data)</a:t>
            </a:r>
            <a:endParaRPr lang="en-US" altLang="en-US" sz="1200" dirty="0">
              <a:solidFill>
                <a:srgbClr val="000000"/>
              </a:solidFill>
              <a:latin typeface="Times New Roman" panose="02020603050405020304" pitchFamily="18" charset="0"/>
            </a:endParaRPr>
          </a:p>
        </p:txBody>
      </p:sp>
      <p:sp>
        <p:nvSpPr>
          <p:cNvPr id="166" name="Line 36">
            <a:extLst>
              <a:ext uri="{FF2B5EF4-FFF2-40B4-BE49-F238E27FC236}">
                <a16:creationId xmlns:a16="http://schemas.microsoft.com/office/drawing/2014/main" id="{EC5F8159-C72E-AD42-9E10-261F73F1A7D7}"/>
              </a:ext>
            </a:extLst>
          </p:cNvPr>
          <p:cNvSpPr>
            <a:spLocks noChangeShapeType="1"/>
          </p:cNvSpPr>
          <p:nvPr/>
        </p:nvSpPr>
        <p:spPr bwMode="auto">
          <a:xfrm>
            <a:off x="2072074" y="1929070"/>
            <a:ext cx="9525" cy="560785"/>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defTabSz="685800">
              <a:defRPr/>
            </a:pPr>
            <a:endParaRPr lang="en-US" sz="1200" dirty="0">
              <a:solidFill>
                <a:srgbClr val="000000"/>
              </a:solidFill>
              <a:latin typeface="Tahoma" charset="0"/>
              <a:ea typeface="ＭＳ Ｐゴシック" charset="0"/>
            </a:endParaRPr>
          </a:p>
        </p:txBody>
      </p:sp>
      <p:sp>
        <p:nvSpPr>
          <p:cNvPr id="167" name="Freeform 37">
            <a:extLst>
              <a:ext uri="{FF2B5EF4-FFF2-40B4-BE49-F238E27FC236}">
                <a16:creationId xmlns:a16="http://schemas.microsoft.com/office/drawing/2014/main" id="{35077D8E-9690-5846-914B-870B57CBFFC1}"/>
              </a:ext>
            </a:extLst>
          </p:cNvPr>
          <p:cNvSpPr>
            <a:spLocks/>
          </p:cNvSpPr>
          <p:nvPr/>
        </p:nvSpPr>
        <p:spPr bwMode="auto">
          <a:xfrm>
            <a:off x="2072074" y="2467232"/>
            <a:ext cx="5205413" cy="490538"/>
          </a:xfrm>
          <a:custGeom>
            <a:avLst/>
            <a:gdLst>
              <a:gd name="T0" fmla="*/ 0 w 4372"/>
              <a:gd name="T1" fmla="*/ 2147483647 h 412"/>
              <a:gd name="T2" fmla="*/ 2147483647 w 4372"/>
              <a:gd name="T3" fmla="*/ 0 h 412"/>
              <a:gd name="T4" fmla="*/ 2147483647 w 4372"/>
              <a:gd name="T5" fmla="*/ 2147483647 h 412"/>
              <a:gd name="T6" fmla="*/ 2147483647 w 4372"/>
              <a:gd name="T7" fmla="*/ 2147483647 h 4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72" h="412">
                <a:moveTo>
                  <a:pt x="0" y="10"/>
                </a:moveTo>
                <a:lnTo>
                  <a:pt x="1003" y="0"/>
                </a:lnTo>
                <a:lnTo>
                  <a:pt x="3508" y="412"/>
                </a:lnTo>
                <a:lnTo>
                  <a:pt x="4372" y="412"/>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168" name="Group 38">
            <a:extLst>
              <a:ext uri="{FF2B5EF4-FFF2-40B4-BE49-F238E27FC236}">
                <a16:creationId xmlns:a16="http://schemas.microsoft.com/office/drawing/2014/main" id="{39365D95-8B18-AE4F-9CEC-9330CADCC26B}"/>
              </a:ext>
            </a:extLst>
          </p:cNvPr>
          <p:cNvGrpSpPr>
            <a:grpSpLocks/>
          </p:cNvGrpSpPr>
          <p:nvPr/>
        </p:nvGrpSpPr>
        <p:grpSpPr bwMode="auto">
          <a:xfrm>
            <a:off x="1574393" y="2587486"/>
            <a:ext cx="1000125" cy="753665"/>
            <a:chOff x="220" y="1365"/>
            <a:chExt cx="840" cy="633"/>
          </a:xfrm>
        </p:grpSpPr>
        <p:sp>
          <p:nvSpPr>
            <p:cNvPr id="169" name="Line 39">
              <a:extLst>
                <a:ext uri="{FF2B5EF4-FFF2-40B4-BE49-F238E27FC236}">
                  <a16:creationId xmlns:a16="http://schemas.microsoft.com/office/drawing/2014/main" id="{68593BDB-565B-C544-A698-EAB1100890B7}"/>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70" name="Oval 40">
              <a:extLst>
                <a:ext uri="{FF2B5EF4-FFF2-40B4-BE49-F238E27FC236}">
                  <a16:creationId xmlns:a16="http://schemas.microsoft.com/office/drawing/2014/main" id="{99432816-2BCC-7742-BBCC-636611297B08}"/>
                </a:ext>
              </a:extLst>
            </p:cNvPr>
            <p:cNvSpPr>
              <a:spLocks noChangeArrowheads="1"/>
            </p:cNvSpPr>
            <p:nvPr/>
          </p:nvSpPr>
          <p:spPr bwMode="auto">
            <a:xfrm>
              <a:off x="439" y="1392"/>
              <a:ext cx="621" cy="606"/>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grpSp>
      <p:sp>
        <p:nvSpPr>
          <p:cNvPr id="171" name="Oval 41">
            <a:extLst>
              <a:ext uri="{FF2B5EF4-FFF2-40B4-BE49-F238E27FC236}">
                <a16:creationId xmlns:a16="http://schemas.microsoft.com/office/drawing/2014/main" id="{2992E4B8-7EF2-1A40-9095-9F4F00D2899A}"/>
              </a:ext>
            </a:extLst>
          </p:cNvPr>
          <p:cNvSpPr>
            <a:spLocks noChangeArrowheads="1"/>
          </p:cNvSpPr>
          <p:nvPr/>
        </p:nvSpPr>
        <p:spPr bwMode="auto">
          <a:xfrm>
            <a:off x="3062674" y="2629158"/>
            <a:ext cx="739378" cy="721519"/>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172" name="Line 42">
            <a:extLst>
              <a:ext uri="{FF2B5EF4-FFF2-40B4-BE49-F238E27FC236}">
                <a16:creationId xmlns:a16="http://schemas.microsoft.com/office/drawing/2014/main" id="{FBE55EA3-B145-414B-A6FF-0F0EE400CF3B}"/>
              </a:ext>
            </a:extLst>
          </p:cNvPr>
          <p:cNvSpPr>
            <a:spLocks noChangeShapeType="1"/>
          </p:cNvSpPr>
          <p:nvPr/>
        </p:nvSpPr>
        <p:spPr bwMode="auto">
          <a:xfrm flipH="1">
            <a:off x="6009470" y="4638932"/>
            <a:ext cx="9525" cy="895350"/>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defTabSz="685800">
              <a:defRPr/>
            </a:pPr>
            <a:endParaRPr lang="en-US" sz="1200" dirty="0">
              <a:solidFill>
                <a:srgbClr val="000000"/>
              </a:solidFill>
              <a:latin typeface="Tahoma" charset="0"/>
              <a:ea typeface="ＭＳ Ｐゴシック" charset="0"/>
            </a:endParaRPr>
          </a:p>
        </p:txBody>
      </p:sp>
      <p:sp>
        <p:nvSpPr>
          <p:cNvPr id="173" name="Freeform 43">
            <a:extLst>
              <a:ext uri="{FF2B5EF4-FFF2-40B4-BE49-F238E27FC236}">
                <a16:creationId xmlns:a16="http://schemas.microsoft.com/office/drawing/2014/main" id="{59879249-0649-F24B-B236-6C80F47AAC2E}"/>
              </a:ext>
            </a:extLst>
          </p:cNvPr>
          <p:cNvSpPr>
            <a:spLocks/>
          </p:cNvSpPr>
          <p:nvPr/>
        </p:nvSpPr>
        <p:spPr bwMode="auto">
          <a:xfrm>
            <a:off x="1764973" y="3751420"/>
            <a:ext cx="5454633" cy="1772642"/>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000 h 10000"/>
              <a:gd name="connsiteX1" fmla="*/ 7637 w 10000"/>
              <a:gd name="connsiteY1" fmla="*/ 9715 h 10000"/>
              <a:gd name="connsiteX2" fmla="*/ 4476 w 10000"/>
              <a:gd name="connsiteY2" fmla="*/ 0 h 10000"/>
              <a:gd name="connsiteX3" fmla="*/ 0 w 10000"/>
              <a:gd name="connsiteY3" fmla="*/ 0 h 10000"/>
              <a:gd name="connsiteX0" fmla="*/ 10058 w 10058"/>
              <a:gd name="connsiteY0" fmla="*/ 9601 h 9715"/>
              <a:gd name="connsiteX1" fmla="*/ 7637 w 10058"/>
              <a:gd name="connsiteY1" fmla="*/ 9715 h 9715"/>
              <a:gd name="connsiteX2" fmla="*/ 4476 w 10058"/>
              <a:gd name="connsiteY2" fmla="*/ 0 h 9715"/>
              <a:gd name="connsiteX3" fmla="*/ 0 w 10058"/>
              <a:gd name="connsiteY3" fmla="*/ 0 h 9715"/>
              <a:gd name="connsiteX0" fmla="*/ 10000 w 10000"/>
              <a:gd name="connsiteY0" fmla="*/ 10059 h 10059"/>
              <a:gd name="connsiteX1" fmla="*/ 7593 w 10000"/>
              <a:gd name="connsiteY1" fmla="*/ 10000 h 10059"/>
              <a:gd name="connsiteX2" fmla="*/ 4450 w 10000"/>
              <a:gd name="connsiteY2" fmla="*/ 0 h 10059"/>
              <a:gd name="connsiteX3" fmla="*/ 0 w 10000"/>
              <a:gd name="connsiteY3" fmla="*/ 0 h 10059"/>
              <a:gd name="connsiteX0" fmla="*/ 10019 w 10019"/>
              <a:gd name="connsiteY0" fmla="*/ 10000 h 10000"/>
              <a:gd name="connsiteX1" fmla="*/ 7593 w 10019"/>
              <a:gd name="connsiteY1" fmla="*/ 10000 h 10000"/>
              <a:gd name="connsiteX2" fmla="*/ 4450 w 10019"/>
              <a:gd name="connsiteY2" fmla="*/ 0 h 10000"/>
              <a:gd name="connsiteX3" fmla="*/ 0 w 10019"/>
              <a:gd name="connsiteY3" fmla="*/ 0 h 10000"/>
              <a:gd name="connsiteX0" fmla="*/ 10019 w 10019"/>
              <a:gd name="connsiteY0" fmla="*/ 10586 h 10586"/>
              <a:gd name="connsiteX1" fmla="*/ 7593 w 10019"/>
              <a:gd name="connsiteY1" fmla="*/ 10586 h 10586"/>
              <a:gd name="connsiteX2" fmla="*/ 3989 w 10019"/>
              <a:gd name="connsiteY2" fmla="*/ 0 h 10586"/>
              <a:gd name="connsiteX3" fmla="*/ 0 w 10019"/>
              <a:gd name="connsiteY3" fmla="*/ 586 h 10586"/>
              <a:gd name="connsiteX0" fmla="*/ 10845 w 10845"/>
              <a:gd name="connsiteY0" fmla="*/ 10762 h 10762"/>
              <a:gd name="connsiteX1" fmla="*/ 8419 w 10845"/>
              <a:gd name="connsiteY1" fmla="*/ 10762 h 10762"/>
              <a:gd name="connsiteX2" fmla="*/ 4815 w 10845"/>
              <a:gd name="connsiteY2" fmla="*/ 176 h 10762"/>
              <a:gd name="connsiteX3" fmla="*/ 0 w 10845"/>
              <a:gd name="connsiteY3" fmla="*/ 0 h 10762"/>
              <a:gd name="connsiteX0" fmla="*/ 10845 w 10845"/>
              <a:gd name="connsiteY0" fmla="*/ 10762 h 10762"/>
              <a:gd name="connsiteX1" fmla="*/ 8419 w 10845"/>
              <a:gd name="connsiteY1" fmla="*/ 10762 h 10762"/>
              <a:gd name="connsiteX2" fmla="*/ 4911 w 10845"/>
              <a:gd name="connsiteY2" fmla="*/ 0 h 10762"/>
              <a:gd name="connsiteX3" fmla="*/ 0 w 10845"/>
              <a:gd name="connsiteY3" fmla="*/ 0 h 10762"/>
            </a:gdLst>
            <a:ahLst/>
            <a:cxnLst>
              <a:cxn ang="0">
                <a:pos x="connsiteX0" y="connsiteY0"/>
              </a:cxn>
              <a:cxn ang="0">
                <a:pos x="connsiteX1" y="connsiteY1"/>
              </a:cxn>
              <a:cxn ang="0">
                <a:pos x="connsiteX2" y="connsiteY2"/>
              </a:cxn>
              <a:cxn ang="0">
                <a:pos x="connsiteX3" y="connsiteY3"/>
              </a:cxn>
            </a:cxnLst>
            <a:rect l="l" t="t" r="r" b="b"/>
            <a:pathLst>
              <a:path w="10845" h="10762">
                <a:moveTo>
                  <a:pt x="10845" y="10762"/>
                </a:moveTo>
                <a:lnTo>
                  <a:pt x="8419" y="10762"/>
                </a:lnTo>
                <a:lnTo>
                  <a:pt x="4911"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174" name="Group 44">
            <a:extLst>
              <a:ext uri="{FF2B5EF4-FFF2-40B4-BE49-F238E27FC236}">
                <a16:creationId xmlns:a16="http://schemas.microsoft.com/office/drawing/2014/main" id="{4CB3F7B7-A92F-9B44-92D1-D6DEC5F500AB}"/>
              </a:ext>
            </a:extLst>
          </p:cNvPr>
          <p:cNvGrpSpPr>
            <a:grpSpLocks/>
          </p:cNvGrpSpPr>
          <p:nvPr/>
        </p:nvGrpSpPr>
        <p:grpSpPr bwMode="auto">
          <a:xfrm>
            <a:off x="1574393" y="2587486"/>
            <a:ext cx="1000125" cy="753665"/>
            <a:chOff x="220" y="1365"/>
            <a:chExt cx="840" cy="633"/>
          </a:xfrm>
        </p:grpSpPr>
        <p:sp>
          <p:nvSpPr>
            <p:cNvPr id="175" name="Line 45">
              <a:extLst>
                <a:ext uri="{FF2B5EF4-FFF2-40B4-BE49-F238E27FC236}">
                  <a16:creationId xmlns:a16="http://schemas.microsoft.com/office/drawing/2014/main" id="{DA8F54E3-D3E2-5B44-B37B-20E7E272BF11}"/>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176" name="Oval 46">
              <a:extLst>
                <a:ext uri="{FF2B5EF4-FFF2-40B4-BE49-F238E27FC236}">
                  <a16:creationId xmlns:a16="http://schemas.microsoft.com/office/drawing/2014/main" id="{33BDD6FC-64CC-2347-921C-94F2A9140CA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grpSp>
      <p:sp>
        <p:nvSpPr>
          <p:cNvPr id="177" name="Oval 47">
            <a:extLst>
              <a:ext uri="{FF2B5EF4-FFF2-40B4-BE49-F238E27FC236}">
                <a16:creationId xmlns:a16="http://schemas.microsoft.com/office/drawing/2014/main" id="{2345AD26-ED57-8F45-B85E-B4144CC9753D}"/>
              </a:ext>
            </a:extLst>
          </p:cNvPr>
          <p:cNvSpPr>
            <a:spLocks noChangeArrowheads="1"/>
          </p:cNvSpPr>
          <p:nvPr/>
        </p:nvSpPr>
        <p:spPr bwMode="auto">
          <a:xfrm>
            <a:off x="3060293" y="2632730"/>
            <a:ext cx="739378" cy="721519"/>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178" name="Line 48">
            <a:extLst>
              <a:ext uri="{FF2B5EF4-FFF2-40B4-BE49-F238E27FC236}">
                <a16:creationId xmlns:a16="http://schemas.microsoft.com/office/drawing/2014/main" id="{99C86BB6-8396-7A4F-A95C-226EFE593D74}"/>
              </a:ext>
            </a:extLst>
          </p:cNvPr>
          <p:cNvSpPr>
            <a:spLocks noChangeShapeType="1"/>
          </p:cNvSpPr>
          <p:nvPr/>
        </p:nvSpPr>
        <p:spPr bwMode="auto">
          <a:xfrm>
            <a:off x="6228545" y="2832754"/>
            <a:ext cx="0" cy="613172"/>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defTabSz="685800">
              <a:defRPr/>
            </a:pPr>
            <a:endParaRPr lang="en-US" sz="1200" dirty="0">
              <a:solidFill>
                <a:srgbClr val="000000"/>
              </a:solidFill>
              <a:latin typeface="Tahoma" charset="0"/>
              <a:ea typeface="ＭＳ Ｐゴシック" charset="0"/>
            </a:endParaRPr>
          </a:p>
        </p:txBody>
      </p:sp>
      <p:sp>
        <p:nvSpPr>
          <p:cNvPr id="179" name="Freeform 49">
            <a:extLst>
              <a:ext uri="{FF2B5EF4-FFF2-40B4-BE49-F238E27FC236}">
                <a16:creationId xmlns:a16="http://schemas.microsoft.com/office/drawing/2014/main" id="{A524866B-F3C3-0047-A24A-49C2FB7D032D}"/>
              </a:ext>
            </a:extLst>
          </p:cNvPr>
          <p:cNvSpPr>
            <a:spLocks/>
          </p:cNvSpPr>
          <p:nvPr/>
        </p:nvSpPr>
        <p:spPr bwMode="auto">
          <a:xfrm>
            <a:off x="4056846" y="2624395"/>
            <a:ext cx="3283744" cy="769144"/>
          </a:xfrm>
          <a:custGeom>
            <a:avLst/>
            <a:gdLst>
              <a:gd name="T0" fmla="*/ 2147483647 w 2758"/>
              <a:gd name="T1" fmla="*/ 2147483647 h 646"/>
              <a:gd name="T2" fmla="*/ 2147483647 w 2758"/>
              <a:gd name="T3" fmla="*/ 2147483647 h 646"/>
              <a:gd name="T4" fmla="*/ 2147483647 w 2758"/>
              <a:gd name="T5" fmla="*/ 0 h 646"/>
              <a:gd name="T6" fmla="*/ 0 w 2758"/>
              <a:gd name="T7" fmla="*/ 0 h 6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58" h="646">
                <a:moveTo>
                  <a:pt x="2758" y="646"/>
                </a:moveTo>
                <a:lnTo>
                  <a:pt x="1763" y="629"/>
                </a:lnTo>
                <a:lnTo>
                  <a:pt x="1039"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80" name="Line 50">
            <a:extLst>
              <a:ext uri="{FF2B5EF4-FFF2-40B4-BE49-F238E27FC236}">
                <a16:creationId xmlns:a16="http://schemas.microsoft.com/office/drawing/2014/main" id="{E379A4B3-232E-9D4E-A4C6-40DC647EE314}"/>
              </a:ext>
            </a:extLst>
          </p:cNvPr>
          <p:cNvSpPr>
            <a:spLocks noChangeShapeType="1"/>
          </p:cNvSpPr>
          <p:nvPr/>
        </p:nvSpPr>
        <p:spPr bwMode="auto">
          <a:xfrm>
            <a:off x="3974693" y="2530336"/>
            <a:ext cx="0" cy="634603"/>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defTabSz="685800">
              <a:defRPr/>
            </a:pPr>
            <a:endParaRPr lang="en-US" sz="1200" dirty="0">
              <a:solidFill>
                <a:srgbClr val="000000"/>
              </a:solidFill>
              <a:latin typeface="Tahoma" charset="0"/>
              <a:ea typeface="ＭＳ Ｐゴシック" charset="0"/>
            </a:endParaRPr>
          </a:p>
        </p:txBody>
      </p:sp>
      <p:sp>
        <p:nvSpPr>
          <p:cNvPr id="181" name="Freeform 51">
            <a:extLst>
              <a:ext uri="{FF2B5EF4-FFF2-40B4-BE49-F238E27FC236}">
                <a16:creationId xmlns:a16="http://schemas.microsoft.com/office/drawing/2014/main" id="{7739BB93-5816-A945-B555-C2290DB78FDA}"/>
              </a:ext>
            </a:extLst>
          </p:cNvPr>
          <p:cNvSpPr>
            <a:spLocks/>
          </p:cNvSpPr>
          <p:nvPr/>
        </p:nvSpPr>
        <p:spPr bwMode="auto">
          <a:xfrm>
            <a:off x="4046130" y="3175655"/>
            <a:ext cx="4098563" cy="1474775"/>
          </a:xfrm>
          <a:custGeom>
            <a:avLst/>
            <a:gdLst>
              <a:gd name="T0" fmla="*/ 0 w 2566"/>
              <a:gd name="T1" fmla="*/ 0 h 1344"/>
              <a:gd name="T2" fmla="*/ 2147483647 w 2566"/>
              <a:gd name="T3" fmla="*/ 0 h 1344"/>
              <a:gd name="T4" fmla="*/ 2147483647 w 2566"/>
              <a:gd name="T5" fmla="*/ 2147483647 h 1344"/>
              <a:gd name="T6" fmla="*/ 2147483647 w 2566"/>
              <a:gd name="T7" fmla="*/ 2147483647 h 1344"/>
              <a:gd name="T8" fmla="*/ 0 60000 65536"/>
              <a:gd name="T9" fmla="*/ 0 60000 65536"/>
              <a:gd name="T10" fmla="*/ 0 60000 65536"/>
              <a:gd name="T11" fmla="*/ 0 60000 65536"/>
              <a:gd name="connsiteX0" fmla="*/ 0 w 10000"/>
              <a:gd name="connsiteY0" fmla="*/ 0 h 10000"/>
              <a:gd name="connsiteX1" fmla="*/ 3948 w 10000"/>
              <a:gd name="connsiteY1" fmla="*/ 0 h 10000"/>
              <a:gd name="connsiteX2" fmla="*/ 6367 w 10000"/>
              <a:gd name="connsiteY2" fmla="*/ 9215 h 10000"/>
              <a:gd name="connsiteX3" fmla="*/ 10000 w 10000"/>
              <a:gd name="connsiteY3" fmla="*/ 10000 h 10000"/>
              <a:gd name="connsiteX0" fmla="*/ 0 w 13541"/>
              <a:gd name="connsiteY0" fmla="*/ 0 h 9215"/>
              <a:gd name="connsiteX1" fmla="*/ 3948 w 13541"/>
              <a:gd name="connsiteY1" fmla="*/ 0 h 9215"/>
              <a:gd name="connsiteX2" fmla="*/ 6367 w 13541"/>
              <a:gd name="connsiteY2" fmla="*/ 9215 h 9215"/>
              <a:gd name="connsiteX3" fmla="*/ 13541 w 13541"/>
              <a:gd name="connsiteY3" fmla="*/ 9155 h 9215"/>
              <a:gd name="connsiteX0" fmla="*/ 0 w 9977"/>
              <a:gd name="connsiteY0" fmla="*/ 0 h 10132"/>
              <a:gd name="connsiteX1" fmla="*/ 2916 w 9977"/>
              <a:gd name="connsiteY1" fmla="*/ 0 h 10132"/>
              <a:gd name="connsiteX2" fmla="*/ 4702 w 9977"/>
              <a:gd name="connsiteY2" fmla="*/ 10000 h 10132"/>
              <a:gd name="connsiteX3" fmla="*/ 9977 w 9977"/>
              <a:gd name="connsiteY3" fmla="*/ 10132 h 10132"/>
              <a:gd name="connsiteX0" fmla="*/ 0 w 9930"/>
              <a:gd name="connsiteY0" fmla="*/ 0 h 9871"/>
              <a:gd name="connsiteX1" fmla="*/ 2923 w 9930"/>
              <a:gd name="connsiteY1" fmla="*/ 0 h 9871"/>
              <a:gd name="connsiteX2" fmla="*/ 4713 w 9930"/>
              <a:gd name="connsiteY2" fmla="*/ 9870 h 9871"/>
              <a:gd name="connsiteX3" fmla="*/ 9930 w 9930"/>
              <a:gd name="connsiteY3" fmla="*/ 9871 h 9871"/>
            </a:gdLst>
            <a:ahLst/>
            <a:cxnLst>
              <a:cxn ang="0">
                <a:pos x="connsiteX0" y="connsiteY0"/>
              </a:cxn>
              <a:cxn ang="0">
                <a:pos x="connsiteX1" y="connsiteY1"/>
              </a:cxn>
              <a:cxn ang="0">
                <a:pos x="connsiteX2" y="connsiteY2"/>
              </a:cxn>
              <a:cxn ang="0">
                <a:pos x="connsiteX3" y="connsiteY3"/>
              </a:cxn>
            </a:cxnLst>
            <a:rect l="l" t="t" r="r" b="b"/>
            <a:pathLst>
              <a:path w="9930" h="9871">
                <a:moveTo>
                  <a:pt x="0" y="0"/>
                </a:moveTo>
                <a:lnTo>
                  <a:pt x="2923" y="0"/>
                </a:lnTo>
                <a:lnTo>
                  <a:pt x="4713" y="9870"/>
                </a:lnTo>
                <a:lnTo>
                  <a:pt x="9930" y="987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183" name="Group 18">
            <a:extLst>
              <a:ext uri="{FF2B5EF4-FFF2-40B4-BE49-F238E27FC236}">
                <a16:creationId xmlns:a16="http://schemas.microsoft.com/office/drawing/2014/main" id="{E284CB69-9F56-5447-BEF7-41A6F2097E8E}"/>
              </a:ext>
            </a:extLst>
          </p:cNvPr>
          <p:cNvGrpSpPr>
            <a:grpSpLocks/>
          </p:cNvGrpSpPr>
          <p:nvPr/>
        </p:nvGrpSpPr>
        <p:grpSpPr bwMode="auto">
          <a:xfrm>
            <a:off x="6244407" y="3178034"/>
            <a:ext cx="1371600" cy="192881"/>
            <a:chOff x="2222" y="3039"/>
            <a:chExt cx="1152" cy="162"/>
          </a:xfrm>
        </p:grpSpPr>
        <p:sp>
          <p:nvSpPr>
            <p:cNvPr id="184" name="Text Box 19">
              <a:extLst>
                <a:ext uri="{FF2B5EF4-FFF2-40B4-BE49-F238E27FC236}">
                  <a16:creationId xmlns:a16="http://schemas.microsoft.com/office/drawing/2014/main" id="{678874A7-3358-5245-A855-DD7E0879D4F7}"/>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udt_send(NAK)</a:t>
              </a:r>
              <a:endParaRPr lang="en-US" altLang="en-US" sz="1200" dirty="0">
                <a:solidFill>
                  <a:prstClr val="black"/>
                </a:solidFill>
                <a:latin typeface="Times New Roman" panose="02020603050405020304" pitchFamily="18" charset="0"/>
              </a:endParaRPr>
            </a:p>
          </p:txBody>
        </p:sp>
        <p:sp>
          <p:nvSpPr>
            <p:cNvPr id="185" name="Line 21">
              <a:extLst>
                <a:ext uri="{FF2B5EF4-FFF2-40B4-BE49-F238E27FC236}">
                  <a16:creationId xmlns:a16="http://schemas.microsoft.com/office/drawing/2014/main" id="{56F7C457-03D8-8D48-AA90-B8A469907EAC}"/>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186" name="Text Box 20">
            <a:extLst>
              <a:ext uri="{FF2B5EF4-FFF2-40B4-BE49-F238E27FC236}">
                <a16:creationId xmlns:a16="http://schemas.microsoft.com/office/drawing/2014/main" id="{69FC3B3A-305F-9B42-8C7E-1C83075E3B36}"/>
              </a:ext>
            </a:extLst>
          </p:cNvPr>
          <p:cNvSpPr txBox="1">
            <a:spLocks noChangeArrowheads="1"/>
          </p:cNvSpPr>
          <p:nvPr/>
        </p:nvSpPr>
        <p:spPr bwMode="auto">
          <a:xfrm>
            <a:off x="6245673" y="2897650"/>
            <a:ext cx="2541985" cy="234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corrupt(rcvpkt)</a:t>
            </a:r>
            <a:endParaRPr lang="en-US" altLang="en-US" sz="1200" dirty="0">
              <a:solidFill>
                <a:prstClr val="black"/>
              </a:solidFill>
              <a:latin typeface="Times New Roman" panose="02020603050405020304" pitchFamily="18" charset="0"/>
            </a:endParaRPr>
          </a:p>
        </p:txBody>
      </p:sp>
      <p:grpSp>
        <p:nvGrpSpPr>
          <p:cNvPr id="187" name="Group 186">
            <a:extLst>
              <a:ext uri="{FF2B5EF4-FFF2-40B4-BE49-F238E27FC236}">
                <a16:creationId xmlns:a16="http://schemas.microsoft.com/office/drawing/2014/main" id="{5E98E9E8-48DD-2748-A76A-B86C9C5E697C}"/>
              </a:ext>
            </a:extLst>
          </p:cNvPr>
          <p:cNvGrpSpPr/>
          <p:nvPr/>
        </p:nvGrpSpPr>
        <p:grpSpPr>
          <a:xfrm>
            <a:off x="6037238" y="4635378"/>
            <a:ext cx="3106762" cy="700187"/>
            <a:chOff x="8049650" y="5037504"/>
            <a:chExt cx="4142349" cy="933582"/>
          </a:xfrm>
        </p:grpSpPr>
        <p:sp>
          <p:nvSpPr>
            <p:cNvPr id="188" name="Text Box 7">
              <a:extLst>
                <a:ext uri="{FF2B5EF4-FFF2-40B4-BE49-F238E27FC236}">
                  <a16:creationId xmlns:a16="http://schemas.microsoft.com/office/drawing/2014/main" id="{547ACF72-ABFE-F64D-A037-06CF279C9791}"/>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extract(rcvpkt,data)</a:t>
              </a:r>
            </a:p>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deliver_data(data)</a:t>
              </a:r>
            </a:p>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udt_send(ACK)</a:t>
              </a:r>
              <a:endParaRPr lang="en-US" altLang="en-US" sz="1200" dirty="0">
                <a:solidFill>
                  <a:prstClr val="black"/>
                </a:solidFill>
                <a:latin typeface="Times New Roman" panose="02020603050405020304" pitchFamily="18" charset="0"/>
              </a:endParaRPr>
            </a:p>
          </p:txBody>
        </p:sp>
        <p:sp>
          <p:nvSpPr>
            <p:cNvPr id="189" name="Text Box 8">
              <a:extLst>
                <a:ext uri="{FF2B5EF4-FFF2-40B4-BE49-F238E27FC236}">
                  <a16:creationId xmlns:a16="http://schemas.microsoft.com/office/drawing/2014/main" id="{ECD6AB09-3FC5-E94A-8358-34E4DEA2C45B}"/>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notcorrupt(rcvpkt)</a:t>
              </a:r>
              <a:endParaRPr lang="en-US" altLang="en-US" sz="1200" dirty="0">
                <a:solidFill>
                  <a:prstClr val="black"/>
                </a:solidFill>
                <a:latin typeface="Times New Roman" panose="02020603050405020304" pitchFamily="18" charset="0"/>
              </a:endParaRPr>
            </a:p>
          </p:txBody>
        </p:sp>
        <p:sp>
          <p:nvSpPr>
            <p:cNvPr id="190" name="Line 9">
              <a:extLst>
                <a:ext uri="{FF2B5EF4-FFF2-40B4-BE49-F238E27FC236}">
                  <a16:creationId xmlns:a16="http://schemas.microsoft.com/office/drawing/2014/main" id="{7D4185C1-C6BE-C246-B80B-AE0463D5FBCE}"/>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192" name="Group 191">
            <a:extLst>
              <a:ext uri="{FF2B5EF4-FFF2-40B4-BE49-F238E27FC236}">
                <a16:creationId xmlns:a16="http://schemas.microsoft.com/office/drawing/2014/main" id="{72958F88-7074-B842-A46E-481DB4E01207}"/>
              </a:ext>
            </a:extLst>
          </p:cNvPr>
          <p:cNvGrpSpPr/>
          <p:nvPr/>
        </p:nvGrpSpPr>
        <p:grpSpPr>
          <a:xfrm>
            <a:off x="1703556" y="3321269"/>
            <a:ext cx="2661047" cy="766554"/>
            <a:chOff x="2270357" y="3283338"/>
            <a:chExt cx="3548062" cy="1022072"/>
          </a:xfrm>
        </p:grpSpPr>
        <p:sp>
          <p:nvSpPr>
            <p:cNvPr id="193" name="Freeform 11">
              <a:extLst>
                <a:ext uri="{FF2B5EF4-FFF2-40B4-BE49-F238E27FC236}">
                  <a16:creationId xmlns:a16="http://schemas.microsoft.com/office/drawing/2014/main" id="{52733FCF-77DF-9549-96B3-58AA1212641C}"/>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a:t>
              </a:r>
            </a:p>
          </p:txBody>
        </p:sp>
        <p:grpSp>
          <p:nvGrpSpPr>
            <p:cNvPr id="194" name="Group 193">
              <a:extLst>
                <a:ext uri="{FF2B5EF4-FFF2-40B4-BE49-F238E27FC236}">
                  <a16:creationId xmlns:a16="http://schemas.microsoft.com/office/drawing/2014/main" id="{C96D5C38-D258-7844-A167-A26AFEEF24DC}"/>
                </a:ext>
              </a:extLst>
            </p:cNvPr>
            <p:cNvGrpSpPr/>
            <p:nvPr/>
          </p:nvGrpSpPr>
          <p:grpSpPr>
            <a:xfrm>
              <a:off x="2270357" y="3545923"/>
              <a:ext cx="3548062" cy="759487"/>
              <a:chOff x="2270357" y="3545923"/>
              <a:chExt cx="3548062" cy="759487"/>
            </a:xfrm>
          </p:grpSpPr>
          <p:sp>
            <p:nvSpPr>
              <p:cNvPr id="195" name="Text Box 12">
                <a:extLst>
                  <a:ext uri="{FF2B5EF4-FFF2-40B4-BE49-F238E27FC236}">
                    <a16:creationId xmlns:a16="http://schemas.microsoft.com/office/drawing/2014/main" id="{3746DB42-5771-AD4D-9F11-055A2239F8E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latin typeface="Arial" panose="020B0604020202020204" pitchFamily="34" charset="0"/>
                  </a:rPr>
                  <a:t>rdt_rcv(rcvpkt) &amp;&amp; isACK(rcvpkt)</a:t>
                </a:r>
                <a:endParaRPr lang="en-US" altLang="en-US" sz="1200" dirty="0">
                  <a:solidFill>
                    <a:prstClr val="black"/>
                  </a:solidFill>
                  <a:latin typeface="Times New Roman" panose="02020603050405020304" pitchFamily="18" charset="0"/>
                </a:endParaRPr>
              </a:p>
            </p:txBody>
          </p:sp>
          <p:sp>
            <p:nvSpPr>
              <p:cNvPr id="196" name="Line 13">
                <a:extLst>
                  <a:ext uri="{FF2B5EF4-FFF2-40B4-BE49-F238E27FC236}">
                    <a16:creationId xmlns:a16="http://schemas.microsoft.com/office/drawing/2014/main" id="{F8840150-1E50-BA43-88E4-6F9188C56B55}"/>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97" name="Text Box 48">
                <a:extLst>
                  <a:ext uri="{FF2B5EF4-FFF2-40B4-BE49-F238E27FC236}">
                    <a16:creationId xmlns:a16="http://schemas.microsoft.com/office/drawing/2014/main" id="{13B3F6FD-1B58-2540-B908-71B7D9EFB8FD}"/>
                  </a:ext>
                </a:extLst>
              </p:cNvPr>
              <p:cNvSpPr txBox="1">
                <a:spLocks noChangeArrowheads="1"/>
              </p:cNvSpPr>
              <p:nvPr/>
            </p:nvSpPr>
            <p:spPr bwMode="auto">
              <a:xfrm>
                <a:off x="3665151" y="3936078"/>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200" dirty="0">
                    <a:solidFill>
                      <a:prstClr val="black"/>
                    </a:solidFill>
                    <a:latin typeface="Symbol" charset="0"/>
                  </a:rPr>
                  <a:t>L</a:t>
                </a:r>
              </a:p>
            </p:txBody>
          </p:sp>
        </p:grpSp>
      </p:grpSp>
      <p:sp>
        <p:nvSpPr>
          <p:cNvPr id="198" name="Text Box 19">
            <a:extLst>
              <a:ext uri="{FF2B5EF4-FFF2-40B4-BE49-F238E27FC236}">
                <a16:creationId xmlns:a16="http://schemas.microsoft.com/office/drawing/2014/main" id="{A11F89D9-6E4B-F142-B680-CA9246FEB5B1}"/>
              </a:ext>
            </a:extLst>
          </p:cNvPr>
          <p:cNvSpPr txBox="1">
            <a:spLocks noChangeArrowheads="1"/>
          </p:cNvSpPr>
          <p:nvPr/>
        </p:nvSpPr>
        <p:spPr bwMode="auto">
          <a:xfrm>
            <a:off x="845309" y="2745543"/>
            <a:ext cx="87075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800" kern="0" dirty="0">
                <a:solidFill>
                  <a:srgbClr val="CC0000"/>
                </a:solidFill>
              </a:rPr>
              <a:t>sender</a:t>
            </a:r>
          </a:p>
        </p:txBody>
      </p:sp>
      <p:sp>
        <p:nvSpPr>
          <p:cNvPr id="199" name="Text Box 20">
            <a:extLst>
              <a:ext uri="{FF2B5EF4-FFF2-40B4-BE49-F238E27FC236}">
                <a16:creationId xmlns:a16="http://schemas.microsoft.com/office/drawing/2014/main" id="{F9D8503E-DBC4-144B-9DCA-064A69A8F4DF}"/>
              </a:ext>
            </a:extLst>
          </p:cNvPr>
          <p:cNvSpPr txBox="1">
            <a:spLocks noChangeArrowheads="1"/>
          </p:cNvSpPr>
          <p:nvPr/>
        </p:nvSpPr>
        <p:spPr bwMode="auto">
          <a:xfrm>
            <a:off x="7218150" y="3828116"/>
            <a:ext cx="99097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800" kern="0" dirty="0">
                <a:solidFill>
                  <a:srgbClr val="CC0000"/>
                </a:solidFill>
              </a:rPr>
              <a:t>receiver</a:t>
            </a:r>
          </a:p>
        </p:txBody>
      </p:sp>
      <p:sp>
        <p:nvSpPr>
          <p:cNvPr id="59" name="Slide Number Placeholder 2">
            <a:extLst>
              <a:ext uri="{FF2B5EF4-FFF2-40B4-BE49-F238E27FC236}">
                <a16:creationId xmlns:a16="http://schemas.microsoft.com/office/drawing/2014/main" id="{4C651C60-2DE4-0846-A035-0E312850CE3C}"/>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40</a:t>
            </a:fld>
            <a:endParaRPr lang="en-US" dirty="0"/>
          </a:p>
        </p:txBody>
      </p:sp>
    </p:spTree>
    <p:extLst>
      <p:ext uri="{BB962C8B-B14F-4D97-AF65-F5344CB8AC3E}">
        <p14:creationId xmlns:p14="http://schemas.microsoft.com/office/powerpoint/2010/main" val="381530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dissolve">
                                      <p:cBhvr>
                                        <p:cTn id="7" dur="500"/>
                                        <p:tgtEl>
                                          <p:spTgt spid="15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2"/>
                                        </p:tgtEl>
                                        <p:attrNameLst>
                                          <p:attrName>style.visibility</p:attrName>
                                        </p:attrNameLst>
                                      </p:cBhvr>
                                      <p:to>
                                        <p:strVal val="visible"/>
                                      </p:to>
                                    </p:set>
                                    <p:animEffect transition="in" filter="dissolve">
                                      <p:cBhvr>
                                        <p:cTn id="12" dur="500"/>
                                        <p:tgtEl>
                                          <p:spTgt spid="1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66"/>
                                        </p:tgtEl>
                                        <p:attrNameLst>
                                          <p:attrName>style.visibility</p:attrName>
                                        </p:attrNameLst>
                                      </p:cBhvr>
                                      <p:to>
                                        <p:strVal val="visible"/>
                                      </p:to>
                                    </p:set>
                                    <p:animEffect transition="in" filter="wipe(up)">
                                      <p:cBhvr>
                                        <p:cTn id="17" dur="1000"/>
                                        <p:tgtEl>
                                          <p:spTgt spid="166"/>
                                        </p:tgtEl>
                                      </p:cBhvr>
                                    </p:animEffect>
                                  </p:childTnLst>
                                  <p:subTnLst>
                                    <p:set>
                                      <p:cBhvr override="childStyle">
                                        <p:cTn dur="1" fill="hold" display="0" masterRel="nextClick" afterEffect="1"/>
                                        <p:tgtEl>
                                          <p:spTgt spid="16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wipe(left)">
                                      <p:cBhvr>
                                        <p:cTn id="22" dur="1000"/>
                                        <p:tgtEl>
                                          <p:spTgt spid="167"/>
                                        </p:tgtEl>
                                      </p:cBhvr>
                                    </p:animEffect>
                                  </p:childTnLst>
                                  <p:subTnLst>
                                    <p:set>
                                      <p:cBhvr override="childStyle">
                                        <p:cTn dur="1" fill="hold" display="0" masterRel="nextClick" afterEffect="1"/>
                                        <p:tgtEl>
                                          <p:spTgt spid="167"/>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16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78"/>
                                        </p:tgtEl>
                                        <p:attrNameLst>
                                          <p:attrName>style.visibility</p:attrName>
                                        </p:attrNameLst>
                                      </p:cBhvr>
                                      <p:to>
                                        <p:strVal val="visible"/>
                                      </p:to>
                                    </p:set>
                                    <p:animEffect transition="in" filter="wipe(up)">
                                      <p:cBhvr>
                                        <p:cTn id="31" dur="1000"/>
                                        <p:tgtEl>
                                          <p:spTgt spid="178"/>
                                        </p:tgtEl>
                                      </p:cBhvr>
                                    </p:animEffec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79"/>
                                        </p:tgtEl>
                                        <p:attrNameLst>
                                          <p:attrName>style.visibility</p:attrName>
                                        </p:attrNameLst>
                                      </p:cBhvr>
                                      <p:to>
                                        <p:strVal val="visible"/>
                                      </p:to>
                                    </p:set>
                                    <p:animEffect transition="in" filter="wipe(right)">
                                      <p:cBhvr>
                                        <p:cTn id="36" dur="1000"/>
                                        <p:tgtEl>
                                          <p:spTgt spid="179"/>
                                        </p:tgtEl>
                                      </p:cBhvr>
                                    </p:animEffec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80"/>
                                        </p:tgtEl>
                                        <p:attrNameLst>
                                          <p:attrName>style.visibility</p:attrName>
                                        </p:attrNameLst>
                                      </p:cBhvr>
                                      <p:to>
                                        <p:strVal val="visible"/>
                                      </p:to>
                                    </p:set>
                                    <p:animEffect transition="in" filter="wipe(up)">
                                      <p:cBhvr>
                                        <p:cTn id="41" dur="1000"/>
                                        <p:tgtEl>
                                          <p:spTgt spid="180"/>
                                        </p:tgtEl>
                                      </p:cBhvr>
                                    </p:animEffect>
                                  </p:childTnLst>
                                  <p:subTnLst>
                                    <p:set>
                                      <p:cBhvr override="childStyle">
                                        <p:cTn dur="1" fill="hold" display="0" masterRel="nextClick" afterEffect="1"/>
                                        <p:tgtEl>
                                          <p:spTgt spid="180"/>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81"/>
                                        </p:tgtEl>
                                        <p:attrNameLst>
                                          <p:attrName>style.visibility</p:attrName>
                                        </p:attrNameLst>
                                      </p:cBhvr>
                                      <p:to>
                                        <p:strVal val="visible"/>
                                      </p:to>
                                    </p:set>
                                    <p:animEffect transition="in" filter="wipe(left)">
                                      <p:cBhvr>
                                        <p:cTn id="46" dur="2000"/>
                                        <p:tgtEl>
                                          <p:spTgt spid="181"/>
                                        </p:tgtEl>
                                      </p:cBhvr>
                                    </p:animEffect>
                                  </p:childTnLst>
                                  <p:subTnLst>
                                    <p:set>
                                      <p:cBhvr override="childStyle">
                                        <p:cTn dur="1" fill="hold" display="0" masterRel="nextClick" afterEffect="1"/>
                                        <p:tgtEl>
                                          <p:spTgt spid="181"/>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72"/>
                                        </p:tgtEl>
                                        <p:attrNameLst>
                                          <p:attrName>style.visibility</p:attrName>
                                        </p:attrNameLst>
                                      </p:cBhvr>
                                      <p:to>
                                        <p:strVal val="visible"/>
                                      </p:to>
                                    </p:set>
                                    <p:animEffect transition="in" filter="wipe(up)">
                                      <p:cBhvr>
                                        <p:cTn id="51" dur="1000"/>
                                        <p:tgtEl>
                                          <p:spTgt spid="172"/>
                                        </p:tgtEl>
                                      </p:cBhvr>
                                    </p:animEffect>
                                  </p:childTnLst>
                                  <p:subTnLst>
                                    <p:set>
                                      <p:cBhvr override="childStyle">
                                        <p:cTn dur="1" fill="hold" display="0" masterRel="nextClick" afterEffect="1"/>
                                        <p:tgtEl>
                                          <p:spTgt spid="172"/>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73"/>
                                        </p:tgtEl>
                                        <p:attrNameLst>
                                          <p:attrName>style.visibility</p:attrName>
                                        </p:attrNameLst>
                                      </p:cBhvr>
                                      <p:to>
                                        <p:strVal val="visible"/>
                                      </p:to>
                                    </p:set>
                                    <p:animEffect transition="in" filter="wipe(down)">
                                      <p:cBhvr>
                                        <p:cTn id="56" dur="1000"/>
                                        <p:tgtEl>
                                          <p:spTgt spid="173"/>
                                        </p:tgtEl>
                                      </p:cBhvr>
                                    </p:animEffect>
                                  </p:childTnLst>
                                </p:cTn>
                              </p:par>
                            </p:childTnLst>
                          </p:cTn>
                        </p:par>
                        <p:par>
                          <p:cTn id="57" fill="hold">
                            <p:stCondLst>
                              <p:cond delay="1000"/>
                            </p:stCondLst>
                            <p:childTnLst>
                              <p:par>
                                <p:cTn id="58" presetID="1" presetClass="entr" presetSubtype="0" fill="hold" nodeType="afterEffect">
                                  <p:stCondLst>
                                    <p:cond delay="0"/>
                                  </p:stCondLst>
                                  <p:childTnLst>
                                    <p:set>
                                      <p:cBhvr>
                                        <p:cTn id="59" dur="1" fill="hold">
                                          <p:stCondLst>
                                            <p:cond delay="0"/>
                                          </p:stCondLst>
                                        </p:cTn>
                                        <p:tgtEl>
                                          <p:spTgt spid="174"/>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77"/>
                                        </p:tgtEl>
                                        <p:attrNameLst>
                                          <p:attrName>style.visibility</p:attrName>
                                        </p:attrNameLst>
                                      </p:cBhvr>
                                      <p:to>
                                        <p:strVal val="visible"/>
                                      </p:to>
                                    </p:set>
                                  </p:childTnLst>
                                </p:cTn>
                              </p:par>
                              <p:par>
                                <p:cTn id="62" presetID="1" presetClass="entr" presetSubtype="0" fill="hold" grpId="1" nodeType="withEffect">
                                  <p:stCondLst>
                                    <p:cond delay="0"/>
                                  </p:stCondLst>
                                  <p:childTnLst>
                                    <p:set>
                                      <p:cBhvr>
                                        <p:cTn id="63"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P spid="177" grpId="0" animBg="1"/>
      <p:bldP spid="177"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rdt2.0 has a fatal flaw!</a:t>
            </a:r>
            <a:endParaRPr lang="en-US" dirty="0"/>
          </a:p>
        </p:txBody>
      </p:sp>
      <p:sp>
        <p:nvSpPr>
          <p:cNvPr id="54" name="Rectangle 3">
            <a:extLst>
              <a:ext uri="{FF2B5EF4-FFF2-40B4-BE49-F238E27FC236}">
                <a16:creationId xmlns:a16="http://schemas.microsoft.com/office/drawing/2014/main" id="{24A7E6D3-44BD-F44B-9E30-860EE5046FF6}"/>
              </a:ext>
            </a:extLst>
          </p:cNvPr>
          <p:cNvSpPr txBox="1">
            <a:spLocks noChangeArrowheads="1"/>
          </p:cNvSpPr>
          <p:nvPr/>
        </p:nvSpPr>
        <p:spPr>
          <a:xfrm>
            <a:off x="518610" y="1895676"/>
            <a:ext cx="4368923"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fontAlgn="auto">
              <a:lnSpc>
                <a:spcPct val="80000"/>
              </a:lnSpc>
              <a:spcBef>
                <a:spcPts val="750"/>
              </a:spcBef>
              <a:spcAft>
                <a:spcPts val="0"/>
              </a:spcAft>
              <a:buNone/>
              <a:defRPr/>
            </a:pPr>
            <a:r>
              <a:rPr lang="en-US" altLang="en-US" sz="2400" dirty="0">
                <a:solidFill>
                  <a:srgbClr val="CC0000"/>
                </a:solidFill>
                <a:latin typeface="Calibri" panose="020F0502020204030204"/>
                <a:ea typeface="ＭＳ Ｐゴシック" panose="020B0600070205080204" pitchFamily="34" charset="-128"/>
              </a:rPr>
              <a:t>what happens if ACK/NAK corrupted</a:t>
            </a:r>
            <a:r>
              <a:rPr lang="en-US" altLang="en-US" sz="2100" dirty="0">
                <a:solidFill>
                  <a:srgbClr val="CC0000"/>
                </a:solidFill>
                <a:latin typeface="Calibri" panose="020F0502020204030204"/>
                <a:ea typeface="ＭＳ Ｐゴシック" panose="020B0600070205080204" pitchFamily="34" charset="-128"/>
              </a:rPr>
              <a:t>?</a:t>
            </a:r>
          </a:p>
          <a:p>
            <a:pPr marL="345281" indent="-163116" defTabSz="685800" fontAlgn="auto">
              <a:lnSpc>
                <a:spcPct val="80000"/>
              </a:lnSpc>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sender doesn’</a:t>
            </a:r>
            <a:r>
              <a:rPr lang="en-US" altLang="ja-JP" sz="2100" dirty="0">
                <a:solidFill>
                  <a:prstClr val="black"/>
                </a:solidFill>
                <a:latin typeface="Calibri" panose="020F0502020204030204"/>
                <a:ea typeface="ＭＳ Ｐゴシック" panose="020B0600070205080204" pitchFamily="34" charset="-128"/>
              </a:rPr>
              <a:t>t know what happened at receiver!</a:t>
            </a:r>
          </a:p>
          <a:p>
            <a:pPr marL="345281" indent="-163116" defTabSz="685800" fontAlgn="auto">
              <a:lnSpc>
                <a:spcPct val="80000"/>
              </a:lnSpc>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can’</a:t>
            </a:r>
            <a:r>
              <a:rPr lang="en-US" altLang="ja-JP" sz="2100" dirty="0">
                <a:solidFill>
                  <a:prstClr val="black"/>
                </a:solidFill>
                <a:latin typeface="Calibri" panose="020F0502020204030204"/>
                <a:ea typeface="ＭＳ Ｐゴシック" panose="020B0600070205080204" pitchFamily="34" charset="-128"/>
              </a:rPr>
              <a:t>t just retransmit: possible duplicate</a:t>
            </a:r>
            <a:endParaRPr lang="en-US" altLang="ja-JP" sz="2400" dirty="0">
              <a:solidFill>
                <a:prstClr val="black"/>
              </a:solidFill>
              <a:latin typeface="Calibri" panose="020F0502020204030204"/>
              <a:ea typeface="ＭＳ Ｐゴシック" panose="020B0600070205080204" pitchFamily="34" charset="-128"/>
            </a:endParaRPr>
          </a:p>
          <a:p>
            <a:pPr marL="264319" indent="-166688" defTabSz="685800" fontAlgn="auto">
              <a:lnSpc>
                <a:spcPct val="80000"/>
              </a:lnSpc>
              <a:spcBef>
                <a:spcPct val="60000"/>
              </a:spcBef>
              <a:spcAft>
                <a:spcPts val="0"/>
              </a:spcAft>
              <a:buNone/>
              <a:defRPr/>
            </a:pPr>
            <a:endParaRPr lang="en-US" altLang="en-US" sz="1800" dirty="0">
              <a:solidFill>
                <a:prstClr val="black"/>
              </a:solidFill>
              <a:latin typeface="Calibri" panose="020F0502020204030204"/>
              <a:ea typeface="ＭＳ Ｐゴシック" panose="020B0600070205080204" pitchFamily="34" charset="-128"/>
            </a:endParaRPr>
          </a:p>
          <a:p>
            <a:pPr marL="264319" indent="-166688" defTabSz="685800" fontAlgn="auto">
              <a:lnSpc>
                <a:spcPct val="70000"/>
              </a:lnSpc>
              <a:spcBef>
                <a:spcPts val="750"/>
              </a:spcBef>
              <a:spcAft>
                <a:spcPts val="0"/>
              </a:spcAft>
              <a:buNone/>
              <a:defRPr/>
            </a:pPr>
            <a:endParaRPr lang="en-US" altLang="en-US" sz="2100" dirty="0">
              <a:solidFill>
                <a:prstClr val="black"/>
              </a:solidFill>
              <a:latin typeface="Calibri" panose="020F0502020204030204"/>
              <a:ea typeface="ＭＳ Ｐゴシック" panose="020B0600070205080204" pitchFamily="34" charset="-128"/>
            </a:endParaRPr>
          </a:p>
          <a:p>
            <a:pPr marL="264319" indent="-166688" defTabSz="685800" fontAlgn="auto">
              <a:lnSpc>
                <a:spcPct val="70000"/>
              </a:lnSpc>
              <a:spcBef>
                <a:spcPts val="750"/>
              </a:spcBef>
              <a:spcAft>
                <a:spcPts val="0"/>
              </a:spcAft>
              <a:buNone/>
              <a:defRPr/>
            </a:pPr>
            <a:endParaRPr lang="en-US" altLang="en-US" sz="2100" dirty="0">
              <a:solidFill>
                <a:prstClr val="black"/>
              </a:solidFill>
              <a:latin typeface="Calibri" panose="020F0502020204030204"/>
              <a:ea typeface="ＭＳ Ｐゴシック" panose="020B0600070205080204" pitchFamily="34" charset="-128"/>
            </a:endParaRPr>
          </a:p>
        </p:txBody>
      </p:sp>
      <p:sp>
        <p:nvSpPr>
          <p:cNvPr id="55" name="Rectangle 4">
            <a:extLst>
              <a:ext uri="{FF2B5EF4-FFF2-40B4-BE49-F238E27FC236}">
                <a16:creationId xmlns:a16="http://schemas.microsoft.com/office/drawing/2014/main" id="{A5980F19-9541-754D-B1F9-A97DD6E77B8E}"/>
              </a:ext>
            </a:extLst>
          </p:cNvPr>
          <p:cNvSpPr txBox="1">
            <a:spLocks noChangeArrowheads="1"/>
          </p:cNvSpPr>
          <p:nvPr/>
        </p:nvSpPr>
        <p:spPr>
          <a:xfrm>
            <a:off x="4655500" y="1886017"/>
            <a:ext cx="3969890" cy="2297918"/>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fontAlgn="auto">
              <a:spcBef>
                <a:spcPts val="750"/>
              </a:spcBef>
              <a:spcAft>
                <a:spcPts val="0"/>
              </a:spcAft>
              <a:buNone/>
              <a:defRPr/>
            </a:pPr>
            <a:r>
              <a:rPr lang="en-US" altLang="en-US" sz="2625" dirty="0">
                <a:solidFill>
                  <a:srgbClr val="CC0000"/>
                </a:solidFill>
                <a:latin typeface="Calibri" panose="020F0502020204030204"/>
                <a:ea typeface="ＭＳ Ｐゴシック" panose="020B0600070205080204" pitchFamily="34" charset="-128"/>
              </a:rPr>
              <a:t>handling duplicates</a:t>
            </a:r>
            <a:r>
              <a:rPr lang="en-US" altLang="en-US" sz="2625" dirty="0">
                <a:solidFill>
                  <a:srgbClr val="FF0000"/>
                </a:solidFill>
                <a:latin typeface="Calibri" panose="020F0502020204030204"/>
                <a:ea typeface="ＭＳ Ｐゴシック" panose="020B0600070205080204" pitchFamily="34" charset="-128"/>
              </a:rPr>
              <a:t>: </a:t>
            </a:r>
          </a:p>
          <a:p>
            <a:pPr marL="345281" indent="-163116" defTabSz="685800" fontAlgn="auto">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sender retransmits current pkt if ACK/NAK corrupted</a:t>
            </a:r>
          </a:p>
          <a:p>
            <a:pPr marL="345281" indent="-163116" defTabSz="685800" fontAlgn="auto">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sender adds </a:t>
            </a:r>
            <a:r>
              <a:rPr lang="en-US" altLang="en-US" sz="2100" i="1" dirty="0">
                <a:solidFill>
                  <a:srgbClr val="000099"/>
                </a:solidFill>
                <a:latin typeface="Calibri" panose="020F0502020204030204"/>
                <a:ea typeface="ＭＳ Ｐゴシック" panose="020B0600070205080204" pitchFamily="34" charset="-128"/>
              </a:rPr>
              <a:t>sequence number</a:t>
            </a:r>
            <a:r>
              <a:rPr lang="en-US" altLang="en-US" sz="2100" dirty="0">
                <a:solidFill>
                  <a:prstClr val="black"/>
                </a:solidFill>
                <a:latin typeface="Calibri" panose="020F0502020204030204"/>
                <a:ea typeface="ＭＳ Ｐゴシック" panose="020B0600070205080204" pitchFamily="34" charset="-128"/>
              </a:rPr>
              <a:t> to each pkt</a:t>
            </a:r>
          </a:p>
          <a:p>
            <a:pPr marL="345281" indent="-163116" defTabSz="685800" fontAlgn="auto">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receiver discards (doesn’</a:t>
            </a:r>
            <a:r>
              <a:rPr lang="en-US" altLang="ja-JP" sz="2100" dirty="0">
                <a:solidFill>
                  <a:prstClr val="black"/>
                </a:solidFill>
                <a:latin typeface="Calibri" panose="020F0502020204030204"/>
                <a:ea typeface="ＭＳ Ｐゴシック" panose="020B0600070205080204" pitchFamily="34" charset="-128"/>
              </a:rPr>
              <a:t>t deliver up) duplicate pkt</a:t>
            </a:r>
            <a:endParaRPr lang="en-US" altLang="en-US" sz="2100" dirty="0">
              <a:solidFill>
                <a:prstClr val="black"/>
              </a:solidFill>
              <a:latin typeface="Calibri" panose="020F0502020204030204"/>
              <a:ea typeface="ＭＳ Ｐゴシック" panose="020B0600070205080204" pitchFamily="34" charset="-128"/>
            </a:endParaRPr>
          </a:p>
        </p:txBody>
      </p:sp>
      <p:grpSp>
        <p:nvGrpSpPr>
          <p:cNvPr id="56" name="Group 13">
            <a:extLst>
              <a:ext uri="{FF2B5EF4-FFF2-40B4-BE49-F238E27FC236}">
                <a16:creationId xmlns:a16="http://schemas.microsoft.com/office/drawing/2014/main" id="{DD203542-E210-7447-A332-31A71101B61E}"/>
              </a:ext>
            </a:extLst>
          </p:cNvPr>
          <p:cNvGrpSpPr>
            <a:grpSpLocks/>
          </p:cNvGrpSpPr>
          <p:nvPr/>
        </p:nvGrpSpPr>
        <p:grpSpPr bwMode="auto">
          <a:xfrm>
            <a:off x="2327750" y="4291124"/>
            <a:ext cx="4488500" cy="1202531"/>
            <a:chOff x="1552" y="2800"/>
            <a:chExt cx="2578" cy="1010"/>
          </a:xfrm>
        </p:grpSpPr>
        <p:sp>
          <p:nvSpPr>
            <p:cNvPr id="57" name="Rectangle 7">
              <a:extLst>
                <a:ext uri="{FF2B5EF4-FFF2-40B4-BE49-F238E27FC236}">
                  <a16:creationId xmlns:a16="http://schemas.microsoft.com/office/drawing/2014/main" id="{7263B3B4-235C-B144-9AEF-471ED41D188E}"/>
                </a:ext>
              </a:extLst>
            </p:cNvPr>
            <p:cNvSpPr>
              <a:spLocks noChangeArrowheads="1"/>
            </p:cNvSpPr>
            <p:nvPr/>
          </p:nvSpPr>
          <p:spPr bwMode="auto">
            <a:xfrm>
              <a:off x="1552" y="2974"/>
              <a:ext cx="2578" cy="836"/>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58" name="Rectangle 9">
              <a:extLst>
                <a:ext uri="{FF2B5EF4-FFF2-40B4-BE49-F238E27FC236}">
                  <a16:creationId xmlns:a16="http://schemas.microsoft.com/office/drawing/2014/main" id="{2C183582-BCD6-964F-9986-EC99BBA65A9F}"/>
                </a:ext>
              </a:extLst>
            </p:cNvPr>
            <p:cNvSpPr>
              <a:spLocks noChangeArrowheads="1"/>
            </p:cNvSpPr>
            <p:nvPr/>
          </p:nvSpPr>
          <p:spPr bwMode="auto">
            <a:xfrm>
              <a:off x="2226" y="2864"/>
              <a:ext cx="596" cy="22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59" name="Text Box 10">
              <a:extLst>
                <a:ext uri="{FF2B5EF4-FFF2-40B4-BE49-F238E27FC236}">
                  <a16:creationId xmlns:a16="http://schemas.microsoft.com/office/drawing/2014/main" id="{51B6B572-EC0D-AF4F-816C-095262254C5F}"/>
                </a:ext>
              </a:extLst>
            </p:cNvPr>
            <p:cNvSpPr txBox="1">
              <a:spLocks noChangeArrowheads="1"/>
            </p:cNvSpPr>
            <p:nvPr/>
          </p:nvSpPr>
          <p:spPr bwMode="auto">
            <a:xfrm>
              <a:off x="1724" y="2800"/>
              <a:ext cx="1074" cy="38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2400" dirty="0">
                  <a:solidFill>
                    <a:srgbClr val="CC0000"/>
                  </a:solidFill>
                  <a:latin typeface="Calibri" panose="020F0502020204030204"/>
                </a:rPr>
                <a:t>stop and wait</a:t>
              </a:r>
            </a:p>
          </p:txBody>
        </p:sp>
        <p:sp>
          <p:nvSpPr>
            <p:cNvPr id="60" name="Text Box 6">
              <a:extLst>
                <a:ext uri="{FF2B5EF4-FFF2-40B4-BE49-F238E27FC236}">
                  <a16:creationId xmlns:a16="http://schemas.microsoft.com/office/drawing/2014/main" id="{76C910B9-5EA9-F245-95E8-43CDADF70A45}"/>
                </a:ext>
              </a:extLst>
            </p:cNvPr>
            <p:cNvSpPr txBox="1">
              <a:spLocks noChangeArrowheads="1"/>
            </p:cNvSpPr>
            <p:nvPr/>
          </p:nvSpPr>
          <p:spPr bwMode="auto">
            <a:xfrm>
              <a:off x="1678" y="3136"/>
              <a:ext cx="2452" cy="60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CC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lnSpc>
                  <a:spcPct val="85000"/>
                </a:lnSpc>
                <a:spcBef>
                  <a:spcPts val="0"/>
                </a:spcBef>
                <a:spcAft>
                  <a:spcPts val="0"/>
                </a:spcAft>
                <a:defRPr/>
              </a:pPr>
              <a:r>
                <a:rPr lang="en-US" sz="2400" dirty="0">
                  <a:solidFill>
                    <a:prstClr val="black"/>
                  </a:solidFill>
                  <a:latin typeface="Calibri" panose="020F0502020204030204"/>
                </a:rPr>
                <a:t>sender sends one packet,  then waits for receiver  response</a:t>
              </a:r>
            </a:p>
          </p:txBody>
        </p:sp>
      </p:grpSp>
      <p:sp>
        <p:nvSpPr>
          <p:cNvPr id="10" name="Slide Number Placeholder 2">
            <a:extLst>
              <a:ext uri="{FF2B5EF4-FFF2-40B4-BE49-F238E27FC236}">
                <a16:creationId xmlns:a16="http://schemas.microsoft.com/office/drawing/2014/main" id="{85301A5D-98A1-5549-8702-D978C38EA8B6}"/>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41</a:t>
            </a:fld>
            <a:endParaRPr lang="en-US" dirty="0"/>
          </a:p>
        </p:txBody>
      </p:sp>
    </p:spTree>
    <p:extLst>
      <p:ext uri="{BB962C8B-B14F-4D97-AF65-F5344CB8AC3E}">
        <p14:creationId xmlns:p14="http://schemas.microsoft.com/office/powerpoint/2010/main" val="396730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dissolv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dissolv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dissolve">
                                      <p:cBhvr>
                                        <p:cTn id="1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rdt2.1: sender, handling garbled ACK/NAKs</a:t>
            </a:r>
            <a:endParaRPr lang="en-US" dirty="0"/>
          </a:p>
        </p:txBody>
      </p:sp>
      <p:sp>
        <p:nvSpPr>
          <p:cNvPr id="47" name="Oval 3">
            <a:extLst>
              <a:ext uri="{FF2B5EF4-FFF2-40B4-BE49-F238E27FC236}">
                <a16:creationId xmlns:a16="http://schemas.microsoft.com/office/drawing/2014/main" id="{F4C9F03D-E67B-234E-BA55-D7E8F7DDDD11}"/>
              </a:ext>
            </a:extLst>
          </p:cNvPr>
          <p:cNvSpPr>
            <a:spLocks noChangeArrowheads="1"/>
          </p:cNvSpPr>
          <p:nvPr/>
        </p:nvSpPr>
        <p:spPr bwMode="auto">
          <a:xfrm>
            <a:off x="3494083" y="2683820"/>
            <a:ext cx="676275" cy="62745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48" name="Text Box 4">
            <a:extLst>
              <a:ext uri="{FF2B5EF4-FFF2-40B4-BE49-F238E27FC236}">
                <a16:creationId xmlns:a16="http://schemas.microsoft.com/office/drawing/2014/main" id="{512826EB-423D-0E49-8FDB-270557859D99}"/>
              </a:ext>
            </a:extLst>
          </p:cNvPr>
          <p:cNvSpPr txBox="1">
            <a:spLocks noChangeArrowheads="1"/>
          </p:cNvSpPr>
          <p:nvPr/>
        </p:nvSpPr>
        <p:spPr bwMode="auto">
          <a:xfrm>
            <a:off x="3425814" y="2740836"/>
            <a:ext cx="81796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dirty="0">
                <a:solidFill>
                  <a:srgbClr val="000000"/>
                </a:solidFill>
                <a:latin typeface="Arial" panose="020B0604020202020204" pitchFamily="34" charset="0"/>
              </a:rPr>
              <a:t>Wait for call 0 from above</a:t>
            </a:r>
            <a:endParaRPr lang="en-US" altLang="en-US" sz="1050" dirty="0">
              <a:solidFill>
                <a:srgbClr val="000000"/>
              </a:solidFill>
              <a:latin typeface="Times New Roman" panose="02020603050405020304" pitchFamily="18" charset="0"/>
            </a:endParaRPr>
          </a:p>
        </p:txBody>
      </p:sp>
      <p:sp>
        <p:nvSpPr>
          <p:cNvPr id="52" name="Line 8">
            <a:extLst>
              <a:ext uri="{FF2B5EF4-FFF2-40B4-BE49-F238E27FC236}">
                <a16:creationId xmlns:a16="http://schemas.microsoft.com/office/drawing/2014/main" id="{6251CAAF-59B3-6049-8269-0136EB3BA476}"/>
              </a:ext>
            </a:extLst>
          </p:cNvPr>
          <p:cNvSpPr>
            <a:spLocks noChangeShapeType="1"/>
          </p:cNvSpPr>
          <p:nvPr/>
        </p:nvSpPr>
        <p:spPr bwMode="auto">
          <a:xfrm>
            <a:off x="3288105" y="2650483"/>
            <a:ext cx="283369" cy="14287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61" name="Group 10">
            <a:extLst>
              <a:ext uri="{FF2B5EF4-FFF2-40B4-BE49-F238E27FC236}">
                <a16:creationId xmlns:a16="http://schemas.microsoft.com/office/drawing/2014/main" id="{BA1E332A-47D4-2B43-8C9F-38C21B1C7E8C}"/>
              </a:ext>
            </a:extLst>
          </p:cNvPr>
          <p:cNvGrpSpPr>
            <a:grpSpLocks/>
          </p:cNvGrpSpPr>
          <p:nvPr/>
        </p:nvGrpSpPr>
        <p:grpSpPr bwMode="auto">
          <a:xfrm>
            <a:off x="4869255" y="2644529"/>
            <a:ext cx="816769" cy="648891"/>
            <a:chOff x="2848" y="1499"/>
            <a:chExt cx="660" cy="510"/>
          </a:xfrm>
        </p:grpSpPr>
        <p:sp>
          <p:nvSpPr>
            <p:cNvPr id="62" name="Oval 11">
              <a:extLst>
                <a:ext uri="{FF2B5EF4-FFF2-40B4-BE49-F238E27FC236}">
                  <a16:creationId xmlns:a16="http://schemas.microsoft.com/office/drawing/2014/main" id="{9DE4F784-AF0C-E34C-81A2-913DC58F10E2}"/>
                </a:ext>
              </a:extLst>
            </p:cNvPr>
            <p:cNvSpPr>
              <a:spLocks noChangeArrowheads="1"/>
            </p:cNvSpPr>
            <p:nvPr/>
          </p:nvSpPr>
          <p:spPr bwMode="auto">
            <a:xfrm>
              <a:off x="2893" y="1499"/>
              <a:ext cx="568" cy="510"/>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63" name="Text Box 12">
              <a:extLst>
                <a:ext uri="{FF2B5EF4-FFF2-40B4-BE49-F238E27FC236}">
                  <a16:creationId xmlns:a16="http://schemas.microsoft.com/office/drawing/2014/main" id="{0E862915-5D53-444E-973B-D7C43BF97183}"/>
                </a:ext>
              </a:extLst>
            </p:cNvPr>
            <p:cNvSpPr txBox="1">
              <a:spLocks noChangeArrowheads="1"/>
            </p:cNvSpPr>
            <p:nvPr/>
          </p:nvSpPr>
          <p:spPr bwMode="auto">
            <a:xfrm>
              <a:off x="2848" y="1551"/>
              <a:ext cx="6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ACK or NAK 0</a:t>
              </a:r>
              <a:endParaRPr lang="en-US" altLang="en-US" sz="1050" kern="0" dirty="0">
                <a:solidFill>
                  <a:srgbClr val="000000"/>
                </a:solidFill>
                <a:latin typeface="Times New Roman" panose="02020603050405020304" pitchFamily="18" charset="0"/>
              </a:endParaRPr>
            </a:p>
          </p:txBody>
        </p:sp>
      </p:grpSp>
      <p:grpSp>
        <p:nvGrpSpPr>
          <p:cNvPr id="5" name="Group 4">
            <a:extLst>
              <a:ext uri="{FF2B5EF4-FFF2-40B4-BE49-F238E27FC236}">
                <a16:creationId xmlns:a16="http://schemas.microsoft.com/office/drawing/2014/main" id="{7BA1DA02-294B-934E-8385-25257F63BA6D}"/>
              </a:ext>
            </a:extLst>
          </p:cNvPr>
          <p:cNvGrpSpPr/>
          <p:nvPr/>
        </p:nvGrpSpPr>
        <p:grpSpPr>
          <a:xfrm>
            <a:off x="3685773" y="1902771"/>
            <a:ext cx="2770585" cy="815578"/>
            <a:chOff x="4914364" y="1394027"/>
            <a:chExt cx="3694113" cy="1087437"/>
          </a:xfrm>
        </p:grpSpPr>
        <p:sp>
          <p:nvSpPr>
            <p:cNvPr id="49" name="Text Box 5">
              <a:extLst>
                <a:ext uri="{FF2B5EF4-FFF2-40B4-BE49-F238E27FC236}">
                  <a16:creationId xmlns:a16="http://schemas.microsoft.com/office/drawing/2014/main" id="{87E331C0-8956-B94A-9617-A05FF5ABFB5A}"/>
                </a:ext>
              </a:extLst>
            </p:cNvPr>
            <p:cNvSpPr txBox="1">
              <a:spLocks noChangeArrowheads="1"/>
            </p:cNvSpPr>
            <p:nvPr/>
          </p:nvSpPr>
          <p:spPr bwMode="auto">
            <a:xfrm>
              <a:off x="4914364" y="1706764"/>
              <a:ext cx="3694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sndpkt = make_pkt(0, data, checksum)</a:t>
              </a:r>
            </a:p>
            <a:p>
              <a:pPr defTabSz="685800">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grpSp>
          <p:nvGrpSpPr>
            <p:cNvPr id="4" name="Group 3">
              <a:extLst>
                <a:ext uri="{FF2B5EF4-FFF2-40B4-BE49-F238E27FC236}">
                  <a16:creationId xmlns:a16="http://schemas.microsoft.com/office/drawing/2014/main" id="{A70C87B1-30A2-CF4B-8F5E-B415D876E20D}"/>
                </a:ext>
              </a:extLst>
            </p:cNvPr>
            <p:cNvGrpSpPr/>
            <p:nvPr/>
          </p:nvGrpSpPr>
          <p:grpSpPr>
            <a:xfrm>
              <a:off x="4928652" y="1394027"/>
              <a:ext cx="2852737" cy="1087437"/>
              <a:chOff x="4928652" y="1394027"/>
              <a:chExt cx="2852737" cy="1087437"/>
            </a:xfrm>
          </p:grpSpPr>
          <p:sp>
            <p:nvSpPr>
              <p:cNvPr id="50" name="Text Box 6">
                <a:extLst>
                  <a:ext uri="{FF2B5EF4-FFF2-40B4-BE49-F238E27FC236}">
                    <a16:creationId xmlns:a16="http://schemas.microsoft.com/office/drawing/2014/main" id="{8B74C9CA-A3E5-1442-BBC9-D8DC3707E24B}"/>
                  </a:ext>
                </a:extLst>
              </p:cNvPr>
              <p:cNvSpPr txBox="1">
                <a:spLocks noChangeArrowheads="1"/>
              </p:cNvSpPr>
              <p:nvPr/>
            </p:nvSpPr>
            <p:spPr bwMode="auto">
              <a:xfrm>
                <a:off x="4928652" y="1394027"/>
                <a:ext cx="211137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rdt_send(data)</a:t>
                </a:r>
                <a:endParaRPr lang="en-US" altLang="en-US" sz="1200" dirty="0">
                  <a:solidFill>
                    <a:srgbClr val="000000"/>
                  </a:solidFill>
                  <a:latin typeface="Times New Roman" panose="02020603050405020304" pitchFamily="18" charset="0"/>
                </a:endParaRPr>
              </a:p>
            </p:txBody>
          </p:sp>
          <p:sp>
            <p:nvSpPr>
              <p:cNvPr id="51" name="Line 7">
                <a:extLst>
                  <a:ext uri="{FF2B5EF4-FFF2-40B4-BE49-F238E27FC236}">
                    <a16:creationId xmlns:a16="http://schemas.microsoft.com/office/drawing/2014/main" id="{70072A5C-7BD3-1347-8EE9-8CEAFBB1A8C6}"/>
                  </a:ext>
                </a:extLst>
              </p:cNvPr>
              <p:cNvSpPr>
                <a:spLocks noChangeShapeType="1"/>
              </p:cNvSpPr>
              <p:nvPr/>
            </p:nvSpPr>
            <p:spPr bwMode="auto">
              <a:xfrm>
                <a:off x="5046127" y="1759152"/>
                <a:ext cx="27352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4" name="Freeform 13">
                <a:extLst>
                  <a:ext uri="{FF2B5EF4-FFF2-40B4-BE49-F238E27FC236}">
                    <a16:creationId xmlns:a16="http://schemas.microsoft.com/office/drawing/2014/main" id="{0B9BE592-AD70-2042-904B-EEC5293B290D}"/>
                  </a:ext>
                </a:extLst>
              </p:cNvPr>
              <p:cNvSpPr>
                <a:spLocks/>
              </p:cNvSpPr>
              <p:nvPr/>
            </p:nvSpPr>
            <p:spPr bwMode="auto">
              <a:xfrm flipV="1">
                <a:off x="5215989" y="2260802"/>
                <a:ext cx="1482725" cy="22066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grpSp>
        <p:nvGrpSpPr>
          <p:cNvPr id="6" name="Group 5">
            <a:extLst>
              <a:ext uri="{FF2B5EF4-FFF2-40B4-BE49-F238E27FC236}">
                <a16:creationId xmlns:a16="http://schemas.microsoft.com/office/drawing/2014/main" id="{39449F5B-E30E-EB4E-8D88-CA2F8497E472}"/>
              </a:ext>
            </a:extLst>
          </p:cNvPr>
          <p:cNvGrpSpPr/>
          <p:nvPr/>
        </p:nvGrpSpPr>
        <p:grpSpPr>
          <a:xfrm>
            <a:off x="5534814" y="2357137"/>
            <a:ext cx="2635071" cy="905327"/>
            <a:chOff x="7379752" y="1999849"/>
            <a:chExt cx="3513428" cy="1207103"/>
          </a:xfrm>
        </p:grpSpPr>
        <p:sp>
          <p:nvSpPr>
            <p:cNvPr id="65" name="Freeform 14">
              <a:extLst>
                <a:ext uri="{FF2B5EF4-FFF2-40B4-BE49-F238E27FC236}">
                  <a16:creationId xmlns:a16="http://schemas.microsoft.com/office/drawing/2014/main" id="{441BD95E-662D-EC44-934A-74A441B70166}"/>
                </a:ext>
              </a:extLst>
            </p:cNvPr>
            <p:cNvSpPr>
              <a:spLocks/>
            </p:cNvSpPr>
            <p:nvPr/>
          </p:nvSpPr>
          <p:spPr bwMode="auto">
            <a:xfrm rot="20242820">
              <a:off x="7379752" y="2244927"/>
              <a:ext cx="466725" cy="685800"/>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6" name="Text Box 15">
              <a:extLst>
                <a:ext uri="{FF2B5EF4-FFF2-40B4-BE49-F238E27FC236}">
                  <a16:creationId xmlns:a16="http://schemas.microsoft.com/office/drawing/2014/main" id="{4B2E9E68-BA62-3348-B352-724365F815A2}"/>
                </a:ext>
              </a:extLst>
            </p:cNvPr>
            <p:cNvSpPr txBox="1">
              <a:spLocks noChangeArrowheads="1"/>
            </p:cNvSpPr>
            <p:nvPr/>
          </p:nvSpPr>
          <p:spPr bwMode="auto">
            <a:xfrm>
              <a:off x="7742239" y="2806902"/>
              <a:ext cx="2262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sp>
          <p:nvSpPr>
            <p:cNvPr id="67" name="Text Box 16">
              <a:extLst>
                <a:ext uri="{FF2B5EF4-FFF2-40B4-BE49-F238E27FC236}">
                  <a16:creationId xmlns:a16="http://schemas.microsoft.com/office/drawing/2014/main" id="{8B1473FF-396D-124F-BBF5-94242E43AC72}"/>
                </a:ext>
              </a:extLst>
            </p:cNvPr>
            <p:cNvSpPr txBox="1">
              <a:spLocks noChangeArrowheads="1"/>
            </p:cNvSpPr>
            <p:nvPr/>
          </p:nvSpPr>
          <p:spPr bwMode="auto">
            <a:xfrm>
              <a:off x="7714671" y="1999849"/>
              <a:ext cx="3178509"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rdt_rcv(rcvpkt) &amp;&amp;  (corrupt(rcvpkt) || </a:t>
              </a:r>
            </a:p>
            <a:p>
              <a:pPr defTabSz="685800">
                <a:defRPr/>
              </a:pPr>
              <a:r>
                <a:rPr lang="en-US" altLang="en-US" sz="1200" dirty="0">
                  <a:solidFill>
                    <a:srgbClr val="000000"/>
                  </a:solidFill>
                  <a:latin typeface="Arial" panose="020B0604020202020204" pitchFamily="34" charset="0"/>
                </a:rPr>
                <a:t>isNAK(rcvpkt) )</a:t>
              </a:r>
              <a:endParaRPr lang="en-US" altLang="en-US" sz="1200" dirty="0">
                <a:solidFill>
                  <a:srgbClr val="000000"/>
                </a:solidFill>
                <a:latin typeface="Times New Roman" panose="02020603050405020304" pitchFamily="18" charset="0"/>
              </a:endParaRPr>
            </a:p>
          </p:txBody>
        </p:sp>
        <p:sp>
          <p:nvSpPr>
            <p:cNvPr id="68" name="Line 17">
              <a:extLst>
                <a:ext uri="{FF2B5EF4-FFF2-40B4-BE49-F238E27FC236}">
                  <a16:creationId xmlns:a16="http://schemas.microsoft.com/office/drawing/2014/main" id="{9508C46B-C13D-114D-A7F0-B0645626527A}"/>
                </a:ext>
              </a:extLst>
            </p:cNvPr>
            <p:cNvSpPr>
              <a:spLocks noChangeShapeType="1"/>
            </p:cNvSpPr>
            <p:nvPr/>
          </p:nvSpPr>
          <p:spPr bwMode="auto">
            <a:xfrm>
              <a:off x="7835364" y="2846589"/>
              <a:ext cx="14335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8" name="Group 7">
            <a:extLst>
              <a:ext uri="{FF2B5EF4-FFF2-40B4-BE49-F238E27FC236}">
                <a16:creationId xmlns:a16="http://schemas.microsoft.com/office/drawing/2014/main" id="{27D86620-4FC8-1B4F-B3F3-482BB43DB050}"/>
              </a:ext>
            </a:extLst>
          </p:cNvPr>
          <p:cNvGrpSpPr/>
          <p:nvPr/>
        </p:nvGrpSpPr>
        <p:grpSpPr>
          <a:xfrm>
            <a:off x="3866749" y="4538814"/>
            <a:ext cx="2822972" cy="738188"/>
            <a:chOff x="5155664" y="4908752"/>
            <a:chExt cx="3763963" cy="984250"/>
          </a:xfrm>
        </p:grpSpPr>
        <p:sp>
          <p:nvSpPr>
            <p:cNvPr id="70" name="Freeform 19">
              <a:extLst>
                <a:ext uri="{FF2B5EF4-FFF2-40B4-BE49-F238E27FC236}">
                  <a16:creationId xmlns:a16="http://schemas.microsoft.com/office/drawing/2014/main" id="{BD6C0BB1-99C8-4749-986C-88E4780E3782}"/>
                </a:ext>
              </a:extLst>
            </p:cNvPr>
            <p:cNvSpPr>
              <a:spLocks/>
            </p:cNvSpPr>
            <p:nvPr/>
          </p:nvSpPr>
          <p:spPr bwMode="auto">
            <a:xfrm>
              <a:off x="5390614" y="4908752"/>
              <a:ext cx="1606550"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72" name="Text Box 21">
              <a:extLst>
                <a:ext uri="{FF2B5EF4-FFF2-40B4-BE49-F238E27FC236}">
                  <a16:creationId xmlns:a16="http://schemas.microsoft.com/office/drawing/2014/main" id="{71FAC561-AE6B-3048-917F-15508B28AAB6}"/>
                </a:ext>
              </a:extLst>
            </p:cNvPr>
            <p:cNvSpPr txBox="1">
              <a:spLocks noChangeArrowheads="1"/>
            </p:cNvSpPr>
            <p:nvPr/>
          </p:nvSpPr>
          <p:spPr bwMode="auto">
            <a:xfrm>
              <a:off x="5155664" y="5492952"/>
              <a:ext cx="3763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sndpkt = make_pkt(1, data, checksum)</a:t>
              </a:r>
            </a:p>
            <a:p>
              <a:pPr defTabSz="685800">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sp>
          <p:nvSpPr>
            <p:cNvPr id="73" name="Text Box 22">
              <a:extLst>
                <a:ext uri="{FF2B5EF4-FFF2-40B4-BE49-F238E27FC236}">
                  <a16:creationId xmlns:a16="http://schemas.microsoft.com/office/drawing/2014/main" id="{15BBCB1C-B6A9-344E-9CA2-0BBB0CAD20E4}"/>
                </a:ext>
              </a:extLst>
            </p:cNvPr>
            <p:cNvSpPr txBox="1">
              <a:spLocks noChangeArrowheads="1"/>
            </p:cNvSpPr>
            <p:nvPr/>
          </p:nvSpPr>
          <p:spPr bwMode="auto">
            <a:xfrm>
              <a:off x="5225514" y="5154814"/>
              <a:ext cx="23891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rdt_send(data)</a:t>
              </a:r>
              <a:endParaRPr lang="en-US" altLang="en-US" sz="1200" dirty="0">
                <a:solidFill>
                  <a:srgbClr val="000000"/>
                </a:solidFill>
                <a:latin typeface="Times New Roman" panose="02020603050405020304" pitchFamily="18" charset="0"/>
              </a:endParaRPr>
            </a:p>
          </p:txBody>
        </p:sp>
        <p:sp>
          <p:nvSpPr>
            <p:cNvPr id="74" name="Line 23">
              <a:extLst>
                <a:ext uri="{FF2B5EF4-FFF2-40B4-BE49-F238E27FC236}">
                  <a16:creationId xmlns:a16="http://schemas.microsoft.com/office/drawing/2014/main" id="{0C2DB497-B042-9046-9811-10519C1E7B1C}"/>
                </a:ext>
              </a:extLst>
            </p:cNvPr>
            <p:cNvSpPr>
              <a:spLocks noChangeShapeType="1"/>
            </p:cNvSpPr>
            <p:nvPr/>
          </p:nvSpPr>
          <p:spPr bwMode="auto">
            <a:xfrm>
              <a:off x="5273139" y="5507239"/>
              <a:ext cx="29035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9" name="Group 8">
            <a:extLst>
              <a:ext uri="{FF2B5EF4-FFF2-40B4-BE49-F238E27FC236}">
                <a16:creationId xmlns:a16="http://schemas.microsoft.com/office/drawing/2014/main" id="{98CECDF8-D246-4049-B950-BA60CB64C4FE}"/>
              </a:ext>
            </a:extLst>
          </p:cNvPr>
          <p:cNvGrpSpPr/>
          <p:nvPr/>
        </p:nvGrpSpPr>
        <p:grpSpPr>
          <a:xfrm>
            <a:off x="1394847" y="4225680"/>
            <a:ext cx="2115905" cy="1012031"/>
            <a:chOff x="1859796" y="4491239"/>
            <a:chExt cx="2821206" cy="1349375"/>
          </a:xfrm>
        </p:grpSpPr>
        <p:sp>
          <p:nvSpPr>
            <p:cNvPr id="53" name="Freeform 9">
              <a:extLst>
                <a:ext uri="{FF2B5EF4-FFF2-40B4-BE49-F238E27FC236}">
                  <a16:creationId xmlns:a16="http://schemas.microsoft.com/office/drawing/2014/main" id="{5AA1EA36-A375-E043-A8A6-573B3CDB17AB}"/>
                </a:ext>
              </a:extLst>
            </p:cNvPr>
            <p:cNvSpPr>
              <a:spLocks/>
            </p:cNvSpPr>
            <p:nvPr/>
          </p:nvSpPr>
          <p:spPr bwMode="auto">
            <a:xfrm rot="14610547">
              <a:off x="3969802" y="4732539"/>
              <a:ext cx="9525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77" name="Text Box 26">
              <a:extLst>
                <a:ext uri="{FF2B5EF4-FFF2-40B4-BE49-F238E27FC236}">
                  <a16:creationId xmlns:a16="http://schemas.microsoft.com/office/drawing/2014/main" id="{C0C2767A-6838-D340-B9F9-D72D920A7DC7}"/>
                </a:ext>
              </a:extLst>
            </p:cNvPr>
            <p:cNvSpPr txBox="1">
              <a:spLocks noChangeArrowheads="1"/>
            </p:cNvSpPr>
            <p:nvPr/>
          </p:nvSpPr>
          <p:spPr bwMode="auto">
            <a:xfrm>
              <a:off x="2510889" y="5564389"/>
              <a:ext cx="1819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sp>
          <p:nvSpPr>
            <p:cNvPr id="78" name="Text Box 27">
              <a:extLst>
                <a:ext uri="{FF2B5EF4-FFF2-40B4-BE49-F238E27FC236}">
                  <a16:creationId xmlns:a16="http://schemas.microsoft.com/office/drawing/2014/main" id="{28A57471-B5B0-D741-A10E-89210112FB35}"/>
                </a:ext>
              </a:extLst>
            </p:cNvPr>
            <p:cNvSpPr txBox="1">
              <a:spLocks noChangeArrowheads="1"/>
            </p:cNvSpPr>
            <p:nvPr/>
          </p:nvSpPr>
          <p:spPr bwMode="auto">
            <a:xfrm>
              <a:off x="1859796" y="4726939"/>
              <a:ext cx="2391034"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rdt_rcv(rcvpkt) </a:t>
              </a:r>
            </a:p>
            <a:p>
              <a:pPr algn="r" defTabSz="685800">
                <a:defRPr/>
              </a:pPr>
              <a:r>
                <a:rPr lang="en-US" altLang="en-US" sz="1200" dirty="0">
                  <a:solidFill>
                    <a:srgbClr val="000000"/>
                  </a:solidFill>
                  <a:latin typeface="Arial" panose="020B0604020202020204" pitchFamily="34" charset="0"/>
                </a:rPr>
                <a:t>&amp;&amp; (corrupt(rcvpkt) ||</a:t>
              </a:r>
            </a:p>
            <a:p>
              <a:pPr algn="r" defTabSz="685800">
                <a:defRPr/>
              </a:pPr>
              <a:r>
                <a:rPr lang="en-US" altLang="en-US" sz="1200" dirty="0">
                  <a:solidFill>
                    <a:srgbClr val="000000"/>
                  </a:solidFill>
                  <a:latin typeface="Arial" panose="020B0604020202020204" pitchFamily="34" charset="0"/>
                </a:rPr>
                <a:t>isNAK(rcvpkt) )</a:t>
              </a:r>
              <a:endParaRPr lang="en-US" altLang="en-US" sz="1200" dirty="0">
                <a:solidFill>
                  <a:srgbClr val="000000"/>
                </a:solidFill>
                <a:latin typeface="Times New Roman" panose="02020603050405020304" pitchFamily="18" charset="0"/>
              </a:endParaRPr>
            </a:p>
          </p:txBody>
        </p:sp>
        <p:sp>
          <p:nvSpPr>
            <p:cNvPr id="79" name="Line 28">
              <a:extLst>
                <a:ext uri="{FF2B5EF4-FFF2-40B4-BE49-F238E27FC236}">
                  <a16:creationId xmlns:a16="http://schemas.microsoft.com/office/drawing/2014/main" id="{5E70559D-E25D-834D-BB11-04C3EEB77E6D}"/>
                </a:ext>
              </a:extLst>
            </p:cNvPr>
            <p:cNvSpPr>
              <a:spLocks noChangeShapeType="1"/>
            </p:cNvSpPr>
            <p:nvPr/>
          </p:nvSpPr>
          <p:spPr bwMode="auto">
            <a:xfrm>
              <a:off x="2601377" y="5572327"/>
              <a:ext cx="1557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82" name="Group 31">
            <a:extLst>
              <a:ext uri="{FF2B5EF4-FFF2-40B4-BE49-F238E27FC236}">
                <a16:creationId xmlns:a16="http://schemas.microsoft.com/office/drawing/2014/main" id="{81C031FC-110D-E943-BFA4-8F8C747060C6}"/>
              </a:ext>
            </a:extLst>
          </p:cNvPr>
          <p:cNvGrpSpPr>
            <a:grpSpLocks/>
          </p:cNvGrpSpPr>
          <p:nvPr/>
        </p:nvGrpSpPr>
        <p:grpSpPr bwMode="auto">
          <a:xfrm>
            <a:off x="4982364" y="4104236"/>
            <a:ext cx="838200" cy="617935"/>
            <a:chOff x="4156" y="2812"/>
            <a:chExt cx="704" cy="519"/>
          </a:xfrm>
        </p:grpSpPr>
        <p:sp>
          <p:nvSpPr>
            <p:cNvPr id="83" name="Oval 32">
              <a:extLst>
                <a:ext uri="{FF2B5EF4-FFF2-40B4-BE49-F238E27FC236}">
                  <a16:creationId xmlns:a16="http://schemas.microsoft.com/office/drawing/2014/main" id="{DBC13DE2-6448-6042-A76F-1AA9FA583930}"/>
                </a:ext>
              </a:extLst>
            </p:cNvPr>
            <p:cNvSpPr>
              <a:spLocks noChangeArrowheads="1"/>
            </p:cNvSpPr>
            <p:nvPr/>
          </p:nvSpPr>
          <p:spPr bwMode="auto">
            <a:xfrm>
              <a:off x="4242" y="2812"/>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84" name="Text Box 33">
              <a:extLst>
                <a:ext uri="{FF2B5EF4-FFF2-40B4-BE49-F238E27FC236}">
                  <a16:creationId xmlns:a16="http://schemas.microsoft.com/office/drawing/2014/main" id="{E29BDAD6-5FEC-F24F-BE6F-CD21C3CA8FB1}"/>
                </a:ext>
              </a:extLst>
            </p:cNvPr>
            <p:cNvSpPr txBox="1">
              <a:spLocks noChangeArrowheads="1"/>
            </p:cNvSpPr>
            <p:nvPr/>
          </p:nvSpPr>
          <p:spPr bwMode="auto">
            <a:xfrm>
              <a:off x="4156" y="2870"/>
              <a:ext cx="7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a:t>
              </a:r>
            </a:p>
            <a:p>
              <a:pPr algn="ctr" defTabSz="685800">
                <a:defRPr/>
              </a:pPr>
              <a:r>
                <a:rPr lang="en-US" altLang="en-US" sz="1050" kern="0" dirty="0">
                  <a:solidFill>
                    <a:srgbClr val="000000"/>
                  </a:solidFill>
                  <a:latin typeface="Arial" panose="020B0604020202020204" pitchFamily="34" charset="0"/>
                </a:rPr>
                <a:t> call 1 from above</a:t>
              </a:r>
              <a:endParaRPr lang="en-US" altLang="en-US" sz="1050" kern="0" dirty="0">
                <a:solidFill>
                  <a:srgbClr val="000000"/>
                </a:solidFill>
                <a:latin typeface="Times New Roman" panose="02020603050405020304" pitchFamily="18" charset="0"/>
              </a:endParaRPr>
            </a:p>
          </p:txBody>
        </p:sp>
      </p:grpSp>
      <p:grpSp>
        <p:nvGrpSpPr>
          <p:cNvPr id="85" name="Group 34">
            <a:extLst>
              <a:ext uri="{FF2B5EF4-FFF2-40B4-BE49-F238E27FC236}">
                <a16:creationId xmlns:a16="http://schemas.microsoft.com/office/drawing/2014/main" id="{A719D103-2F81-5E46-A5A0-A41FEB02DBAE}"/>
              </a:ext>
            </a:extLst>
          </p:cNvPr>
          <p:cNvGrpSpPr>
            <a:grpSpLocks/>
          </p:cNvGrpSpPr>
          <p:nvPr/>
        </p:nvGrpSpPr>
        <p:grpSpPr bwMode="auto">
          <a:xfrm>
            <a:off x="3340492" y="4063755"/>
            <a:ext cx="784622" cy="617935"/>
            <a:chOff x="4916" y="3266"/>
            <a:chExt cx="659" cy="519"/>
          </a:xfrm>
        </p:grpSpPr>
        <p:sp>
          <p:nvSpPr>
            <p:cNvPr id="86" name="Oval 35">
              <a:extLst>
                <a:ext uri="{FF2B5EF4-FFF2-40B4-BE49-F238E27FC236}">
                  <a16:creationId xmlns:a16="http://schemas.microsoft.com/office/drawing/2014/main" id="{452B4C18-F351-424F-9F61-578D01454D2C}"/>
                </a:ext>
              </a:extLst>
            </p:cNvPr>
            <p:cNvSpPr>
              <a:spLocks noChangeArrowheads="1"/>
            </p:cNvSpPr>
            <p:nvPr/>
          </p:nvSpPr>
          <p:spPr bwMode="auto">
            <a:xfrm>
              <a:off x="4957" y="3266"/>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87" name="Text Box 36">
              <a:extLst>
                <a:ext uri="{FF2B5EF4-FFF2-40B4-BE49-F238E27FC236}">
                  <a16:creationId xmlns:a16="http://schemas.microsoft.com/office/drawing/2014/main" id="{6D1F24C4-2629-794A-B55E-60C945FDCEA3}"/>
                </a:ext>
              </a:extLst>
            </p:cNvPr>
            <p:cNvSpPr txBox="1">
              <a:spLocks noChangeArrowheads="1"/>
            </p:cNvSpPr>
            <p:nvPr/>
          </p:nvSpPr>
          <p:spPr bwMode="auto">
            <a:xfrm>
              <a:off x="4916" y="3319"/>
              <a:ext cx="65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ACK or NAK 1</a:t>
              </a:r>
              <a:endParaRPr lang="en-US" altLang="en-US" sz="1050" kern="0" dirty="0">
                <a:solidFill>
                  <a:srgbClr val="000000"/>
                </a:solidFill>
                <a:latin typeface="Times New Roman" panose="02020603050405020304" pitchFamily="18" charset="0"/>
              </a:endParaRPr>
            </a:p>
          </p:txBody>
        </p:sp>
      </p:grpSp>
      <p:grpSp>
        <p:nvGrpSpPr>
          <p:cNvPr id="7" name="Group 6">
            <a:extLst>
              <a:ext uri="{FF2B5EF4-FFF2-40B4-BE49-F238E27FC236}">
                <a16:creationId xmlns:a16="http://schemas.microsoft.com/office/drawing/2014/main" id="{1A5D53C9-4BB8-5043-8DC5-F0E5CF4CABAD}"/>
              </a:ext>
            </a:extLst>
          </p:cNvPr>
          <p:cNvGrpSpPr/>
          <p:nvPr/>
        </p:nvGrpSpPr>
        <p:grpSpPr>
          <a:xfrm>
            <a:off x="5505048" y="3099348"/>
            <a:ext cx="2388738" cy="1127106"/>
            <a:chOff x="7340064" y="2989464"/>
            <a:chExt cx="3184984" cy="1502807"/>
          </a:xfrm>
        </p:grpSpPr>
        <p:sp>
          <p:nvSpPr>
            <p:cNvPr id="71" name="Freeform 20">
              <a:extLst>
                <a:ext uri="{FF2B5EF4-FFF2-40B4-BE49-F238E27FC236}">
                  <a16:creationId xmlns:a16="http://schemas.microsoft.com/office/drawing/2014/main" id="{9CD05C47-D1BA-A640-9C82-600A98940CDA}"/>
                </a:ext>
              </a:extLst>
            </p:cNvPr>
            <p:cNvSpPr>
              <a:spLocks/>
            </p:cNvSpPr>
            <p:nvPr/>
          </p:nvSpPr>
          <p:spPr bwMode="auto">
            <a:xfrm rot="5400000" flipH="1" flipV="1">
              <a:off x="6760626" y="3568902"/>
              <a:ext cx="1363663" cy="20478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75" name="Text Box 24">
              <a:extLst>
                <a:ext uri="{FF2B5EF4-FFF2-40B4-BE49-F238E27FC236}">
                  <a16:creationId xmlns:a16="http://schemas.microsoft.com/office/drawing/2014/main" id="{F253FA80-34F7-E440-9662-0A8A9E206D8C}"/>
                </a:ext>
              </a:extLst>
            </p:cNvPr>
            <p:cNvSpPr txBox="1">
              <a:spLocks noChangeArrowheads="1"/>
            </p:cNvSpPr>
            <p:nvPr/>
          </p:nvSpPr>
          <p:spPr bwMode="auto">
            <a:xfrm>
              <a:off x="7529435" y="3255707"/>
              <a:ext cx="29956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rdt_rcv(rcvpkt)   </a:t>
              </a:r>
            </a:p>
            <a:p>
              <a:pPr defTabSz="685800">
                <a:defRPr/>
              </a:pPr>
              <a:r>
                <a:rPr lang="en-US" altLang="en-US" sz="1200" dirty="0">
                  <a:solidFill>
                    <a:srgbClr val="000000"/>
                  </a:solidFill>
                  <a:latin typeface="Arial" panose="020B0604020202020204" pitchFamily="34" charset="0"/>
                </a:rPr>
                <a:t>&amp;&amp; notcorrupt(rcvpkt) </a:t>
              </a:r>
            </a:p>
            <a:p>
              <a:pPr defTabSz="685800">
                <a:defRPr/>
              </a:pPr>
              <a:r>
                <a:rPr lang="en-US" altLang="en-US" sz="1200" dirty="0">
                  <a:solidFill>
                    <a:srgbClr val="000000"/>
                  </a:solidFill>
                  <a:latin typeface="Arial" panose="020B0604020202020204" pitchFamily="34" charset="0"/>
                </a:rPr>
                <a:t>&amp;&amp; isACK(rcvpkt) </a:t>
              </a:r>
            </a:p>
          </p:txBody>
        </p:sp>
        <p:sp>
          <p:nvSpPr>
            <p:cNvPr id="76" name="Line 25">
              <a:extLst>
                <a:ext uri="{FF2B5EF4-FFF2-40B4-BE49-F238E27FC236}">
                  <a16:creationId xmlns:a16="http://schemas.microsoft.com/office/drawing/2014/main" id="{66DBD07B-79D8-0F4A-A6FF-59EB09F7736C}"/>
                </a:ext>
              </a:extLst>
            </p:cNvPr>
            <p:cNvSpPr>
              <a:spLocks noChangeShapeType="1"/>
            </p:cNvSpPr>
            <p:nvPr/>
          </p:nvSpPr>
          <p:spPr bwMode="auto">
            <a:xfrm>
              <a:off x="7611527" y="411341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88" name="Text Box 37">
              <a:extLst>
                <a:ext uri="{FF2B5EF4-FFF2-40B4-BE49-F238E27FC236}">
                  <a16:creationId xmlns:a16="http://schemas.microsoft.com/office/drawing/2014/main" id="{3EF62ED3-CC68-F04E-85DE-74B808ECDB5D}"/>
                </a:ext>
              </a:extLst>
            </p:cNvPr>
            <p:cNvSpPr txBox="1">
              <a:spLocks noChangeArrowheads="1"/>
            </p:cNvSpPr>
            <p:nvPr/>
          </p:nvSpPr>
          <p:spPr bwMode="auto">
            <a:xfrm>
              <a:off x="7962396" y="4122939"/>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00"/>
                  </a:solidFill>
                  <a:latin typeface="Symbol" charset="0"/>
                </a:rPr>
                <a:t>L</a:t>
              </a:r>
            </a:p>
          </p:txBody>
        </p:sp>
      </p:grpSp>
      <p:grpSp>
        <p:nvGrpSpPr>
          <p:cNvPr id="10" name="Group 9">
            <a:extLst>
              <a:ext uri="{FF2B5EF4-FFF2-40B4-BE49-F238E27FC236}">
                <a16:creationId xmlns:a16="http://schemas.microsoft.com/office/drawing/2014/main" id="{41D39DAE-4584-FA45-975F-927834C99F4E}"/>
              </a:ext>
            </a:extLst>
          </p:cNvPr>
          <p:cNvGrpSpPr/>
          <p:nvPr/>
        </p:nvGrpSpPr>
        <p:grpSpPr>
          <a:xfrm>
            <a:off x="576372" y="3144593"/>
            <a:ext cx="2939143" cy="987803"/>
            <a:chOff x="768495" y="3049789"/>
            <a:chExt cx="3918857" cy="1317070"/>
          </a:xfrm>
        </p:grpSpPr>
        <p:sp>
          <p:nvSpPr>
            <p:cNvPr id="69" name="Freeform 18">
              <a:extLst>
                <a:ext uri="{FF2B5EF4-FFF2-40B4-BE49-F238E27FC236}">
                  <a16:creationId xmlns:a16="http://schemas.microsoft.com/office/drawing/2014/main" id="{E4C63A38-513E-6D46-AD73-8B315DEB4A90}"/>
                </a:ext>
              </a:extLst>
            </p:cNvPr>
            <p:cNvSpPr>
              <a:spLocks/>
            </p:cNvSpPr>
            <p:nvPr/>
          </p:nvSpPr>
          <p:spPr bwMode="auto">
            <a:xfrm rot="16200000" flipV="1">
              <a:off x="3992027" y="3621289"/>
              <a:ext cx="1266825" cy="12382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80" name="Text Box 29">
              <a:extLst>
                <a:ext uri="{FF2B5EF4-FFF2-40B4-BE49-F238E27FC236}">
                  <a16:creationId xmlns:a16="http://schemas.microsoft.com/office/drawing/2014/main" id="{10C84F04-9916-C447-98C1-9B431D5078A3}"/>
                </a:ext>
              </a:extLst>
            </p:cNvPr>
            <p:cNvSpPr txBox="1">
              <a:spLocks noChangeArrowheads="1"/>
            </p:cNvSpPr>
            <p:nvPr/>
          </p:nvSpPr>
          <p:spPr bwMode="auto">
            <a:xfrm>
              <a:off x="768495" y="3141125"/>
              <a:ext cx="362372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rdt_rcv(rcvpkt)  </a:t>
              </a:r>
            </a:p>
            <a:p>
              <a:pPr algn="r" defTabSz="685800">
                <a:defRPr/>
              </a:pPr>
              <a:r>
                <a:rPr lang="en-US" altLang="en-US" sz="1200" dirty="0">
                  <a:solidFill>
                    <a:srgbClr val="000000"/>
                  </a:solidFill>
                  <a:latin typeface="Arial" panose="020B0604020202020204" pitchFamily="34" charset="0"/>
                </a:rPr>
                <a:t>&amp;&amp; notcorrupt(rcvpkt) &amp;&amp; isACK(rcvpkt)</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81" name="Line 30">
              <a:extLst>
                <a:ext uri="{FF2B5EF4-FFF2-40B4-BE49-F238E27FC236}">
                  <a16:creationId xmlns:a16="http://schemas.microsoft.com/office/drawing/2014/main" id="{3CE13E4F-EE16-CD4F-B855-807B9A4D3AC5}"/>
                </a:ext>
              </a:extLst>
            </p:cNvPr>
            <p:cNvSpPr>
              <a:spLocks noChangeShapeType="1"/>
            </p:cNvSpPr>
            <p:nvPr/>
          </p:nvSpPr>
          <p:spPr bwMode="auto">
            <a:xfrm>
              <a:off x="2572802" y="3983239"/>
              <a:ext cx="1738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89" name="Text Box 38">
              <a:extLst>
                <a:ext uri="{FF2B5EF4-FFF2-40B4-BE49-F238E27FC236}">
                  <a16:creationId xmlns:a16="http://schemas.microsoft.com/office/drawing/2014/main" id="{82E244E2-C5AE-4445-BF1E-C90A2091B07F}"/>
                </a:ext>
              </a:extLst>
            </p:cNvPr>
            <p:cNvSpPr txBox="1">
              <a:spLocks noChangeArrowheads="1"/>
            </p:cNvSpPr>
            <p:nvPr/>
          </p:nvSpPr>
          <p:spPr bwMode="auto">
            <a:xfrm>
              <a:off x="3112584" y="3997527"/>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00"/>
                  </a:solidFill>
                  <a:latin typeface="Symbol" charset="0"/>
                </a:rPr>
                <a:t>L</a:t>
              </a:r>
            </a:p>
          </p:txBody>
        </p:sp>
      </p:grpSp>
      <p:sp>
        <p:nvSpPr>
          <p:cNvPr id="46" name="Slide Number Placeholder 2">
            <a:extLst>
              <a:ext uri="{FF2B5EF4-FFF2-40B4-BE49-F238E27FC236}">
                <a16:creationId xmlns:a16="http://schemas.microsoft.com/office/drawing/2014/main" id="{B69BA466-748A-4F41-808A-2B33C515BE9E}"/>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42</a:t>
            </a:fld>
            <a:endParaRPr lang="en-US" dirty="0"/>
          </a:p>
        </p:txBody>
      </p:sp>
    </p:spTree>
    <p:extLst>
      <p:ext uri="{BB962C8B-B14F-4D97-AF65-F5344CB8AC3E}">
        <p14:creationId xmlns:p14="http://schemas.microsoft.com/office/powerpoint/2010/main" val="64101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righ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rdt2.1: receiver, handling garbled ACK/NAKs</a:t>
            </a:r>
            <a:endParaRPr lang="en-US" dirty="0"/>
          </a:p>
        </p:txBody>
      </p:sp>
      <p:grpSp>
        <p:nvGrpSpPr>
          <p:cNvPr id="138" name="Group 3">
            <a:extLst>
              <a:ext uri="{FF2B5EF4-FFF2-40B4-BE49-F238E27FC236}">
                <a16:creationId xmlns:a16="http://schemas.microsoft.com/office/drawing/2014/main" id="{C1CD05A1-04E4-FC48-B0C5-45F2AACDECEF}"/>
              </a:ext>
            </a:extLst>
          </p:cNvPr>
          <p:cNvGrpSpPr>
            <a:grpSpLocks/>
          </p:cNvGrpSpPr>
          <p:nvPr/>
        </p:nvGrpSpPr>
        <p:grpSpPr bwMode="auto">
          <a:xfrm>
            <a:off x="3573184" y="3366749"/>
            <a:ext cx="613172" cy="596504"/>
            <a:chOff x="963" y="1131"/>
            <a:chExt cx="515" cy="501"/>
          </a:xfrm>
        </p:grpSpPr>
        <p:sp>
          <p:nvSpPr>
            <p:cNvPr id="139" name="Oval 4">
              <a:extLst>
                <a:ext uri="{FF2B5EF4-FFF2-40B4-BE49-F238E27FC236}">
                  <a16:creationId xmlns:a16="http://schemas.microsoft.com/office/drawing/2014/main" id="{1AA1B3B3-9BE5-B941-861C-6A95AE615AE0}"/>
                </a:ext>
              </a:extLst>
            </p:cNvPr>
            <p:cNvSpPr>
              <a:spLocks noChangeArrowheads="1"/>
            </p:cNvSpPr>
            <p:nvPr/>
          </p:nvSpPr>
          <p:spPr bwMode="auto">
            <a:xfrm>
              <a:off x="963" y="1131"/>
              <a:ext cx="490" cy="501"/>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140" name="Text Box 5">
              <a:extLst>
                <a:ext uri="{FF2B5EF4-FFF2-40B4-BE49-F238E27FC236}">
                  <a16:creationId xmlns:a16="http://schemas.microsoft.com/office/drawing/2014/main" id="{E4E7D8C2-369B-AA4D-BFEC-61A1CB9BBDF5}"/>
                </a:ext>
              </a:extLst>
            </p:cNvPr>
            <p:cNvSpPr txBox="1">
              <a:spLocks noChangeArrowheads="1"/>
            </p:cNvSpPr>
            <p:nvPr/>
          </p:nvSpPr>
          <p:spPr bwMode="auto">
            <a:xfrm>
              <a:off x="974" y="1153"/>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t>
              </a:r>
            </a:p>
            <a:p>
              <a:pPr algn="ctr" defTabSz="685800">
                <a:defRPr/>
              </a:pPr>
              <a:r>
                <a:rPr lang="en-US" altLang="en-US" sz="1050" kern="0" dirty="0">
                  <a:solidFill>
                    <a:srgbClr val="000000"/>
                  </a:solidFill>
                  <a:latin typeface="Arial" panose="020B0604020202020204" pitchFamily="34" charset="0"/>
                </a:rPr>
                <a:t>0 from below</a:t>
              </a:r>
              <a:endParaRPr lang="en-US" altLang="en-US" sz="1050" kern="0" dirty="0">
                <a:solidFill>
                  <a:srgbClr val="000000"/>
                </a:solidFill>
                <a:latin typeface="Times New Roman" panose="02020603050405020304" pitchFamily="18" charset="0"/>
              </a:endParaRPr>
            </a:p>
          </p:txBody>
        </p:sp>
      </p:grpSp>
      <p:sp>
        <p:nvSpPr>
          <p:cNvPr id="141" name="Line 6">
            <a:extLst>
              <a:ext uri="{FF2B5EF4-FFF2-40B4-BE49-F238E27FC236}">
                <a16:creationId xmlns:a16="http://schemas.microsoft.com/office/drawing/2014/main" id="{8BBFC15E-678E-0147-A56E-4A3A32B91FBE}"/>
              </a:ext>
            </a:extLst>
          </p:cNvPr>
          <p:cNvSpPr>
            <a:spLocks noChangeShapeType="1"/>
          </p:cNvSpPr>
          <p:nvPr/>
        </p:nvSpPr>
        <p:spPr bwMode="auto">
          <a:xfrm>
            <a:off x="3450549" y="2564268"/>
            <a:ext cx="314325" cy="80962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6" name="Group 5">
            <a:extLst>
              <a:ext uri="{FF2B5EF4-FFF2-40B4-BE49-F238E27FC236}">
                <a16:creationId xmlns:a16="http://schemas.microsoft.com/office/drawing/2014/main" id="{E6FABB75-14DE-C74F-9D57-A9DEB7587596}"/>
              </a:ext>
            </a:extLst>
          </p:cNvPr>
          <p:cNvGrpSpPr/>
          <p:nvPr/>
        </p:nvGrpSpPr>
        <p:grpSpPr>
          <a:xfrm>
            <a:off x="3516033" y="3978731"/>
            <a:ext cx="2896791" cy="1640681"/>
            <a:chOff x="4688044" y="4161974"/>
            <a:chExt cx="3862388" cy="2187575"/>
          </a:xfrm>
        </p:grpSpPr>
        <p:sp>
          <p:nvSpPr>
            <p:cNvPr id="146" name="Freeform 11">
              <a:extLst>
                <a:ext uri="{FF2B5EF4-FFF2-40B4-BE49-F238E27FC236}">
                  <a16:creationId xmlns:a16="http://schemas.microsoft.com/office/drawing/2014/main" id="{57F6D8C5-C177-EA4A-8A0D-C9ECA2E44CD8}"/>
                </a:ext>
              </a:extLst>
            </p:cNvPr>
            <p:cNvSpPr>
              <a:spLocks/>
            </p:cNvSpPr>
            <p:nvPr/>
          </p:nvSpPr>
          <p:spPr bwMode="auto">
            <a:xfrm>
              <a:off x="5299232" y="4161974"/>
              <a:ext cx="1590675" cy="68897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47" name="Text Box 12">
              <a:extLst>
                <a:ext uri="{FF2B5EF4-FFF2-40B4-BE49-F238E27FC236}">
                  <a16:creationId xmlns:a16="http://schemas.microsoft.com/office/drawing/2014/main" id="{39FBA62B-425E-884D-B8D0-53837C7194C3}"/>
                </a:ext>
              </a:extLst>
            </p:cNvPr>
            <p:cNvSpPr txBox="1">
              <a:spLocks noChangeArrowheads="1"/>
            </p:cNvSpPr>
            <p:nvPr/>
          </p:nvSpPr>
          <p:spPr bwMode="auto">
            <a:xfrm>
              <a:off x="4688044" y="4742999"/>
              <a:ext cx="3581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&amp;&amp; notcorrupt(rcvpkt) </a:t>
              </a:r>
            </a:p>
            <a:p>
              <a:pPr defTabSz="685800">
                <a:defRPr/>
              </a:pPr>
              <a:r>
                <a:rPr lang="en-US" altLang="en-US" sz="1050" dirty="0">
                  <a:solidFill>
                    <a:srgbClr val="000000"/>
                  </a:solidFill>
                  <a:latin typeface="Arial" panose="020B0604020202020204" pitchFamily="34" charset="0"/>
                </a:rPr>
                <a:t>  &amp;&amp; has_seq1(rcvpkt)</a:t>
              </a:r>
              <a:r>
                <a:rPr lang="en-US" altLang="en-US" sz="1200" dirty="0">
                  <a:solidFill>
                    <a:srgbClr val="000000"/>
                  </a:solidFill>
                  <a:latin typeface="Arial" panose="020B0604020202020204" pitchFamily="34" charset="0"/>
                </a:rPr>
                <a:t> </a:t>
              </a:r>
              <a:endParaRPr lang="en-US" altLang="en-US" sz="1200" dirty="0">
                <a:solidFill>
                  <a:srgbClr val="000000"/>
                </a:solidFill>
                <a:latin typeface="Times New Roman" panose="02020603050405020304" pitchFamily="18" charset="0"/>
              </a:endParaRPr>
            </a:p>
          </p:txBody>
        </p:sp>
        <p:sp>
          <p:nvSpPr>
            <p:cNvPr id="148" name="Line 13">
              <a:extLst>
                <a:ext uri="{FF2B5EF4-FFF2-40B4-BE49-F238E27FC236}">
                  <a16:creationId xmlns:a16="http://schemas.microsoft.com/office/drawing/2014/main" id="{1082C30A-F447-2048-A881-DB90328221D2}"/>
                </a:ext>
              </a:extLst>
            </p:cNvPr>
            <p:cNvSpPr>
              <a:spLocks noChangeShapeType="1"/>
            </p:cNvSpPr>
            <p:nvPr/>
          </p:nvSpPr>
          <p:spPr bwMode="auto">
            <a:xfrm>
              <a:off x="4754719" y="5300212"/>
              <a:ext cx="2898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49" name="Text Box 14">
              <a:extLst>
                <a:ext uri="{FF2B5EF4-FFF2-40B4-BE49-F238E27FC236}">
                  <a16:creationId xmlns:a16="http://schemas.microsoft.com/office/drawing/2014/main" id="{29182A79-7B96-1B4E-B5FE-E02DEA7CEAB7}"/>
                </a:ext>
              </a:extLst>
            </p:cNvPr>
            <p:cNvSpPr txBox="1">
              <a:spLocks noChangeArrowheads="1"/>
            </p:cNvSpPr>
            <p:nvPr/>
          </p:nvSpPr>
          <p:spPr bwMode="auto">
            <a:xfrm>
              <a:off x="4697569" y="5355774"/>
              <a:ext cx="385286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extract(rcvpkt,data)</a:t>
              </a:r>
            </a:p>
            <a:p>
              <a:pPr defTabSz="685800">
                <a:defRPr/>
              </a:pPr>
              <a:r>
                <a:rPr lang="en-US" altLang="en-US" sz="1050" dirty="0">
                  <a:solidFill>
                    <a:srgbClr val="000000"/>
                  </a:solidFill>
                  <a:latin typeface="Arial" panose="020B0604020202020204" pitchFamily="34" charset="0"/>
                </a:rPr>
                <a:t>deliver_data(data)</a:t>
              </a:r>
            </a:p>
            <a:p>
              <a:pPr defTabSz="685800">
                <a:defRPr/>
              </a:pPr>
              <a:r>
                <a:rPr lang="en-US" altLang="en-US" sz="1050" dirty="0">
                  <a:solidFill>
                    <a:srgbClr val="000000"/>
                  </a:solidFill>
                  <a:latin typeface="Arial" panose="020B0604020202020204" pitchFamily="34" charset="0"/>
                </a:rPr>
                <a:t>sndpkt = make_pkt(ACK, chksum)</a:t>
              </a:r>
            </a:p>
            <a:p>
              <a:pPr defTabSz="685800">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grpSp>
      <p:grpSp>
        <p:nvGrpSpPr>
          <p:cNvPr id="150" name="Group 15">
            <a:extLst>
              <a:ext uri="{FF2B5EF4-FFF2-40B4-BE49-F238E27FC236}">
                <a16:creationId xmlns:a16="http://schemas.microsoft.com/office/drawing/2014/main" id="{A479FFEA-FE33-2B4E-8918-3A674DE0585E}"/>
              </a:ext>
            </a:extLst>
          </p:cNvPr>
          <p:cNvGrpSpPr>
            <a:grpSpLocks/>
          </p:cNvGrpSpPr>
          <p:nvPr/>
        </p:nvGrpSpPr>
        <p:grpSpPr bwMode="auto">
          <a:xfrm>
            <a:off x="4847152" y="3392943"/>
            <a:ext cx="619125" cy="597694"/>
            <a:chOff x="4398" y="3133"/>
            <a:chExt cx="520" cy="502"/>
          </a:xfrm>
        </p:grpSpPr>
        <p:sp>
          <p:nvSpPr>
            <p:cNvPr id="151" name="Oval 16">
              <a:extLst>
                <a:ext uri="{FF2B5EF4-FFF2-40B4-BE49-F238E27FC236}">
                  <a16:creationId xmlns:a16="http://schemas.microsoft.com/office/drawing/2014/main" id="{6D36849B-325C-BB44-97CF-6F19DE4D9B84}"/>
                </a:ext>
              </a:extLst>
            </p:cNvPr>
            <p:cNvSpPr>
              <a:spLocks noChangeArrowheads="1"/>
            </p:cNvSpPr>
            <p:nvPr/>
          </p:nvSpPr>
          <p:spPr bwMode="auto">
            <a:xfrm>
              <a:off x="4398" y="3133"/>
              <a:ext cx="507" cy="502"/>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152" name="Text Box 17">
              <a:extLst>
                <a:ext uri="{FF2B5EF4-FFF2-40B4-BE49-F238E27FC236}">
                  <a16:creationId xmlns:a16="http://schemas.microsoft.com/office/drawing/2014/main" id="{B8F092A3-F065-5542-858A-5CCD8650616E}"/>
                </a:ext>
              </a:extLst>
            </p:cNvPr>
            <p:cNvSpPr txBox="1">
              <a:spLocks noChangeArrowheads="1"/>
            </p:cNvSpPr>
            <p:nvPr/>
          </p:nvSpPr>
          <p:spPr bwMode="auto">
            <a:xfrm>
              <a:off x="4414" y="3163"/>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t>
              </a:r>
            </a:p>
            <a:p>
              <a:pPr algn="ctr" defTabSz="685800">
                <a:defRPr/>
              </a:pPr>
              <a:r>
                <a:rPr lang="en-US" altLang="en-US" sz="1050" kern="0" dirty="0">
                  <a:solidFill>
                    <a:srgbClr val="000000"/>
                  </a:solidFill>
                  <a:latin typeface="Arial" panose="020B0604020202020204" pitchFamily="34" charset="0"/>
                </a:rPr>
                <a:t>1 from below</a:t>
              </a:r>
              <a:endParaRPr lang="en-US" altLang="en-US" sz="1050" kern="0" dirty="0">
                <a:solidFill>
                  <a:srgbClr val="000000"/>
                </a:solidFill>
                <a:latin typeface="Times New Roman" panose="02020603050405020304" pitchFamily="18" charset="0"/>
              </a:endParaRPr>
            </a:p>
          </p:txBody>
        </p:sp>
      </p:grpSp>
      <p:grpSp>
        <p:nvGrpSpPr>
          <p:cNvPr id="5" name="Group 4">
            <a:extLst>
              <a:ext uri="{FF2B5EF4-FFF2-40B4-BE49-F238E27FC236}">
                <a16:creationId xmlns:a16="http://schemas.microsoft.com/office/drawing/2014/main" id="{FB3EE5B1-79C6-6A42-B7CC-0473574A8080}"/>
              </a:ext>
            </a:extLst>
          </p:cNvPr>
          <p:cNvGrpSpPr/>
          <p:nvPr/>
        </p:nvGrpSpPr>
        <p:grpSpPr>
          <a:xfrm>
            <a:off x="3637477" y="1815365"/>
            <a:ext cx="2986088" cy="1576388"/>
            <a:chOff x="4849969" y="1277487"/>
            <a:chExt cx="3981450" cy="2101850"/>
          </a:xfrm>
        </p:grpSpPr>
        <p:sp>
          <p:nvSpPr>
            <p:cNvPr id="142" name="Freeform 7">
              <a:extLst>
                <a:ext uri="{FF2B5EF4-FFF2-40B4-BE49-F238E27FC236}">
                  <a16:creationId xmlns:a16="http://schemas.microsoft.com/office/drawing/2014/main" id="{5956BEBC-4701-3244-B0E2-D13AA47CCD93}"/>
                </a:ext>
              </a:extLst>
            </p:cNvPr>
            <p:cNvSpPr>
              <a:spLocks/>
            </p:cNvSpPr>
            <p:nvPr/>
          </p:nvSpPr>
          <p:spPr bwMode="auto">
            <a:xfrm flipV="1">
              <a:off x="5281769" y="2593524"/>
              <a:ext cx="1590675" cy="785813"/>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4" name="Group 3">
              <a:extLst>
                <a:ext uri="{FF2B5EF4-FFF2-40B4-BE49-F238E27FC236}">
                  <a16:creationId xmlns:a16="http://schemas.microsoft.com/office/drawing/2014/main" id="{6F2A2B9E-82C1-DF40-942B-E0130357CCCD}"/>
                </a:ext>
              </a:extLst>
            </p:cNvPr>
            <p:cNvGrpSpPr/>
            <p:nvPr/>
          </p:nvGrpSpPr>
          <p:grpSpPr>
            <a:xfrm>
              <a:off x="4849969" y="1277487"/>
              <a:ext cx="3981450" cy="1231900"/>
              <a:chOff x="4849969" y="1277487"/>
              <a:chExt cx="3981450" cy="1231900"/>
            </a:xfrm>
          </p:grpSpPr>
          <p:sp>
            <p:nvSpPr>
              <p:cNvPr id="154" name="Text Box 19">
                <a:extLst>
                  <a:ext uri="{FF2B5EF4-FFF2-40B4-BE49-F238E27FC236}">
                    <a16:creationId xmlns:a16="http://schemas.microsoft.com/office/drawing/2014/main" id="{CCF30C45-BBF0-FD4D-9104-16CC43E990C6}"/>
                  </a:ext>
                </a:extLst>
              </p:cNvPr>
              <p:cNvSpPr txBox="1">
                <a:spLocks noChangeArrowheads="1"/>
              </p:cNvSpPr>
              <p:nvPr/>
            </p:nvSpPr>
            <p:spPr bwMode="auto">
              <a:xfrm>
                <a:off x="4849969" y="1277487"/>
                <a:ext cx="39814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&amp;&amp; notcorrupt(rcvpkt) </a:t>
                </a:r>
              </a:p>
              <a:p>
                <a:pPr defTabSz="685800">
                  <a:defRPr/>
                </a:pPr>
                <a:r>
                  <a:rPr lang="en-US" altLang="en-US" sz="1050" dirty="0">
                    <a:solidFill>
                      <a:srgbClr val="000000"/>
                    </a:solidFill>
                    <a:latin typeface="Arial" panose="020B0604020202020204" pitchFamily="34" charset="0"/>
                  </a:rPr>
                  <a:t>  &amp;&amp; has_seq0(rcvpkt) </a:t>
                </a:r>
                <a:endParaRPr lang="en-US" altLang="en-US" sz="1050" dirty="0">
                  <a:solidFill>
                    <a:srgbClr val="000000"/>
                  </a:solidFill>
                  <a:latin typeface="Times New Roman" panose="02020603050405020304" pitchFamily="18" charset="0"/>
                </a:endParaRPr>
              </a:p>
            </p:txBody>
          </p:sp>
          <p:sp>
            <p:nvSpPr>
              <p:cNvPr id="155" name="Line 20">
                <a:extLst>
                  <a:ext uri="{FF2B5EF4-FFF2-40B4-BE49-F238E27FC236}">
                    <a16:creationId xmlns:a16="http://schemas.microsoft.com/office/drawing/2014/main" id="{C92F6C31-A846-0748-B2A3-BB4C9B51951C}"/>
                  </a:ext>
                </a:extLst>
              </p:cNvPr>
              <p:cNvSpPr>
                <a:spLocks noChangeShapeType="1"/>
              </p:cNvSpPr>
              <p:nvPr/>
            </p:nvSpPr>
            <p:spPr bwMode="auto">
              <a:xfrm>
                <a:off x="4959507" y="1847399"/>
                <a:ext cx="1914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56" name="Text Box 21">
                <a:extLst>
                  <a:ext uri="{FF2B5EF4-FFF2-40B4-BE49-F238E27FC236}">
                    <a16:creationId xmlns:a16="http://schemas.microsoft.com/office/drawing/2014/main" id="{2563B9BF-FC09-7947-B99A-A4DD70E1D75B}"/>
                  </a:ext>
                </a:extLst>
              </p:cNvPr>
              <p:cNvSpPr txBox="1">
                <a:spLocks noChangeArrowheads="1"/>
              </p:cNvSpPr>
              <p:nvPr/>
            </p:nvSpPr>
            <p:spPr bwMode="auto">
              <a:xfrm>
                <a:off x="4862669" y="1804537"/>
                <a:ext cx="3475038"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extract(rcvpkt,data)</a:t>
                </a:r>
              </a:p>
              <a:p>
                <a:pPr defTabSz="685800">
                  <a:defRPr/>
                </a:pPr>
                <a:r>
                  <a:rPr lang="en-US" altLang="en-US" sz="1050" dirty="0">
                    <a:solidFill>
                      <a:srgbClr val="000000"/>
                    </a:solidFill>
                    <a:latin typeface="Arial" panose="020B0604020202020204" pitchFamily="34" charset="0"/>
                  </a:rPr>
                  <a:t>deliver_data(data)</a:t>
                </a:r>
              </a:p>
              <a:p>
                <a:pPr defTabSz="685800">
                  <a:defRPr/>
                </a:pPr>
                <a:r>
                  <a:rPr lang="en-US" altLang="en-US" sz="1050" dirty="0">
                    <a:solidFill>
                      <a:srgbClr val="000000"/>
                    </a:solidFill>
                    <a:latin typeface="Arial" panose="020B0604020202020204" pitchFamily="34" charset="0"/>
                  </a:rPr>
                  <a:t>sndpkt = make_pkt(ACK, chksum)</a:t>
                </a:r>
              </a:p>
              <a:p>
                <a:pPr defTabSz="685800">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grpSp>
      </p:grpSp>
      <p:grpSp>
        <p:nvGrpSpPr>
          <p:cNvPr id="7" name="Group 6">
            <a:extLst>
              <a:ext uri="{FF2B5EF4-FFF2-40B4-BE49-F238E27FC236}">
                <a16:creationId xmlns:a16="http://schemas.microsoft.com/office/drawing/2014/main" id="{02B61178-E4F0-604F-AB5E-F5831FB7128A}"/>
              </a:ext>
            </a:extLst>
          </p:cNvPr>
          <p:cNvGrpSpPr/>
          <p:nvPr/>
        </p:nvGrpSpPr>
        <p:grpSpPr>
          <a:xfrm>
            <a:off x="5372218" y="2848828"/>
            <a:ext cx="2780109" cy="885825"/>
            <a:chOff x="7162957" y="2655437"/>
            <a:chExt cx="3706812" cy="1181100"/>
          </a:xfrm>
        </p:grpSpPr>
        <p:sp>
          <p:nvSpPr>
            <p:cNvPr id="143" name="Text Box 8">
              <a:extLst>
                <a:ext uri="{FF2B5EF4-FFF2-40B4-BE49-F238E27FC236}">
                  <a16:creationId xmlns:a16="http://schemas.microsoft.com/office/drawing/2014/main" id="{A21CD6E7-B2BE-A349-915D-B57A67904863}"/>
                </a:ext>
              </a:extLst>
            </p:cNvPr>
            <p:cNvSpPr txBox="1">
              <a:spLocks noChangeArrowheads="1"/>
            </p:cNvSpPr>
            <p:nvPr/>
          </p:nvSpPr>
          <p:spPr bwMode="auto">
            <a:xfrm>
              <a:off x="7842407" y="2952299"/>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sndpkt = make_pkt(NAK, chksum)</a:t>
              </a:r>
            </a:p>
            <a:p>
              <a:pPr defTabSz="685800">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sp>
          <p:nvSpPr>
            <p:cNvPr id="153" name="Freeform 18">
              <a:extLst>
                <a:ext uri="{FF2B5EF4-FFF2-40B4-BE49-F238E27FC236}">
                  <a16:creationId xmlns:a16="http://schemas.microsoft.com/office/drawing/2014/main" id="{3D087F38-543B-C34D-B7BE-6B89BE2E7B5B}"/>
                </a:ext>
              </a:extLst>
            </p:cNvPr>
            <p:cNvSpPr>
              <a:spLocks/>
            </p:cNvSpPr>
            <p:nvPr/>
          </p:nvSpPr>
          <p:spPr bwMode="auto">
            <a:xfrm rot="20238987">
              <a:off x="7162957" y="2972937"/>
              <a:ext cx="839787"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58" name="Text Box 23">
              <a:extLst>
                <a:ext uri="{FF2B5EF4-FFF2-40B4-BE49-F238E27FC236}">
                  <a16:creationId xmlns:a16="http://schemas.microsoft.com/office/drawing/2014/main" id="{DDF68430-2E9C-884F-8086-CA60927C1761}"/>
                </a:ext>
              </a:extLst>
            </p:cNvPr>
            <p:cNvSpPr txBox="1">
              <a:spLocks noChangeArrowheads="1"/>
            </p:cNvSpPr>
            <p:nvPr/>
          </p:nvSpPr>
          <p:spPr bwMode="auto">
            <a:xfrm>
              <a:off x="7793194" y="2655437"/>
              <a:ext cx="28717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&amp;&amp; (corrupt(rcvpkt)</a:t>
              </a:r>
              <a:endParaRPr lang="en-US" altLang="en-US" sz="1050" dirty="0">
                <a:solidFill>
                  <a:srgbClr val="000000"/>
                </a:solidFill>
                <a:latin typeface="Times New Roman" panose="02020603050405020304" pitchFamily="18" charset="0"/>
              </a:endParaRPr>
            </a:p>
          </p:txBody>
        </p:sp>
        <p:sp>
          <p:nvSpPr>
            <p:cNvPr id="159" name="Line 24">
              <a:extLst>
                <a:ext uri="{FF2B5EF4-FFF2-40B4-BE49-F238E27FC236}">
                  <a16:creationId xmlns:a16="http://schemas.microsoft.com/office/drawing/2014/main" id="{D2CC787C-2255-A845-AD3E-70CEB47CFB2A}"/>
                </a:ext>
              </a:extLst>
            </p:cNvPr>
            <p:cNvSpPr>
              <a:spLocks noChangeShapeType="1"/>
            </p:cNvSpPr>
            <p:nvPr/>
          </p:nvSpPr>
          <p:spPr bwMode="auto">
            <a:xfrm>
              <a:off x="7931307" y="2966587"/>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8" name="Group 7">
            <a:extLst>
              <a:ext uri="{FF2B5EF4-FFF2-40B4-BE49-F238E27FC236}">
                <a16:creationId xmlns:a16="http://schemas.microsoft.com/office/drawing/2014/main" id="{576F6D3B-6D30-394F-ADF3-836AA573CD16}"/>
              </a:ext>
            </a:extLst>
          </p:cNvPr>
          <p:cNvGrpSpPr/>
          <p:nvPr/>
        </p:nvGrpSpPr>
        <p:grpSpPr>
          <a:xfrm>
            <a:off x="5390077" y="3606065"/>
            <a:ext cx="2665810" cy="871538"/>
            <a:chOff x="7186769" y="3665087"/>
            <a:chExt cx="3554413" cy="1162050"/>
          </a:xfrm>
        </p:grpSpPr>
        <p:sp>
          <p:nvSpPr>
            <p:cNvPr id="144" name="Text Box 9">
              <a:extLst>
                <a:ext uri="{FF2B5EF4-FFF2-40B4-BE49-F238E27FC236}">
                  <a16:creationId xmlns:a16="http://schemas.microsoft.com/office/drawing/2014/main" id="{863BE306-B92E-0D41-8022-3AC94A1F0327}"/>
                </a:ext>
              </a:extLst>
            </p:cNvPr>
            <p:cNvSpPr txBox="1">
              <a:spLocks noChangeArrowheads="1"/>
            </p:cNvSpPr>
            <p:nvPr/>
          </p:nvSpPr>
          <p:spPr bwMode="auto">
            <a:xfrm>
              <a:off x="7845582" y="3665087"/>
              <a:ext cx="26241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&amp;&amp; </a:t>
              </a:r>
            </a:p>
            <a:p>
              <a:pPr defTabSz="685800">
                <a:defRPr/>
              </a:pPr>
              <a:r>
                <a:rPr lang="en-US" altLang="en-US" sz="1050" dirty="0">
                  <a:solidFill>
                    <a:srgbClr val="000000"/>
                  </a:solidFill>
                  <a:latin typeface="Arial" panose="020B0604020202020204" pitchFamily="34" charset="0"/>
                </a:rPr>
                <a:t>   not corrupt(rcvpkt) &amp;&amp;</a:t>
              </a:r>
            </a:p>
            <a:p>
              <a:pPr defTabSz="685800">
                <a:defRPr/>
              </a:pPr>
              <a:r>
                <a:rPr lang="en-US" altLang="en-US" sz="1050" dirty="0">
                  <a:solidFill>
                    <a:srgbClr val="000000"/>
                  </a:solidFill>
                  <a:latin typeface="Arial" panose="020B0604020202020204" pitchFamily="34" charset="0"/>
                </a:rPr>
                <a:t>   has_seq0(rcvpkt)</a:t>
              </a:r>
            </a:p>
            <a:p>
              <a:pPr algn="ctr" defTabSz="685800">
                <a:defRPr/>
              </a:pPr>
              <a:endParaRPr lang="en-US" altLang="en-US" sz="1200" dirty="0">
                <a:solidFill>
                  <a:srgbClr val="000000"/>
                </a:solidFill>
                <a:latin typeface="Times New Roman" panose="02020603050405020304" pitchFamily="18" charset="0"/>
              </a:endParaRPr>
            </a:p>
          </p:txBody>
        </p:sp>
        <p:sp>
          <p:nvSpPr>
            <p:cNvPr id="145" name="Line 10">
              <a:extLst>
                <a:ext uri="{FF2B5EF4-FFF2-40B4-BE49-F238E27FC236}">
                  <a16:creationId xmlns:a16="http://schemas.microsoft.com/office/drawing/2014/main" id="{4D8DB833-9730-9A45-AE05-260A7F50D391}"/>
                </a:ext>
              </a:extLst>
            </p:cNvPr>
            <p:cNvSpPr>
              <a:spLocks noChangeShapeType="1"/>
            </p:cNvSpPr>
            <p:nvPr/>
          </p:nvSpPr>
          <p:spPr bwMode="auto">
            <a:xfrm>
              <a:off x="7929719" y="4363587"/>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57" name="Freeform 22">
              <a:extLst>
                <a:ext uri="{FF2B5EF4-FFF2-40B4-BE49-F238E27FC236}">
                  <a16:creationId xmlns:a16="http://schemas.microsoft.com/office/drawing/2014/main" id="{44226EF2-4DB5-4A44-84C3-50A9A97F405E}"/>
                </a:ext>
              </a:extLst>
            </p:cNvPr>
            <p:cNvSpPr>
              <a:spLocks/>
            </p:cNvSpPr>
            <p:nvPr/>
          </p:nvSpPr>
          <p:spPr bwMode="auto">
            <a:xfrm rot="1020547">
              <a:off x="7186769" y="36968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60" name="Text Box 25">
              <a:extLst>
                <a:ext uri="{FF2B5EF4-FFF2-40B4-BE49-F238E27FC236}">
                  <a16:creationId xmlns:a16="http://schemas.microsoft.com/office/drawing/2014/main" id="{389C4316-C6A1-6149-8DFC-130B841DAC29}"/>
                </a:ext>
              </a:extLst>
            </p:cNvPr>
            <p:cNvSpPr txBox="1">
              <a:spLocks noChangeArrowheads="1"/>
            </p:cNvSpPr>
            <p:nvPr/>
          </p:nvSpPr>
          <p:spPr bwMode="auto">
            <a:xfrm>
              <a:off x="7801132" y="4417562"/>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sndpkt = make_pkt(ACK, chksum)</a:t>
              </a:r>
            </a:p>
            <a:p>
              <a:pPr defTabSz="685800">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grpSp>
      <p:grpSp>
        <p:nvGrpSpPr>
          <p:cNvPr id="9" name="Group 8">
            <a:extLst>
              <a:ext uri="{FF2B5EF4-FFF2-40B4-BE49-F238E27FC236}">
                <a16:creationId xmlns:a16="http://schemas.microsoft.com/office/drawing/2014/main" id="{B8256823-0B67-DD4E-A7B9-605255FA34C2}"/>
              </a:ext>
            </a:extLst>
          </p:cNvPr>
          <p:cNvGrpSpPr/>
          <p:nvPr/>
        </p:nvGrpSpPr>
        <p:grpSpPr>
          <a:xfrm>
            <a:off x="1439583" y="3582253"/>
            <a:ext cx="2228850" cy="863203"/>
            <a:chOff x="1919444" y="3633337"/>
            <a:chExt cx="2971800" cy="1150937"/>
          </a:xfrm>
        </p:grpSpPr>
        <p:sp>
          <p:nvSpPr>
            <p:cNvPr id="161" name="Text Box 26">
              <a:extLst>
                <a:ext uri="{FF2B5EF4-FFF2-40B4-BE49-F238E27FC236}">
                  <a16:creationId xmlns:a16="http://schemas.microsoft.com/office/drawing/2014/main" id="{ACB1E596-56BD-034F-BB66-4DA583949941}"/>
                </a:ext>
              </a:extLst>
            </p:cNvPr>
            <p:cNvSpPr txBox="1">
              <a:spLocks noChangeArrowheads="1"/>
            </p:cNvSpPr>
            <p:nvPr/>
          </p:nvSpPr>
          <p:spPr bwMode="auto">
            <a:xfrm>
              <a:off x="1919444" y="3644449"/>
              <a:ext cx="26241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&amp;&amp; </a:t>
              </a:r>
            </a:p>
            <a:p>
              <a:pPr defTabSz="685800">
                <a:defRPr/>
              </a:pPr>
              <a:r>
                <a:rPr lang="en-US" altLang="en-US" sz="1050" dirty="0">
                  <a:solidFill>
                    <a:srgbClr val="000000"/>
                  </a:solidFill>
                  <a:latin typeface="Arial" panose="020B0604020202020204" pitchFamily="34" charset="0"/>
                </a:rPr>
                <a:t>   not corrupt(rcvpkt) &amp;&amp;</a:t>
              </a:r>
            </a:p>
            <a:p>
              <a:pPr defTabSz="685800">
                <a:defRPr/>
              </a:pPr>
              <a:r>
                <a:rPr lang="en-US" altLang="en-US" sz="1050" dirty="0">
                  <a:solidFill>
                    <a:srgbClr val="000000"/>
                  </a:solidFill>
                  <a:latin typeface="Arial" panose="020B0604020202020204" pitchFamily="34" charset="0"/>
                </a:rPr>
                <a:t>   has_seq1(rcvpkt)</a:t>
              </a:r>
            </a:p>
            <a:p>
              <a:pPr algn="ctr" defTabSz="685800">
                <a:defRPr/>
              </a:pPr>
              <a:endParaRPr lang="en-US" altLang="en-US" sz="1200" dirty="0">
                <a:solidFill>
                  <a:srgbClr val="000000"/>
                </a:solidFill>
                <a:latin typeface="Times New Roman" panose="02020603050405020304" pitchFamily="18" charset="0"/>
              </a:endParaRPr>
            </a:p>
          </p:txBody>
        </p:sp>
        <p:sp>
          <p:nvSpPr>
            <p:cNvPr id="162" name="Line 27">
              <a:extLst>
                <a:ext uri="{FF2B5EF4-FFF2-40B4-BE49-F238E27FC236}">
                  <a16:creationId xmlns:a16="http://schemas.microsoft.com/office/drawing/2014/main" id="{67A0F00F-84BF-E042-8147-9C34AABEE9CA}"/>
                </a:ext>
              </a:extLst>
            </p:cNvPr>
            <p:cNvSpPr>
              <a:spLocks noChangeShapeType="1"/>
            </p:cNvSpPr>
            <p:nvPr/>
          </p:nvSpPr>
          <p:spPr bwMode="auto">
            <a:xfrm>
              <a:off x="2003582" y="4352474"/>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65" name="Text Box 30">
              <a:extLst>
                <a:ext uri="{FF2B5EF4-FFF2-40B4-BE49-F238E27FC236}">
                  <a16:creationId xmlns:a16="http://schemas.microsoft.com/office/drawing/2014/main" id="{2795743C-B771-D245-AED8-771117828B64}"/>
                </a:ext>
              </a:extLst>
            </p:cNvPr>
            <p:cNvSpPr txBox="1">
              <a:spLocks noChangeArrowheads="1"/>
            </p:cNvSpPr>
            <p:nvPr/>
          </p:nvSpPr>
          <p:spPr bwMode="auto">
            <a:xfrm>
              <a:off x="1951194" y="4374699"/>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sndpkt = make_pkt(ACK, chksum)</a:t>
              </a:r>
            </a:p>
            <a:p>
              <a:pPr defTabSz="685800">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sp>
          <p:nvSpPr>
            <p:cNvPr id="167" name="Freeform 32">
              <a:extLst>
                <a:ext uri="{FF2B5EF4-FFF2-40B4-BE49-F238E27FC236}">
                  <a16:creationId xmlns:a16="http://schemas.microsoft.com/office/drawing/2014/main" id="{1E683D9A-8417-BA48-A53B-EEFB96D0B5CE}"/>
                </a:ext>
              </a:extLst>
            </p:cNvPr>
            <p:cNvSpPr>
              <a:spLocks/>
            </p:cNvSpPr>
            <p:nvPr/>
          </p:nvSpPr>
          <p:spPr bwMode="auto">
            <a:xfrm rot="20579453" flipH="1">
              <a:off x="3960969" y="36333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10" name="Group 9">
            <a:extLst>
              <a:ext uri="{FF2B5EF4-FFF2-40B4-BE49-F238E27FC236}">
                <a16:creationId xmlns:a16="http://schemas.microsoft.com/office/drawing/2014/main" id="{8D1AF017-5F2C-A146-BF02-EC8C570DCE87}"/>
              </a:ext>
            </a:extLst>
          </p:cNvPr>
          <p:cNvGrpSpPr/>
          <p:nvPr/>
        </p:nvGrpSpPr>
        <p:grpSpPr>
          <a:xfrm>
            <a:off x="1400293" y="2801203"/>
            <a:ext cx="2315765" cy="942975"/>
            <a:chOff x="1867057" y="2591937"/>
            <a:chExt cx="3087687" cy="1257300"/>
          </a:xfrm>
        </p:grpSpPr>
        <p:sp>
          <p:nvSpPr>
            <p:cNvPr id="163" name="Text Box 28">
              <a:extLst>
                <a:ext uri="{FF2B5EF4-FFF2-40B4-BE49-F238E27FC236}">
                  <a16:creationId xmlns:a16="http://schemas.microsoft.com/office/drawing/2014/main" id="{9D2A8CCC-BEB9-A242-89C2-1A10D7FDB422}"/>
                </a:ext>
              </a:extLst>
            </p:cNvPr>
            <p:cNvSpPr txBox="1">
              <a:spLocks noChangeArrowheads="1"/>
            </p:cNvSpPr>
            <p:nvPr/>
          </p:nvSpPr>
          <p:spPr bwMode="auto">
            <a:xfrm>
              <a:off x="1867057" y="2591937"/>
              <a:ext cx="28717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&amp;&amp; (corrupt(rcvpkt)</a:t>
              </a:r>
              <a:endParaRPr lang="en-US" altLang="en-US" sz="1050" dirty="0">
                <a:solidFill>
                  <a:srgbClr val="000000"/>
                </a:solidFill>
                <a:latin typeface="Times New Roman" panose="02020603050405020304" pitchFamily="18" charset="0"/>
              </a:endParaRPr>
            </a:p>
          </p:txBody>
        </p:sp>
        <p:sp>
          <p:nvSpPr>
            <p:cNvPr id="164" name="Line 29">
              <a:extLst>
                <a:ext uri="{FF2B5EF4-FFF2-40B4-BE49-F238E27FC236}">
                  <a16:creationId xmlns:a16="http://schemas.microsoft.com/office/drawing/2014/main" id="{78EDC414-17DA-964B-A17F-A1BDC2DCE547}"/>
                </a:ext>
              </a:extLst>
            </p:cNvPr>
            <p:cNvSpPr>
              <a:spLocks noChangeShapeType="1"/>
            </p:cNvSpPr>
            <p:nvPr/>
          </p:nvSpPr>
          <p:spPr bwMode="auto">
            <a:xfrm>
              <a:off x="2005169" y="2966587"/>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66" name="Text Box 31">
              <a:extLst>
                <a:ext uri="{FF2B5EF4-FFF2-40B4-BE49-F238E27FC236}">
                  <a16:creationId xmlns:a16="http://schemas.microsoft.com/office/drawing/2014/main" id="{CAC3A516-419E-4F4A-95ED-4CF413F4D203}"/>
                </a:ext>
              </a:extLst>
            </p:cNvPr>
            <p:cNvSpPr txBox="1">
              <a:spLocks noChangeArrowheads="1"/>
            </p:cNvSpPr>
            <p:nvPr/>
          </p:nvSpPr>
          <p:spPr bwMode="auto">
            <a:xfrm>
              <a:off x="1927382" y="2933249"/>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sndpkt = make_pkt(NAK, chksum)</a:t>
              </a:r>
            </a:p>
            <a:p>
              <a:pPr defTabSz="685800">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sp>
          <p:nvSpPr>
            <p:cNvPr id="168" name="Freeform 33">
              <a:extLst>
                <a:ext uri="{FF2B5EF4-FFF2-40B4-BE49-F238E27FC236}">
                  <a16:creationId xmlns:a16="http://schemas.microsoft.com/office/drawing/2014/main" id="{C9A1B12C-9183-8C4D-9DF0-A7E0C472A15B}"/>
                </a:ext>
              </a:extLst>
            </p:cNvPr>
            <p:cNvSpPr>
              <a:spLocks/>
            </p:cNvSpPr>
            <p:nvPr/>
          </p:nvSpPr>
          <p:spPr bwMode="auto">
            <a:xfrm rot="1361013" flipH="1">
              <a:off x="3948269" y="29856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sp>
        <p:nvSpPr>
          <p:cNvPr id="41" name="Slide Number Placeholder 2">
            <a:extLst>
              <a:ext uri="{FF2B5EF4-FFF2-40B4-BE49-F238E27FC236}">
                <a16:creationId xmlns:a16="http://schemas.microsoft.com/office/drawing/2014/main" id="{AEE3DD85-1A48-8443-9ED5-CEDD24C7FA99}"/>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43</a:t>
            </a:fld>
            <a:endParaRPr lang="en-US" dirty="0"/>
          </a:p>
        </p:txBody>
      </p:sp>
    </p:spTree>
    <p:extLst>
      <p:ext uri="{BB962C8B-B14F-4D97-AF65-F5344CB8AC3E}">
        <p14:creationId xmlns:p14="http://schemas.microsoft.com/office/powerpoint/2010/main" val="345434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righ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rdt2.1: discussion</a:t>
            </a:r>
            <a:endParaRPr lang="en-US" dirty="0"/>
          </a:p>
        </p:txBody>
      </p:sp>
      <p:sp>
        <p:nvSpPr>
          <p:cNvPr id="44" name="Rectangle 3">
            <a:extLst>
              <a:ext uri="{FF2B5EF4-FFF2-40B4-BE49-F238E27FC236}">
                <a16:creationId xmlns:a16="http://schemas.microsoft.com/office/drawing/2014/main" id="{4DBF4802-B282-F141-BA7A-BF4F98FB2E8F}"/>
              </a:ext>
            </a:extLst>
          </p:cNvPr>
          <p:cNvSpPr txBox="1">
            <a:spLocks noChangeArrowheads="1"/>
          </p:cNvSpPr>
          <p:nvPr/>
        </p:nvSpPr>
        <p:spPr>
          <a:xfrm>
            <a:off x="599017" y="1873877"/>
            <a:ext cx="3972983"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fontAlgn="auto">
              <a:spcBef>
                <a:spcPts val="750"/>
              </a:spcBef>
              <a:spcAft>
                <a:spcPts val="0"/>
              </a:spcAft>
              <a:buNone/>
              <a:defRPr/>
            </a:pPr>
            <a:r>
              <a:rPr lang="en-US" altLang="en-US" sz="2400" u="sng" dirty="0">
                <a:solidFill>
                  <a:srgbClr val="CC0000"/>
                </a:solidFill>
                <a:latin typeface="Calibri" panose="020F0502020204030204"/>
                <a:ea typeface="ＭＳ Ｐゴシック" panose="020B0600070205080204" pitchFamily="34" charset="-128"/>
              </a:rPr>
              <a:t>sender:</a:t>
            </a:r>
            <a:endParaRPr lang="en-US" altLang="en-US" sz="2400" dirty="0">
              <a:solidFill>
                <a:srgbClr val="CC0000"/>
              </a:solidFill>
              <a:latin typeface="Calibri" panose="020F0502020204030204"/>
              <a:ea typeface="ＭＳ Ｐゴシック" panose="020B0600070205080204" pitchFamily="34" charset="-128"/>
            </a:endParaRPr>
          </a:p>
          <a:p>
            <a:pPr marL="264319" indent="-166688" defTabSz="685800" fontAlgn="auto">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seq # added to pkt</a:t>
            </a:r>
          </a:p>
          <a:p>
            <a:pPr marL="264319" indent="-166688" defTabSz="685800" fontAlgn="auto">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two seq. #</a:t>
            </a:r>
            <a:r>
              <a:rPr lang="en-US" altLang="ja-JP" sz="2100" dirty="0">
                <a:solidFill>
                  <a:prstClr val="black"/>
                </a:solidFill>
                <a:latin typeface="Calibri" panose="020F0502020204030204"/>
                <a:ea typeface="ＭＳ Ｐゴシック" panose="020B0600070205080204" pitchFamily="34" charset="-128"/>
              </a:rPr>
              <a:t>s (0,1) will suffice.  Why?</a:t>
            </a:r>
          </a:p>
          <a:p>
            <a:pPr marL="264319" indent="-166688" defTabSz="685800" fontAlgn="auto">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must check if received ACK/NAK corrupted </a:t>
            </a:r>
          </a:p>
          <a:p>
            <a:pPr marL="264319" indent="-166688" defTabSz="685800" fontAlgn="auto">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twice as many states</a:t>
            </a:r>
          </a:p>
          <a:p>
            <a:pPr marL="521494" lvl="1" indent="-173831" defTabSz="685800" fontAlgn="auto">
              <a:spcBef>
                <a:spcPts val="375"/>
              </a:spcBef>
              <a:spcAft>
                <a:spcPts val="0"/>
              </a:spcAft>
              <a:defRPr/>
            </a:pPr>
            <a:r>
              <a:rPr lang="en-US" altLang="en-US" sz="1800" dirty="0">
                <a:solidFill>
                  <a:prstClr val="black"/>
                </a:solidFill>
                <a:latin typeface="Calibri" panose="020F0502020204030204"/>
                <a:ea typeface="ＭＳ Ｐゴシック" panose="020B0600070205080204" pitchFamily="34" charset="-128"/>
              </a:rPr>
              <a:t>state must “</a:t>
            </a:r>
            <a:r>
              <a:rPr lang="en-US" altLang="ja-JP" sz="1800" dirty="0">
                <a:solidFill>
                  <a:prstClr val="black"/>
                </a:solidFill>
                <a:latin typeface="Calibri" panose="020F0502020204030204"/>
                <a:ea typeface="ＭＳ Ｐゴシック" panose="020B0600070205080204" pitchFamily="34" charset="-128"/>
              </a:rPr>
              <a:t>remember” whether “expected” pkt should have seq # of 0 or 1 </a:t>
            </a:r>
          </a:p>
          <a:p>
            <a:pPr marL="264319" indent="-166688" defTabSz="685800" fontAlgn="auto">
              <a:spcBef>
                <a:spcPts val="750"/>
              </a:spcBef>
              <a:spcAft>
                <a:spcPts val="0"/>
              </a:spcAft>
              <a:defRPr/>
            </a:pPr>
            <a:endParaRPr lang="en-US" altLang="en-US" sz="2100" dirty="0">
              <a:solidFill>
                <a:prstClr val="black"/>
              </a:solidFill>
              <a:latin typeface="Calibri" panose="020F0502020204030204"/>
              <a:ea typeface="ＭＳ Ｐゴシック" panose="020B0600070205080204" pitchFamily="34" charset="-128"/>
            </a:endParaRPr>
          </a:p>
        </p:txBody>
      </p:sp>
      <p:sp>
        <p:nvSpPr>
          <p:cNvPr id="45" name="Rectangle 4">
            <a:extLst>
              <a:ext uri="{FF2B5EF4-FFF2-40B4-BE49-F238E27FC236}">
                <a16:creationId xmlns:a16="http://schemas.microsoft.com/office/drawing/2014/main" id="{BEBB060B-A254-E240-9526-00C3EB96E136}"/>
              </a:ext>
            </a:extLst>
          </p:cNvPr>
          <p:cNvSpPr txBox="1">
            <a:spLocks noChangeArrowheads="1"/>
          </p:cNvSpPr>
          <p:nvPr/>
        </p:nvSpPr>
        <p:spPr>
          <a:xfrm>
            <a:off x="4907655" y="1873877"/>
            <a:ext cx="3637327"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fontAlgn="auto">
              <a:spcBef>
                <a:spcPts val="750"/>
              </a:spcBef>
              <a:spcAft>
                <a:spcPts val="0"/>
              </a:spcAft>
              <a:buNone/>
              <a:defRPr/>
            </a:pPr>
            <a:r>
              <a:rPr lang="en-US" sz="2400" u="sng" dirty="0">
                <a:solidFill>
                  <a:srgbClr val="CC0000"/>
                </a:solidFill>
                <a:latin typeface="Calibri" panose="020F0502020204030204"/>
              </a:rPr>
              <a:t>receiver:</a:t>
            </a:r>
            <a:endParaRPr lang="en-US" sz="2400" dirty="0">
              <a:solidFill>
                <a:srgbClr val="CC0000"/>
              </a:solidFill>
              <a:latin typeface="Calibri" panose="020F0502020204030204"/>
            </a:endParaRPr>
          </a:p>
          <a:p>
            <a:pPr marL="264319" indent="-166688" defTabSz="685800" fontAlgn="auto">
              <a:spcBef>
                <a:spcPts val="750"/>
              </a:spcBef>
              <a:spcAft>
                <a:spcPts val="0"/>
              </a:spcAft>
              <a:buFont typeface="Wingdings" charset="2"/>
              <a:buChar char="§"/>
              <a:defRPr/>
            </a:pPr>
            <a:r>
              <a:rPr lang="en-US" sz="2100" dirty="0">
                <a:solidFill>
                  <a:prstClr val="black"/>
                </a:solidFill>
                <a:latin typeface="Calibri" panose="020F0502020204030204"/>
              </a:rPr>
              <a:t>must check if received packet is duplicate</a:t>
            </a:r>
          </a:p>
          <a:p>
            <a:pPr marL="521494" lvl="1" indent="-173831" defTabSz="685800" fontAlgn="auto">
              <a:spcBef>
                <a:spcPts val="375"/>
              </a:spcBef>
              <a:spcAft>
                <a:spcPts val="0"/>
              </a:spcAft>
              <a:buFont typeface="Arial"/>
              <a:buChar char="•"/>
              <a:defRPr/>
            </a:pPr>
            <a:r>
              <a:rPr lang="en-US" sz="1800" dirty="0">
                <a:solidFill>
                  <a:prstClr val="black"/>
                </a:solidFill>
                <a:latin typeface="Calibri" panose="020F0502020204030204"/>
              </a:rPr>
              <a:t>state indicates whether 0 or 1 is expected pkt seq #</a:t>
            </a:r>
          </a:p>
          <a:p>
            <a:pPr marL="264319" indent="-166688" defTabSz="685800" fontAlgn="auto">
              <a:spcBef>
                <a:spcPts val="750"/>
              </a:spcBef>
              <a:spcAft>
                <a:spcPts val="0"/>
              </a:spcAft>
              <a:buFont typeface="Wingdings" charset="2"/>
              <a:buChar char="§"/>
              <a:defRPr/>
            </a:pPr>
            <a:r>
              <a:rPr lang="en-US" sz="2100" dirty="0">
                <a:solidFill>
                  <a:prstClr val="black"/>
                </a:solidFill>
                <a:latin typeface="Calibri" panose="020F0502020204030204"/>
              </a:rPr>
              <a:t>note: receiver can </a:t>
            </a:r>
            <a:r>
              <a:rPr lang="en-US" sz="2100" i="1" dirty="0">
                <a:solidFill>
                  <a:prstClr val="black"/>
                </a:solidFill>
                <a:latin typeface="Calibri" panose="020F0502020204030204"/>
              </a:rPr>
              <a:t>not</a:t>
            </a:r>
            <a:r>
              <a:rPr lang="en-US" sz="2100" dirty="0">
                <a:solidFill>
                  <a:prstClr val="black"/>
                </a:solidFill>
                <a:latin typeface="Calibri" panose="020F0502020204030204"/>
              </a:rPr>
              <a:t> know if its last ACK/NAK received OK at sender</a:t>
            </a:r>
          </a:p>
        </p:txBody>
      </p:sp>
      <p:sp>
        <p:nvSpPr>
          <p:cNvPr id="5" name="Slide Number Placeholder 2">
            <a:extLst>
              <a:ext uri="{FF2B5EF4-FFF2-40B4-BE49-F238E27FC236}">
                <a16:creationId xmlns:a16="http://schemas.microsoft.com/office/drawing/2014/main" id="{ADBE880F-C2E4-0642-AE62-E70C2E89903D}"/>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44</a:t>
            </a:fld>
            <a:endParaRPr lang="en-US" dirty="0"/>
          </a:p>
        </p:txBody>
      </p:sp>
    </p:spTree>
    <p:extLst>
      <p:ext uri="{BB962C8B-B14F-4D97-AF65-F5344CB8AC3E}">
        <p14:creationId xmlns:p14="http://schemas.microsoft.com/office/powerpoint/2010/main" val="3964008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rdt2.2: a NAK-free protocol</a:t>
            </a:r>
            <a:endParaRPr lang="en-US" dirty="0"/>
          </a:p>
        </p:txBody>
      </p:sp>
      <p:sp>
        <p:nvSpPr>
          <p:cNvPr id="8" name="Rectangle 3">
            <a:extLst>
              <a:ext uri="{FF2B5EF4-FFF2-40B4-BE49-F238E27FC236}">
                <a16:creationId xmlns:a16="http://schemas.microsoft.com/office/drawing/2014/main" id="{1BA8C5E8-28A5-424A-B91B-D36BE3AFCEC5}"/>
              </a:ext>
            </a:extLst>
          </p:cNvPr>
          <p:cNvSpPr txBox="1">
            <a:spLocks noChangeArrowheads="1"/>
          </p:cNvSpPr>
          <p:nvPr/>
        </p:nvSpPr>
        <p:spPr>
          <a:xfrm>
            <a:off x="454987" y="2143125"/>
            <a:ext cx="8234027" cy="253915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5281" indent="-210741" defTabSz="685800" fontAlgn="auto">
              <a:spcBef>
                <a:spcPts val="750"/>
              </a:spcBef>
              <a:spcAft>
                <a:spcPts val="0"/>
              </a:spcAft>
              <a:buFont typeface="Wingdings" charset="2"/>
              <a:buChar char="§"/>
              <a:defRPr/>
            </a:pPr>
            <a:r>
              <a:rPr lang="en-US" sz="2400" dirty="0">
                <a:solidFill>
                  <a:prstClr val="black"/>
                </a:solidFill>
                <a:latin typeface="Calibri" panose="020F0502020204030204"/>
              </a:rPr>
              <a:t>same functionality as rdt2.1, using ACKs only</a:t>
            </a:r>
          </a:p>
          <a:p>
            <a:pPr marL="345281" indent="-210741" defTabSz="685800" fontAlgn="auto">
              <a:spcBef>
                <a:spcPts val="750"/>
              </a:spcBef>
              <a:spcAft>
                <a:spcPts val="0"/>
              </a:spcAft>
              <a:buFont typeface="Wingdings" charset="2"/>
              <a:buChar char="§"/>
              <a:defRPr/>
            </a:pPr>
            <a:r>
              <a:rPr lang="en-US" sz="2400" dirty="0">
                <a:solidFill>
                  <a:prstClr val="black"/>
                </a:solidFill>
                <a:latin typeface="Calibri" panose="020F0502020204030204"/>
              </a:rPr>
              <a:t>instead of NAK, receiver sends ACK for last pkt received OK</a:t>
            </a:r>
          </a:p>
          <a:p>
            <a:pPr marL="606029" lvl="1" indent="-164306" defTabSz="685800" fontAlgn="auto">
              <a:spcBef>
                <a:spcPts val="375"/>
              </a:spcBef>
              <a:spcAft>
                <a:spcPts val="0"/>
              </a:spcAft>
              <a:buFont typeface="Arial"/>
              <a:buChar char="•"/>
              <a:defRPr/>
            </a:pPr>
            <a:r>
              <a:rPr lang="en-US" sz="2100" dirty="0">
                <a:solidFill>
                  <a:prstClr val="black"/>
                </a:solidFill>
                <a:latin typeface="Calibri" panose="020F0502020204030204"/>
              </a:rPr>
              <a:t>receiver must </a:t>
            </a:r>
            <a:r>
              <a:rPr lang="en-US" sz="2100" i="1" dirty="0">
                <a:solidFill>
                  <a:prstClr val="black"/>
                </a:solidFill>
                <a:latin typeface="Calibri" panose="020F0502020204030204"/>
              </a:rPr>
              <a:t>explicitly</a:t>
            </a:r>
            <a:r>
              <a:rPr lang="en-US" sz="2100" dirty="0">
                <a:solidFill>
                  <a:prstClr val="black"/>
                </a:solidFill>
                <a:latin typeface="Calibri" panose="020F0502020204030204"/>
              </a:rPr>
              <a:t> include seq # of pkt being ACKed </a:t>
            </a:r>
          </a:p>
          <a:p>
            <a:pPr marL="345281" indent="-210741" defTabSz="685800" fontAlgn="auto">
              <a:spcBef>
                <a:spcPts val="750"/>
              </a:spcBef>
              <a:spcAft>
                <a:spcPts val="0"/>
              </a:spcAft>
              <a:buFont typeface="Wingdings" charset="2"/>
              <a:buChar char="§"/>
              <a:defRPr/>
            </a:pPr>
            <a:r>
              <a:rPr lang="en-US" sz="2400" dirty="0">
                <a:solidFill>
                  <a:prstClr val="black"/>
                </a:solidFill>
                <a:latin typeface="Calibri" panose="020F0502020204030204"/>
              </a:rPr>
              <a:t>duplicate ACK at sender results in same action as NAK: </a:t>
            </a:r>
            <a:r>
              <a:rPr lang="en-US" sz="2400" i="1" dirty="0">
                <a:solidFill>
                  <a:prstClr val="black"/>
                </a:solidFill>
                <a:latin typeface="Calibri" panose="020F0502020204030204"/>
              </a:rPr>
              <a:t>retransmit current pkt</a:t>
            </a:r>
            <a:endParaRPr lang="en-US" sz="2400" dirty="0">
              <a:solidFill>
                <a:prstClr val="black"/>
              </a:solidFill>
              <a:latin typeface="Calibri" panose="020F0502020204030204"/>
            </a:endParaRPr>
          </a:p>
        </p:txBody>
      </p:sp>
      <p:sp>
        <p:nvSpPr>
          <p:cNvPr id="4" name="TextBox 3">
            <a:extLst>
              <a:ext uri="{FF2B5EF4-FFF2-40B4-BE49-F238E27FC236}">
                <a16:creationId xmlns:a16="http://schemas.microsoft.com/office/drawing/2014/main" id="{BD1719ED-B423-3644-A6E8-F9BF7FA75BB0}"/>
              </a:ext>
            </a:extLst>
          </p:cNvPr>
          <p:cNvSpPr txBox="1"/>
          <p:nvPr/>
        </p:nvSpPr>
        <p:spPr>
          <a:xfrm>
            <a:off x="599017" y="4324887"/>
            <a:ext cx="6846618" cy="461665"/>
          </a:xfrm>
          <a:prstGeom prst="rect">
            <a:avLst/>
          </a:prstGeom>
          <a:noFill/>
        </p:spPr>
        <p:txBody>
          <a:bodyPr wrap="none" rtlCol="0">
            <a:spAutoFit/>
          </a:bodyPr>
          <a:lstStyle/>
          <a:p>
            <a:pPr defTabSz="685800" eaLnBrk="1" fontAlgn="auto" hangingPunct="1">
              <a:spcBef>
                <a:spcPts val="0"/>
              </a:spcBef>
              <a:spcAft>
                <a:spcPts val="0"/>
              </a:spcAft>
              <a:defRPr/>
            </a:pPr>
            <a:r>
              <a:rPr lang="en-US" dirty="0">
                <a:solidFill>
                  <a:prstClr val="black"/>
                </a:solidFill>
                <a:latin typeface="Calibri" panose="020F0502020204030204"/>
                <a:ea typeface="+mn-ea"/>
              </a:rPr>
              <a:t>As we will see, TCP uses this approach to be NAK-free</a:t>
            </a:r>
          </a:p>
        </p:txBody>
      </p:sp>
      <p:sp>
        <p:nvSpPr>
          <p:cNvPr id="5" name="Slide Number Placeholder 2">
            <a:extLst>
              <a:ext uri="{FF2B5EF4-FFF2-40B4-BE49-F238E27FC236}">
                <a16:creationId xmlns:a16="http://schemas.microsoft.com/office/drawing/2014/main" id="{27705518-50B7-6645-9746-6EF1FD05E894}"/>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45</a:t>
            </a:fld>
            <a:endParaRPr lang="en-US" dirty="0"/>
          </a:p>
        </p:txBody>
      </p:sp>
    </p:spTree>
    <p:extLst>
      <p:ext uri="{BB962C8B-B14F-4D97-AF65-F5344CB8AC3E}">
        <p14:creationId xmlns:p14="http://schemas.microsoft.com/office/powerpoint/2010/main" val="10466364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rdt2.2: sender, receiver fragments</a:t>
            </a:r>
            <a:endParaRPr lang="en-US" dirty="0"/>
          </a:p>
        </p:txBody>
      </p:sp>
      <p:grpSp>
        <p:nvGrpSpPr>
          <p:cNvPr id="45" name="Group 3">
            <a:extLst>
              <a:ext uri="{FF2B5EF4-FFF2-40B4-BE49-F238E27FC236}">
                <a16:creationId xmlns:a16="http://schemas.microsoft.com/office/drawing/2014/main" id="{44C8BE99-8D47-E84F-BBFA-C24F85149C9B}"/>
              </a:ext>
            </a:extLst>
          </p:cNvPr>
          <p:cNvGrpSpPr>
            <a:grpSpLocks/>
          </p:cNvGrpSpPr>
          <p:nvPr/>
        </p:nvGrpSpPr>
        <p:grpSpPr bwMode="auto">
          <a:xfrm>
            <a:off x="2805700" y="1745211"/>
            <a:ext cx="4881563" cy="2131219"/>
            <a:chOff x="1529" y="780"/>
            <a:chExt cx="4100" cy="1790"/>
          </a:xfrm>
        </p:grpSpPr>
        <p:grpSp>
          <p:nvGrpSpPr>
            <p:cNvPr id="46" name="Group 4">
              <a:extLst>
                <a:ext uri="{FF2B5EF4-FFF2-40B4-BE49-F238E27FC236}">
                  <a16:creationId xmlns:a16="http://schemas.microsoft.com/office/drawing/2014/main" id="{B559F62B-A8CC-314C-9FFF-E4BE95186DBA}"/>
                </a:ext>
              </a:extLst>
            </p:cNvPr>
            <p:cNvGrpSpPr>
              <a:grpSpLocks/>
            </p:cNvGrpSpPr>
            <p:nvPr/>
          </p:nvGrpSpPr>
          <p:grpSpPr bwMode="auto">
            <a:xfrm>
              <a:off x="1651" y="1399"/>
              <a:ext cx="669" cy="528"/>
              <a:chOff x="1441" y="2062"/>
              <a:chExt cx="669" cy="528"/>
            </a:xfrm>
          </p:grpSpPr>
          <p:sp>
            <p:nvSpPr>
              <p:cNvPr id="63" name="Oval 5">
                <a:extLst>
                  <a:ext uri="{FF2B5EF4-FFF2-40B4-BE49-F238E27FC236}">
                    <a16:creationId xmlns:a16="http://schemas.microsoft.com/office/drawing/2014/main" id="{62508AC8-0382-1842-A725-28AD6849BC18}"/>
                  </a:ext>
                </a:extLst>
              </p:cNvPr>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64" name="Text Box 6">
                <a:extLst>
                  <a:ext uri="{FF2B5EF4-FFF2-40B4-BE49-F238E27FC236}">
                    <a16:creationId xmlns:a16="http://schemas.microsoft.com/office/drawing/2014/main" id="{1C6CF7DE-4208-0546-B6D6-E98910387184}"/>
                  </a:ext>
                </a:extLst>
              </p:cNvPr>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call 0 from above</a:t>
                </a:r>
                <a:endParaRPr lang="en-US" altLang="en-US" sz="1050" kern="0" dirty="0">
                  <a:solidFill>
                    <a:srgbClr val="000000"/>
                  </a:solidFill>
                  <a:latin typeface="Times New Roman" panose="02020603050405020304" pitchFamily="18" charset="0"/>
                </a:endParaRPr>
              </a:p>
            </p:txBody>
          </p:sp>
        </p:grpSp>
        <p:sp>
          <p:nvSpPr>
            <p:cNvPr id="47" name="Text Box 7">
              <a:extLst>
                <a:ext uri="{FF2B5EF4-FFF2-40B4-BE49-F238E27FC236}">
                  <a16:creationId xmlns:a16="http://schemas.microsoft.com/office/drawing/2014/main" id="{487FB5C4-F933-D746-9E6B-EB36683D91FA}"/>
                </a:ext>
              </a:extLst>
            </p:cNvPr>
            <p:cNvSpPr txBox="1">
              <a:spLocks noChangeArrowheads="1"/>
            </p:cNvSpPr>
            <p:nvPr/>
          </p:nvSpPr>
          <p:spPr bwMode="auto">
            <a:xfrm>
              <a:off x="1863" y="957"/>
              <a:ext cx="23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Arial" panose="020B0604020202020204" pitchFamily="34" charset="0"/>
                </a:rPr>
                <a:t>sndpkt = make_pkt(0, data, checksum)</a:t>
              </a:r>
            </a:p>
            <a:p>
              <a:pPr defTabSz="685800">
                <a:defRPr/>
              </a:pPr>
              <a:r>
                <a:rPr lang="en-US" altLang="en-US" sz="1200" kern="0" dirty="0">
                  <a:solidFill>
                    <a:srgbClr val="000000"/>
                  </a:solidFill>
                  <a:latin typeface="Arial" panose="020B0604020202020204" pitchFamily="34" charset="0"/>
                </a:rPr>
                <a:t>udt_send(sndpkt)</a:t>
              </a:r>
              <a:endParaRPr lang="en-US" altLang="en-US" sz="1200" kern="0" dirty="0">
                <a:solidFill>
                  <a:srgbClr val="000000"/>
                </a:solidFill>
                <a:latin typeface="Times New Roman" panose="02020603050405020304" pitchFamily="18" charset="0"/>
              </a:endParaRPr>
            </a:p>
          </p:txBody>
        </p:sp>
        <p:sp>
          <p:nvSpPr>
            <p:cNvPr id="48" name="Text Box 8">
              <a:extLst>
                <a:ext uri="{FF2B5EF4-FFF2-40B4-BE49-F238E27FC236}">
                  <a16:creationId xmlns:a16="http://schemas.microsoft.com/office/drawing/2014/main" id="{3AA6880E-F456-D948-8214-9C93DC52D9A7}"/>
                </a:ext>
              </a:extLst>
            </p:cNvPr>
            <p:cNvSpPr txBox="1">
              <a:spLocks noChangeArrowheads="1"/>
            </p:cNvSpPr>
            <p:nvPr/>
          </p:nvSpPr>
          <p:spPr bwMode="auto">
            <a:xfrm>
              <a:off x="1871" y="780"/>
              <a:ext cx="108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Arial" panose="020B0604020202020204" pitchFamily="34" charset="0"/>
                </a:rPr>
                <a:t>rdt_send(data)</a:t>
              </a:r>
              <a:endParaRPr lang="en-US" altLang="en-US" sz="1200" kern="0" dirty="0">
                <a:solidFill>
                  <a:srgbClr val="000000"/>
                </a:solidFill>
                <a:latin typeface="Times New Roman" panose="02020603050405020304" pitchFamily="18" charset="0"/>
              </a:endParaRPr>
            </a:p>
          </p:txBody>
        </p:sp>
        <p:sp>
          <p:nvSpPr>
            <p:cNvPr id="49" name="Line 9">
              <a:extLst>
                <a:ext uri="{FF2B5EF4-FFF2-40B4-BE49-F238E27FC236}">
                  <a16:creationId xmlns:a16="http://schemas.microsoft.com/office/drawing/2014/main" id="{7356AE7C-383F-CD4D-A8D4-0D863BECC90E}"/>
                </a:ext>
              </a:extLst>
            </p:cNvPr>
            <p:cNvSpPr>
              <a:spLocks noChangeShapeType="1"/>
            </p:cNvSpPr>
            <p:nvPr/>
          </p:nvSpPr>
          <p:spPr bwMode="auto">
            <a:xfrm>
              <a:off x="1910" y="992"/>
              <a:ext cx="22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50" name="Line 10">
              <a:extLst>
                <a:ext uri="{FF2B5EF4-FFF2-40B4-BE49-F238E27FC236}">
                  <a16:creationId xmlns:a16="http://schemas.microsoft.com/office/drawing/2014/main" id="{AABAA468-88B5-FD4A-933F-BEE3E0E800E0}"/>
                </a:ext>
              </a:extLst>
            </p:cNvPr>
            <p:cNvSpPr>
              <a:spLocks noChangeShapeType="1"/>
            </p:cNvSpPr>
            <p:nvPr/>
          </p:nvSpPr>
          <p:spPr bwMode="auto">
            <a:xfrm>
              <a:off x="1529" y="1313"/>
              <a:ext cx="264" cy="145"/>
            </a:xfrm>
            <a:prstGeom prst="line">
              <a:avLst/>
            </a:prstGeom>
            <a:noFill/>
            <a:ln w="1905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51" name="Freeform 11">
              <a:extLst>
                <a:ext uri="{FF2B5EF4-FFF2-40B4-BE49-F238E27FC236}">
                  <a16:creationId xmlns:a16="http://schemas.microsoft.com/office/drawing/2014/main" id="{1B01ED8E-ABE5-DB46-A6A7-6A5FF2599E94}"/>
                </a:ext>
              </a:extLst>
            </p:cNvPr>
            <p:cNvSpPr>
              <a:spLocks/>
            </p:cNvSpPr>
            <p:nvPr/>
          </p:nvSpPr>
          <p:spPr bwMode="auto">
            <a:xfrm flipV="1">
              <a:off x="2096" y="1272"/>
              <a:ext cx="1195" cy="130"/>
            </a:xfrm>
            <a:custGeom>
              <a:avLst/>
              <a:gdLst>
                <a:gd name="T0" fmla="*/ 0 w 2835"/>
                <a:gd name="T1" fmla="*/ 0 h 525"/>
                <a:gd name="T2" fmla="*/ 0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52" name="Freeform 12">
              <a:extLst>
                <a:ext uri="{FF2B5EF4-FFF2-40B4-BE49-F238E27FC236}">
                  <a16:creationId xmlns:a16="http://schemas.microsoft.com/office/drawing/2014/main" id="{09A24A5A-3284-ED40-94E5-9F6FD9D580F8}"/>
                </a:ext>
              </a:extLst>
            </p:cNvPr>
            <p:cNvSpPr>
              <a:spLocks/>
            </p:cNvSpPr>
            <p:nvPr/>
          </p:nvSpPr>
          <p:spPr bwMode="auto">
            <a:xfrm rot="-1357180">
              <a:off x="3655" y="1225"/>
              <a:ext cx="285" cy="542"/>
            </a:xfrm>
            <a:custGeom>
              <a:avLst/>
              <a:gdLst>
                <a:gd name="T0" fmla="*/ 0 w 735"/>
                <a:gd name="T1" fmla="*/ 1 h 1080"/>
                <a:gd name="T2" fmla="*/ 0 w 735"/>
                <a:gd name="T3" fmla="*/ 1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53" name="Text Box 13">
              <a:extLst>
                <a:ext uri="{FF2B5EF4-FFF2-40B4-BE49-F238E27FC236}">
                  <a16:creationId xmlns:a16="http://schemas.microsoft.com/office/drawing/2014/main" id="{735F1B93-CE98-BB48-B7B4-F46E52A4B8B0}"/>
                </a:ext>
              </a:extLst>
            </p:cNvPr>
            <p:cNvSpPr txBox="1">
              <a:spLocks noChangeArrowheads="1"/>
            </p:cNvSpPr>
            <p:nvPr/>
          </p:nvSpPr>
          <p:spPr bwMode="auto">
            <a:xfrm>
              <a:off x="3978" y="1670"/>
              <a:ext cx="133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b="1" kern="0" dirty="0">
                  <a:solidFill>
                    <a:srgbClr val="FF0000"/>
                  </a:solidFill>
                  <a:latin typeface="Arial" panose="020B0604020202020204" pitchFamily="34" charset="0"/>
                </a:rPr>
                <a:t>udt_send(sndpkt)</a:t>
              </a:r>
              <a:endParaRPr lang="en-US" altLang="en-US" sz="1200" b="1" kern="0" dirty="0">
                <a:solidFill>
                  <a:srgbClr val="FF0000"/>
                </a:solidFill>
                <a:latin typeface="Times New Roman" panose="02020603050405020304" pitchFamily="18" charset="0"/>
              </a:endParaRPr>
            </a:p>
          </p:txBody>
        </p:sp>
        <p:sp>
          <p:nvSpPr>
            <p:cNvPr id="54" name="Text Box 14">
              <a:extLst>
                <a:ext uri="{FF2B5EF4-FFF2-40B4-BE49-F238E27FC236}">
                  <a16:creationId xmlns:a16="http://schemas.microsoft.com/office/drawing/2014/main" id="{1358189F-C49B-9547-B76A-603CC6295715}"/>
                </a:ext>
              </a:extLst>
            </p:cNvPr>
            <p:cNvSpPr txBox="1">
              <a:spLocks noChangeArrowheads="1"/>
            </p:cNvSpPr>
            <p:nvPr/>
          </p:nvSpPr>
          <p:spPr bwMode="auto">
            <a:xfrm>
              <a:off x="3917" y="1174"/>
              <a:ext cx="171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Arial" panose="020B0604020202020204" pitchFamily="34" charset="0"/>
                </a:rPr>
                <a:t>rdt_rcv(rcvpkt) &amp;&amp;  </a:t>
              </a:r>
            </a:p>
            <a:p>
              <a:pPr defTabSz="685800">
                <a:defRPr/>
              </a:pPr>
              <a:r>
                <a:rPr lang="en-US" altLang="en-US" sz="1200" kern="0" dirty="0">
                  <a:solidFill>
                    <a:srgbClr val="000000"/>
                  </a:solidFill>
                  <a:latin typeface="Arial" panose="020B0604020202020204" pitchFamily="34" charset="0"/>
                </a:rPr>
                <a:t>( corrupt(rcvpkt) ||</a:t>
              </a:r>
            </a:p>
            <a:p>
              <a:pPr defTabSz="685800">
                <a:defRPr/>
              </a:pPr>
              <a:r>
                <a:rPr lang="en-US" altLang="en-US" sz="1200" kern="0" dirty="0">
                  <a:solidFill>
                    <a:srgbClr val="000000"/>
                  </a:solidFill>
                  <a:latin typeface="Arial" panose="020B0604020202020204" pitchFamily="34" charset="0"/>
                </a:rPr>
                <a:t>  </a:t>
              </a:r>
              <a:r>
                <a:rPr lang="en-US" altLang="en-US" sz="1200" b="1" kern="0" dirty="0">
                  <a:solidFill>
                    <a:srgbClr val="FF0000"/>
                  </a:solidFill>
                  <a:latin typeface="Arial" panose="020B0604020202020204" pitchFamily="34" charset="0"/>
                </a:rPr>
                <a:t>isACK(rcvpkt,1)</a:t>
              </a:r>
              <a:r>
                <a:rPr lang="en-US" altLang="en-US" sz="1200" kern="0" dirty="0">
                  <a:solidFill>
                    <a:srgbClr val="000000"/>
                  </a:solidFill>
                  <a:latin typeface="Arial" panose="020B0604020202020204" pitchFamily="34" charset="0"/>
                </a:rPr>
                <a:t> )</a:t>
              </a:r>
              <a:endParaRPr lang="en-US" altLang="en-US" sz="1200" kern="0" dirty="0">
                <a:solidFill>
                  <a:srgbClr val="000000"/>
                </a:solidFill>
                <a:latin typeface="Times New Roman" panose="02020603050405020304" pitchFamily="18" charset="0"/>
              </a:endParaRPr>
            </a:p>
          </p:txBody>
        </p:sp>
        <p:sp>
          <p:nvSpPr>
            <p:cNvPr id="55" name="Line 15">
              <a:extLst>
                <a:ext uri="{FF2B5EF4-FFF2-40B4-BE49-F238E27FC236}">
                  <a16:creationId xmlns:a16="http://schemas.microsoft.com/office/drawing/2014/main" id="{96FCE930-1E3E-9749-A456-2BE07EE342E4}"/>
                </a:ext>
              </a:extLst>
            </p:cNvPr>
            <p:cNvSpPr>
              <a:spLocks noChangeShapeType="1"/>
            </p:cNvSpPr>
            <p:nvPr/>
          </p:nvSpPr>
          <p:spPr bwMode="auto">
            <a:xfrm flipV="1">
              <a:off x="4043" y="1666"/>
              <a:ext cx="89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56" name="Freeform 16">
              <a:extLst>
                <a:ext uri="{FF2B5EF4-FFF2-40B4-BE49-F238E27FC236}">
                  <a16:creationId xmlns:a16="http://schemas.microsoft.com/office/drawing/2014/main" id="{FF0C2363-5AAB-A541-81DC-66A1639302B9}"/>
                </a:ext>
              </a:extLst>
            </p:cNvPr>
            <p:cNvSpPr>
              <a:spLocks/>
            </p:cNvSpPr>
            <p:nvPr/>
          </p:nvSpPr>
          <p:spPr bwMode="auto">
            <a:xfrm>
              <a:off x="3747" y="1792"/>
              <a:ext cx="128" cy="774"/>
            </a:xfrm>
            <a:custGeom>
              <a:avLst/>
              <a:gdLst>
                <a:gd name="T0" fmla="*/ 67 w 128"/>
                <a:gd name="T1" fmla="*/ 774 h 774"/>
                <a:gd name="T2" fmla="*/ 0 w 128"/>
                <a:gd name="T3" fmla="*/ 0 h 774"/>
                <a:gd name="T4" fmla="*/ 0 60000 65536"/>
                <a:gd name="T5" fmla="*/ 0 60000 65536"/>
              </a:gdLst>
              <a:ahLst/>
              <a:cxnLst>
                <a:cxn ang="T4">
                  <a:pos x="T0" y="T1"/>
                </a:cxn>
                <a:cxn ang="T5">
                  <a:pos x="T2" y="T3"/>
                </a:cxn>
              </a:cxnLst>
              <a:rect l="0" t="0" r="r" b="b"/>
              <a:pathLst>
                <a:path w="128" h="774">
                  <a:moveTo>
                    <a:pt x="67" y="774"/>
                  </a:moveTo>
                  <a:cubicBezTo>
                    <a:pt x="128" y="425"/>
                    <a:pt x="81" y="0"/>
                    <a:pt x="0"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57" name="Text Box 17">
              <a:extLst>
                <a:ext uri="{FF2B5EF4-FFF2-40B4-BE49-F238E27FC236}">
                  <a16:creationId xmlns:a16="http://schemas.microsoft.com/office/drawing/2014/main" id="{A50A3675-BB4B-2C49-9E0C-E3B6864FCDC4}"/>
                </a:ext>
              </a:extLst>
            </p:cNvPr>
            <p:cNvSpPr txBox="1">
              <a:spLocks noChangeArrowheads="1"/>
            </p:cNvSpPr>
            <p:nvPr/>
          </p:nvSpPr>
          <p:spPr bwMode="auto">
            <a:xfrm>
              <a:off x="3838" y="2051"/>
              <a:ext cx="15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Arial" panose="020B0604020202020204" pitchFamily="34" charset="0"/>
                </a:rPr>
                <a:t>rdt_rcv(rcvpkt)   </a:t>
              </a:r>
            </a:p>
            <a:p>
              <a:pPr defTabSz="685800">
                <a:defRPr/>
              </a:pPr>
              <a:r>
                <a:rPr lang="en-US" altLang="en-US" sz="1200" kern="0" dirty="0">
                  <a:solidFill>
                    <a:srgbClr val="000000"/>
                  </a:solidFill>
                  <a:latin typeface="Arial" panose="020B0604020202020204" pitchFamily="34" charset="0"/>
                </a:rPr>
                <a:t>&amp;&amp; notcorrupt(rcvpkt) </a:t>
              </a:r>
            </a:p>
            <a:p>
              <a:pPr defTabSz="685800">
                <a:defRPr/>
              </a:pPr>
              <a:r>
                <a:rPr lang="en-US" altLang="en-US" sz="1200" kern="0" dirty="0">
                  <a:solidFill>
                    <a:srgbClr val="000000"/>
                  </a:solidFill>
                  <a:latin typeface="Arial" panose="020B0604020202020204" pitchFamily="34" charset="0"/>
                </a:rPr>
                <a:t>&amp;&amp; </a:t>
              </a:r>
              <a:r>
                <a:rPr lang="en-US" altLang="en-US" sz="1200" b="1" kern="0" dirty="0">
                  <a:solidFill>
                    <a:srgbClr val="FF0000"/>
                  </a:solidFill>
                  <a:latin typeface="Arial" panose="020B0604020202020204" pitchFamily="34" charset="0"/>
                </a:rPr>
                <a:t>isACK(rcvpkt,0)</a:t>
              </a:r>
              <a:r>
                <a:rPr lang="en-US" altLang="en-US" sz="750" kern="0" dirty="0">
                  <a:solidFill>
                    <a:srgbClr val="000000"/>
                  </a:solidFill>
                  <a:latin typeface="Arial" panose="020B0604020202020204" pitchFamily="34" charset="0"/>
                </a:rPr>
                <a:t> </a:t>
              </a:r>
              <a:endParaRPr lang="en-US" altLang="en-US" sz="1800" kern="0" dirty="0">
                <a:solidFill>
                  <a:srgbClr val="000000"/>
                </a:solidFill>
                <a:latin typeface="Times New Roman" panose="02020603050405020304" pitchFamily="18" charset="0"/>
              </a:endParaRPr>
            </a:p>
          </p:txBody>
        </p:sp>
        <p:sp>
          <p:nvSpPr>
            <p:cNvPr id="58" name="Line 18">
              <a:extLst>
                <a:ext uri="{FF2B5EF4-FFF2-40B4-BE49-F238E27FC236}">
                  <a16:creationId xmlns:a16="http://schemas.microsoft.com/office/drawing/2014/main" id="{398A4307-79FC-E54C-B8A4-CCE6DE226EAE}"/>
                </a:ext>
              </a:extLst>
            </p:cNvPr>
            <p:cNvSpPr>
              <a:spLocks noChangeShapeType="1"/>
            </p:cNvSpPr>
            <p:nvPr/>
          </p:nvSpPr>
          <p:spPr bwMode="auto">
            <a:xfrm>
              <a:off x="3894" y="2570"/>
              <a:ext cx="11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grpSp>
          <p:nvGrpSpPr>
            <p:cNvPr id="59" name="Group 19">
              <a:extLst>
                <a:ext uri="{FF2B5EF4-FFF2-40B4-BE49-F238E27FC236}">
                  <a16:creationId xmlns:a16="http://schemas.microsoft.com/office/drawing/2014/main" id="{C0094035-BD90-5741-A641-F8D8DD3C7B8B}"/>
                </a:ext>
              </a:extLst>
            </p:cNvPr>
            <p:cNvGrpSpPr>
              <a:grpSpLocks/>
            </p:cNvGrpSpPr>
            <p:nvPr/>
          </p:nvGrpSpPr>
          <p:grpSpPr bwMode="auto">
            <a:xfrm>
              <a:off x="3135" y="1365"/>
              <a:ext cx="669" cy="528"/>
              <a:chOff x="1441" y="2062"/>
              <a:chExt cx="669" cy="528"/>
            </a:xfrm>
          </p:grpSpPr>
          <p:sp>
            <p:nvSpPr>
              <p:cNvPr id="61" name="Oval 20">
                <a:extLst>
                  <a:ext uri="{FF2B5EF4-FFF2-40B4-BE49-F238E27FC236}">
                    <a16:creationId xmlns:a16="http://schemas.microsoft.com/office/drawing/2014/main" id="{86E2B18C-13F1-BA46-BE50-CDE79E0D47C8}"/>
                  </a:ext>
                </a:extLst>
              </p:cNvPr>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62" name="Text Box 21">
                <a:extLst>
                  <a:ext uri="{FF2B5EF4-FFF2-40B4-BE49-F238E27FC236}">
                    <a16:creationId xmlns:a16="http://schemas.microsoft.com/office/drawing/2014/main" id="{26734C2A-3109-3D4C-BAB8-AB1B111CE996}"/>
                  </a:ext>
                </a:extLst>
              </p:cNvPr>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ACK</a:t>
                </a:r>
              </a:p>
              <a:p>
                <a:pPr algn="ctr" defTabSz="685800">
                  <a:defRPr/>
                </a:pPr>
                <a:r>
                  <a:rPr lang="en-US" altLang="en-US" sz="1050" kern="0" dirty="0">
                    <a:solidFill>
                      <a:srgbClr val="000000"/>
                    </a:solidFill>
                    <a:latin typeface="Arial" panose="020B0604020202020204" pitchFamily="34" charset="0"/>
                  </a:rPr>
                  <a:t>0</a:t>
                </a:r>
                <a:endParaRPr lang="en-US" altLang="en-US" sz="1050" kern="0" dirty="0">
                  <a:solidFill>
                    <a:srgbClr val="000000"/>
                  </a:solidFill>
                  <a:latin typeface="Times New Roman" panose="02020603050405020304" pitchFamily="18" charset="0"/>
                </a:endParaRPr>
              </a:p>
            </p:txBody>
          </p:sp>
        </p:grpSp>
        <p:sp>
          <p:nvSpPr>
            <p:cNvPr id="60" name="Text Box 22">
              <a:extLst>
                <a:ext uri="{FF2B5EF4-FFF2-40B4-BE49-F238E27FC236}">
                  <a16:creationId xmlns:a16="http://schemas.microsoft.com/office/drawing/2014/main" id="{A3A125D1-1D1E-2E4D-AE79-0DE766971E4B}"/>
                </a:ext>
              </a:extLst>
            </p:cNvPr>
            <p:cNvSpPr txBox="1">
              <a:spLocks noChangeArrowheads="1"/>
            </p:cNvSpPr>
            <p:nvPr/>
          </p:nvSpPr>
          <p:spPr bwMode="auto">
            <a:xfrm>
              <a:off x="2338" y="1810"/>
              <a:ext cx="984" cy="4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kern="0" dirty="0">
                  <a:solidFill>
                    <a:srgbClr val="000099"/>
                  </a:solidFill>
                </a:rPr>
                <a:t>sender FSM</a:t>
              </a:r>
            </a:p>
            <a:p>
              <a:pPr algn="ctr" defTabSz="685800">
                <a:defRPr/>
              </a:pPr>
              <a:r>
                <a:rPr lang="en-US" sz="1500" kern="0" dirty="0">
                  <a:solidFill>
                    <a:srgbClr val="000099"/>
                  </a:solidFill>
                </a:rPr>
                <a:t>fragment</a:t>
              </a:r>
            </a:p>
          </p:txBody>
        </p:sp>
      </p:grpSp>
      <p:sp>
        <p:nvSpPr>
          <p:cNvPr id="65" name="Line 23">
            <a:extLst>
              <a:ext uri="{FF2B5EF4-FFF2-40B4-BE49-F238E27FC236}">
                <a16:creationId xmlns:a16="http://schemas.microsoft.com/office/drawing/2014/main" id="{E71BBDED-78BE-4142-9E45-4E7E4B24FCA8}"/>
              </a:ext>
            </a:extLst>
          </p:cNvPr>
          <p:cNvSpPr>
            <a:spLocks noChangeShapeType="1"/>
          </p:cNvSpPr>
          <p:nvPr/>
        </p:nvSpPr>
        <p:spPr bwMode="auto">
          <a:xfrm>
            <a:off x="1484106" y="2769148"/>
            <a:ext cx="5912644" cy="2068116"/>
          </a:xfrm>
          <a:prstGeom prst="line">
            <a:avLst/>
          </a:prstGeom>
          <a:noFill/>
          <a:ln w="9525">
            <a:solidFill>
              <a:srgbClr val="000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defTabSz="685800">
              <a:defRPr/>
            </a:pPr>
            <a:endParaRPr lang="en-US" sz="1200" kern="0" dirty="0">
              <a:solidFill>
                <a:srgbClr val="000000"/>
              </a:solidFill>
              <a:latin typeface="Tahoma" charset="0"/>
              <a:ea typeface="ＭＳ Ｐゴシック" charset="0"/>
            </a:endParaRPr>
          </a:p>
        </p:txBody>
      </p:sp>
      <p:grpSp>
        <p:nvGrpSpPr>
          <p:cNvPr id="66" name="Group 24">
            <a:extLst>
              <a:ext uri="{FF2B5EF4-FFF2-40B4-BE49-F238E27FC236}">
                <a16:creationId xmlns:a16="http://schemas.microsoft.com/office/drawing/2014/main" id="{2E138519-EBF4-3B44-AD97-E2407D82A043}"/>
              </a:ext>
            </a:extLst>
          </p:cNvPr>
          <p:cNvGrpSpPr>
            <a:grpSpLocks/>
          </p:cNvGrpSpPr>
          <p:nvPr/>
        </p:nvGrpSpPr>
        <p:grpSpPr bwMode="auto">
          <a:xfrm>
            <a:off x="985234" y="3684739"/>
            <a:ext cx="5425679" cy="1901428"/>
            <a:chOff x="0" y="2409"/>
            <a:chExt cx="4557" cy="1597"/>
          </a:xfrm>
        </p:grpSpPr>
        <p:sp>
          <p:nvSpPr>
            <p:cNvPr id="67" name="Text Box 25">
              <a:extLst>
                <a:ext uri="{FF2B5EF4-FFF2-40B4-BE49-F238E27FC236}">
                  <a16:creationId xmlns:a16="http://schemas.microsoft.com/office/drawing/2014/main" id="{C7F7CA42-D362-5647-A3B4-192876672E60}"/>
                </a:ext>
              </a:extLst>
            </p:cNvPr>
            <p:cNvSpPr txBox="1">
              <a:spLocks noChangeArrowheads="1"/>
            </p:cNvSpPr>
            <p:nvPr/>
          </p:nvSpPr>
          <p:spPr bwMode="auto">
            <a:xfrm>
              <a:off x="1849" y="3217"/>
              <a:ext cx="248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Arial" panose="020B0604020202020204" pitchFamily="34" charset="0"/>
                </a:rPr>
                <a:t>rdt_rcv(rcvpkt) &amp;&amp; notcorrupt(rcvpkt) </a:t>
              </a:r>
            </a:p>
            <a:p>
              <a:pPr defTabSz="685800">
                <a:defRPr/>
              </a:pPr>
              <a:r>
                <a:rPr lang="en-US" altLang="en-US" sz="1200" kern="0" dirty="0">
                  <a:solidFill>
                    <a:srgbClr val="000000"/>
                  </a:solidFill>
                  <a:latin typeface="Arial" panose="020B0604020202020204" pitchFamily="34" charset="0"/>
                </a:rPr>
                <a:t>  &amp;&amp; has_seq1(rcvpkt) </a:t>
              </a:r>
              <a:endParaRPr lang="en-US" altLang="en-US" sz="1200" kern="0" dirty="0">
                <a:solidFill>
                  <a:srgbClr val="000000"/>
                </a:solidFill>
                <a:latin typeface="Times New Roman" panose="02020603050405020304" pitchFamily="18" charset="0"/>
              </a:endParaRPr>
            </a:p>
          </p:txBody>
        </p:sp>
        <p:sp>
          <p:nvSpPr>
            <p:cNvPr id="68" name="Text Box 26">
              <a:extLst>
                <a:ext uri="{FF2B5EF4-FFF2-40B4-BE49-F238E27FC236}">
                  <a16:creationId xmlns:a16="http://schemas.microsoft.com/office/drawing/2014/main" id="{2AC2EAAE-2D47-A740-B364-15C85D65C9FB}"/>
                </a:ext>
              </a:extLst>
            </p:cNvPr>
            <p:cNvSpPr txBox="1">
              <a:spLocks noChangeArrowheads="1"/>
            </p:cNvSpPr>
            <p:nvPr/>
          </p:nvSpPr>
          <p:spPr bwMode="auto">
            <a:xfrm>
              <a:off x="1829" y="3568"/>
              <a:ext cx="263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Arial" panose="020B0604020202020204" pitchFamily="34" charset="0"/>
                </a:rPr>
                <a:t>extract(rcvpkt,data)</a:t>
              </a:r>
            </a:p>
            <a:p>
              <a:pPr defTabSz="685800">
                <a:defRPr/>
              </a:pPr>
              <a:r>
                <a:rPr lang="en-US" altLang="en-US" sz="1200" kern="0" dirty="0">
                  <a:solidFill>
                    <a:srgbClr val="000000"/>
                  </a:solidFill>
                  <a:latin typeface="Arial" panose="020B0604020202020204" pitchFamily="34" charset="0"/>
                </a:rPr>
                <a:t>deliver_data(data)</a:t>
              </a:r>
            </a:p>
            <a:p>
              <a:pPr defTabSz="685800">
                <a:defRPr/>
              </a:pPr>
              <a:r>
                <a:rPr lang="en-US" altLang="en-US" sz="1200" b="1" kern="0" dirty="0">
                  <a:solidFill>
                    <a:srgbClr val="FF0000"/>
                  </a:solidFill>
                  <a:latin typeface="Arial" panose="020B0604020202020204" pitchFamily="34" charset="0"/>
                </a:rPr>
                <a:t>sndpkt = make_pkt(ACK1, chksum)</a:t>
              </a:r>
            </a:p>
            <a:p>
              <a:pPr defTabSz="685800">
                <a:defRPr/>
              </a:pPr>
              <a:r>
                <a:rPr lang="en-US" altLang="en-US" sz="1200" kern="0" dirty="0">
                  <a:solidFill>
                    <a:srgbClr val="000000"/>
                  </a:solidFill>
                  <a:latin typeface="Arial" panose="020B0604020202020204" pitchFamily="34" charset="0"/>
                </a:rPr>
                <a:t>udt_send(sndpkt)</a:t>
              </a:r>
              <a:endParaRPr lang="en-US" altLang="en-US" sz="1200" kern="0" dirty="0">
                <a:solidFill>
                  <a:srgbClr val="000000"/>
                </a:solidFill>
                <a:latin typeface="Times New Roman" panose="02020603050405020304" pitchFamily="18" charset="0"/>
              </a:endParaRPr>
            </a:p>
          </p:txBody>
        </p:sp>
        <p:grpSp>
          <p:nvGrpSpPr>
            <p:cNvPr id="69" name="Group 27">
              <a:extLst>
                <a:ext uri="{FF2B5EF4-FFF2-40B4-BE49-F238E27FC236}">
                  <a16:creationId xmlns:a16="http://schemas.microsoft.com/office/drawing/2014/main" id="{D8482BD5-532F-3042-8803-E3C8BD739DC0}"/>
                </a:ext>
              </a:extLst>
            </p:cNvPr>
            <p:cNvGrpSpPr>
              <a:grpSpLocks/>
            </p:cNvGrpSpPr>
            <p:nvPr/>
          </p:nvGrpSpPr>
          <p:grpSpPr bwMode="auto">
            <a:xfrm>
              <a:off x="0" y="2409"/>
              <a:ext cx="3510" cy="1168"/>
              <a:chOff x="0" y="2409"/>
              <a:chExt cx="3510" cy="1168"/>
            </a:xfrm>
          </p:grpSpPr>
          <p:grpSp>
            <p:nvGrpSpPr>
              <p:cNvPr id="71" name="Group 28">
                <a:extLst>
                  <a:ext uri="{FF2B5EF4-FFF2-40B4-BE49-F238E27FC236}">
                    <a16:creationId xmlns:a16="http://schemas.microsoft.com/office/drawing/2014/main" id="{67FF8A8B-97EA-7D4F-A57C-A7614B5802ED}"/>
                  </a:ext>
                </a:extLst>
              </p:cNvPr>
              <p:cNvGrpSpPr>
                <a:grpSpLocks/>
              </p:cNvGrpSpPr>
              <p:nvPr/>
            </p:nvGrpSpPr>
            <p:grpSpPr bwMode="auto">
              <a:xfrm>
                <a:off x="1529" y="2687"/>
                <a:ext cx="534" cy="501"/>
                <a:chOff x="3570" y="3063"/>
                <a:chExt cx="534" cy="501"/>
              </a:xfrm>
            </p:grpSpPr>
            <p:sp>
              <p:nvSpPr>
                <p:cNvPr id="80" name="Oval 29">
                  <a:extLst>
                    <a:ext uri="{FF2B5EF4-FFF2-40B4-BE49-F238E27FC236}">
                      <a16:creationId xmlns:a16="http://schemas.microsoft.com/office/drawing/2014/main" id="{8D4E849D-9AF8-FC4F-B5E6-691ACC1951D1}"/>
                    </a:ext>
                  </a:extLst>
                </p:cNvPr>
                <p:cNvSpPr>
                  <a:spLocks noChangeArrowheads="1"/>
                </p:cNvSpPr>
                <p:nvPr/>
              </p:nvSpPr>
              <p:spPr bwMode="auto">
                <a:xfrm>
                  <a:off x="3570" y="3063"/>
                  <a:ext cx="534" cy="501"/>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81" name="Text Box 30">
                  <a:extLst>
                    <a:ext uri="{FF2B5EF4-FFF2-40B4-BE49-F238E27FC236}">
                      <a16:creationId xmlns:a16="http://schemas.microsoft.com/office/drawing/2014/main" id="{E4385747-A861-0E4B-AF7E-71CAF80ED148}"/>
                    </a:ext>
                  </a:extLst>
                </p:cNvPr>
                <p:cNvSpPr txBox="1">
                  <a:spLocks noChangeArrowheads="1"/>
                </p:cNvSpPr>
                <p:nvPr/>
              </p:nvSpPr>
              <p:spPr bwMode="auto">
                <a:xfrm>
                  <a:off x="3597" y="3085"/>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t>
                  </a:r>
                </a:p>
                <a:p>
                  <a:pPr algn="ctr" defTabSz="685800">
                    <a:defRPr/>
                  </a:pPr>
                  <a:r>
                    <a:rPr lang="en-US" altLang="en-US" sz="1050" kern="0" dirty="0">
                      <a:solidFill>
                        <a:srgbClr val="000000"/>
                      </a:solidFill>
                      <a:latin typeface="Arial" panose="020B0604020202020204" pitchFamily="34" charset="0"/>
                    </a:rPr>
                    <a:t>0 from below</a:t>
                  </a:r>
                  <a:endParaRPr lang="en-US" altLang="en-US" sz="1050" kern="0" dirty="0">
                    <a:solidFill>
                      <a:srgbClr val="000000"/>
                    </a:solidFill>
                    <a:latin typeface="Times New Roman" panose="02020603050405020304" pitchFamily="18" charset="0"/>
                  </a:endParaRPr>
                </a:p>
              </p:txBody>
            </p:sp>
          </p:grpSp>
          <p:sp>
            <p:nvSpPr>
              <p:cNvPr id="72" name="Freeform 31">
                <a:extLst>
                  <a:ext uri="{FF2B5EF4-FFF2-40B4-BE49-F238E27FC236}">
                    <a16:creationId xmlns:a16="http://schemas.microsoft.com/office/drawing/2014/main" id="{9115FE32-46F2-A847-8603-43A0C0E7C982}"/>
                  </a:ext>
                </a:extLst>
              </p:cNvPr>
              <p:cNvSpPr>
                <a:spLocks/>
              </p:cNvSpPr>
              <p:nvPr/>
            </p:nvSpPr>
            <p:spPr bwMode="auto">
              <a:xfrm>
                <a:off x="1925" y="2618"/>
                <a:ext cx="520" cy="117"/>
              </a:xfrm>
              <a:custGeom>
                <a:avLst/>
                <a:gdLst>
                  <a:gd name="T0" fmla="*/ 0 w 520"/>
                  <a:gd name="T1" fmla="*/ 117 h 117"/>
                  <a:gd name="T2" fmla="*/ 520 w 520"/>
                  <a:gd name="T3" fmla="*/ 17 h 117"/>
                  <a:gd name="T4" fmla="*/ 0 60000 65536"/>
                  <a:gd name="T5" fmla="*/ 0 60000 65536"/>
                </a:gdLst>
                <a:ahLst/>
                <a:cxnLst>
                  <a:cxn ang="T4">
                    <a:pos x="T0" y="T1"/>
                  </a:cxn>
                  <a:cxn ang="T5">
                    <a:pos x="T2" y="T3"/>
                  </a:cxn>
                </a:cxnLst>
                <a:rect l="0" t="0" r="r" b="b"/>
                <a:pathLst>
                  <a:path w="520" h="117">
                    <a:moveTo>
                      <a:pt x="0" y="117"/>
                    </a:moveTo>
                    <a:cubicBezTo>
                      <a:pt x="136" y="17"/>
                      <a:pt x="276" y="0"/>
                      <a:pt x="520" y="17"/>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73" name="Freeform 32">
                <a:extLst>
                  <a:ext uri="{FF2B5EF4-FFF2-40B4-BE49-F238E27FC236}">
                    <a16:creationId xmlns:a16="http://schemas.microsoft.com/office/drawing/2014/main" id="{A33629C7-E28A-5043-8973-73B06C05D8D9}"/>
                  </a:ext>
                </a:extLst>
              </p:cNvPr>
              <p:cNvSpPr>
                <a:spLocks/>
              </p:cNvSpPr>
              <p:nvPr/>
            </p:nvSpPr>
            <p:spPr bwMode="auto">
              <a:xfrm>
                <a:off x="1996" y="3125"/>
                <a:ext cx="1514" cy="130"/>
              </a:xfrm>
              <a:custGeom>
                <a:avLst/>
                <a:gdLst>
                  <a:gd name="T0" fmla="*/ 0 w 1514"/>
                  <a:gd name="T1" fmla="*/ 0 h 130"/>
                  <a:gd name="T2" fmla="*/ 1514 w 1514"/>
                  <a:gd name="T3" fmla="*/ 17 h 130"/>
                  <a:gd name="T4" fmla="*/ 0 60000 65536"/>
                  <a:gd name="T5" fmla="*/ 0 60000 65536"/>
                </a:gdLst>
                <a:ahLst/>
                <a:cxnLst>
                  <a:cxn ang="T4">
                    <a:pos x="T0" y="T1"/>
                  </a:cxn>
                  <a:cxn ang="T5">
                    <a:pos x="T2" y="T3"/>
                  </a:cxn>
                </a:cxnLst>
                <a:rect l="0" t="0" r="r" b="b"/>
                <a:pathLst>
                  <a:path w="1514" h="130">
                    <a:moveTo>
                      <a:pt x="0" y="0"/>
                    </a:moveTo>
                    <a:cubicBezTo>
                      <a:pt x="266" y="130"/>
                      <a:pt x="1322" y="113"/>
                      <a:pt x="1514" y="17"/>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74" name="Line 33">
                <a:extLst>
                  <a:ext uri="{FF2B5EF4-FFF2-40B4-BE49-F238E27FC236}">
                    <a16:creationId xmlns:a16="http://schemas.microsoft.com/office/drawing/2014/main" id="{7DAE0056-F522-6A47-87C1-BE5D09A7B6D3}"/>
                  </a:ext>
                </a:extLst>
              </p:cNvPr>
              <p:cNvSpPr>
                <a:spLocks noChangeShapeType="1"/>
              </p:cNvSpPr>
              <p:nvPr/>
            </p:nvSpPr>
            <p:spPr bwMode="auto">
              <a:xfrm>
                <a:off x="1919" y="3577"/>
                <a:ext cx="12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75" name="Freeform 34">
                <a:extLst>
                  <a:ext uri="{FF2B5EF4-FFF2-40B4-BE49-F238E27FC236}">
                    <a16:creationId xmlns:a16="http://schemas.microsoft.com/office/drawing/2014/main" id="{D3183506-C985-AE4B-8786-2BF1733F19C1}"/>
                  </a:ext>
                </a:extLst>
              </p:cNvPr>
              <p:cNvSpPr>
                <a:spLocks/>
              </p:cNvSpPr>
              <p:nvPr/>
            </p:nvSpPr>
            <p:spPr bwMode="auto">
              <a:xfrm flipH="1">
                <a:off x="1237" y="2468"/>
                <a:ext cx="309" cy="856"/>
              </a:xfrm>
              <a:custGeom>
                <a:avLst/>
                <a:gdLst>
                  <a:gd name="T0" fmla="*/ 0 w 619"/>
                  <a:gd name="T1" fmla="*/ 0 h 1815"/>
                  <a:gd name="T2" fmla="*/ 0 w 619"/>
                  <a:gd name="T3" fmla="*/ 0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76" name="Line 35">
                <a:extLst>
                  <a:ext uri="{FF2B5EF4-FFF2-40B4-BE49-F238E27FC236}">
                    <a16:creationId xmlns:a16="http://schemas.microsoft.com/office/drawing/2014/main" id="{3B7207C5-2DDB-A74F-9227-55920F12AA9A}"/>
                  </a:ext>
                </a:extLst>
              </p:cNvPr>
              <p:cNvSpPr>
                <a:spLocks noChangeShapeType="1"/>
              </p:cNvSpPr>
              <p:nvPr/>
            </p:nvSpPr>
            <p:spPr bwMode="auto">
              <a:xfrm>
                <a:off x="57" y="2936"/>
                <a:ext cx="12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kern="0" dirty="0">
                  <a:solidFill>
                    <a:srgbClr val="000000"/>
                  </a:solidFill>
                  <a:latin typeface="Tahoma" panose="020B0604030504040204" pitchFamily="34" charset="0"/>
                </a:endParaRPr>
              </a:p>
            </p:txBody>
          </p:sp>
          <p:sp>
            <p:nvSpPr>
              <p:cNvPr id="77" name="Text Box 36">
                <a:extLst>
                  <a:ext uri="{FF2B5EF4-FFF2-40B4-BE49-F238E27FC236}">
                    <a16:creationId xmlns:a16="http://schemas.microsoft.com/office/drawing/2014/main" id="{10D86368-959C-734B-8A29-22BE54E9BF11}"/>
                  </a:ext>
                </a:extLst>
              </p:cNvPr>
              <p:cNvSpPr txBox="1">
                <a:spLocks noChangeArrowheads="1"/>
              </p:cNvSpPr>
              <p:nvPr/>
            </p:nvSpPr>
            <p:spPr bwMode="auto">
              <a:xfrm>
                <a:off x="6" y="2409"/>
                <a:ext cx="1487"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Arial" panose="020B0604020202020204" pitchFamily="34" charset="0"/>
                  </a:rPr>
                  <a:t>rdt_rcv(rcvpkt) &amp;&amp; </a:t>
                </a:r>
              </a:p>
              <a:p>
                <a:pPr defTabSz="685800">
                  <a:defRPr/>
                </a:pPr>
                <a:r>
                  <a:rPr lang="en-US" altLang="en-US" sz="1200" kern="0" dirty="0">
                    <a:solidFill>
                      <a:srgbClr val="000000"/>
                    </a:solidFill>
                    <a:latin typeface="Arial" panose="020B0604020202020204" pitchFamily="34" charset="0"/>
                  </a:rPr>
                  <a:t>   (corrupt(rcvpkt) ||</a:t>
                </a:r>
              </a:p>
              <a:p>
                <a:pPr defTabSz="685800">
                  <a:defRPr/>
                </a:pPr>
                <a:r>
                  <a:rPr lang="en-US" altLang="en-US" sz="1200" kern="0" dirty="0">
                    <a:solidFill>
                      <a:srgbClr val="000000"/>
                    </a:solidFill>
                    <a:latin typeface="Arial" panose="020B0604020202020204" pitchFamily="34" charset="0"/>
                  </a:rPr>
                  <a:t>     </a:t>
                </a:r>
                <a:r>
                  <a:rPr lang="en-US" altLang="en-US" sz="1200" b="1" kern="0" dirty="0">
                    <a:solidFill>
                      <a:srgbClr val="FF0000"/>
                    </a:solidFill>
                    <a:latin typeface="Arial" panose="020B0604020202020204" pitchFamily="34" charset="0"/>
                  </a:rPr>
                  <a:t>has_seq1(rcvpkt))</a:t>
                </a:r>
                <a:endParaRPr lang="en-US" altLang="en-US" sz="1200" b="1" kern="0" dirty="0">
                  <a:solidFill>
                    <a:srgbClr val="FF0000"/>
                  </a:solidFill>
                  <a:latin typeface="Times New Roman" panose="02020603050405020304" pitchFamily="18" charset="0"/>
                </a:endParaRPr>
              </a:p>
            </p:txBody>
          </p:sp>
          <p:sp>
            <p:nvSpPr>
              <p:cNvPr id="78" name="Text Box 37">
                <a:extLst>
                  <a:ext uri="{FF2B5EF4-FFF2-40B4-BE49-F238E27FC236}">
                    <a16:creationId xmlns:a16="http://schemas.microsoft.com/office/drawing/2014/main" id="{18F09FB4-D9AF-AD4C-B898-09D2838B6D97}"/>
                  </a:ext>
                </a:extLst>
              </p:cNvPr>
              <p:cNvSpPr txBox="1">
                <a:spLocks noChangeArrowheads="1"/>
              </p:cNvSpPr>
              <p:nvPr/>
            </p:nvSpPr>
            <p:spPr bwMode="auto">
              <a:xfrm>
                <a:off x="0" y="2954"/>
                <a:ext cx="128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b="1" kern="0" dirty="0">
                    <a:solidFill>
                      <a:srgbClr val="FF0000"/>
                    </a:solidFill>
                    <a:latin typeface="Arial" panose="020B0604020202020204" pitchFamily="34" charset="0"/>
                  </a:rPr>
                  <a:t>udt_send(sndpkt)</a:t>
                </a:r>
                <a:endParaRPr lang="en-US" altLang="en-US" sz="1200" b="1" kern="0" dirty="0">
                  <a:solidFill>
                    <a:srgbClr val="FF0000"/>
                  </a:solidFill>
                  <a:latin typeface="Times New Roman" panose="02020603050405020304" pitchFamily="18" charset="0"/>
                </a:endParaRPr>
              </a:p>
            </p:txBody>
          </p:sp>
          <p:sp>
            <p:nvSpPr>
              <p:cNvPr id="79" name="Text Box 38">
                <a:extLst>
                  <a:ext uri="{FF2B5EF4-FFF2-40B4-BE49-F238E27FC236}">
                    <a16:creationId xmlns:a16="http://schemas.microsoft.com/office/drawing/2014/main" id="{E0B6922C-3192-A443-B72C-6BA385FDE71D}"/>
                  </a:ext>
                </a:extLst>
              </p:cNvPr>
              <p:cNvSpPr txBox="1">
                <a:spLocks noChangeArrowheads="1"/>
              </p:cNvSpPr>
              <p:nvPr/>
            </p:nvSpPr>
            <p:spPr bwMode="auto">
              <a:xfrm>
                <a:off x="2143" y="2709"/>
                <a:ext cx="1067" cy="4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FF0000"/>
                    </a:solidFill>
                    <a:prstDash val="dash"/>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kern="0" dirty="0">
                    <a:solidFill>
                      <a:srgbClr val="000099"/>
                    </a:solidFill>
                  </a:rPr>
                  <a:t>receiver FSM</a:t>
                </a:r>
              </a:p>
              <a:p>
                <a:pPr algn="ctr" defTabSz="685800">
                  <a:defRPr/>
                </a:pPr>
                <a:r>
                  <a:rPr lang="en-US" sz="1500" kern="0" dirty="0">
                    <a:solidFill>
                      <a:srgbClr val="000099"/>
                    </a:solidFill>
                  </a:rPr>
                  <a:t>fragment</a:t>
                </a:r>
              </a:p>
            </p:txBody>
          </p:sp>
        </p:grpSp>
        <p:sp>
          <p:nvSpPr>
            <p:cNvPr id="70" name="Text Box 39">
              <a:extLst>
                <a:ext uri="{FF2B5EF4-FFF2-40B4-BE49-F238E27FC236}">
                  <a16:creationId xmlns:a16="http://schemas.microsoft.com/office/drawing/2014/main" id="{60BFA42A-F9D1-AB4D-86F4-23CB7F278388}"/>
                </a:ext>
              </a:extLst>
            </p:cNvPr>
            <p:cNvSpPr txBox="1">
              <a:spLocks noChangeArrowheads="1"/>
            </p:cNvSpPr>
            <p:nvPr/>
          </p:nvSpPr>
          <p:spPr bwMode="auto">
            <a:xfrm>
              <a:off x="4318" y="2585"/>
              <a:ext cx="23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kern="0" dirty="0">
                  <a:solidFill>
                    <a:srgbClr val="000000"/>
                  </a:solidFill>
                  <a:latin typeface="Symbol" charset="0"/>
                </a:rPr>
                <a:t>L</a:t>
              </a:r>
            </a:p>
          </p:txBody>
        </p:sp>
      </p:grpSp>
      <p:sp>
        <p:nvSpPr>
          <p:cNvPr id="40" name="Slide Number Placeholder 2">
            <a:extLst>
              <a:ext uri="{FF2B5EF4-FFF2-40B4-BE49-F238E27FC236}">
                <a16:creationId xmlns:a16="http://schemas.microsoft.com/office/drawing/2014/main" id="{F6D97494-9500-EB4E-A367-8D096797D41B}"/>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46</a:t>
            </a:fld>
            <a:endParaRPr lang="en-US" dirty="0"/>
          </a:p>
        </p:txBody>
      </p:sp>
    </p:spTree>
    <p:extLst>
      <p:ext uri="{BB962C8B-B14F-4D97-AF65-F5344CB8AC3E}">
        <p14:creationId xmlns:p14="http://schemas.microsoft.com/office/powerpoint/2010/main" val="203383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rdt3.0: channels with errors </a:t>
            </a:r>
            <a:r>
              <a:rPr lang="en-US" i="1" dirty="0"/>
              <a:t>and</a:t>
            </a:r>
            <a:r>
              <a:rPr lang="en-US" dirty="0"/>
              <a:t> loss</a:t>
            </a:r>
            <a:endParaRPr lang="en-US" sz="3000" dirty="0"/>
          </a:p>
        </p:txBody>
      </p:sp>
      <p:sp>
        <p:nvSpPr>
          <p:cNvPr id="41" name="Rectangle 3">
            <a:extLst>
              <a:ext uri="{FF2B5EF4-FFF2-40B4-BE49-F238E27FC236}">
                <a16:creationId xmlns:a16="http://schemas.microsoft.com/office/drawing/2014/main" id="{55B826DE-FC00-8F40-8016-039FCFE597E4}"/>
              </a:ext>
            </a:extLst>
          </p:cNvPr>
          <p:cNvSpPr txBox="1">
            <a:spLocks noChangeArrowheads="1"/>
          </p:cNvSpPr>
          <p:nvPr/>
        </p:nvSpPr>
        <p:spPr>
          <a:xfrm>
            <a:off x="525619" y="1825580"/>
            <a:ext cx="7899924"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25" indent="-9525" defTabSz="685800" fontAlgn="auto">
              <a:spcBef>
                <a:spcPts val="750"/>
              </a:spcBef>
              <a:spcAft>
                <a:spcPts val="0"/>
              </a:spcAft>
              <a:buNone/>
              <a:defRPr/>
            </a:pPr>
            <a:r>
              <a:rPr lang="en-US" altLang="en-US" sz="2400" i="1" dirty="0">
                <a:solidFill>
                  <a:srgbClr val="CC0000"/>
                </a:solidFill>
                <a:latin typeface="Calibri" panose="020F0502020204030204"/>
                <a:ea typeface="ＭＳ Ｐゴシック" panose="020B0600070205080204" pitchFamily="34" charset="-128"/>
              </a:rPr>
              <a:t>New channel assumption:</a:t>
            </a:r>
            <a:r>
              <a:rPr lang="en-US" altLang="en-US" sz="2400" i="1" dirty="0">
                <a:solidFill>
                  <a:prstClr val="black"/>
                </a:solidFill>
                <a:latin typeface="Calibri" panose="020F0502020204030204"/>
                <a:ea typeface="ＭＳ Ｐゴシック" panose="020B0600070205080204" pitchFamily="34" charset="-128"/>
              </a:rPr>
              <a:t> </a:t>
            </a:r>
            <a:r>
              <a:rPr lang="en-US" altLang="en-US" sz="2400" dirty="0">
                <a:solidFill>
                  <a:prstClr val="black"/>
                </a:solidFill>
                <a:latin typeface="Calibri" panose="020F0502020204030204"/>
                <a:ea typeface="ＭＳ Ｐゴシック" panose="020B0600070205080204" pitchFamily="34" charset="-128"/>
              </a:rPr>
              <a:t>underlying channel can also </a:t>
            </a:r>
            <a:r>
              <a:rPr lang="en-US" altLang="en-US" sz="2400" i="1" dirty="0">
                <a:solidFill>
                  <a:prstClr val="black"/>
                </a:solidFill>
                <a:latin typeface="Calibri" panose="020F0502020204030204"/>
                <a:ea typeface="ＭＳ Ｐゴシック" panose="020B0600070205080204" pitchFamily="34" charset="-128"/>
              </a:rPr>
              <a:t>lose</a:t>
            </a:r>
            <a:r>
              <a:rPr lang="en-US" altLang="en-US" sz="2400" dirty="0">
                <a:solidFill>
                  <a:prstClr val="black"/>
                </a:solidFill>
                <a:latin typeface="Calibri" panose="020F0502020204030204"/>
                <a:ea typeface="ＭＳ Ｐゴシック" panose="020B0600070205080204" pitchFamily="34" charset="-128"/>
              </a:rPr>
              <a:t> packets (data, ACKs)</a:t>
            </a:r>
          </a:p>
          <a:p>
            <a:pPr marL="521494" lvl="1" indent="-173831" defTabSz="685800" fontAlgn="auto">
              <a:spcBef>
                <a:spcPts val="375"/>
              </a:spcBef>
              <a:spcAft>
                <a:spcPts val="0"/>
              </a:spcAft>
              <a:defRPr/>
            </a:pPr>
            <a:r>
              <a:rPr lang="en-US" altLang="en-US" sz="2100" dirty="0">
                <a:solidFill>
                  <a:prstClr val="black"/>
                </a:solidFill>
                <a:latin typeface="Calibri" panose="020F0502020204030204"/>
                <a:ea typeface="ＭＳ Ｐゴシック" panose="020B0600070205080204" pitchFamily="34" charset="-128"/>
              </a:rPr>
              <a:t>checksum, sequence #s, ACKs, retransmissions will be of help … but not quite enough</a:t>
            </a:r>
          </a:p>
        </p:txBody>
      </p:sp>
      <p:sp>
        <p:nvSpPr>
          <p:cNvPr id="4" name="TextBox 3">
            <a:extLst>
              <a:ext uri="{FF2B5EF4-FFF2-40B4-BE49-F238E27FC236}">
                <a16:creationId xmlns:a16="http://schemas.microsoft.com/office/drawing/2014/main" id="{96D30AFD-5483-8F4A-8353-70CF76EDD8F5}"/>
              </a:ext>
            </a:extLst>
          </p:cNvPr>
          <p:cNvSpPr txBox="1"/>
          <p:nvPr/>
        </p:nvSpPr>
        <p:spPr>
          <a:xfrm>
            <a:off x="1013793" y="3874679"/>
            <a:ext cx="7076660" cy="1015663"/>
          </a:xfrm>
          <a:prstGeom prst="rect">
            <a:avLst/>
          </a:prstGeom>
          <a:noFill/>
        </p:spPr>
        <p:txBody>
          <a:bodyPr wrap="square" rtlCol="0">
            <a:spAutoFit/>
          </a:bodyPr>
          <a:lstStyle/>
          <a:p>
            <a:pPr marL="435769" indent="-426244" algn="ctr" defTabSz="685800" eaLnBrk="1" fontAlgn="auto" hangingPunct="1">
              <a:spcBef>
                <a:spcPts val="0"/>
              </a:spcBef>
              <a:spcAft>
                <a:spcPts val="0"/>
              </a:spcAft>
              <a:defRPr/>
            </a:pPr>
            <a:r>
              <a:rPr lang="en-US" sz="3000" i="1" dirty="0">
                <a:solidFill>
                  <a:srgbClr val="C00000"/>
                </a:solidFill>
                <a:latin typeface="Calibri" panose="020F0502020204030204"/>
                <a:ea typeface="+mn-ea"/>
              </a:rPr>
              <a:t>Q: </a:t>
            </a:r>
            <a:r>
              <a:rPr lang="en-US" sz="3000" dirty="0">
                <a:solidFill>
                  <a:prstClr val="black"/>
                </a:solidFill>
                <a:latin typeface="Calibri" panose="020F0502020204030204"/>
                <a:ea typeface="+mn-ea"/>
              </a:rPr>
              <a:t>How do </a:t>
            </a:r>
            <a:r>
              <a:rPr lang="en-US" sz="3000" i="1" dirty="0">
                <a:solidFill>
                  <a:prstClr val="black"/>
                </a:solidFill>
                <a:latin typeface="Calibri" panose="020F0502020204030204"/>
                <a:ea typeface="+mn-ea"/>
              </a:rPr>
              <a:t>humans</a:t>
            </a:r>
            <a:r>
              <a:rPr lang="en-US" sz="3000" dirty="0">
                <a:solidFill>
                  <a:prstClr val="black"/>
                </a:solidFill>
                <a:latin typeface="Calibri" panose="020F0502020204030204"/>
                <a:ea typeface="+mn-ea"/>
              </a:rPr>
              <a:t> handle lost sender-to-receiver words in conversation?</a:t>
            </a:r>
          </a:p>
        </p:txBody>
      </p:sp>
      <p:sp>
        <p:nvSpPr>
          <p:cNvPr id="5" name="Slide Number Placeholder 2">
            <a:extLst>
              <a:ext uri="{FF2B5EF4-FFF2-40B4-BE49-F238E27FC236}">
                <a16:creationId xmlns:a16="http://schemas.microsoft.com/office/drawing/2014/main" id="{B81C8263-652B-B54F-A380-A9D05ECA037A}"/>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47</a:t>
            </a:fld>
            <a:endParaRPr lang="en-US" dirty="0"/>
          </a:p>
        </p:txBody>
      </p:sp>
    </p:spTree>
    <p:extLst>
      <p:ext uri="{BB962C8B-B14F-4D97-AF65-F5344CB8AC3E}">
        <p14:creationId xmlns:p14="http://schemas.microsoft.com/office/powerpoint/2010/main" val="1411020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rdt3.0: channels with errors </a:t>
            </a:r>
            <a:r>
              <a:rPr lang="en-US" i="1" dirty="0"/>
              <a:t>and</a:t>
            </a:r>
            <a:r>
              <a:rPr lang="en-US" dirty="0"/>
              <a:t> loss</a:t>
            </a:r>
            <a:endParaRPr lang="en-US" sz="3000" dirty="0"/>
          </a:p>
        </p:txBody>
      </p:sp>
      <p:sp>
        <p:nvSpPr>
          <p:cNvPr id="42" name="Rectangle 4">
            <a:extLst>
              <a:ext uri="{FF2B5EF4-FFF2-40B4-BE49-F238E27FC236}">
                <a16:creationId xmlns:a16="http://schemas.microsoft.com/office/drawing/2014/main" id="{709A56B0-0263-BE46-AEA5-8771DC7625B6}"/>
              </a:ext>
            </a:extLst>
          </p:cNvPr>
          <p:cNvSpPr txBox="1">
            <a:spLocks noChangeArrowheads="1"/>
          </p:cNvSpPr>
          <p:nvPr/>
        </p:nvSpPr>
        <p:spPr>
          <a:xfrm>
            <a:off x="563336" y="1873877"/>
            <a:ext cx="8193494" cy="380603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fontAlgn="auto">
              <a:spcBef>
                <a:spcPts val="750"/>
              </a:spcBef>
              <a:spcAft>
                <a:spcPts val="0"/>
              </a:spcAft>
              <a:buNone/>
              <a:defRPr/>
            </a:pPr>
            <a:r>
              <a:rPr lang="en-US" altLang="en-US" sz="2400" i="1" dirty="0">
                <a:solidFill>
                  <a:srgbClr val="CC0000"/>
                </a:solidFill>
                <a:latin typeface="Calibri" panose="020F0502020204030204"/>
                <a:ea typeface="ＭＳ Ｐゴシック" panose="020B0600070205080204" pitchFamily="34" charset="-128"/>
              </a:rPr>
              <a:t>Approach:</a:t>
            </a:r>
            <a:r>
              <a:rPr lang="en-US" altLang="en-US" sz="2400" i="1" dirty="0">
                <a:solidFill>
                  <a:prstClr val="black"/>
                </a:solidFill>
                <a:latin typeface="Calibri" panose="020F0502020204030204"/>
                <a:ea typeface="ＭＳ Ｐゴシック" panose="020B0600070205080204" pitchFamily="34" charset="-128"/>
              </a:rPr>
              <a:t> </a:t>
            </a:r>
            <a:r>
              <a:rPr lang="en-US" altLang="en-US" sz="2400" dirty="0">
                <a:solidFill>
                  <a:prstClr val="black"/>
                </a:solidFill>
                <a:latin typeface="Calibri" panose="020F0502020204030204"/>
                <a:ea typeface="ＭＳ Ｐゴシック" panose="020B0600070205080204" pitchFamily="34" charset="-128"/>
              </a:rPr>
              <a:t>sender waits </a:t>
            </a:r>
            <a:r>
              <a:rPr lang="en-US" altLang="ja-JP" sz="2400" dirty="0">
                <a:solidFill>
                  <a:prstClr val="black"/>
                </a:solidFill>
                <a:latin typeface="Calibri" panose="020F0502020204030204"/>
                <a:ea typeface="ＭＳ Ｐゴシック" panose="020B0600070205080204" pitchFamily="34" charset="-128"/>
              </a:rPr>
              <a:t>“reasonable” amount of time for ACK </a:t>
            </a:r>
          </a:p>
          <a:p>
            <a:pPr marL="304800" indent="-255985" defTabSz="685800" fontAlgn="auto">
              <a:lnSpc>
                <a:spcPct val="80000"/>
              </a:lnSpc>
              <a:spcBef>
                <a:spcPts val="900"/>
              </a:spcBef>
              <a:spcAft>
                <a:spcPts val="0"/>
              </a:spcAft>
              <a:defRPr/>
            </a:pPr>
            <a:r>
              <a:rPr lang="en-US" altLang="en-US" sz="2400" dirty="0">
                <a:solidFill>
                  <a:prstClr val="black"/>
                </a:solidFill>
                <a:latin typeface="Calibri" panose="020F0502020204030204"/>
                <a:ea typeface="ＭＳ Ｐゴシック" panose="020B0600070205080204" pitchFamily="34" charset="-128"/>
              </a:rPr>
              <a:t>retransmits if no ACK received in this time</a:t>
            </a:r>
          </a:p>
          <a:p>
            <a:pPr marL="304800" indent="-255985" defTabSz="685800" fontAlgn="auto">
              <a:lnSpc>
                <a:spcPct val="70000"/>
              </a:lnSpc>
              <a:spcBef>
                <a:spcPts val="900"/>
              </a:spcBef>
              <a:spcAft>
                <a:spcPts val="0"/>
              </a:spcAft>
              <a:defRPr/>
            </a:pPr>
            <a:r>
              <a:rPr lang="en-US" altLang="en-US" sz="2400" dirty="0">
                <a:solidFill>
                  <a:prstClr val="black"/>
                </a:solidFill>
                <a:latin typeface="Calibri" panose="020F0502020204030204"/>
                <a:ea typeface="ＭＳ Ｐゴシック" panose="020B0600070205080204" pitchFamily="34" charset="-128"/>
              </a:rPr>
              <a:t>if pkt (or ACK) just delayed (not lost):</a:t>
            </a:r>
          </a:p>
          <a:p>
            <a:pPr marL="560785" lvl="2" indent="-280988" defTabSz="685800" fontAlgn="auto">
              <a:spcBef>
                <a:spcPts val="900"/>
              </a:spcBef>
              <a:spcAft>
                <a:spcPts val="0"/>
              </a:spcAft>
              <a:buClr>
                <a:srgbClr val="0000A8"/>
              </a:buClr>
              <a:defRPr/>
            </a:pPr>
            <a:r>
              <a:rPr lang="en-US" altLang="en-US" sz="2100" dirty="0">
                <a:solidFill>
                  <a:prstClr val="black"/>
                </a:solidFill>
                <a:latin typeface="Calibri" panose="020F0502020204030204"/>
                <a:ea typeface="ＭＳ Ｐゴシック" panose="020B0600070205080204" pitchFamily="34" charset="-128"/>
              </a:rPr>
              <a:t>retransmission will be  duplicate, but seq #</a:t>
            </a:r>
            <a:r>
              <a:rPr lang="en-US" altLang="ja-JP" sz="2100" dirty="0">
                <a:solidFill>
                  <a:prstClr val="black"/>
                </a:solidFill>
                <a:latin typeface="Calibri" panose="020F0502020204030204"/>
                <a:ea typeface="ＭＳ Ｐゴシック" panose="020B0600070205080204" pitchFamily="34" charset="-128"/>
              </a:rPr>
              <a:t>s already handles this!</a:t>
            </a:r>
          </a:p>
          <a:p>
            <a:pPr marL="560785" lvl="2" indent="-280988" defTabSz="685800" fontAlgn="auto">
              <a:spcBef>
                <a:spcPts val="900"/>
              </a:spcBef>
              <a:spcAft>
                <a:spcPts val="0"/>
              </a:spcAft>
              <a:buClr>
                <a:srgbClr val="0000A8"/>
              </a:buClr>
              <a:defRPr/>
            </a:pPr>
            <a:r>
              <a:rPr lang="en-US" altLang="en-US" sz="2100" dirty="0">
                <a:solidFill>
                  <a:prstClr val="black"/>
                </a:solidFill>
                <a:latin typeface="Calibri" panose="020F0502020204030204"/>
                <a:ea typeface="ＭＳ Ｐゴシック" panose="020B0600070205080204" pitchFamily="34" charset="-128"/>
              </a:rPr>
              <a:t>receiver must specify seq # of packet being ACKed</a:t>
            </a:r>
          </a:p>
        </p:txBody>
      </p:sp>
      <p:grpSp>
        <p:nvGrpSpPr>
          <p:cNvPr id="3" name="Group 2">
            <a:extLst>
              <a:ext uri="{FF2B5EF4-FFF2-40B4-BE49-F238E27FC236}">
                <a16:creationId xmlns:a16="http://schemas.microsoft.com/office/drawing/2014/main" id="{67B4DB3B-FB87-7B42-8ADE-E098B4B1CDD9}"/>
              </a:ext>
            </a:extLst>
          </p:cNvPr>
          <p:cNvGrpSpPr/>
          <p:nvPr/>
        </p:nvGrpSpPr>
        <p:grpSpPr>
          <a:xfrm>
            <a:off x="2889491" y="4514850"/>
            <a:ext cx="2659403" cy="1428750"/>
            <a:chOff x="3667124" y="4359729"/>
            <a:chExt cx="3545871" cy="1905000"/>
          </a:xfrm>
        </p:grpSpPr>
        <p:pic>
          <p:nvPicPr>
            <p:cNvPr id="7170" name="Picture 2" descr="Image result for red alarm clock">
              <a:extLst>
                <a:ext uri="{FF2B5EF4-FFF2-40B4-BE49-F238E27FC236}">
                  <a16:creationId xmlns:a16="http://schemas.microsoft.com/office/drawing/2014/main" id="{78FD9079-5EFC-D744-A2EF-B55FD834CA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67124" y="4359729"/>
              <a:ext cx="3381375" cy="1905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91">
              <a:extLst>
                <a:ext uri="{FF2B5EF4-FFF2-40B4-BE49-F238E27FC236}">
                  <a16:creationId xmlns:a16="http://schemas.microsoft.com/office/drawing/2014/main" id="{62219A32-C5B7-4A41-B560-B3B62A39F92F}"/>
                </a:ext>
              </a:extLst>
            </p:cNvPr>
            <p:cNvSpPr txBox="1">
              <a:spLocks noChangeArrowheads="1"/>
            </p:cNvSpPr>
            <p:nvPr/>
          </p:nvSpPr>
          <p:spPr bwMode="auto">
            <a:xfrm>
              <a:off x="5932303" y="4757576"/>
              <a:ext cx="1280692" cy="4001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lnSpc>
                  <a:spcPct val="75000"/>
                </a:lnSpc>
                <a:defRPr/>
              </a:pPr>
              <a:r>
                <a:rPr lang="en-US" sz="1800" i="1" kern="0" dirty="0">
                  <a:solidFill>
                    <a:srgbClr val="C00000"/>
                  </a:solidFill>
                </a:rPr>
                <a:t>timeout</a:t>
              </a:r>
            </a:p>
          </p:txBody>
        </p:sp>
      </p:grpSp>
      <p:sp>
        <p:nvSpPr>
          <p:cNvPr id="10" name="Rectangle 4">
            <a:extLst>
              <a:ext uri="{FF2B5EF4-FFF2-40B4-BE49-F238E27FC236}">
                <a16:creationId xmlns:a16="http://schemas.microsoft.com/office/drawing/2014/main" id="{C21F0D09-350B-0D4B-B0F1-02B4E8F5DB35}"/>
              </a:ext>
            </a:extLst>
          </p:cNvPr>
          <p:cNvSpPr txBox="1">
            <a:spLocks noChangeArrowheads="1"/>
          </p:cNvSpPr>
          <p:nvPr/>
        </p:nvSpPr>
        <p:spPr>
          <a:xfrm>
            <a:off x="606465" y="3901636"/>
            <a:ext cx="8193494" cy="762302"/>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4800" indent="-255985" defTabSz="685800" fontAlgn="auto">
              <a:lnSpc>
                <a:spcPct val="100000"/>
              </a:lnSpc>
              <a:spcBef>
                <a:spcPts val="900"/>
              </a:spcBef>
              <a:spcAft>
                <a:spcPts val="0"/>
              </a:spcAft>
              <a:defRPr/>
            </a:pPr>
            <a:r>
              <a:rPr lang="en-US" altLang="en-US" sz="2400" dirty="0">
                <a:solidFill>
                  <a:prstClr val="black"/>
                </a:solidFill>
                <a:latin typeface="Calibri" panose="020F0502020204030204"/>
                <a:ea typeface="ＭＳ Ｐゴシック" panose="020B0600070205080204" pitchFamily="34" charset="-128"/>
              </a:rPr>
              <a:t>use countdown timer to interrupt after “reasonable” amount of time</a:t>
            </a:r>
          </a:p>
        </p:txBody>
      </p:sp>
      <p:sp>
        <p:nvSpPr>
          <p:cNvPr id="9" name="Slide Number Placeholder 2">
            <a:extLst>
              <a:ext uri="{FF2B5EF4-FFF2-40B4-BE49-F238E27FC236}">
                <a16:creationId xmlns:a16="http://schemas.microsoft.com/office/drawing/2014/main" id="{BA1AE1C8-34DA-8649-8588-05545644E513}"/>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48</a:t>
            </a:fld>
            <a:endParaRPr lang="en-US" dirty="0"/>
          </a:p>
        </p:txBody>
      </p:sp>
    </p:spTree>
    <p:extLst>
      <p:ext uri="{BB962C8B-B14F-4D97-AF65-F5344CB8AC3E}">
        <p14:creationId xmlns:p14="http://schemas.microsoft.com/office/powerpoint/2010/main" val="112676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42">
                                            <p:txEl>
                                              <p:pRg st="1" end="1"/>
                                            </p:txEl>
                                          </p:spTgt>
                                        </p:tgtEl>
                                        <p:attrNameLst>
                                          <p:attrName>style.visibility</p:attrName>
                                        </p:attrNameLst>
                                      </p:cBhvr>
                                      <p:to>
                                        <p:strVal val="visible"/>
                                      </p:to>
                                    </p:set>
                                    <p:animEffect transition="in" filter="dissolve">
                                      <p:cBhvr>
                                        <p:cTn id="11" dur="500"/>
                                        <p:tgtEl>
                                          <p:spTgt spid="42">
                                            <p:txEl>
                                              <p:pRg st="1" end="1"/>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42">
                                            <p:txEl>
                                              <p:pRg st="2" end="2"/>
                                            </p:txEl>
                                          </p:spTgt>
                                        </p:tgtEl>
                                        <p:attrNameLst>
                                          <p:attrName>style.visibility</p:attrName>
                                        </p:attrNameLst>
                                      </p:cBhvr>
                                      <p:to>
                                        <p:strVal val="visible"/>
                                      </p:to>
                                    </p:set>
                                    <p:animEffect transition="in" filter="dissolve">
                                      <p:cBhvr>
                                        <p:cTn id="14" dur="500"/>
                                        <p:tgtEl>
                                          <p:spTgt spid="42">
                                            <p:txEl>
                                              <p:pRg st="2" end="2"/>
                                            </p:txEl>
                                          </p:spTgt>
                                        </p:tgtEl>
                                      </p:cBhvr>
                                    </p:animEffect>
                                  </p:childTnLst>
                                </p:cTn>
                              </p:par>
                              <p:par>
                                <p:cTn id="15" presetID="9" presetClass="entr" presetSubtype="0" fill="hold" nodeType="withEffect">
                                  <p:stCondLst>
                                    <p:cond delay="0"/>
                                  </p:stCondLst>
                                  <p:childTnLst>
                                    <p:set>
                                      <p:cBhvr>
                                        <p:cTn id="16" dur="1" fill="hold">
                                          <p:stCondLst>
                                            <p:cond delay="0"/>
                                          </p:stCondLst>
                                        </p:cTn>
                                        <p:tgtEl>
                                          <p:spTgt spid="42">
                                            <p:txEl>
                                              <p:pRg st="3" end="3"/>
                                            </p:txEl>
                                          </p:spTgt>
                                        </p:tgtEl>
                                        <p:attrNameLst>
                                          <p:attrName>style.visibility</p:attrName>
                                        </p:attrNameLst>
                                      </p:cBhvr>
                                      <p:to>
                                        <p:strVal val="visible"/>
                                      </p:to>
                                    </p:set>
                                    <p:animEffect transition="in" filter="dissolve">
                                      <p:cBhvr>
                                        <p:cTn id="17" dur="500"/>
                                        <p:tgtEl>
                                          <p:spTgt spid="42">
                                            <p:txEl>
                                              <p:pRg st="3" end="3"/>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42">
                                            <p:txEl>
                                              <p:pRg st="4" end="4"/>
                                            </p:txEl>
                                          </p:spTgt>
                                        </p:tgtEl>
                                        <p:attrNameLst>
                                          <p:attrName>style.visibility</p:attrName>
                                        </p:attrNameLst>
                                      </p:cBhvr>
                                      <p:to>
                                        <p:strVal val="visible"/>
                                      </p:to>
                                    </p:set>
                                    <p:animEffect transition="in" filter="dissolve">
                                      <p:cBhvr>
                                        <p:cTn id="20" dur="500"/>
                                        <p:tgtEl>
                                          <p:spTgt spid="42">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9" presetClass="entr" presetSubtype="0" fill="hold" nodeType="with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dissolve">
                                      <p:cBhvr>
                                        <p:cTn id="27" dur="500"/>
                                        <p:tgtEl>
                                          <p:spTgt spid="10">
                                            <p:txEl>
                                              <p:pRg st="0" end="0"/>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dissolv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5C125732-5AF8-DA4B-817C-FBB3A5B32FC1}"/>
              </a:ext>
            </a:extLst>
          </p:cNvPr>
          <p:cNvSpPr/>
          <p:nvPr/>
        </p:nvSpPr>
        <p:spPr>
          <a:xfrm>
            <a:off x="1999622" y="3659139"/>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4" name="Rectangle 123">
            <a:extLst>
              <a:ext uri="{FF2B5EF4-FFF2-40B4-BE49-F238E27FC236}">
                <a16:creationId xmlns:a16="http://schemas.microsoft.com/office/drawing/2014/main" id="{0D8C866A-2C1E-EA49-9FEE-17BE0B5EB65D}"/>
              </a:ext>
            </a:extLst>
          </p:cNvPr>
          <p:cNvSpPr/>
          <p:nvPr/>
        </p:nvSpPr>
        <p:spPr>
          <a:xfrm>
            <a:off x="3831683" y="5206357"/>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3" name="Rectangle 122">
            <a:extLst>
              <a:ext uri="{FF2B5EF4-FFF2-40B4-BE49-F238E27FC236}">
                <a16:creationId xmlns:a16="http://schemas.microsoft.com/office/drawing/2014/main" id="{B8F8E4F3-FCCE-BB46-816F-BE18AA10AA87}"/>
              </a:ext>
            </a:extLst>
          </p:cNvPr>
          <p:cNvSpPr/>
          <p:nvPr/>
        </p:nvSpPr>
        <p:spPr>
          <a:xfrm>
            <a:off x="6079450" y="3819165"/>
            <a:ext cx="708422"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1" name="Rectangle 120">
            <a:extLst>
              <a:ext uri="{FF2B5EF4-FFF2-40B4-BE49-F238E27FC236}">
                <a16:creationId xmlns:a16="http://schemas.microsoft.com/office/drawing/2014/main" id="{DEEC5A2E-CAFB-BA43-A154-13F98FBF8642}"/>
              </a:ext>
            </a:extLst>
          </p:cNvPr>
          <p:cNvSpPr/>
          <p:nvPr/>
        </p:nvSpPr>
        <p:spPr>
          <a:xfrm>
            <a:off x="3579025" y="2323608"/>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rdt3.0 sender</a:t>
            </a:r>
            <a:endParaRPr lang="en-US" dirty="0"/>
          </a:p>
        </p:txBody>
      </p:sp>
      <p:sp>
        <p:nvSpPr>
          <p:cNvPr id="64" name="Line 6">
            <a:extLst>
              <a:ext uri="{FF2B5EF4-FFF2-40B4-BE49-F238E27FC236}">
                <a16:creationId xmlns:a16="http://schemas.microsoft.com/office/drawing/2014/main" id="{78C37AB9-8D5F-A34A-A2BE-A05DFB4E8756}"/>
              </a:ext>
            </a:extLst>
          </p:cNvPr>
          <p:cNvSpPr>
            <a:spLocks noChangeShapeType="1"/>
          </p:cNvSpPr>
          <p:nvPr/>
        </p:nvSpPr>
        <p:spPr bwMode="auto">
          <a:xfrm>
            <a:off x="3366149" y="2085729"/>
            <a:ext cx="117872" cy="432197"/>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65" name="Group 7">
            <a:extLst>
              <a:ext uri="{FF2B5EF4-FFF2-40B4-BE49-F238E27FC236}">
                <a16:creationId xmlns:a16="http://schemas.microsoft.com/office/drawing/2014/main" id="{096872AC-5A50-874A-AB4F-3FB6FDD33CA8}"/>
              </a:ext>
            </a:extLst>
          </p:cNvPr>
          <p:cNvGrpSpPr>
            <a:grpSpLocks/>
          </p:cNvGrpSpPr>
          <p:nvPr/>
        </p:nvGrpSpPr>
        <p:grpSpPr bwMode="auto">
          <a:xfrm>
            <a:off x="5324727" y="2495305"/>
            <a:ext cx="666750" cy="648890"/>
            <a:chOff x="445" y="1273"/>
            <a:chExt cx="560" cy="545"/>
          </a:xfrm>
        </p:grpSpPr>
        <p:sp>
          <p:nvSpPr>
            <p:cNvPr id="66" name="Oval 8">
              <a:extLst>
                <a:ext uri="{FF2B5EF4-FFF2-40B4-BE49-F238E27FC236}">
                  <a16:creationId xmlns:a16="http://schemas.microsoft.com/office/drawing/2014/main" id="{E65B4A15-4BAC-CA4D-A49C-43B951682900}"/>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67" name="Text Box 9">
              <a:extLst>
                <a:ext uri="{FF2B5EF4-FFF2-40B4-BE49-F238E27FC236}">
                  <a16:creationId xmlns:a16="http://schemas.microsoft.com/office/drawing/2014/main" id="{26B25746-91F9-5D4A-8F0C-823F1140A003}"/>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ACK0</a:t>
              </a:r>
              <a:endParaRPr lang="en-US" altLang="en-US" sz="1050" kern="0" dirty="0">
                <a:solidFill>
                  <a:srgbClr val="000000"/>
                </a:solidFill>
                <a:latin typeface="Times New Roman" panose="02020603050405020304" pitchFamily="18" charset="0"/>
              </a:endParaRPr>
            </a:p>
          </p:txBody>
        </p:sp>
      </p:grpSp>
      <p:grpSp>
        <p:nvGrpSpPr>
          <p:cNvPr id="4" name="Group 3">
            <a:extLst>
              <a:ext uri="{FF2B5EF4-FFF2-40B4-BE49-F238E27FC236}">
                <a16:creationId xmlns:a16="http://schemas.microsoft.com/office/drawing/2014/main" id="{7F4D04D9-9A61-C546-9AF6-16658062604A}"/>
              </a:ext>
            </a:extLst>
          </p:cNvPr>
          <p:cNvGrpSpPr/>
          <p:nvPr/>
        </p:nvGrpSpPr>
        <p:grpSpPr>
          <a:xfrm>
            <a:off x="3568555" y="1745211"/>
            <a:ext cx="2895600" cy="858440"/>
            <a:chOff x="4758073" y="1183947"/>
            <a:chExt cx="3860800" cy="1144587"/>
          </a:xfrm>
        </p:grpSpPr>
        <p:sp>
          <p:nvSpPr>
            <p:cNvPr id="61" name="Text Box 3">
              <a:extLst>
                <a:ext uri="{FF2B5EF4-FFF2-40B4-BE49-F238E27FC236}">
                  <a16:creationId xmlns:a16="http://schemas.microsoft.com/office/drawing/2014/main" id="{277946DC-87AE-0E47-8DDD-C388A956445A}"/>
                </a:ext>
              </a:extLst>
            </p:cNvPr>
            <p:cNvSpPr txBox="1">
              <a:spLocks noChangeArrowheads="1"/>
            </p:cNvSpPr>
            <p:nvPr/>
          </p:nvSpPr>
          <p:spPr bwMode="auto">
            <a:xfrm>
              <a:off x="4758073" y="1477634"/>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sndpkt = make_pkt(0, data, checksum)</a:t>
              </a:r>
            </a:p>
            <a:p>
              <a:pPr defTabSz="685800">
                <a:defRPr/>
              </a:pPr>
              <a:r>
                <a:rPr lang="en-US" altLang="en-US" sz="1050" dirty="0">
                  <a:solidFill>
                    <a:srgbClr val="000000"/>
                  </a:solidFill>
                  <a:latin typeface="Arial" panose="020B0604020202020204" pitchFamily="34" charset="0"/>
                </a:rPr>
                <a:t>udt_send(sndpkt)</a:t>
              </a:r>
            </a:p>
            <a:p>
              <a:pPr defTabSz="685800">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62" name="Text Box 4">
              <a:extLst>
                <a:ext uri="{FF2B5EF4-FFF2-40B4-BE49-F238E27FC236}">
                  <a16:creationId xmlns:a16="http://schemas.microsoft.com/office/drawing/2014/main" id="{11F4EC56-A6F5-A64D-95C8-7503733BD178}"/>
                </a:ext>
              </a:extLst>
            </p:cNvPr>
            <p:cNvSpPr txBox="1">
              <a:spLocks noChangeArrowheads="1"/>
            </p:cNvSpPr>
            <p:nvPr/>
          </p:nvSpPr>
          <p:spPr bwMode="auto">
            <a:xfrm>
              <a:off x="4799348" y="1183947"/>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rdt_send(data)</a:t>
              </a:r>
              <a:endParaRPr lang="en-US" altLang="en-US" sz="1050" dirty="0">
                <a:solidFill>
                  <a:srgbClr val="000000"/>
                </a:solidFill>
                <a:latin typeface="Times New Roman" panose="02020603050405020304" pitchFamily="18" charset="0"/>
              </a:endParaRPr>
            </a:p>
          </p:txBody>
        </p:sp>
        <p:sp>
          <p:nvSpPr>
            <p:cNvPr id="63" name="Line 5">
              <a:extLst>
                <a:ext uri="{FF2B5EF4-FFF2-40B4-BE49-F238E27FC236}">
                  <a16:creationId xmlns:a16="http://schemas.microsoft.com/office/drawing/2014/main" id="{C1AF7291-871C-F046-AFBB-1556BBAC481A}"/>
                </a:ext>
              </a:extLst>
            </p:cNvPr>
            <p:cNvSpPr>
              <a:spLocks noChangeShapeType="1"/>
            </p:cNvSpPr>
            <p:nvPr/>
          </p:nvSpPr>
          <p:spPr bwMode="auto">
            <a:xfrm>
              <a:off x="4900948" y="15220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8" name="Freeform 10">
              <a:extLst>
                <a:ext uri="{FF2B5EF4-FFF2-40B4-BE49-F238E27FC236}">
                  <a16:creationId xmlns:a16="http://schemas.microsoft.com/office/drawing/2014/main" id="{8CEC024B-C97C-A74A-9916-3EDFFAAB7369}"/>
                </a:ext>
              </a:extLst>
            </p:cNvPr>
            <p:cNvSpPr>
              <a:spLocks/>
            </p:cNvSpPr>
            <p:nvPr/>
          </p:nvSpPr>
          <p:spPr bwMode="auto">
            <a:xfrm flipV="1">
              <a:off x="5123198" y="2165022"/>
              <a:ext cx="2090738" cy="16351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72" name="Group 14">
            <a:extLst>
              <a:ext uri="{FF2B5EF4-FFF2-40B4-BE49-F238E27FC236}">
                <a16:creationId xmlns:a16="http://schemas.microsoft.com/office/drawing/2014/main" id="{56EFCAB8-B7AF-164A-9F92-8EACFBDEB179}"/>
              </a:ext>
            </a:extLst>
          </p:cNvPr>
          <p:cNvGrpSpPr>
            <a:grpSpLocks/>
          </p:cNvGrpSpPr>
          <p:nvPr/>
        </p:nvGrpSpPr>
        <p:grpSpPr bwMode="auto">
          <a:xfrm>
            <a:off x="5393784" y="3931198"/>
            <a:ext cx="891778" cy="638175"/>
            <a:chOff x="4090" y="3230"/>
            <a:chExt cx="749" cy="536"/>
          </a:xfrm>
        </p:grpSpPr>
        <p:sp>
          <p:nvSpPr>
            <p:cNvPr id="73" name="Oval 15">
              <a:extLst>
                <a:ext uri="{FF2B5EF4-FFF2-40B4-BE49-F238E27FC236}">
                  <a16:creationId xmlns:a16="http://schemas.microsoft.com/office/drawing/2014/main" id="{FA80C9CA-4B40-8840-B931-9FF9ACFD24EF}"/>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74" name="Text Box 16">
              <a:extLst>
                <a:ext uri="{FF2B5EF4-FFF2-40B4-BE49-F238E27FC236}">
                  <a16:creationId xmlns:a16="http://schemas.microsoft.com/office/drawing/2014/main" id="{521CFB86-2E9D-B149-847B-A167F4F8FCE1}"/>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t>
              </a:r>
            </a:p>
            <a:p>
              <a:pPr algn="ctr" defTabSz="685800">
                <a:defRPr/>
              </a:pPr>
              <a:r>
                <a:rPr lang="en-US" altLang="en-US" sz="1050" kern="0" dirty="0">
                  <a:solidFill>
                    <a:srgbClr val="000000"/>
                  </a:solidFill>
                  <a:latin typeface="Arial" panose="020B0604020202020204" pitchFamily="34" charset="0"/>
                </a:rPr>
                <a:t>call 1 from above</a:t>
              </a:r>
              <a:endParaRPr lang="en-US" altLang="en-US" sz="1050" kern="0" dirty="0">
                <a:solidFill>
                  <a:srgbClr val="000000"/>
                </a:solidFill>
                <a:latin typeface="Times New Roman" panose="02020603050405020304" pitchFamily="18" charset="0"/>
              </a:endParaRPr>
            </a:p>
          </p:txBody>
        </p:sp>
      </p:grpSp>
      <p:grpSp>
        <p:nvGrpSpPr>
          <p:cNvPr id="114" name="Group 113">
            <a:extLst>
              <a:ext uri="{FF2B5EF4-FFF2-40B4-BE49-F238E27FC236}">
                <a16:creationId xmlns:a16="http://schemas.microsoft.com/office/drawing/2014/main" id="{40684A0E-9037-EB45-9EB8-86695DBF36A9}"/>
              </a:ext>
            </a:extLst>
          </p:cNvPr>
          <p:cNvGrpSpPr/>
          <p:nvPr/>
        </p:nvGrpSpPr>
        <p:grpSpPr>
          <a:xfrm>
            <a:off x="3791203" y="4481267"/>
            <a:ext cx="2583656" cy="778669"/>
            <a:chOff x="5054936" y="4832022"/>
            <a:chExt cx="3444875" cy="1038225"/>
          </a:xfrm>
        </p:grpSpPr>
        <p:sp>
          <p:nvSpPr>
            <p:cNvPr id="76" name="Freeform 18">
              <a:extLst>
                <a:ext uri="{FF2B5EF4-FFF2-40B4-BE49-F238E27FC236}">
                  <a16:creationId xmlns:a16="http://schemas.microsoft.com/office/drawing/2014/main" id="{6F223C64-6D09-DE48-83F1-228C34DA64FA}"/>
                </a:ext>
              </a:extLst>
            </p:cNvPr>
            <p:cNvSpPr>
              <a:spLocks/>
            </p:cNvSpPr>
            <p:nvPr/>
          </p:nvSpPr>
          <p:spPr bwMode="auto">
            <a:xfrm>
              <a:off x="5108911" y="4832022"/>
              <a:ext cx="2312987" cy="27463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78" name="Text Box 20">
              <a:extLst>
                <a:ext uri="{FF2B5EF4-FFF2-40B4-BE49-F238E27FC236}">
                  <a16:creationId xmlns:a16="http://schemas.microsoft.com/office/drawing/2014/main" id="{5C35E95A-ADB2-FF4D-BCD2-C9D9EABE9C6B}"/>
                </a:ext>
              </a:extLst>
            </p:cNvPr>
            <p:cNvSpPr txBox="1">
              <a:spLocks noChangeArrowheads="1"/>
            </p:cNvSpPr>
            <p:nvPr/>
          </p:nvSpPr>
          <p:spPr bwMode="auto">
            <a:xfrm>
              <a:off x="5054936" y="5317797"/>
              <a:ext cx="3444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sndpkt = make_pkt(1, data, checksum)</a:t>
              </a:r>
            </a:p>
            <a:p>
              <a:pPr defTabSz="685800">
                <a:defRPr/>
              </a:pPr>
              <a:r>
                <a:rPr lang="en-US" altLang="en-US" sz="1050" dirty="0">
                  <a:solidFill>
                    <a:srgbClr val="000000"/>
                  </a:solidFill>
                  <a:latin typeface="Arial" panose="020B0604020202020204" pitchFamily="34" charset="0"/>
                </a:rPr>
                <a:t>udt_send(sndpkt)</a:t>
              </a:r>
            </a:p>
            <a:p>
              <a:pPr defTabSz="685800">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79" name="Text Box 21">
              <a:extLst>
                <a:ext uri="{FF2B5EF4-FFF2-40B4-BE49-F238E27FC236}">
                  <a16:creationId xmlns:a16="http://schemas.microsoft.com/office/drawing/2014/main" id="{E55E1DDD-DB30-5446-8650-ECC81FF923ED}"/>
                </a:ext>
              </a:extLst>
            </p:cNvPr>
            <p:cNvSpPr txBox="1">
              <a:spLocks noChangeArrowheads="1"/>
            </p:cNvSpPr>
            <p:nvPr/>
          </p:nvSpPr>
          <p:spPr bwMode="auto">
            <a:xfrm>
              <a:off x="5054936" y="5035222"/>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rdt_send(data)</a:t>
              </a:r>
              <a:endParaRPr lang="en-US" altLang="en-US" sz="1050" dirty="0">
                <a:solidFill>
                  <a:srgbClr val="000000"/>
                </a:solidFill>
                <a:latin typeface="Times New Roman" panose="02020603050405020304" pitchFamily="18" charset="0"/>
              </a:endParaRPr>
            </a:p>
          </p:txBody>
        </p:sp>
        <p:sp>
          <p:nvSpPr>
            <p:cNvPr id="80" name="Line 22">
              <a:extLst>
                <a:ext uri="{FF2B5EF4-FFF2-40B4-BE49-F238E27FC236}">
                  <a16:creationId xmlns:a16="http://schemas.microsoft.com/office/drawing/2014/main" id="{38F0E084-BD34-6345-8EFC-9B28222C5D7D}"/>
                </a:ext>
              </a:extLst>
            </p:cNvPr>
            <p:cNvSpPr>
              <a:spLocks noChangeShapeType="1"/>
            </p:cNvSpPr>
            <p:nvPr/>
          </p:nvSpPr>
          <p:spPr bwMode="auto">
            <a:xfrm>
              <a:off x="5173998" y="5346372"/>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5" name="Group 4">
            <a:extLst>
              <a:ext uri="{FF2B5EF4-FFF2-40B4-BE49-F238E27FC236}">
                <a16:creationId xmlns:a16="http://schemas.microsoft.com/office/drawing/2014/main" id="{D0E17AB3-A37A-384E-B76C-D9D33C764FEC}"/>
              </a:ext>
            </a:extLst>
          </p:cNvPr>
          <p:cNvGrpSpPr/>
          <p:nvPr/>
        </p:nvGrpSpPr>
        <p:grpSpPr>
          <a:xfrm>
            <a:off x="5893846" y="3041801"/>
            <a:ext cx="1732359" cy="888206"/>
            <a:chOff x="7858461" y="2912734"/>
            <a:chExt cx="2309812" cy="1184275"/>
          </a:xfrm>
        </p:grpSpPr>
        <p:sp>
          <p:nvSpPr>
            <p:cNvPr id="77" name="Freeform 19">
              <a:extLst>
                <a:ext uri="{FF2B5EF4-FFF2-40B4-BE49-F238E27FC236}">
                  <a16:creationId xmlns:a16="http://schemas.microsoft.com/office/drawing/2014/main" id="{3DDB81C2-3ABA-CF4A-B97F-7179552BC636}"/>
                </a:ext>
              </a:extLst>
            </p:cNvPr>
            <p:cNvSpPr>
              <a:spLocks/>
            </p:cNvSpPr>
            <p:nvPr/>
          </p:nvSpPr>
          <p:spPr bwMode="auto">
            <a:xfrm rot="5400000" flipH="1" flipV="1">
              <a:off x="7349667" y="3421528"/>
              <a:ext cx="1184275" cy="16668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81" name="Text Box 23">
              <a:extLst>
                <a:ext uri="{FF2B5EF4-FFF2-40B4-BE49-F238E27FC236}">
                  <a16:creationId xmlns:a16="http://schemas.microsoft.com/office/drawing/2014/main" id="{B3A5B058-CEE3-154A-8B9F-81FE6436B20E}"/>
                </a:ext>
              </a:extLst>
            </p:cNvPr>
            <p:cNvSpPr txBox="1">
              <a:spLocks noChangeArrowheads="1"/>
            </p:cNvSpPr>
            <p:nvPr/>
          </p:nvSpPr>
          <p:spPr bwMode="auto">
            <a:xfrm>
              <a:off x="8018798" y="3200072"/>
              <a:ext cx="2149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t>
              </a:r>
            </a:p>
            <a:p>
              <a:pPr defTabSz="685800">
                <a:defRPr/>
              </a:pPr>
              <a:r>
                <a:rPr lang="en-US" altLang="en-US" sz="1050" dirty="0">
                  <a:solidFill>
                    <a:srgbClr val="000000"/>
                  </a:solidFill>
                  <a:latin typeface="Arial" panose="020B0604020202020204" pitchFamily="34" charset="0"/>
                </a:rPr>
                <a:t>&amp;&amp; notcorrupt(rcvpkt) </a:t>
              </a:r>
            </a:p>
            <a:p>
              <a:pPr defTabSz="685800">
                <a:defRPr/>
              </a:pPr>
              <a:r>
                <a:rPr lang="en-US" altLang="en-US" sz="1050" dirty="0">
                  <a:solidFill>
                    <a:srgbClr val="000000"/>
                  </a:solidFill>
                  <a:latin typeface="Arial" panose="020B0604020202020204" pitchFamily="34" charset="0"/>
                </a:rPr>
                <a:t>&amp;&amp; isACK(rcvpkt,0)</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82" name="Line 24">
              <a:extLst>
                <a:ext uri="{FF2B5EF4-FFF2-40B4-BE49-F238E27FC236}">
                  <a16:creationId xmlns:a16="http://schemas.microsoft.com/office/drawing/2014/main" id="{6F172C79-50B4-9346-A88A-5975F73431A8}"/>
                </a:ext>
              </a:extLst>
            </p:cNvPr>
            <p:cNvSpPr>
              <a:spLocks noChangeShapeType="1"/>
            </p:cNvSpPr>
            <p:nvPr/>
          </p:nvSpPr>
          <p:spPr bwMode="auto">
            <a:xfrm>
              <a:off x="8134686" y="3911272"/>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87" name="Text Box 29">
              <a:extLst>
                <a:ext uri="{FF2B5EF4-FFF2-40B4-BE49-F238E27FC236}">
                  <a16:creationId xmlns:a16="http://schemas.microsoft.com/office/drawing/2014/main" id="{31338CB6-A233-944E-8AAB-06740429CED4}"/>
                </a:ext>
              </a:extLst>
            </p:cNvPr>
            <p:cNvSpPr txBox="1">
              <a:spLocks noChangeArrowheads="1"/>
            </p:cNvSpPr>
            <p:nvPr/>
          </p:nvSpPr>
          <p:spPr bwMode="auto">
            <a:xfrm>
              <a:off x="8039436" y="3892222"/>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stop_timer</a:t>
              </a:r>
              <a:endParaRPr lang="en-US" altLang="en-US" sz="1050" dirty="0">
                <a:solidFill>
                  <a:srgbClr val="000000"/>
                </a:solidFill>
                <a:latin typeface="Times New Roman" panose="02020603050405020304" pitchFamily="18" charset="0"/>
              </a:endParaRPr>
            </a:p>
          </p:txBody>
        </p:sp>
      </p:grpSp>
      <p:grpSp>
        <p:nvGrpSpPr>
          <p:cNvPr id="115" name="Group 114">
            <a:extLst>
              <a:ext uri="{FF2B5EF4-FFF2-40B4-BE49-F238E27FC236}">
                <a16:creationId xmlns:a16="http://schemas.microsoft.com/office/drawing/2014/main" id="{264EE58C-9293-D64B-8FD5-BF4EEDF9C767}"/>
              </a:ext>
            </a:extLst>
          </p:cNvPr>
          <p:cNvGrpSpPr/>
          <p:nvPr/>
        </p:nvGrpSpPr>
        <p:grpSpPr>
          <a:xfrm>
            <a:off x="1979071" y="3076329"/>
            <a:ext cx="1449929" cy="929877"/>
            <a:chOff x="2638761" y="2958772"/>
            <a:chExt cx="1933239" cy="1239836"/>
          </a:xfrm>
        </p:grpSpPr>
        <p:sp>
          <p:nvSpPr>
            <p:cNvPr id="75" name="Freeform 17">
              <a:extLst>
                <a:ext uri="{FF2B5EF4-FFF2-40B4-BE49-F238E27FC236}">
                  <a16:creationId xmlns:a16="http://schemas.microsoft.com/office/drawing/2014/main" id="{2F184C7E-A563-7E48-B933-43517ECFB8AD}"/>
                </a:ext>
              </a:extLst>
            </p:cNvPr>
            <p:cNvSpPr>
              <a:spLocks/>
            </p:cNvSpPr>
            <p:nvPr/>
          </p:nvSpPr>
          <p:spPr bwMode="auto">
            <a:xfrm rot="16200000" flipV="1">
              <a:off x="3932569" y="3559178"/>
              <a:ext cx="1137909" cy="14095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85" name="Text Box 27">
              <a:extLst>
                <a:ext uri="{FF2B5EF4-FFF2-40B4-BE49-F238E27FC236}">
                  <a16:creationId xmlns:a16="http://schemas.microsoft.com/office/drawing/2014/main" id="{85546939-74F9-DE48-94D4-5CDE532CF8B4}"/>
                </a:ext>
              </a:extLst>
            </p:cNvPr>
            <p:cNvSpPr txBox="1">
              <a:spLocks noChangeArrowheads="1"/>
            </p:cNvSpPr>
            <p:nvPr/>
          </p:nvSpPr>
          <p:spPr bwMode="auto">
            <a:xfrm>
              <a:off x="2646698" y="2958772"/>
              <a:ext cx="19129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t>
              </a:r>
            </a:p>
            <a:p>
              <a:pPr defTabSz="685800">
                <a:defRPr/>
              </a:pPr>
              <a:r>
                <a:rPr lang="en-US" altLang="en-US" sz="1050" dirty="0">
                  <a:solidFill>
                    <a:srgbClr val="000000"/>
                  </a:solidFill>
                  <a:latin typeface="Arial" panose="020B0604020202020204" pitchFamily="34" charset="0"/>
                </a:rPr>
                <a:t>&amp;&amp; notcorrupt(rcvpkt) </a:t>
              </a:r>
            </a:p>
            <a:p>
              <a:pPr defTabSz="685800">
                <a:defRPr/>
              </a:pPr>
              <a:r>
                <a:rPr lang="en-US" altLang="en-US" sz="1050" dirty="0">
                  <a:solidFill>
                    <a:srgbClr val="000000"/>
                  </a:solidFill>
                  <a:latin typeface="Arial" panose="020B0604020202020204" pitchFamily="34" charset="0"/>
                </a:rPr>
                <a:t>&amp;&amp; isACK(rcvpkt,1)</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86" name="Line 28">
              <a:extLst>
                <a:ext uri="{FF2B5EF4-FFF2-40B4-BE49-F238E27FC236}">
                  <a16:creationId xmlns:a16="http://schemas.microsoft.com/office/drawing/2014/main" id="{8CA33983-E9A1-BF42-B982-07F0B1E94A02}"/>
                </a:ext>
              </a:extLst>
            </p:cNvPr>
            <p:cNvSpPr>
              <a:spLocks noChangeShapeType="1"/>
            </p:cNvSpPr>
            <p:nvPr/>
          </p:nvSpPr>
          <p:spPr bwMode="auto">
            <a:xfrm>
              <a:off x="2773698" y="3698547"/>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88" name="Text Box 30">
              <a:extLst>
                <a:ext uri="{FF2B5EF4-FFF2-40B4-BE49-F238E27FC236}">
                  <a16:creationId xmlns:a16="http://schemas.microsoft.com/office/drawing/2014/main" id="{C524B67B-7041-9242-9C97-B8A784A8F6F2}"/>
                </a:ext>
              </a:extLst>
            </p:cNvPr>
            <p:cNvSpPr txBox="1">
              <a:spLocks noChangeArrowheads="1"/>
            </p:cNvSpPr>
            <p:nvPr/>
          </p:nvSpPr>
          <p:spPr bwMode="auto">
            <a:xfrm>
              <a:off x="2638761" y="3671559"/>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stop_timer</a:t>
              </a:r>
              <a:endParaRPr lang="en-US" altLang="en-US" sz="1050" dirty="0">
                <a:solidFill>
                  <a:srgbClr val="000000"/>
                </a:solidFill>
                <a:latin typeface="Times New Roman" panose="02020603050405020304" pitchFamily="18" charset="0"/>
              </a:endParaRPr>
            </a:p>
          </p:txBody>
        </p:sp>
      </p:grpSp>
      <p:grpSp>
        <p:nvGrpSpPr>
          <p:cNvPr id="100" name="Group 42">
            <a:extLst>
              <a:ext uri="{FF2B5EF4-FFF2-40B4-BE49-F238E27FC236}">
                <a16:creationId xmlns:a16="http://schemas.microsoft.com/office/drawing/2014/main" id="{7781A61F-1C88-6E46-96AB-268CBADE4526}"/>
              </a:ext>
            </a:extLst>
          </p:cNvPr>
          <p:cNvGrpSpPr>
            <a:grpSpLocks/>
          </p:cNvGrpSpPr>
          <p:nvPr/>
        </p:nvGrpSpPr>
        <p:grpSpPr bwMode="auto">
          <a:xfrm>
            <a:off x="3118498" y="2528642"/>
            <a:ext cx="891779" cy="638175"/>
            <a:chOff x="4090" y="3230"/>
            <a:chExt cx="749" cy="536"/>
          </a:xfrm>
        </p:grpSpPr>
        <p:sp>
          <p:nvSpPr>
            <p:cNvPr id="101" name="Oval 43">
              <a:extLst>
                <a:ext uri="{FF2B5EF4-FFF2-40B4-BE49-F238E27FC236}">
                  <a16:creationId xmlns:a16="http://schemas.microsoft.com/office/drawing/2014/main" id="{EA3FA186-38E3-E24B-80CE-CDFC5DF36C2A}"/>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102" name="Text Box 44">
              <a:extLst>
                <a:ext uri="{FF2B5EF4-FFF2-40B4-BE49-F238E27FC236}">
                  <a16:creationId xmlns:a16="http://schemas.microsoft.com/office/drawing/2014/main" id="{237CD0D2-3CD0-9E45-8D08-0B39FC58CB38}"/>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t>
              </a:r>
            </a:p>
            <a:p>
              <a:pPr algn="ctr" defTabSz="685800">
                <a:defRPr/>
              </a:pPr>
              <a:r>
                <a:rPr lang="en-US" altLang="en-US" sz="1050" kern="0" dirty="0">
                  <a:solidFill>
                    <a:srgbClr val="000000"/>
                  </a:solidFill>
                  <a:latin typeface="Arial" panose="020B0604020202020204" pitchFamily="34" charset="0"/>
                </a:rPr>
                <a:t>call 0 from above</a:t>
              </a:r>
              <a:endParaRPr lang="en-US" altLang="en-US" sz="1050" kern="0" dirty="0">
                <a:solidFill>
                  <a:srgbClr val="000000"/>
                </a:solidFill>
                <a:latin typeface="Times New Roman" panose="02020603050405020304" pitchFamily="18" charset="0"/>
              </a:endParaRPr>
            </a:p>
          </p:txBody>
        </p:sp>
      </p:grpSp>
      <p:grpSp>
        <p:nvGrpSpPr>
          <p:cNvPr id="104" name="Group 46">
            <a:extLst>
              <a:ext uri="{FF2B5EF4-FFF2-40B4-BE49-F238E27FC236}">
                <a16:creationId xmlns:a16="http://schemas.microsoft.com/office/drawing/2014/main" id="{3A7B09B7-7C1D-8D4E-8FEA-40BBC5ECB76A}"/>
              </a:ext>
            </a:extLst>
          </p:cNvPr>
          <p:cNvGrpSpPr>
            <a:grpSpLocks/>
          </p:cNvGrpSpPr>
          <p:nvPr/>
        </p:nvGrpSpPr>
        <p:grpSpPr bwMode="auto">
          <a:xfrm>
            <a:off x="3276852" y="3919292"/>
            <a:ext cx="666750" cy="648890"/>
            <a:chOff x="445" y="1273"/>
            <a:chExt cx="560" cy="545"/>
          </a:xfrm>
        </p:grpSpPr>
        <p:sp>
          <p:nvSpPr>
            <p:cNvPr id="105" name="Oval 47">
              <a:extLst>
                <a:ext uri="{FF2B5EF4-FFF2-40B4-BE49-F238E27FC236}">
                  <a16:creationId xmlns:a16="http://schemas.microsoft.com/office/drawing/2014/main" id="{1F85EC28-DE93-5C4D-AA1B-F8423FADF09B}"/>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106" name="Text Box 48">
              <a:extLst>
                <a:ext uri="{FF2B5EF4-FFF2-40B4-BE49-F238E27FC236}">
                  <a16:creationId xmlns:a16="http://schemas.microsoft.com/office/drawing/2014/main" id="{8ED6243F-D34F-6848-8B35-66C2A258A3B6}"/>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ACK1</a:t>
              </a:r>
              <a:endParaRPr lang="en-US" altLang="en-US" sz="1050" kern="0" dirty="0">
                <a:solidFill>
                  <a:srgbClr val="000000"/>
                </a:solidFill>
                <a:latin typeface="Times New Roman" panose="02020603050405020304" pitchFamily="18" charset="0"/>
              </a:endParaRPr>
            </a:p>
          </p:txBody>
        </p:sp>
      </p:grpSp>
      <p:sp>
        <p:nvSpPr>
          <p:cNvPr id="3" name="Oval 2">
            <a:extLst>
              <a:ext uri="{FF2B5EF4-FFF2-40B4-BE49-F238E27FC236}">
                <a16:creationId xmlns:a16="http://schemas.microsoft.com/office/drawing/2014/main" id="{D28BBA62-6263-C843-B29E-56B49980762A}"/>
              </a:ext>
            </a:extLst>
          </p:cNvPr>
          <p:cNvSpPr/>
          <p:nvPr/>
        </p:nvSpPr>
        <p:spPr>
          <a:xfrm>
            <a:off x="2828925" y="2253344"/>
            <a:ext cx="3600450" cy="1151165"/>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2" name="Oval 121">
            <a:extLst>
              <a:ext uri="{FF2B5EF4-FFF2-40B4-BE49-F238E27FC236}">
                <a16:creationId xmlns:a16="http://schemas.microsoft.com/office/drawing/2014/main" id="{9E2FDDC8-8D96-114D-9DC7-646B2E492AD9}"/>
              </a:ext>
            </a:extLst>
          </p:cNvPr>
          <p:cNvSpPr/>
          <p:nvPr/>
        </p:nvSpPr>
        <p:spPr>
          <a:xfrm>
            <a:off x="2894240" y="3690259"/>
            <a:ext cx="3600450" cy="1151165"/>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6" name="Oval 5">
            <a:extLst>
              <a:ext uri="{FF2B5EF4-FFF2-40B4-BE49-F238E27FC236}">
                <a16:creationId xmlns:a16="http://schemas.microsoft.com/office/drawing/2014/main" id="{9D7B88F9-3891-3046-A064-B332A3527756}"/>
              </a:ext>
            </a:extLst>
          </p:cNvPr>
          <p:cNvSpPr/>
          <p:nvPr/>
        </p:nvSpPr>
        <p:spPr>
          <a:xfrm>
            <a:off x="3190875" y="2519379"/>
            <a:ext cx="714375" cy="65334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0" name="Oval 129">
            <a:extLst>
              <a:ext uri="{FF2B5EF4-FFF2-40B4-BE49-F238E27FC236}">
                <a16:creationId xmlns:a16="http://schemas.microsoft.com/office/drawing/2014/main" id="{622A35A9-A643-7C42-B044-B85FAF6A97F9}"/>
              </a:ext>
            </a:extLst>
          </p:cNvPr>
          <p:cNvSpPr/>
          <p:nvPr/>
        </p:nvSpPr>
        <p:spPr>
          <a:xfrm>
            <a:off x="5314950" y="2495550"/>
            <a:ext cx="685800" cy="65088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1" name="Oval 130">
            <a:extLst>
              <a:ext uri="{FF2B5EF4-FFF2-40B4-BE49-F238E27FC236}">
                <a16:creationId xmlns:a16="http://schemas.microsoft.com/office/drawing/2014/main" id="{29138640-D128-B549-B272-9634FBE0E919}"/>
              </a:ext>
            </a:extLst>
          </p:cNvPr>
          <p:cNvSpPr/>
          <p:nvPr/>
        </p:nvSpPr>
        <p:spPr>
          <a:xfrm>
            <a:off x="5476875" y="3933825"/>
            <a:ext cx="702494" cy="63817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2" name="Oval 131">
            <a:extLst>
              <a:ext uri="{FF2B5EF4-FFF2-40B4-BE49-F238E27FC236}">
                <a16:creationId xmlns:a16="http://schemas.microsoft.com/office/drawing/2014/main" id="{F8621F76-605F-FD4F-BBDF-20014AAFC358}"/>
              </a:ext>
            </a:extLst>
          </p:cNvPr>
          <p:cNvSpPr/>
          <p:nvPr/>
        </p:nvSpPr>
        <p:spPr>
          <a:xfrm>
            <a:off x="3267075" y="3910029"/>
            <a:ext cx="685800" cy="65722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3" name="Oval 132">
            <a:extLst>
              <a:ext uri="{FF2B5EF4-FFF2-40B4-BE49-F238E27FC236}">
                <a16:creationId xmlns:a16="http://schemas.microsoft.com/office/drawing/2014/main" id="{EC2E0DE7-1242-394F-B32C-D2097A456FDC}"/>
              </a:ext>
            </a:extLst>
          </p:cNvPr>
          <p:cNvSpPr/>
          <p:nvPr/>
        </p:nvSpPr>
        <p:spPr>
          <a:xfrm>
            <a:off x="3188494" y="2516998"/>
            <a:ext cx="714375" cy="65334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47" name="Slide Number Placeholder 2">
            <a:extLst>
              <a:ext uri="{FF2B5EF4-FFF2-40B4-BE49-F238E27FC236}">
                <a16:creationId xmlns:a16="http://schemas.microsoft.com/office/drawing/2014/main" id="{E51BA6D5-B9A8-EF43-ACE9-5217445FDC7F}"/>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49</a:t>
            </a:fld>
            <a:endParaRPr lang="en-US" dirty="0"/>
          </a:p>
        </p:txBody>
      </p:sp>
    </p:spTree>
    <p:extLst>
      <p:ext uri="{BB962C8B-B14F-4D97-AF65-F5344CB8AC3E}">
        <p14:creationId xmlns:p14="http://schemas.microsoft.com/office/powerpoint/2010/main" val="183202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1" nodeType="clickEffect">
                                  <p:stCondLst>
                                    <p:cond delay="0"/>
                                  </p:stCondLst>
                                  <p:childTnLst>
                                    <p:animEffect transition="out" filter="dissolv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par>
                                <p:cTn id="13" presetID="9" presetClass="entr" presetSubtype="0" fill="hold" grpId="0" nodeType="withEffect">
                                  <p:stCondLst>
                                    <p:cond delay="0"/>
                                  </p:stCondLst>
                                  <p:childTnLst>
                                    <p:set>
                                      <p:cBhvr>
                                        <p:cTn id="14" dur="1" fill="hold">
                                          <p:stCondLst>
                                            <p:cond delay="0"/>
                                          </p:stCondLst>
                                        </p:cTn>
                                        <p:tgtEl>
                                          <p:spTgt spid="122"/>
                                        </p:tgtEl>
                                        <p:attrNameLst>
                                          <p:attrName>style.visibility</p:attrName>
                                        </p:attrNameLst>
                                      </p:cBhvr>
                                      <p:to>
                                        <p:strVal val="visible"/>
                                      </p:to>
                                    </p:set>
                                    <p:animEffect transition="in" filter="dissolve">
                                      <p:cBhvr>
                                        <p:cTn id="15" dur="500"/>
                                        <p:tgtEl>
                                          <p:spTgt spid="12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xit" presetSubtype="0" fill="hold" grpId="1" nodeType="withEffect">
                                  <p:stCondLst>
                                    <p:cond delay="0"/>
                                  </p:stCondLst>
                                  <p:childTnLst>
                                    <p:animEffect transition="out" filter="dissolve">
                                      <p:cBhvr>
                                        <p:cTn id="22" dur="500"/>
                                        <p:tgtEl>
                                          <p:spTgt spid="122"/>
                                        </p:tgtEl>
                                      </p:cBhvr>
                                    </p:animEffect>
                                    <p:set>
                                      <p:cBhvr>
                                        <p:cTn id="23" dur="1" fill="hold">
                                          <p:stCondLst>
                                            <p:cond delay="499"/>
                                          </p:stCondLst>
                                        </p:cTn>
                                        <p:tgtEl>
                                          <p:spTgt spid="12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par>
                                <p:cTn id="29" presetID="9" presetClass="exit" presetSubtype="0" fill="hold" grpId="1" nodeType="withEffect">
                                  <p:stCondLst>
                                    <p:cond delay="0"/>
                                  </p:stCondLst>
                                  <p:childTnLst>
                                    <p:animEffect transition="out" filter="dissolve">
                                      <p:cBhvr>
                                        <p:cTn id="30" dur="500"/>
                                        <p:tgtEl>
                                          <p:spTgt spid="6"/>
                                        </p:tgtEl>
                                      </p:cBhvr>
                                    </p:animEffect>
                                    <p:set>
                                      <p:cBhvr>
                                        <p:cTn id="31" dur="1" fill="hold">
                                          <p:stCondLst>
                                            <p:cond delay="499"/>
                                          </p:stCondLst>
                                        </p:cTn>
                                        <p:tgtEl>
                                          <p:spTgt spid="6"/>
                                        </p:tgtEl>
                                        <p:attrNameLst>
                                          <p:attrName>style.visibility</p:attrName>
                                        </p:attrNameLst>
                                      </p:cBhvr>
                                      <p:to>
                                        <p:strVal val="hidden"/>
                                      </p:to>
                                    </p:set>
                                  </p:childTnLst>
                                </p:cTn>
                              </p:par>
                              <p:par>
                                <p:cTn id="32" presetID="9" presetClass="entr" presetSubtype="0" fill="hold" grpId="0" nodeType="withEffect">
                                  <p:stCondLst>
                                    <p:cond delay="0"/>
                                  </p:stCondLst>
                                  <p:childTnLst>
                                    <p:set>
                                      <p:cBhvr>
                                        <p:cTn id="33" dur="1" fill="hold">
                                          <p:stCondLst>
                                            <p:cond delay="0"/>
                                          </p:stCondLst>
                                        </p:cTn>
                                        <p:tgtEl>
                                          <p:spTgt spid="121"/>
                                        </p:tgtEl>
                                        <p:attrNameLst>
                                          <p:attrName>style.visibility</p:attrName>
                                        </p:attrNameLst>
                                      </p:cBhvr>
                                      <p:to>
                                        <p:strVal val="visible"/>
                                      </p:to>
                                    </p:set>
                                    <p:animEffect transition="in" filter="dissolve">
                                      <p:cBhvr>
                                        <p:cTn id="34" dur="500"/>
                                        <p:tgtEl>
                                          <p:spTgt spid="121"/>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130"/>
                                        </p:tgtEl>
                                        <p:attrNameLst>
                                          <p:attrName>style.visibility</p:attrName>
                                        </p:attrNameLst>
                                      </p:cBhvr>
                                      <p:to>
                                        <p:strVal val="visible"/>
                                      </p:to>
                                    </p:set>
                                    <p:animEffect transition="in" filter="dissolve">
                                      <p:cBhvr>
                                        <p:cTn id="38" dur="500"/>
                                        <p:tgtEl>
                                          <p:spTgt spid="1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up)">
                                      <p:cBhvr>
                                        <p:cTn id="43" dur="500"/>
                                        <p:tgtEl>
                                          <p:spTgt spid="5"/>
                                        </p:tgtEl>
                                      </p:cBhvr>
                                    </p:animEffect>
                                  </p:childTnLst>
                                </p:cTn>
                              </p:par>
                              <p:par>
                                <p:cTn id="44" presetID="9" presetClass="exit" presetSubtype="0" fill="hold" grpId="1" nodeType="withEffect">
                                  <p:stCondLst>
                                    <p:cond delay="0"/>
                                  </p:stCondLst>
                                  <p:childTnLst>
                                    <p:animEffect transition="out" filter="dissolve">
                                      <p:cBhvr>
                                        <p:cTn id="45" dur="500"/>
                                        <p:tgtEl>
                                          <p:spTgt spid="130"/>
                                        </p:tgtEl>
                                      </p:cBhvr>
                                    </p:animEffect>
                                    <p:set>
                                      <p:cBhvr>
                                        <p:cTn id="46" dur="1" fill="hold">
                                          <p:stCondLst>
                                            <p:cond delay="499"/>
                                          </p:stCondLst>
                                        </p:cTn>
                                        <p:tgtEl>
                                          <p:spTgt spid="130"/>
                                        </p:tgtEl>
                                        <p:attrNameLst>
                                          <p:attrName>style.visibility</p:attrName>
                                        </p:attrNameLst>
                                      </p:cBhvr>
                                      <p:to>
                                        <p:strVal val="hidden"/>
                                      </p:to>
                                    </p:set>
                                  </p:childTnLst>
                                </p:cTn>
                              </p:par>
                              <p:par>
                                <p:cTn id="47" presetID="9" presetClass="entr" presetSubtype="0" fill="hold" grpId="0" nodeType="withEffect">
                                  <p:stCondLst>
                                    <p:cond delay="0"/>
                                  </p:stCondLst>
                                  <p:childTnLst>
                                    <p:set>
                                      <p:cBhvr>
                                        <p:cTn id="48" dur="1" fill="hold">
                                          <p:stCondLst>
                                            <p:cond delay="0"/>
                                          </p:stCondLst>
                                        </p:cTn>
                                        <p:tgtEl>
                                          <p:spTgt spid="123"/>
                                        </p:tgtEl>
                                        <p:attrNameLst>
                                          <p:attrName>style.visibility</p:attrName>
                                        </p:attrNameLst>
                                      </p:cBhvr>
                                      <p:to>
                                        <p:strVal val="visible"/>
                                      </p:to>
                                    </p:set>
                                    <p:animEffect transition="in" filter="dissolve">
                                      <p:cBhvr>
                                        <p:cTn id="49" dur="500"/>
                                        <p:tgtEl>
                                          <p:spTgt spid="123"/>
                                        </p:tgtEl>
                                      </p:cBhvr>
                                    </p:animEffect>
                                  </p:child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131"/>
                                        </p:tgtEl>
                                        <p:attrNameLst>
                                          <p:attrName>style.visibility</p:attrName>
                                        </p:attrNameLst>
                                      </p:cBhvr>
                                      <p:to>
                                        <p:strVal val="visible"/>
                                      </p:to>
                                    </p:set>
                                    <p:animEffect transition="in" filter="dissolve">
                                      <p:cBhvr>
                                        <p:cTn id="53" dur="500"/>
                                        <p:tgtEl>
                                          <p:spTgt spid="13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114"/>
                                        </p:tgtEl>
                                        <p:attrNameLst>
                                          <p:attrName>style.visibility</p:attrName>
                                        </p:attrNameLst>
                                      </p:cBhvr>
                                      <p:to>
                                        <p:strVal val="visible"/>
                                      </p:to>
                                    </p:set>
                                    <p:animEffect transition="in" filter="wipe(right)">
                                      <p:cBhvr>
                                        <p:cTn id="58" dur="500"/>
                                        <p:tgtEl>
                                          <p:spTgt spid="114"/>
                                        </p:tgtEl>
                                      </p:cBhvr>
                                    </p:animEffect>
                                  </p:childTnLst>
                                </p:cTn>
                              </p:par>
                              <p:par>
                                <p:cTn id="59" presetID="9" presetClass="exit" presetSubtype="0" fill="hold" grpId="1" nodeType="withEffect">
                                  <p:stCondLst>
                                    <p:cond delay="0"/>
                                  </p:stCondLst>
                                  <p:childTnLst>
                                    <p:animEffect transition="out" filter="dissolve">
                                      <p:cBhvr>
                                        <p:cTn id="60" dur="500"/>
                                        <p:tgtEl>
                                          <p:spTgt spid="131"/>
                                        </p:tgtEl>
                                      </p:cBhvr>
                                    </p:animEffect>
                                    <p:set>
                                      <p:cBhvr>
                                        <p:cTn id="61" dur="1" fill="hold">
                                          <p:stCondLst>
                                            <p:cond delay="499"/>
                                          </p:stCondLst>
                                        </p:cTn>
                                        <p:tgtEl>
                                          <p:spTgt spid="131"/>
                                        </p:tgtEl>
                                        <p:attrNameLst>
                                          <p:attrName>style.visibility</p:attrName>
                                        </p:attrNameLst>
                                      </p:cBhvr>
                                      <p:to>
                                        <p:strVal val="hidden"/>
                                      </p:to>
                                    </p:set>
                                  </p:childTnLst>
                                </p:cTn>
                              </p:par>
                              <p:par>
                                <p:cTn id="62" presetID="9" presetClass="entr" presetSubtype="0" fill="hold" grpId="0" nodeType="withEffect">
                                  <p:stCondLst>
                                    <p:cond delay="0"/>
                                  </p:stCondLst>
                                  <p:childTnLst>
                                    <p:set>
                                      <p:cBhvr>
                                        <p:cTn id="63" dur="1" fill="hold">
                                          <p:stCondLst>
                                            <p:cond delay="0"/>
                                          </p:stCondLst>
                                        </p:cTn>
                                        <p:tgtEl>
                                          <p:spTgt spid="124"/>
                                        </p:tgtEl>
                                        <p:attrNameLst>
                                          <p:attrName>style.visibility</p:attrName>
                                        </p:attrNameLst>
                                      </p:cBhvr>
                                      <p:to>
                                        <p:strVal val="visible"/>
                                      </p:to>
                                    </p:set>
                                    <p:animEffect transition="in" filter="dissolve">
                                      <p:cBhvr>
                                        <p:cTn id="64" dur="500"/>
                                        <p:tgtEl>
                                          <p:spTgt spid="124"/>
                                        </p:tgtEl>
                                      </p:cBhvr>
                                    </p:animEffect>
                                  </p:childTnLst>
                                </p:cTn>
                              </p:par>
                            </p:childTnLst>
                          </p:cTn>
                        </p:par>
                        <p:par>
                          <p:cTn id="65" fill="hold">
                            <p:stCondLst>
                              <p:cond delay="500"/>
                            </p:stCondLst>
                            <p:childTnLst>
                              <p:par>
                                <p:cTn id="66" presetID="9" presetClass="entr" presetSubtype="0" fill="hold" grpId="0" nodeType="afterEffect">
                                  <p:stCondLst>
                                    <p:cond delay="0"/>
                                  </p:stCondLst>
                                  <p:childTnLst>
                                    <p:set>
                                      <p:cBhvr>
                                        <p:cTn id="67" dur="1" fill="hold">
                                          <p:stCondLst>
                                            <p:cond delay="0"/>
                                          </p:stCondLst>
                                        </p:cTn>
                                        <p:tgtEl>
                                          <p:spTgt spid="132"/>
                                        </p:tgtEl>
                                        <p:attrNameLst>
                                          <p:attrName>style.visibility</p:attrName>
                                        </p:attrNameLst>
                                      </p:cBhvr>
                                      <p:to>
                                        <p:strVal val="visible"/>
                                      </p:to>
                                    </p:set>
                                    <p:animEffect transition="in" filter="dissolve">
                                      <p:cBhvr>
                                        <p:cTn id="68" dur="500"/>
                                        <p:tgtEl>
                                          <p:spTgt spid="13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115"/>
                                        </p:tgtEl>
                                        <p:attrNameLst>
                                          <p:attrName>style.visibility</p:attrName>
                                        </p:attrNameLst>
                                      </p:cBhvr>
                                      <p:to>
                                        <p:strVal val="visible"/>
                                      </p:to>
                                    </p:set>
                                    <p:animEffect transition="in" filter="wipe(down)">
                                      <p:cBhvr>
                                        <p:cTn id="73" dur="500"/>
                                        <p:tgtEl>
                                          <p:spTgt spid="115"/>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125"/>
                                        </p:tgtEl>
                                        <p:attrNameLst>
                                          <p:attrName>style.visibility</p:attrName>
                                        </p:attrNameLst>
                                      </p:cBhvr>
                                      <p:to>
                                        <p:strVal val="visible"/>
                                      </p:to>
                                    </p:set>
                                    <p:animEffect transition="in" filter="dissolve">
                                      <p:cBhvr>
                                        <p:cTn id="76" dur="500"/>
                                        <p:tgtEl>
                                          <p:spTgt spid="125"/>
                                        </p:tgtEl>
                                      </p:cBhvr>
                                    </p:animEffect>
                                  </p:childTnLst>
                                </p:cTn>
                              </p:par>
                              <p:par>
                                <p:cTn id="77" presetID="9" presetClass="exit" presetSubtype="0" fill="hold" grpId="1" nodeType="withEffect">
                                  <p:stCondLst>
                                    <p:cond delay="0"/>
                                  </p:stCondLst>
                                  <p:childTnLst>
                                    <p:animEffect transition="out" filter="dissolve">
                                      <p:cBhvr>
                                        <p:cTn id="78" dur="500"/>
                                        <p:tgtEl>
                                          <p:spTgt spid="132"/>
                                        </p:tgtEl>
                                      </p:cBhvr>
                                    </p:animEffect>
                                    <p:set>
                                      <p:cBhvr>
                                        <p:cTn id="79" dur="1" fill="hold">
                                          <p:stCondLst>
                                            <p:cond delay="499"/>
                                          </p:stCondLst>
                                        </p:cTn>
                                        <p:tgtEl>
                                          <p:spTgt spid="132"/>
                                        </p:tgtEl>
                                        <p:attrNameLst>
                                          <p:attrName>style.visibility</p:attrName>
                                        </p:attrNameLst>
                                      </p:cBhvr>
                                      <p:to>
                                        <p:strVal val="hidden"/>
                                      </p:to>
                                    </p:set>
                                  </p:childTnLst>
                                </p:cTn>
                              </p:par>
                            </p:childTnLst>
                          </p:cTn>
                        </p:par>
                        <p:par>
                          <p:cTn id="80" fill="hold">
                            <p:stCondLst>
                              <p:cond delay="500"/>
                            </p:stCondLst>
                            <p:childTnLst>
                              <p:par>
                                <p:cTn id="81" presetID="9" presetClass="entr" presetSubtype="0" fill="hold" grpId="0" nodeType="afterEffect">
                                  <p:stCondLst>
                                    <p:cond delay="0"/>
                                  </p:stCondLst>
                                  <p:childTnLst>
                                    <p:set>
                                      <p:cBhvr>
                                        <p:cTn id="82" dur="1" fill="hold">
                                          <p:stCondLst>
                                            <p:cond delay="0"/>
                                          </p:stCondLst>
                                        </p:cTn>
                                        <p:tgtEl>
                                          <p:spTgt spid="133"/>
                                        </p:tgtEl>
                                        <p:attrNameLst>
                                          <p:attrName>style.visibility</p:attrName>
                                        </p:attrNameLst>
                                      </p:cBhvr>
                                      <p:to>
                                        <p:strVal val="visible"/>
                                      </p:to>
                                    </p:set>
                                    <p:animEffect transition="in" filter="dissolve">
                                      <p:cBhvr>
                                        <p:cTn id="83"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124" grpId="0" animBg="1"/>
      <p:bldP spid="123" grpId="0" animBg="1"/>
      <p:bldP spid="121" grpId="0" animBg="1"/>
      <p:bldP spid="3" grpId="0" animBg="1"/>
      <p:bldP spid="3" grpId="1" animBg="1"/>
      <p:bldP spid="122" grpId="0" animBg="1"/>
      <p:bldP spid="122" grpId="1" animBg="1"/>
      <p:bldP spid="6" grpId="0" animBg="1"/>
      <p:bldP spid="6" grpId="1" animBg="1"/>
      <p:bldP spid="130" grpId="0" animBg="1"/>
      <p:bldP spid="130" grpId="1" animBg="1"/>
      <p:bldP spid="131" grpId="0" animBg="1"/>
      <p:bldP spid="131" grpId="1" animBg="1"/>
      <p:bldP spid="132" grpId="0" animBg="1"/>
      <p:bldP spid="132" grpId="1" animBg="1"/>
      <p:bldP spid="13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5C125732-5AF8-DA4B-817C-FBB3A5B32FC1}"/>
              </a:ext>
            </a:extLst>
          </p:cNvPr>
          <p:cNvSpPr/>
          <p:nvPr/>
        </p:nvSpPr>
        <p:spPr>
          <a:xfrm>
            <a:off x="1999622" y="3659139"/>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4" name="Rectangle 123">
            <a:extLst>
              <a:ext uri="{FF2B5EF4-FFF2-40B4-BE49-F238E27FC236}">
                <a16:creationId xmlns:a16="http://schemas.microsoft.com/office/drawing/2014/main" id="{0D8C866A-2C1E-EA49-9FEE-17BE0B5EB65D}"/>
              </a:ext>
            </a:extLst>
          </p:cNvPr>
          <p:cNvSpPr/>
          <p:nvPr/>
        </p:nvSpPr>
        <p:spPr>
          <a:xfrm>
            <a:off x="3831683" y="5206357"/>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3" name="Rectangle 122">
            <a:extLst>
              <a:ext uri="{FF2B5EF4-FFF2-40B4-BE49-F238E27FC236}">
                <a16:creationId xmlns:a16="http://schemas.microsoft.com/office/drawing/2014/main" id="{B8F8E4F3-FCCE-BB46-816F-BE18AA10AA87}"/>
              </a:ext>
            </a:extLst>
          </p:cNvPr>
          <p:cNvSpPr/>
          <p:nvPr/>
        </p:nvSpPr>
        <p:spPr>
          <a:xfrm>
            <a:off x="6079450" y="3819165"/>
            <a:ext cx="708422"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1" name="Rectangle 120">
            <a:extLst>
              <a:ext uri="{FF2B5EF4-FFF2-40B4-BE49-F238E27FC236}">
                <a16:creationId xmlns:a16="http://schemas.microsoft.com/office/drawing/2014/main" id="{DEEC5A2E-CAFB-BA43-A154-13F98FBF8642}"/>
              </a:ext>
            </a:extLst>
          </p:cNvPr>
          <p:cNvSpPr/>
          <p:nvPr/>
        </p:nvSpPr>
        <p:spPr>
          <a:xfrm>
            <a:off x="3579025" y="2323608"/>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rdt3.0 sender</a:t>
            </a:r>
            <a:endParaRPr lang="en-US" dirty="0"/>
          </a:p>
        </p:txBody>
      </p:sp>
      <p:sp>
        <p:nvSpPr>
          <p:cNvPr id="64" name="Line 6">
            <a:extLst>
              <a:ext uri="{FF2B5EF4-FFF2-40B4-BE49-F238E27FC236}">
                <a16:creationId xmlns:a16="http://schemas.microsoft.com/office/drawing/2014/main" id="{78C37AB9-8D5F-A34A-A2BE-A05DFB4E8756}"/>
              </a:ext>
            </a:extLst>
          </p:cNvPr>
          <p:cNvSpPr>
            <a:spLocks noChangeShapeType="1"/>
          </p:cNvSpPr>
          <p:nvPr/>
        </p:nvSpPr>
        <p:spPr bwMode="auto">
          <a:xfrm>
            <a:off x="3366149" y="2085729"/>
            <a:ext cx="117872" cy="432197"/>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65" name="Group 7">
            <a:extLst>
              <a:ext uri="{FF2B5EF4-FFF2-40B4-BE49-F238E27FC236}">
                <a16:creationId xmlns:a16="http://schemas.microsoft.com/office/drawing/2014/main" id="{096872AC-5A50-874A-AB4F-3FB6FDD33CA8}"/>
              </a:ext>
            </a:extLst>
          </p:cNvPr>
          <p:cNvGrpSpPr>
            <a:grpSpLocks/>
          </p:cNvGrpSpPr>
          <p:nvPr/>
        </p:nvGrpSpPr>
        <p:grpSpPr bwMode="auto">
          <a:xfrm>
            <a:off x="5324727" y="2495305"/>
            <a:ext cx="666750" cy="648890"/>
            <a:chOff x="445" y="1273"/>
            <a:chExt cx="560" cy="545"/>
          </a:xfrm>
        </p:grpSpPr>
        <p:sp>
          <p:nvSpPr>
            <p:cNvPr id="66" name="Oval 8">
              <a:extLst>
                <a:ext uri="{FF2B5EF4-FFF2-40B4-BE49-F238E27FC236}">
                  <a16:creationId xmlns:a16="http://schemas.microsoft.com/office/drawing/2014/main" id="{E65B4A15-4BAC-CA4D-A49C-43B951682900}"/>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67" name="Text Box 9">
              <a:extLst>
                <a:ext uri="{FF2B5EF4-FFF2-40B4-BE49-F238E27FC236}">
                  <a16:creationId xmlns:a16="http://schemas.microsoft.com/office/drawing/2014/main" id="{26B25746-91F9-5D4A-8F0C-823F1140A003}"/>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ACK0</a:t>
              </a:r>
              <a:endParaRPr lang="en-US" altLang="en-US" sz="1050" kern="0" dirty="0">
                <a:solidFill>
                  <a:srgbClr val="000000"/>
                </a:solidFill>
                <a:latin typeface="Times New Roman" panose="02020603050405020304" pitchFamily="18" charset="0"/>
              </a:endParaRPr>
            </a:p>
          </p:txBody>
        </p:sp>
      </p:grpSp>
      <p:grpSp>
        <p:nvGrpSpPr>
          <p:cNvPr id="4" name="Group 3">
            <a:extLst>
              <a:ext uri="{FF2B5EF4-FFF2-40B4-BE49-F238E27FC236}">
                <a16:creationId xmlns:a16="http://schemas.microsoft.com/office/drawing/2014/main" id="{7F4D04D9-9A61-C546-9AF6-16658062604A}"/>
              </a:ext>
            </a:extLst>
          </p:cNvPr>
          <p:cNvGrpSpPr/>
          <p:nvPr/>
        </p:nvGrpSpPr>
        <p:grpSpPr>
          <a:xfrm>
            <a:off x="3568555" y="1745211"/>
            <a:ext cx="2895600" cy="858440"/>
            <a:chOff x="4758073" y="1183947"/>
            <a:chExt cx="3860800" cy="1144587"/>
          </a:xfrm>
        </p:grpSpPr>
        <p:sp>
          <p:nvSpPr>
            <p:cNvPr id="61" name="Text Box 3">
              <a:extLst>
                <a:ext uri="{FF2B5EF4-FFF2-40B4-BE49-F238E27FC236}">
                  <a16:creationId xmlns:a16="http://schemas.microsoft.com/office/drawing/2014/main" id="{277946DC-87AE-0E47-8DDD-C388A956445A}"/>
                </a:ext>
              </a:extLst>
            </p:cNvPr>
            <p:cNvSpPr txBox="1">
              <a:spLocks noChangeArrowheads="1"/>
            </p:cNvSpPr>
            <p:nvPr/>
          </p:nvSpPr>
          <p:spPr bwMode="auto">
            <a:xfrm>
              <a:off x="4758073" y="1477634"/>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sndpkt = make_pkt(0, data, checksum)</a:t>
              </a:r>
            </a:p>
            <a:p>
              <a:pPr defTabSz="685800">
                <a:defRPr/>
              </a:pPr>
              <a:r>
                <a:rPr lang="en-US" altLang="en-US" sz="1050" dirty="0">
                  <a:solidFill>
                    <a:srgbClr val="000000"/>
                  </a:solidFill>
                  <a:latin typeface="Arial" panose="020B0604020202020204" pitchFamily="34" charset="0"/>
                </a:rPr>
                <a:t>udt_send(sndpkt)</a:t>
              </a:r>
            </a:p>
            <a:p>
              <a:pPr defTabSz="685800">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62" name="Text Box 4">
              <a:extLst>
                <a:ext uri="{FF2B5EF4-FFF2-40B4-BE49-F238E27FC236}">
                  <a16:creationId xmlns:a16="http://schemas.microsoft.com/office/drawing/2014/main" id="{11F4EC56-A6F5-A64D-95C8-7503733BD178}"/>
                </a:ext>
              </a:extLst>
            </p:cNvPr>
            <p:cNvSpPr txBox="1">
              <a:spLocks noChangeArrowheads="1"/>
            </p:cNvSpPr>
            <p:nvPr/>
          </p:nvSpPr>
          <p:spPr bwMode="auto">
            <a:xfrm>
              <a:off x="4799348" y="1183947"/>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rdt_send(data)</a:t>
              </a:r>
              <a:endParaRPr lang="en-US" altLang="en-US" sz="1050" dirty="0">
                <a:solidFill>
                  <a:srgbClr val="000000"/>
                </a:solidFill>
                <a:latin typeface="Times New Roman" panose="02020603050405020304" pitchFamily="18" charset="0"/>
              </a:endParaRPr>
            </a:p>
          </p:txBody>
        </p:sp>
        <p:sp>
          <p:nvSpPr>
            <p:cNvPr id="63" name="Line 5">
              <a:extLst>
                <a:ext uri="{FF2B5EF4-FFF2-40B4-BE49-F238E27FC236}">
                  <a16:creationId xmlns:a16="http://schemas.microsoft.com/office/drawing/2014/main" id="{C1AF7291-871C-F046-AFBB-1556BBAC481A}"/>
                </a:ext>
              </a:extLst>
            </p:cNvPr>
            <p:cNvSpPr>
              <a:spLocks noChangeShapeType="1"/>
            </p:cNvSpPr>
            <p:nvPr/>
          </p:nvSpPr>
          <p:spPr bwMode="auto">
            <a:xfrm>
              <a:off x="4900948" y="15220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8" name="Freeform 10">
              <a:extLst>
                <a:ext uri="{FF2B5EF4-FFF2-40B4-BE49-F238E27FC236}">
                  <a16:creationId xmlns:a16="http://schemas.microsoft.com/office/drawing/2014/main" id="{8CEC024B-C97C-A74A-9916-3EDFFAAB7369}"/>
                </a:ext>
              </a:extLst>
            </p:cNvPr>
            <p:cNvSpPr>
              <a:spLocks/>
            </p:cNvSpPr>
            <p:nvPr/>
          </p:nvSpPr>
          <p:spPr bwMode="auto">
            <a:xfrm flipV="1">
              <a:off x="5123198" y="2165022"/>
              <a:ext cx="2090738" cy="16351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72" name="Group 14">
            <a:extLst>
              <a:ext uri="{FF2B5EF4-FFF2-40B4-BE49-F238E27FC236}">
                <a16:creationId xmlns:a16="http://schemas.microsoft.com/office/drawing/2014/main" id="{56EFCAB8-B7AF-164A-9F92-8EACFBDEB179}"/>
              </a:ext>
            </a:extLst>
          </p:cNvPr>
          <p:cNvGrpSpPr>
            <a:grpSpLocks/>
          </p:cNvGrpSpPr>
          <p:nvPr/>
        </p:nvGrpSpPr>
        <p:grpSpPr bwMode="auto">
          <a:xfrm>
            <a:off x="5393784" y="3931198"/>
            <a:ext cx="891778" cy="638175"/>
            <a:chOff x="4090" y="3230"/>
            <a:chExt cx="749" cy="536"/>
          </a:xfrm>
        </p:grpSpPr>
        <p:sp>
          <p:nvSpPr>
            <p:cNvPr id="73" name="Oval 15">
              <a:extLst>
                <a:ext uri="{FF2B5EF4-FFF2-40B4-BE49-F238E27FC236}">
                  <a16:creationId xmlns:a16="http://schemas.microsoft.com/office/drawing/2014/main" id="{FA80C9CA-4B40-8840-B931-9FF9ACFD24EF}"/>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74" name="Text Box 16">
              <a:extLst>
                <a:ext uri="{FF2B5EF4-FFF2-40B4-BE49-F238E27FC236}">
                  <a16:creationId xmlns:a16="http://schemas.microsoft.com/office/drawing/2014/main" id="{521CFB86-2E9D-B149-847B-A167F4F8FCE1}"/>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t>
              </a:r>
            </a:p>
            <a:p>
              <a:pPr algn="ctr" defTabSz="685800">
                <a:defRPr/>
              </a:pPr>
              <a:r>
                <a:rPr lang="en-US" altLang="en-US" sz="1050" kern="0" dirty="0">
                  <a:solidFill>
                    <a:srgbClr val="000000"/>
                  </a:solidFill>
                  <a:latin typeface="Arial" panose="020B0604020202020204" pitchFamily="34" charset="0"/>
                </a:rPr>
                <a:t>call 1 from above</a:t>
              </a:r>
              <a:endParaRPr lang="en-US" altLang="en-US" sz="1050" kern="0" dirty="0">
                <a:solidFill>
                  <a:srgbClr val="000000"/>
                </a:solidFill>
                <a:latin typeface="Times New Roman" panose="02020603050405020304" pitchFamily="18" charset="0"/>
              </a:endParaRPr>
            </a:p>
          </p:txBody>
        </p:sp>
      </p:grpSp>
      <p:grpSp>
        <p:nvGrpSpPr>
          <p:cNvPr id="114" name="Group 113">
            <a:extLst>
              <a:ext uri="{FF2B5EF4-FFF2-40B4-BE49-F238E27FC236}">
                <a16:creationId xmlns:a16="http://schemas.microsoft.com/office/drawing/2014/main" id="{40684A0E-9037-EB45-9EB8-86695DBF36A9}"/>
              </a:ext>
            </a:extLst>
          </p:cNvPr>
          <p:cNvGrpSpPr/>
          <p:nvPr/>
        </p:nvGrpSpPr>
        <p:grpSpPr>
          <a:xfrm>
            <a:off x="3791203" y="4481267"/>
            <a:ext cx="2583656" cy="778669"/>
            <a:chOff x="5054936" y="4832022"/>
            <a:chExt cx="3444875" cy="1038225"/>
          </a:xfrm>
        </p:grpSpPr>
        <p:sp>
          <p:nvSpPr>
            <p:cNvPr id="76" name="Freeform 18">
              <a:extLst>
                <a:ext uri="{FF2B5EF4-FFF2-40B4-BE49-F238E27FC236}">
                  <a16:creationId xmlns:a16="http://schemas.microsoft.com/office/drawing/2014/main" id="{6F223C64-6D09-DE48-83F1-228C34DA64FA}"/>
                </a:ext>
              </a:extLst>
            </p:cNvPr>
            <p:cNvSpPr>
              <a:spLocks/>
            </p:cNvSpPr>
            <p:nvPr/>
          </p:nvSpPr>
          <p:spPr bwMode="auto">
            <a:xfrm>
              <a:off x="5108911" y="4832022"/>
              <a:ext cx="2312987" cy="27463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78" name="Text Box 20">
              <a:extLst>
                <a:ext uri="{FF2B5EF4-FFF2-40B4-BE49-F238E27FC236}">
                  <a16:creationId xmlns:a16="http://schemas.microsoft.com/office/drawing/2014/main" id="{5C35E95A-ADB2-FF4D-BCD2-C9D9EABE9C6B}"/>
                </a:ext>
              </a:extLst>
            </p:cNvPr>
            <p:cNvSpPr txBox="1">
              <a:spLocks noChangeArrowheads="1"/>
            </p:cNvSpPr>
            <p:nvPr/>
          </p:nvSpPr>
          <p:spPr bwMode="auto">
            <a:xfrm>
              <a:off x="5054936" y="5317797"/>
              <a:ext cx="3444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sndpkt = make_pkt(1, data, checksum)</a:t>
              </a:r>
            </a:p>
            <a:p>
              <a:pPr defTabSz="685800">
                <a:defRPr/>
              </a:pPr>
              <a:r>
                <a:rPr lang="en-US" altLang="en-US" sz="1050" dirty="0">
                  <a:solidFill>
                    <a:srgbClr val="000000"/>
                  </a:solidFill>
                  <a:latin typeface="Arial" panose="020B0604020202020204" pitchFamily="34" charset="0"/>
                </a:rPr>
                <a:t>udt_send(sndpkt)</a:t>
              </a:r>
            </a:p>
            <a:p>
              <a:pPr defTabSz="685800">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79" name="Text Box 21">
              <a:extLst>
                <a:ext uri="{FF2B5EF4-FFF2-40B4-BE49-F238E27FC236}">
                  <a16:creationId xmlns:a16="http://schemas.microsoft.com/office/drawing/2014/main" id="{E55E1DDD-DB30-5446-8650-ECC81FF923ED}"/>
                </a:ext>
              </a:extLst>
            </p:cNvPr>
            <p:cNvSpPr txBox="1">
              <a:spLocks noChangeArrowheads="1"/>
            </p:cNvSpPr>
            <p:nvPr/>
          </p:nvSpPr>
          <p:spPr bwMode="auto">
            <a:xfrm>
              <a:off x="5054936" y="5035222"/>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rdt_send(data)</a:t>
              </a:r>
              <a:endParaRPr lang="en-US" altLang="en-US" sz="1050" dirty="0">
                <a:solidFill>
                  <a:srgbClr val="000000"/>
                </a:solidFill>
                <a:latin typeface="Times New Roman" panose="02020603050405020304" pitchFamily="18" charset="0"/>
              </a:endParaRPr>
            </a:p>
          </p:txBody>
        </p:sp>
        <p:sp>
          <p:nvSpPr>
            <p:cNvPr id="80" name="Line 22">
              <a:extLst>
                <a:ext uri="{FF2B5EF4-FFF2-40B4-BE49-F238E27FC236}">
                  <a16:creationId xmlns:a16="http://schemas.microsoft.com/office/drawing/2014/main" id="{38F0E084-BD34-6345-8EFC-9B28222C5D7D}"/>
                </a:ext>
              </a:extLst>
            </p:cNvPr>
            <p:cNvSpPr>
              <a:spLocks noChangeShapeType="1"/>
            </p:cNvSpPr>
            <p:nvPr/>
          </p:nvSpPr>
          <p:spPr bwMode="auto">
            <a:xfrm>
              <a:off x="5173998" y="5346372"/>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5" name="Group 4">
            <a:extLst>
              <a:ext uri="{FF2B5EF4-FFF2-40B4-BE49-F238E27FC236}">
                <a16:creationId xmlns:a16="http://schemas.microsoft.com/office/drawing/2014/main" id="{D0E17AB3-A37A-384E-B76C-D9D33C764FEC}"/>
              </a:ext>
            </a:extLst>
          </p:cNvPr>
          <p:cNvGrpSpPr/>
          <p:nvPr/>
        </p:nvGrpSpPr>
        <p:grpSpPr>
          <a:xfrm>
            <a:off x="5893846" y="3041801"/>
            <a:ext cx="1732359" cy="888206"/>
            <a:chOff x="7858461" y="2912734"/>
            <a:chExt cx="2309812" cy="1184275"/>
          </a:xfrm>
        </p:grpSpPr>
        <p:sp>
          <p:nvSpPr>
            <p:cNvPr id="77" name="Freeform 19">
              <a:extLst>
                <a:ext uri="{FF2B5EF4-FFF2-40B4-BE49-F238E27FC236}">
                  <a16:creationId xmlns:a16="http://schemas.microsoft.com/office/drawing/2014/main" id="{3DDB81C2-3ABA-CF4A-B97F-7179552BC636}"/>
                </a:ext>
              </a:extLst>
            </p:cNvPr>
            <p:cNvSpPr>
              <a:spLocks/>
            </p:cNvSpPr>
            <p:nvPr/>
          </p:nvSpPr>
          <p:spPr bwMode="auto">
            <a:xfrm rot="5400000" flipH="1" flipV="1">
              <a:off x="7349667" y="3421528"/>
              <a:ext cx="1184275" cy="16668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81" name="Text Box 23">
              <a:extLst>
                <a:ext uri="{FF2B5EF4-FFF2-40B4-BE49-F238E27FC236}">
                  <a16:creationId xmlns:a16="http://schemas.microsoft.com/office/drawing/2014/main" id="{B3A5B058-CEE3-154A-8B9F-81FE6436B20E}"/>
                </a:ext>
              </a:extLst>
            </p:cNvPr>
            <p:cNvSpPr txBox="1">
              <a:spLocks noChangeArrowheads="1"/>
            </p:cNvSpPr>
            <p:nvPr/>
          </p:nvSpPr>
          <p:spPr bwMode="auto">
            <a:xfrm>
              <a:off x="8018798" y="3200072"/>
              <a:ext cx="2149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t>
              </a:r>
            </a:p>
            <a:p>
              <a:pPr defTabSz="685800">
                <a:defRPr/>
              </a:pPr>
              <a:r>
                <a:rPr lang="en-US" altLang="en-US" sz="1050" dirty="0">
                  <a:solidFill>
                    <a:srgbClr val="000000"/>
                  </a:solidFill>
                  <a:latin typeface="Arial" panose="020B0604020202020204" pitchFamily="34" charset="0"/>
                </a:rPr>
                <a:t>&amp;&amp; notcorrupt(rcvpkt) </a:t>
              </a:r>
            </a:p>
            <a:p>
              <a:pPr defTabSz="685800">
                <a:defRPr/>
              </a:pPr>
              <a:r>
                <a:rPr lang="en-US" altLang="en-US" sz="1050" dirty="0">
                  <a:solidFill>
                    <a:srgbClr val="000000"/>
                  </a:solidFill>
                  <a:latin typeface="Arial" panose="020B0604020202020204" pitchFamily="34" charset="0"/>
                </a:rPr>
                <a:t>&amp;&amp; isACK(rcvpkt,0)</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82" name="Line 24">
              <a:extLst>
                <a:ext uri="{FF2B5EF4-FFF2-40B4-BE49-F238E27FC236}">
                  <a16:creationId xmlns:a16="http://schemas.microsoft.com/office/drawing/2014/main" id="{6F172C79-50B4-9346-A88A-5975F73431A8}"/>
                </a:ext>
              </a:extLst>
            </p:cNvPr>
            <p:cNvSpPr>
              <a:spLocks noChangeShapeType="1"/>
            </p:cNvSpPr>
            <p:nvPr/>
          </p:nvSpPr>
          <p:spPr bwMode="auto">
            <a:xfrm>
              <a:off x="8134686" y="3911272"/>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87" name="Text Box 29">
              <a:extLst>
                <a:ext uri="{FF2B5EF4-FFF2-40B4-BE49-F238E27FC236}">
                  <a16:creationId xmlns:a16="http://schemas.microsoft.com/office/drawing/2014/main" id="{31338CB6-A233-944E-8AAB-06740429CED4}"/>
                </a:ext>
              </a:extLst>
            </p:cNvPr>
            <p:cNvSpPr txBox="1">
              <a:spLocks noChangeArrowheads="1"/>
            </p:cNvSpPr>
            <p:nvPr/>
          </p:nvSpPr>
          <p:spPr bwMode="auto">
            <a:xfrm>
              <a:off x="8039436" y="3892222"/>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stop_timer</a:t>
              </a:r>
              <a:endParaRPr lang="en-US" altLang="en-US" sz="1050" dirty="0">
                <a:solidFill>
                  <a:srgbClr val="000000"/>
                </a:solidFill>
                <a:latin typeface="Times New Roman" panose="02020603050405020304" pitchFamily="18" charset="0"/>
              </a:endParaRPr>
            </a:p>
          </p:txBody>
        </p:sp>
      </p:grpSp>
      <p:grpSp>
        <p:nvGrpSpPr>
          <p:cNvPr id="115" name="Group 114">
            <a:extLst>
              <a:ext uri="{FF2B5EF4-FFF2-40B4-BE49-F238E27FC236}">
                <a16:creationId xmlns:a16="http://schemas.microsoft.com/office/drawing/2014/main" id="{264EE58C-9293-D64B-8FD5-BF4EEDF9C767}"/>
              </a:ext>
            </a:extLst>
          </p:cNvPr>
          <p:cNvGrpSpPr/>
          <p:nvPr/>
        </p:nvGrpSpPr>
        <p:grpSpPr>
          <a:xfrm>
            <a:off x="1979071" y="3076329"/>
            <a:ext cx="1459454" cy="929877"/>
            <a:chOff x="2638761" y="2958772"/>
            <a:chExt cx="1945938" cy="1239836"/>
          </a:xfrm>
        </p:grpSpPr>
        <p:sp>
          <p:nvSpPr>
            <p:cNvPr id="75" name="Freeform 17">
              <a:extLst>
                <a:ext uri="{FF2B5EF4-FFF2-40B4-BE49-F238E27FC236}">
                  <a16:creationId xmlns:a16="http://schemas.microsoft.com/office/drawing/2014/main" id="{2F184C7E-A563-7E48-B933-43517ECFB8AD}"/>
                </a:ext>
              </a:extLst>
            </p:cNvPr>
            <p:cNvSpPr>
              <a:spLocks/>
            </p:cNvSpPr>
            <p:nvPr/>
          </p:nvSpPr>
          <p:spPr bwMode="auto">
            <a:xfrm rot="16200000" flipV="1">
              <a:off x="3932568" y="3546478"/>
              <a:ext cx="1150609" cy="15365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85" name="Text Box 27">
              <a:extLst>
                <a:ext uri="{FF2B5EF4-FFF2-40B4-BE49-F238E27FC236}">
                  <a16:creationId xmlns:a16="http://schemas.microsoft.com/office/drawing/2014/main" id="{85546939-74F9-DE48-94D4-5CDE532CF8B4}"/>
                </a:ext>
              </a:extLst>
            </p:cNvPr>
            <p:cNvSpPr txBox="1">
              <a:spLocks noChangeArrowheads="1"/>
            </p:cNvSpPr>
            <p:nvPr/>
          </p:nvSpPr>
          <p:spPr bwMode="auto">
            <a:xfrm>
              <a:off x="2646698" y="2958772"/>
              <a:ext cx="19129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t>
              </a:r>
            </a:p>
            <a:p>
              <a:pPr defTabSz="685800">
                <a:defRPr/>
              </a:pPr>
              <a:r>
                <a:rPr lang="en-US" altLang="en-US" sz="1050" dirty="0">
                  <a:solidFill>
                    <a:srgbClr val="000000"/>
                  </a:solidFill>
                  <a:latin typeface="Arial" panose="020B0604020202020204" pitchFamily="34" charset="0"/>
                </a:rPr>
                <a:t>&amp;&amp; notcorrupt(rcvpkt) </a:t>
              </a:r>
            </a:p>
            <a:p>
              <a:pPr defTabSz="685800">
                <a:defRPr/>
              </a:pPr>
              <a:r>
                <a:rPr lang="en-US" altLang="en-US" sz="1050" dirty="0">
                  <a:solidFill>
                    <a:srgbClr val="000000"/>
                  </a:solidFill>
                  <a:latin typeface="Arial" panose="020B0604020202020204" pitchFamily="34" charset="0"/>
                </a:rPr>
                <a:t>&amp;&amp; isACK(rcvpkt,1)</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86" name="Line 28">
              <a:extLst>
                <a:ext uri="{FF2B5EF4-FFF2-40B4-BE49-F238E27FC236}">
                  <a16:creationId xmlns:a16="http://schemas.microsoft.com/office/drawing/2014/main" id="{8CA33983-E9A1-BF42-B982-07F0B1E94A02}"/>
                </a:ext>
              </a:extLst>
            </p:cNvPr>
            <p:cNvSpPr>
              <a:spLocks noChangeShapeType="1"/>
            </p:cNvSpPr>
            <p:nvPr/>
          </p:nvSpPr>
          <p:spPr bwMode="auto">
            <a:xfrm>
              <a:off x="2773698" y="3698547"/>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88" name="Text Box 30">
              <a:extLst>
                <a:ext uri="{FF2B5EF4-FFF2-40B4-BE49-F238E27FC236}">
                  <a16:creationId xmlns:a16="http://schemas.microsoft.com/office/drawing/2014/main" id="{C524B67B-7041-9242-9C97-B8A784A8F6F2}"/>
                </a:ext>
              </a:extLst>
            </p:cNvPr>
            <p:cNvSpPr txBox="1">
              <a:spLocks noChangeArrowheads="1"/>
            </p:cNvSpPr>
            <p:nvPr/>
          </p:nvSpPr>
          <p:spPr bwMode="auto">
            <a:xfrm>
              <a:off x="2638761" y="3671559"/>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stop_timer</a:t>
              </a:r>
              <a:endParaRPr lang="en-US" altLang="en-US" sz="1050" dirty="0">
                <a:solidFill>
                  <a:srgbClr val="000000"/>
                </a:solidFill>
                <a:latin typeface="Times New Roman" panose="02020603050405020304" pitchFamily="18" charset="0"/>
              </a:endParaRPr>
            </a:p>
          </p:txBody>
        </p:sp>
      </p:grpSp>
      <p:grpSp>
        <p:nvGrpSpPr>
          <p:cNvPr id="6" name="Group 5">
            <a:extLst>
              <a:ext uri="{FF2B5EF4-FFF2-40B4-BE49-F238E27FC236}">
                <a16:creationId xmlns:a16="http://schemas.microsoft.com/office/drawing/2014/main" id="{9E1668F5-8EFC-FD4A-B0AD-080420B8D736}"/>
              </a:ext>
            </a:extLst>
          </p:cNvPr>
          <p:cNvGrpSpPr/>
          <p:nvPr/>
        </p:nvGrpSpPr>
        <p:grpSpPr>
          <a:xfrm>
            <a:off x="5983143" y="2636989"/>
            <a:ext cx="1835944" cy="556022"/>
            <a:chOff x="7977523" y="2372984"/>
            <a:chExt cx="2447925" cy="741363"/>
          </a:xfrm>
        </p:grpSpPr>
        <p:sp>
          <p:nvSpPr>
            <p:cNvPr id="128" name="Rectangle 127">
              <a:extLst>
                <a:ext uri="{FF2B5EF4-FFF2-40B4-BE49-F238E27FC236}">
                  <a16:creationId xmlns:a16="http://schemas.microsoft.com/office/drawing/2014/main" id="{EB74E396-3DA3-0D47-9600-2A508F79F4AE}"/>
                </a:ext>
              </a:extLst>
            </p:cNvPr>
            <p:cNvSpPr/>
            <p:nvPr/>
          </p:nvSpPr>
          <p:spPr>
            <a:xfrm>
              <a:off x="8369605" y="2404148"/>
              <a:ext cx="732514" cy="223838"/>
            </a:xfrm>
            <a:prstGeom prst="rect">
              <a:avLst/>
            </a:prstGeom>
            <a:solidFill>
              <a:srgbClr val="FFB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7" name="Rectangle 126">
              <a:extLst>
                <a:ext uri="{FF2B5EF4-FFF2-40B4-BE49-F238E27FC236}">
                  <a16:creationId xmlns:a16="http://schemas.microsoft.com/office/drawing/2014/main" id="{99D5058F-6374-D346-BFD4-860774A23D0C}"/>
                </a:ext>
              </a:extLst>
            </p:cNvPr>
            <p:cNvSpPr/>
            <p:nvPr/>
          </p:nvSpPr>
          <p:spPr>
            <a:xfrm>
              <a:off x="8358054" y="2870582"/>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nvGrpSpPr>
            <p:cNvPr id="117" name="Group 116">
              <a:extLst>
                <a:ext uri="{FF2B5EF4-FFF2-40B4-BE49-F238E27FC236}">
                  <a16:creationId xmlns:a16="http://schemas.microsoft.com/office/drawing/2014/main" id="{6733C237-E2DA-D542-90DF-04CF6DA2943C}"/>
                </a:ext>
              </a:extLst>
            </p:cNvPr>
            <p:cNvGrpSpPr/>
            <p:nvPr/>
          </p:nvGrpSpPr>
          <p:grpSpPr>
            <a:xfrm>
              <a:off x="7977523" y="2372984"/>
              <a:ext cx="2447925" cy="741363"/>
              <a:chOff x="7977523" y="2372984"/>
              <a:chExt cx="2447925" cy="741363"/>
            </a:xfrm>
          </p:grpSpPr>
          <p:sp>
            <p:nvSpPr>
              <p:cNvPr id="89" name="Freeform 31">
                <a:extLst>
                  <a:ext uri="{FF2B5EF4-FFF2-40B4-BE49-F238E27FC236}">
                    <a16:creationId xmlns:a16="http://schemas.microsoft.com/office/drawing/2014/main" id="{A8AA3B66-8A2A-3B49-946B-88E9E731F96B}"/>
                  </a:ext>
                </a:extLst>
              </p:cNvPr>
              <p:cNvSpPr>
                <a:spLocks/>
              </p:cNvSpPr>
              <p:nvPr/>
            </p:nvSpPr>
            <p:spPr bwMode="auto">
              <a:xfrm>
                <a:off x="7977523" y="2431722"/>
                <a:ext cx="461963" cy="682625"/>
              </a:xfrm>
              <a:custGeom>
                <a:avLst/>
                <a:gdLst>
                  <a:gd name="T0" fmla="*/ 0 w 291"/>
                  <a:gd name="T1" fmla="*/ 2147483647 h 430"/>
                  <a:gd name="T2" fmla="*/ 2147483647 w 291"/>
                  <a:gd name="T3" fmla="*/ 2147483647 h 430"/>
                  <a:gd name="T4" fmla="*/ 0 60000 65536"/>
                  <a:gd name="T5" fmla="*/ 0 60000 65536"/>
                </a:gdLst>
                <a:ahLst/>
                <a:cxnLst>
                  <a:cxn ang="T4">
                    <a:pos x="T0" y="T1"/>
                  </a:cxn>
                  <a:cxn ang="T5">
                    <a:pos x="T2" y="T3"/>
                  </a:cxn>
                </a:cxnLst>
                <a:rect l="0" t="0" r="r" b="b"/>
                <a:pathLst>
                  <a:path w="291" h="430">
                    <a:moveTo>
                      <a:pt x="0" y="120"/>
                    </a:moveTo>
                    <a:cubicBezTo>
                      <a:pt x="291" y="0"/>
                      <a:pt x="259" y="430"/>
                      <a:pt x="15" y="2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90" name="Text Box 32">
                <a:extLst>
                  <a:ext uri="{FF2B5EF4-FFF2-40B4-BE49-F238E27FC236}">
                    <a16:creationId xmlns:a16="http://schemas.microsoft.com/office/drawing/2014/main" id="{E3D7CC76-E8AA-AA49-ABBA-30FB422DFCE9}"/>
                  </a:ext>
                </a:extLst>
              </p:cNvPr>
              <p:cNvSpPr txBox="1">
                <a:spLocks noChangeArrowheads="1"/>
              </p:cNvSpPr>
              <p:nvPr/>
            </p:nvSpPr>
            <p:spPr bwMode="auto">
              <a:xfrm>
                <a:off x="8309311" y="2609522"/>
                <a:ext cx="21161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udt_send(sndpkt)</a:t>
                </a:r>
              </a:p>
              <a:p>
                <a:pPr defTabSz="685800">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91" name="Text Box 33">
                <a:extLst>
                  <a:ext uri="{FF2B5EF4-FFF2-40B4-BE49-F238E27FC236}">
                    <a16:creationId xmlns:a16="http://schemas.microsoft.com/office/drawing/2014/main" id="{F5C6AB1D-23FF-4443-9810-5311395B10FA}"/>
                  </a:ext>
                </a:extLst>
              </p:cNvPr>
              <p:cNvSpPr txBox="1">
                <a:spLocks noChangeArrowheads="1"/>
              </p:cNvSpPr>
              <p:nvPr/>
            </p:nvSpPr>
            <p:spPr bwMode="auto">
              <a:xfrm>
                <a:off x="8331536" y="2372984"/>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timeout</a:t>
                </a:r>
                <a:endParaRPr lang="en-US" altLang="en-US" sz="1050" dirty="0">
                  <a:solidFill>
                    <a:srgbClr val="000000"/>
                  </a:solidFill>
                  <a:latin typeface="Times New Roman" panose="02020603050405020304" pitchFamily="18" charset="0"/>
                </a:endParaRPr>
              </a:p>
            </p:txBody>
          </p:sp>
          <p:sp>
            <p:nvSpPr>
              <p:cNvPr id="92" name="Line 34">
                <a:extLst>
                  <a:ext uri="{FF2B5EF4-FFF2-40B4-BE49-F238E27FC236}">
                    <a16:creationId xmlns:a16="http://schemas.microsoft.com/office/drawing/2014/main" id="{3BCAAD42-472A-8148-88E4-7D3F77DC87EA}"/>
                  </a:ext>
                </a:extLst>
              </p:cNvPr>
              <p:cNvSpPr>
                <a:spLocks noChangeShapeType="1"/>
              </p:cNvSpPr>
              <p:nvPr/>
            </p:nvSpPr>
            <p:spPr bwMode="auto">
              <a:xfrm>
                <a:off x="8420436" y="26269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grpSp>
        <p:nvGrpSpPr>
          <p:cNvPr id="100" name="Group 42">
            <a:extLst>
              <a:ext uri="{FF2B5EF4-FFF2-40B4-BE49-F238E27FC236}">
                <a16:creationId xmlns:a16="http://schemas.microsoft.com/office/drawing/2014/main" id="{7781A61F-1C88-6E46-96AB-268CBADE4526}"/>
              </a:ext>
            </a:extLst>
          </p:cNvPr>
          <p:cNvGrpSpPr>
            <a:grpSpLocks/>
          </p:cNvGrpSpPr>
          <p:nvPr/>
        </p:nvGrpSpPr>
        <p:grpSpPr bwMode="auto">
          <a:xfrm>
            <a:off x="3118498" y="2528642"/>
            <a:ext cx="891779" cy="638175"/>
            <a:chOff x="4090" y="3230"/>
            <a:chExt cx="749" cy="536"/>
          </a:xfrm>
        </p:grpSpPr>
        <p:sp>
          <p:nvSpPr>
            <p:cNvPr id="101" name="Oval 43">
              <a:extLst>
                <a:ext uri="{FF2B5EF4-FFF2-40B4-BE49-F238E27FC236}">
                  <a16:creationId xmlns:a16="http://schemas.microsoft.com/office/drawing/2014/main" id="{EA3FA186-38E3-E24B-80CE-CDFC5DF36C2A}"/>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102" name="Text Box 44">
              <a:extLst>
                <a:ext uri="{FF2B5EF4-FFF2-40B4-BE49-F238E27FC236}">
                  <a16:creationId xmlns:a16="http://schemas.microsoft.com/office/drawing/2014/main" id="{237CD0D2-3CD0-9E45-8D08-0B39FC58CB38}"/>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t>
              </a:r>
            </a:p>
            <a:p>
              <a:pPr algn="ctr" defTabSz="685800">
                <a:defRPr/>
              </a:pPr>
              <a:r>
                <a:rPr lang="en-US" altLang="en-US" sz="1050" kern="0" dirty="0">
                  <a:solidFill>
                    <a:srgbClr val="000000"/>
                  </a:solidFill>
                  <a:latin typeface="Arial" panose="020B0604020202020204" pitchFamily="34" charset="0"/>
                </a:rPr>
                <a:t>call 0 from above</a:t>
              </a:r>
              <a:endParaRPr lang="en-US" altLang="en-US" sz="1050" kern="0" dirty="0">
                <a:solidFill>
                  <a:srgbClr val="000000"/>
                </a:solidFill>
                <a:latin typeface="Times New Roman" panose="02020603050405020304" pitchFamily="18" charset="0"/>
              </a:endParaRPr>
            </a:p>
          </p:txBody>
        </p:sp>
      </p:grpSp>
      <p:grpSp>
        <p:nvGrpSpPr>
          <p:cNvPr id="104" name="Group 46">
            <a:extLst>
              <a:ext uri="{FF2B5EF4-FFF2-40B4-BE49-F238E27FC236}">
                <a16:creationId xmlns:a16="http://schemas.microsoft.com/office/drawing/2014/main" id="{3A7B09B7-7C1D-8D4E-8FEA-40BBC5ECB76A}"/>
              </a:ext>
            </a:extLst>
          </p:cNvPr>
          <p:cNvGrpSpPr>
            <a:grpSpLocks/>
          </p:cNvGrpSpPr>
          <p:nvPr/>
        </p:nvGrpSpPr>
        <p:grpSpPr bwMode="auto">
          <a:xfrm>
            <a:off x="3276852" y="3919292"/>
            <a:ext cx="666750" cy="648890"/>
            <a:chOff x="445" y="1273"/>
            <a:chExt cx="560" cy="545"/>
          </a:xfrm>
        </p:grpSpPr>
        <p:sp>
          <p:nvSpPr>
            <p:cNvPr id="105" name="Oval 47">
              <a:extLst>
                <a:ext uri="{FF2B5EF4-FFF2-40B4-BE49-F238E27FC236}">
                  <a16:creationId xmlns:a16="http://schemas.microsoft.com/office/drawing/2014/main" id="{1F85EC28-DE93-5C4D-AA1B-F8423FADF09B}"/>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endParaRPr>
            </a:p>
          </p:txBody>
        </p:sp>
        <p:sp>
          <p:nvSpPr>
            <p:cNvPr id="106" name="Text Box 48">
              <a:extLst>
                <a:ext uri="{FF2B5EF4-FFF2-40B4-BE49-F238E27FC236}">
                  <a16:creationId xmlns:a16="http://schemas.microsoft.com/office/drawing/2014/main" id="{8ED6243F-D34F-6848-8B35-66C2A258A3B6}"/>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050" kern="0" dirty="0">
                  <a:solidFill>
                    <a:srgbClr val="000000"/>
                  </a:solidFill>
                  <a:latin typeface="Arial" panose="020B0604020202020204" pitchFamily="34" charset="0"/>
                </a:rPr>
                <a:t>Wait for ACK1</a:t>
              </a:r>
              <a:endParaRPr lang="en-US" altLang="en-US" sz="1050" kern="0" dirty="0">
                <a:solidFill>
                  <a:srgbClr val="000000"/>
                </a:solidFill>
                <a:latin typeface="Times New Roman" panose="02020603050405020304" pitchFamily="18" charset="0"/>
              </a:endParaRPr>
            </a:p>
          </p:txBody>
        </p:sp>
      </p:grpSp>
      <p:grpSp>
        <p:nvGrpSpPr>
          <p:cNvPr id="118" name="Group 117">
            <a:extLst>
              <a:ext uri="{FF2B5EF4-FFF2-40B4-BE49-F238E27FC236}">
                <a16:creationId xmlns:a16="http://schemas.microsoft.com/office/drawing/2014/main" id="{048514FA-BA8E-D943-AFC9-DD226418CDFF}"/>
              </a:ext>
            </a:extLst>
          </p:cNvPr>
          <p:cNvGrpSpPr/>
          <p:nvPr/>
        </p:nvGrpSpPr>
        <p:grpSpPr>
          <a:xfrm>
            <a:off x="6123636" y="4207423"/>
            <a:ext cx="1320404" cy="667940"/>
            <a:chOff x="8164848" y="4466897"/>
            <a:chExt cx="1760538" cy="890587"/>
          </a:xfrm>
        </p:grpSpPr>
        <p:sp>
          <p:nvSpPr>
            <p:cNvPr id="98" name="Freeform 40">
              <a:extLst>
                <a:ext uri="{FF2B5EF4-FFF2-40B4-BE49-F238E27FC236}">
                  <a16:creationId xmlns:a16="http://schemas.microsoft.com/office/drawing/2014/main" id="{21CF03A5-6247-4A4D-98BD-C95EEB4DB33D}"/>
                </a:ext>
              </a:extLst>
            </p:cNvPr>
            <p:cNvSpPr>
              <a:spLocks/>
            </p:cNvSpPr>
            <p:nvPr/>
          </p:nvSpPr>
          <p:spPr bwMode="auto">
            <a:xfrm>
              <a:off x="8164848" y="4466897"/>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08" name="Text Box 50">
              <a:extLst>
                <a:ext uri="{FF2B5EF4-FFF2-40B4-BE49-F238E27FC236}">
                  <a16:creationId xmlns:a16="http://schemas.microsoft.com/office/drawing/2014/main" id="{484B8E27-7DE4-CB47-A590-09E8450BCA88}"/>
                </a:ext>
              </a:extLst>
            </p:cNvPr>
            <p:cNvSpPr txBox="1">
              <a:spLocks noChangeArrowheads="1"/>
            </p:cNvSpPr>
            <p:nvPr/>
          </p:nvSpPr>
          <p:spPr bwMode="auto">
            <a:xfrm>
              <a:off x="8931644" y="4946323"/>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00"/>
                  </a:solidFill>
                  <a:latin typeface="Symbol" charset="0"/>
                </a:rPr>
                <a:t>L</a:t>
              </a:r>
            </a:p>
          </p:txBody>
        </p:sp>
        <p:sp>
          <p:nvSpPr>
            <p:cNvPr id="109" name="Text Box 51">
              <a:extLst>
                <a:ext uri="{FF2B5EF4-FFF2-40B4-BE49-F238E27FC236}">
                  <a16:creationId xmlns:a16="http://schemas.microsoft.com/office/drawing/2014/main" id="{76FB8285-1E6A-C149-ACDD-D65AED4A8E55}"/>
                </a:ext>
              </a:extLst>
            </p:cNvPr>
            <p:cNvSpPr txBox="1">
              <a:spLocks noChangeArrowheads="1"/>
            </p:cNvSpPr>
            <p:nvPr/>
          </p:nvSpPr>
          <p:spPr bwMode="auto">
            <a:xfrm>
              <a:off x="8496636" y="4697084"/>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a:t>
              </a:r>
              <a:endParaRPr lang="en-US" altLang="en-US" sz="1050" dirty="0">
                <a:solidFill>
                  <a:srgbClr val="000000"/>
                </a:solidFill>
                <a:latin typeface="Times New Roman" panose="02020603050405020304" pitchFamily="18" charset="0"/>
              </a:endParaRPr>
            </a:p>
          </p:txBody>
        </p:sp>
        <p:sp>
          <p:nvSpPr>
            <p:cNvPr id="110" name="Line 52">
              <a:extLst>
                <a:ext uri="{FF2B5EF4-FFF2-40B4-BE49-F238E27FC236}">
                  <a16:creationId xmlns:a16="http://schemas.microsoft.com/office/drawing/2014/main" id="{FDB9192F-D2B4-314B-A907-3B13FA861E78}"/>
                </a:ext>
              </a:extLst>
            </p:cNvPr>
            <p:cNvSpPr>
              <a:spLocks noChangeShapeType="1"/>
            </p:cNvSpPr>
            <p:nvPr/>
          </p:nvSpPr>
          <p:spPr bwMode="auto">
            <a:xfrm>
              <a:off x="8583948" y="4982834"/>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116" name="Group 115">
            <a:extLst>
              <a:ext uri="{FF2B5EF4-FFF2-40B4-BE49-F238E27FC236}">
                <a16:creationId xmlns:a16="http://schemas.microsoft.com/office/drawing/2014/main" id="{77C829E3-6E50-184B-81B3-EC50B4767377}"/>
              </a:ext>
            </a:extLst>
          </p:cNvPr>
          <p:cNvGrpSpPr/>
          <p:nvPr/>
        </p:nvGrpSpPr>
        <p:grpSpPr>
          <a:xfrm>
            <a:off x="5855746" y="1824982"/>
            <a:ext cx="1588294" cy="858441"/>
            <a:chOff x="7807661" y="1290309"/>
            <a:chExt cx="2117725" cy="1144588"/>
          </a:xfrm>
        </p:grpSpPr>
        <p:sp>
          <p:nvSpPr>
            <p:cNvPr id="69" name="Freeform 11">
              <a:extLst>
                <a:ext uri="{FF2B5EF4-FFF2-40B4-BE49-F238E27FC236}">
                  <a16:creationId xmlns:a16="http://schemas.microsoft.com/office/drawing/2014/main" id="{98783A91-2889-6D49-9155-F35869E85287}"/>
                </a:ext>
              </a:extLst>
            </p:cNvPr>
            <p:cNvSpPr>
              <a:spLocks/>
            </p:cNvSpPr>
            <p:nvPr/>
          </p:nvSpPr>
          <p:spPr bwMode="auto">
            <a:xfrm>
              <a:off x="7807661" y="1768147"/>
              <a:ext cx="871537" cy="666750"/>
            </a:xfrm>
            <a:custGeom>
              <a:avLst/>
              <a:gdLst>
                <a:gd name="T0" fmla="*/ 0 w 549"/>
                <a:gd name="T1" fmla="*/ 2147483647 h 420"/>
                <a:gd name="T2" fmla="*/ 2147483647 w 549"/>
                <a:gd name="T3" fmla="*/ 2147483647 h 420"/>
                <a:gd name="T4" fmla="*/ 0 60000 65536"/>
                <a:gd name="T5" fmla="*/ 0 60000 65536"/>
              </a:gdLst>
              <a:ahLst/>
              <a:cxnLst>
                <a:cxn ang="T4">
                  <a:pos x="T0" y="T1"/>
                </a:cxn>
                <a:cxn ang="T5">
                  <a:pos x="T2" y="T3"/>
                </a:cxn>
              </a:cxnLst>
              <a:rect l="0" t="0" r="r" b="b"/>
              <a:pathLst>
                <a:path w="549" h="420">
                  <a:moveTo>
                    <a:pt x="0" y="306"/>
                  </a:moveTo>
                  <a:cubicBezTo>
                    <a:pt x="78" y="0"/>
                    <a:pt x="549" y="315"/>
                    <a:pt x="87" y="42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70" name="Text Box 12">
              <a:extLst>
                <a:ext uri="{FF2B5EF4-FFF2-40B4-BE49-F238E27FC236}">
                  <a16:creationId xmlns:a16="http://schemas.microsoft.com/office/drawing/2014/main" id="{B01D87F9-D3B9-694E-886A-C09A4372DCBF}"/>
                </a:ext>
              </a:extLst>
            </p:cNvPr>
            <p:cNvSpPr txBox="1">
              <a:spLocks noChangeArrowheads="1"/>
            </p:cNvSpPr>
            <p:nvPr/>
          </p:nvSpPr>
          <p:spPr bwMode="auto">
            <a:xfrm>
              <a:off x="8220411" y="1290309"/>
              <a:ext cx="1704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&amp;&amp;  </a:t>
              </a:r>
            </a:p>
            <a:p>
              <a:pPr defTabSz="685800">
                <a:defRPr/>
              </a:pPr>
              <a:r>
                <a:rPr lang="en-US" altLang="en-US" sz="1050" dirty="0">
                  <a:solidFill>
                    <a:srgbClr val="000000"/>
                  </a:solidFill>
                  <a:latin typeface="Arial" panose="020B0604020202020204" pitchFamily="34" charset="0"/>
                </a:rPr>
                <a:t>( corrupt(rcvpkt) ||</a:t>
              </a:r>
            </a:p>
            <a:p>
              <a:pPr defTabSz="685800">
                <a:defRPr/>
              </a:pPr>
              <a:r>
                <a:rPr lang="en-US" altLang="en-US" sz="1050" dirty="0">
                  <a:solidFill>
                    <a:srgbClr val="000000"/>
                  </a:solidFill>
                  <a:latin typeface="Arial" panose="020B0604020202020204" pitchFamily="34" charset="0"/>
                </a:rPr>
                <a:t>isACK(rcvpkt,1) )</a:t>
              </a:r>
              <a:endParaRPr lang="en-US" altLang="en-US" sz="1050" dirty="0">
                <a:solidFill>
                  <a:srgbClr val="000000"/>
                </a:solidFill>
                <a:latin typeface="Times New Roman" panose="02020603050405020304" pitchFamily="18" charset="0"/>
              </a:endParaRPr>
            </a:p>
          </p:txBody>
        </p:sp>
        <p:sp>
          <p:nvSpPr>
            <p:cNvPr id="71" name="Line 13">
              <a:extLst>
                <a:ext uri="{FF2B5EF4-FFF2-40B4-BE49-F238E27FC236}">
                  <a16:creationId xmlns:a16="http://schemas.microsoft.com/office/drawing/2014/main" id="{C888F6AB-BF4C-964C-B636-FA26DBB5842A}"/>
                </a:ext>
              </a:extLst>
            </p:cNvPr>
            <p:cNvSpPr>
              <a:spLocks noChangeShapeType="1"/>
            </p:cNvSpPr>
            <p:nvPr/>
          </p:nvSpPr>
          <p:spPr bwMode="auto">
            <a:xfrm>
              <a:off x="8429961" y="1991984"/>
              <a:ext cx="13509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11" name="Text Box 53">
              <a:extLst>
                <a:ext uri="{FF2B5EF4-FFF2-40B4-BE49-F238E27FC236}">
                  <a16:creationId xmlns:a16="http://schemas.microsoft.com/office/drawing/2014/main" id="{8CBF020D-F9F7-8547-9CDC-153180321D72}"/>
                </a:ext>
              </a:extLst>
            </p:cNvPr>
            <p:cNvSpPr txBox="1">
              <a:spLocks noChangeArrowheads="1"/>
            </p:cNvSpPr>
            <p:nvPr/>
          </p:nvSpPr>
          <p:spPr bwMode="auto">
            <a:xfrm>
              <a:off x="8834805" y="1941184"/>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00"/>
                  </a:solidFill>
                  <a:latin typeface="Symbol" charset="0"/>
                </a:rPr>
                <a:t>L</a:t>
              </a:r>
            </a:p>
          </p:txBody>
        </p:sp>
      </p:grpSp>
      <p:grpSp>
        <p:nvGrpSpPr>
          <p:cNvPr id="120" name="Group 119">
            <a:extLst>
              <a:ext uri="{FF2B5EF4-FFF2-40B4-BE49-F238E27FC236}">
                <a16:creationId xmlns:a16="http://schemas.microsoft.com/office/drawing/2014/main" id="{EF73E473-D8D9-5A4C-A7EE-F4558FFF6B0D}"/>
              </a:ext>
            </a:extLst>
          </p:cNvPr>
          <p:cNvGrpSpPr/>
          <p:nvPr/>
        </p:nvGrpSpPr>
        <p:grpSpPr>
          <a:xfrm>
            <a:off x="2081465" y="2264323"/>
            <a:ext cx="1162050" cy="667940"/>
            <a:chOff x="2775286" y="1876097"/>
            <a:chExt cx="1549400" cy="890587"/>
          </a:xfrm>
        </p:grpSpPr>
        <p:sp>
          <p:nvSpPr>
            <p:cNvPr id="99" name="Text Box 41">
              <a:extLst>
                <a:ext uri="{FF2B5EF4-FFF2-40B4-BE49-F238E27FC236}">
                  <a16:creationId xmlns:a16="http://schemas.microsoft.com/office/drawing/2014/main" id="{7500D6B3-E554-BE43-BA3B-2B5D8EDAE62F}"/>
                </a:ext>
              </a:extLst>
            </p:cNvPr>
            <p:cNvSpPr txBox="1">
              <a:spLocks noChangeArrowheads="1"/>
            </p:cNvSpPr>
            <p:nvPr/>
          </p:nvSpPr>
          <p:spPr bwMode="auto">
            <a:xfrm>
              <a:off x="2775286" y="1968172"/>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a:t>
              </a:r>
              <a:endParaRPr lang="en-US" altLang="en-US" sz="1050" dirty="0">
                <a:solidFill>
                  <a:srgbClr val="000000"/>
                </a:solidFill>
                <a:latin typeface="Times New Roman" panose="02020603050405020304" pitchFamily="18" charset="0"/>
              </a:endParaRPr>
            </a:p>
          </p:txBody>
        </p:sp>
        <p:sp>
          <p:nvSpPr>
            <p:cNvPr id="103" name="Line 45">
              <a:extLst>
                <a:ext uri="{FF2B5EF4-FFF2-40B4-BE49-F238E27FC236}">
                  <a16:creationId xmlns:a16="http://schemas.microsoft.com/office/drawing/2014/main" id="{2B03FA9C-455E-7848-98B1-6FE6D8F59E21}"/>
                </a:ext>
              </a:extLst>
            </p:cNvPr>
            <p:cNvSpPr>
              <a:spLocks noChangeShapeType="1"/>
            </p:cNvSpPr>
            <p:nvPr/>
          </p:nvSpPr>
          <p:spPr bwMode="auto">
            <a:xfrm>
              <a:off x="2862598" y="2253922"/>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07" name="Freeform 49">
              <a:extLst>
                <a:ext uri="{FF2B5EF4-FFF2-40B4-BE49-F238E27FC236}">
                  <a16:creationId xmlns:a16="http://schemas.microsoft.com/office/drawing/2014/main" id="{7A343767-85F1-3648-8F20-92F8EB9C9CB2}"/>
                </a:ext>
              </a:extLst>
            </p:cNvPr>
            <p:cNvSpPr>
              <a:spLocks/>
            </p:cNvSpPr>
            <p:nvPr/>
          </p:nvSpPr>
          <p:spPr bwMode="auto">
            <a:xfrm flipH="1" flipV="1">
              <a:off x="3745248" y="1876097"/>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12" name="Text Box 54">
              <a:extLst>
                <a:ext uri="{FF2B5EF4-FFF2-40B4-BE49-F238E27FC236}">
                  <a16:creationId xmlns:a16="http://schemas.microsoft.com/office/drawing/2014/main" id="{1534562D-4479-5A4D-84B6-08652054FE1A}"/>
                </a:ext>
              </a:extLst>
            </p:cNvPr>
            <p:cNvSpPr txBox="1">
              <a:spLocks noChangeArrowheads="1"/>
            </p:cNvSpPr>
            <p:nvPr/>
          </p:nvSpPr>
          <p:spPr bwMode="auto">
            <a:xfrm>
              <a:off x="3183306" y="2217409"/>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00"/>
                  </a:solidFill>
                  <a:latin typeface="Symbol" charset="0"/>
                </a:rPr>
                <a:t>L</a:t>
              </a:r>
            </a:p>
          </p:txBody>
        </p:sp>
      </p:grpSp>
      <p:grpSp>
        <p:nvGrpSpPr>
          <p:cNvPr id="7" name="Group 6">
            <a:extLst>
              <a:ext uri="{FF2B5EF4-FFF2-40B4-BE49-F238E27FC236}">
                <a16:creationId xmlns:a16="http://schemas.microsoft.com/office/drawing/2014/main" id="{5B0F4E74-4AD1-1841-A169-2F112B1736DB}"/>
              </a:ext>
            </a:extLst>
          </p:cNvPr>
          <p:cNvGrpSpPr/>
          <p:nvPr/>
        </p:nvGrpSpPr>
        <p:grpSpPr>
          <a:xfrm>
            <a:off x="1775474" y="4087642"/>
            <a:ext cx="1479947" cy="544497"/>
            <a:chOff x="2367298" y="4307189"/>
            <a:chExt cx="1973263" cy="725996"/>
          </a:xfrm>
        </p:grpSpPr>
        <p:sp>
          <p:nvSpPr>
            <p:cNvPr id="129" name="Rectangle 128">
              <a:extLst>
                <a:ext uri="{FF2B5EF4-FFF2-40B4-BE49-F238E27FC236}">
                  <a16:creationId xmlns:a16="http://schemas.microsoft.com/office/drawing/2014/main" id="{7362BA78-E18A-7D4D-AF99-520876B19387}"/>
                </a:ext>
              </a:extLst>
            </p:cNvPr>
            <p:cNvSpPr/>
            <p:nvPr/>
          </p:nvSpPr>
          <p:spPr>
            <a:xfrm>
              <a:off x="2418382" y="4342649"/>
              <a:ext cx="769654" cy="223838"/>
            </a:xfrm>
            <a:prstGeom prst="rect">
              <a:avLst/>
            </a:prstGeom>
            <a:solidFill>
              <a:srgbClr val="FFB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6" name="Rectangle 125">
              <a:extLst>
                <a:ext uri="{FF2B5EF4-FFF2-40B4-BE49-F238E27FC236}">
                  <a16:creationId xmlns:a16="http://schemas.microsoft.com/office/drawing/2014/main" id="{9FED6727-6FB3-674C-AEA1-A6238E143030}"/>
                </a:ext>
              </a:extLst>
            </p:cNvPr>
            <p:cNvSpPr/>
            <p:nvPr/>
          </p:nvSpPr>
          <p:spPr>
            <a:xfrm>
              <a:off x="2418337" y="4809347"/>
              <a:ext cx="909161"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94" name="Freeform 36">
              <a:extLst>
                <a:ext uri="{FF2B5EF4-FFF2-40B4-BE49-F238E27FC236}">
                  <a16:creationId xmlns:a16="http://schemas.microsoft.com/office/drawing/2014/main" id="{10A63C01-2F70-9440-BFFE-695DC6555117}"/>
                </a:ext>
              </a:extLst>
            </p:cNvPr>
            <p:cNvSpPr>
              <a:spLocks/>
            </p:cNvSpPr>
            <p:nvPr/>
          </p:nvSpPr>
          <p:spPr bwMode="auto">
            <a:xfrm>
              <a:off x="3769061" y="4506584"/>
              <a:ext cx="571500" cy="420688"/>
            </a:xfrm>
            <a:custGeom>
              <a:avLst/>
              <a:gdLst>
                <a:gd name="T0" fmla="*/ 2147483647 w 900"/>
                <a:gd name="T1" fmla="*/ 2147483647 h 662"/>
                <a:gd name="T2" fmla="*/ 2147483647 w 900"/>
                <a:gd name="T3" fmla="*/ 2147483647 h 662"/>
                <a:gd name="T4" fmla="*/ 0 60000 65536"/>
                <a:gd name="T5" fmla="*/ 0 60000 65536"/>
              </a:gdLst>
              <a:ahLst/>
              <a:cxnLst>
                <a:cxn ang="T4">
                  <a:pos x="T0" y="T1"/>
                </a:cxn>
                <a:cxn ang="T5">
                  <a:pos x="T2" y="T3"/>
                </a:cxn>
              </a:cxnLst>
              <a:rect l="0" t="0" r="r" b="b"/>
              <a:pathLst>
                <a:path w="900" h="662">
                  <a:moveTo>
                    <a:pt x="900" y="360"/>
                  </a:moveTo>
                  <a:cubicBezTo>
                    <a:pt x="171" y="662"/>
                    <a:pt x="0" y="0"/>
                    <a:pt x="825" y="1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95" name="Text Box 37">
              <a:extLst>
                <a:ext uri="{FF2B5EF4-FFF2-40B4-BE49-F238E27FC236}">
                  <a16:creationId xmlns:a16="http://schemas.microsoft.com/office/drawing/2014/main" id="{E4751D98-46BF-E946-A08A-A6011C8F6C5E}"/>
                </a:ext>
              </a:extLst>
            </p:cNvPr>
            <p:cNvSpPr txBox="1">
              <a:spLocks noChangeArrowheads="1"/>
            </p:cNvSpPr>
            <p:nvPr/>
          </p:nvSpPr>
          <p:spPr bwMode="auto">
            <a:xfrm>
              <a:off x="2367298" y="4554209"/>
              <a:ext cx="18240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udt_send(sndpkt)</a:t>
              </a:r>
            </a:p>
            <a:p>
              <a:pPr defTabSz="685800">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96" name="Text Box 38">
              <a:extLst>
                <a:ext uri="{FF2B5EF4-FFF2-40B4-BE49-F238E27FC236}">
                  <a16:creationId xmlns:a16="http://schemas.microsoft.com/office/drawing/2014/main" id="{2672D5C9-CBC9-104B-A755-475CF44C9314}"/>
                </a:ext>
              </a:extLst>
            </p:cNvPr>
            <p:cNvSpPr txBox="1">
              <a:spLocks noChangeArrowheads="1"/>
            </p:cNvSpPr>
            <p:nvPr/>
          </p:nvSpPr>
          <p:spPr bwMode="auto">
            <a:xfrm>
              <a:off x="2381586" y="4307189"/>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timeout</a:t>
              </a:r>
              <a:endParaRPr lang="en-US" altLang="en-US" sz="1050" dirty="0">
                <a:solidFill>
                  <a:srgbClr val="000000"/>
                </a:solidFill>
                <a:latin typeface="Times New Roman" panose="02020603050405020304" pitchFamily="18" charset="0"/>
              </a:endParaRPr>
            </a:p>
          </p:txBody>
        </p:sp>
        <p:sp>
          <p:nvSpPr>
            <p:cNvPr id="97" name="Line 39">
              <a:extLst>
                <a:ext uri="{FF2B5EF4-FFF2-40B4-BE49-F238E27FC236}">
                  <a16:creationId xmlns:a16="http://schemas.microsoft.com/office/drawing/2014/main" id="{3544B3A0-4F92-734D-9797-12F4E1F2C5E9}"/>
                </a:ext>
              </a:extLst>
            </p:cNvPr>
            <p:cNvSpPr>
              <a:spLocks noChangeShapeType="1"/>
            </p:cNvSpPr>
            <p:nvPr/>
          </p:nvSpPr>
          <p:spPr bwMode="auto">
            <a:xfrm>
              <a:off x="2484773" y="45827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8" name="Group 7">
            <a:extLst>
              <a:ext uri="{FF2B5EF4-FFF2-40B4-BE49-F238E27FC236}">
                <a16:creationId xmlns:a16="http://schemas.microsoft.com/office/drawing/2014/main" id="{F3A5F505-AA20-9E41-BC6C-D76DEB8319CC}"/>
              </a:ext>
            </a:extLst>
          </p:cNvPr>
          <p:cNvGrpSpPr/>
          <p:nvPr/>
        </p:nvGrpSpPr>
        <p:grpSpPr>
          <a:xfrm>
            <a:off x="2271964" y="4453883"/>
            <a:ext cx="1223963" cy="1096149"/>
            <a:chOff x="3029286" y="4795509"/>
            <a:chExt cx="1631950" cy="1461532"/>
          </a:xfrm>
        </p:grpSpPr>
        <p:sp>
          <p:nvSpPr>
            <p:cNvPr id="83" name="Text Box 25">
              <a:extLst>
                <a:ext uri="{FF2B5EF4-FFF2-40B4-BE49-F238E27FC236}">
                  <a16:creationId xmlns:a16="http://schemas.microsoft.com/office/drawing/2014/main" id="{811DFA52-8CA5-7E4E-AC44-4428D977D5FE}"/>
                </a:ext>
              </a:extLst>
            </p:cNvPr>
            <p:cNvSpPr txBox="1">
              <a:spLocks noChangeArrowheads="1"/>
            </p:cNvSpPr>
            <p:nvPr/>
          </p:nvSpPr>
          <p:spPr bwMode="auto">
            <a:xfrm>
              <a:off x="3029286" y="5155872"/>
              <a:ext cx="16224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050" dirty="0">
                  <a:solidFill>
                    <a:srgbClr val="000000"/>
                  </a:solidFill>
                  <a:latin typeface="Arial" panose="020B0604020202020204" pitchFamily="34" charset="0"/>
                </a:rPr>
                <a:t>rdt_rcv(rcvpkt) &amp;&amp;  </a:t>
              </a:r>
            </a:p>
            <a:p>
              <a:pPr defTabSz="685800">
                <a:defRPr/>
              </a:pPr>
              <a:r>
                <a:rPr lang="en-US" altLang="en-US" sz="1050" dirty="0">
                  <a:solidFill>
                    <a:srgbClr val="000000"/>
                  </a:solidFill>
                  <a:latin typeface="Arial" panose="020B0604020202020204" pitchFamily="34" charset="0"/>
                </a:rPr>
                <a:t>( corrupt(rcvpkt) ||</a:t>
              </a:r>
            </a:p>
            <a:p>
              <a:pPr defTabSz="685800">
                <a:defRPr/>
              </a:pPr>
              <a:r>
                <a:rPr lang="en-US" altLang="en-US" sz="1050" dirty="0">
                  <a:solidFill>
                    <a:srgbClr val="000000"/>
                  </a:solidFill>
                  <a:latin typeface="Arial" panose="020B0604020202020204" pitchFamily="34" charset="0"/>
                </a:rPr>
                <a:t>isACK(rcvpkt,0) )</a:t>
              </a:r>
              <a:endParaRPr lang="en-US" altLang="en-US" sz="1050" dirty="0">
                <a:solidFill>
                  <a:srgbClr val="000000"/>
                </a:solidFill>
                <a:latin typeface="Times New Roman" panose="02020603050405020304" pitchFamily="18" charset="0"/>
              </a:endParaRPr>
            </a:p>
          </p:txBody>
        </p:sp>
        <p:sp>
          <p:nvSpPr>
            <p:cNvPr id="84" name="Line 26">
              <a:extLst>
                <a:ext uri="{FF2B5EF4-FFF2-40B4-BE49-F238E27FC236}">
                  <a16:creationId xmlns:a16="http://schemas.microsoft.com/office/drawing/2014/main" id="{1EF37371-5507-6442-83AF-60C8BD73EB5C}"/>
                </a:ext>
              </a:extLst>
            </p:cNvPr>
            <p:cNvSpPr>
              <a:spLocks noChangeShapeType="1"/>
            </p:cNvSpPr>
            <p:nvPr/>
          </p:nvSpPr>
          <p:spPr bwMode="auto">
            <a:xfrm>
              <a:off x="3132473" y="5881359"/>
              <a:ext cx="1254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93" name="Freeform 35">
              <a:extLst>
                <a:ext uri="{FF2B5EF4-FFF2-40B4-BE49-F238E27FC236}">
                  <a16:creationId xmlns:a16="http://schemas.microsoft.com/office/drawing/2014/main" id="{575C5970-3813-5745-B4AE-91D5DAA0F353}"/>
                </a:ext>
              </a:extLst>
            </p:cNvPr>
            <p:cNvSpPr>
              <a:spLocks/>
            </p:cNvSpPr>
            <p:nvPr/>
          </p:nvSpPr>
          <p:spPr bwMode="auto">
            <a:xfrm>
              <a:off x="3969086" y="4795509"/>
              <a:ext cx="692150" cy="631825"/>
            </a:xfrm>
            <a:custGeom>
              <a:avLst/>
              <a:gdLst>
                <a:gd name="T0" fmla="*/ 2147483647 w 436"/>
                <a:gd name="T1" fmla="*/ 2147483647 h 398"/>
                <a:gd name="T2" fmla="*/ 2147483647 w 436"/>
                <a:gd name="T3" fmla="*/ 0 h 398"/>
                <a:gd name="T4" fmla="*/ 0 60000 65536"/>
                <a:gd name="T5" fmla="*/ 0 60000 65536"/>
              </a:gdLst>
              <a:ahLst/>
              <a:cxnLst>
                <a:cxn ang="T4">
                  <a:pos x="T0" y="T1"/>
                </a:cxn>
                <a:cxn ang="T5">
                  <a:pos x="T2" y="T3"/>
                </a:cxn>
              </a:cxnLst>
              <a:rect l="0" t="0" r="r" b="b"/>
              <a:pathLst>
                <a:path w="436" h="398">
                  <a:moveTo>
                    <a:pt x="436" y="101"/>
                  </a:moveTo>
                  <a:cubicBezTo>
                    <a:pt x="367" y="398"/>
                    <a:pt x="0" y="31"/>
                    <a:pt x="300"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13" name="Text Box 55">
              <a:extLst>
                <a:ext uri="{FF2B5EF4-FFF2-40B4-BE49-F238E27FC236}">
                  <a16:creationId xmlns:a16="http://schemas.microsoft.com/office/drawing/2014/main" id="{25E61481-833B-6040-B00D-1012EEB0CE87}"/>
                </a:ext>
              </a:extLst>
            </p:cNvPr>
            <p:cNvSpPr txBox="1">
              <a:spLocks noChangeArrowheads="1"/>
            </p:cNvSpPr>
            <p:nvPr/>
          </p:nvSpPr>
          <p:spPr bwMode="auto">
            <a:xfrm>
              <a:off x="3586530" y="5887709"/>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00"/>
                  </a:solidFill>
                  <a:latin typeface="Symbol" charset="0"/>
                </a:rPr>
                <a:t>L</a:t>
              </a:r>
            </a:p>
          </p:txBody>
        </p:sp>
      </p:grpSp>
      <p:sp>
        <p:nvSpPr>
          <p:cNvPr id="130" name="Oval 129">
            <a:extLst>
              <a:ext uri="{FF2B5EF4-FFF2-40B4-BE49-F238E27FC236}">
                <a16:creationId xmlns:a16="http://schemas.microsoft.com/office/drawing/2014/main" id="{9AA3E79A-2611-F844-92F5-7AB7F51F61A6}"/>
              </a:ext>
            </a:extLst>
          </p:cNvPr>
          <p:cNvSpPr/>
          <p:nvPr/>
        </p:nvSpPr>
        <p:spPr>
          <a:xfrm>
            <a:off x="5314950" y="2495550"/>
            <a:ext cx="685800" cy="65088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1" name="Oval 130">
            <a:extLst>
              <a:ext uri="{FF2B5EF4-FFF2-40B4-BE49-F238E27FC236}">
                <a16:creationId xmlns:a16="http://schemas.microsoft.com/office/drawing/2014/main" id="{36E5B91E-BBFD-F34D-BA3F-9A04F2B92A2B}"/>
              </a:ext>
            </a:extLst>
          </p:cNvPr>
          <p:cNvSpPr/>
          <p:nvPr/>
        </p:nvSpPr>
        <p:spPr>
          <a:xfrm>
            <a:off x="5476875" y="3933825"/>
            <a:ext cx="702494" cy="63817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2" name="Oval 131">
            <a:extLst>
              <a:ext uri="{FF2B5EF4-FFF2-40B4-BE49-F238E27FC236}">
                <a16:creationId xmlns:a16="http://schemas.microsoft.com/office/drawing/2014/main" id="{CD4FE554-65E6-F444-AA3B-AD082AB372FD}"/>
              </a:ext>
            </a:extLst>
          </p:cNvPr>
          <p:cNvSpPr/>
          <p:nvPr/>
        </p:nvSpPr>
        <p:spPr>
          <a:xfrm>
            <a:off x="3267075" y="3910029"/>
            <a:ext cx="685800" cy="65722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3" name="Oval 132">
            <a:extLst>
              <a:ext uri="{FF2B5EF4-FFF2-40B4-BE49-F238E27FC236}">
                <a16:creationId xmlns:a16="http://schemas.microsoft.com/office/drawing/2014/main" id="{3A129D4A-C779-424D-B5D4-282E5C7184B2}"/>
              </a:ext>
            </a:extLst>
          </p:cNvPr>
          <p:cNvSpPr/>
          <p:nvPr/>
        </p:nvSpPr>
        <p:spPr>
          <a:xfrm>
            <a:off x="3190875" y="2519379"/>
            <a:ext cx="714375" cy="65334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19" name="Slide Number Placeholder 2">
            <a:extLst>
              <a:ext uri="{FF2B5EF4-FFF2-40B4-BE49-F238E27FC236}">
                <a16:creationId xmlns:a16="http://schemas.microsoft.com/office/drawing/2014/main" id="{7A5F6544-E291-2540-84CA-0893797A7FD8}"/>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50</a:t>
            </a:fld>
            <a:endParaRPr lang="en-US" dirty="0"/>
          </a:p>
        </p:txBody>
      </p:sp>
    </p:spTree>
    <p:extLst>
      <p:ext uri="{BB962C8B-B14F-4D97-AF65-F5344CB8AC3E}">
        <p14:creationId xmlns:p14="http://schemas.microsoft.com/office/powerpoint/2010/main" val="364184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dissolve">
                                      <p:cBhvr>
                                        <p:cTn id="7" dur="500"/>
                                        <p:tgtEl>
                                          <p:spTgt spid="13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16"/>
                                        </p:tgtEl>
                                        <p:attrNameLst>
                                          <p:attrName>style.visibility</p:attrName>
                                        </p:attrNameLst>
                                      </p:cBhvr>
                                      <p:to>
                                        <p:strVal val="visible"/>
                                      </p:to>
                                    </p:set>
                                    <p:animEffect transition="in" filter="dissolve">
                                      <p:cBhvr>
                                        <p:cTn id="16" dur="500"/>
                                        <p:tgtEl>
                                          <p:spTgt spid="1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xit" presetSubtype="0" fill="hold" grpId="1" nodeType="clickEffect">
                                  <p:stCondLst>
                                    <p:cond delay="0"/>
                                  </p:stCondLst>
                                  <p:childTnLst>
                                    <p:animEffect transition="out" filter="dissolve">
                                      <p:cBhvr>
                                        <p:cTn id="20" dur="500"/>
                                        <p:tgtEl>
                                          <p:spTgt spid="130"/>
                                        </p:tgtEl>
                                      </p:cBhvr>
                                    </p:animEffect>
                                    <p:set>
                                      <p:cBhvr>
                                        <p:cTn id="21" dur="1" fill="hold">
                                          <p:stCondLst>
                                            <p:cond delay="499"/>
                                          </p:stCondLst>
                                        </p:cTn>
                                        <p:tgtEl>
                                          <p:spTgt spid="130"/>
                                        </p:tgtEl>
                                        <p:attrNameLst>
                                          <p:attrName>style.visibility</p:attrName>
                                        </p:attrNameLst>
                                      </p:cBhvr>
                                      <p:to>
                                        <p:strVal val="hidden"/>
                                      </p:to>
                                    </p:se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131"/>
                                        </p:tgtEl>
                                        <p:attrNameLst>
                                          <p:attrName>style.visibility</p:attrName>
                                        </p:attrNameLst>
                                      </p:cBhvr>
                                      <p:to>
                                        <p:strVal val="visible"/>
                                      </p:to>
                                    </p:set>
                                    <p:animEffect transition="in" filter="dissolve">
                                      <p:cBhvr>
                                        <p:cTn id="25" dur="500"/>
                                        <p:tgtEl>
                                          <p:spTgt spid="131"/>
                                        </p:tgtEl>
                                      </p:cBhvr>
                                    </p:animEffect>
                                  </p:childTnLst>
                                </p:cTn>
                              </p:par>
                            </p:childTnLst>
                          </p:cTn>
                        </p:par>
                        <p:par>
                          <p:cTn id="26" fill="hold">
                            <p:stCondLst>
                              <p:cond delay="1000"/>
                            </p:stCondLst>
                            <p:childTnLst>
                              <p:par>
                                <p:cTn id="27" presetID="9" presetClass="entr" presetSubtype="0" fill="hold" nodeType="afterEffect">
                                  <p:stCondLst>
                                    <p:cond delay="0"/>
                                  </p:stCondLst>
                                  <p:childTnLst>
                                    <p:set>
                                      <p:cBhvr>
                                        <p:cTn id="28" dur="1" fill="hold">
                                          <p:stCondLst>
                                            <p:cond delay="0"/>
                                          </p:stCondLst>
                                        </p:cTn>
                                        <p:tgtEl>
                                          <p:spTgt spid="118"/>
                                        </p:tgtEl>
                                        <p:attrNameLst>
                                          <p:attrName>style.visibility</p:attrName>
                                        </p:attrNameLst>
                                      </p:cBhvr>
                                      <p:to>
                                        <p:strVal val="visible"/>
                                      </p:to>
                                    </p:set>
                                    <p:animEffect transition="in" filter="dissolve">
                                      <p:cBhvr>
                                        <p:cTn id="29" dur="500"/>
                                        <p:tgtEl>
                                          <p:spTgt spid="11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xit" presetSubtype="0" fill="hold" grpId="1" nodeType="clickEffect">
                                  <p:stCondLst>
                                    <p:cond delay="0"/>
                                  </p:stCondLst>
                                  <p:childTnLst>
                                    <p:animEffect transition="out" filter="dissolve">
                                      <p:cBhvr>
                                        <p:cTn id="33" dur="500"/>
                                        <p:tgtEl>
                                          <p:spTgt spid="131"/>
                                        </p:tgtEl>
                                      </p:cBhvr>
                                    </p:animEffect>
                                    <p:set>
                                      <p:cBhvr>
                                        <p:cTn id="34" dur="1" fill="hold">
                                          <p:stCondLst>
                                            <p:cond delay="499"/>
                                          </p:stCondLst>
                                        </p:cTn>
                                        <p:tgtEl>
                                          <p:spTgt spid="131"/>
                                        </p:tgtEl>
                                        <p:attrNameLst>
                                          <p:attrName>style.visibility</p:attrName>
                                        </p:attrNameLst>
                                      </p:cBhvr>
                                      <p:to>
                                        <p:strVal val="hidden"/>
                                      </p:to>
                                    </p:se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132"/>
                                        </p:tgtEl>
                                        <p:attrNameLst>
                                          <p:attrName>style.visibility</p:attrName>
                                        </p:attrNameLst>
                                      </p:cBhvr>
                                      <p:to>
                                        <p:strVal val="visible"/>
                                      </p:to>
                                    </p:set>
                                    <p:animEffect transition="in" filter="dissolve">
                                      <p:cBhvr>
                                        <p:cTn id="38" dur="500"/>
                                        <p:tgtEl>
                                          <p:spTgt spid="132"/>
                                        </p:tgtEl>
                                      </p:cBhvr>
                                    </p:animEffect>
                                  </p:childTnLst>
                                </p:cTn>
                              </p:par>
                              <p:par>
                                <p:cTn id="39" presetID="9"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dissolve">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dissolv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xit" presetSubtype="0" fill="hold" grpId="1" nodeType="clickEffect">
                                  <p:stCondLst>
                                    <p:cond delay="0"/>
                                  </p:stCondLst>
                                  <p:childTnLst>
                                    <p:animEffect transition="out" filter="dissolve">
                                      <p:cBhvr>
                                        <p:cTn id="50" dur="500"/>
                                        <p:tgtEl>
                                          <p:spTgt spid="132"/>
                                        </p:tgtEl>
                                      </p:cBhvr>
                                    </p:animEffect>
                                    <p:set>
                                      <p:cBhvr>
                                        <p:cTn id="51" dur="1" fill="hold">
                                          <p:stCondLst>
                                            <p:cond delay="499"/>
                                          </p:stCondLst>
                                        </p:cTn>
                                        <p:tgtEl>
                                          <p:spTgt spid="132"/>
                                        </p:tgtEl>
                                        <p:attrNameLst>
                                          <p:attrName>style.visibility</p:attrName>
                                        </p:attrNameLst>
                                      </p:cBhvr>
                                      <p:to>
                                        <p:strVal val="hidden"/>
                                      </p:to>
                                    </p:set>
                                  </p:childTnLst>
                                </p:cTn>
                              </p:par>
                              <p:par>
                                <p:cTn id="52" presetID="9" presetClass="entr" presetSubtype="0" fill="hold" grpId="0" nodeType="withEffect">
                                  <p:stCondLst>
                                    <p:cond delay="0"/>
                                  </p:stCondLst>
                                  <p:childTnLst>
                                    <p:set>
                                      <p:cBhvr>
                                        <p:cTn id="53" dur="1" fill="hold">
                                          <p:stCondLst>
                                            <p:cond delay="0"/>
                                          </p:stCondLst>
                                        </p:cTn>
                                        <p:tgtEl>
                                          <p:spTgt spid="133"/>
                                        </p:tgtEl>
                                        <p:attrNameLst>
                                          <p:attrName>style.visibility</p:attrName>
                                        </p:attrNameLst>
                                      </p:cBhvr>
                                      <p:to>
                                        <p:strVal val="visible"/>
                                      </p:to>
                                    </p:set>
                                    <p:animEffect transition="in" filter="dissolve">
                                      <p:cBhvr>
                                        <p:cTn id="54" dur="500"/>
                                        <p:tgtEl>
                                          <p:spTgt spid="133"/>
                                        </p:tgtEl>
                                      </p:cBhvr>
                                    </p:animEffect>
                                  </p:childTnLst>
                                </p:cTn>
                              </p:par>
                              <p:par>
                                <p:cTn id="55" presetID="9" presetClass="entr" presetSubtype="0" fill="hold" nodeType="withEffect">
                                  <p:stCondLst>
                                    <p:cond delay="0"/>
                                  </p:stCondLst>
                                  <p:childTnLst>
                                    <p:set>
                                      <p:cBhvr>
                                        <p:cTn id="56" dur="1" fill="hold">
                                          <p:stCondLst>
                                            <p:cond delay="0"/>
                                          </p:stCondLst>
                                        </p:cTn>
                                        <p:tgtEl>
                                          <p:spTgt spid="120"/>
                                        </p:tgtEl>
                                        <p:attrNameLst>
                                          <p:attrName>style.visibility</p:attrName>
                                        </p:attrNameLst>
                                      </p:cBhvr>
                                      <p:to>
                                        <p:strVal val="visible"/>
                                      </p:to>
                                    </p:set>
                                    <p:animEffect transition="in" filter="dissolve">
                                      <p:cBhvr>
                                        <p:cTn id="57"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130" grpId="1" animBg="1"/>
      <p:bldP spid="131" grpId="0" animBg="1"/>
      <p:bldP spid="131" grpId="1" animBg="1"/>
      <p:bldP spid="132" grpId="0" animBg="1"/>
      <p:bldP spid="132" grpId="1" animBg="1"/>
      <p:bldP spid="13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rdt3.0 in action</a:t>
            </a:r>
            <a:endParaRPr lang="en-US" dirty="0"/>
          </a:p>
        </p:txBody>
      </p:sp>
      <p:sp>
        <p:nvSpPr>
          <p:cNvPr id="197" name="Text Box 5">
            <a:extLst>
              <a:ext uri="{FF2B5EF4-FFF2-40B4-BE49-F238E27FC236}">
                <a16:creationId xmlns:a16="http://schemas.microsoft.com/office/drawing/2014/main" id="{4235D7CC-76F0-404E-861B-E1B3C4CC5A59}"/>
              </a:ext>
            </a:extLst>
          </p:cNvPr>
          <p:cNvSpPr txBox="1">
            <a:spLocks noChangeArrowheads="1"/>
          </p:cNvSpPr>
          <p:nvPr/>
        </p:nvSpPr>
        <p:spPr bwMode="auto">
          <a:xfrm>
            <a:off x="995928" y="1991616"/>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i="1" u="sng" kern="0" dirty="0">
                <a:solidFill>
                  <a:srgbClr val="000099"/>
                </a:solidFill>
              </a:rPr>
              <a:t>sender</a:t>
            </a:r>
          </a:p>
        </p:txBody>
      </p:sp>
      <p:sp>
        <p:nvSpPr>
          <p:cNvPr id="198" name="Text Box 6">
            <a:extLst>
              <a:ext uri="{FF2B5EF4-FFF2-40B4-BE49-F238E27FC236}">
                <a16:creationId xmlns:a16="http://schemas.microsoft.com/office/drawing/2014/main" id="{953F5FAC-08AE-194D-B2CE-9B6B600D3EDB}"/>
              </a:ext>
            </a:extLst>
          </p:cNvPr>
          <p:cNvSpPr txBox="1">
            <a:spLocks noChangeArrowheads="1"/>
          </p:cNvSpPr>
          <p:nvPr/>
        </p:nvSpPr>
        <p:spPr bwMode="auto">
          <a:xfrm>
            <a:off x="2827628" y="1988044"/>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i="1" u="sng" kern="0" dirty="0">
                <a:solidFill>
                  <a:srgbClr val="008000"/>
                </a:solidFill>
              </a:rPr>
              <a:t>receiver</a:t>
            </a:r>
          </a:p>
        </p:txBody>
      </p:sp>
      <p:sp>
        <p:nvSpPr>
          <p:cNvPr id="199" name="Text Box 8">
            <a:extLst>
              <a:ext uri="{FF2B5EF4-FFF2-40B4-BE49-F238E27FC236}">
                <a16:creationId xmlns:a16="http://schemas.microsoft.com/office/drawing/2014/main" id="{2DF62C54-7EE2-504E-9ED2-FD3BAEEBEE7D}"/>
              </a:ext>
            </a:extLst>
          </p:cNvPr>
          <p:cNvSpPr txBox="1">
            <a:spLocks noChangeArrowheads="1"/>
          </p:cNvSpPr>
          <p:nvPr/>
        </p:nvSpPr>
        <p:spPr bwMode="auto">
          <a:xfrm>
            <a:off x="2828068" y="3206053"/>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pkt1</a:t>
            </a:r>
          </a:p>
        </p:txBody>
      </p:sp>
      <p:sp>
        <p:nvSpPr>
          <p:cNvPr id="200" name="Text Box 10">
            <a:extLst>
              <a:ext uri="{FF2B5EF4-FFF2-40B4-BE49-F238E27FC236}">
                <a16:creationId xmlns:a16="http://schemas.microsoft.com/office/drawing/2014/main" id="{F5B1E309-F4E4-3E42-B8AD-EA1C2D480B04}"/>
              </a:ext>
            </a:extLst>
          </p:cNvPr>
          <p:cNvSpPr txBox="1">
            <a:spLocks noChangeArrowheads="1"/>
          </p:cNvSpPr>
          <p:nvPr/>
        </p:nvSpPr>
        <p:spPr bwMode="auto">
          <a:xfrm>
            <a:off x="2832831" y="3847800"/>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pkt0</a:t>
            </a:r>
          </a:p>
        </p:txBody>
      </p:sp>
      <p:sp>
        <p:nvSpPr>
          <p:cNvPr id="201" name="Text Box 11">
            <a:extLst>
              <a:ext uri="{FF2B5EF4-FFF2-40B4-BE49-F238E27FC236}">
                <a16:creationId xmlns:a16="http://schemas.microsoft.com/office/drawing/2014/main" id="{74D64A46-9479-E449-9C31-02C5EA831827}"/>
              </a:ext>
            </a:extLst>
          </p:cNvPr>
          <p:cNvSpPr txBox="1">
            <a:spLocks noChangeArrowheads="1"/>
          </p:cNvSpPr>
          <p:nvPr/>
        </p:nvSpPr>
        <p:spPr bwMode="auto">
          <a:xfrm>
            <a:off x="2829728" y="2691703"/>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ack0</a:t>
            </a:r>
          </a:p>
        </p:txBody>
      </p:sp>
      <p:sp>
        <p:nvSpPr>
          <p:cNvPr id="202" name="Text Box 12">
            <a:extLst>
              <a:ext uri="{FF2B5EF4-FFF2-40B4-BE49-F238E27FC236}">
                <a16:creationId xmlns:a16="http://schemas.microsoft.com/office/drawing/2014/main" id="{FBDCC4E2-EF23-6A40-BE13-E84BE9B5BE20}"/>
              </a:ext>
            </a:extLst>
          </p:cNvPr>
          <p:cNvSpPr txBox="1">
            <a:spLocks noChangeArrowheads="1"/>
          </p:cNvSpPr>
          <p:nvPr/>
        </p:nvSpPr>
        <p:spPr bwMode="auto">
          <a:xfrm>
            <a:off x="2827347" y="3375121"/>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ack1</a:t>
            </a:r>
          </a:p>
        </p:txBody>
      </p:sp>
      <p:sp>
        <p:nvSpPr>
          <p:cNvPr id="203" name="Text Box 13">
            <a:extLst>
              <a:ext uri="{FF2B5EF4-FFF2-40B4-BE49-F238E27FC236}">
                <a16:creationId xmlns:a16="http://schemas.microsoft.com/office/drawing/2014/main" id="{CF703E46-2D8D-D04C-903D-4C60258391B2}"/>
              </a:ext>
            </a:extLst>
          </p:cNvPr>
          <p:cNvSpPr txBox="1">
            <a:spLocks noChangeArrowheads="1"/>
          </p:cNvSpPr>
          <p:nvPr/>
        </p:nvSpPr>
        <p:spPr bwMode="auto">
          <a:xfrm>
            <a:off x="2827347" y="3994246"/>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ack0</a:t>
            </a:r>
          </a:p>
        </p:txBody>
      </p:sp>
      <p:sp>
        <p:nvSpPr>
          <p:cNvPr id="204" name="Text Box 14">
            <a:extLst>
              <a:ext uri="{FF2B5EF4-FFF2-40B4-BE49-F238E27FC236}">
                <a16:creationId xmlns:a16="http://schemas.microsoft.com/office/drawing/2014/main" id="{07E7A3F6-47D9-9847-BA58-BF9687C85206}"/>
              </a:ext>
            </a:extLst>
          </p:cNvPr>
          <p:cNvSpPr txBox="1">
            <a:spLocks noChangeArrowheads="1"/>
          </p:cNvSpPr>
          <p:nvPr/>
        </p:nvSpPr>
        <p:spPr bwMode="auto">
          <a:xfrm>
            <a:off x="941636" y="2878631"/>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ack0</a:t>
            </a:r>
          </a:p>
        </p:txBody>
      </p:sp>
      <p:sp>
        <p:nvSpPr>
          <p:cNvPr id="205" name="Text Box 15">
            <a:extLst>
              <a:ext uri="{FF2B5EF4-FFF2-40B4-BE49-F238E27FC236}">
                <a16:creationId xmlns:a16="http://schemas.microsoft.com/office/drawing/2014/main" id="{7C6243EA-A0F0-0449-95A0-3D47329274F1}"/>
              </a:ext>
            </a:extLst>
          </p:cNvPr>
          <p:cNvSpPr txBox="1">
            <a:spLocks noChangeArrowheads="1"/>
          </p:cNvSpPr>
          <p:nvPr/>
        </p:nvSpPr>
        <p:spPr bwMode="auto">
          <a:xfrm>
            <a:off x="825198" y="3698971"/>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pkt0</a:t>
            </a:r>
          </a:p>
        </p:txBody>
      </p:sp>
      <p:sp>
        <p:nvSpPr>
          <p:cNvPr id="206" name="Text Box 17">
            <a:extLst>
              <a:ext uri="{FF2B5EF4-FFF2-40B4-BE49-F238E27FC236}">
                <a16:creationId xmlns:a16="http://schemas.microsoft.com/office/drawing/2014/main" id="{C58AD36B-83D7-F945-860A-84F900A595DB}"/>
              </a:ext>
            </a:extLst>
          </p:cNvPr>
          <p:cNvSpPr txBox="1">
            <a:spLocks noChangeArrowheads="1"/>
          </p:cNvSpPr>
          <p:nvPr/>
        </p:nvSpPr>
        <p:spPr bwMode="auto">
          <a:xfrm>
            <a:off x="825198" y="3042937"/>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pkt1</a:t>
            </a:r>
          </a:p>
        </p:txBody>
      </p:sp>
      <p:sp>
        <p:nvSpPr>
          <p:cNvPr id="207" name="Text Box 18">
            <a:extLst>
              <a:ext uri="{FF2B5EF4-FFF2-40B4-BE49-F238E27FC236}">
                <a16:creationId xmlns:a16="http://schemas.microsoft.com/office/drawing/2014/main" id="{095222A4-B6FD-9943-8053-5736B6B34CF7}"/>
              </a:ext>
            </a:extLst>
          </p:cNvPr>
          <p:cNvSpPr txBox="1">
            <a:spLocks noChangeArrowheads="1"/>
          </p:cNvSpPr>
          <p:nvPr/>
        </p:nvSpPr>
        <p:spPr bwMode="auto">
          <a:xfrm>
            <a:off x="933301" y="3519187"/>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ack1</a:t>
            </a:r>
          </a:p>
        </p:txBody>
      </p:sp>
      <p:sp>
        <p:nvSpPr>
          <p:cNvPr id="208" name="Text Box 7">
            <a:extLst>
              <a:ext uri="{FF2B5EF4-FFF2-40B4-BE49-F238E27FC236}">
                <a16:creationId xmlns:a16="http://schemas.microsoft.com/office/drawing/2014/main" id="{6AF201BE-3F74-FC4D-95DC-C10707E5BA59}"/>
              </a:ext>
            </a:extLst>
          </p:cNvPr>
          <p:cNvSpPr txBox="1">
            <a:spLocks noChangeArrowheads="1"/>
          </p:cNvSpPr>
          <p:nvPr/>
        </p:nvSpPr>
        <p:spPr bwMode="auto">
          <a:xfrm>
            <a:off x="816863" y="2321419"/>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pkt0</a:t>
            </a:r>
          </a:p>
        </p:txBody>
      </p:sp>
      <p:sp>
        <p:nvSpPr>
          <p:cNvPr id="209" name="Text Box 9">
            <a:extLst>
              <a:ext uri="{FF2B5EF4-FFF2-40B4-BE49-F238E27FC236}">
                <a16:creationId xmlns:a16="http://schemas.microsoft.com/office/drawing/2014/main" id="{853C3A29-6F14-6A4A-ADF9-EDBEBC72749B}"/>
              </a:ext>
            </a:extLst>
          </p:cNvPr>
          <p:cNvSpPr txBox="1">
            <a:spLocks noChangeArrowheads="1"/>
          </p:cNvSpPr>
          <p:nvPr/>
        </p:nvSpPr>
        <p:spPr bwMode="auto">
          <a:xfrm>
            <a:off x="2824496" y="2533350"/>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pkt0</a:t>
            </a:r>
          </a:p>
        </p:txBody>
      </p:sp>
      <p:grpSp>
        <p:nvGrpSpPr>
          <p:cNvPr id="210" name="Group 37">
            <a:extLst>
              <a:ext uri="{FF2B5EF4-FFF2-40B4-BE49-F238E27FC236}">
                <a16:creationId xmlns:a16="http://schemas.microsoft.com/office/drawing/2014/main" id="{09358D04-CB4E-924F-B392-361B873A9C36}"/>
              </a:ext>
            </a:extLst>
          </p:cNvPr>
          <p:cNvGrpSpPr>
            <a:grpSpLocks/>
          </p:cNvGrpSpPr>
          <p:nvPr/>
        </p:nvGrpSpPr>
        <p:grpSpPr bwMode="auto">
          <a:xfrm>
            <a:off x="1755786" y="2373806"/>
            <a:ext cx="1103710" cy="384572"/>
            <a:chOff x="850" y="1159"/>
            <a:chExt cx="927" cy="323"/>
          </a:xfrm>
        </p:grpSpPr>
        <p:sp>
          <p:nvSpPr>
            <p:cNvPr id="211" name="Line 19">
              <a:extLst>
                <a:ext uri="{FF2B5EF4-FFF2-40B4-BE49-F238E27FC236}">
                  <a16:creationId xmlns:a16="http://schemas.microsoft.com/office/drawing/2014/main" id="{E1536B10-88F6-7D46-8019-7977772178F2}"/>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12" name="Text Box 28">
              <a:extLst>
                <a:ext uri="{FF2B5EF4-FFF2-40B4-BE49-F238E27FC236}">
                  <a16:creationId xmlns:a16="http://schemas.microsoft.com/office/drawing/2014/main" id="{A675AD5E-AFEE-4949-B39C-59B23A44989E}"/>
                </a:ext>
              </a:extLst>
            </p:cNvPr>
            <p:cNvSpPr txBox="1">
              <a:spLocks noChangeArrowheads="1"/>
            </p:cNvSpPr>
            <p:nvPr/>
          </p:nvSpPr>
          <p:spPr bwMode="auto">
            <a:xfrm>
              <a:off x="1079" y="1159"/>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pkt0</a:t>
              </a:r>
            </a:p>
          </p:txBody>
        </p:sp>
      </p:grpSp>
      <p:grpSp>
        <p:nvGrpSpPr>
          <p:cNvPr id="213" name="Group 43">
            <a:extLst>
              <a:ext uri="{FF2B5EF4-FFF2-40B4-BE49-F238E27FC236}">
                <a16:creationId xmlns:a16="http://schemas.microsoft.com/office/drawing/2014/main" id="{166F1C07-BDF7-5D4C-9BC8-70CDD30FC5D1}"/>
              </a:ext>
            </a:extLst>
          </p:cNvPr>
          <p:cNvGrpSpPr>
            <a:grpSpLocks/>
          </p:cNvGrpSpPr>
          <p:nvPr/>
        </p:nvGrpSpPr>
        <p:grpSpPr bwMode="auto">
          <a:xfrm>
            <a:off x="1751024" y="3676350"/>
            <a:ext cx="1103710" cy="365522"/>
            <a:chOff x="846" y="2253"/>
            <a:chExt cx="927" cy="307"/>
          </a:xfrm>
        </p:grpSpPr>
        <p:sp>
          <p:nvSpPr>
            <p:cNvPr id="214" name="Line 24">
              <a:extLst>
                <a:ext uri="{FF2B5EF4-FFF2-40B4-BE49-F238E27FC236}">
                  <a16:creationId xmlns:a16="http://schemas.microsoft.com/office/drawing/2014/main" id="{65D4B99D-08A4-684C-BFAA-D46F7BDFF3D7}"/>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15" name="Text Box 29">
              <a:extLst>
                <a:ext uri="{FF2B5EF4-FFF2-40B4-BE49-F238E27FC236}">
                  <a16:creationId xmlns:a16="http://schemas.microsoft.com/office/drawing/2014/main" id="{E39C763F-76C0-A342-980A-D2DA1340B692}"/>
                </a:ext>
              </a:extLst>
            </p:cNvPr>
            <p:cNvSpPr txBox="1">
              <a:spLocks noChangeArrowheads="1"/>
            </p:cNvSpPr>
            <p:nvPr/>
          </p:nvSpPr>
          <p:spPr bwMode="auto">
            <a:xfrm>
              <a:off x="1076" y="2253"/>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pkt0</a:t>
              </a:r>
            </a:p>
          </p:txBody>
        </p:sp>
      </p:grpSp>
      <p:grpSp>
        <p:nvGrpSpPr>
          <p:cNvPr id="216" name="Group 39">
            <a:extLst>
              <a:ext uri="{FF2B5EF4-FFF2-40B4-BE49-F238E27FC236}">
                <a16:creationId xmlns:a16="http://schemas.microsoft.com/office/drawing/2014/main" id="{E7B3DCA6-7A30-6E4A-B749-D291EA9179F9}"/>
              </a:ext>
            </a:extLst>
          </p:cNvPr>
          <p:cNvGrpSpPr>
            <a:grpSpLocks/>
          </p:cNvGrpSpPr>
          <p:nvPr/>
        </p:nvGrpSpPr>
        <p:grpSpPr bwMode="auto">
          <a:xfrm>
            <a:off x="1761740" y="3029841"/>
            <a:ext cx="1103709" cy="378619"/>
            <a:chOff x="855" y="1710"/>
            <a:chExt cx="927" cy="318"/>
          </a:xfrm>
        </p:grpSpPr>
        <p:sp>
          <p:nvSpPr>
            <p:cNvPr id="217" name="Line 23">
              <a:extLst>
                <a:ext uri="{FF2B5EF4-FFF2-40B4-BE49-F238E27FC236}">
                  <a16:creationId xmlns:a16="http://schemas.microsoft.com/office/drawing/2014/main" id="{F48A2643-A8C6-1A4D-95B1-E19CDFD69368}"/>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18" name="Text Box 30">
              <a:extLst>
                <a:ext uri="{FF2B5EF4-FFF2-40B4-BE49-F238E27FC236}">
                  <a16:creationId xmlns:a16="http://schemas.microsoft.com/office/drawing/2014/main" id="{7B926EE6-52D5-3840-851B-CF35806F06C4}"/>
                </a:ext>
              </a:extLst>
            </p:cNvPr>
            <p:cNvSpPr txBox="1">
              <a:spLocks noChangeArrowheads="1"/>
            </p:cNvSpPr>
            <p:nvPr/>
          </p:nvSpPr>
          <p:spPr bwMode="auto">
            <a:xfrm>
              <a:off x="1073" y="1710"/>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pkt1</a:t>
              </a:r>
            </a:p>
          </p:txBody>
        </p:sp>
      </p:grpSp>
      <p:grpSp>
        <p:nvGrpSpPr>
          <p:cNvPr id="219" name="Group 40">
            <a:extLst>
              <a:ext uri="{FF2B5EF4-FFF2-40B4-BE49-F238E27FC236}">
                <a16:creationId xmlns:a16="http://schemas.microsoft.com/office/drawing/2014/main" id="{A3009243-363B-554D-BAFE-7119F17A8E3E}"/>
              </a:ext>
            </a:extLst>
          </p:cNvPr>
          <p:cNvGrpSpPr>
            <a:grpSpLocks/>
          </p:cNvGrpSpPr>
          <p:nvPr/>
        </p:nvGrpSpPr>
        <p:grpSpPr bwMode="auto">
          <a:xfrm>
            <a:off x="1751024" y="3378694"/>
            <a:ext cx="1103710" cy="353615"/>
            <a:chOff x="846" y="2003"/>
            <a:chExt cx="927" cy="297"/>
          </a:xfrm>
        </p:grpSpPr>
        <p:sp>
          <p:nvSpPr>
            <p:cNvPr id="220" name="Line 26">
              <a:extLst>
                <a:ext uri="{FF2B5EF4-FFF2-40B4-BE49-F238E27FC236}">
                  <a16:creationId xmlns:a16="http://schemas.microsoft.com/office/drawing/2014/main" id="{D3AA85D2-AF11-984A-9EAB-8E45BC868FA2}"/>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21" name="Text Box 31">
              <a:extLst>
                <a:ext uri="{FF2B5EF4-FFF2-40B4-BE49-F238E27FC236}">
                  <a16:creationId xmlns:a16="http://schemas.microsoft.com/office/drawing/2014/main" id="{7037D874-E673-BB42-9499-C5B48BC3341A}"/>
                </a:ext>
              </a:extLst>
            </p:cNvPr>
            <p:cNvSpPr txBox="1">
              <a:spLocks noChangeArrowheads="1"/>
            </p:cNvSpPr>
            <p:nvPr/>
          </p:nvSpPr>
          <p:spPr bwMode="auto">
            <a:xfrm>
              <a:off x="1071" y="2003"/>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8000"/>
                  </a:solidFill>
                  <a:latin typeface="Arial" charset="0"/>
                </a:rPr>
                <a:t>ack1</a:t>
              </a:r>
            </a:p>
          </p:txBody>
        </p:sp>
      </p:grpSp>
      <p:grpSp>
        <p:nvGrpSpPr>
          <p:cNvPr id="222" name="Group 38">
            <a:extLst>
              <a:ext uri="{FF2B5EF4-FFF2-40B4-BE49-F238E27FC236}">
                <a16:creationId xmlns:a16="http://schemas.microsoft.com/office/drawing/2014/main" id="{132C8471-3B30-C44D-B74D-246FC786F37F}"/>
              </a:ext>
            </a:extLst>
          </p:cNvPr>
          <p:cNvGrpSpPr>
            <a:grpSpLocks/>
          </p:cNvGrpSpPr>
          <p:nvPr/>
        </p:nvGrpSpPr>
        <p:grpSpPr bwMode="auto">
          <a:xfrm>
            <a:off x="1745071" y="2748852"/>
            <a:ext cx="1103709" cy="461963"/>
            <a:chOff x="841" y="1474"/>
            <a:chExt cx="927" cy="388"/>
          </a:xfrm>
        </p:grpSpPr>
        <p:sp>
          <p:nvSpPr>
            <p:cNvPr id="223" name="Line 25">
              <a:extLst>
                <a:ext uri="{FF2B5EF4-FFF2-40B4-BE49-F238E27FC236}">
                  <a16:creationId xmlns:a16="http://schemas.microsoft.com/office/drawing/2014/main" id="{6959994A-0B95-094C-9702-6ACA4337EA2D}"/>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24" name="Text Box 32">
              <a:extLst>
                <a:ext uri="{FF2B5EF4-FFF2-40B4-BE49-F238E27FC236}">
                  <a16:creationId xmlns:a16="http://schemas.microsoft.com/office/drawing/2014/main" id="{DCF9302E-EEF0-B04C-A3CA-B6C1A0083288}"/>
                </a:ext>
              </a:extLst>
            </p:cNvPr>
            <p:cNvSpPr txBox="1">
              <a:spLocks noChangeArrowheads="1"/>
            </p:cNvSpPr>
            <p:nvPr/>
          </p:nvSpPr>
          <p:spPr bwMode="auto">
            <a:xfrm>
              <a:off x="1089" y="1474"/>
              <a:ext cx="386" cy="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8000"/>
                  </a:solidFill>
                  <a:latin typeface="Arial" charset="0"/>
                </a:rPr>
                <a:t>ack0</a:t>
              </a:r>
            </a:p>
          </p:txBody>
        </p:sp>
      </p:grpSp>
      <p:grpSp>
        <p:nvGrpSpPr>
          <p:cNvPr id="225" name="Group 44">
            <a:extLst>
              <a:ext uri="{FF2B5EF4-FFF2-40B4-BE49-F238E27FC236}">
                <a16:creationId xmlns:a16="http://schemas.microsoft.com/office/drawing/2014/main" id="{6DBBBBE3-388C-C24B-A7D7-89C703BC089D}"/>
              </a:ext>
            </a:extLst>
          </p:cNvPr>
          <p:cNvGrpSpPr>
            <a:grpSpLocks/>
          </p:cNvGrpSpPr>
          <p:nvPr/>
        </p:nvGrpSpPr>
        <p:grpSpPr bwMode="auto">
          <a:xfrm>
            <a:off x="1740308" y="4018060"/>
            <a:ext cx="1103709" cy="346472"/>
            <a:chOff x="837" y="2540"/>
            <a:chExt cx="927" cy="291"/>
          </a:xfrm>
        </p:grpSpPr>
        <p:sp>
          <p:nvSpPr>
            <p:cNvPr id="226" name="Line 27">
              <a:extLst>
                <a:ext uri="{FF2B5EF4-FFF2-40B4-BE49-F238E27FC236}">
                  <a16:creationId xmlns:a16="http://schemas.microsoft.com/office/drawing/2014/main" id="{7E664FD8-996B-124A-B106-386F80EF50EE}"/>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27" name="Text Box 33">
              <a:extLst>
                <a:ext uri="{FF2B5EF4-FFF2-40B4-BE49-F238E27FC236}">
                  <a16:creationId xmlns:a16="http://schemas.microsoft.com/office/drawing/2014/main" id="{E9D2F746-6389-2444-A5E1-6FB42FF57ED6}"/>
                </a:ext>
              </a:extLst>
            </p:cNvPr>
            <p:cNvSpPr txBox="1">
              <a:spLocks noChangeArrowheads="1"/>
            </p:cNvSpPr>
            <p:nvPr/>
          </p:nvSpPr>
          <p:spPr bwMode="auto">
            <a:xfrm>
              <a:off x="1065" y="2540"/>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8000"/>
                  </a:solidFill>
                  <a:latin typeface="Arial" charset="0"/>
                </a:rPr>
                <a:t>ack0</a:t>
              </a:r>
            </a:p>
          </p:txBody>
        </p:sp>
      </p:grpSp>
      <p:sp>
        <p:nvSpPr>
          <p:cNvPr id="228" name="Text Box 45">
            <a:extLst>
              <a:ext uri="{FF2B5EF4-FFF2-40B4-BE49-F238E27FC236}">
                <a16:creationId xmlns:a16="http://schemas.microsoft.com/office/drawing/2014/main" id="{0A93A727-0C76-DB44-9B3D-D9D92A7DB9C6}"/>
              </a:ext>
            </a:extLst>
          </p:cNvPr>
          <p:cNvSpPr txBox="1">
            <a:spLocks noChangeArrowheads="1"/>
          </p:cNvSpPr>
          <p:nvPr/>
        </p:nvSpPr>
        <p:spPr bwMode="auto">
          <a:xfrm>
            <a:off x="1943099" y="4827684"/>
            <a:ext cx="99578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(a) no loss</a:t>
            </a:r>
          </a:p>
        </p:txBody>
      </p:sp>
      <p:sp>
        <p:nvSpPr>
          <p:cNvPr id="229" name="Text Box 46">
            <a:extLst>
              <a:ext uri="{FF2B5EF4-FFF2-40B4-BE49-F238E27FC236}">
                <a16:creationId xmlns:a16="http://schemas.microsoft.com/office/drawing/2014/main" id="{B77F9079-0CCA-744D-9DFE-229523FF9EEF}"/>
              </a:ext>
            </a:extLst>
          </p:cNvPr>
          <p:cNvSpPr txBox="1">
            <a:spLocks noChangeArrowheads="1"/>
          </p:cNvSpPr>
          <p:nvPr/>
        </p:nvSpPr>
        <p:spPr bwMode="auto">
          <a:xfrm>
            <a:off x="5283537" y="1953516"/>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i="1" u="sng" kern="0" dirty="0">
                <a:solidFill>
                  <a:srgbClr val="000099"/>
                </a:solidFill>
              </a:rPr>
              <a:t>sender</a:t>
            </a:r>
          </a:p>
        </p:txBody>
      </p:sp>
      <p:sp>
        <p:nvSpPr>
          <p:cNvPr id="230" name="Text Box 47">
            <a:extLst>
              <a:ext uri="{FF2B5EF4-FFF2-40B4-BE49-F238E27FC236}">
                <a16:creationId xmlns:a16="http://schemas.microsoft.com/office/drawing/2014/main" id="{B39810E0-29DE-BE4C-BF65-C4554F0C2A10}"/>
              </a:ext>
            </a:extLst>
          </p:cNvPr>
          <p:cNvSpPr txBox="1">
            <a:spLocks noChangeArrowheads="1"/>
          </p:cNvSpPr>
          <p:nvPr/>
        </p:nvSpPr>
        <p:spPr bwMode="auto">
          <a:xfrm>
            <a:off x="7115236" y="1949944"/>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i="1" u="sng" kern="0" dirty="0">
                <a:solidFill>
                  <a:srgbClr val="008000"/>
                </a:solidFill>
              </a:rPr>
              <a:t>receiver</a:t>
            </a:r>
          </a:p>
        </p:txBody>
      </p:sp>
      <p:sp>
        <p:nvSpPr>
          <p:cNvPr id="231" name="Text Box 48">
            <a:extLst>
              <a:ext uri="{FF2B5EF4-FFF2-40B4-BE49-F238E27FC236}">
                <a16:creationId xmlns:a16="http://schemas.microsoft.com/office/drawing/2014/main" id="{C93070BC-AD37-CE48-8113-A425136649B5}"/>
              </a:ext>
            </a:extLst>
          </p:cNvPr>
          <p:cNvSpPr txBox="1">
            <a:spLocks noChangeArrowheads="1"/>
          </p:cNvSpPr>
          <p:nvPr/>
        </p:nvSpPr>
        <p:spPr bwMode="auto">
          <a:xfrm>
            <a:off x="7114485" y="4137121"/>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pkt1</a:t>
            </a:r>
          </a:p>
        </p:txBody>
      </p:sp>
      <p:sp>
        <p:nvSpPr>
          <p:cNvPr id="232" name="Text Box 49">
            <a:extLst>
              <a:ext uri="{FF2B5EF4-FFF2-40B4-BE49-F238E27FC236}">
                <a16:creationId xmlns:a16="http://schemas.microsoft.com/office/drawing/2014/main" id="{BAC5BE6B-684D-294E-91C5-DD7058B132AB}"/>
              </a:ext>
            </a:extLst>
          </p:cNvPr>
          <p:cNvSpPr txBox="1">
            <a:spLocks noChangeArrowheads="1"/>
          </p:cNvSpPr>
          <p:nvPr/>
        </p:nvSpPr>
        <p:spPr bwMode="auto">
          <a:xfrm>
            <a:off x="7120438" y="4768153"/>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pkt0</a:t>
            </a:r>
          </a:p>
        </p:txBody>
      </p:sp>
      <p:sp>
        <p:nvSpPr>
          <p:cNvPr id="233" name="Text Box 50">
            <a:extLst>
              <a:ext uri="{FF2B5EF4-FFF2-40B4-BE49-F238E27FC236}">
                <a16:creationId xmlns:a16="http://schemas.microsoft.com/office/drawing/2014/main" id="{38A95A95-ECA6-1F4F-BB93-8A237B92F265}"/>
              </a:ext>
            </a:extLst>
          </p:cNvPr>
          <p:cNvSpPr txBox="1">
            <a:spLocks noChangeArrowheads="1"/>
          </p:cNvSpPr>
          <p:nvPr/>
        </p:nvSpPr>
        <p:spPr bwMode="auto">
          <a:xfrm>
            <a:off x="7117335" y="2653603"/>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ack0</a:t>
            </a:r>
          </a:p>
        </p:txBody>
      </p:sp>
      <p:sp>
        <p:nvSpPr>
          <p:cNvPr id="234" name="Text Box 51">
            <a:extLst>
              <a:ext uri="{FF2B5EF4-FFF2-40B4-BE49-F238E27FC236}">
                <a16:creationId xmlns:a16="http://schemas.microsoft.com/office/drawing/2014/main" id="{E34E5A4F-7761-E54D-9493-85E43D4F88E3}"/>
              </a:ext>
            </a:extLst>
          </p:cNvPr>
          <p:cNvSpPr txBox="1">
            <a:spLocks noChangeArrowheads="1"/>
          </p:cNvSpPr>
          <p:nvPr/>
        </p:nvSpPr>
        <p:spPr bwMode="auto">
          <a:xfrm>
            <a:off x="7114954" y="4295475"/>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ack1</a:t>
            </a:r>
          </a:p>
        </p:txBody>
      </p:sp>
      <p:sp>
        <p:nvSpPr>
          <p:cNvPr id="235" name="Text Box 52">
            <a:extLst>
              <a:ext uri="{FF2B5EF4-FFF2-40B4-BE49-F238E27FC236}">
                <a16:creationId xmlns:a16="http://schemas.microsoft.com/office/drawing/2014/main" id="{D16E11FB-EE35-2140-B6B1-8BA74CDF3465}"/>
              </a:ext>
            </a:extLst>
          </p:cNvPr>
          <p:cNvSpPr txBox="1">
            <a:spLocks noChangeArrowheads="1"/>
          </p:cNvSpPr>
          <p:nvPr/>
        </p:nvSpPr>
        <p:spPr bwMode="auto">
          <a:xfrm>
            <a:off x="7114954" y="4914600"/>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ack0</a:t>
            </a:r>
          </a:p>
        </p:txBody>
      </p:sp>
      <p:sp>
        <p:nvSpPr>
          <p:cNvPr id="236" name="Text Box 53">
            <a:extLst>
              <a:ext uri="{FF2B5EF4-FFF2-40B4-BE49-F238E27FC236}">
                <a16:creationId xmlns:a16="http://schemas.microsoft.com/office/drawing/2014/main" id="{7C3E4221-F85D-7A47-8A21-C9CAD5DD38EB}"/>
              </a:ext>
            </a:extLst>
          </p:cNvPr>
          <p:cNvSpPr txBox="1">
            <a:spLocks noChangeArrowheads="1"/>
          </p:cNvSpPr>
          <p:nvPr/>
        </p:nvSpPr>
        <p:spPr bwMode="auto">
          <a:xfrm>
            <a:off x="5229243" y="2840531"/>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ack0</a:t>
            </a:r>
          </a:p>
        </p:txBody>
      </p:sp>
      <p:sp>
        <p:nvSpPr>
          <p:cNvPr id="237" name="Text Box 54">
            <a:extLst>
              <a:ext uri="{FF2B5EF4-FFF2-40B4-BE49-F238E27FC236}">
                <a16:creationId xmlns:a16="http://schemas.microsoft.com/office/drawing/2014/main" id="{5EBBB81F-0421-D749-BA75-69B429681049}"/>
              </a:ext>
            </a:extLst>
          </p:cNvPr>
          <p:cNvSpPr txBox="1">
            <a:spLocks noChangeArrowheads="1"/>
          </p:cNvSpPr>
          <p:nvPr/>
        </p:nvSpPr>
        <p:spPr bwMode="auto">
          <a:xfrm>
            <a:off x="5112805" y="4619325"/>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pkt0</a:t>
            </a:r>
          </a:p>
        </p:txBody>
      </p:sp>
      <p:sp>
        <p:nvSpPr>
          <p:cNvPr id="238" name="Text Box 55">
            <a:extLst>
              <a:ext uri="{FF2B5EF4-FFF2-40B4-BE49-F238E27FC236}">
                <a16:creationId xmlns:a16="http://schemas.microsoft.com/office/drawing/2014/main" id="{D284D67E-01F5-D942-9024-5147EB6ECBF7}"/>
              </a:ext>
            </a:extLst>
          </p:cNvPr>
          <p:cNvSpPr txBox="1">
            <a:spLocks noChangeArrowheads="1"/>
          </p:cNvSpPr>
          <p:nvPr/>
        </p:nvSpPr>
        <p:spPr bwMode="auto">
          <a:xfrm>
            <a:off x="5112805" y="3004837"/>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pkt1</a:t>
            </a:r>
          </a:p>
        </p:txBody>
      </p:sp>
      <p:sp>
        <p:nvSpPr>
          <p:cNvPr id="239" name="Text Box 56">
            <a:extLst>
              <a:ext uri="{FF2B5EF4-FFF2-40B4-BE49-F238E27FC236}">
                <a16:creationId xmlns:a16="http://schemas.microsoft.com/office/drawing/2014/main" id="{A96E3C21-E923-6641-9449-C311D50094E5}"/>
              </a:ext>
            </a:extLst>
          </p:cNvPr>
          <p:cNvSpPr txBox="1">
            <a:spLocks noChangeArrowheads="1"/>
          </p:cNvSpPr>
          <p:nvPr/>
        </p:nvSpPr>
        <p:spPr bwMode="auto">
          <a:xfrm>
            <a:off x="5220909" y="4439540"/>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ack1</a:t>
            </a:r>
          </a:p>
        </p:txBody>
      </p:sp>
      <p:sp>
        <p:nvSpPr>
          <p:cNvPr id="240" name="Text Box 57">
            <a:extLst>
              <a:ext uri="{FF2B5EF4-FFF2-40B4-BE49-F238E27FC236}">
                <a16:creationId xmlns:a16="http://schemas.microsoft.com/office/drawing/2014/main" id="{B3857487-8C16-8749-B6F0-A61DA7842D1C}"/>
              </a:ext>
            </a:extLst>
          </p:cNvPr>
          <p:cNvSpPr txBox="1">
            <a:spLocks noChangeArrowheads="1"/>
          </p:cNvSpPr>
          <p:nvPr/>
        </p:nvSpPr>
        <p:spPr bwMode="auto">
          <a:xfrm>
            <a:off x="5104471" y="2283319"/>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pkt0</a:t>
            </a:r>
          </a:p>
        </p:txBody>
      </p:sp>
      <p:sp>
        <p:nvSpPr>
          <p:cNvPr id="241" name="Text Box 58">
            <a:extLst>
              <a:ext uri="{FF2B5EF4-FFF2-40B4-BE49-F238E27FC236}">
                <a16:creationId xmlns:a16="http://schemas.microsoft.com/office/drawing/2014/main" id="{09BE22F1-E2C7-F840-9EDB-010AB9975B0E}"/>
              </a:ext>
            </a:extLst>
          </p:cNvPr>
          <p:cNvSpPr txBox="1">
            <a:spLocks noChangeArrowheads="1"/>
          </p:cNvSpPr>
          <p:nvPr/>
        </p:nvSpPr>
        <p:spPr bwMode="auto">
          <a:xfrm>
            <a:off x="7112104" y="2495250"/>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pkt0</a:t>
            </a:r>
          </a:p>
        </p:txBody>
      </p:sp>
      <p:grpSp>
        <p:nvGrpSpPr>
          <p:cNvPr id="242" name="Group 59">
            <a:extLst>
              <a:ext uri="{FF2B5EF4-FFF2-40B4-BE49-F238E27FC236}">
                <a16:creationId xmlns:a16="http://schemas.microsoft.com/office/drawing/2014/main" id="{E96023CD-98EA-4D46-A675-AEE190E94DA3}"/>
              </a:ext>
            </a:extLst>
          </p:cNvPr>
          <p:cNvGrpSpPr>
            <a:grpSpLocks/>
          </p:cNvGrpSpPr>
          <p:nvPr/>
        </p:nvGrpSpPr>
        <p:grpSpPr bwMode="auto">
          <a:xfrm>
            <a:off x="6043394" y="2335706"/>
            <a:ext cx="1103709" cy="384572"/>
            <a:chOff x="850" y="1159"/>
            <a:chExt cx="927" cy="323"/>
          </a:xfrm>
        </p:grpSpPr>
        <p:sp>
          <p:nvSpPr>
            <p:cNvPr id="243" name="Line 60">
              <a:extLst>
                <a:ext uri="{FF2B5EF4-FFF2-40B4-BE49-F238E27FC236}">
                  <a16:creationId xmlns:a16="http://schemas.microsoft.com/office/drawing/2014/main" id="{3DC88CCC-5C5E-6A40-BBC7-416C5ED63E7A}"/>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44" name="Text Box 61">
              <a:extLst>
                <a:ext uri="{FF2B5EF4-FFF2-40B4-BE49-F238E27FC236}">
                  <a16:creationId xmlns:a16="http://schemas.microsoft.com/office/drawing/2014/main" id="{15663F65-17E3-8A4B-A7CB-12678A320623}"/>
                </a:ext>
              </a:extLst>
            </p:cNvPr>
            <p:cNvSpPr txBox="1">
              <a:spLocks noChangeArrowheads="1"/>
            </p:cNvSpPr>
            <p:nvPr/>
          </p:nvSpPr>
          <p:spPr bwMode="auto">
            <a:xfrm>
              <a:off x="1079" y="1159"/>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pkt0</a:t>
              </a:r>
            </a:p>
          </p:txBody>
        </p:sp>
      </p:grpSp>
      <p:grpSp>
        <p:nvGrpSpPr>
          <p:cNvPr id="245" name="Group 62">
            <a:extLst>
              <a:ext uri="{FF2B5EF4-FFF2-40B4-BE49-F238E27FC236}">
                <a16:creationId xmlns:a16="http://schemas.microsoft.com/office/drawing/2014/main" id="{A3E86C2E-1598-F746-90BA-375EC32E7F63}"/>
              </a:ext>
            </a:extLst>
          </p:cNvPr>
          <p:cNvGrpSpPr>
            <a:grpSpLocks/>
          </p:cNvGrpSpPr>
          <p:nvPr/>
        </p:nvGrpSpPr>
        <p:grpSpPr bwMode="auto">
          <a:xfrm>
            <a:off x="6038632" y="4596703"/>
            <a:ext cx="1103709" cy="365522"/>
            <a:chOff x="846" y="2253"/>
            <a:chExt cx="927" cy="307"/>
          </a:xfrm>
        </p:grpSpPr>
        <p:sp>
          <p:nvSpPr>
            <p:cNvPr id="246" name="Line 63">
              <a:extLst>
                <a:ext uri="{FF2B5EF4-FFF2-40B4-BE49-F238E27FC236}">
                  <a16:creationId xmlns:a16="http://schemas.microsoft.com/office/drawing/2014/main" id="{0290E24F-CA8A-7D41-AD89-945F9061C269}"/>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47" name="Text Box 64">
              <a:extLst>
                <a:ext uri="{FF2B5EF4-FFF2-40B4-BE49-F238E27FC236}">
                  <a16:creationId xmlns:a16="http://schemas.microsoft.com/office/drawing/2014/main" id="{95787234-AC16-C64F-BAAF-6116E3A1CE69}"/>
                </a:ext>
              </a:extLst>
            </p:cNvPr>
            <p:cNvSpPr txBox="1">
              <a:spLocks noChangeArrowheads="1"/>
            </p:cNvSpPr>
            <p:nvPr/>
          </p:nvSpPr>
          <p:spPr bwMode="auto">
            <a:xfrm>
              <a:off x="1076" y="2253"/>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pkt0</a:t>
              </a:r>
            </a:p>
          </p:txBody>
        </p:sp>
      </p:grpSp>
      <p:grpSp>
        <p:nvGrpSpPr>
          <p:cNvPr id="248" name="Group 68">
            <a:extLst>
              <a:ext uri="{FF2B5EF4-FFF2-40B4-BE49-F238E27FC236}">
                <a16:creationId xmlns:a16="http://schemas.microsoft.com/office/drawing/2014/main" id="{8F7C7CC8-14B9-8842-9B0D-6DB644B899AA}"/>
              </a:ext>
            </a:extLst>
          </p:cNvPr>
          <p:cNvGrpSpPr>
            <a:grpSpLocks/>
          </p:cNvGrpSpPr>
          <p:nvPr/>
        </p:nvGrpSpPr>
        <p:grpSpPr bwMode="auto">
          <a:xfrm>
            <a:off x="6038632" y="4299047"/>
            <a:ext cx="1103709" cy="353616"/>
            <a:chOff x="846" y="2003"/>
            <a:chExt cx="927" cy="297"/>
          </a:xfrm>
        </p:grpSpPr>
        <p:sp>
          <p:nvSpPr>
            <p:cNvPr id="249" name="Line 69">
              <a:extLst>
                <a:ext uri="{FF2B5EF4-FFF2-40B4-BE49-F238E27FC236}">
                  <a16:creationId xmlns:a16="http://schemas.microsoft.com/office/drawing/2014/main" id="{DC51DCB8-7F03-FF43-8481-0BB950FB4328}"/>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50" name="Text Box 70">
              <a:extLst>
                <a:ext uri="{FF2B5EF4-FFF2-40B4-BE49-F238E27FC236}">
                  <a16:creationId xmlns:a16="http://schemas.microsoft.com/office/drawing/2014/main" id="{2CACB117-AF7D-BF48-9824-6A98B36986C8}"/>
                </a:ext>
              </a:extLst>
            </p:cNvPr>
            <p:cNvSpPr txBox="1">
              <a:spLocks noChangeArrowheads="1"/>
            </p:cNvSpPr>
            <p:nvPr/>
          </p:nvSpPr>
          <p:spPr bwMode="auto">
            <a:xfrm>
              <a:off x="1071" y="2003"/>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8000"/>
                  </a:solidFill>
                  <a:latin typeface="Arial" charset="0"/>
                </a:rPr>
                <a:t>ack1</a:t>
              </a:r>
            </a:p>
          </p:txBody>
        </p:sp>
      </p:grpSp>
      <p:grpSp>
        <p:nvGrpSpPr>
          <p:cNvPr id="251" name="Group 71">
            <a:extLst>
              <a:ext uri="{FF2B5EF4-FFF2-40B4-BE49-F238E27FC236}">
                <a16:creationId xmlns:a16="http://schemas.microsoft.com/office/drawing/2014/main" id="{F9559054-8E07-D140-B2BF-83D78FFEDE1F}"/>
              </a:ext>
            </a:extLst>
          </p:cNvPr>
          <p:cNvGrpSpPr>
            <a:grpSpLocks/>
          </p:cNvGrpSpPr>
          <p:nvPr/>
        </p:nvGrpSpPr>
        <p:grpSpPr bwMode="auto">
          <a:xfrm>
            <a:off x="6032679" y="2710753"/>
            <a:ext cx="1103710" cy="341710"/>
            <a:chOff x="841" y="1474"/>
            <a:chExt cx="927" cy="287"/>
          </a:xfrm>
        </p:grpSpPr>
        <p:sp>
          <p:nvSpPr>
            <p:cNvPr id="252" name="Line 72">
              <a:extLst>
                <a:ext uri="{FF2B5EF4-FFF2-40B4-BE49-F238E27FC236}">
                  <a16:creationId xmlns:a16="http://schemas.microsoft.com/office/drawing/2014/main" id="{EC1868E2-1895-8348-966C-93D06CFC83C8}"/>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53" name="Text Box 73">
              <a:extLst>
                <a:ext uri="{FF2B5EF4-FFF2-40B4-BE49-F238E27FC236}">
                  <a16:creationId xmlns:a16="http://schemas.microsoft.com/office/drawing/2014/main" id="{DF711AA0-D78D-444E-9703-4A59DF126C5B}"/>
                </a:ext>
              </a:extLst>
            </p:cNvPr>
            <p:cNvSpPr txBox="1">
              <a:spLocks noChangeArrowheads="1"/>
            </p:cNvSpPr>
            <p:nvPr/>
          </p:nvSpPr>
          <p:spPr bwMode="auto">
            <a:xfrm>
              <a:off x="1068" y="1474"/>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8000"/>
                  </a:solidFill>
                  <a:latin typeface="Arial" charset="0"/>
                </a:rPr>
                <a:t>ack0</a:t>
              </a:r>
            </a:p>
          </p:txBody>
        </p:sp>
      </p:grpSp>
      <p:grpSp>
        <p:nvGrpSpPr>
          <p:cNvPr id="254" name="Group 74">
            <a:extLst>
              <a:ext uri="{FF2B5EF4-FFF2-40B4-BE49-F238E27FC236}">
                <a16:creationId xmlns:a16="http://schemas.microsoft.com/office/drawing/2014/main" id="{07374028-39C8-2B49-A708-435D85A50ED2}"/>
              </a:ext>
            </a:extLst>
          </p:cNvPr>
          <p:cNvGrpSpPr>
            <a:grpSpLocks/>
          </p:cNvGrpSpPr>
          <p:nvPr/>
        </p:nvGrpSpPr>
        <p:grpSpPr bwMode="auto">
          <a:xfrm>
            <a:off x="6027916" y="4934841"/>
            <a:ext cx="1103710" cy="350044"/>
            <a:chOff x="837" y="2537"/>
            <a:chExt cx="927" cy="294"/>
          </a:xfrm>
        </p:grpSpPr>
        <p:sp>
          <p:nvSpPr>
            <p:cNvPr id="255" name="Line 75">
              <a:extLst>
                <a:ext uri="{FF2B5EF4-FFF2-40B4-BE49-F238E27FC236}">
                  <a16:creationId xmlns:a16="http://schemas.microsoft.com/office/drawing/2014/main" id="{1B77C38B-89D8-4841-83E6-E0FE3FC2BA37}"/>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256" name="Text Box 76">
              <a:extLst>
                <a:ext uri="{FF2B5EF4-FFF2-40B4-BE49-F238E27FC236}">
                  <a16:creationId xmlns:a16="http://schemas.microsoft.com/office/drawing/2014/main" id="{5D036972-8C50-0C4C-9765-18BFA21A4E63}"/>
                </a:ext>
              </a:extLst>
            </p:cNvPr>
            <p:cNvSpPr txBox="1">
              <a:spLocks noChangeArrowheads="1"/>
            </p:cNvSpPr>
            <p:nvPr/>
          </p:nvSpPr>
          <p:spPr bwMode="auto">
            <a:xfrm>
              <a:off x="1071" y="2537"/>
              <a:ext cx="41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kern="0" dirty="0">
                  <a:solidFill>
                    <a:srgbClr val="008000"/>
                  </a:solidFill>
                </a:rPr>
                <a:t>ack0</a:t>
              </a:r>
            </a:p>
          </p:txBody>
        </p:sp>
      </p:grpSp>
      <p:sp>
        <p:nvSpPr>
          <p:cNvPr id="257" name="Text Box 78">
            <a:extLst>
              <a:ext uri="{FF2B5EF4-FFF2-40B4-BE49-F238E27FC236}">
                <a16:creationId xmlns:a16="http://schemas.microsoft.com/office/drawing/2014/main" id="{369CE47E-1D71-7744-95BB-CAB6F57A655D}"/>
              </a:ext>
            </a:extLst>
          </p:cNvPr>
          <p:cNvSpPr txBox="1">
            <a:spLocks noChangeArrowheads="1"/>
          </p:cNvSpPr>
          <p:nvPr/>
        </p:nvSpPr>
        <p:spPr bwMode="auto">
          <a:xfrm>
            <a:off x="6068436" y="5512759"/>
            <a:ext cx="1313181"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(b) packet loss</a:t>
            </a:r>
          </a:p>
        </p:txBody>
      </p:sp>
      <p:grpSp>
        <p:nvGrpSpPr>
          <p:cNvPr id="258" name="Group 81">
            <a:extLst>
              <a:ext uri="{FF2B5EF4-FFF2-40B4-BE49-F238E27FC236}">
                <a16:creationId xmlns:a16="http://schemas.microsoft.com/office/drawing/2014/main" id="{58D1FC7F-D1DB-9742-BCDA-95EAEA7F7541}"/>
              </a:ext>
            </a:extLst>
          </p:cNvPr>
          <p:cNvGrpSpPr>
            <a:grpSpLocks/>
          </p:cNvGrpSpPr>
          <p:nvPr/>
        </p:nvGrpSpPr>
        <p:grpSpPr bwMode="auto">
          <a:xfrm>
            <a:off x="6049343" y="2991741"/>
            <a:ext cx="894159" cy="578644"/>
            <a:chOff x="3726" y="1687"/>
            <a:chExt cx="751" cy="486"/>
          </a:xfrm>
        </p:grpSpPr>
        <p:sp>
          <p:nvSpPr>
            <p:cNvPr id="259" name="Line 66">
              <a:extLst>
                <a:ext uri="{FF2B5EF4-FFF2-40B4-BE49-F238E27FC236}">
                  <a16:creationId xmlns:a16="http://schemas.microsoft.com/office/drawing/2014/main" id="{8586B367-BD51-F743-AED9-6217A75B9EB8}"/>
                </a:ext>
              </a:extLst>
            </p:cNvPr>
            <p:cNvSpPr>
              <a:spLocks noChangeShapeType="1"/>
            </p:cNvSpPr>
            <p:nvPr/>
          </p:nvSpPr>
          <p:spPr bwMode="auto">
            <a:xfrm>
              <a:off x="3726" y="1780"/>
              <a:ext cx="548" cy="148"/>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260" name="Text Box 67">
              <a:extLst>
                <a:ext uri="{FF2B5EF4-FFF2-40B4-BE49-F238E27FC236}">
                  <a16:creationId xmlns:a16="http://schemas.microsoft.com/office/drawing/2014/main" id="{45395DCC-EA5A-E34D-854F-760FBAD59874}"/>
                </a:ext>
              </a:extLst>
            </p:cNvPr>
            <p:cNvSpPr txBox="1">
              <a:spLocks noChangeArrowheads="1"/>
            </p:cNvSpPr>
            <p:nvPr/>
          </p:nvSpPr>
          <p:spPr bwMode="auto">
            <a:xfrm>
              <a:off x="3944" y="1687"/>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kern="0" dirty="0">
                  <a:solidFill>
                    <a:srgbClr val="000099"/>
                  </a:solidFill>
                  <a:latin typeface="Arial" charset="0"/>
                </a:rPr>
                <a:t>pkt1</a:t>
              </a:r>
            </a:p>
          </p:txBody>
        </p:sp>
        <p:sp>
          <p:nvSpPr>
            <p:cNvPr id="261" name="Text Box 79">
              <a:extLst>
                <a:ext uri="{FF2B5EF4-FFF2-40B4-BE49-F238E27FC236}">
                  <a16:creationId xmlns:a16="http://schemas.microsoft.com/office/drawing/2014/main" id="{28259E79-639E-E24B-A02E-4313B3CAB50B}"/>
                </a:ext>
              </a:extLst>
            </p:cNvPr>
            <p:cNvSpPr txBox="1">
              <a:spLocks noChangeArrowheads="1"/>
            </p:cNvSpPr>
            <p:nvPr/>
          </p:nvSpPr>
          <p:spPr bwMode="auto">
            <a:xfrm>
              <a:off x="4165" y="1808"/>
              <a:ext cx="255"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b="1" kern="0" dirty="0">
                  <a:solidFill>
                    <a:srgbClr val="FF0000"/>
                  </a:solidFill>
                </a:rPr>
                <a:t>X</a:t>
              </a:r>
            </a:p>
          </p:txBody>
        </p:sp>
        <p:sp>
          <p:nvSpPr>
            <p:cNvPr id="262" name="Text Box 80">
              <a:extLst>
                <a:ext uri="{FF2B5EF4-FFF2-40B4-BE49-F238E27FC236}">
                  <a16:creationId xmlns:a16="http://schemas.microsoft.com/office/drawing/2014/main" id="{8928A415-686E-1940-B399-6DD126A266C2}"/>
                </a:ext>
              </a:extLst>
            </p:cNvPr>
            <p:cNvSpPr txBox="1">
              <a:spLocks noChangeArrowheads="1"/>
            </p:cNvSpPr>
            <p:nvPr/>
          </p:nvSpPr>
          <p:spPr bwMode="auto">
            <a:xfrm>
              <a:off x="4106" y="1940"/>
              <a:ext cx="371"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i="1" kern="0" dirty="0">
                  <a:solidFill>
                    <a:srgbClr val="FF0000"/>
                  </a:solidFill>
                </a:rPr>
                <a:t>loss</a:t>
              </a:r>
            </a:p>
          </p:txBody>
        </p:sp>
      </p:grpSp>
      <p:grpSp>
        <p:nvGrpSpPr>
          <p:cNvPr id="263" name="Group 86">
            <a:extLst>
              <a:ext uri="{FF2B5EF4-FFF2-40B4-BE49-F238E27FC236}">
                <a16:creationId xmlns:a16="http://schemas.microsoft.com/office/drawing/2014/main" id="{0751228C-C56A-4145-9744-AA4B5D7B422B}"/>
              </a:ext>
            </a:extLst>
          </p:cNvPr>
          <p:cNvGrpSpPr>
            <a:grpSpLocks/>
          </p:cNvGrpSpPr>
          <p:nvPr/>
        </p:nvGrpSpPr>
        <p:grpSpPr bwMode="auto">
          <a:xfrm>
            <a:off x="5960051" y="3219150"/>
            <a:ext cx="91678" cy="775097"/>
            <a:chOff x="3651" y="1878"/>
            <a:chExt cx="78" cy="963"/>
          </a:xfrm>
        </p:grpSpPr>
        <p:sp>
          <p:nvSpPr>
            <p:cNvPr id="264" name="Line 82">
              <a:extLst>
                <a:ext uri="{FF2B5EF4-FFF2-40B4-BE49-F238E27FC236}">
                  <a16:creationId xmlns:a16="http://schemas.microsoft.com/office/drawing/2014/main" id="{3C08A3AA-5F97-BA41-9BF4-A9FAFC6B700B}"/>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265" name="Line 84">
              <a:extLst>
                <a:ext uri="{FF2B5EF4-FFF2-40B4-BE49-F238E27FC236}">
                  <a16:creationId xmlns:a16="http://schemas.microsoft.com/office/drawing/2014/main" id="{4B808BC0-C4AA-8A47-AD7A-9C138A93A79F}"/>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266" name="Line 85">
              <a:extLst>
                <a:ext uri="{FF2B5EF4-FFF2-40B4-BE49-F238E27FC236}">
                  <a16:creationId xmlns:a16="http://schemas.microsoft.com/office/drawing/2014/main" id="{2D5E6195-4AC0-E644-96BD-40B80CE7C01E}"/>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grpSp>
      <p:grpSp>
        <p:nvGrpSpPr>
          <p:cNvPr id="267" name="Group 88">
            <a:extLst>
              <a:ext uri="{FF2B5EF4-FFF2-40B4-BE49-F238E27FC236}">
                <a16:creationId xmlns:a16="http://schemas.microsoft.com/office/drawing/2014/main" id="{932E32A0-5C3E-3046-BAAA-21A55DF9DD28}"/>
              </a:ext>
            </a:extLst>
          </p:cNvPr>
          <p:cNvGrpSpPr>
            <a:grpSpLocks/>
          </p:cNvGrpSpPr>
          <p:nvPr/>
        </p:nvGrpSpPr>
        <p:grpSpPr bwMode="auto">
          <a:xfrm>
            <a:off x="6056491" y="3960909"/>
            <a:ext cx="1103710" cy="378619"/>
            <a:chOff x="855" y="1710"/>
            <a:chExt cx="927" cy="318"/>
          </a:xfrm>
        </p:grpSpPr>
        <p:sp>
          <p:nvSpPr>
            <p:cNvPr id="268" name="Line 89">
              <a:extLst>
                <a:ext uri="{FF2B5EF4-FFF2-40B4-BE49-F238E27FC236}">
                  <a16:creationId xmlns:a16="http://schemas.microsoft.com/office/drawing/2014/main" id="{B54BB22F-1388-EC44-AB1D-26D4513198E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69" name="Text Box 90">
              <a:extLst>
                <a:ext uri="{FF2B5EF4-FFF2-40B4-BE49-F238E27FC236}">
                  <a16:creationId xmlns:a16="http://schemas.microsoft.com/office/drawing/2014/main" id="{0D178261-4D19-EB46-A4F7-AB511FAB3D3B}"/>
                </a:ext>
              </a:extLst>
            </p:cNvPr>
            <p:cNvSpPr txBox="1">
              <a:spLocks noChangeArrowheads="1"/>
            </p:cNvSpPr>
            <p:nvPr/>
          </p:nvSpPr>
          <p:spPr bwMode="auto">
            <a:xfrm>
              <a:off x="1073" y="1710"/>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pkt1</a:t>
              </a:r>
            </a:p>
          </p:txBody>
        </p:sp>
      </p:grpSp>
      <p:grpSp>
        <p:nvGrpSpPr>
          <p:cNvPr id="270" name="Group 92">
            <a:extLst>
              <a:ext uri="{FF2B5EF4-FFF2-40B4-BE49-F238E27FC236}">
                <a16:creationId xmlns:a16="http://schemas.microsoft.com/office/drawing/2014/main" id="{2F31B7A3-D271-8245-A7D0-64CC20F4CE34}"/>
              </a:ext>
            </a:extLst>
          </p:cNvPr>
          <p:cNvGrpSpPr>
            <a:grpSpLocks/>
          </p:cNvGrpSpPr>
          <p:nvPr/>
        </p:nvGrpSpPr>
        <p:grpSpPr bwMode="auto">
          <a:xfrm>
            <a:off x="4927778" y="3678732"/>
            <a:ext cx="1088231" cy="573881"/>
            <a:chOff x="2756" y="2348"/>
            <a:chExt cx="914" cy="482"/>
          </a:xfrm>
        </p:grpSpPr>
        <p:pic>
          <p:nvPicPr>
            <p:cNvPr id="271" name="Picture 87" descr="alarm_clock_ringing">
              <a:extLst>
                <a:ext uri="{FF2B5EF4-FFF2-40B4-BE49-F238E27FC236}">
                  <a16:creationId xmlns:a16="http://schemas.microsoft.com/office/drawing/2014/main" id="{DE9E1E05-3488-EE4B-92F6-451228ABA56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 name="Text Box 91">
              <a:extLst>
                <a:ext uri="{FF2B5EF4-FFF2-40B4-BE49-F238E27FC236}">
                  <a16:creationId xmlns:a16="http://schemas.microsoft.com/office/drawing/2014/main" id="{1CAC9FAC-E321-AF48-8EE2-DEA4784FF7C2}"/>
                </a:ext>
              </a:extLst>
            </p:cNvPr>
            <p:cNvSpPr txBox="1">
              <a:spLocks noChangeArrowheads="1"/>
            </p:cNvSpPr>
            <p:nvPr/>
          </p:nvSpPr>
          <p:spPr bwMode="auto">
            <a:xfrm>
              <a:off x="2756" y="2491"/>
              <a:ext cx="914" cy="3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a:lnSpc>
                  <a:spcPct val="75000"/>
                </a:lnSpc>
                <a:defRPr/>
              </a:pPr>
              <a:r>
                <a:rPr lang="en-US" sz="1350" i="1" kern="0" dirty="0">
                  <a:solidFill>
                    <a:srgbClr val="FF0000"/>
                  </a:solidFill>
                </a:rPr>
                <a:t>timeout</a:t>
              </a:r>
            </a:p>
            <a:p>
              <a:pPr algn="r" defTabSz="685800">
                <a:lnSpc>
                  <a:spcPct val="75000"/>
                </a:lnSpc>
                <a:defRPr/>
              </a:pPr>
              <a:r>
                <a:rPr lang="en-US" sz="1350" kern="0" dirty="0">
                  <a:solidFill>
                    <a:srgbClr val="000000"/>
                  </a:solidFill>
                </a:rPr>
                <a:t>resend pkt1</a:t>
              </a:r>
            </a:p>
          </p:txBody>
        </p:sp>
      </p:grpSp>
      <p:sp>
        <p:nvSpPr>
          <p:cNvPr id="79" name="Slide Number Placeholder 2">
            <a:extLst>
              <a:ext uri="{FF2B5EF4-FFF2-40B4-BE49-F238E27FC236}">
                <a16:creationId xmlns:a16="http://schemas.microsoft.com/office/drawing/2014/main" id="{F263271F-70B3-0945-8ECC-7ADB54458383}"/>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51</a:t>
            </a:fld>
            <a:endParaRPr lang="en-US" dirty="0"/>
          </a:p>
        </p:txBody>
      </p:sp>
    </p:spTree>
    <p:extLst>
      <p:ext uri="{BB962C8B-B14F-4D97-AF65-F5344CB8AC3E}">
        <p14:creationId xmlns:p14="http://schemas.microsoft.com/office/powerpoint/2010/main" val="2609423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wipe(left)">
                                      <p:cBhvr>
                                        <p:cTn id="7" dur="500"/>
                                        <p:tgtEl>
                                          <p:spTgt spid="21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09">
                                            <p:txEl>
                                              <p:pRg st="0" end="0"/>
                                            </p:txEl>
                                          </p:spTgt>
                                        </p:tgtEl>
                                        <p:attrNameLst>
                                          <p:attrName>style.visibility</p:attrName>
                                        </p:attrNameLst>
                                      </p:cBhvr>
                                      <p:to>
                                        <p:strVal val="visible"/>
                                      </p:to>
                                    </p:set>
                                    <p:animEffect transition="in" filter="dissolve">
                                      <p:cBhvr>
                                        <p:cTn id="11" dur="500"/>
                                        <p:tgtEl>
                                          <p:spTgt spid="20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1"/>
                                        </p:tgtEl>
                                        <p:attrNameLst>
                                          <p:attrName>style.visibility</p:attrName>
                                        </p:attrNameLst>
                                      </p:cBhvr>
                                      <p:to>
                                        <p:strVal val="visible"/>
                                      </p:to>
                                    </p:set>
                                    <p:animEffect transition="in" filter="dissolve">
                                      <p:cBhvr>
                                        <p:cTn id="16" dur="500"/>
                                        <p:tgtEl>
                                          <p:spTgt spid="201"/>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222"/>
                                        </p:tgtEl>
                                        <p:attrNameLst>
                                          <p:attrName>style.visibility</p:attrName>
                                        </p:attrNameLst>
                                      </p:cBhvr>
                                      <p:to>
                                        <p:strVal val="visible"/>
                                      </p:to>
                                    </p:set>
                                    <p:animEffect transition="in" filter="wipe(right)">
                                      <p:cBhvr>
                                        <p:cTn id="20" dur="500"/>
                                        <p:tgtEl>
                                          <p:spTgt spid="222"/>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204"/>
                                        </p:tgtEl>
                                        <p:attrNameLst>
                                          <p:attrName>style.visibility</p:attrName>
                                        </p:attrNameLst>
                                      </p:cBhvr>
                                      <p:to>
                                        <p:strVal val="visible"/>
                                      </p:to>
                                    </p:set>
                                    <p:animEffect transition="in" filter="dissolve">
                                      <p:cBhvr>
                                        <p:cTn id="24" dur="500"/>
                                        <p:tgtEl>
                                          <p:spTgt spid="204"/>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06"/>
                                        </p:tgtEl>
                                        <p:attrNameLst>
                                          <p:attrName>style.visibility</p:attrName>
                                        </p:attrNameLst>
                                      </p:cBhvr>
                                      <p:to>
                                        <p:strVal val="visible"/>
                                      </p:to>
                                    </p:set>
                                    <p:animEffect transition="in" filter="dissolve">
                                      <p:cBhvr>
                                        <p:cTn id="29" dur="500"/>
                                        <p:tgtEl>
                                          <p:spTgt spid="206"/>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16"/>
                                        </p:tgtEl>
                                        <p:attrNameLst>
                                          <p:attrName>style.visibility</p:attrName>
                                        </p:attrNameLst>
                                      </p:cBhvr>
                                      <p:to>
                                        <p:strVal val="visible"/>
                                      </p:to>
                                    </p:set>
                                    <p:animEffect transition="in" filter="wipe(left)">
                                      <p:cBhvr>
                                        <p:cTn id="33" dur="500"/>
                                        <p:tgtEl>
                                          <p:spTgt spid="216"/>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99">
                                            <p:txEl>
                                              <p:pRg st="0" end="0"/>
                                            </p:txEl>
                                          </p:spTgt>
                                        </p:tgtEl>
                                        <p:attrNameLst>
                                          <p:attrName>style.visibility</p:attrName>
                                        </p:attrNameLst>
                                      </p:cBhvr>
                                      <p:to>
                                        <p:strVal val="visible"/>
                                      </p:to>
                                    </p:set>
                                    <p:animEffect transition="in" filter="dissolve">
                                      <p:cBhvr>
                                        <p:cTn id="37" dur="500"/>
                                        <p:tgtEl>
                                          <p:spTgt spid="199">
                                            <p:txEl>
                                              <p:pRg st="0" end="0"/>
                                            </p:txEl>
                                          </p:spTgt>
                                        </p:tgtEl>
                                      </p:cBhvr>
                                    </p:animEffect>
                                  </p:childTnLst>
                                </p:cTn>
                              </p:par>
                            </p:childTnLst>
                          </p:cTn>
                        </p:par>
                        <p:par>
                          <p:cTn id="38" fill="hold">
                            <p:stCondLst>
                              <p:cond delay="1500"/>
                            </p:stCondLst>
                            <p:childTnLst>
                              <p:par>
                                <p:cTn id="39" presetID="9" presetClass="entr" presetSubtype="0" fill="hold" grpId="0" nodeType="afterEffect">
                                  <p:stCondLst>
                                    <p:cond delay="0"/>
                                  </p:stCondLst>
                                  <p:childTnLst>
                                    <p:set>
                                      <p:cBhvr>
                                        <p:cTn id="40" dur="1" fill="hold">
                                          <p:stCondLst>
                                            <p:cond delay="0"/>
                                          </p:stCondLst>
                                        </p:cTn>
                                        <p:tgtEl>
                                          <p:spTgt spid="202"/>
                                        </p:tgtEl>
                                        <p:attrNameLst>
                                          <p:attrName>style.visibility</p:attrName>
                                        </p:attrNameLst>
                                      </p:cBhvr>
                                      <p:to>
                                        <p:strVal val="visible"/>
                                      </p:to>
                                    </p:set>
                                    <p:animEffect transition="in" filter="dissolve">
                                      <p:cBhvr>
                                        <p:cTn id="41" dur="500"/>
                                        <p:tgtEl>
                                          <p:spTgt spid="202"/>
                                        </p:tgtEl>
                                      </p:cBhvr>
                                    </p:animEffect>
                                  </p:childTnLst>
                                </p:cTn>
                              </p:par>
                            </p:childTnLst>
                          </p:cTn>
                        </p:par>
                        <p:par>
                          <p:cTn id="42" fill="hold">
                            <p:stCondLst>
                              <p:cond delay="2000"/>
                            </p:stCondLst>
                            <p:childTnLst>
                              <p:par>
                                <p:cTn id="43" presetID="22" presetClass="entr" presetSubtype="2" fill="hold" nodeType="afterEffect">
                                  <p:stCondLst>
                                    <p:cond delay="0"/>
                                  </p:stCondLst>
                                  <p:childTnLst>
                                    <p:set>
                                      <p:cBhvr>
                                        <p:cTn id="44" dur="1" fill="hold">
                                          <p:stCondLst>
                                            <p:cond delay="0"/>
                                          </p:stCondLst>
                                        </p:cTn>
                                        <p:tgtEl>
                                          <p:spTgt spid="219"/>
                                        </p:tgtEl>
                                        <p:attrNameLst>
                                          <p:attrName>style.visibility</p:attrName>
                                        </p:attrNameLst>
                                      </p:cBhvr>
                                      <p:to>
                                        <p:strVal val="visible"/>
                                      </p:to>
                                    </p:set>
                                    <p:animEffect transition="in" filter="wipe(right)">
                                      <p:cBhvr>
                                        <p:cTn id="45" dur="500"/>
                                        <p:tgtEl>
                                          <p:spTgt spid="219"/>
                                        </p:tgtEl>
                                      </p:cBhvr>
                                    </p:animEffect>
                                  </p:childTnLst>
                                </p:cTn>
                              </p:par>
                            </p:childTnLst>
                          </p:cTn>
                        </p:par>
                        <p:par>
                          <p:cTn id="46" fill="hold">
                            <p:stCondLst>
                              <p:cond delay="2500"/>
                            </p:stCondLst>
                            <p:childTnLst>
                              <p:par>
                                <p:cTn id="47" presetID="9" presetClass="entr" presetSubtype="0" fill="hold" grpId="0" nodeType="afterEffect">
                                  <p:stCondLst>
                                    <p:cond delay="0"/>
                                  </p:stCondLst>
                                  <p:childTnLst>
                                    <p:set>
                                      <p:cBhvr>
                                        <p:cTn id="48" dur="1" fill="hold">
                                          <p:stCondLst>
                                            <p:cond delay="0"/>
                                          </p:stCondLst>
                                        </p:cTn>
                                        <p:tgtEl>
                                          <p:spTgt spid="207"/>
                                        </p:tgtEl>
                                        <p:attrNameLst>
                                          <p:attrName>style.visibility</p:attrName>
                                        </p:attrNameLst>
                                      </p:cBhvr>
                                      <p:to>
                                        <p:strVal val="visible"/>
                                      </p:to>
                                    </p:set>
                                    <p:animEffect transition="in" filter="dissolve">
                                      <p:cBhvr>
                                        <p:cTn id="49" dur="500"/>
                                        <p:tgtEl>
                                          <p:spTgt spid="207"/>
                                        </p:tgtEl>
                                      </p:cBhvr>
                                    </p:animEffect>
                                  </p:childTnLst>
                                </p:cTn>
                              </p:par>
                            </p:childTnLst>
                          </p:cTn>
                        </p:par>
                        <p:par>
                          <p:cTn id="50" fill="hold">
                            <p:stCondLst>
                              <p:cond delay="3000"/>
                            </p:stCondLst>
                            <p:childTnLst>
                              <p:par>
                                <p:cTn id="51" presetID="9" presetClass="entr" presetSubtype="0" fill="hold" grpId="0" nodeType="afterEffect">
                                  <p:stCondLst>
                                    <p:cond delay="0"/>
                                  </p:stCondLst>
                                  <p:childTnLst>
                                    <p:set>
                                      <p:cBhvr>
                                        <p:cTn id="52" dur="1" fill="hold">
                                          <p:stCondLst>
                                            <p:cond delay="0"/>
                                          </p:stCondLst>
                                        </p:cTn>
                                        <p:tgtEl>
                                          <p:spTgt spid="205"/>
                                        </p:tgtEl>
                                        <p:attrNameLst>
                                          <p:attrName>style.visibility</p:attrName>
                                        </p:attrNameLst>
                                      </p:cBhvr>
                                      <p:to>
                                        <p:strVal val="visible"/>
                                      </p:to>
                                    </p:set>
                                    <p:animEffect transition="in" filter="dissolve">
                                      <p:cBhvr>
                                        <p:cTn id="53" dur="500"/>
                                        <p:tgtEl>
                                          <p:spTgt spid="205"/>
                                        </p:tgtEl>
                                      </p:cBhvr>
                                    </p:animEffect>
                                  </p:childTnLst>
                                </p:cTn>
                              </p:par>
                            </p:childTnLst>
                          </p:cTn>
                        </p:par>
                        <p:par>
                          <p:cTn id="54" fill="hold">
                            <p:stCondLst>
                              <p:cond delay="3500"/>
                            </p:stCondLst>
                            <p:childTnLst>
                              <p:par>
                                <p:cTn id="55" presetID="22" presetClass="entr" presetSubtype="8" fill="hold" nodeType="afterEffect">
                                  <p:stCondLst>
                                    <p:cond delay="0"/>
                                  </p:stCondLst>
                                  <p:childTnLst>
                                    <p:set>
                                      <p:cBhvr>
                                        <p:cTn id="56" dur="1" fill="hold">
                                          <p:stCondLst>
                                            <p:cond delay="0"/>
                                          </p:stCondLst>
                                        </p:cTn>
                                        <p:tgtEl>
                                          <p:spTgt spid="213"/>
                                        </p:tgtEl>
                                        <p:attrNameLst>
                                          <p:attrName>style.visibility</p:attrName>
                                        </p:attrNameLst>
                                      </p:cBhvr>
                                      <p:to>
                                        <p:strVal val="visible"/>
                                      </p:to>
                                    </p:set>
                                    <p:animEffect transition="in" filter="wipe(left)">
                                      <p:cBhvr>
                                        <p:cTn id="57" dur="500"/>
                                        <p:tgtEl>
                                          <p:spTgt spid="213"/>
                                        </p:tgtEl>
                                      </p:cBhvr>
                                    </p:animEffect>
                                  </p:childTnLst>
                                </p:cTn>
                              </p:par>
                            </p:childTnLst>
                          </p:cTn>
                        </p:par>
                        <p:par>
                          <p:cTn id="58" fill="hold">
                            <p:stCondLst>
                              <p:cond delay="4000"/>
                            </p:stCondLst>
                            <p:childTnLst>
                              <p:par>
                                <p:cTn id="59" presetID="9" presetClass="entr" presetSubtype="0" fill="hold" grpId="0" nodeType="afterEffect">
                                  <p:stCondLst>
                                    <p:cond delay="0"/>
                                  </p:stCondLst>
                                  <p:childTnLst>
                                    <p:set>
                                      <p:cBhvr>
                                        <p:cTn id="60" dur="1" fill="hold">
                                          <p:stCondLst>
                                            <p:cond delay="0"/>
                                          </p:stCondLst>
                                        </p:cTn>
                                        <p:tgtEl>
                                          <p:spTgt spid="200"/>
                                        </p:tgtEl>
                                        <p:attrNameLst>
                                          <p:attrName>style.visibility</p:attrName>
                                        </p:attrNameLst>
                                      </p:cBhvr>
                                      <p:to>
                                        <p:strVal val="visible"/>
                                      </p:to>
                                    </p:set>
                                    <p:animEffect transition="in" filter="dissolve">
                                      <p:cBhvr>
                                        <p:cTn id="61" dur="500"/>
                                        <p:tgtEl>
                                          <p:spTgt spid="200"/>
                                        </p:tgtEl>
                                      </p:cBhvr>
                                    </p:animEffect>
                                  </p:childTnLst>
                                </p:cTn>
                              </p:par>
                            </p:childTnLst>
                          </p:cTn>
                        </p:par>
                        <p:par>
                          <p:cTn id="62" fill="hold">
                            <p:stCondLst>
                              <p:cond delay="4500"/>
                            </p:stCondLst>
                            <p:childTnLst>
                              <p:par>
                                <p:cTn id="63" presetID="9" presetClass="entr" presetSubtype="0" fill="hold" nodeType="afterEffect">
                                  <p:stCondLst>
                                    <p:cond delay="0"/>
                                  </p:stCondLst>
                                  <p:childTnLst>
                                    <p:set>
                                      <p:cBhvr>
                                        <p:cTn id="64" dur="1" fill="hold">
                                          <p:stCondLst>
                                            <p:cond delay="0"/>
                                          </p:stCondLst>
                                        </p:cTn>
                                        <p:tgtEl>
                                          <p:spTgt spid="203">
                                            <p:txEl>
                                              <p:pRg st="0" end="0"/>
                                            </p:txEl>
                                          </p:spTgt>
                                        </p:tgtEl>
                                        <p:attrNameLst>
                                          <p:attrName>style.visibility</p:attrName>
                                        </p:attrNameLst>
                                      </p:cBhvr>
                                      <p:to>
                                        <p:strVal val="visible"/>
                                      </p:to>
                                    </p:set>
                                    <p:animEffect transition="in" filter="dissolve">
                                      <p:cBhvr>
                                        <p:cTn id="65" dur="500"/>
                                        <p:tgtEl>
                                          <p:spTgt spid="203">
                                            <p:txEl>
                                              <p:pRg st="0" end="0"/>
                                            </p:txEl>
                                          </p:spTgt>
                                        </p:tgtEl>
                                      </p:cBhvr>
                                    </p:animEffect>
                                  </p:childTnLst>
                                </p:cTn>
                              </p:par>
                            </p:childTnLst>
                          </p:cTn>
                        </p:par>
                        <p:par>
                          <p:cTn id="66" fill="hold">
                            <p:stCondLst>
                              <p:cond delay="5000"/>
                            </p:stCondLst>
                            <p:childTnLst>
                              <p:par>
                                <p:cTn id="67" presetID="22" presetClass="entr" presetSubtype="2" fill="hold" nodeType="afterEffect">
                                  <p:stCondLst>
                                    <p:cond delay="0"/>
                                  </p:stCondLst>
                                  <p:childTnLst>
                                    <p:set>
                                      <p:cBhvr>
                                        <p:cTn id="68" dur="1" fill="hold">
                                          <p:stCondLst>
                                            <p:cond delay="0"/>
                                          </p:stCondLst>
                                        </p:cTn>
                                        <p:tgtEl>
                                          <p:spTgt spid="225"/>
                                        </p:tgtEl>
                                        <p:attrNameLst>
                                          <p:attrName>style.visibility</p:attrName>
                                        </p:attrNameLst>
                                      </p:cBhvr>
                                      <p:to>
                                        <p:strVal val="visible"/>
                                      </p:to>
                                    </p:set>
                                    <p:animEffect transition="in" filter="wipe(right)">
                                      <p:cBhvr>
                                        <p:cTn id="69" dur="500"/>
                                        <p:tgtEl>
                                          <p:spTgt spid="22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42"/>
                                        </p:tgtEl>
                                        <p:attrNameLst>
                                          <p:attrName>style.visibility</p:attrName>
                                        </p:attrNameLst>
                                      </p:cBhvr>
                                      <p:to>
                                        <p:strVal val="visible"/>
                                      </p:to>
                                    </p:set>
                                    <p:animEffect transition="in" filter="wipe(left)">
                                      <p:cBhvr>
                                        <p:cTn id="74" dur="500"/>
                                        <p:tgtEl>
                                          <p:spTgt spid="242"/>
                                        </p:tgtEl>
                                      </p:cBhvr>
                                    </p:animEffect>
                                  </p:childTnLst>
                                </p:cTn>
                              </p:par>
                            </p:childTnLst>
                          </p:cTn>
                        </p:par>
                        <p:par>
                          <p:cTn id="75" fill="hold">
                            <p:stCondLst>
                              <p:cond delay="500"/>
                            </p:stCondLst>
                            <p:childTnLst>
                              <p:par>
                                <p:cTn id="76" presetID="9" presetClass="entr" presetSubtype="0" fill="hold" nodeType="afterEffect">
                                  <p:stCondLst>
                                    <p:cond delay="0"/>
                                  </p:stCondLst>
                                  <p:childTnLst>
                                    <p:set>
                                      <p:cBhvr>
                                        <p:cTn id="77" dur="1" fill="hold">
                                          <p:stCondLst>
                                            <p:cond delay="0"/>
                                          </p:stCondLst>
                                        </p:cTn>
                                        <p:tgtEl>
                                          <p:spTgt spid="241">
                                            <p:txEl>
                                              <p:pRg st="0" end="0"/>
                                            </p:txEl>
                                          </p:spTgt>
                                        </p:tgtEl>
                                        <p:attrNameLst>
                                          <p:attrName>style.visibility</p:attrName>
                                        </p:attrNameLst>
                                      </p:cBhvr>
                                      <p:to>
                                        <p:strVal val="visible"/>
                                      </p:to>
                                    </p:set>
                                    <p:animEffect transition="in" filter="dissolve">
                                      <p:cBhvr>
                                        <p:cTn id="78" dur="500"/>
                                        <p:tgtEl>
                                          <p:spTgt spid="241">
                                            <p:txEl>
                                              <p:pRg st="0" end="0"/>
                                            </p:txEl>
                                          </p:spTgt>
                                        </p:tgtEl>
                                      </p:cBhvr>
                                    </p:animEffect>
                                  </p:childTnLst>
                                </p:cTn>
                              </p:par>
                            </p:childTnLst>
                          </p:cTn>
                        </p:par>
                        <p:par>
                          <p:cTn id="79" fill="hold">
                            <p:stCondLst>
                              <p:cond delay="1000"/>
                            </p:stCondLst>
                            <p:childTnLst>
                              <p:par>
                                <p:cTn id="80" presetID="9" presetClass="entr" presetSubtype="0" fill="hold" grpId="0" nodeType="afterEffect">
                                  <p:stCondLst>
                                    <p:cond delay="0"/>
                                  </p:stCondLst>
                                  <p:childTnLst>
                                    <p:set>
                                      <p:cBhvr>
                                        <p:cTn id="81" dur="1" fill="hold">
                                          <p:stCondLst>
                                            <p:cond delay="0"/>
                                          </p:stCondLst>
                                        </p:cTn>
                                        <p:tgtEl>
                                          <p:spTgt spid="233"/>
                                        </p:tgtEl>
                                        <p:attrNameLst>
                                          <p:attrName>style.visibility</p:attrName>
                                        </p:attrNameLst>
                                      </p:cBhvr>
                                      <p:to>
                                        <p:strVal val="visible"/>
                                      </p:to>
                                    </p:set>
                                    <p:animEffect transition="in" filter="dissolve">
                                      <p:cBhvr>
                                        <p:cTn id="82" dur="500"/>
                                        <p:tgtEl>
                                          <p:spTgt spid="233"/>
                                        </p:tgtEl>
                                      </p:cBhvr>
                                    </p:animEffect>
                                  </p:childTnLst>
                                </p:cTn>
                              </p:par>
                            </p:childTnLst>
                          </p:cTn>
                        </p:par>
                        <p:par>
                          <p:cTn id="83" fill="hold">
                            <p:stCondLst>
                              <p:cond delay="1500"/>
                            </p:stCondLst>
                            <p:childTnLst>
                              <p:par>
                                <p:cTn id="84" presetID="22" presetClass="entr" presetSubtype="2" fill="hold" nodeType="afterEffect">
                                  <p:stCondLst>
                                    <p:cond delay="0"/>
                                  </p:stCondLst>
                                  <p:childTnLst>
                                    <p:set>
                                      <p:cBhvr>
                                        <p:cTn id="85" dur="1" fill="hold">
                                          <p:stCondLst>
                                            <p:cond delay="0"/>
                                          </p:stCondLst>
                                        </p:cTn>
                                        <p:tgtEl>
                                          <p:spTgt spid="251"/>
                                        </p:tgtEl>
                                        <p:attrNameLst>
                                          <p:attrName>style.visibility</p:attrName>
                                        </p:attrNameLst>
                                      </p:cBhvr>
                                      <p:to>
                                        <p:strVal val="visible"/>
                                      </p:to>
                                    </p:set>
                                    <p:animEffect transition="in" filter="wipe(right)">
                                      <p:cBhvr>
                                        <p:cTn id="86" dur="500"/>
                                        <p:tgtEl>
                                          <p:spTgt spid="251"/>
                                        </p:tgtEl>
                                      </p:cBhvr>
                                    </p:animEffect>
                                  </p:childTnLst>
                                </p:cTn>
                              </p:par>
                            </p:childTnLst>
                          </p:cTn>
                        </p:par>
                        <p:par>
                          <p:cTn id="87" fill="hold">
                            <p:stCondLst>
                              <p:cond delay="2000"/>
                            </p:stCondLst>
                            <p:childTnLst>
                              <p:par>
                                <p:cTn id="88" presetID="9" presetClass="entr" presetSubtype="0" fill="hold" grpId="0" nodeType="afterEffect">
                                  <p:stCondLst>
                                    <p:cond delay="0"/>
                                  </p:stCondLst>
                                  <p:childTnLst>
                                    <p:set>
                                      <p:cBhvr>
                                        <p:cTn id="89" dur="1" fill="hold">
                                          <p:stCondLst>
                                            <p:cond delay="0"/>
                                          </p:stCondLst>
                                        </p:cTn>
                                        <p:tgtEl>
                                          <p:spTgt spid="236"/>
                                        </p:tgtEl>
                                        <p:attrNameLst>
                                          <p:attrName>style.visibility</p:attrName>
                                        </p:attrNameLst>
                                      </p:cBhvr>
                                      <p:to>
                                        <p:strVal val="visible"/>
                                      </p:to>
                                    </p:set>
                                    <p:animEffect transition="in" filter="dissolve">
                                      <p:cBhvr>
                                        <p:cTn id="90" dur="500"/>
                                        <p:tgtEl>
                                          <p:spTgt spid="236"/>
                                        </p:tgtEl>
                                      </p:cBhvr>
                                    </p:animEffect>
                                  </p:childTnLst>
                                </p:cTn>
                              </p:par>
                            </p:childTnLst>
                          </p:cTn>
                        </p:par>
                        <p:par>
                          <p:cTn id="91" fill="hold">
                            <p:stCondLst>
                              <p:cond delay="2500"/>
                            </p:stCondLst>
                            <p:childTnLst>
                              <p:par>
                                <p:cTn id="92" presetID="9" presetClass="entr" presetSubtype="0" fill="hold" grpId="0" nodeType="afterEffect">
                                  <p:stCondLst>
                                    <p:cond delay="0"/>
                                  </p:stCondLst>
                                  <p:childTnLst>
                                    <p:set>
                                      <p:cBhvr>
                                        <p:cTn id="93" dur="1" fill="hold">
                                          <p:stCondLst>
                                            <p:cond delay="0"/>
                                          </p:stCondLst>
                                        </p:cTn>
                                        <p:tgtEl>
                                          <p:spTgt spid="238"/>
                                        </p:tgtEl>
                                        <p:attrNameLst>
                                          <p:attrName>style.visibility</p:attrName>
                                        </p:attrNameLst>
                                      </p:cBhvr>
                                      <p:to>
                                        <p:strVal val="visible"/>
                                      </p:to>
                                    </p:set>
                                    <p:animEffect transition="in" filter="dissolve">
                                      <p:cBhvr>
                                        <p:cTn id="94" dur="500"/>
                                        <p:tgtEl>
                                          <p:spTgt spid="238"/>
                                        </p:tgtEl>
                                      </p:cBhvr>
                                    </p:animEffect>
                                  </p:childTnLst>
                                </p:cTn>
                              </p:par>
                            </p:childTnLst>
                          </p:cTn>
                        </p:par>
                        <p:par>
                          <p:cTn id="95" fill="hold">
                            <p:stCondLst>
                              <p:cond delay="3000"/>
                            </p:stCondLst>
                            <p:childTnLst>
                              <p:par>
                                <p:cTn id="96" presetID="22" presetClass="entr" presetSubtype="8" fill="hold" nodeType="afterEffect">
                                  <p:stCondLst>
                                    <p:cond delay="0"/>
                                  </p:stCondLst>
                                  <p:childTnLst>
                                    <p:set>
                                      <p:cBhvr>
                                        <p:cTn id="97" dur="1" fill="hold">
                                          <p:stCondLst>
                                            <p:cond delay="0"/>
                                          </p:stCondLst>
                                        </p:cTn>
                                        <p:tgtEl>
                                          <p:spTgt spid="258"/>
                                        </p:tgtEl>
                                        <p:attrNameLst>
                                          <p:attrName>style.visibility</p:attrName>
                                        </p:attrNameLst>
                                      </p:cBhvr>
                                      <p:to>
                                        <p:strVal val="visible"/>
                                      </p:to>
                                    </p:set>
                                    <p:animEffect transition="in" filter="wipe(left)">
                                      <p:cBhvr>
                                        <p:cTn id="98" dur="500"/>
                                        <p:tgtEl>
                                          <p:spTgt spid="258"/>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nodeType="clickEffect">
                                  <p:stCondLst>
                                    <p:cond delay="0"/>
                                  </p:stCondLst>
                                  <p:childTnLst>
                                    <p:set>
                                      <p:cBhvr>
                                        <p:cTn id="102" dur="1" fill="hold">
                                          <p:stCondLst>
                                            <p:cond delay="0"/>
                                          </p:stCondLst>
                                        </p:cTn>
                                        <p:tgtEl>
                                          <p:spTgt spid="263"/>
                                        </p:tgtEl>
                                        <p:attrNameLst>
                                          <p:attrName>style.visibility</p:attrName>
                                        </p:attrNameLst>
                                      </p:cBhvr>
                                      <p:to>
                                        <p:strVal val="visible"/>
                                      </p:to>
                                    </p:set>
                                    <p:animEffect transition="in" filter="wipe(up)">
                                      <p:cBhvr>
                                        <p:cTn id="103" dur="1000"/>
                                        <p:tgtEl>
                                          <p:spTgt spid="263"/>
                                        </p:tgtEl>
                                      </p:cBhvr>
                                    </p:animEffect>
                                  </p:childTnLst>
                                </p:cTn>
                              </p:par>
                            </p:childTnLst>
                          </p:cTn>
                        </p:par>
                        <p:par>
                          <p:cTn id="104" fill="hold">
                            <p:stCondLst>
                              <p:cond delay="1000"/>
                            </p:stCondLst>
                            <p:childTnLst>
                              <p:par>
                                <p:cTn id="105" presetID="9" presetClass="entr" presetSubtype="0" fill="hold" nodeType="afterEffect">
                                  <p:stCondLst>
                                    <p:cond delay="0"/>
                                  </p:stCondLst>
                                  <p:childTnLst>
                                    <p:set>
                                      <p:cBhvr>
                                        <p:cTn id="106" dur="1" fill="hold">
                                          <p:stCondLst>
                                            <p:cond delay="0"/>
                                          </p:stCondLst>
                                        </p:cTn>
                                        <p:tgtEl>
                                          <p:spTgt spid="270"/>
                                        </p:tgtEl>
                                        <p:attrNameLst>
                                          <p:attrName>style.visibility</p:attrName>
                                        </p:attrNameLst>
                                      </p:cBhvr>
                                      <p:to>
                                        <p:strVal val="visible"/>
                                      </p:to>
                                    </p:set>
                                    <p:animEffect transition="in" filter="dissolve">
                                      <p:cBhvr>
                                        <p:cTn id="107" dur="500"/>
                                        <p:tgtEl>
                                          <p:spTgt spid="27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67"/>
                                        </p:tgtEl>
                                        <p:attrNameLst>
                                          <p:attrName>style.visibility</p:attrName>
                                        </p:attrNameLst>
                                      </p:cBhvr>
                                      <p:to>
                                        <p:strVal val="visible"/>
                                      </p:to>
                                    </p:set>
                                    <p:animEffect transition="in" filter="wipe(left)">
                                      <p:cBhvr>
                                        <p:cTn id="112" dur="500"/>
                                        <p:tgtEl>
                                          <p:spTgt spid="267"/>
                                        </p:tgtEl>
                                      </p:cBhvr>
                                    </p:animEffect>
                                  </p:childTnLst>
                                </p:cTn>
                              </p:par>
                            </p:childTnLst>
                          </p:cTn>
                        </p:par>
                        <p:par>
                          <p:cTn id="113" fill="hold">
                            <p:stCondLst>
                              <p:cond delay="500"/>
                            </p:stCondLst>
                            <p:childTnLst>
                              <p:par>
                                <p:cTn id="114" presetID="9" presetClass="entr" presetSubtype="0" fill="hold" nodeType="afterEffect">
                                  <p:stCondLst>
                                    <p:cond delay="0"/>
                                  </p:stCondLst>
                                  <p:childTnLst>
                                    <p:set>
                                      <p:cBhvr>
                                        <p:cTn id="115" dur="1" fill="hold">
                                          <p:stCondLst>
                                            <p:cond delay="0"/>
                                          </p:stCondLst>
                                        </p:cTn>
                                        <p:tgtEl>
                                          <p:spTgt spid="231">
                                            <p:txEl>
                                              <p:pRg st="0" end="0"/>
                                            </p:txEl>
                                          </p:spTgt>
                                        </p:tgtEl>
                                        <p:attrNameLst>
                                          <p:attrName>style.visibility</p:attrName>
                                        </p:attrNameLst>
                                      </p:cBhvr>
                                      <p:to>
                                        <p:strVal val="visible"/>
                                      </p:to>
                                    </p:set>
                                    <p:animEffect transition="in" filter="dissolve">
                                      <p:cBhvr>
                                        <p:cTn id="116" dur="500"/>
                                        <p:tgtEl>
                                          <p:spTgt spid="231">
                                            <p:txEl>
                                              <p:pRg st="0" end="0"/>
                                            </p:txEl>
                                          </p:spTgt>
                                        </p:tgtEl>
                                      </p:cBhvr>
                                    </p:animEffect>
                                  </p:childTnLst>
                                </p:cTn>
                              </p:par>
                            </p:childTnLst>
                          </p:cTn>
                        </p:par>
                        <p:par>
                          <p:cTn id="117" fill="hold">
                            <p:stCondLst>
                              <p:cond delay="1000"/>
                            </p:stCondLst>
                            <p:childTnLst>
                              <p:par>
                                <p:cTn id="118" presetID="9" presetClass="entr" presetSubtype="0" fill="hold" grpId="0" nodeType="afterEffect">
                                  <p:stCondLst>
                                    <p:cond delay="0"/>
                                  </p:stCondLst>
                                  <p:childTnLst>
                                    <p:set>
                                      <p:cBhvr>
                                        <p:cTn id="119" dur="1" fill="hold">
                                          <p:stCondLst>
                                            <p:cond delay="0"/>
                                          </p:stCondLst>
                                        </p:cTn>
                                        <p:tgtEl>
                                          <p:spTgt spid="234"/>
                                        </p:tgtEl>
                                        <p:attrNameLst>
                                          <p:attrName>style.visibility</p:attrName>
                                        </p:attrNameLst>
                                      </p:cBhvr>
                                      <p:to>
                                        <p:strVal val="visible"/>
                                      </p:to>
                                    </p:set>
                                    <p:animEffect transition="in" filter="dissolve">
                                      <p:cBhvr>
                                        <p:cTn id="120" dur="500"/>
                                        <p:tgtEl>
                                          <p:spTgt spid="234"/>
                                        </p:tgtEl>
                                      </p:cBhvr>
                                    </p:animEffect>
                                  </p:childTnLst>
                                </p:cTn>
                              </p:par>
                            </p:childTnLst>
                          </p:cTn>
                        </p:par>
                        <p:par>
                          <p:cTn id="121" fill="hold">
                            <p:stCondLst>
                              <p:cond delay="1500"/>
                            </p:stCondLst>
                            <p:childTnLst>
                              <p:par>
                                <p:cTn id="122" presetID="22" presetClass="entr" presetSubtype="2" fill="hold" nodeType="afterEffect">
                                  <p:stCondLst>
                                    <p:cond delay="0"/>
                                  </p:stCondLst>
                                  <p:childTnLst>
                                    <p:set>
                                      <p:cBhvr>
                                        <p:cTn id="123" dur="1" fill="hold">
                                          <p:stCondLst>
                                            <p:cond delay="0"/>
                                          </p:stCondLst>
                                        </p:cTn>
                                        <p:tgtEl>
                                          <p:spTgt spid="248"/>
                                        </p:tgtEl>
                                        <p:attrNameLst>
                                          <p:attrName>style.visibility</p:attrName>
                                        </p:attrNameLst>
                                      </p:cBhvr>
                                      <p:to>
                                        <p:strVal val="visible"/>
                                      </p:to>
                                    </p:set>
                                    <p:animEffect transition="in" filter="wipe(right)">
                                      <p:cBhvr>
                                        <p:cTn id="124" dur="500"/>
                                        <p:tgtEl>
                                          <p:spTgt spid="248"/>
                                        </p:tgtEl>
                                      </p:cBhvr>
                                    </p:animEffect>
                                  </p:childTnLst>
                                </p:cTn>
                              </p:par>
                            </p:childTnLst>
                          </p:cTn>
                        </p:par>
                        <p:par>
                          <p:cTn id="125" fill="hold">
                            <p:stCondLst>
                              <p:cond delay="2000"/>
                            </p:stCondLst>
                            <p:childTnLst>
                              <p:par>
                                <p:cTn id="126" presetID="9" presetClass="entr" presetSubtype="0" fill="hold" grpId="0" nodeType="afterEffect">
                                  <p:stCondLst>
                                    <p:cond delay="0"/>
                                  </p:stCondLst>
                                  <p:childTnLst>
                                    <p:set>
                                      <p:cBhvr>
                                        <p:cTn id="127" dur="1" fill="hold">
                                          <p:stCondLst>
                                            <p:cond delay="0"/>
                                          </p:stCondLst>
                                        </p:cTn>
                                        <p:tgtEl>
                                          <p:spTgt spid="239"/>
                                        </p:tgtEl>
                                        <p:attrNameLst>
                                          <p:attrName>style.visibility</p:attrName>
                                        </p:attrNameLst>
                                      </p:cBhvr>
                                      <p:to>
                                        <p:strVal val="visible"/>
                                      </p:to>
                                    </p:set>
                                    <p:animEffect transition="in" filter="dissolve">
                                      <p:cBhvr>
                                        <p:cTn id="128" dur="500"/>
                                        <p:tgtEl>
                                          <p:spTgt spid="239"/>
                                        </p:tgtEl>
                                      </p:cBhvr>
                                    </p:animEffect>
                                  </p:childTnLst>
                                </p:cTn>
                              </p:par>
                            </p:childTnLst>
                          </p:cTn>
                        </p:par>
                        <p:par>
                          <p:cTn id="129" fill="hold">
                            <p:stCondLst>
                              <p:cond delay="2500"/>
                            </p:stCondLst>
                            <p:childTnLst>
                              <p:par>
                                <p:cTn id="130" presetID="9" presetClass="entr" presetSubtype="0" fill="hold" grpId="0" nodeType="afterEffect">
                                  <p:stCondLst>
                                    <p:cond delay="0"/>
                                  </p:stCondLst>
                                  <p:childTnLst>
                                    <p:set>
                                      <p:cBhvr>
                                        <p:cTn id="131" dur="1" fill="hold">
                                          <p:stCondLst>
                                            <p:cond delay="0"/>
                                          </p:stCondLst>
                                        </p:cTn>
                                        <p:tgtEl>
                                          <p:spTgt spid="237"/>
                                        </p:tgtEl>
                                        <p:attrNameLst>
                                          <p:attrName>style.visibility</p:attrName>
                                        </p:attrNameLst>
                                      </p:cBhvr>
                                      <p:to>
                                        <p:strVal val="visible"/>
                                      </p:to>
                                    </p:set>
                                    <p:animEffect transition="in" filter="dissolve">
                                      <p:cBhvr>
                                        <p:cTn id="132" dur="500"/>
                                        <p:tgtEl>
                                          <p:spTgt spid="237"/>
                                        </p:tgtEl>
                                      </p:cBhvr>
                                    </p:animEffect>
                                  </p:childTnLst>
                                </p:cTn>
                              </p:par>
                            </p:childTnLst>
                          </p:cTn>
                        </p:par>
                        <p:par>
                          <p:cTn id="133" fill="hold">
                            <p:stCondLst>
                              <p:cond delay="3000"/>
                            </p:stCondLst>
                            <p:childTnLst>
                              <p:par>
                                <p:cTn id="134" presetID="22" presetClass="entr" presetSubtype="8" fill="hold" nodeType="afterEffect">
                                  <p:stCondLst>
                                    <p:cond delay="0"/>
                                  </p:stCondLst>
                                  <p:childTnLst>
                                    <p:set>
                                      <p:cBhvr>
                                        <p:cTn id="135" dur="1" fill="hold">
                                          <p:stCondLst>
                                            <p:cond delay="0"/>
                                          </p:stCondLst>
                                        </p:cTn>
                                        <p:tgtEl>
                                          <p:spTgt spid="245"/>
                                        </p:tgtEl>
                                        <p:attrNameLst>
                                          <p:attrName>style.visibility</p:attrName>
                                        </p:attrNameLst>
                                      </p:cBhvr>
                                      <p:to>
                                        <p:strVal val="visible"/>
                                      </p:to>
                                    </p:set>
                                    <p:animEffect transition="in" filter="wipe(left)">
                                      <p:cBhvr>
                                        <p:cTn id="136" dur="500"/>
                                        <p:tgtEl>
                                          <p:spTgt spid="245"/>
                                        </p:tgtEl>
                                      </p:cBhvr>
                                    </p:animEffect>
                                  </p:childTnLst>
                                </p:cTn>
                              </p:par>
                            </p:childTnLst>
                          </p:cTn>
                        </p:par>
                        <p:par>
                          <p:cTn id="137" fill="hold">
                            <p:stCondLst>
                              <p:cond delay="3500"/>
                            </p:stCondLst>
                            <p:childTnLst>
                              <p:par>
                                <p:cTn id="138" presetID="9" presetClass="entr" presetSubtype="0" fill="hold" grpId="0" nodeType="afterEffect">
                                  <p:stCondLst>
                                    <p:cond delay="0"/>
                                  </p:stCondLst>
                                  <p:childTnLst>
                                    <p:set>
                                      <p:cBhvr>
                                        <p:cTn id="139" dur="1" fill="hold">
                                          <p:stCondLst>
                                            <p:cond delay="0"/>
                                          </p:stCondLst>
                                        </p:cTn>
                                        <p:tgtEl>
                                          <p:spTgt spid="232"/>
                                        </p:tgtEl>
                                        <p:attrNameLst>
                                          <p:attrName>style.visibility</p:attrName>
                                        </p:attrNameLst>
                                      </p:cBhvr>
                                      <p:to>
                                        <p:strVal val="visible"/>
                                      </p:to>
                                    </p:set>
                                    <p:animEffect transition="in" filter="dissolve">
                                      <p:cBhvr>
                                        <p:cTn id="140" dur="500"/>
                                        <p:tgtEl>
                                          <p:spTgt spid="232"/>
                                        </p:tgtEl>
                                      </p:cBhvr>
                                    </p:animEffect>
                                  </p:childTnLst>
                                </p:cTn>
                              </p:par>
                            </p:childTnLst>
                          </p:cTn>
                        </p:par>
                        <p:par>
                          <p:cTn id="141" fill="hold">
                            <p:stCondLst>
                              <p:cond delay="4000"/>
                            </p:stCondLst>
                            <p:childTnLst>
                              <p:par>
                                <p:cTn id="142" presetID="9" presetClass="entr" presetSubtype="0" fill="hold" nodeType="afterEffect">
                                  <p:stCondLst>
                                    <p:cond delay="0"/>
                                  </p:stCondLst>
                                  <p:childTnLst>
                                    <p:set>
                                      <p:cBhvr>
                                        <p:cTn id="143" dur="1" fill="hold">
                                          <p:stCondLst>
                                            <p:cond delay="0"/>
                                          </p:stCondLst>
                                        </p:cTn>
                                        <p:tgtEl>
                                          <p:spTgt spid="235">
                                            <p:txEl>
                                              <p:pRg st="0" end="0"/>
                                            </p:txEl>
                                          </p:spTgt>
                                        </p:tgtEl>
                                        <p:attrNameLst>
                                          <p:attrName>style.visibility</p:attrName>
                                        </p:attrNameLst>
                                      </p:cBhvr>
                                      <p:to>
                                        <p:strVal val="visible"/>
                                      </p:to>
                                    </p:set>
                                    <p:animEffect transition="in" filter="dissolve">
                                      <p:cBhvr>
                                        <p:cTn id="144" dur="500"/>
                                        <p:tgtEl>
                                          <p:spTgt spid="235">
                                            <p:txEl>
                                              <p:pRg st="0" end="0"/>
                                            </p:txEl>
                                          </p:spTgt>
                                        </p:tgtEl>
                                      </p:cBhvr>
                                    </p:animEffect>
                                  </p:childTnLst>
                                </p:cTn>
                              </p:par>
                            </p:childTnLst>
                          </p:cTn>
                        </p:par>
                        <p:par>
                          <p:cTn id="145" fill="hold">
                            <p:stCondLst>
                              <p:cond delay="4500"/>
                            </p:stCondLst>
                            <p:childTnLst>
                              <p:par>
                                <p:cTn id="146" presetID="22" presetClass="entr" presetSubtype="2" fill="hold" nodeType="afterEffect">
                                  <p:stCondLst>
                                    <p:cond delay="0"/>
                                  </p:stCondLst>
                                  <p:childTnLst>
                                    <p:set>
                                      <p:cBhvr>
                                        <p:cTn id="147" dur="1" fill="hold">
                                          <p:stCondLst>
                                            <p:cond delay="0"/>
                                          </p:stCondLst>
                                        </p:cTn>
                                        <p:tgtEl>
                                          <p:spTgt spid="254"/>
                                        </p:tgtEl>
                                        <p:attrNameLst>
                                          <p:attrName>style.visibility</p:attrName>
                                        </p:attrNameLst>
                                      </p:cBhvr>
                                      <p:to>
                                        <p:strVal val="visible"/>
                                      </p:to>
                                    </p:set>
                                    <p:animEffect transition="in" filter="wipe(right)">
                                      <p:cBhvr>
                                        <p:cTn id="148" dur="5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P spid="201" grpId="0"/>
      <p:bldP spid="202" grpId="0"/>
      <p:bldP spid="204" grpId="0"/>
      <p:bldP spid="205" grpId="0"/>
      <p:bldP spid="206" grpId="0"/>
      <p:bldP spid="207" grpId="0"/>
      <p:bldP spid="232" grpId="0"/>
      <p:bldP spid="233" grpId="0"/>
      <p:bldP spid="234" grpId="0"/>
      <p:bldP spid="236" grpId="0"/>
      <p:bldP spid="237" grpId="0"/>
      <p:bldP spid="238" grpId="0"/>
      <p:bldP spid="23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rdt3.0 in action</a:t>
            </a:r>
            <a:endParaRPr lang="en-US" dirty="0"/>
          </a:p>
        </p:txBody>
      </p:sp>
      <p:sp>
        <p:nvSpPr>
          <p:cNvPr id="195" name="Text Box 6">
            <a:extLst>
              <a:ext uri="{FF2B5EF4-FFF2-40B4-BE49-F238E27FC236}">
                <a16:creationId xmlns:a16="http://schemas.microsoft.com/office/drawing/2014/main" id="{5A635095-B168-6547-905F-EEE95C499F52}"/>
              </a:ext>
            </a:extLst>
          </p:cNvPr>
          <p:cNvSpPr txBox="1">
            <a:spLocks noChangeArrowheads="1"/>
          </p:cNvSpPr>
          <p:nvPr/>
        </p:nvSpPr>
        <p:spPr bwMode="auto">
          <a:xfrm>
            <a:off x="2829687" y="3194419"/>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pkt1</a:t>
            </a:r>
          </a:p>
        </p:txBody>
      </p:sp>
      <p:sp>
        <p:nvSpPr>
          <p:cNvPr id="196" name="Text Box 9">
            <a:extLst>
              <a:ext uri="{FF2B5EF4-FFF2-40B4-BE49-F238E27FC236}">
                <a16:creationId xmlns:a16="http://schemas.microsoft.com/office/drawing/2014/main" id="{1E7311AC-A147-DB41-AA1F-73BD95A39E2B}"/>
              </a:ext>
            </a:extLst>
          </p:cNvPr>
          <p:cNvSpPr txBox="1">
            <a:spLocks noChangeArrowheads="1"/>
          </p:cNvSpPr>
          <p:nvPr/>
        </p:nvSpPr>
        <p:spPr bwMode="auto">
          <a:xfrm>
            <a:off x="2828966" y="3363488"/>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ack1</a:t>
            </a:r>
          </a:p>
        </p:txBody>
      </p:sp>
      <p:sp>
        <p:nvSpPr>
          <p:cNvPr id="273" name="Text Box 14">
            <a:extLst>
              <a:ext uri="{FF2B5EF4-FFF2-40B4-BE49-F238E27FC236}">
                <a16:creationId xmlns:a16="http://schemas.microsoft.com/office/drawing/2014/main" id="{409D0892-9C8F-2149-B834-184894F39DBD}"/>
              </a:ext>
            </a:extLst>
          </p:cNvPr>
          <p:cNvSpPr txBox="1">
            <a:spLocks noChangeArrowheads="1"/>
          </p:cNvSpPr>
          <p:nvPr/>
        </p:nvSpPr>
        <p:spPr bwMode="auto">
          <a:xfrm>
            <a:off x="2816124" y="4256457"/>
            <a:ext cx="1228221"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050" kern="0" dirty="0">
                <a:solidFill>
                  <a:srgbClr val="000000"/>
                </a:solidFill>
              </a:rPr>
              <a:t>(detect duplicate)</a:t>
            </a:r>
          </a:p>
        </p:txBody>
      </p:sp>
      <p:grpSp>
        <p:nvGrpSpPr>
          <p:cNvPr id="274" name="Group 23">
            <a:extLst>
              <a:ext uri="{FF2B5EF4-FFF2-40B4-BE49-F238E27FC236}">
                <a16:creationId xmlns:a16="http://schemas.microsoft.com/office/drawing/2014/main" id="{8D20C6C0-28A0-C246-9D35-B42FDBBFDD8A}"/>
              </a:ext>
            </a:extLst>
          </p:cNvPr>
          <p:cNvGrpSpPr>
            <a:grpSpLocks/>
          </p:cNvGrpSpPr>
          <p:nvPr/>
        </p:nvGrpSpPr>
        <p:grpSpPr bwMode="auto">
          <a:xfrm>
            <a:off x="1755025" y="3024161"/>
            <a:ext cx="1103709" cy="461963"/>
            <a:chOff x="855" y="1710"/>
            <a:chExt cx="927" cy="388"/>
          </a:xfrm>
        </p:grpSpPr>
        <p:sp>
          <p:nvSpPr>
            <p:cNvPr id="275" name="Line 24">
              <a:extLst>
                <a:ext uri="{FF2B5EF4-FFF2-40B4-BE49-F238E27FC236}">
                  <a16:creationId xmlns:a16="http://schemas.microsoft.com/office/drawing/2014/main" id="{AB2C7FF5-194E-424E-A678-F27614F6E314}"/>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76" name="Text Box 25">
              <a:extLst>
                <a:ext uri="{FF2B5EF4-FFF2-40B4-BE49-F238E27FC236}">
                  <a16:creationId xmlns:a16="http://schemas.microsoft.com/office/drawing/2014/main" id="{91B56F05-73A0-CA48-A68C-D3D878B4CB0A}"/>
                </a:ext>
              </a:extLst>
            </p:cNvPr>
            <p:cNvSpPr txBox="1">
              <a:spLocks noChangeArrowheads="1"/>
            </p:cNvSpPr>
            <p:nvPr/>
          </p:nvSpPr>
          <p:spPr bwMode="auto">
            <a:xfrm>
              <a:off x="1094" y="1710"/>
              <a:ext cx="358" cy="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pkt1</a:t>
              </a:r>
            </a:p>
          </p:txBody>
        </p:sp>
      </p:grpSp>
      <p:sp>
        <p:nvSpPr>
          <p:cNvPr id="277" name="Text Box 36">
            <a:extLst>
              <a:ext uri="{FF2B5EF4-FFF2-40B4-BE49-F238E27FC236}">
                <a16:creationId xmlns:a16="http://schemas.microsoft.com/office/drawing/2014/main" id="{A10D19C6-F703-1A41-91CC-A3820207AF15}"/>
              </a:ext>
            </a:extLst>
          </p:cNvPr>
          <p:cNvSpPr txBox="1">
            <a:spLocks noChangeArrowheads="1"/>
          </p:cNvSpPr>
          <p:nvPr/>
        </p:nvSpPr>
        <p:spPr bwMode="auto">
          <a:xfrm>
            <a:off x="988023" y="1988316"/>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i="1" u="sng" kern="0" dirty="0">
                <a:solidFill>
                  <a:srgbClr val="000099"/>
                </a:solidFill>
              </a:rPr>
              <a:t>sender</a:t>
            </a:r>
          </a:p>
        </p:txBody>
      </p:sp>
      <p:sp>
        <p:nvSpPr>
          <p:cNvPr id="278" name="Text Box 37">
            <a:extLst>
              <a:ext uri="{FF2B5EF4-FFF2-40B4-BE49-F238E27FC236}">
                <a16:creationId xmlns:a16="http://schemas.microsoft.com/office/drawing/2014/main" id="{4D23E56F-4BAF-244A-8268-3064BA9B2FD9}"/>
              </a:ext>
            </a:extLst>
          </p:cNvPr>
          <p:cNvSpPr txBox="1">
            <a:spLocks noChangeArrowheads="1"/>
          </p:cNvSpPr>
          <p:nvPr/>
        </p:nvSpPr>
        <p:spPr bwMode="auto">
          <a:xfrm>
            <a:off x="2819723" y="1984745"/>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i="1" u="sng" kern="0" dirty="0">
                <a:solidFill>
                  <a:srgbClr val="008000"/>
                </a:solidFill>
              </a:rPr>
              <a:t>receiver</a:t>
            </a:r>
          </a:p>
        </p:txBody>
      </p:sp>
      <p:sp>
        <p:nvSpPr>
          <p:cNvPr id="279" name="Text Box 38">
            <a:extLst>
              <a:ext uri="{FF2B5EF4-FFF2-40B4-BE49-F238E27FC236}">
                <a16:creationId xmlns:a16="http://schemas.microsoft.com/office/drawing/2014/main" id="{BCD18C35-AE28-B84F-8B95-BD8971D6ACDF}"/>
              </a:ext>
            </a:extLst>
          </p:cNvPr>
          <p:cNvSpPr txBox="1">
            <a:spLocks noChangeArrowheads="1"/>
          </p:cNvSpPr>
          <p:nvPr/>
        </p:nvSpPr>
        <p:spPr bwMode="auto">
          <a:xfrm>
            <a:off x="2827306" y="4055241"/>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pkt1</a:t>
            </a:r>
          </a:p>
        </p:txBody>
      </p:sp>
      <p:sp>
        <p:nvSpPr>
          <p:cNvPr id="280" name="Text Box 39">
            <a:extLst>
              <a:ext uri="{FF2B5EF4-FFF2-40B4-BE49-F238E27FC236}">
                <a16:creationId xmlns:a16="http://schemas.microsoft.com/office/drawing/2014/main" id="{E1A9B504-FFF2-AA46-A3DC-EBAD335B427B}"/>
              </a:ext>
            </a:extLst>
          </p:cNvPr>
          <p:cNvSpPr txBox="1">
            <a:spLocks noChangeArrowheads="1"/>
          </p:cNvSpPr>
          <p:nvPr/>
        </p:nvSpPr>
        <p:spPr bwMode="auto">
          <a:xfrm>
            <a:off x="2824925" y="4802953"/>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pkt0</a:t>
            </a:r>
          </a:p>
        </p:txBody>
      </p:sp>
      <p:sp>
        <p:nvSpPr>
          <p:cNvPr id="281" name="Text Box 40">
            <a:extLst>
              <a:ext uri="{FF2B5EF4-FFF2-40B4-BE49-F238E27FC236}">
                <a16:creationId xmlns:a16="http://schemas.microsoft.com/office/drawing/2014/main" id="{A05E70F9-FA7E-6B48-AC70-41697A63C5FE}"/>
              </a:ext>
            </a:extLst>
          </p:cNvPr>
          <p:cNvSpPr txBox="1">
            <a:spLocks noChangeArrowheads="1"/>
          </p:cNvSpPr>
          <p:nvPr/>
        </p:nvSpPr>
        <p:spPr bwMode="auto">
          <a:xfrm>
            <a:off x="2821822" y="2688403"/>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ack0</a:t>
            </a:r>
          </a:p>
        </p:txBody>
      </p:sp>
      <p:sp>
        <p:nvSpPr>
          <p:cNvPr id="282" name="Text Box 41">
            <a:extLst>
              <a:ext uri="{FF2B5EF4-FFF2-40B4-BE49-F238E27FC236}">
                <a16:creationId xmlns:a16="http://schemas.microsoft.com/office/drawing/2014/main" id="{E564A8A2-3558-EE42-9AC7-2523324BDAF0}"/>
              </a:ext>
            </a:extLst>
          </p:cNvPr>
          <p:cNvSpPr txBox="1">
            <a:spLocks noChangeArrowheads="1"/>
          </p:cNvSpPr>
          <p:nvPr/>
        </p:nvSpPr>
        <p:spPr bwMode="auto">
          <a:xfrm>
            <a:off x="2836110" y="4371947"/>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ack1</a:t>
            </a:r>
          </a:p>
        </p:txBody>
      </p:sp>
      <p:sp>
        <p:nvSpPr>
          <p:cNvPr id="283" name="Text Box 42">
            <a:extLst>
              <a:ext uri="{FF2B5EF4-FFF2-40B4-BE49-F238E27FC236}">
                <a16:creationId xmlns:a16="http://schemas.microsoft.com/office/drawing/2014/main" id="{DEF916D1-809A-BA40-A5B1-34E2FDDEEA8D}"/>
              </a:ext>
            </a:extLst>
          </p:cNvPr>
          <p:cNvSpPr txBox="1">
            <a:spLocks noChangeArrowheads="1"/>
          </p:cNvSpPr>
          <p:nvPr/>
        </p:nvSpPr>
        <p:spPr bwMode="auto">
          <a:xfrm>
            <a:off x="2819441" y="4949401"/>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ack0</a:t>
            </a:r>
          </a:p>
        </p:txBody>
      </p:sp>
      <p:sp>
        <p:nvSpPr>
          <p:cNvPr id="284" name="Text Box 43">
            <a:extLst>
              <a:ext uri="{FF2B5EF4-FFF2-40B4-BE49-F238E27FC236}">
                <a16:creationId xmlns:a16="http://schemas.microsoft.com/office/drawing/2014/main" id="{5231F227-2FF2-3443-8341-ED4D7B878332}"/>
              </a:ext>
            </a:extLst>
          </p:cNvPr>
          <p:cNvSpPr txBox="1">
            <a:spLocks noChangeArrowheads="1"/>
          </p:cNvSpPr>
          <p:nvPr/>
        </p:nvSpPr>
        <p:spPr bwMode="auto">
          <a:xfrm>
            <a:off x="933730" y="2875332"/>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ack0</a:t>
            </a:r>
          </a:p>
        </p:txBody>
      </p:sp>
      <p:sp>
        <p:nvSpPr>
          <p:cNvPr id="285" name="Text Box 44">
            <a:extLst>
              <a:ext uri="{FF2B5EF4-FFF2-40B4-BE49-F238E27FC236}">
                <a16:creationId xmlns:a16="http://schemas.microsoft.com/office/drawing/2014/main" id="{57F09442-8520-6346-9555-BA6B8892F737}"/>
              </a:ext>
            </a:extLst>
          </p:cNvPr>
          <p:cNvSpPr txBox="1">
            <a:spLocks noChangeArrowheads="1"/>
          </p:cNvSpPr>
          <p:nvPr/>
        </p:nvSpPr>
        <p:spPr bwMode="auto">
          <a:xfrm>
            <a:off x="817292" y="4654126"/>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pkt0</a:t>
            </a:r>
          </a:p>
        </p:txBody>
      </p:sp>
      <p:sp>
        <p:nvSpPr>
          <p:cNvPr id="286" name="Text Box 45">
            <a:extLst>
              <a:ext uri="{FF2B5EF4-FFF2-40B4-BE49-F238E27FC236}">
                <a16:creationId xmlns:a16="http://schemas.microsoft.com/office/drawing/2014/main" id="{6246AD45-20D9-A842-8A93-203B089C2816}"/>
              </a:ext>
            </a:extLst>
          </p:cNvPr>
          <p:cNvSpPr txBox="1">
            <a:spLocks noChangeArrowheads="1"/>
          </p:cNvSpPr>
          <p:nvPr/>
        </p:nvSpPr>
        <p:spPr bwMode="auto">
          <a:xfrm>
            <a:off x="817292" y="3039638"/>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pkt1</a:t>
            </a:r>
          </a:p>
        </p:txBody>
      </p:sp>
      <p:sp>
        <p:nvSpPr>
          <p:cNvPr id="287" name="Text Box 46">
            <a:extLst>
              <a:ext uri="{FF2B5EF4-FFF2-40B4-BE49-F238E27FC236}">
                <a16:creationId xmlns:a16="http://schemas.microsoft.com/office/drawing/2014/main" id="{B3446ADC-6E33-9A4A-8580-704E895E6A43}"/>
              </a:ext>
            </a:extLst>
          </p:cNvPr>
          <p:cNvSpPr txBox="1">
            <a:spLocks noChangeArrowheads="1"/>
          </p:cNvSpPr>
          <p:nvPr/>
        </p:nvSpPr>
        <p:spPr bwMode="auto">
          <a:xfrm>
            <a:off x="925396" y="4474341"/>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ack1</a:t>
            </a:r>
          </a:p>
        </p:txBody>
      </p:sp>
      <p:sp>
        <p:nvSpPr>
          <p:cNvPr id="288" name="Text Box 47">
            <a:extLst>
              <a:ext uri="{FF2B5EF4-FFF2-40B4-BE49-F238E27FC236}">
                <a16:creationId xmlns:a16="http://schemas.microsoft.com/office/drawing/2014/main" id="{1584F6F9-F103-DA4E-8931-3BF82548B1A2}"/>
              </a:ext>
            </a:extLst>
          </p:cNvPr>
          <p:cNvSpPr txBox="1">
            <a:spLocks noChangeArrowheads="1"/>
          </p:cNvSpPr>
          <p:nvPr/>
        </p:nvSpPr>
        <p:spPr bwMode="auto">
          <a:xfrm>
            <a:off x="808958" y="2318119"/>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pkt0</a:t>
            </a:r>
          </a:p>
        </p:txBody>
      </p:sp>
      <p:sp>
        <p:nvSpPr>
          <p:cNvPr id="289" name="Text Box 48">
            <a:extLst>
              <a:ext uri="{FF2B5EF4-FFF2-40B4-BE49-F238E27FC236}">
                <a16:creationId xmlns:a16="http://schemas.microsoft.com/office/drawing/2014/main" id="{383B815A-927A-6E4B-999F-39A6ADC85C5A}"/>
              </a:ext>
            </a:extLst>
          </p:cNvPr>
          <p:cNvSpPr txBox="1">
            <a:spLocks noChangeArrowheads="1"/>
          </p:cNvSpPr>
          <p:nvPr/>
        </p:nvSpPr>
        <p:spPr bwMode="auto">
          <a:xfrm>
            <a:off x="2816591" y="2530051"/>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pkt0</a:t>
            </a:r>
          </a:p>
        </p:txBody>
      </p:sp>
      <p:grpSp>
        <p:nvGrpSpPr>
          <p:cNvPr id="290" name="Group 49">
            <a:extLst>
              <a:ext uri="{FF2B5EF4-FFF2-40B4-BE49-F238E27FC236}">
                <a16:creationId xmlns:a16="http://schemas.microsoft.com/office/drawing/2014/main" id="{8562259A-164F-BC42-B6F5-14769677AAE8}"/>
              </a:ext>
            </a:extLst>
          </p:cNvPr>
          <p:cNvGrpSpPr>
            <a:grpSpLocks/>
          </p:cNvGrpSpPr>
          <p:nvPr/>
        </p:nvGrpSpPr>
        <p:grpSpPr bwMode="auto">
          <a:xfrm>
            <a:off x="1747881" y="2370507"/>
            <a:ext cx="1103709" cy="384572"/>
            <a:chOff x="850" y="1159"/>
            <a:chExt cx="927" cy="323"/>
          </a:xfrm>
        </p:grpSpPr>
        <p:sp>
          <p:nvSpPr>
            <p:cNvPr id="291" name="Line 50">
              <a:extLst>
                <a:ext uri="{FF2B5EF4-FFF2-40B4-BE49-F238E27FC236}">
                  <a16:creationId xmlns:a16="http://schemas.microsoft.com/office/drawing/2014/main" id="{DED07D6B-2A85-524C-803C-3B4D7CAF3684}"/>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92" name="Text Box 51">
              <a:extLst>
                <a:ext uri="{FF2B5EF4-FFF2-40B4-BE49-F238E27FC236}">
                  <a16:creationId xmlns:a16="http://schemas.microsoft.com/office/drawing/2014/main" id="{CD69A5B9-BD2D-004E-9C70-23F8747697BB}"/>
                </a:ext>
              </a:extLst>
            </p:cNvPr>
            <p:cNvSpPr txBox="1">
              <a:spLocks noChangeArrowheads="1"/>
            </p:cNvSpPr>
            <p:nvPr/>
          </p:nvSpPr>
          <p:spPr bwMode="auto">
            <a:xfrm>
              <a:off x="1079" y="1159"/>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pkt0</a:t>
              </a:r>
            </a:p>
          </p:txBody>
        </p:sp>
      </p:grpSp>
      <p:grpSp>
        <p:nvGrpSpPr>
          <p:cNvPr id="293" name="Group 52">
            <a:extLst>
              <a:ext uri="{FF2B5EF4-FFF2-40B4-BE49-F238E27FC236}">
                <a16:creationId xmlns:a16="http://schemas.microsoft.com/office/drawing/2014/main" id="{4B96DCED-77AA-4D43-95F9-63AB2DDBE966}"/>
              </a:ext>
            </a:extLst>
          </p:cNvPr>
          <p:cNvGrpSpPr>
            <a:grpSpLocks/>
          </p:cNvGrpSpPr>
          <p:nvPr/>
        </p:nvGrpSpPr>
        <p:grpSpPr bwMode="auto">
          <a:xfrm>
            <a:off x="1743119" y="4631504"/>
            <a:ext cx="1103709" cy="365522"/>
            <a:chOff x="846" y="2253"/>
            <a:chExt cx="927" cy="307"/>
          </a:xfrm>
        </p:grpSpPr>
        <p:sp>
          <p:nvSpPr>
            <p:cNvPr id="294" name="Line 53">
              <a:extLst>
                <a:ext uri="{FF2B5EF4-FFF2-40B4-BE49-F238E27FC236}">
                  <a16:creationId xmlns:a16="http://schemas.microsoft.com/office/drawing/2014/main" id="{AAD90053-D3F5-F24C-92AC-BBDD518066AC}"/>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95" name="Text Box 54">
              <a:extLst>
                <a:ext uri="{FF2B5EF4-FFF2-40B4-BE49-F238E27FC236}">
                  <a16:creationId xmlns:a16="http://schemas.microsoft.com/office/drawing/2014/main" id="{D8FC3F0C-42E9-D444-ACA6-A378F3C24F00}"/>
                </a:ext>
              </a:extLst>
            </p:cNvPr>
            <p:cNvSpPr txBox="1">
              <a:spLocks noChangeArrowheads="1"/>
            </p:cNvSpPr>
            <p:nvPr/>
          </p:nvSpPr>
          <p:spPr bwMode="auto">
            <a:xfrm>
              <a:off x="1076" y="2253"/>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pkt0</a:t>
              </a:r>
            </a:p>
          </p:txBody>
        </p:sp>
      </p:grpSp>
      <p:grpSp>
        <p:nvGrpSpPr>
          <p:cNvPr id="296" name="Group 55">
            <a:extLst>
              <a:ext uri="{FF2B5EF4-FFF2-40B4-BE49-F238E27FC236}">
                <a16:creationId xmlns:a16="http://schemas.microsoft.com/office/drawing/2014/main" id="{24203F03-FCBF-6540-BB8B-EC539536546D}"/>
              </a:ext>
            </a:extLst>
          </p:cNvPr>
          <p:cNvGrpSpPr>
            <a:grpSpLocks/>
          </p:cNvGrpSpPr>
          <p:nvPr/>
        </p:nvGrpSpPr>
        <p:grpSpPr bwMode="auto">
          <a:xfrm>
            <a:off x="1743119" y="4333847"/>
            <a:ext cx="1103709" cy="353616"/>
            <a:chOff x="846" y="2003"/>
            <a:chExt cx="927" cy="297"/>
          </a:xfrm>
        </p:grpSpPr>
        <p:sp>
          <p:nvSpPr>
            <p:cNvPr id="297" name="Line 56">
              <a:extLst>
                <a:ext uri="{FF2B5EF4-FFF2-40B4-BE49-F238E27FC236}">
                  <a16:creationId xmlns:a16="http://schemas.microsoft.com/office/drawing/2014/main" id="{503FC297-DE1B-4C41-A8CE-1137B0A2DB26}"/>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298" name="Text Box 57">
              <a:extLst>
                <a:ext uri="{FF2B5EF4-FFF2-40B4-BE49-F238E27FC236}">
                  <a16:creationId xmlns:a16="http://schemas.microsoft.com/office/drawing/2014/main" id="{8F988178-9347-4A46-8B60-8D8AF00EC5D3}"/>
                </a:ext>
              </a:extLst>
            </p:cNvPr>
            <p:cNvSpPr txBox="1">
              <a:spLocks noChangeArrowheads="1"/>
            </p:cNvSpPr>
            <p:nvPr/>
          </p:nvSpPr>
          <p:spPr bwMode="auto">
            <a:xfrm>
              <a:off x="1071" y="2003"/>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8000"/>
                  </a:solidFill>
                  <a:latin typeface="Arial" charset="0"/>
                </a:rPr>
                <a:t>ack1</a:t>
              </a:r>
            </a:p>
          </p:txBody>
        </p:sp>
      </p:grpSp>
      <p:grpSp>
        <p:nvGrpSpPr>
          <p:cNvPr id="299" name="Group 58">
            <a:extLst>
              <a:ext uri="{FF2B5EF4-FFF2-40B4-BE49-F238E27FC236}">
                <a16:creationId xmlns:a16="http://schemas.microsoft.com/office/drawing/2014/main" id="{1CE09882-0DDF-F14F-827F-637288F4016A}"/>
              </a:ext>
            </a:extLst>
          </p:cNvPr>
          <p:cNvGrpSpPr>
            <a:grpSpLocks/>
          </p:cNvGrpSpPr>
          <p:nvPr/>
        </p:nvGrpSpPr>
        <p:grpSpPr bwMode="auto">
          <a:xfrm>
            <a:off x="1737165" y="2745553"/>
            <a:ext cx="1103710" cy="461963"/>
            <a:chOff x="841" y="1474"/>
            <a:chExt cx="927" cy="388"/>
          </a:xfrm>
        </p:grpSpPr>
        <p:sp>
          <p:nvSpPr>
            <p:cNvPr id="300" name="Line 59">
              <a:extLst>
                <a:ext uri="{FF2B5EF4-FFF2-40B4-BE49-F238E27FC236}">
                  <a16:creationId xmlns:a16="http://schemas.microsoft.com/office/drawing/2014/main" id="{B7E84F08-D45F-3E4B-BF03-DAEF18A24CD4}"/>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301" name="Text Box 60">
              <a:extLst>
                <a:ext uri="{FF2B5EF4-FFF2-40B4-BE49-F238E27FC236}">
                  <a16:creationId xmlns:a16="http://schemas.microsoft.com/office/drawing/2014/main" id="{CE717B46-7D6B-DF45-A6E9-79E5D50205AC}"/>
                </a:ext>
              </a:extLst>
            </p:cNvPr>
            <p:cNvSpPr txBox="1">
              <a:spLocks noChangeArrowheads="1"/>
            </p:cNvSpPr>
            <p:nvPr/>
          </p:nvSpPr>
          <p:spPr bwMode="auto">
            <a:xfrm>
              <a:off x="1089" y="1474"/>
              <a:ext cx="386" cy="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8000"/>
                  </a:solidFill>
                  <a:latin typeface="Arial" charset="0"/>
                </a:rPr>
                <a:t>ack0</a:t>
              </a:r>
            </a:p>
          </p:txBody>
        </p:sp>
      </p:grpSp>
      <p:grpSp>
        <p:nvGrpSpPr>
          <p:cNvPr id="302" name="Group 61">
            <a:extLst>
              <a:ext uri="{FF2B5EF4-FFF2-40B4-BE49-F238E27FC236}">
                <a16:creationId xmlns:a16="http://schemas.microsoft.com/office/drawing/2014/main" id="{3E6AD5AC-94ED-974B-873C-94815E36AD2F}"/>
              </a:ext>
            </a:extLst>
          </p:cNvPr>
          <p:cNvGrpSpPr>
            <a:grpSpLocks/>
          </p:cNvGrpSpPr>
          <p:nvPr/>
        </p:nvGrpSpPr>
        <p:grpSpPr bwMode="auto">
          <a:xfrm>
            <a:off x="1732403" y="4973213"/>
            <a:ext cx="1103710" cy="346472"/>
            <a:chOff x="837" y="2540"/>
            <a:chExt cx="927" cy="291"/>
          </a:xfrm>
        </p:grpSpPr>
        <p:sp>
          <p:nvSpPr>
            <p:cNvPr id="303" name="Line 62">
              <a:extLst>
                <a:ext uri="{FF2B5EF4-FFF2-40B4-BE49-F238E27FC236}">
                  <a16:creationId xmlns:a16="http://schemas.microsoft.com/office/drawing/2014/main" id="{38E324B9-A111-5A40-AC68-D6C9C91F60FB}"/>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304" name="Text Box 63">
              <a:extLst>
                <a:ext uri="{FF2B5EF4-FFF2-40B4-BE49-F238E27FC236}">
                  <a16:creationId xmlns:a16="http://schemas.microsoft.com/office/drawing/2014/main" id="{7A059B4B-B11C-B640-906E-CE9430C87E54}"/>
                </a:ext>
              </a:extLst>
            </p:cNvPr>
            <p:cNvSpPr txBox="1">
              <a:spLocks noChangeArrowheads="1"/>
            </p:cNvSpPr>
            <p:nvPr/>
          </p:nvSpPr>
          <p:spPr bwMode="auto">
            <a:xfrm>
              <a:off x="1065" y="2540"/>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8000"/>
                  </a:solidFill>
                  <a:latin typeface="Arial" charset="0"/>
                </a:rPr>
                <a:t>ack0</a:t>
              </a:r>
            </a:p>
          </p:txBody>
        </p:sp>
      </p:grpSp>
      <p:sp>
        <p:nvSpPr>
          <p:cNvPr id="305" name="Text Box 64">
            <a:extLst>
              <a:ext uri="{FF2B5EF4-FFF2-40B4-BE49-F238E27FC236}">
                <a16:creationId xmlns:a16="http://schemas.microsoft.com/office/drawing/2014/main" id="{B354EC4B-A0CC-554E-9AF4-6B26CE89E83C}"/>
              </a:ext>
            </a:extLst>
          </p:cNvPr>
          <p:cNvSpPr txBox="1">
            <a:spLocks noChangeArrowheads="1"/>
          </p:cNvSpPr>
          <p:nvPr/>
        </p:nvSpPr>
        <p:spPr bwMode="auto">
          <a:xfrm>
            <a:off x="1552285" y="5507803"/>
            <a:ext cx="1103187"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(c) ACK loss</a:t>
            </a:r>
          </a:p>
        </p:txBody>
      </p:sp>
      <p:grpSp>
        <p:nvGrpSpPr>
          <p:cNvPr id="306" name="Group 81">
            <a:extLst>
              <a:ext uri="{FF2B5EF4-FFF2-40B4-BE49-F238E27FC236}">
                <a16:creationId xmlns:a16="http://schemas.microsoft.com/office/drawing/2014/main" id="{F0BA1E0C-D158-AD48-808B-0CA4BE37C566}"/>
              </a:ext>
            </a:extLst>
          </p:cNvPr>
          <p:cNvGrpSpPr>
            <a:grpSpLocks/>
          </p:cNvGrpSpPr>
          <p:nvPr/>
        </p:nvGrpSpPr>
        <p:grpSpPr bwMode="auto">
          <a:xfrm>
            <a:off x="1922904" y="3324198"/>
            <a:ext cx="933450" cy="564357"/>
            <a:chOff x="1304" y="1931"/>
            <a:chExt cx="784" cy="474"/>
          </a:xfrm>
        </p:grpSpPr>
        <p:sp>
          <p:nvSpPr>
            <p:cNvPr id="307" name="Line 27">
              <a:extLst>
                <a:ext uri="{FF2B5EF4-FFF2-40B4-BE49-F238E27FC236}">
                  <a16:creationId xmlns:a16="http://schemas.microsoft.com/office/drawing/2014/main" id="{22D759EC-1570-E14E-A705-1C29B01A88C0}"/>
                </a:ext>
              </a:extLst>
            </p:cNvPr>
            <p:cNvSpPr>
              <a:spLocks noChangeShapeType="1"/>
            </p:cNvSpPr>
            <p:nvPr/>
          </p:nvSpPr>
          <p:spPr bwMode="auto">
            <a:xfrm flipH="1">
              <a:off x="1514" y="2031"/>
              <a:ext cx="574" cy="13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308" name="Text Box 28">
              <a:extLst>
                <a:ext uri="{FF2B5EF4-FFF2-40B4-BE49-F238E27FC236}">
                  <a16:creationId xmlns:a16="http://schemas.microsoft.com/office/drawing/2014/main" id="{EC8706FB-0F57-5F44-9CC9-6AD3D0C5C5AE}"/>
                </a:ext>
              </a:extLst>
            </p:cNvPr>
            <p:cNvSpPr txBox="1">
              <a:spLocks noChangeArrowheads="1"/>
            </p:cNvSpPr>
            <p:nvPr/>
          </p:nvSpPr>
          <p:spPr bwMode="auto">
            <a:xfrm>
              <a:off x="1435" y="1931"/>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kern="0" dirty="0">
                  <a:solidFill>
                    <a:srgbClr val="008000"/>
                  </a:solidFill>
                  <a:latin typeface="Arial" charset="0"/>
                </a:rPr>
                <a:t>ack1</a:t>
              </a:r>
            </a:p>
          </p:txBody>
        </p:sp>
        <p:sp>
          <p:nvSpPr>
            <p:cNvPr id="309" name="Text Box 68">
              <a:extLst>
                <a:ext uri="{FF2B5EF4-FFF2-40B4-BE49-F238E27FC236}">
                  <a16:creationId xmlns:a16="http://schemas.microsoft.com/office/drawing/2014/main" id="{FA39AC61-1540-1D40-8578-6A512366144A}"/>
                </a:ext>
              </a:extLst>
            </p:cNvPr>
            <p:cNvSpPr txBox="1">
              <a:spLocks noChangeArrowheads="1"/>
            </p:cNvSpPr>
            <p:nvPr/>
          </p:nvSpPr>
          <p:spPr bwMode="auto">
            <a:xfrm>
              <a:off x="1363" y="2040"/>
              <a:ext cx="255"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b="1" kern="0" dirty="0">
                  <a:solidFill>
                    <a:srgbClr val="FF0000"/>
                  </a:solidFill>
                </a:rPr>
                <a:t>X</a:t>
              </a:r>
            </a:p>
          </p:txBody>
        </p:sp>
        <p:sp>
          <p:nvSpPr>
            <p:cNvPr id="310" name="Text Box 69">
              <a:extLst>
                <a:ext uri="{FF2B5EF4-FFF2-40B4-BE49-F238E27FC236}">
                  <a16:creationId xmlns:a16="http://schemas.microsoft.com/office/drawing/2014/main" id="{DD1F8E52-8BD2-B048-B07C-1EE5ECD6A0B6}"/>
                </a:ext>
              </a:extLst>
            </p:cNvPr>
            <p:cNvSpPr txBox="1">
              <a:spLocks noChangeArrowheads="1"/>
            </p:cNvSpPr>
            <p:nvPr/>
          </p:nvSpPr>
          <p:spPr bwMode="auto">
            <a:xfrm>
              <a:off x="1304" y="2172"/>
              <a:ext cx="371"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i="1" kern="0" dirty="0">
                  <a:solidFill>
                    <a:srgbClr val="FF0000"/>
                  </a:solidFill>
                </a:rPr>
                <a:t>loss</a:t>
              </a:r>
            </a:p>
          </p:txBody>
        </p:sp>
      </p:grpSp>
      <p:grpSp>
        <p:nvGrpSpPr>
          <p:cNvPr id="311" name="Group 70">
            <a:extLst>
              <a:ext uri="{FF2B5EF4-FFF2-40B4-BE49-F238E27FC236}">
                <a16:creationId xmlns:a16="http://schemas.microsoft.com/office/drawing/2014/main" id="{0F4BECD0-A491-8F40-BFEC-E8C9A042D61A}"/>
              </a:ext>
            </a:extLst>
          </p:cNvPr>
          <p:cNvGrpSpPr>
            <a:grpSpLocks/>
          </p:cNvGrpSpPr>
          <p:nvPr/>
        </p:nvGrpSpPr>
        <p:grpSpPr bwMode="auto">
          <a:xfrm>
            <a:off x="1664538" y="3253951"/>
            <a:ext cx="91678" cy="775097"/>
            <a:chOff x="3651" y="1878"/>
            <a:chExt cx="78" cy="963"/>
          </a:xfrm>
        </p:grpSpPr>
        <p:sp>
          <p:nvSpPr>
            <p:cNvPr id="312" name="Line 71">
              <a:extLst>
                <a:ext uri="{FF2B5EF4-FFF2-40B4-BE49-F238E27FC236}">
                  <a16:creationId xmlns:a16="http://schemas.microsoft.com/office/drawing/2014/main" id="{3800A286-BA79-AD44-9BC2-67E3AA25AB56}"/>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313" name="Line 72">
              <a:extLst>
                <a:ext uri="{FF2B5EF4-FFF2-40B4-BE49-F238E27FC236}">
                  <a16:creationId xmlns:a16="http://schemas.microsoft.com/office/drawing/2014/main" id="{EECA67B2-EE21-9647-A7E2-99B65DF6B8E7}"/>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314" name="Line 73">
              <a:extLst>
                <a:ext uri="{FF2B5EF4-FFF2-40B4-BE49-F238E27FC236}">
                  <a16:creationId xmlns:a16="http://schemas.microsoft.com/office/drawing/2014/main" id="{C7DAF5BE-8E96-1645-A520-09432F543BA1}"/>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grpSp>
      <p:grpSp>
        <p:nvGrpSpPr>
          <p:cNvPr id="315" name="Group 74">
            <a:extLst>
              <a:ext uri="{FF2B5EF4-FFF2-40B4-BE49-F238E27FC236}">
                <a16:creationId xmlns:a16="http://schemas.microsoft.com/office/drawing/2014/main" id="{1BEFF8A5-9012-6D4A-9013-3C02315FB8E9}"/>
              </a:ext>
            </a:extLst>
          </p:cNvPr>
          <p:cNvGrpSpPr>
            <a:grpSpLocks/>
          </p:cNvGrpSpPr>
          <p:nvPr/>
        </p:nvGrpSpPr>
        <p:grpSpPr bwMode="auto">
          <a:xfrm>
            <a:off x="1760978" y="3995710"/>
            <a:ext cx="1103710" cy="378619"/>
            <a:chOff x="855" y="1710"/>
            <a:chExt cx="927" cy="318"/>
          </a:xfrm>
        </p:grpSpPr>
        <p:sp>
          <p:nvSpPr>
            <p:cNvPr id="316" name="Line 75">
              <a:extLst>
                <a:ext uri="{FF2B5EF4-FFF2-40B4-BE49-F238E27FC236}">
                  <a16:creationId xmlns:a16="http://schemas.microsoft.com/office/drawing/2014/main" id="{31B804E1-5043-E048-A6C7-2C9ABAF18BE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317" name="Text Box 76">
              <a:extLst>
                <a:ext uri="{FF2B5EF4-FFF2-40B4-BE49-F238E27FC236}">
                  <a16:creationId xmlns:a16="http://schemas.microsoft.com/office/drawing/2014/main" id="{F8255321-E596-D34A-BD87-A23F4355FA6A}"/>
                </a:ext>
              </a:extLst>
            </p:cNvPr>
            <p:cNvSpPr txBox="1">
              <a:spLocks noChangeArrowheads="1"/>
            </p:cNvSpPr>
            <p:nvPr/>
          </p:nvSpPr>
          <p:spPr bwMode="auto">
            <a:xfrm>
              <a:off x="1073" y="1710"/>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pkt1</a:t>
              </a:r>
            </a:p>
          </p:txBody>
        </p:sp>
      </p:grpSp>
      <p:grpSp>
        <p:nvGrpSpPr>
          <p:cNvPr id="318" name="Group 77">
            <a:extLst>
              <a:ext uri="{FF2B5EF4-FFF2-40B4-BE49-F238E27FC236}">
                <a16:creationId xmlns:a16="http://schemas.microsoft.com/office/drawing/2014/main" id="{D0861418-8DD8-9E45-9C41-C33C40AF1238}"/>
              </a:ext>
            </a:extLst>
          </p:cNvPr>
          <p:cNvGrpSpPr>
            <a:grpSpLocks/>
          </p:cNvGrpSpPr>
          <p:nvPr/>
        </p:nvGrpSpPr>
        <p:grpSpPr bwMode="auto">
          <a:xfrm>
            <a:off x="632264" y="3713532"/>
            <a:ext cx="1088231" cy="573881"/>
            <a:chOff x="2756" y="2348"/>
            <a:chExt cx="914" cy="482"/>
          </a:xfrm>
        </p:grpSpPr>
        <p:pic>
          <p:nvPicPr>
            <p:cNvPr id="319" name="Picture 78" descr="alarm_clock_ringing">
              <a:extLst>
                <a:ext uri="{FF2B5EF4-FFF2-40B4-BE49-F238E27FC236}">
                  <a16:creationId xmlns:a16="http://schemas.microsoft.com/office/drawing/2014/main" id="{CA0CA6DF-4FBE-6743-93FF-E0C9F335D5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0" name="Text Box 79">
              <a:extLst>
                <a:ext uri="{FF2B5EF4-FFF2-40B4-BE49-F238E27FC236}">
                  <a16:creationId xmlns:a16="http://schemas.microsoft.com/office/drawing/2014/main" id="{82C9EDC8-20F1-B14C-A40E-35B14CA33EE3}"/>
                </a:ext>
              </a:extLst>
            </p:cNvPr>
            <p:cNvSpPr txBox="1">
              <a:spLocks noChangeArrowheads="1"/>
            </p:cNvSpPr>
            <p:nvPr/>
          </p:nvSpPr>
          <p:spPr bwMode="auto">
            <a:xfrm>
              <a:off x="2756" y="2491"/>
              <a:ext cx="914" cy="3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a:lnSpc>
                  <a:spcPct val="75000"/>
                </a:lnSpc>
                <a:defRPr/>
              </a:pPr>
              <a:r>
                <a:rPr lang="en-US" sz="1350" i="1" kern="0" dirty="0">
                  <a:solidFill>
                    <a:srgbClr val="FF0000"/>
                  </a:solidFill>
                </a:rPr>
                <a:t>timeout</a:t>
              </a:r>
            </a:p>
            <a:p>
              <a:pPr algn="r" defTabSz="685800">
                <a:lnSpc>
                  <a:spcPct val="75000"/>
                </a:lnSpc>
                <a:defRPr/>
              </a:pPr>
              <a:r>
                <a:rPr lang="en-US" sz="1350" kern="0" dirty="0">
                  <a:solidFill>
                    <a:srgbClr val="000000"/>
                  </a:solidFill>
                </a:rPr>
                <a:t>resend pkt1</a:t>
              </a:r>
            </a:p>
          </p:txBody>
        </p:sp>
      </p:grpSp>
      <p:sp>
        <p:nvSpPr>
          <p:cNvPr id="321" name="Text Box 82">
            <a:extLst>
              <a:ext uri="{FF2B5EF4-FFF2-40B4-BE49-F238E27FC236}">
                <a16:creationId xmlns:a16="http://schemas.microsoft.com/office/drawing/2014/main" id="{C3BC6622-0188-3B48-9C96-F9E517E26A75}"/>
              </a:ext>
            </a:extLst>
          </p:cNvPr>
          <p:cNvSpPr txBox="1">
            <a:spLocks noChangeArrowheads="1"/>
          </p:cNvSpPr>
          <p:nvPr/>
        </p:nvSpPr>
        <p:spPr bwMode="auto">
          <a:xfrm>
            <a:off x="7092635" y="2840803"/>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pkt1</a:t>
            </a:r>
          </a:p>
        </p:txBody>
      </p:sp>
      <p:sp>
        <p:nvSpPr>
          <p:cNvPr id="322" name="Text Box 83">
            <a:extLst>
              <a:ext uri="{FF2B5EF4-FFF2-40B4-BE49-F238E27FC236}">
                <a16:creationId xmlns:a16="http://schemas.microsoft.com/office/drawing/2014/main" id="{E5238B09-CD9D-F446-B43E-64ED2305BCA1}"/>
              </a:ext>
            </a:extLst>
          </p:cNvPr>
          <p:cNvSpPr txBox="1">
            <a:spLocks noChangeArrowheads="1"/>
          </p:cNvSpPr>
          <p:nvPr/>
        </p:nvSpPr>
        <p:spPr bwMode="auto">
          <a:xfrm>
            <a:off x="7091913" y="3009872"/>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ack1</a:t>
            </a:r>
          </a:p>
        </p:txBody>
      </p:sp>
      <p:sp>
        <p:nvSpPr>
          <p:cNvPr id="323" name="Text Box 84">
            <a:extLst>
              <a:ext uri="{FF2B5EF4-FFF2-40B4-BE49-F238E27FC236}">
                <a16:creationId xmlns:a16="http://schemas.microsoft.com/office/drawing/2014/main" id="{E3231EF7-5B96-594B-87F0-6BCB45F9A675}"/>
              </a:ext>
            </a:extLst>
          </p:cNvPr>
          <p:cNvSpPr txBox="1">
            <a:spLocks noChangeArrowheads="1"/>
          </p:cNvSpPr>
          <p:nvPr/>
        </p:nvSpPr>
        <p:spPr bwMode="auto">
          <a:xfrm>
            <a:off x="7048781" y="3982046"/>
            <a:ext cx="1228221"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050" kern="0" dirty="0">
                <a:solidFill>
                  <a:srgbClr val="000000"/>
                </a:solidFill>
              </a:rPr>
              <a:t>(detect duplicate)</a:t>
            </a:r>
          </a:p>
        </p:txBody>
      </p:sp>
      <p:grpSp>
        <p:nvGrpSpPr>
          <p:cNvPr id="324" name="Group 85">
            <a:extLst>
              <a:ext uri="{FF2B5EF4-FFF2-40B4-BE49-F238E27FC236}">
                <a16:creationId xmlns:a16="http://schemas.microsoft.com/office/drawing/2014/main" id="{66501723-D8A6-084B-9A24-1F0DB083080C}"/>
              </a:ext>
            </a:extLst>
          </p:cNvPr>
          <p:cNvGrpSpPr>
            <a:grpSpLocks/>
          </p:cNvGrpSpPr>
          <p:nvPr/>
        </p:nvGrpSpPr>
        <p:grpSpPr bwMode="auto">
          <a:xfrm>
            <a:off x="6017972" y="2745555"/>
            <a:ext cx="1103709" cy="461963"/>
            <a:chOff x="855" y="1773"/>
            <a:chExt cx="927" cy="388"/>
          </a:xfrm>
        </p:grpSpPr>
        <p:sp>
          <p:nvSpPr>
            <p:cNvPr id="325" name="Line 86">
              <a:extLst>
                <a:ext uri="{FF2B5EF4-FFF2-40B4-BE49-F238E27FC236}">
                  <a16:creationId xmlns:a16="http://schemas.microsoft.com/office/drawing/2014/main" id="{359487AF-0120-2342-A4AE-46F977FFF250}"/>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326" name="Text Box 87">
              <a:extLst>
                <a:ext uri="{FF2B5EF4-FFF2-40B4-BE49-F238E27FC236}">
                  <a16:creationId xmlns:a16="http://schemas.microsoft.com/office/drawing/2014/main" id="{FFBC575A-0945-E543-9B9D-B6458E74F86E}"/>
                </a:ext>
              </a:extLst>
            </p:cNvPr>
            <p:cNvSpPr txBox="1">
              <a:spLocks noChangeArrowheads="1"/>
            </p:cNvSpPr>
            <p:nvPr/>
          </p:nvSpPr>
          <p:spPr bwMode="auto">
            <a:xfrm>
              <a:off x="1094" y="1773"/>
              <a:ext cx="358" cy="388"/>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pkt1</a:t>
              </a:r>
            </a:p>
          </p:txBody>
        </p:sp>
      </p:grpSp>
      <p:sp>
        <p:nvSpPr>
          <p:cNvPr id="327" name="Text Box 88">
            <a:extLst>
              <a:ext uri="{FF2B5EF4-FFF2-40B4-BE49-F238E27FC236}">
                <a16:creationId xmlns:a16="http://schemas.microsoft.com/office/drawing/2014/main" id="{14273DE0-71B8-4647-B8BB-454BDE001869}"/>
              </a:ext>
            </a:extLst>
          </p:cNvPr>
          <p:cNvSpPr txBox="1">
            <a:spLocks noChangeArrowheads="1"/>
          </p:cNvSpPr>
          <p:nvPr/>
        </p:nvSpPr>
        <p:spPr bwMode="auto">
          <a:xfrm>
            <a:off x="5250971" y="1634701"/>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i="1" u="sng" kern="0" dirty="0">
                <a:solidFill>
                  <a:srgbClr val="000099"/>
                </a:solidFill>
              </a:rPr>
              <a:t>sender</a:t>
            </a:r>
          </a:p>
        </p:txBody>
      </p:sp>
      <p:sp>
        <p:nvSpPr>
          <p:cNvPr id="328" name="Text Box 89">
            <a:extLst>
              <a:ext uri="{FF2B5EF4-FFF2-40B4-BE49-F238E27FC236}">
                <a16:creationId xmlns:a16="http://schemas.microsoft.com/office/drawing/2014/main" id="{AE034630-EC82-F846-80B5-78E6A28DE77D}"/>
              </a:ext>
            </a:extLst>
          </p:cNvPr>
          <p:cNvSpPr txBox="1">
            <a:spLocks noChangeArrowheads="1"/>
          </p:cNvSpPr>
          <p:nvPr/>
        </p:nvSpPr>
        <p:spPr bwMode="auto">
          <a:xfrm>
            <a:off x="7082670" y="1631129"/>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i="1" u="sng" kern="0" dirty="0">
                <a:solidFill>
                  <a:srgbClr val="008000"/>
                </a:solidFill>
              </a:rPr>
              <a:t>receiver</a:t>
            </a:r>
          </a:p>
        </p:txBody>
      </p:sp>
      <p:sp>
        <p:nvSpPr>
          <p:cNvPr id="329" name="Text Box 90">
            <a:extLst>
              <a:ext uri="{FF2B5EF4-FFF2-40B4-BE49-F238E27FC236}">
                <a16:creationId xmlns:a16="http://schemas.microsoft.com/office/drawing/2014/main" id="{EC7192DE-620F-2C47-A0BA-1234EA121795}"/>
              </a:ext>
            </a:extLst>
          </p:cNvPr>
          <p:cNvSpPr txBox="1">
            <a:spLocks noChangeArrowheads="1"/>
          </p:cNvSpPr>
          <p:nvPr/>
        </p:nvSpPr>
        <p:spPr bwMode="auto">
          <a:xfrm>
            <a:off x="7098451" y="3772126"/>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pkt1</a:t>
            </a:r>
          </a:p>
        </p:txBody>
      </p:sp>
      <p:sp>
        <p:nvSpPr>
          <p:cNvPr id="330" name="Text Box 92">
            <a:extLst>
              <a:ext uri="{FF2B5EF4-FFF2-40B4-BE49-F238E27FC236}">
                <a16:creationId xmlns:a16="http://schemas.microsoft.com/office/drawing/2014/main" id="{98A83875-EF54-F448-ABB1-BD64BDA4FBFD}"/>
              </a:ext>
            </a:extLst>
          </p:cNvPr>
          <p:cNvSpPr txBox="1">
            <a:spLocks noChangeArrowheads="1"/>
          </p:cNvSpPr>
          <p:nvPr/>
        </p:nvSpPr>
        <p:spPr bwMode="auto">
          <a:xfrm>
            <a:off x="7084770" y="2334788"/>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ack0</a:t>
            </a:r>
          </a:p>
        </p:txBody>
      </p:sp>
      <p:sp>
        <p:nvSpPr>
          <p:cNvPr id="331" name="Text Box 95">
            <a:extLst>
              <a:ext uri="{FF2B5EF4-FFF2-40B4-BE49-F238E27FC236}">
                <a16:creationId xmlns:a16="http://schemas.microsoft.com/office/drawing/2014/main" id="{37B1F438-FDEF-B347-8509-9B348C6264D6}"/>
              </a:ext>
            </a:extLst>
          </p:cNvPr>
          <p:cNvSpPr txBox="1">
            <a:spLocks noChangeArrowheads="1"/>
          </p:cNvSpPr>
          <p:nvPr/>
        </p:nvSpPr>
        <p:spPr bwMode="auto">
          <a:xfrm>
            <a:off x="5196677" y="2521716"/>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ack0</a:t>
            </a:r>
          </a:p>
        </p:txBody>
      </p:sp>
      <p:sp>
        <p:nvSpPr>
          <p:cNvPr id="332" name="Text Box 97">
            <a:extLst>
              <a:ext uri="{FF2B5EF4-FFF2-40B4-BE49-F238E27FC236}">
                <a16:creationId xmlns:a16="http://schemas.microsoft.com/office/drawing/2014/main" id="{81910B15-5127-7D44-BEAC-A0E4CE19C41A}"/>
              </a:ext>
            </a:extLst>
          </p:cNvPr>
          <p:cNvSpPr txBox="1">
            <a:spLocks noChangeArrowheads="1"/>
          </p:cNvSpPr>
          <p:nvPr/>
        </p:nvSpPr>
        <p:spPr bwMode="auto">
          <a:xfrm>
            <a:off x="5080240" y="2686022"/>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pkt1</a:t>
            </a:r>
          </a:p>
        </p:txBody>
      </p:sp>
      <p:sp>
        <p:nvSpPr>
          <p:cNvPr id="333" name="Text Box 99">
            <a:extLst>
              <a:ext uri="{FF2B5EF4-FFF2-40B4-BE49-F238E27FC236}">
                <a16:creationId xmlns:a16="http://schemas.microsoft.com/office/drawing/2014/main" id="{D1B7D9CA-3570-4040-A714-50B92DB38D55}"/>
              </a:ext>
            </a:extLst>
          </p:cNvPr>
          <p:cNvSpPr txBox="1">
            <a:spLocks noChangeArrowheads="1"/>
          </p:cNvSpPr>
          <p:nvPr/>
        </p:nvSpPr>
        <p:spPr bwMode="auto">
          <a:xfrm>
            <a:off x="5071906" y="1964503"/>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pkt0</a:t>
            </a:r>
          </a:p>
        </p:txBody>
      </p:sp>
      <p:sp>
        <p:nvSpPr>
          <p:cNvPr id="334" name="Text Box 100">
            <a:extLst>
              <a:ext uri="{FF2B5EF4-FFF2-40B4-BE49-F238E27FC236}">
                <a16:creationId xmlns:a16="http://schemas.microsoft.com/office/drawing/2014/main" id="{3B58509A-B160-2248-9833-A4B82A2ED789}"/>
              </a:ext>
            </a:extLst>
          </p:cNvPr>
          <p:cNvSpPr txBox="1">
            <a:spLocks noChangeArrowheads="1"/>
          </p:cNvSpPr>
          <p:nvPr/>
        </p:nvSpPr>
        <p:spPr bwMode="auto">
          <a:xfrm>
            <a:off x="7079538" y="2176435"/>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pkt0</a:t>
            </a:r>
          </a:p>
        </p:txBody>
      </p:sp>
      <p:grpSp>
        <p:nvGrpSpPr>
          <p:cNvPr id="335" name="Group 101">
            <a:extLst>
              <a:ext uri="{FF2B5EF4-FFF2-40B4-BE49-F238E27FC236}">
                <a16:creationId xmlns:a16="http://schemas.microsoft.com/office/drawing/2014/main" id="{C65F9F6B-9C52-A645-BBA1-4B4911D27DAB}"/>
              </a:ext>
            </a:extLst>
          </p:cNvPr>
          <p:cNvGrpSpPr>
            <a:grpSpLocks/>
          </p:cNvGrpSpPr>
          <p:nvPr/>
        </p:nvGrpSpPr>
        <p:grpSpPr bwMode="auto">
          <a:xfrm>
            <a:off x="6010829" y="2101424"/>
            <a:ext cx="1103709" cy="300038"/>
            <a:chOff x="850" y="1230"/>
            <a:chExt cx="927" cy="252"/>
          </a:xfrm>
        </p:grpSpPr>
        <p:sp>
          <p:nvSpPr>
            <p:cNvPr id="336" name="Line 102">
              <a:extLst>
                <a:ext uri="{FF2B5EF4-FFF2-40B4-BE49-F238E27FC236}">
                  <a16:creationId xmlns:a16="http://schemas.microsoft.com/office/drawing/2014/main" id="{5A223C03-CC68-654E-9A77-795B0F835221}"/>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337" name="Text Box 103">
              <a:extLst>
                <a:ext uri="{FF2B5EF4-FFF2-40B4-BE49-F238E27FC236}">
                  <a16:creationId xmlns:a16="http://schemas.microsoft.com/office/drawing/2014/main" id="{591D93B9-CEB9-B448-93B7-CBCC3D56D0EA}"/>
                </a:ext>
              </a:extLst>
            </p:cNvPr>
            <p:cNvSpPr txBox="1">
              <a:spLocks noChangeArrowheads="1"/>
            </p:cNvSpPr>
            <p:nvPr/>
          </p:nvSpPr>
          <p:spPr bwMode="auto">
            <a:xfrm>
              <a:off x="1061" y="1230"/>
              <a:ext cx="399" cy="23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pkt0</a:t>
              </a:r>
            </a:p>
          </p:txBody>
        </p:sp>
      </p:grpSp>
      <p:grpSp>
        <p:nvGrpSpPr>
          <p:cNvPr id="338" name="Group 110">
            <a:extLst>
              <a:ext uri="{FF2B5EF4-FFF2-40B4-BE49-F238E27FC236}">
                <a16:creationId xmlns:a16="http://schemas.microsoft.com/office/drawing/2014/main" id="{5327191E-BAE7-194F-AD6B-E343DF47D015}"/>
              </a:ext>
            </a:extLst>
          </p:cNvPr>
          <p:cNvGrpSpPr>
            <a:grpSpLocks/>
          </p:cNvGrpSpPr>
          <p:nvPr/>
        </p:nvGrpSpPr>
        <p:grpSpPr bwMode="auto">
          <a:xfrm>
            <a:off x="6000113" y="2456237"/>
            <a:ext cx="1103710" cy="461963"/>
            <a:chOff x="841" y="1528"/>
            <a:chExt cx="927" cy="388"/>
          </a:xfrm>
        </p:grpSpPr>
        <p:sp>
          <p:nvSpPr>
            <p:cNvPr id="339" name="Line 111">
              <a:extLst>
                <a:ext uri="{FF2B5EF4-FFF2-40B4-BE49-F238E27FC236}">
                  <a16:creationId xmlns:a16="http://schemas.microsoft.com/office/drawing/2014/main" id="{AC100DD9-0DC5-4040-8A3A-1923DC14B2CB}"/>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340" name="Text Box 112">
              <a:extLst>
                <a:ext uri="{FF2B5EF4-FFF2-40B4-BE49-F238E27FC236}">
                  <a16:creationId xmlns:a16="http://schemas.microsoft.com/office/drawing/2014/main" id="{BD326CF1-CC46-8A42-BB2F-F6ECEEBE434A}"/>
                </a:ext>
              </a:extLst>
            </p:cNvPr>
            <p:cNvSpPr txBox="1">
              <a:spLocks noChangeArrowheads="1"/>
            </p:cNvSpPr>
            <p:nvPr/>
          </p:nvSpPr>
          <p:spPr bwMode="auto">
            <a:xfrm>
              <a:off x="1089" y="1528"/>
              <a:ext cx="386" cy="388"/>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8000"/>
                  </a:solidFill>
                  <a:latin typeface="Arial" charset="0"/>
                </a:rPr>
                <a:t>ack0</a:t>
              </a:r>
            </a:p>
          </p:txBody>
        </p:sp>
      </p:grpSp>
      <p:sp>
        <p:nvSpPr>
          <p:cNvPr id="341" name="Text Box 116">
            <a:extLst>
              <a:ext uri="{FF2B5EF4-FFF2-40B4-BE49-F238E27FC236}">
                <a16:creationId xmlns:a16="http://schemas.microsoft.com/office/drawing/2014/main" id="{C179E490-5BA4-5340-B780-1B5B090700B1}"/>
              </a:ext>
            </a:extLst>
          </p:cNvPr>
          <p:cNvSpPr txBox="1">
            <a:spLocks noChangeArrowheads="1"/>
          </p:cNvSpPr>
          <p:nvPr/>
        </p:nvSpPr>
        <p:spPr bwMode="auto">
          <a:xfrm>
            <a:off x="5185458" y="5507733"/>
            <a:ext cx="2977098"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(d) premature timeout/ delayed ACK</a:t>
            </a:r>
          </a:p>
        </p:txBody>
      </p:sp>
      <p:grpSp>
        <p:nvGrpSpPr>
          <p:cNvPr id="342" name="Group 122">
            <a:extLst>
              <a:ext uri="{FF2B5EF4-FFF2-40B4-BE49-F238E27FC236}">
                <a16:creationId xmlns:a16="http://schemas.microsoft.com/office/drawing/2014/main" id="{688804A7-0649-2A4D-B422-8C5736350BF8}"/>
              </a:ext>
            </a:extLst>
          </p:cNvPr>
          <p:cNvGrpSpPr>
            <a:grpSpLocks/>
          </p:cNvGrpSpPr>
          <p:nvPr/>
        </p:nvGrpSpPr>
        <p:grpSpPr bwMode="auto">
          <a:xfrm>
            <a:off x="5927485" y="2900335"/>
            <a:ext cx="91678" cy="775097"/>
            <a:chOff x="3651" y="1878"/>
            <a:chExt cx="78" cy="963"/>
          </a:xfrm>
        </p:grpSpPr>
        <p:sp>
          <p:nvSpPr>
            <p:cNvPr id="343" name="Line 123">
              <a:extLst>
                <a:ext uri="{FF2B5EF4-FFF2-40B4-BE49-F238E27FC236}">
                  <a16:creationId xmlns:a16="http://schemas.microsoft.com/office/drawing/2014/main" id="{BF323BE9-D061-6D4A-B1D7-D5E84F9BF270}"/>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344" name="Line 124">
              <a:extLst>
                <a:ext uri="{FF2B5EF4-FFF2-40B4-BE49-F238E27FC236}">
                  <a16:creationId xmlns:a16="http://schemas.microsoft.com/office/drawing/2014/main" id="{10D5C035-1EBE-4A4B-B8F1-CF66C5C4103F}"/>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345" name="Line 125">
              <a:extLst>
                <a:ext uri="{FF2B5EF4-FFF2-40B4-BE49-F238E27FC236}">
                  <a16:creationId xmlns:a16="http://schemas.microsoft.com/office/drawing/2014/main" id="{0EBA7DAD-11A2-F14D-A517-3B3F7222A539}"/>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grpSp>
      <p:grpSp>
        <p:nvGrpSpPr>
          <p:cNvPr id="346" name="Group 126">
            <a:extLst>
              <a:ext uri="{FF2B5EF4-FFF2-40B4-BE49-F238E27FC236}">
                <a16:creationId xmlns:a16="http://schemas.microsoft.com/office/drawing/2014/main" id="{B70BA022-65A5-4B43-BE01-DB5029C7BB0A}"/>
              </a:ext>
            </a:extLst>
          </p:cNvPr>
          <p:cNvGrpSpPr>
            <a:grpSpLocks/>
          </p:cNvGrpSpPr>
          <p:nvPr/>
        </p:nvGrpSpPr>
        <p:grpSpPr bwMode="auto">
          <a:xfrm>
            <a:off x="6023925" y="3748067"/>
            <a:ext cx="1103710" cy="277417"/>
            <a:chOff x="855" y="1799"/>
            <a:chExt cx="927" cy="233"/>
          </a:xfrm>
        </p:grpSpPr>
        <p:sp>
          <p:nvSpPr>
            <p:cNvPr id="347" name="Line 127">
              <a:extLst>
                <a:ext uri="{FF2B5EF4-FFF2-40B4-BE49-F238E27FC236}">
                  <a16:creationId xmlns:a16="http://schemas.microsoft.com/office/drawing/2014/main" id="{AD191456-37D1-A040-995D-0B74A7DCA3C9}"/>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348" name="Text Box 128">
              <a:extLst>
                <a:ext uri="{FF2B5EF4-FFF2-40B4-BE49-F238E27FC236}">
                  <a16:creationId xmlns:a16="http://schemas.microsoft.com/office/drawing/2014/main" id="{84500C9D-A61F-374E-AC7B-DB3E026212A6}"/>
                </a:ext>
              </a:extLst>
            </p:cNvPr>
            <p:cNvSpPr txBox="1">
              <a:spLocks noChangeArrowheads="1"/>
            </p:cNvSpPr>
            <p:nvPr/>
          </p:nvSpPr>
          <p:spPr bwMode="auto">
            <a:xfrm>
              <a:off x="1100" y="1799"/>
              <a:ext cx="399" cy="23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pkt1</a:t>
              </a:r>
            </a:p>
          </p:txBody>
        </p:sp>
      </p:grpSp>
      <p:grpSp>
        <p:nvGrpSpPr>
          <p:cNvPr id="349" name="Group 129">
            <a:extLst>
              <a:ext uri="{FF2B5EF4-FFF2-40B4-BE49-F238E27FC236}">
                <a16:creationId xmlns:a16="http://schemas.microsoft.com/office/drawing/2014/main" id="{06ADBC4E-4170-0642-9773-7507C6CC3A52}"/>
              </a:ext>
            </a:extLst>
          </p:cNvPr>
          <p:cNvGrpSpPr>
            <a:grpSpLocks/>
          </p:cNvGrpSpPr>
          <p:nvPr/>
        </p:nvGrpSpPr>
        <p:grpSpPr bwMode="auto">
          <a:xfrm>
            <a:off x="4895212" y="3359914"/>
            <a:ext cx="1088231" cy="573882"/>
            <a:chOff x="2756" y="2348"/>
            <a:chExt cx="914" cy="482"/>
          </a:xfrm>
        </p:grpSpPr>
        <p:pic>
          <p:nvPicPr>
            <p:cNvPr id="350" name="Picture 130" descr="alarm_clock_ringing">
              <a:extLst>
                <a:ext uri="{FF2B5EF4-FFF2-40B4-BE49-F238E27FC236}">
                  <a16:creationId xmlns:a16="http://schemas.microsoft.com/office/drawing/2014/main" id="{52E16AA2-A1DE-B149-8FC7-03FD3D9B17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 name="Text Box 131">
              <a:extLst>
                <a:ext uri="{FF2B5EF4-FFF2-40B4-BE49-F238E27FC236}">
                  <a16:creationId xmlns:a16="http://schemas.microsoft.com/office/drawing/2014/main" id="{0A05FBC0-8C50-6F4D-9F72-5369556DE4EB}"/>
                </a:ext>
              </a:extLst>
            </p:cNvPr>
            <p:cNvSpPr txBox="1">
              <a:spLocks noChangeArrowheads="1"/>
            </p:cNvSpPr>
            <p:nvPr/>
          </p:nvSpPr>
          <p:spPr bwMode="auto">
            <a:xfrm>
              <a:off x="2756" y="2491"/>
              <a:ext cx="914" cy="3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a:lnSpc>
                  <a:spcPct val="75000"/>
                </a:lnSpc>
                <a:defRPr/>
              </a:pPr>
              <a:r>
                <a:rPr lang="en-US" sz="1350" i="1" kern="0" dirty="0">
                  <a:solidFill>
                    <a:srgbClr val="FF0000"/>
                  </a:solidFill>
                </a:rPr>
                <a:t>timeout</a:t>
              </a:r>
            </a:p>
            <a:p>
              <a:pPr algn="r" defTabSz="685800">
                <a:lnSpc>
                  <a:spcPct val="75000"/>
                </a:lnSpc>
                <a:defRPr/>
              </a:pPr>
              <a:r>
                <a:rPr lang="en-US" sz="1350" kern="0" dirty="0">
                  <a:solidFill>
                    <a:srgbClr val="000000"/>
                  </a:solidFill>
                </a:rPr>
                <a:t>resend pkt1</a:t>
              </a:r>
            </a:p>
          </p:txBody>
        </p:sp>
      </p:grpSp>
      <p:grpSp>
        <p:nvGrpSpPr>
          <p:cNvPr id="352" name="Group 133">
            <a:extLst>
              <a:ext uri="{FF2B5EF4-FFF2-40B4-BE49-F238E27FC236}">
                <a16:creationId xmlns:a16="http://schemas.microsoft.com/office/drawing/2014/main" id="{4FAA3600-FCAA-8B42-84D1-FB85323188F4}"/>
              </a:ext>
            </a:extLst>
          </p:cNvPr>
          <p:cNvGrpSpPr>
            <a:grpSpLocks/>
          </p:cNvGrpSpPr>
          <p:nvPr/>
        </p:nvGrpSpPr>
        <p:grpSpPr bwMode="auto">
          <a:xfrm>
            <a:off x="6435667" y="3089645"/>
            <a:ext cx="683636" cy="564356"/>
            <a:chOff x="4186" y="1705"/>
            <a:chExt cx="598" cy="453"/>
          </a:xfrm>
        </p:grpSpPr>
        <p:sp>
          <p:nvSpPr>
            <p:cNvPr id="353" name="Line 118">
              <a:extLst>
                <a:ext uri="{FF2B5EF4-FFF2-40B4-BE49-F238E27FC236}">
                  <a16:creationId xmlns:a16="http://schemas.microsoft.com/office/drawing/2014/main" id="{AE11BC12-265B-1C4B-8FAB-0FA75A29EEB2}"/>
                </a:ext>
              </a:extLst>
            </p:cNvPr>
            <p:cNvSpPr>
              <a:spLocks noChangeShapeType="1"/>
            </p:cNvSpPr>
            <p:nvPr/>
          </p:nvSpPr>
          <p:spPr bwMode="auto">
            <a:xfrm flipH="1">
              <a:off x="4343" y="1705"/>
              <a:ext cx="441" cy="329"/>
            </a:xfrm>
            <a:prstGeom prst="line">
              <a:avLst/>
            </a:prstGeom>
            <a:noFill/>
            <a:ln w="28575">
              <a:solidFill>
                <a:srgbClr val="008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355" name="Line 132">
              <a:extLst>
                <a:ext uri="{FF2B5EF4-FFF2-40B4-BE49-F238E27FC236}">
                  <a16:creationId xmlns:a16="http://schemas.microsoft.com/office/drawing/2014/main" id="{BFF7F0A8-A357-7748-BD1E-51A7A3E5988B}"/>
                </a:ext>
              </a:extLst>
            </p:cNvPr>
            <p:cNvSpPr>
              <a:spLocks noChangeShapeType="1"/>
            </p:cNvSpPr>
            <p:nvPr/>
          </p:nvSpPr>
          <p:spPr bwMode="auto">
            <a:xfrm flipH="1">
              <a:off x="4186" y="2047"/>
              <a:ext cx="146" cy="111"/>
            </a:xfrm>
            <a:prstGeom prst="line">
              <a:avLst/>
            </a:prstGeom>
            <a:noFill/>
            <a:ln w="28575">
              <a:solidFill>
                <a:srgbClr val="008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354" name="Text Box 119">
              <a:extLst>
                <a:ext uri="{FF2B5EF4-FFF2-40B4-BE49-F238E27FC236}">
                  <a16:creationId xmlns:a16="http://schemas.microsoft.com/office/drawing/2014/main" id="{D0B7F72D-FD32-8D47-B9FD-0C7A1B80B4A1}"/>
                </a:ext>
              </a:extLst>
            </p:cNvPr>
            <p:cNvSpPr txBox="1">
              <a:spLocks noChangeArrowheads="1"/>
            </p:cNvSpPr>
            <p:nvPr/>
          </p:nvSpPr>
          <p:spPr bwMode="auto">
            <a:xfrm>
              <a:off x="4223" y="1846"/>
              <a:ext cx="460" cy="222"/>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8000"/>
                  </a:solidFill>
                  <a:latin typeface="Arial" charset="0"/>
                </a:rPr>
                <a:t>ack1</a:t>
              </a:r>
            </a:p>
          </p:txBody>
        </p:sp>
      </p:grpSp>
      <p:sp>
        <p:nvSpPr>
          <p:cNvPr id="356" name="Line 136">
            <a:extLst>
              <a:ext uri="{FF2B5EF4-FFF2-40B4-BE49-F238E27FC236}">
                <a16:creationId xmlns:a16="http://schemas.microsoft.com/office/drawing/2014/main" id="{61D6DAB1-4B37-C740-BD43-4568C5241A0C}"/>
              </a:ext>
            </a:extLst>
          </p:cNvPr>
          <p:cNvSpPr>
            <a:spLocks noChangeShapeType="1"/>
          </p:cNvSpPr>
          <p:nvPr/>
        </p:nvSpPr>
        <p:spPr bwMode="auto">
          <a:xfrm flipH="1">
            <a:off x="5941773" y="3498029"/>
            <a:ext cx="682228" cy="554831"/>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C4E4C24E-2B71-FB43-956D-60F8AEF3370B}"/>
              </a:ext>
            </a:extLst>
          </p:cNvPr>
          <p:cNvGrpSpPr/>
          <p:nvPr/>
        </p:nvGrpSpPr>
        <p:grpSpPr>
          <a:xfrm>
            <a:off x="6009502" y="4089343"/>
            <a:ext cx="2028164" cy="560520"/>
            <a:chOff x="8162097" y="4679496"/>
            <a:chExt cx="2704218" cy="747361"/>
          </a:xfrm>
        </p:grpSpPr>
        <p:grpSp>
          <p:nvGrpSpPr>
            <p:cNvPr id="362" name="Group 150">
              <a:extLst>
                <a:ext uri="{FF2B5EF4-FFF2-40B4-BE49-F238E27FC236}">
                  <a16:creationId xmlns:a16="http://schemas.microsoft.com/office/drawing/2014/main" id="{8A649C16-501A-A644-A5FA-AE7129DDC14A}"/>
                </a:ext>
              </a:extLst>
            </p:cNvPr>
            <p:cNvGrpSpPr>
              <a:grpSpLocks/>
            </p:cNvGrpSpPr>
            <p:nvPr/>
          </p:nvGrpSpPr>
          <p:grpSpPr bwMode="auto">
            <a:xfrm>
              <a:off x="8162097" y="4974418"/>
              <a:ext cx="1471613" cy="452439"/>
              <a:chOff x="2229" y="3467"/>
              <a:chExt cx="927" cy="285"/>
            </a:xfrm>
          </p:grpSpPr>
          <p:sp>
            <p:nvSpPr>
              <p:cNvPr id="382" name="Line 108">
                <a:extLst>
                  <a:ext uri="{FF2B5EF4-FFF2-40B4-BE49-F238E27FC236}">
                    <a16:creationId xmlns:a16="http://schemas.microsoft.com/office/drawing/2014/main" id="{DB733CF3-EAC6-CC4F-B21E-9FB8C5502566}"/>
                  </a:ext>
                </a:extLst>
              </p:cNvPr>
              <p:cNvSpPr>
                <a:spLocks noChangeShapeType="1"/>
              </p:cNvSpPr>
              <p:nvPr/>
            </p:nvSpPr>
            <p:spPr bwMode="auto">
              <a:xfrm flipH="1">
                <a:off x="2229" y="3467"/>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383" name="Text Box 109">
                <a:extLst>
                  <a:ext uri="{FF2B5EF4-FFF2-40B4-BE49-F238E27FC236}">
                    <a16:creationId xmlns:a16="http://schemas.microsoft.com/office/drawing/2014/main" id="{BB517B3D-28EB-8444-8C05-95403AFF543F}"/>
                  </a:ext>
                </a:extLst>
              </p:cNvPr>
              <p:cNvSpPr txBox="1">
                <a:spLocks noChangeArrowheads="1"/>
              </p:cNvSpPr>
              <p:nvPr/>
            </p:nvSpPr>
            <p:spPr bwMode="auto">
              <a:xfrm>
                <a:off x="2315" y="3519"/>
                <a:ext cx="427" cy="23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kern="0" dirty="0">
                    <a:solidFill>
                      <a:srgbClr val="008000"/>
                    </a:solidFill>
                    <a:latin typeface="Arial" charset="0"/>
                  </a:rPr>
                  <a:t>ack1</a:t>
                </a:r>
              </a:p>
            </p:txBody>
          </p:sp>
        </p:grpSp>
        <p:sp>
          <p:nvSpPr>
            <p:cNvPr id="358" name="Text Box 93">
              <a:extLst>
                <a:ext uri="{FF2B5EF4-FFF2-40B4-BE49-F238E27FC236}">
                  <a16:creationId xmlns:a16="http://schemas.microsoft.com/office/drawing/2014/main" id="{0A5BAC0E-26A7-304A-9845-BD850E809ABB}"/>
                </a:ext>
              </a:extLst>
            </p:cNvPr>
            <p:cNvSpPr txBox="1">
              <a:spLocks noChangeArrowheads="1"/>
            </p:cNvSpPr>
            <p:nvPr/>
          </p:nvSpPr>
          <p:spPr bwMode="auto">
            <a:xfrm>
              <a:off x="9596309" y="4679496"/>
              <a:ext cx="127000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ack1</a:t>
              </a:r>
            </a:p>
          </p:txBody>
        </p:sp>
      </p:grpSp>
      <p:grpSp>
        <p:nvGrpSpPr>
          <p:cNvPr id="6" name="Group 5">
            <a:extLst>
              <a:ext uri="{FF2B5EF4-FFF2-40B4-BE49-F238E27FC236}">
                <a16:creationId xmlns:a16="http://schemas.microsoft.com/office/drawing/2014/main" id="{31C21A72-3E29-1946-B909-D85D4A552D56}"/>
              </a:ext>
            </a:extLst>
          </p:cNvPr>
          <p:cNvGrpSpPr/>
          <p:nvPr/>
        </p:nvGrpSpPr>
        <p:grpSpPr>
          <a:xfrm>
            <a:off x="5077247" y="3972396"/>
            <a:ext cx="2928937" cy="853682"/>
            <a:chOff x="6919087" y="4523564"/>
            <a:chExt cx="3905248" cy="1138243"/>
          </a:xfrm>
        </p:grpSpPr>
        <p:grpSp>
          <p:nvGrpSpPr>
            <p:cNvPr id="364" name="Group 137">
              <a:extLst>
                <a:ext uri="{FF2B5EF4-FFF2-40B4-BE49-F238E27FC236}">
                  <a16:creationId xmlns:a16="http://schemas.microsoft.com/office/drawing/2014/main" id="{3BF75B33-1A77-E24B-AABE-7E5C56D0D788}"/>
                </a:ext>
              </a:extLst>
            </p:cNvPr>
            <p:cNvGrpSpPr>
              <a:grpSpLocks/>
            </p:cNvGrpSpPr>
            <p:nvPr/>
          </p:nvGrpSpPr>
          <p:grpSpPr bwMode="auto">
            <a:xfrm>
              <a:off x="6919087" y="4523564"/>
              <a:ext cx="1246188" cy="642939"/>
              <a:chOff x="2808" y="3285"/>
              <a:chExt cx="785" cy="405"/>
            </a:xfrm>
          </p:grpSpPr>
          <p:sp>
            <p:nvSpPr>
              <p:cNvPr id="378" name="Text Box 134">
                <a:extLst>
                  <a:ext uri="{FF2B5EF4-FFF2-40B4-BE49-F238E27FC236}">
                    <a16:creationId xmlns:a16="http://schemas.microsoft.com/office/drawing/2014/main" id="{057A15E3-B733-174D-BE7C-2996FC261991}"/>
                  </a:ext>
                </a:extLst>
              </p:cNvPr>
              <p:cNvSpPr txBox="1">
                <a:spLocks noChangeArrowheads="1"/>
              </p:cNvSpPr>
              <p:nvPr/>
            </p:nvSpPr>
            <p:spPr bwMode="auto">
              <a:xfrm>
                <a:off x="2808" y="3438"/>
                <a:ext cx="785"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pkt0</a:t>
                </a:r>
              </a:p>
            </p:txBody>
          </p:sp>
          <p:sp>
            <p:nvSpPr>
              <p:cNvPr id="379" name="Text Box 135">
                <a:extLst>
                  <a:ext uri="{FF2B5EF4-FFF2-40B4-BE49-F238E27FC236}">
                    <a16:creationId xmlns:a16="http://schemas.microsoft.com/office/drawing/2014/main" id="{D294B6DF-F9F6-C245-9C1E-7E3DCD5BFC7B}"/>
                  </a:ext>
                </a:extLst>
              </p:cNvPr>
              <p:cNvSpPr txBox="1">
                <a:spLocks noChangeArrowheads="1"/>
              </p:cNvSpPr>
              <p:nvPr/>
            </p:nvSpPr>
            <p:spPr bwMode="auto">
              <a:xfrm>
                <a:off x="2893" y="3285"/>
                <a:ext cx="690"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ack1</a:t>
                </a:r>
              </a:p>
            </p:txBody>
          </p:sp>
        </p:grpSp>
        <p:grpSp>
          <p:nvGrpSpPr>
            <p:cNvPr id="365" name="Group 138">
              <a:extLst>
                <a:ext uri="{FF2B5EF4-FFF2-40B4-BE49-F238E27FC236}">
                  <a16:creationId xmlns:a16="http://schemas.microsoft.com/office/drawing/2014/main" id="{CAC9BF03-EEEF-2846-B090-FAE6750AF122}"/>
                </a:ext>
              </a:extLst>
            </p:cNvPr>
            <p:cNvGrpSpPr>
              <a:grpSpLocks/>
            </p:cNvGrpSpPr>
            <p:nvPr/>
          </p:nvGrpSpPr>
          <p:grpSpPr bwMode="auto">
            <a:xfrm>
              <a:off x="8073197" y="4747083"/>
              <a:ext cx="1547813" cy="446403"/>
              <a:chOff x="850" y="1229"/>
              <a:chExt cx="927" cy="253"/>
            </a:xfrm>
          </p:grpSpPr>
          <p:sp>
            <p:nvSpPr>
              <p:cNvPr id="376" name="Line 139">
                <a:extLst>
                  <a:ext uri="{FF2B5EF4-FFF2-40B4-BE49-F238E27FC236}">
                    <a16:creationId xmlns:a16="http://schemas.microsoft.com/office/drawing/2014/main" id="{908F9E2B-E1F1-0444-8DD2-B8396679EF06}"/>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377" name="Text Box 140">
                <a:extLst>
                  <a:ext uri="{FF2B5EF4-FFF2-40B4-BE49-F238E27FC236}">
                    <a16:creationId xmlns:a16="http://schemas.microsoft.com/office/drawing/2014/main" id="{74AAB4FF-F9B2-8644-9770-40F6B7F6DC97}"/>
                  </a:ext>
                </a:extLst>
              </p:cNvPr>
              <p:cNvSpPr txBox="1">
                <a:spLocks noChangeArrowheads="1"/>
              </p:cNvSpPr>
              <p:nvPr/>
            </p:nvSpPr>
            <p:spPr bwMode="auto">
              <a:xfrm>
                <a:off x="994" y="1229"/>
                <a:ext cx="379" cy="209"/>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kern="0" dirty="0">
                    <a:solidFill>
                      <a:srgbClr val="000099"/>
                    </a:solidFill>
                    <a:latin typeface="Arial" charset="0"/>
                  </a:rPr>
                  <a:t>pkt0</a:t>
                </a:r>
              </a:p>
            </p:txBody>
          </p:sp>
        </p:grpSp>
        <p:grpSp>
          <p:nvGrpSpPr>
            <p:cNvPr id="366" name="Group 142">
              <a:extLst>
                <a:ext uri="{FF2B5EF4-FFF2-40B4-BE49-F238E27FC236}">
                  <a16:creationId xmlns:a16="http://schemas.microsoft.com/office/drawing/2014/main" id="{61F81DDD-D8CA-1E44-9759-5F540FE71068}"/>
                </a:ext>
              </a:extLst>
            </p:cNvPr>
            <p:cNvGrpSpPr>
              <a:grpSpLocks/>
            </p:cNvGrpSpPr>
            <p:nvPr/>
          </p:nvGrpSpPr>
          <p:grpSpPr bwMode="auto">
            <a:xfrm>
              <a:off x="9547985" y="5037918"/>
              <a:ext cx="1276350" cy="623889"/>
              <a:chOff x="4740" y="2985"/>
              <a:chExt cx="804" cy="393"/>
            </a:xfrm>
          </p:grpSpPr>
          <p:sp>
            <p:nvSpPr>
              <p:cNvPr id="374" name="Text Box 143">
                <a:extLst>
                  <a:ext uri="{FF2B5EF4-FFF2-40B4-BE49-F238E27FC236}">
                    <a16:creationId xmlns:a16="http://schemas.microsoft.com/office/drawing/2014/main" id="{6C499832-2FEA-2247-A1D4-C7CE568CC494}"/>
                  </a:ext>
                </a:extLst>
              </p:cNvPr>
              <p:cNvSpPr txBox="1">
                <a:spLocks noChangeArrowheads="1"/>
              </p:cNvSpPr>
              <p:nvPr/>
            </p:nvSpPr>
            <p:spPr bwMode="auto">
              <a:xfrm>
                <a:off x="4740" y="2985"/>
                <a:ext cx="675"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pkt0</a:t>
                </a:r>
              </a:p>
            </p:txBody>
          </p:sp>
          <p:sp>
            <p:nvSpPr>
              <p:cNvPr id="375" name="Text Box 144">
                <a:extLst>
                  <a:ext uri="{FF2B5EF4-FFF2-40B4-BE49-F238E27FC236}">
                    <a16:creationId xmlns:a16="http://schemas.microsoft.com/office/drawing/2014/main" id="{23A45435-E6D5-7641-819A-FA71E59CB02C}"/>
                  </a:ext>
                </a:extLst>
              </p:cNvPr>
              <p:cNvSpPr txBox="1">
                <a:spLocks noChangeArrowheads="1"/>
              </p:cNvSpPr>
              <p:nvPr/>
            </p:nvSpPr>
            <p:spPr bwMode="auto">
              <a:xfrm>
                <a:off x="4744" y="3126"/>
                <a:ext cx="800"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send ack0</a:t>
                </a:r>
              </a:p>
            </p:txBody>
          </p:sp>
        </p:grpSp>
      </p:grpSp>
      <p:grpSp>
        <p:nvGrpSpPr>
          <p:cNvPr id="367" name="Group 149">
            <a:extLst>
              <a:ext uri="{FF2B5EF4-FFF2-40B4-BE49-F238E27FC236}">
                <a16:creationId xmlns:a16="http://schemas.microsoft.com/office/drawing/2014/main" id="{69EE8DE9-3381-624C-9ABB-652457E2824C}"/>
              </a:ext>
            </a:extLst>
          </p:cNvPr>
          <p:cNvGrpSpPr>
            <a:grpSpLocks/>
          </p:cNvGrpSpPr>
          <p:nvPr/>
        </p:nvGrpSpPr>
        <p:grpSpPr bwMode="auto">
          <a:xfrm>
            <a:off x="6026169" y="4583177"/>
            <a:ext cx="1092994" cy="366713"/>
            <a:chOff x="3839" y="2850"/>
            <a:chExt cx="918" cy="308"/>
          </a:xfrm>
        </p:grpSpPr>
        <p:sp>
          <p:nvSpPr>
            <p:cNvPr id="372" name="Line 146">
              <a:extLst>
                <a:ext uri="{FF2B5EF4-FFF2-40B4-BE49-F238E27FC236}">
                  <a16:creationId xmlns:a16="http://schemas.microsoft.com/office/drawing/2014/main" id="{B42EE784-BAAA-7648-8C27-518F3E7EDD07}"/>
                </a:ext>
              </a:extLst>
            </p:cNvPr>
            <p:cNvSpPr>
              <a:spLocks noChangeShapeType="1"/>
            </p:cNvSpPr>
            <p:nvPr/>
          </p:nvSpPr>
          <p:spPr bwMode="auto">
            <a:xfrm flipH="1">
              <a:off x="3839" y="2850"/>
              <a:ext cx="918" cy="30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kern="0" dirty="0">
                <a:solidFill>
                  <a:srgbClr val="000000"/>
                </a:solidFill>
                <a:latin typeface="Tahoma" charset="0"/>
                <a:ea typeface="ＭＳ Ｐゴシック" charset="0"/>
              </a:endParaRPr>
            </a:p>
          </p:txBody>
        </p:sp>
        <p:sp>
          <p:nvSpPr>
            <p:cNvPr id="373" name="Text Box 147">
              <a:extLst>
                <a:ext uri="{FF2B5EF4-FFF2-40B4-BE49-F238E27FC236}">
                  <a16:creationId xmlns:a16="http://schemas.microsoft.com/office/drawing/2014/main" id="{0E52013C-7BAA-344E-9018-CA884EE49126}"/>
                </a:ext>
              </a:extLst>
            </p:cNvPr>
            <p:cNvSpPr txBox="1">
              <a:spLocks noChangeArrowheads="1"/>
            </p:cNvSpPr>
            <p:nvPr/>
          </p:nvSpPr>
          <p:spPr bwMode="auto">
            <a:xfrm>
              <a:off x="4083" y="2873"/>
              <a:ext cx="427" cy="23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kern="0" dirty="0">
                  <a:solidFill>
                    <a:srgbClr val="008000"/>
                  </a:solidFill>
                  <a:latin typeface="Arial" charset="0"/>
                </a:rPr>
                <a:t>ack0</a:t>
              </a:r>
            </a:p>
          </p:txBody>
        </p:sp>
      </p:grpSp>
      <p:grpSp>
        <p:nvGrpSpPr>
          <p:cNvPr id="120" name="Group 85">
            <a:extLst>
              <a:ext uri="{FF2B5EF4-FFF2-40B4-BE49-F238E27FC236}">
                <a16:creationId xmlns:a16="http://schemas.microsoft.com/office/drawing/2014/main" id="{EF03F5C0-9E1B-6F4D-827D-841E2D21FDD8}"/>
              </a:ext>
            </a:extLst>
          </p:cNvPr>
          <p:cNvGrpSpPr>
            <a:grpSpLocks/>
          </p:cNvGrpSpPr>
          <p:nvPr/>
        </p:nvGrpSpPr>
        <p:grpSpPr bwMode="auto">
          <a:xfrm>
            <a:off x="6019846" y="4959454"/>
            <a:ext cx="1103709" cy="461964"/>
            <a:chOff x="855" y="1799"/>
            <a:chExt cx="927" cy="388"/>
          </a:xfrm>
        </p:grpSpPr>
        <p:sp>
          <p:nvSpPr>
            <p:cNvPr id="121" name="Line 86">
              <a:extLst>
                <a:ext uri="{FF2B5EF4-FFF2-40B4-BE49-F238E27FC236}">
                  <a16:creationId xmlns:a16="http://schemas.microsoft.com/office/drawing/2014/main" id="{CFBE0624-2276-5A40-AD6C-765B8E1D5A7A}"/>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a:defRPr/>
              </a:pPr>
              <a:endParaRPr lang="en-US" sz="1200" dirty="0">
                <a:solidFill>
                  <a:srgbClr val="000000"/>
                </a:solidFill>
                <a:latin typeface="Tahoma" charset="0"/>
                <a:ea typeface="ＭＳ Ｐゴシック" charset="0"/>
              </a:endParaRPr>
            </a:p>
          </p:txBody>
        </p:sp>
        <p:sp>
          <p:nvSpPr>
            <p:cNvPr id="122" name="Text Box 87">
              <a:extLst>
                <a:ext uri="{FF2B5EF4-FFF2-40B4-BE49-F238E27FC236}">
                  <a16:creationId xmlns:a16="http://schemas.microsoft.com/office/drawing/2014/main" id="{6E5D70F9-C765-DD43-99D5-1E3FD4E8B868}"/>
                </a:ext>
              </a:extLst>
            </p:cNvPr>
            <p:cNvSpPr txBox="1">
              <a:spLocks noChangeArrowheads="1"/>
            </p:cNvSpPr>
            <p:nvPr/>
          </p:nvSpPr>
          <p:spPr bwMode="auto">
            <a:xfrm>
              <a:off x="1129" y="1799"/>
              <a:ext cx="358" cy="388"/>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200" dirty="0">
                  <a:solidFill>
                    <a:srgbClr val="000099"/>
                  </a:solidFill>
                  <a:latin typeface="Arial" charset="0"/>
                </a:rPr>
                <a:t>pkt1</a:t>
              </a:r>
            </a:p>
          </p:txBody>
        </p:sp>
      </p:grpSp>
      <p:grpSp>
        <p:nvGrpSpPr>
          <p:cNvPr id="3" name="Group 2">
            <a:extLst>
              <a:ext uri="{FF2B5EF4-FFF2-40B4-BE49-F238E27FC236}">
                <a16:creationId xmlns:a16="http://schemas.microsoft.com/office/drawing/2014/main" id="{32D39F4C-0ABF-C94E-A0DB-A97913E78570}"/>
              </a:ext>
            </a:extLst>
          </p:cNvPr>
          <p:cNvGrpSpPr/>
          <p:nvPr/>
        </p:nvGrpSpPr>
        <p:grpSpPr>
          <a:xfrm>
            <a:off x="5218301" y="4462232"/>
            <a:ext cx="821059" cy="438289"/>
            <a:chOff x="6253062" y="5452590"/>
            <a:chExt cx="1094745" cy="584384"/>
          </a:xfrm>
        </p:grpSpPr>
        <p:sp>
          <p:nvSpPr>
            <p:cNvPr id="359" name="Text Box 96">
              <a:extLst>
                <a:ext uri="{FF2B5EF4-FFF2-40B4-BE49-F238E27FC236}">
                  <a16:creationId xmlns:a16="http://schemas.microsoft.com/office/drawing/2014/main" id="{0B9EBE4A-F7AC-D14C-AD4E-0FA449FA991D}"/>
                </a:ext>
              </a:extLst>
            </p:cNvPr>
            <p:cNvSpPr txBox="1">
              <a:spLocks noChangeArrowheads="1"/>
            </p:cNvSpPr>
            <p:nvPr/>
          </p:nvSpPr>
          <p:spPr bwMode="auto">
            <a:xfrm>
              <a:off x="6309414" y="5698420"/>
              <a:ext cx="878873"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050" kern="0" dirty="0">
                  <a:solidFill>
                    <a:srgbClr val="000000"/>
                  </a:solidFill>
                </a:rPr>
                <a:t>(ignore)</a:t>
              </a:r>
            </a:p>
          </p:txBody>
        </p:sp>
        <p:sp>
          <p:nvSpPr>
            <p:cNvPr id="123" name="Text Box 98">
              <a:extLst>
                <a:ext uri="{FF2B5EF4-FFF2-40B4-BE49-F238E27FC236}">
                  <a16:creationId xmlns:a16="http://schemas.microsoft.com/office/drawing/2014/main" id="{0DE35C6C-6D99-814C-B88E-A2943030E4F5}"/>
                </a:ext>
              </a:extLst>
            </p:cNvPr>
            <p:cNvSpPr txBox="1">
              <a:spLocks noChangeArrowheads="1"/>
            </p:cNvSpPr>
            <p:nvPr/>
          </p:nvSpPr>
          <p:spPr bwMode="auto">
            <a:xfrm>
              <a:off x="6253062" y="5452590"/>
              <a:ext cx="1094745" cy="400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350" kern="0" dirty="0">
                  <a:solidFill>
                    <a:srgbClr val="000000"/>
                  </a:solidFill>
                </a:rPr>
                <a:t>rcv ack1</a:t>
              </a:r>
            </a:p>
          </p:txBody>
        </p:sp>
      </p:grpSp>
      <p:sp>
        <p:nvSpPr>
          <p:cNvPr id="113" name="Slide Number Placeholder 2">
            <a:extLst>
              <a:ext uri="{FF2B5EF4-FFF2-40B4-BE49-F238E27FC236}">
                <a16:creationId xmlns:a16="http://schemas.microsoft.com/office/drawing/2014/main" id="{7706DBAD-0F0D-AC43-90D8-C4A8FC7233B5}"/>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52</a:t>
            </a:fld>
            <a:endParaRPr lang="en-US" dirty="0"/>
          </a:p>
        </p:txBody>
      </p:sp>
    </p:spTree>
    <p:extLst>
      <p:ext uri="{BB962C8B-B14F-4D97-AF65-F5344CB8AC3E}">
        <p14:creationId xmlns:p14="http://schemas.microsoft.com/office/powerpoint/2010/main" val="317681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wipe(left)">
                                      <p:cBhvr>
                                        <p:cTn id="7" dur="500"/>
                                        <p:tgtEl>
                                          <p:spTgt spid="29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89">
                                            <p:txEl>
                                              <p:pRg st="0" end="0"/>
                                            </p:txEl>
                                          </p:spTgt>
                                        </p:tgtEl>
                                        <p:attrNameLst>
                                          <p:attrName>style.visibility</p:attrName>
                                        </p:attrNameLst>
                                      </p:cBhvr>
                                      <p:to>
                                        <p:strVal val="visible"/>
                                      </p:to>
                                    </p:set>
                                    <p:animEffect transition="in" filter="dissolve">
                                      <p:cBhvr>
                                        <p:cTn id="11" dur="500"/>
                                        <p:tgtEl>
                                          <p:spTgt spid="289">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81"/>
                                        </p:tgtEl>
                                        <p:attrNameLst>
                                          <p:attrName>style.visibility</p:attrName>
                                        </p:attrNameLst>
                                      </p:cBhvr>
                                      <p:to>
                                        <p:strVal val="visible"/>
                                      </p:to>
                                    </p:set>
                                    <p:animEffect transition="in" filter="dissolve">
                                      <p:cBhvr>
                                        <p:cTn id="15" dur="500"/>
                                        <p:tgtEl>
                                          <p:spTgt spid="281"/>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299"/>
                                        </p:tgtEl>
                                        <p:attrNameLst>
                                          <p:attrName>style.visibility</p:attrName>
                                        </p:attrNameLst>
                                      </p:cBhvr>
                                      <p:to>
                                        <p:strVal val="visible"/>
                                      </p:to>
                                    </p:set>
                                    <p:animEffect transition="in" filter="wipe(right)">
                                      <p:cBhvr>
                                        <p:cTn id="19" dur="500"/>
                                        <p:tgtEl>
                                          <p:spTgt spid="299"/>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284"/>
                                        </p:tgtEl>
                                        <p:attrNameLst>
                                          <p:attrName>style.visibility</p:attrName>
                                        </p:attrNameLst>
                                      </p:cBhvr>
                                      <p:to>
                                        <p:strVal val="visible"/>
                                      </p:to>
                                    </p:set>
                                    <p:animEffect transition="in" filter="dissolve">
                                      <p:cBhvr>
                                        <p:cTn id="23" dur="500"/>
                                        <p:tgtEl>
                                          <p:spTgt spid="284"/>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286"/>
                                        </p:tgtEl>
                                        <p:attrNameLst>
                                          <p:attrName>style.visibility</p:attrName>
                                        </p:attrNameLst>
                                      </p:cBhvr>
                                      <p:to>
                                        <p:strVal val="visible"/>
                                      </p:to>
                                    </p:set>
                                    <p:animEffect transition="in" filter="dissolve">
                                      <p:cBhvr>
                                        <p:cTn id="27" dur="500"/>
                                        <p:tgtEl>
                                          <p:spTgt spid="286"/>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274"/>
                                        </p:tgtEl>
                                        <p:attrNameLst>
                                          <p:attrName>style.visibility</p:attrName>
                                        </p:attrNameLst>
                                      </p:cBhvr>
                                      <p:to>
                                        <p:strVal val="visible"/>
                                      </p:to>
                                    </p:set>
                                    <p:animEffect transition="in" filter="wipe(left)">
                                      <p:cBhvr>
                                        <p:cTn id="31" dur="500"/>
                                        <p:tgtEl>
                                          <p:spTgt spid="274"/>
                                        </p:tgtEl>
                                      </p:cBhvr>
                                    </p:animEffect>
                                  </p:childTnLst>
                                </p:cTn>
                              </p:par>
                            </p:childTnLst>
                          </p:cTn>
                        </p:par>
                        <p:par>
                          <p:cTn id="32" fill="hold">
                            <p:stCondLst>
                              <p:cond delay="3500"/>
                            </p:stCondLst>
                            <p:childTnLst>
                              <p:par>
                                <p:cTn id="33" presetID="9" presetClass="entr" presetSubtype="0" fill="hold" nodeType="afterEffect">
                                  <p:stCondLst>
                                    <p:cond delay="0"/>
                                  </p:stCondLst>
                                  <p:childTnLst>
                                    <p:set>
                                      <p:cBhvr>
                                        <p:cTn id="34" dur="1" fill="hold">
                                          <p:stCondLst>
                                            <p:cond delay="0"/>
                                          </p:stCondLst>
                                        </p:cTn>
                                        <p:tgtEl>
                                          <p:spTgt spid="195">
                                            <p:txEl>
                                              <p:pRg st="0" end="0"/>
                                            </p:txEl>
                                          </p:spTgt>
                                        </p:tgtEl>
                                        <p:attrNameLst>
                                          <p:attrName>style.visibility</p:attrName>
                                        </p:attrNameLst>
                                      </p:cBhvr>
                                      <p:to>
                                        <p:strVal val="visible"/>
                                      </p:to>
                                    </p:set>
                                    <p:animEffect transition="in" filter="dissolve">
                                      <p:cBhvr>
                                        <p:cTn id="35" dur="500"/>
                                        <p:tgtEl>
                                          <p:spTgt spid="195">
                                            <p:txEl>
                                              <p:pRg st="0" end="0"/>
                                            </p:txEl>
                                          </p:spTgt>
                                        </p:tgtEl>
                                      </p:cBhvr>
                                    </p:animEffect>
                                  </p:childTnLst>
                                </p:cTn>
                              </p:par>
                            </p:childTnLst>
                          </p:cTn>
                        </p:par>
                        <p:par>
                          <p:cTn id="36" fill="hold">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196"/>
                                        </p:tgtEl>
                                        <p:attrNameLst>
                                          <p:attrName>style.visibility</p:attrName>
                                        </p:attrNameLst>
                                      </p:cBhvr>
                                      <p:to>
                                        <p:strVal val="visible"/>
                                      </p:to>
                                    </p:set>
                                    <p:animEffect transition="in" filter="dissolve">
                                      <p:cBhvr>
                                        <p:cTn id="39" dur="500"/>
                                        <p:tgtEl>
                                          <p:spTgt spid="196"/>
                                        </p:tgtEl>
                                      </p:cBhvr>
                                    </p:animEffect>
                                  </p:childTnLst>
                                </p:cTn>
                              </p:par>
                            </p:childTnLst>
                          </p:cTn>
                        </p:par>
                        <p:par>
                          <p:cTn id="40" fill="hold">
                            <p:stCondLst>
                              <p:cond delay="4500"/>
                            </p:stCondLst>
                            <p:childTnLst>
                              <p:par>
                                <p:cTn id="41" presetID="22" presetClass="entr" presetSubtype="2" fill="hold" nodeType="afterEffect">
                                  <p:stCondLst>
                                    <p:cond delay="0"/>
                                  </p:stCondLst>
                                  <p:childTnLst>
                                    <p:set>
                                      <p:cBhvr>
                                        <p:cTn id="42" dur="1" fill="hold">
                                          <p:stCondLst>
                                            <p:cond delay="0"/>
                                          </p:stCondLst>
                                        </p:cTn>
                                        <p:tgtEl>
                                          <p:spTgt spid="306"/>
                                        </p:tgtEl>
                                        <p:attrNameLst>
                                          <p:attrName>style.visibility</p:attrName>
                                        </p:attrNameLst>
                                      </p:cBhvr>
                                      <p:to>
                                        <p:strVal val="visible"/>
                                      </p:to>
                                    </p:set>
                                    <p:animEffect transition="in" filter="wipe(right)">
                                      <p:cBhvr>
                                        <p:cTn id="43" dur="500"/>
                                        <p:tgtEl>
                                          <p:spTgt spid="30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311"/>
                                        </p:tgtEl>
                                        <p:attrNameLst>
                                          <p:attrName>style.visibility</p:attrName>
                                        </p:attrNameLst>
                                      </p:cBhvr>
                                      <p:to>
                                        <p:strVal val="visible"/>
                                      </p:to>
                                    </p:set>
                                    <p:animEffect transition="in" filter="wipe(up)">
                                      <p:cBhvr>
                                        <p:cTn id="48" dur="1000"/>
                                        <p:tgtEl>
                                          <p:spTgt spid="311"/>
                                        </p:tgtEl>
                                      </p:cBhvr>
                                    </p:animEffect>
                                  </p:childTnLst>
                                </p:cTn>
                              </p:par>
                            </p:childTnLst>
                          </p:cTn>
                        </p:par>
                        <p:par>
                          <p:cTn id="49" fill="hold">
                            <p:stCondLst>
                              <p:cond delay="1000"/>
                            </p:stCondLst>
                            <p:childTnLst>
                              <p:par>
                                <p:cTn id="50" presetID="9" presetClass="entr" presetSubtype="0" fill="hold" nodeType="afterEffect">
                                  <p:stCondLst>
                                    <p:cond delay="0"/>
                                  </p:stCondLst>
                                  <p:childTnLst>
                                    <p:set>
                                      <p:cBhvr>
                                        <p:cTn id="51" dur="1" fill="hold">
                                          <p:stCondLst>
                                            <p:cond delay="0"/>
                                          </p:stCondLst>
                                        </p:cTn>
                                        <p:tgtEl>
                                          <p:spTgt spid="318"/>
                                        </p:tgtEl>
                                        <p:attrNameLst>
                                          <p:attrName>style.visibility</p:attrName>
                                        </p:attrNameLst>
                                      </p:cBhvr>
                                      <p:to>
                                        <p:strVal val="visible"/>
                                      </p:to>
                                    </p:set>
                                    <p:animEffect transition="in" filter="dissolve">
                                      <p:cBhvr>
                                        <p:cTn id="52" dur="500"/>
                                        <p:tgtEl>
                                          <p:spTgt spid="3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15"/>
                                        </p:tgtEl>
                                        <p:attrNameLst>
                                          <p:attrName>style.visibility</p:attrName>
                                        </p:attrNameLst>
                                      </p:cBhvr>
                                      <p:to>
                                        <p:strVal val="visible"/>
                                      </p:to>
                                    </p:set>
                                    <p:animEffect transition="in" filter="wipe(left)">
                                      <p:cBhvr>
                                        <p:cTn id="57" dur="500"/>
                                        <p:tgtEl>
                                          <p:spTgt spid="315"/>
                                        </p:tgtEl>
                                      </p:cBhvr>
                                    </p:animEffect>
                                  </p:childTnLst>
                                </p:cTn>
                              </p:par>
                            </p:childTnLst>
                          </p:cTn>
                        </p:par>
                        <p:par>
                          <p:cTn id="58" fill="hold">
                            <p:stCondLst>
                              <p:cond delay="500"/>
                            </p:stCondLst>
                            <p:childTnLst>
                              <p:par>
                                <p:cTn id="59" presetID="9" presetClass="entr" presetSubtype="0" fill="hold" nodeType="afterEffect">
                                  <p:stCondLst>
                                    <p:cond delay="0"/>
                                  </p:stCondLst>
                                  <p:childTnLst>
                                    <p:set>
                                      <p:cBhvr>
                                        <p:cTn id="60" dur="1" fill="hold">
                                          <p:stCondLst>
                                            <p:cond delay="0"/>
                                          </p:stCondLst>
                                        </p:cTn>
                                        <p:tgtEl>
                                          <p:spTgt spid="279">
                                            <p:txEl>
                                              <p:pRg st="0" end="0"/>
                                            </p:txEl>
                                          </p:spTgt>
                                        </p:tgtEl>
                                        <p:attrNameLst>
                                          <p:attrName>style.visibility</p:attrName>
                                        </p:attrNameLst>
                                      </p:cBhvr>
                                      <p:to>
                                        <p:strVal val="visible"/>
                                      </p:to>
                                    </p:set>
                                    <p:animEffect transition="in" filter="dissolve">
                                      <p:cBhvr>
                                        <p:cTn id="61" dur="500"/>
                                        <p:tgtEl>
                                          <p:spTgt spid="279">
                                            <p:txEl>
                                              <p:pRg st="0" end="0"/>
                                            </p:txEl>
                                          </p:spTgt>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73"/>
                                        </p:tgtEl>
                                        <p:attrNameLst>
                                          <p:attrName>style.visibility</p:attrName>
                                        </p:attrNameLst>
                                      </p:cBhvr>
                                      <p:to>
                                        <p:strVal val="visible"/>
                                      </p:to>
                                    </p:set>
                                    <p:animEffect transition="in" filter="dissolve">
                                      <p:cBhvr>
                                        <p:cTn id="64" dur="500"/>
                                        <p:tgtEl>
                                          <p:spTgt spid="273"/>
                                        </p:tgtEl>
                                      </p:cBhvr>
                                    </p:animEffect>
                                  </p:childTnLst>
                                </p:cTn>
                              </p:par>
                            </p:childTnLst>
                          </p:cTn>
                        </p:par>
                        <p:par>
                          <p:cTn id="65" fill="hold">
                            <p:stCondLst>
                              <p:cond delay="1000"/>
                            </p:stCondLst>
                            <p:childTnLst>
                              <p:par>
                                <p:cTn id="66" presetID="9" presetClass="entr" presetSubtype="0" fill="hold" grpId="0" nodeType="afterEffect">
                                  <p:stCondLst>
                                    <p:cond delay="0"/>
                                  </p:stCondLst>
                                  <p:childTnLst>
                                    <p:set>
                                      <p:cBhvr>
                                        <p:cTn id="67" dur="1" fill="hold">
                                          <p:stCondLst>
                                            <p:cond delay="0"/>
                                          </p:stCondLst>
                                        </p:cTn>
                                        <p:tgtEl>
                                          <p:spTgt spid="282"/>
                                        </p:tgtEl>
                                        <p:attrNameLst>
                                          <p:attrName>style.visibility</p:attrName>
                                        </p:attrNameLst>
                                      </p:cBhvr>
                                      <p:to>
                                        <p:strVal val="visible"/>
                                      </p:to>
                                    </p:set>
                                    <p:animEffect transition="in" filter="dissolve">
                                      <p:cBhvr>
                                        <p:cTn id="68" dur="500"/>
                                        <p:tgtEl>
                                          <p:spTgt spid="282"/>
                                        </p:tgtEl>
                                      </p:cBhvr>
                                    </p:animEffect>
                                  </p:childTnLst>
                                </p:cTn>
                              </p:par>
                            </p:childTnLst>
                          </p:cTn>
                        </p:par>
                        <p:par>
                          <p:cTn id="69" fill="hold">
                            <p:stCondLst>
                              <p:cond delay="1500"/>
                            </p:stCondLst>
                            <p:childTnLst>
                              <p:par>
                                <p:cTn id="70" presetID="22" presetClass="entr" presetSubtype="2" fill="hold" nodeType="afterEffect">
                                  <p:stCondLst>
                                    <p:cond delay="0"/>
                                  </p:stCondLst>
                                  <p:childTnLst>
                                    <p:set>
                                      <p:cBhvr>
                                        <p:cTn id="71" dur="1" fill="hold">
                                          <p:stCondLst>
                                            <p:cond delay="0"/>
                                          </p:stCondLst>
                                        </p:cTn>
                                        <p:tgtEl>
                                          <p:spTgt spid="296"/>
                                        </p:tgtEl>
                                        <p:attrNameLst>
                                          <p:attrName>style.visibility</p:attrName>
                                        </p:attrNameLst>
                                      </p:cBhvr>
                                      <p:to>
                                        <p:strVal val="visible"/>
                                      </p:to>
                                    </p:set>
                                    <p:animEffect transition="in" filter="wipe(right)">
                                      <p:cBhvr>
                                        <p:cTn id="72" dur="500"/>
                                        <p:tgtEl>
                                          <p:spTgt spid="296"/>
                                        </p:tgtEl>
                                      </p:cBhvr>
                                    </p:animEffect>
                                  </p:childTnLst>
                                </p:cTn>
                              </p:par>
                            </p:childTnLst>
                          </p:cTn>
                        </p:par>
                        <p:par>
                          <p:cTn id="73" fill="hold">
                            <p:stCondLst>
                              <p:cond delay="2000"/>
                            </p:stCondLst>
                            <p:childTnLst>
                              <p:par>
                                <p:cTn id="74" presetID="9" presetClass="entr" presetSubtype="0" fill="hold" grpId="0" nodeType="afterEffect">
                                  <p:stCondLst>
                                    <p:cond delay="0"/>
                                  </p:stCondLst>
                                  <p:childTnLst>
                                    <p:set>
                                      <p:cBhvr>
                                        <p:cTn id="75" dur="1" fill="hold">
                                          <p:stCondLst>
                                            <p:cond delay="0"/>
                                          </p:stCondLst>
                                        </p:cTn>
                                        <p:tgtEl>
                                          <p:spTgt spid="287"/>
                                        </p:tgtEl>
                                        <p:attrNameLst>
                                          <p:attrName>style.visibility</p:attrName>
                                        </p:attrNameLst>
                                      </p:cBhvr>
                                      <p:to>
                                        <p:strVal val="visible"/>
                                      </p:to>
                                    </p:set>
                                    <p:animEffect transition="in" filter="dissolve">
                                      <p:cBhvr>
                                        <p:cTn id="76" dur="500"/>
                                        <p:tgtEl>
                                          <p:spTgt spid="287"/>
                                        </p:tgtEl>
                                      </p:cBhvr>
                                    </p:animEffect>
                                  </p:childTnLst>
                                </p:cTn>
                              </p:par>
                            </p:childTnLst>
                          </p:cTn>
                        </p:par>
                        <p:par>
                          <p:cTn id="77" fill="hold">
                            <p:stCondLst>
                              <p:cond delay="2500"/>
                            </p:stCondLst>
                            <p:childTnLst>
                              <p:par>
                                <p:cTn id="78" presetID="9" presetClass="entr" presetSubtype="0" fill="hold" grpId="0" nodeType="afterEffect">
                                  <p:stCondLst>
                                    <p:cond delay="0"/>
                                  </p:stCondLst>
                                  <p:childTnLst>
                                    <p:set>
                                      <p:cBhvr>
                                        <p:cTn id="79" dur="1" fill="hold">
                                          <p:stCondLst>
                                            <p:cond delay="0"/>
                                          </p:stCondLst>
                                        </p:cTn>
                                        <p:tgtEl>
                                          <p:spTgt spid="285"/>
                                        </p:tgtEl>
                                        <p:attrNameLst>
                                          <p:attrName>style.visibility</p:attrName>
                                        </p:attrNameLst>
                                      </p:cBhvr>
                                      <p:to>
                                        <p:strVal val="visible"/>
                                      </p:to>
                                    </p:set>
                                    <p:animEffect transition="in" filter="dissolve">
                                      <p:cBhvr>
                                        <p:cTn id="80" dur="500"/>
                                        <p:tgtEl>
                                          <p:spTgt spid="285"/>
                                        </p:tgtEl>
                                      </p:cBhvr>
                                    </p:animEffect>
                                  </p:childTnLst>
                                </p:cTn>
                              </p:par>
                            </p:childTnLst>
                          </p:cTn>
                        </p:par>
                        <p:par>
                          <p:cTn id="81" fill="hold">
                            <p:stCondLst>
                              <p:cond delay="3000"/>
                            </p:stCondLst>
                            <p:childTnLst>
                              <p:par>
                                <p:cTn id="82" presetID="22" presetClass="entr" presetSubtype="8" fill="hold" nodeType="afterEffect">
                                  <p:stCondLst>
                                    <p:cond delay="0"/>
                                  </p:stCondLst>
                                  <p:childTnLst>
                                    <p:set>
                                      <p:cBhvr>
                                        <p:cTn id="83" dur="1" fill="hold">
                                          <p:stCondLst>
                                            <p:cond delay="0"/>
                                          </p:stCondLst>
                                        </p:cTn>
                                        <p:tgtEl>
                                          <p:spTgt spid="293"/>
                                        </p:tgtEl>
                                        <p:attrNameLst>
                                          <p:attrName>style.visibility</p:attrName>
                                        </p:attrNameLst>
                                      </p:cBhvr>
                                      <p:to>
                                        <p:strVal val="visible"/>
                                      </p:to>
                                    </p:set>
                                    <p:animEffect transition="in" filter="wipe(left)">
                                      <p:cBhvr>
                                        <p:cTn id="84" dur="500"/>
                                        <p:tgtEl>
                                          <p:spTgt spid="293"/>
                                        </p:tgtEl>
                                      </p:cBhvr>
                                    </p:animEffect>
                                  </p:childTnLst>
                                </p:cTn>
                              </p:par>
                            </p:childTnLst>
                          </p:cTn>
                        </p:par>
                        <p:par>
                          <p:cTn id="85" fill="hold">
                            <p:stCondLst>
                              <p:cond delay="3500"/>
                            </p:stCondLst>
                            <p:childTnLst>
                              <p:par>
                                <p:cTn id="86" presetID="9" presetClass="entr" presetSubtype="0" fill="hold" grpId="0" nodeType="afterEffect">
                                  <p:stCondLst>
                                    <p:cond delay="0"/>
                                  </p:stCondLst>
                                  <p:childTnLst>
                                    <p:set>
                                      <p:cBhvr>
                                        <p:cTn id="87" dur="1" fill="hold">
                                          <p:stCondLst>
                                            <p:cond delay="0"/>
                                          </p:stCondLst>
                                        </p:cTn>
                                        <p:tgtEl>
                                          <p:spTgt spid="280"/>
                                        </p:tgtEl>
                                        <p:attrNameLst>
                                          <p:attrName>style.visibility</p:attrName>
                                        </p:attrNameLst>
                                      </p:cBhvr>
                                      <p:to>
                                        <p:strVal val="visible"/>
                                      </p:to>
                                    </p:set>
                                    <p:animEffect transition="in" filter="dissolve">
                                      <p:cBhvr>
                                        <p:cTn id="88" dur="500"/>
                                        <p:tgtEl>
                                          <p:spTgt spid="280"/>
                                        </p:tgtEl>
                                      </p:cBhvr>
                                    </p:animEffect>
                                  </p:childTnLst>
                                </p:cTn>
                              </p:par>
                            </p:childTnLst>
                          </p:cTn>
                        </p:par>
                        <p:par>
                          <p:cTn id="89" fill="hold">
                            <p:stCondLst>
                              <p:cond delay="4000"/>
                            </p:stCondLst>
                            <p:childTnLst>
                              <p:par>
                                <p:cTn id="90" presetID="9" presetClass="entr" presetSubtype="0" fill="hold" nodeType="afterEffect">
                                  <p:stCondLst>
                                    <p:cond delay="0"/>
                                  </p:stCondLst>
                                  <p:childTnLst>
                                    <p:set>
                                      <p:cBhvr>
                                        <p:cTn id="91" dur="1" fill="hold">
                                          <p:stCondLst>
                                            <p:cond delay="0"/>
                                          </p:stCondLst>
                                        </p:cTn>
                                        <p:tgtEl>
                                          <p:spTgt spid="283">
                                            <p:txEl>
                                              <p:pRg st="0" end="0"/>
                                            </p:txEl>
                                          </p:spTgt>
                                        </p:tgtEl>
                                        <p:attrNameLst>
                                          <p:attrName>style.visibility</p:attrName>
                                        </p:attrNameLst>
                                      </p:cBhvr>
                                      <p:to>
                                        <p:strVal val="visible"/>
                                      </p:to>
                                    </p:set>
                                    <p:animEffect transition="in" filter="dissolve">
                                      <p:cBhvr>
                                        <p:cTn id="92" dur="500"/>
                                        <p:tgtEl>
                                          <p:spTgt spid="283">
                                            <p:txEl>
                                              <p:pRg st="0" end="0"/>
                                            </p:txEl>
                                          </p:spTgt>
                                        </p:tgtEl>
                                      </p:cBhvr>
                                    </p:animEffect>
                                  </p:childTnLst>
                                </p:cTn>
                              </p:par>
                            </p:childTnLst>
                          </p:cTn>
                        </p:par>
                        <p:par>
                          <p:cTn id="93" fill="hold">
                            <p:stCondLst>
                              <p:cond delay="4500"/>
                            </p:stCondLst>
                            <p:childTnLst>
                              <p:par>
                                <p:cTn id="94" presetID="22" presetClass="entr" presetSubtype="2" fill="hold" nodeType="afterEffect">
                                  <p:stCondLst>
                                    <p:cond delay="0"/>
                                  </p:stCondLst>
                                  <p:childTnLst>
                                    <p:set>
                                      <p:cBhvr>
                                        <p:cTn id="95" dur="1" fill="hold">
                                          <p:stCondLst>
                                            <p:cond delay="0"/>
                                          </p:stCondLst>
                                        </p:cTn>
                                        <p:tgtEl>
                                          <p:spTgt spid="302"/>
                                        </p:tgtEl>
                                        <p:attrNameLst>
                                          <p:attrName>style.visibility</p:attrName>
                                        </p:attrNameLst>
                                      </p:cBhvr>
                                      <p:to>
                                        <p:strVal val="visible"/>
                                      </p:to>
                                    </p:set>
                                    <p:animEffect transition="in" filter="wipe(right)">
                                      <p:cBhvr>
                                        <p:cTn id="96" dur="500"/>
                                        <p:tgtEl>
                                          <p:spTgt spid="302"/>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335"/>
                                        </p:tgtEl>
                                        <p:attrNameLst>
                                          <p:attrName>style.visibility</p:attrName>
                                        </p:attrNameLst>
                                      </p:cBhvr>
                                      <p:to>
                                        <p:strVal val="visible"/>
                                      </p:to>
                                    </p:set>
                                    <p:animEffect transition="in" filter="wipe(left)">
                                      <p:cBhvr>
                                        <p:cTn id="101" dur="500"/>
                                        <p:tgtEl>
                                          <p:spTgt spid="335"/>
                                        </p:tgtEl>
                                      </p:cBhvr>
                                    </p:animEffect>
                                  </p:childTnLst>
                                </p:cTn>
                              </p:par>
                            </p:childTnLst>
                          </p:cTn>
                        </p:par>
                        <p:par>
                          <p:cTn id="102" fill="hold">
                            <p:stCondLst>
                              <p:cond delay="500"/>
                            </p:stCondLst>
                            <p:childTnLst>
                              <p:par>
                                <p:cTn id="103" presetID="9" presetClass="entr" presetSubtype="0" fill="hold" nodeType="afterEffect">
                                  <p:stCondLst>
                                    <p:cond delay="0"/>
                                  </p:stCondLst>
                                  <p:childTnLst>
                                    <p:set>
                                      <p:cBhvr>
                                        <p:cTn id="104" dur="1" fill="hold">
                                          <p:stCondLst>
                                            <p:cond delay="0"/>
                                          </p:stCondLst>
                                        </p:cTn>
                                        <p:tgtEl>
                                          <p:spTgt spid="334">
                                            <p:txEl>
                                              <p:pRg st="0" end="0"/>
                                            </p:txEl>
                                          </p:spTgt>
                                        </p:tgtEl>
                                        <p:attrNameLst>
                                          <p:attrName>style.visibility</p:attrName>
                                        </p:attrNameLst>
                                      </p:cBhvr>
                                      <p:to>
                                        <p:strVal val="visible"/>
                                      </p:to>
                                    </p:set>
                                    <p:animEffect transition="in" filter="dissolve">
                                      <p:cBhvr>
                                        <p:cTn id="105" dur="500"/>
                                        <p:tgtEl>
                                          <p:spTgt spid="334">
                                            <p:txEl>
                                              <p:pRg st="0" end="0"/>
                                            </p:txEl>
                                          </p:spTgt>
                                        </p:tgtEl>
                                      </p:cBhvr>
                                    </p:animEffect>
                                  </p:childTnLst>
                                </p:cTn>
                              </p:par>
                            </p:childTnLst>
                          </p:cTn>
                        </p:par>
                        <p:par>
                          <p:cTn id="106" fill="hold">
                            <p:stCondLst>
                              <p:cond delay="1000"/>
                            </p:stCondLst>
                            <p:childTnLst>
                              <p:par>
                                <p:cTn id="107" presetID="9" presetClass="entr" presetSubtype="0" fill="hold" grpId="0" nodeType="afterEffect">
                                  <p:stCondLst>
                                    <p:cond delay="0"/>
                                  </p:stCondLst>
                                  <p:childTnLst>
                                    <p:set>
                                      <p:cBhvr>
                                        <p:cTn id="108" dur="1" fill="hold">
                                          <p:stCondLst>
                                            <p:cond delay="0"/>
                                          </p:stCondLst>
                                        </p:cTn>
                                        <p:tgtEl>
                                          <p:spTgt spid="330"/>
                                        </p:tgtEl>
                                        <p:attrNameLst>
                                          <p:attrName>style.visibility</p:attrName>
                                        </p:attrNameLst>
                                      </p:cBhvr>
                                      <p:to>
                                        <p:strVal val="visible"/>
                                      </p:to>
                                    </p:set>
                                    <p:animEffect transition="in" filter="dissolve">
                                      <p:cBhvr>
                                        <p:cTn id="109" dur="500"/>
                                        <p:tgtEl>
                                          <p:spTgt spid="330"/>
                                        </p:tgtEl>
                                      </p:cBhvr>
                                    </p:animEffect>
                                  </p:childTnLst>
                                </p:cTn>
                              </p:par>
                            </p:childTnLst>
                          </p:cTn>
                        </p:par>
                        <p:par>
                          <p:cTn id="110" fill="hold">
                            <p:stCondLst>
                              <p:cond delay="1500"/>
                            </p:stCondLst>
                            <p:childTnLst>
                              <p:par>
                                <p:cTn id="111" presetID="22" presetClass="entr" presetSubtype="2" fill="hold" nodeType="afterEffect">
                                  <p:stCondLst>
                                    <p:cond delay="0"/>
                                  </p:stCondLst>
                                  <p:childTnLst>
                                    <p:set>
                                      <p:cBhvr>
                                        <p:cTn id="112" dur="1" fill="hold">
                                          <p:stCondLst>
                                            <p:cond delay="0"/>
                                          </p:stCondLst>
                                        </p:cTn>
                                        <p:tgtEl>
                                          <p:spTgt spid="338"/>
                                        </p:tgtEl>
                                        <p:attrNameLst>
                                          <p:attrName>style.visibility</p:attrName>
                                        </p:attrNameLst>
                                      </p:cBhvr>
                                      <p:to>
                                        <p:strVal val="visible"/>
                                      </p:to>
                                    </p:set>
                                    <p:animEffect transition="in" filter="wipe(right)">
                                      <p:cBhvr>
                                        <p:cTn id="113" dur="500"/>
                                        <p:tgtEl>
                                          <p:spTgt spid="338"/>
                                        </p:tgtEl>
                                      </p:cBhvr>
                                    </p:animEffect>
                                  </p:childTnLst>
                                </p:cTn>
                              </p:par>
                            </p:childTnLst>
                          </p:cTn>
                        </p:par>
                        <p:par>
                          <p:cTn id="114" fill="hold">
                            <p:stCondLst>
                              <p:cond delay="2000"/>
                            </p:stCondLst>
                            <p:childTnLst>
                              <p:par>
                                <p:cTn id="115" presetID="9" presetClass="entr" presetSubtype="0" fill="hold" grpId="0" nodeType="afterEffect">
                                  <p:stCondLst>
                                    <p:cond delay="0"/>
                                  </p:stCondLst>
                                  <p:childTnLst>
                                    <p:set>
                                      <p:cBhvr>
                                        <p:cTn id="116" dur="1" fill="hold">
                                          <p:stCondLst>
                                            <p:cond delay="0"/>
                                          </p:stCondLst>
                                        </p:cTn>
                                        <p:tgtEl>
                                          <p:spTgt spid="331"/>
                                        </p:tgtEl>
                                        <p:attrNameLst>
                                          <p:attrName>style.visibility</p:attrName>
                                        </p:attrNameLst>
                                      </p:cBhvr>
                                      <p:to>
                                        <p:strVal val="visible"/>
                                      </p:to>
                                    </p:set>
                                    <p:animEffect transition="in" filter="dissolve">
                                      <p:cBhvr>
                                        <p:cTn id="117" dur="500"/>
                                        <p:tgtEl>
                                          <p:spTgt spid="331"/>
                                        </p:tgtEl>
                                      </p:cBhvr>
                                    </p:animEffect>
                                  </p:childTnLst>
                                </p:cTn>
                              </p:par>
                            </p:childTnLst>
                          </p:cTn>
                        </p:par>
                        <p:par>
                          <p:cTn id="118" fill="hold">
                            <p:stCondLst>
                              <p:cond delay="2500"/>
                            </p:stCondLst>
                            <p:childTnLst>
                              <p:par>
                                <p:cTn id="119" presetID="9" presetClass="entr" presetSubtype="0" fill="hold" grpId="0" nodeType="afterEffect">
                                  <p:stCondLst>
                                    <p:cond delay="0"/>
                                  </p:stCondLst>
                                  <p:childTnLst>
                                    <p:set>
                                      <p:cBhvr>
                                        <p:cTn id="120" dur="1" fill="hold">
                                          <p:stCondLst>
                                            <p:cond delay="0"/>
                                          </p:stCondLst>
                                        </p:cTn>
                                        <p:tgtEl>
                                          <p:spTgt spid="332"/>
                                        </p:tgtEl>
                                        <p:attrNameLst>
                                          <p:attrName>style.visibility</p:attrName>
                                        </p:attrNameLst>
                                      </p:cBhvr>
                                      <p:to>
                                        <p:strVal val="visible"/>
                                      </p:to>
                                    </p:set>
                                    <p:animEffect transition="in" filter="dissolve">
                                      <p:cBhvr>
                                        <p:cTn id="121" dur="500"/>
                                        <p:tgtEl>
                                          <p:spTgt spid="332"/>
                                        </p:tgtEl>
                                      </p:cBhvr>
                                    </p:animEffect>
                                  </p:childTnLst>
                                </p:cTn>
                              </p:par>
                            </p:childTnLst>
                          </p:cTn>
                        </p:par>
                        <p:par>
                          <p:cTn id="122" fill="hold">
                            <p:stCondLst>
                              <p:cond delay="3000"/>
                            </p:stCondLst>
                            <p:childTnLst>
                              <p:par>
                                <p:cTn id="123" presetID="22" presetClass="entr" presetSubtype="8" fill="hold" nodeType="afterEffect">
                                  <p:stCondLst>
                                    <p:cond delay="0"/>
                                  </p:stCondLst>
                                  <p:childTnLst>
                                    <p:set>
                                      <p:cBhvr>
                                        <p:cTn id="124" dur="1" fill="hold">
                                          <p:stCondLst>
                                            <p:cond delay="0"/>
                                          </p:stCondLst>
                                        </p:cTn>
                                        <p:tgtEl>
                                          <p:spTgt spid="324"/>
                                        </p:tgtEl>
                                        <p:attrNameLst>
                                          <p:attrName>style.visibility</p:attrName>
                                        </p:attrNameLst>
                                      </p:cBhvr>
                                      <p:to>
                                        <p:strVal val="visible"/>
                                      </p:to>
                                    </p:set>
                                    <p:animEffect transition="in" filter="wipe(left)">
                                      <p:cBhvr>
                                        <p:cTn id="125" dur="500"/>
                                        <p:tgtEl>
                                          <p:spTgt spid="324"/>
                                        </p:tgtEl>
                                      </p:cBhvr>
                                    </p:animEffect>
                                  </p:childTnLst>
                                </p:cTn>
                              </p:par>
                            </p:childTnLst>
                          </p:cTn>
                        </p:par>
                        <p:par>
                          <p:cTn id="126" fill="hold">
                            <p:stCondLst>
                              <p:cond delay="3500"/>
                            </p:stCondLst>
                            <p:childTnLst>
                              <p:par>
                                <p:cTn id="127" presetID="9" presetClass="entr" presetSubtype="0" fill="hold" nodeType="afterEffect">
                                  <p:stCondLst>
                                    <p:cond delay="0"/>
                                  </p:stCondLst>
                                  <p:childTnLst>
                                    <p:set>
                                      <p:cBhvr>
                                        <p:cTn id="128" dur="1" fill="hold">
                                          <p:stCondLst>
                                            <p:cond delay="0"/>
                                          </p:stCondLst>
                                        </p:cTn>
                                        <p:tgtEl>
                                          <p:spTgt spid="321">
                                            <p:txEl>
                                              <p:pRg st="0" end="0"/>
                                            </p:txEl>
                                          </p:spTgt>
                                        </p:tgtEl>
                                        <p:attrNameLst>
                                          <p:attrName>style.visibility</p:attrName>
                                        </p:attrNameLst>
                                      </p:cBhvr>
                                      <p:to>
                                        <p:strVal val="visible"/>
                                      </p:to>
                                    </p:set>
                                    <p:animEffect transition="in" filter="dissolve">
                                      <p:cBhvr>
                                        <p:cTn id="129" dur="500"/>
                                        <p:tgtEl>
                                          <p:spTgt spid="321">
                                            <p:txEl>
                                              <p:pRg st="0" end="0"/>
                                            </p:txEl>
                                          </p:spTgt>
                                        </p:tgtEl>
                                      </p:cBhvr>
                                    </p:animEffect>
                                  </p:childTnLst>
                                </p:cTn>
                              </p:par>
                            </p:childTnLst>
                          </p:cTn>
                        </p:par>
                        <p:par>
                          <p:cTn id="130" fill="hold">
                            <p:stCondLst>
                              <p:cond delay="4000"/>
                            </p:stCondLst>
                            <p:childTnLst>
                              <p:par>
                                <p:cTn id="131" presetID="9" presetClass="entr" presetSubtype="0" fill="hold" grpId="0" nodeType="afterEffect">
                                  <p:stCondLst>
                                    <p:cond delay="0"/>
                                  </p:stCondLst>
                                  <p:childTnLst>
                                    <p:set>
                                      <p:cBhvr>
                                        <p:cTn id="132" dur="1" fill="hold">
                                          <p:stCondLst>
                                            <p:cond delay="0"/>
                                          </p:stCondLst>
                                        </p:cTn>
                                        <p:tgtEl>
                                          <p:spTgt spid="322"/>
                                        </p:tgtEl>
                                        <p:attrNameLst>
                                          <p:attrName>style.visibility</p:attrName>
                                        </p:attrNameLst>
                                      </p:cBhvr>
                                      <p:to>
                                        <p:strVal val="visible"/>
                                      </p:to>
                                    </p:set>
                                    <p:animEffect transition="in" filter="dissolve">
                                      <p:cBhvr>
                                        <p:cTn id="133" dur="500"/>
                                        <p:tgtEl>
                                          <p:spTgt spid="322"/>
                                        </p:tgtEl>
                                      </p:cBhvr>
                                    </p:animEffect>
                                  </p:childTnLst>
                                </p:cTn>
                              </p:par>
                            </p:childTnLst>
                          </p:cTn>
                        </p:par>
                        <p:par>
                          <p:cTn id="134" fill="hold">
                            <p:stCondLst>
                              <p:cond delay="4500"/>
                            </p:stCondLst>
                            <p:childTnLst>
                              <p:par>
                                <p:cTn id="135" presetID="22" presetClass="entr" presetSubtype="1" fill="hold" nodeType="afterEffect">
                                  <p:stCondLst>
                                    <p:cond delay="0"/>
                                  </p:stCondLst>
                                  <p:childTnLst>
                                    <p:set>
                                      <p:cBhvr>
                                        <p:cTn id="136" dur="1" fill="hold">
                                          <p:stCondLst>
                                            <p:cond delay="0"/>
                                          </p:stCondLst>
                                        </p:cTn>
                                        <p:tgtEl>
                                          <p:spTgt spid="342"/>
                                        </p:tgtEl>
                                        <p:attrNameLst>
                                          <p:attrName>style.visibility</p:attrName>
                                        </p:attrNameLst>
                                      </p:cBhvr>
                                      <p:to>
                                        <p:strVal val="visible"/>
                                      </p:to>
                                    </p:set>
                                    <p:animEffect transition="in" filter="wipe(up)">
                                      <p:cBhvr>
                                        <p:cTn id="137" dur="1000"/>
                                        <p:tgtEl>
                                          <p:spTgt spid="342"/>
                                        </p:tgtEl>
                                      </p:cBhvr>
                                    </p:animEffect>
                                  </p:childTnLst>
                                </p:cTn>
                              </p:par>
                              <p:par>
                                <p:cTn id="138" presetID="22" presetClass="entr" presetSubtype="1" fill="hold" nodeType="withEffect">
                                  <p:stCondLst>
                                    <p:cond delay="0"/>
                                  </p:stCondLst>
                                  <p:childTnLst>
                                    <p:set>
                                      <p:cBhvr>
                                        <p:cTn id="139" dur="1" fill="hold">
                                          <p:stCondLst>
                                            <p:cond delay="0"/>
                                          </p:stCondLst>
                                        </p:cTn>
                                        <p:tgtEl>
                                          <p:spTgt spid="352"/>
                                        </p:tgtEl>
                                        <p:attrNameLst>
                                          <p:attrName>style.visibility</p:attrName>
                                        </p:attrNameLst>
                                      </p:cBhvr>
                                      <p:to>
                                        <p:strVal val="visible"/>
                                      </p:to>
                                    </p:set>
                                    <p:animEffect transition="in" filter="wipe(up)">
                                      <p:cBhvr>
                                        <p:cTn id="140" dur="500"/>
                                        <p:tgtEl>
                                          <p:spTgt spid="352"/>
                                        </p:tgtEl>
                                      </p:cBhvr>
                                    </p:animEffect>
                                  </p:childTnLst>
                                </p:cTn>
                              </p:par>
                            </p:childTnLst>
                          </p:cTn>
                        </p:par>
                        <p:par>
                          <p:cTn id="141" fill="hold">
                            <p:stCondLst>
                              <p:cond delay="5500"/>
                            </p:stCondLst>
                            <p:childTnLst>
                              <p:par>
                                <p:cTn id="142" presetID="9" presetClass="entr" presetSubtype="0" fill="hold" nodeType="afterEffect">
                                  <p:stCondLst>
                                    <p:cond delay="0"/>
                                  </p:stCondLst>
                                  <p:childTnLst>
                                    <p:set>
                                      <p:cBhvr>
                                        <p:cTn id="143" dur="1" fill="hold">
                                          <p:stCondLst>
                                            <p:cond delay="0"/>
                                          </p:stCondLst>
                                        </p:cTn>
                                        <p:tgtEl>
                                          <p:spTgt spid="349"/>
                                        </p:tgtEl>
                                        <p:attrNameLst>
                                          <p:attrName>style.visibility</p:attrName>
                                        </p:attrNameLst>
                                      </p:cBhvr>
                                      <p:to>
                                        <p:strVal val="visible"/>
                                      </p:to>
                                    </p:set>
                                    <p:animEffect transition="in" filter="dissolve">
                                      <p:cBhvr>
                                        <p:cTn id="144" dur="500"/>
                                        <p:tgtEl>
                                          <p:spTgt spid="349"/>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346"/>
                                        </p:tgtEl>
                                        <p:attrNameLst>
                                          <p:attrName>style.visibility</p:attrName>
                                        </p:attrNameLst>
                                      </p:cBhvr>
                                      <p:to>
                                        <p:strVal val="visible"/>
                                      </p:to>
                                    </p:set>
                                    <p:animEffect transition="in" filter="wipe(left)">
                                      <p:cBhvr>
                                        <p:cTn id="149" dur="500"/>
                                        <p:tgtEl>
                                          <p:spTgt spid="346"/>
                                        </p:tgtEl>
                                      </p:cBhvr>
                                    </p:animEffect>
                                  </p:childTnLst>
                                </p:cTn>
                              </p:par>
                              <p:par>
                                <p:cTn id="150" presetID="22" presetClass="entr" presetSubtype="1" fill="hold" nodeType="withEffect">
                                  <p:stCondLst>
                                    <p:cond delay="0"/>
                                  </p:stCondLst>
                                  <p:childTnLst>
                                    <p:set>
                                      <p:cBhvr>
                                        <p:cTn id="151" dur="1" fill="hold">
                                          <p:stCondLst>
                                            <p:cond delay="0"/>
                                          </p:stCondLst>
                                        </p:cTn>
                                        <p:tgtEl>
                                          <p:spTgt spid="356"/>
                                        </p:tgtEl>
                                        <p:attrNameLst>
                                          <p:attrName>style.visibility</p:attrName>
                                        </p:attrNameLst>
                                      </p:cBhvr>
                                      <p:to>
                                        <p:strVal val="visible"/>
                                      </p:to>
                                    </p:set>
                                    <p:animEffect transition="in" filter="wipe(up)">
                                      <p:cBhvr>
                                        <p:cTn id="152" dur="500"/>
                                        <p:tgtEl>
                                          <p:spTgt spid="356"/>
                                        </p:tgtEl>
                                      </p:cBhvr>
                                    </p:animEffect>
                                  </p:childTnLst>
                                </p:cTn>
                              </p:par>
                            </p:childTnLst>
                          </p:cTn>
                        </p:par>
                        <p:par>
                          <p:cTn id="153" fill="hold">
                            <p:stCondLst>
                              <p:cond delay="500"/>
                            </p:stCondLst>
                            <p:childTnLst>
                              <p:par>
                                <p:cTn id="154" presetID="9" presetClass="entr" presetSubtype="0" fill="hold" nodeType="afterEffect">
                                  <p:stCondLst>
                                    <p:cond delay="0"/>
                                  </p:stCondLst>
                                  <p:childTnLst>
                                    <p:set>
                                      <p:cBhvr>
                                        <p:cTn id="155" dur="1" fill="hold">
                                          <p:stCondLst>
                                            <p:cond delay="0"/>
                                          </p:stCondLst>
                                        </p:cTn>
                                        <p:tgtEl>
                                          <p:spTgt spid="329">
                                            <p:txEl>
                                              <p:pRg st="0" end="0"/>
                                            </p:txEl>
                                          </p:spTgt>
                                        </p:tgtEl>
                                        <p:attrNameLst>
                                          <p:attrName>style.visibility</p:attrName>
                                        </p:attrNameLst>
                                      </p:cBhvr>
                                      <p:to>
                                        <p:strVal val="visible"/>
                                      </p:to>
                                    </p:set>
                                    <p:animEffect transition="in" filter="dissolve">
                                      <p:cBhvr>
                                        <p:cTn id="156" dur="500"/>
                                        <p:tgtEl>
                                          <p:spTgt spid="329">
                                            <p:txEl>
                                              <p:pRg st="0" end="0"/>
                                            </p:txEl>
                                          </p:spTgt>
                                        </p:tgtEl>
                                      </p:cBhvr>
                                    </p:animEffect>
                                  </p:childTnLst>
                                </p:cTn>
                              </p:par>
                              <p:par>
                                <p:cTn id="157" presetID="9" presetClass="entr" presetSubtype="0" fill="hold" grpId="0" nodeType="withEffect">
                                  <p:stCondLst>
                                    <p:cond delay="0"/>
                                  </p:stCondLst>
                                  <p:childTnLst>
                                    <p:set>
                                      <p:cBhvr>
                                        <p:cTn id="158" dur="1" fill="hold">
                                          <p:stCondLst>
                                            <p:cond delay="0"/>
                                          </p:stCondLst>
                                        </p:cTn>
                                        <p:tgtEl>
                                          <p:spTgt spid="323"/>
                                        </p:tgtEl>
                                        <p:attrNameLst>
                                          <p:attrName>style.visibility</p:attrName>
                                        </p:attrNameLst>
                                      </p:cBhvr>
                                      <p:to>
                                        <p:strVal val="visible"/>
                                      </p:to>
                                    </p:set>
                                    <p:animEffect transition="in" filter="dissolve">
                                      <p:cBhvr>
                                        <p:cTn id="159" dur="500"/>
                                        <p:tgtEl>
                                          <p:spTgt spid="323"/>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2" fill="hold" nodeType="clickEffect">
                                  <p:stCondLst>
                                    <p:cond delay="0"/>
                                  </p:stCondLst>
                                  <p:childTnLst>
                                    <p:set>
                                      <p:cBhvr>
                                        <p:cTn id="163" dur="1" fill="hold">
                                          <p:stCondLst>
                                            <p:cond delay="0"/>
                                          </p:stCondLst>
                                        </p:cTn>
                                        <p:tgtEl>
                                          <p:spTgt spid="5"/>
                                        </p:tgtEl>
                                        <p:attrNameLst>
                                          <p:attrName>style.visibility</p:attrName>
                                        </p:attrNameLst>
                                      </p:cBhvr>
                                      <p:to>
                                        <p:strVal val="visible"/>
                                      </p:to>
                                    </p:set>
                                    <p:animEffect transition="in" filter="wipe(right)">
                                      <p:cBhvr>
                                        <p:cTn id="164" dur="500"/>
                                        <p:tgtEl>
                                          <p:spTgt spid="5"/>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nodeType="clickEffect">
                                  <p:stCondLst>
                                    <p:cond delay="0"/>
                                  </p:stCondLst>
                                  <p:childTnLst>
                                    <p:set>
                                      <p:cBhvr>
                                        <p:cTn id="168" dur="1" fill="hold">
                                          <p:stCondLst>
                                            <p:cond delay="0"/>
                                          </p:stCondLst>
                                        </p:cTn>
                                        <p:tgtEl>
                                          <p:spTgt spid="6"/>
                                        </p:tgtEl>
                                        <p:attrNameLst>
                                          <p:attrName>style.visibility</p:attrName>
                                        </p:attrNameLst>
                                      </p:cBhvr>
                                      <p:to>
                                        <p:strVal val="visible"/>
                                      </p:to>
                                    </p:set>
                                    <p:animEffect transition="in" filter="wipe(left)">
                                      <p:cBhvr>
                                        <p:cTn id="169" dur="500"/>
                                        <p:tgtEl>
                                          <p:spTgt spid="6"/>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2" fill="hold" nodeType="clickEffect">
                                  <p:stCondLst>
                                    <p:cond delay="0"/>
                                  </p:stCondLst>
                                  <p:childTnLst>
                                    <p:set>
                                      <p:cBhvr>
                                        <p:cTn id="173" dur="1" fill="hold">
                                          <p:stCondLst>
                                            <p:cond delay="0"/>
                                          </p:stCondLst>
                                        </p:cTn>
                                        <p:tgtEl>
                                          <p:spTgt spid="367"/>
                                        </p:tgtEl>
                                        <p:attrNameLst>
                                          <p:attrName>style.visibility</p:attrName>
                                        </p:attrNameLst>
                                      </p:cBhvr>
                                      <p:to>
                                        <p:strVal val="visible"/>
                                      </p:to>
                                    </p:set>
                                    <p:animEffect transition="in" filter="wipe(right)">
                                      <p:cBhvr>
                                        <p:cTn id="174" dur="500"/>
                                        <p:tgtEl>
                                          <p:spTgt spid="367"/>
                                        </p:tgtEl>
                                      </p:cBhvr>
                                    </p:animEffect>
                                  </p:childTnLst>
                                </p:cTn>
                              </p:par>
                            </p:childTnLst>
                          </p:cTn>
                        </p:par>
                        <p:par>
                          <p:cTn id="175" fill="hold">
                            <p:stCondLst>
                              <p:cond delay="500"/>
                            </p:stCondLst>
                            <p:childTnLst>
                              <p:par>
                                <p:cTn id="176" presetID="22" presetClass="entr" presetSubtype="8" fill="hold" nodeType="afterEffect">
                                  <p:stCondLst>
                                    <p:cond delay="0"/>
                                  </p:stCondLst>
                                  <p:childTnLst>
                                    <p:set>
                                      <p:cBhvr>
                                        <p:cTn id="177" dur="1" fill="hold">
                                          <p:stCondLst>
                                            <p:cond delay="0"/>
                                          </p:stCondLst>
                                        </p:cTn>
                                        <p:tgtEl>
                                          <p:spTgt spid="120"/>
                                        </p:tgtEl>
                                        <p:attrNameLst>
                                          <p:attrName>style.visibility</p:attrName>
                                        </p:attrNameLst>
                                      </p:cBhvr>
                                      <p:to>
                                        <p:strVal val="visible"/>
                                      </p:to>
                                    </p:set>
                                    <p:animEffect transition="in" filter="wipe(left)">
                                      <p:cBhvr>
                                        <p:cTn id="178" dur="500"/>
                                        <p:tgtEl>
                                          <p:spTgt spid="120"/>
                                        </p:tgtEl>
                                      </p:cBhvr>
                                    </p:animEffect>
                                  </p:childTnLst>
                                </p:cTn>
                              </p:par>
                            </p:childTnLst>
                          </p:cTn>
                        </p:par>
                      </p:childTnLst>
                    </p:cTn>
                  </p:par>
                  <p:par>
                    <p:cTn id="179" fill="hold">
                      <p:stCondLst>
                        <p:cond delay="indefinite"/>
                      </p:stCondLst>
                      <p:childTnLst>
                        <p:par>
                          <p:cTn id="180" fill="hold">
                            <p:stCondLst>
                              <p:cond delay="0"/>
                            </p:stCondLst>
                            <p:childTnLst>
                              <p:par>
                                <p:cTn id="181" presetID="9" presetClass="entr" presetSubtype="0" fill="hold" nodeType="clickEffect">
                                  <p:stCondLst>
                                    <p:cond delay="0"/>
                                  </p:stCondLst>
                                  <p:childTnLst>
                                    <p:set>
                                      <p:cBhvr>
                                        <p:cTn id="182" dur="1" fill="hold">
                                          <p:stCondLst>
                                            <p:cond delay="0"/>
                                          </p:stCondLst>
                                        </p:cTn>
                                        <p:tgtEl>
                                          <p:spTgt spid="3"/>
                                        </p:tgtEl>
                                        <p:attrNameLst>
                                          <p:attrName>style.visibility</p:attrName>
                                        </p:attrNameLst>
                                      </p:cBhvr>
                                      <p:to>
                                        <p:strVal val="visible"/>
                                      </p:to>
                                    </p:set>
                                    <p:animEffect transition="in" filter="dissolve">
                                      <p:cBhvr>
                                        <p:cTn id="18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 grpId="0"/>
      <p:bldP spid="273" grpId="0"/>
      <p:bldP spid="280" grpId="0"/>
      <p:bldP spid="281" grpId="0"/>
      <p:bldP spid="282" grpId="0"/>
      <p:bldP spid="284" grpId="0"/>
      <p:bldP spid="285" grpId="0"/>
      <p:bldP spid="286" grpId="0"/>
      <p:bldP spid="287" grpId="0"/>
      <p:bldP spid="322" grpId="0"/>
      <p:bldP spid="323" grpId="0"/>
      <p:bldP spid="330" grpId="0"/>
      <p:bldP spid="331" grpId="0"/>
      <p:bldP spid="33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Performance of rdt3.0 </a:t>
            </a:r>
            <a:r>
              <a:rPr lang="en-US" sz="2400" dirty="0"/>
              <a:t>(stop-and-wait)</a:t>
            </a:r>
            <a:endParaRPr lang="en-US" dirty="0"/>
          </a:p>
        </p:txBody>
      </p:sp>
      <p:sp>
        <p:nvSpPr>
          <p:cNvPr id="121" name="Rectangle 3">
            <a:extLst>
              <a:ext uri="{FF2B5EF4-FFF2-40B4-BE49-F238E27FC236}">
                <a16:creationId xmlns:a16="http://schemas.microsoft.com/office/drawing/2014/main" id="{FDDA46F1-23DA-904A-99AA-BA36ED7A6857}"/>
              </a:ext>
            </a:extLst>
          </p:cNvPr>
          <p:cNvSpPr txBox="1">
            <a:spLocks noChangeArrowheads="1"/>
          </p:cNvSpPr>
          <p:nvPr/>
        </p:nvSpPr>
        <p:spPr>
          <a:xfrm>
            <a:off x="652736" y="2696035"/>
            <a:ext cx="7899594" cy="783392"/>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7181" indent="-209550" defTabSz="685800" fontAlgn="auto">
              <a:spcBef>
                <a:spcPts val="750"/>
              </a:spcBef>
              <a:spcAft>
                <a:spcPts val="0"/>
              </a:spcAft>
              <a:buFont typeface="Wingdings" charset="2"/>
              <a:buChar char="§"/>
              <a:defRPr/>
            </a:pPr>
            <a:r>
              <a:rPr lang="en-US" sz="2400" dirty="0">
                <a:solidFill>
                  <a:prstClr val="black"/>
                </a:solidFill>
                <a:latin typeface="Calibri" panose="020F0502020204030204"/>
              </a:rPr>
              <a:t>example: 1 Gbps link, 15 ms prop. delay, 8000 bit packet</a:t>
            </a:r>
            <a:endParaRPr lang="en-US" sz="2100" dirty="0">
              <a:solidFill>
                <a:prstClr val="black"/>
              </a:solidFill>
              <a:latin typeface="Calibri" panose="020F0502020204030204"/>
            </a:endParaRPr>
          </a:p>
        </p:txBody>
      </p:sp>
      <p:sp>
        <p:nvSpPr>
          <p:cNvPr id="122" name="Rectangle 4">
            <a:extLst>
              <a:ext uri="{FF2B5EF4-FFF2-40B4-BE49-F238E27FC236}">
                <a16:creationId xmlns:a16="http://schemas.microsoft.com/office/drawing/2014/main" id="{04DE9E77-9329-F04E-A15C-5F38550FB2FA}"/>
              </a:ext>
            </a:extLst>
          </p:cNvPr>
          <p:cNvSpPr>
            <a:spLocks noChangeArrowheads="1"/>
          </p:cNvSpPr>
          <p:nvPr/>
        </p:nvSpPr>
        <p:spPr bwMode="auto">
          <a:xfrm>
            <a:off x="402620" y="1961921"/>
            <a:ext cx="8064440" cy="3571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688975" indent="-23177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516731" lvl="1" indent="-173831" defTabSz="685800" eaLnBrk="1" fontAlgn="auto" hangingPunct="1">
              <a:lnSpc>
                <a:spcPct val="85000"/>
              </a:lnSpc>
              <a:spcBef>
                <a:spcPct val="20000"/>
              </a:spcBef>
              <a:spcAft>
                <a:spcPts val="0"/>
              </a:spcAft>
              <a:buClr>
                <a:srgbClr val="000099"/>
              </a:buClr>
              <a:buFont typeface="Wingdings" pitchFamily="2" charset="2"/>
              <a:buChar char="§"/>
              <a:defRPr/>
            </a:pPr>
            <a:r>
              <a:rPr lang="en-US" altLang="en-US" sz="2400" i="1" dirty="0">
                <a:solidFill>
                  <a:prstClr val="black"/>
                </a:solidFill>
                <a:latin typeface="Calibri" panose="020F0502020204030204"/>
              </a:rPr>
              <a:t>U </a:t>
            </a:r>
            <a:r>
              <a:rPr lang="en-US" altLang="en-US" sz="2400" i="1" baseline="-25000" dirty="0">
                <a:solidFill>
                  <a:prstClr val="black"/>
                </a:solidFill>
                <a:latin typeface="Calibri" panose="020F0502020204030204"/>
              </a:rPr>
              <a:t>sender</a:t>
            </a:r>
            <a:r>
              <a:rPr lang="en-US" altLang="en-US" sz="2400" dirty="0">
                <a:solidFill>
                  <a:prstClr val="black"/>
                </a:solidFill>
                <a:latin typeface="Calibri" panose="020F0502020204030204"/>
              </a:rPr>
              <a:t>: </a:t>
            </a:r>
            <a:r>
              <a:rPr lang="en-US" altLang="en-US" sz="2400" i="1" dirty="0">
                <a:solidFill>
                  <a:srgbClr val="CC0000"/>
                </a:solidFill>
                <a:latin typeface="Calibri" panose="020F0502020204030204"/>
              </a:rPr>
              <a:t>utilization</a:t>
            </a:r>
            <a:r>
              <a:rPr lang="en-US" altLang="en-US" sz="2400" dirty="0">
                <a:solidFill>
                  <a:prstClr val="black"/>
                </a:solidFill>
                <a:latin typeface="Calibri" panose="020F0502020204030204"/>
              </a:rPr>
              <a:t> – fraction of time sender busy sending</a:t>
            </a:r>
          </a:p>
        </p:txBody>
      </p:sp>
      <p:grpSp>
        <p:nvGrpSpPr>
          <p:cNvPr id="125" name="Group 24">
            <a:extLst>
              <a:ext uri="{FF2B5EF4-FFF2-40B4-BE49-F238E27FC236}">
                <a16:creationId xmlns:a16="http://schemas.microsoft.com/office/drawing/2014/main" id="{276312A9-6509-DC4A-B34D-FF403C6ACCF6}"/>
              </a:ext>
            </a:extLst>
          </p:cNvPr>
          <p:cNvGrpSpPr>
            <a:grpSpLocks/>
          </p:cNvGrpSpPr>
          <p:nvPr/>
        </p:nvGrpSpPr>
        <p:grpSpPr bwMode="auto">
          <a:xfrm>
            <a:off x="1337009" y="3502403"/>
            <a:ext cx="4339828" cy="635794"/>
            <a:chOff x="137" y="1675"/>
            <a:chExt cx="3645" cy="534"/>
          </a:xfrm>
        </p:grpSpPr>
        <p:sp>
          <p:nvSpPr>
            <p:cNvPr id="126" name="Text Box 10">
              <a:extLst>
                <a:ext uri="{FF2B5EF4-FFF2-40B4-BE49-F238E27FC236}">
                  <a16:creationId xmlns:a16="http://schemas.microsoft.com/office/drawing/2014/main" id="{F8134D58-7EAB-C542-A474-3D41F6C9577D}"/>
                </a:ext>
              </a:extLst>
            </p:cNvPr>
            <p:cNvSpPr txBox="1">
              <a:spLocks noChangeArrowheads="1"/>
            </p:cNvSpPr>
            <p:nvPr/>
          </p:nvSpPr>
          <p:spPr bwMode="auto">
            <a:xfrm>
              <a:off x="137" y="1795"/>
              <a:ext cx="686"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800" i="1" dirty="0">
                  <a:solidFill>
                    <a:prstClr val="black"/>
                  </a:solidFill>
                  <a:latin typeface="Calibri" panose="020F0502020204030204"/>
                </a:rPr>
                <a:t>D</a:t>
              </a:r>
              <a:r>
                <a:rPr lang="en-US" sz="1800" i="1" baseline="-25000" dirty="0">
                  <a:solidFill>
                    <a:prstClr val="black"/>
                  </a:solidFill>
                  <a:latin typeface="Calibri" panose="020F0502020204030204"/>
                </a:rPr>
                <a:t>trans</a:t>
              </a:r>
              <a:r>
                <a:rPr lang="en-US" sz="1800" i="1" dirty="0">
                  <a:solidFill>
                    <a:prstClr val="black"/>
                  </a:solidFill>
                  <a:latin typeface="Calibri" panose="020F0502020204030204"/>
                </a:rPr>
                <a:t> =</a:t>
              </a:r>
            </a:p>
          </p:txBody>
        </p:sp>
        <p:grpSp>
          <p:nvGrpSpPr>
            <p:cNvPr id="127" name="Group 14">
              <a:extLst>
                <a:ext uri="{FF2B5EF4-FFF2-40B4-BE49-F238E27FC236}">
                  <a16:creationId xmlns:a16="http://schemas.microsoft.com/office/drawing/2014/main" id="{A1CD218D-EFB4-7747-AA6F-A8CADF318971}"/>
                </a:ext>
              </a:extLst>
            </p:cNvPr>
            <p:cNvGrpSpPr>
              <a:grpSpLocks/>
            </p:cNvGrpSpPr>
            <p:nvPr/>
          </p:nvGrpSpPr>
          <p:grpSpPr bwMode="auto">
            <a:xfrm>
              <a:off x="827" y="1677"/>
              <a:ext cx="260" cy="518"/>
              <a:chOff x="155" y="2937"/>
              <a:chExt cx="260" cy="518"/>
            </a:xfrm>
          </p:grpSpPr>
          <p:sp>
            <p:nvSpPr>
              <p:cNvPr id="136" name="Text Box 11">
                <a:extLst>
                  <a:ext uri="{FF2B5EF4-FFF2-40B4-BE49-F238E27FC236}">
                    <a16:creationId xmlns:a16="http://schemas.microsoft.com/office/drawing/2014/main" id="{212B965A-7A53-E448-A951-4473C08E3FC2}"/>
                  </a:ext>
                </a:extLst>
              </p:cNvPr>
              <p:cNvSpPr txBox="1">
                <a:spLocks noChangeArrowheads="1"/>
              </p:cNvSpPr>
              <p:nvPr/>
            </p:nvSpPr>
            <p:spPr bwMode="auto">
              <a:xfrm>
                <a:off x="176" y="2937"/>
                <a:ext cx="237"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800" i="1" dirty="0">
                    <a:solidFill>
                      <a:prstClr val="black"/>
                    </a:solidFill>
                    <a:latin typeface="Calibri" panose="020F0502020204030204"/>
                  </a:rPr>
                  <a:t>L</a:t>
                </a:r>
              </a:p>
            </p:txBody>
          </p:sp>
          <p:sp>
            <p:nvSpPr>
              <p:cNvPr id="137" name="Text Box 12">
                <a:extLst>
                  <a:ext uri="{FF2B5EF4-FFF2-40B4-BE49-F238E27FC236}">
                    <a16:creationId xmlns:a16="http://schemas.microsoft.com/office/drawing/2014/main" id="{C0714D4B-8571-E443-B70B-3B39AC0A694F}"/>
                  </a:ext>
                </a:extLst>
              </p:cNvPr>
              <p:cNvSpPr txBox="1">
                <a:spLocks noChangeArrowheads="1"/>
              </p:cNvSpPr>
              <p:nvPr/>
            </p:nvSpPr>
            <p:spPr bwMode="auto">
              <a:xfrm>
                <a:off x="155" y="3145"/>
                <a:ext cx="260"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800" i="1" dirty="0">
                    <a:solidFill>
                      <a:prstClr val="black"/>
                    </a:solidFill>
                    <a:latin typeface="Calibri" panose="020F0502020204030204"/>
                  </a:rPr>
                  <a:t>R</a:t>
                </a:r>
              </a:p>
            </p:txBody>
          </p:sp>
          <p:sp>
            <p:nvSpPr>
              <p:cNvPr id="138" name="Line 13">
                <a:extLst>
                  <a:ext uri="{FF2B5EF4-FFF2-40B4-BE49-F238E27FC236}">
                    <a16:creationId xmlns:a16="http://schemas.microsoft.com/office/drawing/2014/main" id="{487E8E54-B689-7340-8E19-EEBA8D6E7B88}"/>
                  </a:ext>
                </a:extLst>
              </p:cNvPr>
              <p:cNvSpPr>
                <a:spLocks noChangeShapeType="1"/>
              </p:cNvSpPr>
              <p:nvPr/>
            </p:nvSpPr>
            <p:spPr bwMode="auto">
              <a:xfrm>
                <a:off x="204" y="3192"/>
                <a:ext cx="186"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ＭＳ Ｐゴシック" charset="0"/>
                </a:endParaRPr>
              </a:p>
            </p:txBody>
          </p:sp>
        </p:grpSp>
        <p:grpSp>
          <p:nvGrpSpPr>
            <p:cNvPr id="128" name="Group 19">
              <a:extLst>
                <a:ext uri="{FF2B5EF4-FFF2-40B4-BE49-F238E27FC236}">
                  <a16:creationId xmlns:a16="http://schemas.microsoft.com/office/drawing/2014/main" id="{458C4EA2-733B-9843-BEDB-1D21ADD2E2DA}"/>
                </a:ext>
              </a:extLst>
            </p:cNvPr>
            <p:cNvGrpSpPr>
              <a:grpSpLocks/>
            </p:cNvGrpSpPr>
            <p:nvPr/>
          </p:nvGrpSpPr>
          <p:grpSpPr bwMode="auto">
            <a:xfrm>
              <a:off x="1233" y="1675"/>
              <a:ext cx="1225" cy="534"/>
              <a:chOff x="1401" y="1693"/>
              <a:chExt cx="1225" cy="534"/>
            </a:xfrm>
          </p:grpSpPr>
          <p:sp>
            <p:nvSpPr>
              <p:cNvPr id="132" name="Text Box 6">
                <a:extLst>
                  <a:ext uri="{FF2B5EF4-FFF2-40B4-BE49-F238E27FC236}">
                    <a16:creationId xmlns:a16="http://schemas.microsoft.com/office/drawing/2014/main" id="{9DB04C83-679A-3C40-AE3F-F5626A9A46D1}"/>
                  </a:ext>
                </a:extLst>
              </p:cNvPr>
              <p:cNvSpPr txBox="1">
                <a:spLocks noChangeArrowheads="1"/>
              </p:cNvSpPr>
              <p:nvPr/>
            </p:nvSpPr>
            <p:spPr bwMode="auto">
              <a:xfrm>
                <a:off x="2085" y="1748"/>
                <a:ext cx="191" cy="27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500" dirty="0">
                    <a:solidFill>
                      <a:prstClr val="black"/>
                    </a:solidFill>
                    <a:latin typeface="Calibri" panose="020F0502020204030204"/>
                  </a:rPr>
                  <a:t> </a:t>
                </a:r>
                <a:endParaRPr lang="en-US" sz="1800" dirty="0">
                  <a:solidFill>
                    <a:prstClr val="black"/>
                  </a:solidFill>
                  <a:latin typeface="Calibri" panose="020F0502020204030204"/>
                </a:endParaRPr>
              </a:p>
            </p:txBody>
          </p:sp>
          <p:sp>
            <p:nvSpPr>
              <p:cNvPr id="133" name="Text Box 16">
                <a:extLst>
                  <a:ext uri="{FF2B5EF4-FFF2-40B4-BE49-F238E27FC236}">
                    <a16:creationId xmlns:a16="http://schemas.microsoft.com/office/drawing/2014/main" id="{9A4E21FE-242E-F24A-8DFD-378A92E72AEE}"/>
                  </a:ext>
                </a:extLst>
              </p:cNvPr>
              <p:cNvSpPr txBox="1">
                <a:spLocks noChangeArrowheads="1"/>
              </p:cNvSpPr>
              <p:nvPr/>
            </p:nvSpPr>
            <p:spPr bwMode="auto">
              <a:xfrm>
                <a:off x="1563" y="1693"/>
                <a:ext cx="877"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800" i="1" dirty="0">
                    <a:solidFill>
                      <a:prstClr val="black"/>
                    </a:solidFill>
                    <a:latin typeface="Calibri" panose="020F0502020204030204"/>
                  </a:rPr>
                  <a:t>8000 bits</a:t>
                </a:r>
              </a:p>
            </p:txBody>
          </p:sp>
          <p:sp>
            <p:nvSpPr>
              <p:cNvPr id="134" name="Text Box 17">
                <a:extLst>
                  <a:ext uri="{FF2B5EF4-FFF2-40B4-BE49-F238E27FC236}">
                    <a16:creationId xmlns:a16="http://schemas.microsoft.com/office/drawing/2014/main" id="{261ED350-3F07-A542-906D-6B34A19F57B4}"/>
                  </a:ext>
                </a:extLst>
              </p:cNvPr>
              <p:cNvSpPr txBox="1">
                <a:spLocks noChangeArrowheads="1"/>
              </p:cNvSpPr>
              <p:nvPr/>
            </p:nvSpPr>
            <p:spPr bwMode="auto">
              <a:xfrm>
                <a:off x="1401" y="1917"/>
                <a:ext cx="1225"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800" i="1" dirty="0">
                    <a:solidFill>
                      <a:prstClr val="black"/>
                    </a:solidFill>
                    <a:latin typeface="Calibri" panose="020F0502020204030204"/>
                  </a:rPr>
                  <a:t>10</a:t>
                </a:r>
                <a:r>
                  <a:rPr lang="en-US" sz="1800" i="1" baseline="30000" dirty="0">
                    <a:solidFill>
                      <a:prstClr val="black"/>
                    </a:solidFill>
                    <a:latin typeface="Calibri" panose="020F0502020204030204"/>
                  </a:rPr>
                  <a:t>9 </a:t>
                </a:r>
                <a:r>
                  <a:rPr lang="en-US" sz="1800" i="1" dirty="0">
                    <a:solidFill>
                      <a:prstClr val="black"/>
                    </a:solidFill>
                    <a:latin typeface="Calibri" panose="020F0502020204030204"/>
                  </a:rPr>
                  <a:t>bits/sec</a:t>
                </a:r>
              </a:p>
            </p:txBody>
          </p:sp>
          <p:sp>
            <p:nvSpPr>
              <p:cNvPr id="135" name="Line 18">
                <a:extLst>
                  <a:ext uri="{FF2B5EF4-FFF2-40B4-BE49-F238E27FC236}">
                    <a16:creationId xmlns:a16="http://schemas.microsoft.com/office/drawing/2014/main" id="{EDB1D7D2-C87C-9F49-A2A1-833D85EAB9F9}"/>
                  </a:ext>
                </a:extLst>
              </p:cNvPr>
              <p:cNvSpPr>
                <a:spLocks noChangeShapeType="1"/>
              </p:cNvSpPr>
              <p:nvPr/>
            </p:nvSpPr>
            <p:spPr bwMode="auto">
              <a:xfrm>
                <a:off x="1604" y="1950"/>
                <a:ext cx="97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ＭＳ Ｐゴシック" charset="0"/>
                </a:endParaRPr>
              </a:p>
            </p:txBody>
          </p:sp>
        </p:grpSp>
        <p:sp>
          <p:nvSpPr>
            <p:cNvPr id="129" name="Text Box 20">
              <a:extLst>
                <a:ext uri="{FF2B5EF4-FFF2-40B4-BE49-F238E27FC236}">
                  <a16:creationId xmlns:a16="http://schemas.microsoft.com/office/drawing/2014/main" id="{93AC931A-E76C-A440-8E87-B489914F35FD}"/>
                </a:ext>
              </a:extLst>
            </p:cNvPr>
            <p:cNvSpPr txBox="1">
              <a:spLocks noChangeArrowheads="1"/>
            </p:cNvSpPr>
            <p:nvPr/>
          </p:nvSpPr>
          <p:spPr bwMode="auto">
            <a:xfrm>
              <a:off x="1093" y="1789"/>
              <a:ext cx="252"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800" dirty="0">
                  <a:solidFill>
                    <a:prstClr val="black"/>
                  </a:solidFill>
                  <a:latin typeface="Calibri" panose="020F0502020204030204"/>
                </a:rPr>
                <a:t>=</a:t>
              </a:r>
            </a:p>
          </p:txBody>
        </p:sp>
        <p:sp>
          <p:nvSpPr>
            <p:cNvPr id="130" name="Text Box 22">
              <a:extLst>
                <a:ext uri="{FF2B5EF4-FFF2-40B4-BE49-F238E27FC236}">
                  <a16:creationId xmlns:a16="http://schemas.microsoft.com/office/drawing/2014/main" id="{14ADD697-C49B-F141-9DE7-07AC5BD26EA5}"/>
                </a:ext>
              </a:extLst>
            </p:cNvPr>
            <p:cNvSpPr txBox="1">
              <a:spLocks noChangeArrowheads="1"/>
            </p:cNvSpPr>
            <p:nvPr/>
          </p:nvSpPr>
          <p:spPr bwMode="auto">
            <a:xfrm>
              <a:off x="2509" y="1789"/>
              <a:ext cx="252"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800" dirty="0">
                  <a:solidFill>
                    <a:prstClr val="black"/>
                  </a:solidFill>
                  <a:latin typeface="Calibri" panose="020F0502020204030204"/>
                </a:rPr>
                <a:t>=</a:t>
              </a:r>
            </a:p>
          </p:txBody>
        </p:sp>
        <p:sp>
          <p:nvSpPr>
            <p:cNvPr id="131" name="Text Box 23">
              <a:extLst>
                <a:ext uri="{FF2B5EF4-FFF2-40B4-BE49-F238E27FC236}">
                  <a16:creationId xmlns:a16="http://schemas.microsoft.com/office/drawing/2014/main" id="{108AD146-F5D0-F14B-AF3A-D8ADCB55A4C6}"/>
                </a:ext>
              </a:extLst>
            </p:cNvPr>
            <p:cNvSpPr txBox="1">
              <a:spLocks noChangeArrowheads="1"/>
            </p:cNvSpPr>
            <p:nvPr/>
          </p:nvSpPr>
          <p:spPr bwMode="auto">
            <a:xfrm>
              <a:off x="2715" y="1777"/>
              <a:ext cx="1067"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1" fontAlgn="auto" hangingPunct="1">
                <a:spcBef>
                  <a:spcPts val="0"/>
                </a:spcBef>
                <a:spcAft>
                  <a:spcPts val="0"/>
                </a:spcAft>
                <a:defRPr/>
              </a:pPr>
              <a:r>
                <a:rPr lang="en-US" sz="1800" i="1" dirty="0">
                  <a:solidFill>
                    <a:prstClr val="black"/>
                  </a:solidFill>
                  <a:latin typeface="Calibri" panose="020F0502020204030204"/>
                </a:rPr>
                <a:t>8 microsecs</a:t>
              </a:r>
            </a:p>
          </p:txBody>
        </p:sp>
      </p:grpSp>
      <p:sp>
        <p:nvSpPr>
          <p:cNvPr id="20" name="Rectangle 3">
            <a:extLst>
              <a:ext uri="{FF2B5EF4-FFF2-40B4-BE49-F238E27FC236}">
                <a16:creationId xmlns:a16="http://schemas.microsoft.com/office/drawing/2014/main" id="{B3DFFB42-6FBF-BC4B-ABC2-8ADE611947F8}"/>
              </a:ext>
            </a:extLst>
          </p:cNvPr>
          <p:cNvSpPr txBox="1">
            <a:spLocks noChangeArrowheads="1"/>
          </p:cNvSpPr>
          <p:nvPr/>
        </p:nvSpPr>
        <p:spPr>
          <a:xfrm>
            <a:off x="621807" y="3229883"/>
            <a:ext cx="7292512" cy="783392"/>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7706" lvl="1" indent="-342900" defTabSz="685800" fontAlgn="auto">
              <a:spcBef>
                <a:spcPts val="750"/>
              </a:spcBef>
              <a:spcAft>
                <a:spcPts val="0"/>
              </a:spcAft>
              <a:buClr>
                <a:srgbClr val="0000A3"/>
              </a:buClr>
              <a:defRPr/>
            </a:pPr>
            <a:r>
              <a:rPr lang="en-US" sz="2100" dirty="0">
                <a:solidFill>
                  <a:prstClr val="black"/>
                </a:solidFill>
                <a:latin typeface="Calibri" panose="020F0502020204030204"/>
              </a:rPr>
              <a:t>time to transmit packet into channel:</a:t>
            </a:r>
          </a:p>
        </p:txBody>
      </p:sp>
      <p:sp>
        <p:nvSpPr>
          <p:cNvPr id="21" name="Slide Number Placeholder 2">
            <a:extLst>
              <a:ext uri="{FF2B5EF4-FFF2-40B4-BE49-F238E27FC236}">
                <a16:creationId xmlns:a16="http://schemas.microsoft.com/office/drawing/2014/main" id="{5A944CFA-EDBD-154A-A022-BFEE848C7BD3}"/>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53</a:t>
            </a:fld>
            <a:endParaRPr lang="en-US" dirty="0"/>
          </a:p>
        </p:txBody>
      </p:sp>
    </p:spTree>
    <p:extLst>
      <p:ext uri="{BB962C8B-B14F-4D97-AF65-F5344CB8AC3E}">
        <p14:creationId xmlns:p14="http://schemas.microsoft.com/office/powerpoint/2010/main" val="259503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dissolve">
                                      <p:cBhvr>
                                        <p:cTn id="7" dur="500"/>
                                        <p:tgtEl>
                                          <p:spTgt spid="1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1">
                                            <p:txEl>
                                              <p:pRg st="0" end="0"/>
                                            </p:txEl>
                                          </p:spTgt>
                                        </p:tgtEl>
                                        <p:attrNameLst>
                                          <p:attrName>style.visibility</p:attrName>
                                        </p:attrNameLst>
                                      </p:cBhvr>
                                      <p:to>
                                        <p:strVal val="visible"/>
                                      </p:to>
                                    </p:set>
                                    <p:animEffect transition="in" filter="dissolve">
                                      <p:cBhvr>
                                        <p:cTn id="12" dur="500"/>
                                        <p:tgtEl>
                                          <p:spTgt spid="1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5"/>
                                        </p:tgtEl>
                                        <p:attrNameLst>
                                          <p:attrName>style.visibility</p:attrName>
                                        </p:attrNameLst>
                                      </p:cBhvr>
                                      <p:to>
                                        <p:strVal val="visible"/>
                                      </p:to>
                                    </p:set>
                                    <p:animEffect transition="in" filter="dissolve">
                                      <p:cBhvr>
                                        <p:cTn id="17" dur="500"/>
                                        <p:tgtEl>
                                          <p:spTgt spid="125"/>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0">
                                            <p:txEl>
                                              <p:pRg st="0" end="0"/>
                                            </p:txEl>
                                          </p:spTgt>
                                        </p:tgtEl>
                                        <p:attrNameLst>
                                          <p:attrName>style.visibility</p:attrName>
                                        </p:attrNameLst>
                                      </p:cBhvr>
                                      <p:to>
                                        <p:strVal val="visible"/>
                                      </p:to>
                                    </p:set>
                                    <p:animEffect transition="in" filter="dissolve">
                                      <p:cBhvr>
                                        <p:cTn id="20"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build="p"/>
      <p:bldP spid="122" grpId="0"/>
      <p:bldP spid="20"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rdt3.0: stop-and-wait operation</a:t>
            </a:r>
            <a:endParaRPr lang="en-US" dirty="0"/>
          </a:p>
        </p:txBody>
      </p:sp>
      <p:grpSp>
        <p:nvGrpSpPr>
          <p:cNvPr id="4" name="Group 3">
            <a:extLst>
              <a:ext uri="{FF2B5EF4-FFF2-40B4-BE49-F238E27FC236}">
                <a16:creationId xmlns:a16="http://schemas.microsoft.com/office/drawing/2014/main" id="{1E77F652-670F-A845-B285-3845722C99C1}"/>
              </a:ext>
            </a:extLst>
          </p:cNvPr>
          <p:cNvGrpSpPr/>
          <p:nvPr/>
        </p:nvGrpSpPr>
        <p:grpSpPr>
          <a:xfrm>
            <a:off x="2391083" y="1934766"/>
            <a:ext cx="6547247" cy="2437209"/>
            <a:chOff x="1660525" y="1638643"/>
            <a:chExt cx="8729662" cy="3249612"/>
          </a:xfrm>
        </p:grpSpPr>
        <p:sp>
          <p:nvSpPr>
            <p:cNvPr id="50" name="Line 3">
              <a:extLst>
                <a:ext uri="{FF2B5EF4-FFF2-40B4-BE49-F238E27FC236}">
                  <a16:creationId xmlns:a16="http://schemas.microsoft.com/office/drawing/2014/main" id="{65EF62F5-AF0F-154C-9C6E-93BB51897ED0}"/>
                </a:ext>
              </a:extLst>
            </p:cNvPr>
            <p:cNvSpPr>
              <a:spLocks noChangeShapeType="1"/>
            </p:cNvSpPr>
            <p:nvPr/>
          </p:nvSpPr>
          <p:spPr bwMode="auto">
            <a:xfrm>
              <a:off x="4984750" y="2194268"/>
              <a:ext cx="2227262" cy="922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1" name="Text Box 4">
              <a:extLst>
                <a:ext uri="{FF2B5EF4-FFF2-40B4-BE49-F238E27FC236}">
                  <a16:creationId xmlns:a16="http://schemas.microsoft.com/office/drawing/2014/main" id="{9C568413-E7C8-034A-A01A-070E583EFD90}"/>
                </a:ext>
              </a:extLst>
            </p:cNvPr>
            <p:cNvSpPr txBox="1">
              <a:spLocks noChangeArrowheads="1"/>
            </p:cNvSpPr>
            <p:nvPr/>
          </p:nvSpPr>
          <p:spPr bwMode="auto">
            <a:xfrm>
              <a:off x="1660525" y="1989480"/>
              <a:ext cx="3232150" cy="3524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first packet bit transmitted, t = 0</a:t>
              </a:r>
            </a:p>
          </p:txBody>
        </p:sp>
        <p:sp>
          <p:nvSpPr>
            <p:cNvPr id="52" name="Line 5">
              <a:extLst>
                <a:ext uri="{FF2B5EF4-FFF2-40B4-BE49-F238E27FC236}">
                  <a16:creationId xmlns:a16="http://schemas.microsoft.com/office/drawing/2014/main" id="{1F5607F9-D0CE-8742-843E-05AFCDCA2F20}"/>
                </a:ext>
              </a:extLst>
            </p:cNvPr>
            <p:cNvSpPr>
              <a:spLocks noChangeShapeType="1"/>
            </p:cNvSpPr>
            <p:nvPr/>
          </p:nvSpPr>
          <p:spPr bwMode="auto">
            <a:xfrm>
              <a:off x="4973637" y="1975193"/>
              <a:ext cx="23813" cy="2913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3" name="Line 6">
              <a:extLst>
                <a:ext uri="{FF2B5EF4-FFF2-40B4-BE49-F238E27FC236}">
                  <a16:creationId xmlns:a16="http://schemas.microsoft.com/office/drawing/2014/main" id="{D5AC1D3D-9418-5F46-82ED-FBA189A71398}"/>
                </a:ext>
              </a:extLst>
            </p:cNvPr>
            <p:cNvSpPr>
              <a:spLocks noChangeShapeType="1"/>
            </p:cNvSpPr>
            <p:nvPr/>
          </p:nvSpPr>
          <p:spPr bwMode="auto">
            <a:xfrm>
              <a:off x="7200900" y="1987893"/>
              <a:ext cx="22225" cy="28908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4" name="Text Box 7">
              <a:extLst>
                <a:ext uri="{FF2B5EF4-FFF2-40B4-BE49-F238E27FC236}">
                  <a16:creationId xmlns:a16="http://schemas.microsoft.com/office/drawing/2014/main" id="{1AA39350-7ADC-E840-B7FD-CAF65C7EFE9B}"/>
                </a:ext>
              </a:extLst>
            </p:cNvPr>
            <p:cNvSpPr txBox="1">
              <a:spLocks noChangeArrowheads="1"/>
            </p:cNvSpPr>
            <p:nvPr/>
          </p:nvSpPr>
          <p:spPr bwMode="auto">
            <a:xfrm>
              <a:off x="4445000" y="1638643"/>
              <a:ext cx="885825"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sender</a:t>
              </a:r>
              <a:endParaRPr lang="en-US" altLang="en-US" sz="1200" dirty="0">
                <a:solidFill>
                  <a:srgbClr val="000000"/>
                </a:solidFill>
                <a:latin typeface="Times New Roman" panose="02020603050405020304" pitchFamily="18" charset="0"/>
              </a:endParaRPr>
            </a:p>
          </p:txBody>
        </p:sp>
        <p:sp>
          <p:nvSpPr>
            <p:cNvPr id="55" name="Text Box 8">
              <a:extLst>
                <a:ext uri="{FF2B5EF4-FFF2-40B4-BE49-F238E27FC236}">
                  <a16:creationId xmlns:a16="http://schemas.microsoft.com/office/drawing/2014/main" id="{388F41A8-01FA-884F-8140-E9FD1F2C6849}"/>
                </a:ext>
              </a:extLst>
            </p:cNvPr>
            <p:cNvSpPr txBox="1">
              <a:spLocks noChangeArrowheads="1"/>
            </p:cNvSpPr>
            <p:nvPr/>
          </p:nvSpPr>
          <p:spPr bwMode="auto">
            <a:xfrm>
              <a:off x="6623050" y="1638643"/>
              <a:ext cx="94615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receiver</a:t>
              </a:r>
              <a:endParaRPr lang="en-US" altLang="en-US" sz="1200" dirty="0">
                <a:solidFill>
                  <a:srgbClr val="000000"/>
                </a:solidFill>
                <a:latin typeface="Times New Roman" panose="02020603050405020304" pitchFamily="18" charset="0"/>
              </a:endParaRPr>
            </a:p>
          </p:txBody>
        </p:sp>
        <p:sp>
          <p:nvSpPr>
            <p:cNvPr id="56" name="Line 9">
              <a:extLst>
                <a:ext uri="{FF2B5EF4-FFF2-40B4-BE49-F238E27FC236}">
                  <a16:creationId xmlns:a16="http://schemas.microsoft.com/office/drawing/2014/main" id="{4E1B3F21-B373-CA48-9AD5-5632396CBD83}"/>
                </a:ext>
              </a:extLst>
            </p:cNvPr>
            <p:cNvSpPr>
              <a:spLocks noChangeShapeType="1"/>
            </p:cNvSpPr>
            <p:nvPr/>
          </p:nvSpPr>
          <p:spPr bwMode="auto">
            <a:xfrm>
              <a:off x="4997450" y="2189505"/>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7" name="Line 10">
              <a:extLst>
                <a:ext uri="{FF2B5EF4-FFF2-40B4-BE49-F238E27FC236}">
                  <a16:creationId xmlns:a16="http://schemas.microsoft.com/office/drawing/2014/main" id="{89DD14FE-5B5B-3B43-8920-2EDFA30D8A61}"/>
                </a:ext>
              </a:extLst>
            </p:cNvPr>
            <p:cNvSpPr>
              <a:spLocks noChangeShapeType="1"/>
            </p:cNvSpPr>
            <p:nvPr/>
          </p:nvSpPr>
          <p:spPr bwMode="auto">
            <a:xfrm>
              <a:off x="5002212" y="4300880"/>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8" name="Line 11">
              <a:extLst>
                <a:ext uri="{FF2B5EF4-FFF2-40B4-BE49-F238E27FC236}">
                  <a16:creationId xmlns:a16="http://schemas.microsoft.com/office/drawing/2014/main" id="{0833BE20-CC42-354E-8D97-D533E108B5A2}"/>
                </a:ext>
              </a:extLst>
            </p:cNvPr>
            <p:cNvSpPr>
              <a:spLocks noChangeShapeType="1"/>
            </p:cNvSpPr>
            <p:nvPr/>
          </p:nvSpPr>
          <p:spPr bwMode="auto">
            <a:xfrm flipV="1">
              <a:off x="5002212" y="3357905"/>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9" name="Freeform 12">
              <a:extLst>
                <a:ext uri="{FF2B5EF4-FFF2-40B4-BE49-F238E27FC236}">
                  <a16:creationId xmlns:a16="http://schemas.microsoft.com/office/drawing/2014/main" id="{6DCE969D-C1B5-6B4F-8E82-11FE17209698}"/>
                </a:ext>
              </a:extLst>
            </p:cNvPr>
            <p:cNvSpPr>
              <a:spLocks/>
            </p:cNvSpPr>
            <p:nvPr/>
          </p:nvSpPr>
          <p:spPr bwMode="auto">
            <a:xfrm>
              <a:off x="4979987" y="2187918"/>
              <a:ext cx="2232025" cy="11557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algn="ctr" defTabSz="685800">
                <a:defRPr/>
              </a:pPr>
              <a:endParaRPr lang="en-US" sz="1200" dirty="0">
                <a:solidFill>
                  <a:srgbClr val="000000"/>
                </a:solidFill>
                <a:latin typeface="Tahoma" panose="020B0604030504040204" pitchFamily="34" charset="0"/>
              </a:endParaRPr>
            </a:p>
          </p:txBody>
        </p:sp>
        <p:sp>
          <p:nvSpPr>
            <p:cNvPr id="60" name="Line 13">
              <a:extLst>
                <a:ext uri="{FF2B5EF4-FFF2-40B4-BE49-F238E27FC236}">
                  <a16:creationId xmlns:a16="http://schemas.microsoft.com/office/drawing/2014/main" id="{71ECF681-371C-214F-B431-3EBF5FCA54AB}"/>
                </a:ext>
              </a:extLst>
            </p:cNvPr>
            <p:cNvSpPr>
              <a:spLocks noChangeShapeType="1"/>
            </p:cNvSpPr>
            <p:nvPr/>
          </p:nvSpPr>
          <p:spPr bwMode="auto">
            <a:xfrm flipH="1">
              <a:off x="4835525" y="21879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1" name="Line 14">
              <a:extLst>
                <a:ext uri="{FF2B5EF4-FFF2-40B4-BE49-F238E27FC236}">
                  <a16:creationId xmlns:a16="http://schemas.microsoft.com/office/drawing/2014/main" id="{D5FC9E24-2362-D949-AD1B-27FDE18130E6}"/>
                </a:ext>
              </a:extLst>
            </p:cNvPr>
            <p:cNvSpPr>
              <a:spLocks noChangeShapeType="1"/>
            </p:cNvSpPr>
            <p:nvPr/>
          </p:nvSpPr>
          <p:spPr bwMode="auto">
            <a:xfrm flipH="1">
              <a:off x="4835525" y="24292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2" name="Line 15">
              <a:extLst>
                <a:ext uri="{FF2B5EF4-FFF2-40B4-BE49-F238E27FC236}">
                  <a16:creationId xmlns:a16="http://schemas.microsoft.com/office/drawing/2014/main" id="{8E885B36-6DC7-A647-8328-79BA2FEF9ABC}"/>
                </a:ext>
              </a:extLst>
            </p:cNvPr>
            <p:cNvSpPr>
              <a:spLocks noChangeShapeType="1"/>
            </p:cNvSpPr>
            <p:nvPr/>
          </p:nvSpPr>
          <p:spPr bwMode="auto">
            <a:xfrm flipH="1">
              <a:off x="4846637" y="4288180"/>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3" name="Text Box 16">
              <a:extLst>
                <a:ext uri="{FF2B5EF4-FFF2-40B4-BE49-F238E27FC236}">
                  <a16:creationId xmlns:a16="http://schemas.microsoft.com/office/drawing/2014/main" id="{C1807A2B-4600-F444-94CF-68DC8044B38C}"/>
                </a:ext>
              </a:extLst>
            </p:cNvPr>
            <p:cNvSpPr txBox="1">
              <a:spLocks noChangeArrowheads="1"/>
            </p:cNvSpPr>
            <p:nvPr/>
          </p:nvSpPr>
          <p:spPr bwMode="auto">
            <a:xfrm>
              <a:off x="4183062" y="316105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CC0000"/>
                  </a:solidFill>
                  <a:latin typeface="Arial" panose="020B0604020202020204" pitchFamily="34" charset="0"/>
                </a:rPr>
                <a:t>RTT</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64" name="Line 17">
              <a:extLst>
                <a:ext uri="{FF2B5EF4-FFF2-40B4-BE49-F238E27FC236}">
                  <a16:creationId xmlns:a16="http://schemas.microsoft.com/office/drawing/2014/main" id="{4CA4ACE4-80D6-094A-B612-CEDFE371375D}"/>
                </a:ext>
              </a:extLst>
            </p:cNvPr>
            <p:cNvSpPr>
              <a:spLocks noChangeShapeType="1"/>
            </p:cNvSpPr>
            <p:nvPr/>
          </p:nvSpPr>
          <p:spPr bwMode="auto">
            <a:xfrm>
              <a:off x="4870450" y="346903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5" name="Line 18">
              <a:extLst>
                <a:ext uri="{FF2B5EF4-FFF2-40B4-BE49-F238E27FC236}">
                  <a16:creationId xmlns:a16="http://schemas.microsoft.com/office/drawing/2014/main" id="{86419EA2-8CA9-1949-935B-FB9C7863AF80}"/>
                </a:ext>
              </a:extLst>
            </p:cNvPr>
            <p:cNvSpPr>
              <a:spLocks noChangeShapeType="1"/>
            </p:cNvSpPr>
            <p:nvPr/>
          </p:nvSpPr>
          <p:spPr bwMode="auto">
            <a:xfrm flipV="1">
              <a:off x="4875212" y="245144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6" name="Line 20">
              <a:extLst>
                <a:ext uri="{FF2B5EF4-FFF2-40B4-BE49-F238E27FC236}">
                  <a16:creationId xmlns:a16="http://schemas.microsoft.com/office/drawing/2014/main" id="{F450D6B2-ED0C-2A4C-8BFC-156E65F46CE8}"/>
                </a:ext>
              </a:extLst>
            </p:cNvPr>
            <p:cNvSpPr>
              <a:spLocks noChangeShapeType="1"/>
            </p:cNvSpPr>
            <p:nvPr/>
          </p:nvSpPr>
          <p:spPr bwMode="auto">
            <a:xfrm flipH="1">
              <a:off x="7188200" y="3102318"/>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7" name="Text Box 21">
              <a:extLst>
                <a:ext uri="{FF2B5EF4-FFF2-40B4-BE49-F238E27FC236}">
                  <a16:creationId xmlns:a16="http://schemas.microsoft.com/office/drawing/2014/main" id="{08BE5E72-86FD-8A42-9396-059DB3F761FB}"/>
                </a:ext>
              </a:extLst>
            </p:cNvPr>
            <p:cNvSpPr txBox="1">
              <a:spLocks noChangeArrowheads="1"/>
            </p:cNvSpPr>
            <p:nvPr/>
          </p:nvSpPr>
          <p:spPr bwMode="auto">
            <a:xfrm>
              <a:off x="7269162" y="2926105"/>
              <a:ext cx="2425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first packet bit arrives</a:t>
              </a:r>
              <a:endParaRPr lang="en-US" altLang="en-US" sz="1200" dirty="0">
                <a:solidFill>
                  <a:srgbClr val="000000"/>
                </a:solidFill>
                <a:latin typeface="Times New Roman" panose="02020603050405020304" pitchFamily="18" charset="0"/>
              </a:endParaRPr>
            </a:p>
          </p:txBody>
        </p:sp>
        <p:sp>
          <p:nvSpPr>
            <p:cNvPr id="68" name="Line 22">
              <a:extLst>
                <a:ext uri="{FF2B5EF4-FFF2-40B4-BE49-F238E27FC236}">
                  <a16:creationId xmlns:a16="http://schemas.microsoft.com/office/drawing/2014/main" id="{B416D5CF-1045-E44E-A7DD-0F2BA9A28495}"/>
                </a:ext>
              </a:extLst>
            </p:cNvPr>
            <p:cNvSpPr>
              <a:spLocks noChangeShapeType="1"/>
            </p:cNvSpPr>
            <p:nvPr/>
          </p:nvSpPr>
          <p:spPr bwMode="auto">
            <a:xfrm>
              <a:off x="7212012" y="3351555"/>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9" name="Text Box 23">
              <a:extLst>
                <a:ext uri="{FF2B5EF4-FFF2-40B4-BE49-F238E27FC236}">
                  <a16:creationId xmlns:a16="http://schemas.microsoft.com/office/drawing/2014/main" id="{EA1933E4-20F7-C442-A192-A24ACB88B227}"/>
                </a:ext>
              </a:extLst>
            </p:cNvPr>
            <p:cNvSpPr txBox="1">
              <a:spLocks noChangeArrowheads="1"/>
            </p:cNvSpPr>
            <p:nvPr/>
          </p:nvSpPr>
          <p:spPr bwMode="auto">
            <a:xfrm>
              <a:off x="7275512" y="3178518"/>
              <a:ext cx="31146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last packet bit arrives, send ACK</a:t>
              </a:r>
              <a:endParaRPr lang="en-US" altLang="en-US" sz="1200" dirty="0">
                <a:solidFill>
                  <a:srgbClr val="000000"/>
                </a:solidFill>
                <a:latin typeface="Times New Roman" panose="02020603050405020304" pitchFamily="18" charset="0"/>
              </a:endParaRPr>
            </a:p>
          </p:txBody>
        </p:sp>
        <p:sp>
          <p:nvSpPr>
            <p:cNvPr id="70" name="Text Box 24">
              <a:extLst>
                <a:ext uri="{FF2B5EF4-FFF2-40B4-BE49-F238E27FC236}">
                  <a16:creationId xmlns:a16="http://schemas.microsoft.com/office/drawing/2014/main" id="{E280E208-423C-5A4D-B4AD-4087BED29014}"/>
                </a:ext>
              </a:extLst>
            </p:cNvPr>
            <p:cNvSpPr txBox="1">
              <a:spLocks noChangeArrowheads="1"/>
            </p:cNvSpPr>
            <p:nvPr/>
          </p:nvSpPr>
          <p:spPr bwMode="auto">
            <a:xfrm>
              <a:off x="2252662" y="3961155"/>
              <a:ext cx="26860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ACK arrives, send next </a:t>
              </a:r>
            </a:p>
            <a:p>
              <a:pPr algn="r" defTabSz="685800">
                <a:defRPr/>
              </a:pPr>
              <a:r>
                <a:rPr lang="en-US" altLang="en-US" sz="1200" dirty="0">
                  <a:solidFill>
                    <a:srgbClr val="000000"/>
                  </a:solidFill>
                  <a:latin typeface="Arial" panose="020B0604020202020204" pitchFamily="34" charset="0"/>
                </a:rPr>
                <a:t>packet, </a:t>
              </a:r>
              <a:r>
                <a:rPr lang="en-US" altLang="en-US" sz="1200" dirty="0">
                  <a:solidFill>
                    <a:srgbClr val="CC0000"/>
                  </a:solidFill>
                  <a:latin typeface="Arial" panose="020B0604020202020204" pitchFamily="34" charset="0"/>
                </a:rPr>
                <a:t>t = RTT + L / R</a:t>
              </a:r>
              <a:endParaRPr lang="en-US" altLang="en-US" sz="1200" dirty="0">
                <a:solidFill>
                  <a:srgbClr val="CC0000"/>
                </a:solidFill>
                <a:latin typeface="Times New Roman" panose="02020603050405020304" pitchFamily="18" charset="0"/>
              </a:endParaRPr>
            </a:p>
          </p:txBody>
        </p:sp>
        <p:sp>
          <p:nvSpPr>
            <p:cNvPr id="71" name="Freeform 25">
              <a:extLst>
                <a:ext uri="{FF2B5EF4-FFF2-40B4-BE49-F238E27FC236}">
                  <a16:creationId xmlns:a16="http://schemas.microsoft.com/office/drawing/2014/main" id="{A4A7A1DD-E270-2148-B390-9D3198E6E533}"/>
                </a:ext>
              </a:extLst>
            </p:cNvPr>
            <p:cNvSpPr>
              <a:spLocks/>
            </p:cNvSpPr>
            <p:nvPr/>
          </p:nvSpPr>
          <p:spPr bwMode="auto">
            <a:xfrm>
              <a:off x="4997450" y="4296118"/>
              <a:ext cx="1419225" cy="577850"/>
            </a:xfrm>
            <a:custGeom>
              <a:avLst/>
              <a:gdLst>
                <a:gd name="T0" fmla="*/ 0 w 1845"/>
                <a:gd name="T1" fmla="*/ 0 h 592"/>
                <a:gd name="T2" fmla="*/ 2147483647 w 1845"/>
                <a:gd name="T3" fmla="*/ 2147483647 h 592"/>
                <a:gd name="T4" fmla="*/ 2147483647 w 1845"/>
                <a:gd name="T5" fmla="*/ 2147483647 h 592"/>
                <a:gd name="T6" fmla="*/ 0 w 1845"/>
                <a:gd name="T7" fmla="*/ 2147483647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72" name="Group 26">
              <a:extLst>
                <a:ext uri="{FF2B5EF4-FFF2-40B4-BE49-F238E27FC236}">
                  <a16:creationId xmlns:a16="http://schemas.microsoft.com/office/drawing/2014/main" id="{9CA64688-75A8-D347-9FA8-19BC93D4C937}"/>
                </a:ext>
              </a:extLst>
            </p:cNvPr>
            <p:cNvGrpSpPr>
              <a:grpSpLocks/>
            </p:cNvGrpSpPr>
            <p:nvPr/>
          </p:nvGrpSpPr>
          <p:grpSpPr bwMode="auto">
            <a:xfrm>
              <a:off x="4991100" y="4288180"/>
              <a:ext cx="1281112" cy="534988"/>
              <a:chOff x="12315" y="13225"/>
              <a:chExt cx="2775" cy="913"/>
            </a:xfrm>
          </p:grpSpPr>
          <p:sp>
            <p:nvSpPr>
              <p:cNvPr id="73" name="Line 27">
                <a:extLst>
                  <a:ext uri="{FF2B5EF4-FFF2-40B4-BE49-F238E27FC236}">
                    <a16:creationId xmlns:a16="http://schemas.microsoft.com/office/drawing/2014/main" id="{3615449C-C628-4A4E-8FD9-6CEA1CB5AF4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74" name="Line 28">
                <a:extLst>
                  <a:ext uri="{FF2B5EF4-FFF2-40B4-BE49-F238E27FC236}">
                    <a16:creationId xmlns:a16="http://schemas.microsoft.com/office/drawing/2014/main" id="{BC197F6C-E6E2-CC4F-B4CD-24052A68CF6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sp>
          <p:nvSpPr>
            <p:cNvPr id="75" name="Line 29">
              <a:extLst>
                <a:ext uri="{FF2B5EF4-FFF2-40B4-BE49-F238E27FC236}">
                  <a16:creationId xmlns:a16="http://schemas.microsoft.com/office/drawing/2014/main" id="{C09632D7-180D-4B4F-9D42-55DC28E6A66C}"/>
                </a:ext>
              </a:extLst>
            </p:cNvPr>
            <p:cNvSpPr>
              <a:spLocks noChangeShapeType="1"/>
            </p:cNvSpPr>
            <p:nvPr/>
          </p:nvSpPr>
          <p:spPr bwMode="auto">
            <a:xfrm>
              <a:off x="4991100" y="4529480"/>
              <a:ext cx="3175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76" name="Line 30">
              <a:extLst>
                <a:ext uri="{FF2B5EF4-FFF2-40B4-BE49-F238E27FC236}">
                  <a16:creationId xmlns:a16="http://schemas.microsoft.com/office/drawing/2014/main" id="{0C325B2C-A250-0F40-9312-8A7316454882}"/>
                </a:ext>
              </a:extLst>
            </p:cNvPr>
            <p:cNvSpPr>
              <a:spLocks noChangeShapeType="1"/>
            </p:cNvSpPr>
            <p:nvPr/>
          </p:nvSpPr>
          <p:spPr bwMode="auto">
            <a:xfrm>
              <a:off x="5314950" y="4653305"/>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sp>
        <p:nvSpPr>
          <p:cNvPr id="31" name="Slide Number Placeholder 2">
            <a:extLst>
              <a:ext uri="{FF2B5EF4-FFF2-40B4-BE49-F238E27FC236}">
                <a16:creationId xmlns:a16="http://schemas.microsoft.com/office/drawing/2014/main" id="{144B575B-9218-5E41-8DF6-C242B94C8BED}"/>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54</a:t>
            </a:fld>
            <a:endParaRPr lang="en-US" dirty="0"/>
          </a:p>
        </p:txBody>
      </p:sp>
    </p:spTree>
    <p:extLst>
      <p:ext uri="{BB962C8B-B14F-4D97-AF65-F5344CB8AC3E}">
        <p14:creationId xmlns:p14="http://schemas.microsoft.com/office/powerpoint/2010/main" val="2942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rdt3.0: stop-and-wait operation</a:t>
            </a:r>
            <a:endParaRPr lang="en-US" dirty="0"/>
          </a:p>
        </p:txBody>
      </p:sp>
      <p:sp>
        <p:nvSpPr>
          <p:cNvPr id="50" name="Line 3">
            <a:extLst>
              <a:ext uri="{FF2B5EF4-FFF2-40B4-BE49-F238E27FC236}">
                <a16:creationId xmlns:a16="http://schemas.microsoft.com/office/drawing/2014/main" id="{65EF62F5-AF0F-154C-9C6E-93BB51897ED0}"/>
              </a:ext>
            </a:extLst>
          </p:cNvPr>
          <p:cNvSpPr>
            <a:spLocks noChangeShapeType="1"/>
          </p:cNvSpPr>
          <p:nvPr/>
        </p:nvSpPr>
        <p:spPr bwMode="auto">
          <a:xfrm>
            <a:off x="4892320" y="2351485"/>
            <a:ext cx="1670447" cy="69175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2" name="Line 5">
            <a:extLst>
              <a:ext uri="{FF2B5EF4-FFF2-40B4-BE49-F238E27FC236}">
                <a16:creationId xmlns:a16="http://schemas.microsoft.com/office/drawing/2014/main" id="{1F5607F9-D0CE-8742-843E-05AFCDCA2F20}"/>
              </a:ext>
            </a:extLst>
          </p:cNvPr>
          <p:cNvSpPr>
            <a:spLocks noChangeShapeType="1"/>
          </p:cNvSpPr>
          <p:nvPr/>
        </p:nvSpPr>
        <p:spPr bwMode="auto">
          <a:xfrm>
            <a:off x="4883985" y="2187178"/>
            <a:ext cx="17860" cy="218479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3" name="Line 6">
            <a:extLst>
              <a:ext uri="{FF2B5EF4-FFF2-40B4-BE49-F238E27FC236}">
                <a16:creationId xmlns:a16="http://schemas.microsoft.com/office/drawing/2014/main" id="{D5AC1D3D-9418-5F46-82ED-FBA189A71398}"/>
              </a:ext>
            </a:extLst>
          </p:cNvPr>
          <p:cNvSpPr>
            <a:spLocks noChangeShapeType="1"/>
          </p:cNvSpPr>
          <p:nvPr/>
        </p:nvSpPr>
        <p:spPr bwMode="auto">
          <a:xfrm>
            <a:off x="6554433" y="2196704"/>
            <a:ext cx="16669" cy="216812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4" name="Text Box 7">
            <a:extLst>
              <a:ext uri="{FF2B5EF4-FFF2-40B4-BE49-F238E27FC236}">
                <a16:creationId xmlns:a16="http://schemas.microsoft.com/office/drawing/2014/main" id="{1AA39350-7ADC-E840-B7FD-CAF65C7EFE9B}"/>
              </a:ext>
            </a:extLst>
          </p:cNvPr>
          <p:cNvSpPr txBox="1">
            <a:spLocks noChangeArrowheads="1"/>
          </p:cNvSpPr>
          <p:nvPr/>
        </p:nvSpPr>
        <p:spPr bwMode="auto">
          <a:xfrm>
            <a:off x="4487508" y="1934766"/>
            <a:ext cx="664369" cy="2631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sender</a:t>
            </a:r>
            <a:endParaRPr lang="en-US" altLang="en-US" sz="1200" dirty="0">
              <a:solidFill>
                <a:srgbClr val="000000"/>
              </a:solidFill>
              <a:latin typeface="Times New Roman" panose="02020603050405020304" pitchFamily="18" charset="0"/>
            </a:endParaRPr>
          </a:p>
        </p:txBody>
      </p:sp>
      <p:sp>
        <p:nvSpPr>
          <p:cNvPr id="55" name="Text Box 8">
            <a:extLst>
              <a:ext uri="{FF2B5EF4-FFF2-40B4-BE49-F238E27FC236}">
                <a16:creationId xmlns:a16="http://schemas.microsoft.com/office/drawing/2014/main" id="{388F41A8-01FA-884F-8140-E9FD1F2C6849}"/>
              </a:ext>
            </a:extLst>
          </p:cNvPr>
          <p:cNvSpPr txBox="1">
            <a:spLocks noChangeArrowheads="1"/>
          </p:cNvSpPr>
          <p:nvPr/>
        </p:nvSpPr>
        <p:spPr bwMode="auto">
          <a:xfrm>
            <a:off x="6121045" y="1934766"/>
            <a:ext cx="709613" cy="2631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receiver</a:t>
            </a:r>
            <a:endParaRPr lang="en-US" altLang="en-US" sz="1200" dirty="0">
              <a:solidFill>
                <a:srgbClr val="000000"/>
              </a:solidFill>
              <a:latin typeface="Times New Roman" panose="02020603050405020304" pitchFamily="18" charset="0"/>
            </a:endParaRPr>
          </a:p>
        </p:txBody>
      </p:sp>
      <p:sp>
        <p:nvSpPr>
          <p:cNvPr id="56" name="Line 9">
            <a:extLst>
              <a:ext uri="{FF2B5EF4-FFF2-40B4-BE49-F238E27FC236}">
                <a16:creationId xmlns:a16="http://schemas.microsoft.com/office/drawing/2014/main" id="{4E1B3F21-B373-CA48-9AD5-5632396CBD83}"/>
              </a:ext>
            </a:extLst>
          </p:cNvPr>
          <p:cNvSpPr>
            <a:spLocks noChangeShapeType="1"/>
          </p:cNvSpPr>
          <p:nvPr/>
        </p:nvSpPr>
        <p:spPr bwMode="auto">
          <a:xfrm>
            <a:off x="4901845" y="2347913"/>
            <a:ext cx="1643063" cy="238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7" name="Line 10">
            <a:extLst>
              <a:ext uri="{FF2B5EF4-FFF2-40B4-BE49-F238E27FC236}">
                <a16:creationId xmlns:a16="http://schemas.microsoft.com/office/drawing/2014/main" id="{89DD14FE-5B5B-3B43-8920-2EDFA30D8A61}"/>
              </a:ext>
            </a:extLst>
          </p:cNvPr>
          <p:cNvSpPr>
            <a:spLocks noChangeShapeType="1"/>
          </p:cNvSpPr>
          <p:nvPr/>
        </p:nvSpPr>
        <p:spPr bwMode="auto">
          <a:xfrm>
            <a:off x="4905416" y="3931444"/>
            <a:ext cx="1644254"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8" name="Line 11">
            <a:extLst>
              <a:ext uri="{FF2B5EF4-FFF2-40B4-BE49-F238E27FC236}">
                <a16:creationId xmlns:a16="http://schemas.microsoft.com/office/drawing/2014/main" id="{0833BE20-CC42-354E-8D97-D533E108B5A2}"/>
              </a:ext>
            </a:extLst>
          </p:cNvPr>
          <p:cNvSpPr>
            <a:spLocks noChangeShapeType="1"/>
          </p:cNvSpPr>
          <p:nvPr/>
        </p:nvSpPr>
        <p:spPr bwMode="auto">
          <a:xfrm flipV="1">
            <a:off x="4905416" y="3224212"/>
            <a:ext cx="1657350" cy="6917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59" name="Freeform 12">
            <a:extLst>
              <a:ext uri="{FF2B5EF4-FFF2-40B4-BE49-F238E27FC236}">
                <a16:creationId xmlns:a16="http://schemas.microsoft.com/office/drawing/2014/main" id="{6DCE969D-C1B5-6B4F-8E82-11FE17209698}"/>
              </a:ext>
            </a:extLst>
          </p:cNvPr>
          <p:cNvSpPr>
            <a:spLocks/>
          </p:cNvSpPr>
          <p:nvPr/>
        </p:nvSpPr>
        <p:spPr bwMode="auto">
          <a:xfrm>
            <a:off x="4888748" y="2346722"/>
            <a:ext cx="1674019" cy="866775"/>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algn="ctr" defTabSz="685800">
              <a:defRPr/>
            </a:pPr>
            <a:endParaRPr lang="en-US" sz="1200" dirty="0">
              <a:solidFill>
                <a:srgbClr val="000000"/>
              </a:solidFill>
              <a:latin typeface="Tahoma" panose="020B0604030504040204" pitchFamily="34" charset="0"/>
            </a:endParaRPr>
          </a:p>
        </p:txBody>
      </p:sp>
      <p:sp>
        <p:nvSpPr>
          <p:cNvPr id="60" name="Line 13">
            <a:extLst>
              <a:ext uri="{FF2B5EF4-FFF2-40B4-BE49-F238E27FC236}">
                <a16:creationId xmlns:a16="http://schemas.microsoft.com/office/drawing/2014/main" id="{71ECF681-371C-214F-B431-3EBF5FCA54AB}"/>
              </a:ext>
            </a:extLst>
          </p:cNvPr>
          <p:cNvSpPr>
            <a:spLocks noChangeShapeType="1"/>
          </p:cNvSpPr>
          <p:nvPr/>
        </p:nvSpPr>
        <p:spPr bwMode="auto">
          <a:xfrm flipH="1">
            <a:off x="4780401" y="2346722"/>
            <a:ext cx="9882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1" name="Line 14">
            <a:extLst>
              <a:ext uri="{FF2B5EF4-FFF2-40B4-BE49-F238E27FC236}">
                <a16:creationId xmlns:a16="http://schemas.microsoft.com/office/drawing/2014/main" id="{D5FC9E24-2362-D949-AD1B-27FDE18130E6}"/>
              </a:ext>
            </a:extLst>
          </p:cNvPr>
          <p:cNvSpPr>
            <a:spLocks noChangeShapeType="1"/>
          </p:cNvSpPr>
          <p:nvPr/>
        </p:nvSpPr>
        <p:spPr bwMode="auto">
          <a:xfrm flipH="1">
            <a:off x="4780401" y="2527697"/>
            <a:ext cx="9882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2" name="Line 15">
            <a:extLst>
              <a:ext uri="{FF2B5EF4-FFF2-40B4-BE49-F238E27FC236}">
                <a16:creationId xmlns:a16="http://schemas.microsoft.com/office/drawing/2014/main" id="{8E885B36-6DC7-A647-8328-79BA2FEF9ABC}"/>
              </a:ext>
            </a:extLst>
          </p:cNvPr>
          <p:cNvSpPr>
            <a:spLocks noChangeShapeType="1"/>
          </p:cNvSpPr>
          <p:nvPr/>
        </p:nvSpPr>
        <p:spPr bwMode="auto">
          <a:xfrm flipH="1">
            <a:off x="4788735" y="3921919"/>
            <a:ext cx="1000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6" name="Line 20">
            <a:extLst>
              <a:ext uri="{FF2B5EF4-FFF2-40B4-BE49-F238E27FC236}">
                <a16:creationId xmlns:a16="http://schemas.microsoft.com/office/drawing/2014/main" id="{F450D6B2-ED0C-2A4C-8BFC-156E65F46CE8}"/>
              </a:ext>
            </a:extLst>
          </p:cNvPr>
          <p:cNvSpPr>
            <a:spLocks noChangeShapeType="1"/>
          </p:cNvSpPr>
          <p:nvPr/>
        </p:nvSpPr>
        <p:spPr bwMode="auto">
          <a:xfrm flipH="1">
            <a:off x="6544907" y="3032522"/>
            <a:ext cx="1000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8" name="Line 22">
            <a:extLst>
              <a:ext uri="{FF2B5EF4-FFF2-40B4-BE49-F238E27FC236}">
                <a16:creationId xmlns:a16="http://schemas.microsoft.com/office/drawing/2014/main" id="{B416D5CF-1045-E44E-A7DD-0F2BA9A28495}"/>
              </a:ext>
            </a:extLst>
          </p:cNvPr>
          <p:cNvSpPr>
            <a:spLocks noChangeShapeType="1"/>
          </p:cNvSpPr>
          <p:nvPr/>
        </p:nvSpPr>
        <p:spPr bwMode="auto">
          <a:xfrm>
            <a:off x="6562766" y="3219450"/>
            <a:ext cx="952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71" name="Freeform 25">
            <a:extLst>
              <a:ext uri="{FF2B5EF4-FFF2-40B4-BE49-F238E27FC236}">
                <a16:creationId xmlns:a16="http://schemas.microsoft.com/office/drawing/2014/main" id="{A4A7A1DD-E270-2148-B390-9D3198E6E533}"/>
              </a:ext>
            </a:extLst>
          </p:cNvPr>
          <p:cNvSpPr>
            <a:spLocks/>
          </p:cNvSpPr>
          <p:nvPr/>
        </p:nvSpPr>
        <p:spPr bwMode="auto">
          <a:xfrm>
            <a:off x="4901845" y="3927872"/>
            <a:ext cx="1064419" cy="433388"/>
          </a:xfrm>
          <a:custGeom>
            <a:avLst/>
            <a:gdLst>
              <a:gd name="T0" fmla="*/ 0 w 1845"/>
              <a:gd name="T1" fmla="*/ 0 h 592"/>
              <a:gd name="T2" fmla="*/ 2147483647 w 1845"/>
              <a:gd name="T3" fmla="*/ 2147483647 h 592"/>
              <a:gd name="T4" fmla="*/ 2147483647 w 1845"/>
              <a:gd name="T5" fmla="*/ 2147483647 h 592"/>
              <a:gd name="T6" fmla="*/ 0 w 1845"/>
              <a:gd name="T7" fmla="*/ 2147483647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72" name="Group 26">
            <a:extLst>
              <a:ext uri="{FF2B5EF4-FFF2-40B4-BE49-F238E27FC236}">
                <a16:creationId xmlns:a16="http://schemas.microsoft.com/office/drawing/2014/main" id="{9CA64688-75A8-D347-9FA8-19BC93D4C937}"/>
              </a:ext>
            </a:extLst>
          </p:cNvPr>
          <p:cNvGrpSpPr>
            <a:grpSpLocks/>
          </p:cNvGrpSpPr>
          <p:nvPr/>
        </p:nvGrpSpPr>
        <p:grpSpPr bwMode="auto">
          <a:xfrm>
            <a:off x="4897082" y="3921919"/>
            <a:ext cx="960834" cy="401241"/>
            <a:chOff x="12315" y="13225"/>
            <a:chExt cx="2775" cy="913"/>
          </a:xfrm>
        </p:grpSpPr>
        <p:sp>
          <p:nvSpPr>
            <p:cNvPr id="73" name="Line 27">
              <a:extLst>
                <a:ext uri="{FF2B5EF4-FFF2-40B4-BE49-F238E27FC236}">
                  <a16:creationId xmlns:a16="http://schemas.microsoft.com/office/drawing/2014/main" id="{3615449C-C628-4A4E-8FD9-6CEA1CB5AF4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74" name="Line 28">
              <a:extLst>
                <a:ext uri="{FF2B5EF4-FFF2-40B4-BE49-F238E27FC236}">
                  <a16:creationId xmlns:a16="http://schemas.microsoft.com/office/drawing/2014/main" id="{BC197F6C-E6E2-CC4F-B4CD-24052A68CF6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sp>
        <p:nvSpPr>
          <p:cNvPr id="75" name="Line 29">
            <a:extLst>
              <a:ext uri="{FF2B5EF4-FFF2-40B4-BE49-F238E27FC236}">
                <a16:creationId xmlns:a16="http://schemas.microsoft.com/office/drawing/2014/main" id="{C09632D7-180D-4B4F-9D42-55DC28E6A66C}"/>
              </a:ext>
            </a:extLst>
          </p:cNvPr>
          <p:cNvSpPr>
            <a:spLocks noChangeShapeType="1"/>
          </p:cNvSpPr>
          <p:nvPr/>
        </p:nvSpPr>
        <p:spPr bwMode="auto">
          <a:xfrm>
            <a:off x="4897082" y="4102894"/>
            <a:ext cx="238125" cy="928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76" name="Line 30">
            <a:extLst>
              <a:ext uri="{FF2B5EF4-FFF2-40B4-BE49-F238E27FC236}">
                <a16:creationId xmlns:a16="http://schemas.microsoft.com/office/drawing/2014/main" id="{0C325B2C-A250-0F40-9312-8A7316454882}"/>
              </a:ext>
            </a:extLst>
          </p:cNvPr>
          <p:cNvSpPr>
            <a:spLocks noChangeShapeType="1"/>
          </p:cNvSpPr>
          <p:nvPr/>
        </p:nvSpPr>
        <p:spPr bwMode="auto">
          <a:xfrm>
            <a:off x="5139970" y="4195762"/>
            <a:ext cx="406003" cy="176213"/>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9" name="Group 8">
            <a:extLst>
              <a:ext uri="{FF2B5EF4-FFF2-40B4-BE49-F238E27FC236}">
                <a16:creationId xmlns:a16="http://schemas.microsoft.com/office/drawing/2014/main" id="{CC6AF9F3-99D9-6F40-B127-7A6785C46B41}"/>
              </a:ext>
            </a:extLst>
          </p:cNvPr>
          <p:cNvGrpSpPr/>
          <p:nvPr/>
        </p:nvGrpSpPr>
        <p:grpSpPr>
          <a:xfrm>
            <a:off x="1683459" y="2374228"/>
            <a:ext cx="1005118" cy="471190"/>
            <a:chOff x="749300" y="3009900"/>
            <a:chExt cx="1340157" cy="628253"/>
          </a:xfrm>
        </p:grpSpPr>
        <p:sp>
          <p:nvSpPr>
            <p:cNvPr id="3" name="TextBox 2">
              <a:extLst>
                <a:ext uri="{FF2B5EF4-FFF2-40B4-BE49-F238E27FC236}">
                  <a16:creationId xmlns:a16="http://schemas.microsoft.com/office/drawing/2014/main" id="{721E4313-1A1A-3A42-AC4C-44CC986CCAC5}"/>
                </a:ext>
              </a:extLst>
            </p:cNvPr>
            <p:cNvSpPr txBox="1"/>
            <p:nvPr/>
          </p:nvSpPr>
          <p:spPr>
            <a:xfrm>
              <a:off x="749300" y="3022600"/>
              <a:ext cx="1178099" cy="615553"/>
            </a:xfrm>
            <a:prstGeom prst="rect">
              <a:avLst/>
            </a:prstGeom>
            <a:noFill/>
          </p:spPr>
          <p:txBody>
            <a:bodyPr wrap="none" rtlCol="0">
              <a:spAutoFit/>
            </a:bodyPr>
            <a:lstStyle/>
            <a:p>
              <a:pPr defTabSz="685800" eaLnBrk="1" fontAlgn="auto" hangingPunct="1">
                <a:spcBef>
                  <a:spcPts val="0"/>
                </a:spcBef>
                <a:spcAft>
                  <a:spcPts val="0"/>
                </a:spcAft>
                <a:defRPr/>
              </a:pPr>
              <a:r>
                <a:rPr lang="en-US" dirty="0">
                  <a:solidFill>
                    <a:prstClr val="black"/>
                  </a:solidFill>
                  <a:latin typeface="Calibri" panose="020F0502020204030204"/>
                  <a:ea typeface="+mn-ea"/>
                </a:rPr>
                <a:t>U</a:t>
              </a:r>
              <a:r>
                <a:rPr lang="en-US" sz="2100" baseline="-25000" dirty="0">
                  <a:solidFill>
                    <a:prstClr val="black"/>
                  </a:solidFill>
                  <a:latin typeface="Calibri" panose="020F0502020204030204"/>
                  <a:ea typeface="+mn-ea"/>
                </a:rPr>
                <a:t>sender</a:t>
              </a:r>
            </a:p>
          </p:txBody>
        </p:sp>
        <p:sp>
          <p:nvSpPr>
            <p:cNvPr id="6" name="TextBox 5">
              <a:extLst>
                <a:ext uri="{FF2B5EF4-FFF2-40B4-BE49-F238E27FC236}">
                  <a16:creationId xmlns:a16="http://schemas.microsoft.com/office/drawing/2014/main" id="{8C13E07F-DCC8-5C42-B670-E68B309E1374}"/>
                </a:ext>
              </a:extLst>
            </p:cNvPr>
            <p:cNvSpPr txBox="1"/>
            <p:nvPr/>
          </p:nvSpPr>
          <p:spPr>
            <a:xfrm>
              <a:off x="1663700" y="3009900"/>
              <a:ext cx="425757" cy="553997"/>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a:t>
              </a:r>
            </a:p>
          </p:txBody>
        </p:sp>
      </p:grpSp>
      <p:sp>
        <p:nvSpPr>
          <p:cNvPr id="36" name="TextBox 35">
            <a:extLst>
              <a:ext uri="{FF2B5EF4-FFF2-40B4-BE49-F238E27FC236}">
                <a16:creationId xmlns:a16="http://schemas.microsoft.com/office/drawing/2014/main" id="{72394E0F-C5BE-F842-A8F0-CE5EB7D410B7}"/>
              </a:ext>
            </a:extLst>
          </p:cNvPr>
          <p:cNvSpPr txBox="1"/>
          <p:nvPr/>
        </p:nvSpPr>
        <p:spPr>
          <a:xfrm>
            <a:off x="3016959" y="2183728"/>
            <a:ext cx="670376" cy="415498"/>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L / R</a:t>
            </a:r>
          </a:p>
        </p:txBody>
      </p:sp>
      <p:sp>
        <p:nvSpPr>
          <p:cNvPr id="37" name="TextBox 36">
            <a:extLst>
              <a:ext uri="{FF2B5EF4-FFF2-40B4-BE49-F238E27FC236}">
                <a16:creationId xmlns:a16="http://schemas.microsoft.com/office/drawing/2014/main" id="{6C6C6FA9-6BC1-BE4F-985A-814A76374A78}"/>
              </a:ext>
            </a:extLst>
          </p:cNvPr>
          <p:cNvSpPr txBox="1"/>
          <p:nvPr/>
        </p:nvSpPr>
        <p:spPr>
          <a:xfrm>
            <a:off x="2674059" y="2593303"/>
            <a:ext cx="594458" cy="415498"/>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RTT</a:t>
            </a:r>
          </a:p>
        </p:txBody>
      </p:sp>
      <p:cxnSp>
        <p:nvCxnSpPr>
          <p:cNvPr id="8" name="Straight Connector 7">
            <a:extLst>
              <a:ext uri="{FF2B5EF4-FFF2-40B4-BE49-F238E27FC236}">
                <a16:creationId xmlns:a16="http://schemas.microsoft.com/office/drawing/2014/main" id="{1471EC5E-49D5-C845-A523-BB2BA82777FB}"/>
              </a:ext>
            </a:extLst>
          </p:cNvPr>
          <p:cNvCxnSpPr/>
          <p:nvPr/>
        </p:nvCxnSpPr>
        <p:spPr>
          <a:xfrm>
            <a:off x="2740734" y="2593303"/>
            <a:ext cx="116205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C9EBE743-5B5A-CB4C-ADBF-D607BDC87774}"/>
              </a:ext>
            </a:extLst>
          </p:cNvPr>
          <p:cNvGrpSpPr/>
          <p:nvPr/>
        </p:nvGrpSpPr>
        <p:grpSpPr>
          <a:xfrm>
            <a:off x="4291054" y="2533441"/>
            <a:ext cx="635794" cy="1395603"/>
            <a:chOff x="4183062" y="2436876"/>
            <a:chExt cx="847725" cy="1860804"/>
          </a:xfrm>
        </p:grpSpPr>
        <p:sp>
          <p:nvSpPr>
            <p:cNvPr id="63" name="Text Box 16">
              <a:extLst>
                <a:ext uri="{FF2B5EF4-FFF2-40B4-BE49-F238E27FC236}">
                  <a16:creationId xmlns:a16="http://schemas.microsoft.com/office/drawing/2014/main" id="{C1807A2B-4600-F444-94CF-68DC8044B38C}"/>
                </a:ext>
              </a:extLst>
            </p:cNvPr>
            <p:cNvSpPr txBox="1">
              <a:spLocks noChangeArrowheads="1"/>
            </p:cNvSpPr>
            <p:nvPr/>
          </p:nvSpPr>
          <p:spPr bwMode="auto">
            <a:xfrm>
              <a:off x="4183062" y="316105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CC0000"/>
                  </a:solidFill>
                  <a:latin typeface="Arial" panose="020B0604020202020204" pitchFamily="34" charset="0"/>
                </a:rPr>
                <a:t>RTT</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64" name="Line 17">
              <a:extLst>
                <a:ext uri="{FF2B5EF4-FFF2-40B4-BE49-F238E27FC236}">
                  <a16:creationId xmlns:a16="http://schemas.microsoft.com/office/drawing/2014/main" id="{4CA4ACE4-80D6-094A-B612-CEDFE371375D}"/>
                </a:ext>
              </a:extLst>
            </p:cNvPr>
            <p:cNvSpPr>
              <a:spLocks noChangeShapeType="1"/>
            </p:cNvSpPr>
            <p:nvPr/>
          </p:nvSpPr>
          <p:spPr bwMode="auto">
            <a:xfrm>
              <a:off x="4870450" y="346903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65" name="Line 18">
              <a:extLst>
                <a:ext uri="{FF2B5EF4-FFF2-40B4-BE49-F238E27FC236}">
                  <a16:creationId xmlns:a16="http://schemas.microsoft.com/office/drawing/2014/main" id="{86419EA2-8CA9-1949-935B-FB9C7863AF80}"/>
                </a:ext>
              </a:extLst>
            </p:cNvPr>
            <p:cNvSpPr>
              <a:spLocks noChangeShapeType="1"/>
            </p:cNvSpPr>
            <p:nvPr/>
          </p:nvSpPr>
          <p:spPr bwMode="auto">
            <a:xfrm flipV="1">
              <a:off x="4875212" y="245144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10" name="Rectangle 9">
              <a:extLst>
                <a:ext uri="{FF2B5EF4-FFF2-40B4-BE49-F238E27FC236}">
                  <a16:creationId xmlns:a16="http://schemas.microsoft.com/office/drawing/2014/main" id="{A49C2C2C-CE28-5843-8415-9EE09E6947FC}"/>
                </a:ext>
              </a:extLst>
            </p:cNvPr>
            <p:cNvSpPr/>
            <p:nvPr/>
          </p:nvSpPr>
          <p:spPr>
            <a:xfrm>
              <a:off x="4421124" y="2436876"/>
              <a:ext cx="77724" cy="186080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nvGrpSpPr>
          <p:cNvPr id="12" name="Group 11">
            <a:extLst>
              <a:ext uri="{FF2B5EF4-FFF2-40B4-BE49-F238E27FC236}">
                <a16:creationId xmlns:a16="http://schemas.microsoft.com/office/drawing/2014/main" id="{959E1995-34BF-7E4C-A8E6-79D6D91B735F}"/>
              </a:ext>
            </a:extLst>
          </p:cNvPr>
          <p:cNvGrpSpPr/>
          <p:nvPr/>
        </p:nvGrpSpPr>
        <p:grpSpPr>
          <a:xfrm>
            <a:off x="4303306" y="2313586"/>
            <a:ext cx="635794" cy="252413"/>
            <a:chOff x="4199398" y="2143737"/>
            <a:chExt cx="847725" cy="336550"/>
          </a:xfrm>
        </p:grpSpPr>
        <p:sp>
          <p:nvSpPr>
            <p:cNvPr id="34" name="Text Box 16">
              <a:extLst>
                <a:ext uri="{FF2B5EF4-FFF2-40B4-BE49-F238E27FC236}">
                  <a16:creationId xmlns:a16="http://schemas.microsoft.com/office/drawing/2014/main" id="{CE11628B-6BAA-5F4D-83D0-1C375AA4B545}"/>
                </a:ext>
              </a:extLst>
            </p:cNvPr>
            <p:cNvSpPr txBox="1">
              <a:spLocks noChangeArrowheads="1"/>
            </p:cNvSpPr>
            <p:nvPr/>
          </p:nvSpPr>
          <p:spPr bwMode="auto">
            <a:xfrm>
              <a:off x="4199398" y="2143737"/>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CC0000"/>
                  </a:solidFill>
                  <a:latin typeface="Arial" panose="020B0604020202020204" pitchFamily="34" charset="0"/>
                </a:rPr>
                <a:t>L/R</a:t>
              </a:r>
              <a:endParaRPr lang="en-US" altLang="en-US" sz="1800" dirty="0">
                <a:solidFill>
                  <a:srgbClr val="000000"/>
                </a:solidFill>
                <a:latin typeface="Times New Roman" panose="02020603050405020304" pitchFamily="18" charset="0"/>
              </a:endParaRPr>
            </a:p>
          </p:txBody>
        </p:sp>
        <p:sp>
          <p:nvSpPr>
            <p:cNvPr id="42" name="Rectangle 41">
              <a:extLst>
                <a:ext uri="{FF2B5EF4-FFF2-40B4-BE49-F238E27FC236}">
                  <a16:creationId xmlns:a16="http://schemas.microsoft.com/office/drawing/2014/main" id="{3925C961-57CF-D349-AB32-A9692749F035}"/>
                </a:ext>
              </a:extLst>
            </p:cNvPr>
            <p:cNvSpPr/>
            <p:nvPr/>
          </p:nvSpPr>
          <p:spPr>
            <a:xfrm>
              <a:off x="4418854" y="2180844"/>
              <a:ext cx="85344" cy="2468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sp>
        <p:nvSpPr>
          <p:cNvPr id="43" name="TextBox 42">
            <a:extLst>
              <a:ext uri="{FF2B5EF4-FFF2-40B4-BE49-F238E27FC236}">
                <a16:creationId xmlns:a16="http://schemas.microsoft.com/office/drawing/2014/main" id="{075CB59D-6E37-644B-87A0-86A5D61EB620}"/>
              </a:ext>
            </a:extLst>
          </p:cNvPr>
          <p:cNvSpPr txBox="1"/>
          <p:nvPr/>
        </p:nvSpPr>
        <p:spPr>
          <a:xfrm>
            <a:off x="3131260" y="2593303"/>
            <a:ext cx="865943" cy="415498"/>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 L / R</a:t>
            </a:r>
          </a:p>
        </p:txBody>
      </p:sp>
      <p:grpSp>
        <p:nvGrpSpPr>
          <p:cNvPr id="19" name="Group 18">
            <a:extLst>
              <a:ext uri="{FF2B5EF4-FFF2-40B4-BE49-F238E27FC236}">
                <a16:creationId xmlns:a16="http://schemas.microsoft.com/office/drawing/2014/main" id="{6A4AEDD2-EED9-9242-A1CE-295F5C6A03DB}"/>
              </a:ext>
            </a:extLst>
          </p:cNvPr>
          <p:cNvGrpSpPr/>
          <p:nvPr/>
        </p:nvGrpSpPr>
        <p:grpSpPr>
          <a:xfrm>
            <a:off x="2367189" y="3067877"/>
            <a:ext cx="1376395" cy="1120348"/>
            <a:chOff x="1660939" y="3934767"/>
            <a:chExt cx="1835193" cy="1493797"/>
          </a:xfrm>
        </p:grpSpPr>
        <p:sp>
          <p:nvSpPr>
            <p:cNvPr id="13" name="TextBox 12">
              <a:extLst>
                <a:ext uri="{FF2B5EF4-FFF2-40B4-BE49-F238E27FC236}">
                  <a16:creationId xmlns:a16="http://schemas.microsoft.com/office/drawing/2014/main" id="{80101E67-F8E3-5F43-87A5-EEE3F55BCF5A}"/>
                </a:ext>
              </a:extLst>
            </p:cNvPr>
            <p:cNvSpPr txBox="1"/>
            <p:nvPr/>
          </p:nvSpPr>
          <p:spPr>
            <a:xfrm>
              <a:off x="1673639" y="4856491"/>
              <a:ext cx="425757" cy="553997"/>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a:t>
              </a:r>
            </a:p>
          </p:txBody>
        </p:sp>
        <p:sp>
          <p:nvSpPr>
            <p:cNvPr id="47" name="TextBox 46">
              <a:extLst>
                <a:ext uri="{FF2B5EF4-FFF2-40B4-BE49-F238E27FC236}">
                  <a16:creationId xmlns:a16="http://schemas.microsoft.com/office/drawing/2014/main" id="{E3ADC375-683E-5F46-8229-0B251E9F0CDD}"/>
                </a:ext>
              </a:extLst>
            </p:cNvPr>
            <p:cNvSpPr txBox="1"/>
            <p:nvPr/>
          </p:nvSpPr>
          <p:spPr>
            <a:xfrm>
              <a:off x="2070100" y="4874567"/>
              <a:ext cx="1426032" cy="553997"/>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0.00027</a:t>
              </a:r>
            </a:p>
          </p:txBody>
        </p:sp>
        <p:grpSp>
          <p:nvGrpSpPr>
            <p:cNvPr id="18" name="Group 17">
              <a:extLst>
                <a:ext uri="{FF2B5EF4-FFF2-40B4-BE49-F238E27FC236}">
                  <a16:creationId xmlns:a16="http://schemas.microsoft.com/office/drawing/2014/main" id="{9AD14E5C-D408-D34F-A4E3-3FF2736B1748}"/>
                </a:ext>
              </a:extLst>
            </p:cNvPr>
            <p:cNvGrpSpPr/>
            <p:nvPr/>
          </p:nvGrpSpPr>
          <p:grpSpPr>
            <a:xfrm>
              <a:off x="1660939" y="3934767"/>
              <a:ext cx="1537856" cy="898843"/>
              <a:chOff x="1660939" y="3795067"/>
              <a:chExt cx="1537856" cy="898843"/>
            </a:xfrm>
          </p:grpSpPr>
          <p:sp>
            <p:nvSpPr>
              <p:cNvPr id="79" name="TextBox 78">
                <a:extLst>
                  <a:ext uri="{FF2B5EF4-FFF2-40B4-BE49-F238E27FC236}">
                    <a16:creationId xmlns:a16="http://schemas.microsoft.com/office/drawing/2014/main" id="{52A82ED6-4EB6-9646-9813-CD52285AEECC}"/>
                  </a:ext>
                </a:extLst>
              </p:cNvPr>
              <p:cNvSpPr txBox="1"/>
              <p:nvPr/>
            </p:nvSpPr>
            <p:spPr>
              <a:xfrm>
                <a:off x="1660939" y="3952558"/>
                <a:ext cx="425757" cy="553997"/>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a:t>
                </a:r>
              </a:p>
            </p:txBody>
          </p:sp>
          <p:grpSp>
            <p:nvGrpSpPr>
              <p:cNvPr id="17" name="Group 16">
                <a:extLst>
                  <a:ext uri="{FF2B5EF4-FFF2-40B4-BE49-F238E27FC236}">
                    <a16:creationId xmlns:a16="http://schemas.microsoft.com/office/drawing/2014/main" id="{2D5D5FF4-838F-754C-8978-6526E35349A3}"/>
                  </a:ext>
                </a:extLst>
              </p:cNvPr>
              <p:cNvGrpSpPr/>
              <p:nvPr/>
            </p:nvGrpSpPr>
            <p:grpSpPr>
              <a:xfrm>
                <a:off x="2095500" y="3795067"/>
                <a:ext cx="1103295" cy="898843"/>
                <a:chOff x="2032000" y="3795067"/>
                <a:chExt cx="1103295" cy="898843"/>
              </a:xfrm>
            </p:grpSpPr>
            <p:sp>
              <p:nvSpPr>
                <p:cNvPr id="80" name="TextBox 79">
                  <a:extLst>
                    <a:ext uri="{FF2B5EF4-FFF2-40B4-BE49-F238E27FC236}">
                      <a16:creationId xmlns:a16="http://schemas.microsoft.com/office/drawing/2014/main" id="{E983D372-880E-BD47-AF86-736C61470D97}"/>
                    </a:ext>
                  </a:extLst>
                </p:cNvPr>
                <p:cNvSpPr txBox="1"/>
                <p:nvPr/>
              </p:nvSpPr>
              <p:spPr>
                <a:xfrm>
                  <a:off x="2146300" y="3795067"/>
                  <a:ext cx="791243" cy="492443"/>
                </a:xfrm>
                <a:prstGeom prst="rect">
                  <a:avLst/>
                </a:prstGeom>
                <a:noFill/>
              </p:spPr>
              <p:txBody>
                <a:bodyPr wrap="none" rtlCol="0">
                  <a:spAutoFit/>
                </a:bodyPr>
                <a:lstStyle/>
                <a:p>
                  <a:pPr defTabSz="685800" eaLnBrk="1" fontAlgn="auto" hangingPunct="1">
                    <a:spcBef>
                      <a:spcPts val="0"/>
                    </a:spcBef>
                    <a:spcAft>
                      <a:spcPts val="0"/>
                    </a:spcAft>
                    <a:defRPr/>
                  </a:pPr>
                  <a:r>
                    <a:rPr lang="en-US" sz="1800" dirty="0">
                      <a:solidFill>
                        <a:prstClr val="black"/>
                      </a:solidFill>
                      <a:latin typeface="Calibri" panose="020F0502020204030204"/>
                      <a:ea typeface="+mn-ea"/>
                    </a:rPr>
                    <a:t>.008</a:t>
                  </a:r>
                </a:p>
              </p:txBody>
            </p:sp>
            <p:sp>
              <p:nvSpPr>
                <p:cNvPr id="81" name="TextBox 80">
                  <a:extLst>
                    <a:ext uri="{FF2B5EF4-FFF2-40B4-BE49-F238E27FC236}">
                      <a16:creationId xmlns:a16="http://schemas.microsoft.com/office/drawing/2014/main" id="{C1BDCBB7-422E-9B44-86BF-FE476616B58A}"/>
                    </a:ext>
                  </a:extLst>
                </p:cNvPr>
                <p:cNvSpPr txBox="1"/>
                <p:nvPr/>
              </p:nvSpPr>
              <p:spPr>
                <a:xfrm>
                  <a:off x="2032000" y="4201467"/>
                  <a:ext cx="1103295" cy="492443"/>
                </a:xfrm>
                <a:prstGeom prst="rect">
                  <a:avLst/>
                </a:prstGeom>
                <a:noFill/>
              </p:spPr>
              <p:txBody>
                <a:bodyPr wrap="none" rtlCol="0">
                  <a:spAutoFit/>
                </a:bodyPr>
                <a:lstStyle/>
                <a:p>
                  <a:pPr defTabSz="685800" eaLnBrk="1" fontAlgn="auto" hangingPunct="1">
                    <a:spcBef>
                      <a:spcPts val="0"/>
                    </a:spcBef>
                    <a:spcAft>
                      <a:spcPts val="0"/>
                    </a:spcAft>
                    <a:defRPr/>
                  </a:pPr>
                  <a:r>
                    <a:rPr lang="en-US" sz="1800" dirty="0">
                      <a:solidFill>
                        <a:prstClr val="black"/>
                      </a:solidFill>
                      <a:latin typeface="Calibri" panose="020F0502020204030204"/>
                      <a:ea typeface="+mn-ea"/>
                    </a:rPr>
                    <a:t>30.008</a:t>
                  </a:r>
                </a:p>
              </p:txBody>
            </p:sp>
            <p:cxnSp>
              <p:nvCxnSpPr>
                <p:cNvPr id="82" name="Straight Connector 81">
                  <a:extLst>
                    <a:ext uri="{FF2B5EF4-FFF2-40B4-BE49-F238E27FC236}">
                      <a16:creationId xmlns:a16="http://schemas.microsoft.com/office/drawing/2014/main" id="{BBAC316F-2A0D-B744-BBEB-CB399528A356}"/>
                    </a:ext>
                  </a:extLst>
                </p:cNvPr>
                <p:cNvCxnSpPr/>
                <p:nvPr/>
              </p:nvCxnSpPr>
              <p:spPr>
                <a:xfrm>
                  <a:off x="2120900" y="4239567"/>
                  <a:ext cx="825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85" name="Rectangle 84">
            <a:extLst>
              <a:ext uri="{FF2B5EF4-FFF2-40B4-BE49-F238E27FC236}">
                <a16:creationId xmlns:a16="http://schemas.microsoft.com/office/drawing/2014/main" id="{6A30693C-EFD3-504D-9986-8B04D7557A03}"/>
              </a:ext>
            </a:extLst>
          </p:cNvPr>
          <p:cNvSpPr/>
          <p:nvPr/>
        </p:nvSpPr>
        <p:spPr>
          <a:xfrm>
            <a:off x="4296448" y="2341417"/>
            <a:ext cx="64008" cy="1851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4" name="TextBox 3">
            <a:extLst>
              <a:ext uri="{FF2B5EF4-FFF2-40B4-BE49-F238E27FC236}">
                <a16:creationId xmlns:a16="http://schemas.microsoft.com/office/drawing/2014/main" id="{E7907A72-228A-0E4D-9982-EED66F10F557}"/>
              </a:ext>
            </a:extLst>
          </p:cNvPr>
          <p:cNvSpPr txBox="1"/>
          <p:nvPr/>
        </p:nvSpPr>
        <p:spPr>
          <a:xfrm>
            <a:off x="914400" y="4648683"/>
            <a:ext cx="7645998" cy="946413"/>
          </a:xfrm>
          <a:prstGeom prst="rect">
            <a:avLst/>
          </a:prstGeom>
          <a:noFill/>
        </p:spPr>
        <p:txBody>
          <a:bodyPr wrap="square" rtlCol="0">
            <a:spAutoFit/>
          </a:bodyPr>
          <a:lstStyle/>
          <a:p>
            <a:pPr marL="215504" indent="-215504" defTabSz="685800" eaLnBrk="1" fontAlgn="auto" hangingPunct="1">
              <a:spcBef>
                <a:spcPts val="0"/>
              </a:spcBef>
              <a:spcAft>
                <a:spcPts val="0"/>
              </a:spcAft>
              <a:buClr>
                <a:srgbClr val="0013A3"/>
              </a:buClr>
              <a:buFont typeface="Wingdings" pitchFamily="2" charset="2"/>
              <a:buChar char="§"/>
              <a:defRPr/>
            </a:pPr>
            <a:r>
              <a:rPr lang="en-US" sz="2100" dirty="0">
                <a:solidFill>
                  <a:prstClr val="black"/>
                </a:solidFill>
                <a:latin typeface="Calibri" panose="020F0502020204030204"/>
                <a:ea typeface="+mn-ea"/>
              </a:rPr>
              <a:t>rdt 3.0 protocol performance stinks!</a:t>
            </a:r>
          </a:p>
          <a:p>
            <a:pPr marL="215504" indent="-215504" defTabSz="685800" eaLnBrk="1" fontAlgn="auto" hangingPunct="1">
              <a:spcBef>
                <a:spcPts val="0"/>
              </a:spcBef>
              <a:spcAft>
                <a:spcPts val="0"/>
              </a:spcAft>
              <a:buClr>
                <a:srgbClr val="0013A3"/>
              </a:buClr>
              <a:buFont typeface="Wingdings" pitchFamily="2" charset="2"/>
              <a:buChar char="§"/>
              <a:defRPr/>
            </a:pPr>
            <a:r>
              <a:rPr lang="en-US" sz="2100" dirty="0">
                <a:solidFill>
                  <a:prstClr val="black"/>
                </a:solidFill>
                <a:latin typeface="Calibri" panose="020F0502020204030204"/>
                <a:ea typeface="+mn-ea"/>
              </a:rPr>
              <a:t>Protocol limits performance of underlying infrastructure (channel)</a:t>
            </a:r>
          </a:p>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9" name="Slide Number Placeholder 2">
            <a:extLst>
              <a:ext uri="{FF2B5EF4-FFF2-40B4-BE49-F238E27FC236}">
                <a16:creationId xmlns:a16="http://schemas.microsoft.com/office/drawing/2014/main" id="{CB5285FE-6F5F-D849-A9CB-EEFE33B31B9B}"/>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55</a:t>
            </a:fld>
            <a:endParaRPr lang="en-US" dirty="0"/>
          </a:p>
        </p:txBody>
      </p:sp>
    </p:spTree>
    <p:extLst>
      <p:ext uri="{BB962C8B-B14F-4D97-AF65-F5344CB8AC3E}">
        <p14:creationId xmlns:p14="http://schemas.microsoft.com/office/powerpoint/2010/main" val="2622193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dissolve">
                                      <p:cBhvr>
                                        <p:cTn id="12" dur="500"/>
                                        <p:tgtEl>
                                          <p:spTgt spid="37"/>
                                        </p:tgtEl>
                                      </p:cBhvr>
                                    </p:animEffect>
                                  </p:childTnLst>
                                </p:cTn>
                              </p:par>
                              <p:par>
                                <p:cTn id="13" presetID="9"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dissolv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dissolve">
                                      <p:cBhvr>
                                        <p:cTn id="20" dur="500"/>
                                        <p:tgtEl>
                                          <p:spTgt spid="12"/>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dissolve">
                                      <p:cBhvr>
                                        <p:cTn id="23" dur="500"/>
                                        <p:tgtEl>
                                          <p:spTgt spid="4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dissolve">
                                      <p:cBhvr>
                                        <p:cTn id="28" dur="500"/>
                                        <p:tgtEl>
                                          <p:spTgt spid="3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animEffect transition="in" filter="dissolve">
                                      <p:cBhvr>
                                        <p:cTn id="31" dur="500"/>
                                        <p:tgtEl>
                                          <p:spTgt spid="85"/>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dissolv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dissolv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dissolve">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43" grpId="0"/>
      <p:bldP spid="85" grpId="0" animBg="1"/>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rdt3.0: pipelined protocols operation</a:t>
            </a:r>
            <a:endParaRPr lang="en-US" dirty="0"/>
          </a:p>
        </p:txBody>
      </p:sp>
      <p:sp>
        <p:nvSpPr>
          <p:cNvPr id="78" name="Rectangle 3">
            <a:extLst>
              <a:ext uri="{FF2B5EF4-FFF2-40B4-BE49-F238E27FC236}">
                <a16:creationId xmlns:a16="http://schemas.microsoft.com/office/drawing/2014/main" id="{58138FEE-B5E2-DF48-8378-96F53EA03F37}"/>
              </a:ext>
            </a:extLst>
          </p:cNvPr>
          <p:cNvSpPr txBox="1">
            <a:spLocks noChangeArrowheads="1"/>
          </p:cNvSpPr>
          <p:nvPr/>
        </p:nvSpPr>
        <p:spPr>
          <a:xfrm>
            <a:off x="541917" y="1841908"/>
            <a:ext cx="8241620" cy="1524889"/>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fontAlgn="auto">
              <a:spcBef>
                <a:spcPts val="750"/>
              </a:spcBef>
              <a:spcAft>
                <a:spcPts val="0"/>
              </a:spcAft>
              <a:buNone/>
              <a:defRPr/>
            </a:pPr>
            <a:r>
              <a:rPr lang="en-US" altLang="en-US" sz="2100" dirty="0">
                <a:solidFill>
                  <a:srgbClr val="CC0000"/>
                </a:solidFill>
                <a:latin typeface="Calibri" panose="020F0502020204030204"/>
                <a:ea typeface="ＭＳ Ｐゴシック" panose="020B0600070205080204" pitchFamily="34" charset="-128"/>
              </a:rPr>
              <a:t>pipelining:</a:t>
            </a:r>
            <a:r>
              <a:rPr lang="en-US" altLang="en-US" sz="2100" dirty="0">
                <a:solidFill>
                  <a:prstClr val="black"/>
                </a:solidFill>
                <a:latin typeface="Calibri" panose="020F0502020204030204"/>
                <a:ea typeface="ＭＳ Ｐゴシック" panose="020B0600070205080204" pitchFamily="34" charset="-128"/>
              </a:rPr>
              <a:t> sender allows multiple, “</a:t>
            </a:r>
            <a:r>
              <a:rPr lang="en-US" altLang="ja-JP" sz="2100" dirty="0">
                <a:solidFill>
                  <a:prstClr val="black"/>
                </a:solidFill>
                <a:latin typeface="Calibri" panose="020F0502020204030204"/>
                <a:ea typeface="ＭＳ Ｐゴシック" panose="020B0600070205080204" pitchFamily="34" charset="-128"/>
              </a:rPr>
              <a:t>in-flight”, yet-to-be-acknowledged packets</a:t>
            </a:r>
          </a:p>
          <a:p>
            <a:pPr marL="521494" lvl="1" indent="-173831" defTabSz="685800" fontAlgn="auto">
              <a:spcBef>
                <a:spcPts val="375"/>
              </a:spcBef>
              <a:spcAft>
                <a:spcPts val="0"/>
              </a:spcAft>
              <a:defRPr/>
            </a:pPr>
            <a:r>
              <a:rPr lang="en-US" altLang="en-US" sz="1800" dirty="0">
                <a:solidFill>
                  <a:prstClr val="black"/>
                </a:solidFill>
                <a:latin typeface="Calibri" panose="020F0502020204030204"/>
                <a:ea typeface="ＭＳ Ｐゴシック" panose="020B0600070205080204" pitchFamily="34" charset="-128"/>
              </a:rPr>
              <a:t>range of sequence numbers must be increased</a:t>
            </a:r>
          </a:p>
          <a:p>
            <a:pPr marL="521494" lvl="1" indent="-173831" defTabSz="685800" fontAlgn="auto">
              <a:spcBef>
                <a:spcPts val="375"/>
              </a:spcBef>
              <a:spcAft>
                <a:spcPts val="0"/>
              </a:spcAft>
              <a:defRPr/>
            </a:pPr>
            <a:r>
              <a:rPr lang="en-US" altLang="en-US" sz="1800" dirty="0">
                <a:solidFill>
                  <a:prstClr val="black"/>
                </a:solidFill>
                <a:latin typeface="Calibri" panose="020F0502020204030204"/>
                <a:ea typeface="ＭＳ Ｐゴシック" panose="020B0600070205080204" pitchFamily="34" charset="-128"/>
              </a:rPr>
              <a:t>buffering at sender and/or receiver</a:t>
            </a:r>
          </a:p>
        </p:txBody>
      </p:sp>
      <p:grpSp>
        <p:nvGrpSpPr>
          <p:cNvPr id="4" name="Group 3">
            <a:extLst>
              <a:ext uri="{FF2B5EF4-FFF2-40B4-BE49-F238E27FC236}">
                <a16:creationId xmlns:a16="http://schemas.microsoft.com/office/drawing/2014/main" id="{4B5D14E0-A0D3-934D-BBAE-EEDB9CC51924}"/>
              </a:ext>
            </a:extLst>
          </p:cNvPr>
          <p:cNvGrpSpPr/>
          <p:nvPr/>
        </p:nvGrpSpPr>
        <p:grpSpPr>
          <a:xfrm>
            <a:off x="2187178" y="3102200"/>
            <a:ext cx="4769644" cy="1777604"/>
            <a:chOff x="1673403" y="3019025"/>
            <a:chExt cx="6359525" cy="2370138"/>
          </a:xfrm>
        </p:grpSpPr>
        <p:pic>
          <p:nvPicPr>
            <p:cNvPr id="80" name="Picture 5" descr="rdt_pipelined1">
              <a:extLst>
                <a:ext uri="{FF2B5EF4-FFF2-40B4-BE49-F238E27FC236}">
                  <a16:creationId xmlns:a16="http://schemas.microsoft.com/office/drawing/2014/main" id="{2F295627-AEBF-DA46-A59F-B81177F032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27403" y="3019025"/>
              <a:ext cx="6105525"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 name="Group 44">
              <a:extLst>
                <a:ext uri="{FF2B5EF4-FFF2-40B4-BE49-F238E27FC236}">
                  <a16:creationId xmlns:a16="http://schemas.microsoft.com/office/drawing/2014/main" id="{1111BB3D-3EE3-524B-ADDE-3374E7ACC18F}"/>
                </a:ext>
              </a:extLst>
            </p:cNvPr>
            <p:cNvGrpSpPr>
              <a:grpSpLocks/>
            </p:cNvGrpSpPr>
            <p:nvPr/>
          </p:nvGrpSpPr>
          <p:grpSpPr bwMode="auto">
            <a:xfrm>
              <a:off x="1673403" y="3696888"/>
              <a:ext cx="469900" cy="465137"/>
              <a:chOff x="881" y="2283"/>
              <a:chExt cx="296" cy="293"/>
            </a:xfrm>
          </p:grpSpPr>
          <p:sp>
            <p:nvSpPr>
              <p:cNvPr id="82" name="Rectangle 43">
                <a:extLst>
                  <a:ext uri="{FF2B5EF4-FFF2-40B4-BE49-F238E27FC236}">
                    <a16:creationId xmlns:a16="http://schemas.microsoft.com/office/drawing/2014/main" id="{10716B48-25E1-7F4D-87AA-377041B56237}"/>
                  </a:ext>
                </a:extLst>
              </p:cNvPr>
              <p:cNvSpPr>
                <a:spLocks noChangeArrowheads="1"/>
              </p:cNvSpPr>
              <p:nvPr/>
            </p:nvSpPr>
            <p:spPr bwMode="auto">
              <a:xfrm>
                <a:off x="1026" y="2283"/>
                <a:ext cx="122" cy="26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nvGrpSpPr>
              <p:cNvPr id="83" name="Group 36">
                <a:extLst>
                  <a:ext uri="{FF2B5EF4-FFF2-40B4-BE49-F238E27FC236}">
                    <a16:creationId xmlns:a16="http://schemas.microsoft.com/office/drawing/2014/main" id="{F805DF4F-95A4-BD4D-AD9B-A0F477F1C32B}"/>
                  </a:ext>
                </a:extLst>
              </p:cNvPr>
              <p:cNvGrpSpPr>
                <a:grpSpLocks/>
              </p:cNvGrpSpPr>
              <p:nvPr/>
            </p:nvGrpSpPr>
            <p:grpSpPr bwMode="auto">
              <a:xfrm flipH="1">
                <a:off x="881" y="2283"/>
                <a:ext cx="296" cy="293"/>
                <a:chOff x="2839" y="3501"/>
                <a:chExt cx="755" cy="803"/>
              </a:xfrm>
            </p:grpSpPr>
            <p:pic>
              <p:nvPicPr>
                <p:cNvPr id="84" name="Picture 37" descr="desktop_computer_stylized_medium">
                  <a:extLst>
                    <a:ext uri="{FF2B5EF4-FFF2-40B4-BE49-F238E27FC236}">
                      <a16:creationId xmlns:a16="http://schemas.microsoft.com/office/drawing/2014/main" id="{85D0573B-AA1D-C647-947D-E75FC498BEA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Freeform 38">
                  <a:extLst>
                    <a:ext uri="{FF2B5EF4-FFF2-40B4-BE49-F238E27FC236}">
                      <a16:creationId xmlns:a16="http://schemas.microsoft.com/office/drawing/2014/main" id="{D280CE14-8944-254D-8B1F-894AD27B66D3}"/>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sp>
          <p:nvSpPr>
            <p:cNvPr id="86" name="Freeform 48">
              <a:extLst>
                <a:ext uri="{FF2B5EF4-FFF2-40B4-BE49-F238E27FC236}">
                  <a16:creationId xmlns:a16="http://schemas.microsoft.com/office/drawing/2014/main" id="{A1C3D94C-83E9-0F40-97E5-B369E086816C}"/>
                </a:ext>
              </a:extLst>
            </p:cNvPr>
            <p:cNvSpPr>
              <a:spLocks/>
            </p:cNvSpPr>
            <p:nvPr/>
          </p:nvSpPr>
          <p:spPr bwMode="auto">
            <a:xfrm>
              <a:off x="7613828" y="3709588"/>
              <a:ext cx="185737" cy="431800"/>
            </a:xfrm>
            <a:custGeom>
              <a:avLst/>
              <a:gdLst>
                <a:gd name="T0" fmla="*/ 2147483647 w 117"/>
                <a:gd name="T1" fmla="*/ 2147483647 h 272"/>
                <a:gd name="T2" fmla="*/ 2147483647 w 117"/>
                <a:gd name="T3" fmla="*/ 2147483647 h 272"/>
                <a:gd name="T4" fmla="*/ 2147483647 w 117"/>
                <a:gd name="T5" fmla="*/ 2147483647 h 272"/>
                <a:gd name="T6" fmla="*/ 0 w 117"/>
                <a:gd name="T7" fmla="*/ 2147483647 h 272"/>
                <a:gd name="T8" fmla="*/ 2147483647 w 117"/>
                <a:gd name="T9" fmla="*/ 2147483647 h 272"/>
                <a:gd name="T10" fmla="*/ 2147483647 w 117"/>
                <a:gd name="T11" fmla="*/ 2147483647 h 272"/>
                <a:gd name="T12" fmla="*/ 2147483647 w 117"/>
                <a:gd name="T13" fmla="*/ 0 h 272"/>
                <a:gd name="T14" fmla="*/ 2147483647 w 117"/>
                <a:gd name="T15" fmla="*/ 2147483647 h 2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7" h="272">
                  <a:moveTo>
                    <a:pt x="6" y="6"/>
                  </a:moveTo>
                  <a:lnTo>
                    <a:pt x="3" y="77"/>
                  </a:lnTo>
                  <a:lnTo>
                    <a:pt x="59" y="120"/>
                  </a:lnTo>
                  <a:lnTo>
                    <a:pt x="0" y="146"/>
                  </a:lnTo>
                  <a:lnTo>
                    <a:pt x="3" y="270"/>
                  </a:lnTo>
                  <a:lnTo>
                    <a:pt x="117" y="272"/>
                  </a:lnTo>
                  <a:lnTo>
                    <a:pt x="114" y="0"/>
                  </a:lnTo>
                  <a:lnTo>
                    <a:pt x="6" y="6"/>
                  </a:lnTo>
                  <a:close/>
                </a:path>
              </a:pathLst>
            </a:custGeom>
            <a:solidFill>
              <a:schemeClr val="bg1"/>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87" name="Group 50">
              <a:extLst>
                <a:ext uri="{FF2B5EF4-FFF2-40B4-BE49-F238E27FC236}">
                  <a16:creationId xmlns:a16="http://schemas.microsoft.com/office/drawing/2014/main" id="{605457C9-55E9-234B-AF40-1C2CEC7BD520}"/>
                </a:ext>
              </a:extLst>
            </p:cNvPr>
            <p:cNvGrpSpPr>
              <a:grpSpLocks/>
            </p:cNvGrpSpPr>
            <p:nvPr/>
          </p:nvGrpSpPr>
          <p:grpSpPr bwMode="auto">
            <a:xfrm>
              <a:off x="4784903" y="3714350"/>
              <a:ext cx="469900" cy="465138"/>
              <a:chOff x="881" y="2283"/>
              <a:chExt cx="296" cy="293"/>
            </a:xfrm>
          </p:grpSpPr>
          <p:sp>
            <p:nvSpPr>
              <p:cNvPr id="88" name="Rectangle 51">
                <a:extLst>
                  <a:ext uri="{FF2B5EF4-FFF2-40B4-BE49-F238E27FC236}">
                    <a16:creationId xmlns:a16="http://schemas.microsoft.com/office/drawing/2014/main" id="{5A66C211-A318-FD43-B1DC-494380C212A1}"/>
                  </a:ext>
                </a:extLst>
              </p:cNvPr>
              <p:cNvSpPr>
                <a:spLocks noChangeArrowheads="1"/>
              </p:cNvSpPr>
              <p:nvPr/>
            </p:nvSpPr>
            <p:spPr bwMode="auto">
              <a:xfrm>
                <a:off x="1026" y="2283"/>
                <a:ext cx="122" cy="26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nvGrpSpPr>
              <p:cNvPr id="89" name="Group 52">
                <a:extLst>
                  <a:ext uri="{FF2B5EF4-FFF2-40B4-BE49-F238E27FC236}">
                    <a16:creationId xmlns:a16="http://schemas.microsoft.com/office/drawing/2014/main" id="{028FC7D3-7EE7-2840-8091-94C524E05F4E}"/>
                  </a:ext>
                </a:extLst>
              </p:cNvPr>
              <p:cNvGrpSpPr>
                <a:grpSpLocks/>
              </p:cNvGrpSpPr>
              <p:nvPr/>
            </p:nvGrpSpPr>
            <p:grpSpPr bwMode="auto">
              <a:xfrm flipH="1">
                <a:off x="881" y="2283"/>
                <a:ext cx="296" cy="293"/>
                <a:chOff x="2839" y="3501"/>
                <a:chExt cx="755" cy="803"/>
              </a:xfrm>
            </p:grpSpPr>
            <p:pic>
              <p:nvPicPr>
                <p:cNvPr id="90" name="Picture 53" descr="desktop_computer_stylized_medium">
                  <a:extLst>
                    <a:ext uri="{FF2B5EF4-FFF2-40B4-BE49-F238E27FC236}">
                      <a16:creationId xmlns:a16="http://schemas.microsoft.com/office/drawing/2014/main" id="{5DF1881B-0BF4-AD42-A217-8A59265F13F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Freeform 54">
                  <a:extLst>
                    <a:ext uri="{FF2B5EF4-FFF2-40B4-BE49-F238E27FC236}">
                      <a16:creationId xmlns:a16="http://schemas.microsoft.com/office/drawing/2014/main" id="{70153128-AD53-344E-AC41-31C4A7A688E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grpSp>
          <p:nvGrpSpPr>
            <p:cNvPr id="92" name="Group 55">
              <a:extLst>
                <a:ext uri="{FF2B5EF4-FFF2-40B4-BE49-F238E27FC236}">
                  <a16:creationId xmlns:a16="http://schemas.microsoft.com/office/drawing/2014/main" id="{BC8220C0-F289-EA49-A8E3-C57D20507ACD}"/>
                </a:ext>
              </a:extLst>
            </p:cNvPr>
            <p:cNvGrpSpPr>
              <a:grpSpLocks/>
            </p:cNvGrpSpPr>
            <p:nvPr/>
          </p:nvGrpSpPr>
          <p:grpSpPr bwMode="auto">
            <a:xfrm>
              <a:off x="4493546" y="3633388"/>
              <a:ext cx="223838" cy="501650"/>
              <a:chOff x="4140" y="429"/>
              <a:chExt cx="1425" cy="2396"/>
            </a:xfrm>
          </p:grpSpPr>
          <p:sp>
            <p:nvSpPr>
              <p:cNvPr id="93" name="Freeform 56">
                <a:extLst>
                  <a:ext uri="{FF2B5EF4-FFF2-40B4-BE49-F238E27FC236}">
                    <a16:creationId xmlns:a16="http://schemas.microsoft.com/office/drawing/2014/main" id="{4F76258E-0BBD-8E40-98DF-823F02EF9ACC}"/>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94" name="Rectangle 57">
                <a:extLst>
                  <a:ext uri="{FF2B5EF4-FFF2-40B4-BE49-F238E27FC236}">
                    <a16:creationId xmlns:a16="http://schemas.microsoft.com/office/drawing/2014/main" id="{7ED94245-5F5F-444B-9321-EDC0812D8D8E}"/>
                  </a:ext>
                </a:extLst>
              </p:cNvPr>
              <p:cNvSpPr>
                <a:spLocks noChangeArrowheads="1"/>
              </p:cNvSpPr>
              <p:nvPr/>
            </p:nvSpPr>
            <p:spPr bwMode="auto">
              <a:xfrm>
                <a:off x="4211" y="429"/>
                <a:ext cx="1041"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95" name="Freeform 58">
                <a:extLst>
                  <a:ext uri="{FF2B5EF4-FFF2-40B4-BE49-F238E27FC236}">
                    <a16:creationId xmlns:a16="http://schemas.microsoft.com/office/drawing/2014/main" id="{1F9330A9-C80A-E34C-9993-F9F6EFA2E932}"/>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96" name="Freeform 59">
                <a:extLst>
                  <a:ext uri="{FF2B5EF4-FFF2-40B4-BE49-F238E27FC236}">
                    <a16:creationId xmlns:a16="http://schemas.microsoft.com/office/drawing/2014/main" id="{EED46AB6-5210-284B-BD15-CC7F3CC066F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97" name="Rectangle 60">
                <a:extLst>
                  <a:ext uri="{FF2B5EF4-FFF2-40B4-BE49-F238E27FC236}">
                    <a16:creationId xmlns:a16="http://schemas.microsoft.com/office/drawing/2014/main" id="{FCD372CD-8E16-EB40-BCB5-6518B2E541EE}"/>
                  </a:ext>
                </a:extLst>
              </p:cNvPr>
              <p:cNvSpPr>
                <a:spLocks noChangeArrowheads="1"/>
              </p:cNvSpPr>
              <p:nvPr/>
            </p:nvSpPr>
            <p:spPr bwMode="auto">
              <a:xfrm>
                <a:off x="4211" y="694"/>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nvGrpSpPr>
              <p:cNvPr id="98" name="Group 61">
                <a:extLst>
                  <a:ext uri="{FF2B5EF4-FFF2-40B4-BE49-F238E27FC236}">
                    <a16:creationId xmlns:a16="http://schemas.microsoft.com/office/drawing/2014/main" id="{A9F56FC0-6211-5447-8838-1C3E5659D8CC}"/>
                  </a:ext>
                </a:extLst>
              </p:cNvPr>
              <p:cNvGrpSpPr>
                <a:grpSpLocks/>
              </p:cNvGrpSpPr>
              <p:nvPr/>
            </p:nvGrpSpPr>
            <p:grpSpPr bwMode="auto">
              <a:xfrm>
                <a:off x="4749" y="668"/>
                <a:ext cx="581" cy="145"/>
                <a:chOff x="614" y="2568"/>
                <a:chExt cx="725" cy="139"/>
              </a:xfrm>
            </p:grpSpPr>
            <p:sp>
              <p:nvSpPr>
                <p:cNvPr id="141" name="AutoShape 62">
                  <a:extLst>
                    <a:ext uri="{FF2B5EF4-FFF2-40B4-BE49-F238E27FC236}">
                      <a16:creationId xmlns:a16="http://schemas.microsoft.com/office/drawing/2014/main" id="{B2006563-73E3-C341-BE69-A2D714EE0E00}"/>
                    </a:ext>
                  </a:extLst>
                </p:cNvPr>
                <p:cNvSpPr>
                  <a:spLocks noChangeArrowheads="1"/>
                </p:cNvSpPr>
                <p:nvPr/>
              </p:nvSpPr>
              <p:spPr bwMode="auto">
                <a:xfrm>
                  <a:off x="611" y="2571"/>
                  <a:ext cx="731"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42" name="AutoShape 63">
                  <a:extLst>
                    <a:ext uri="{FF2B5EF4-FFF2-40B4-BE49-F238E27FC236}">
                      <a16:creationId xmlns:a16="http://schemas.microsoft.com/office/drawing/2014/main" id="{452EDF48-634C-DC4E-976C-1E4013FE6563}"/>
                    </a:ext>
                  </a:extLst>
                </p:cNvPr>
                <p:cNvSpPr>
                  <a:spLocks noChangeArrowheads="1"/>
                </p:cNvSpPr>
                <p:nvPr/>
              </p:nvSpPr>
              <p:spPr bwMode="auto">
                <a:xfrm>
                  <a:off x="623" y="2586"/>
                  <a:ext cx="706"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sp>
            <p:nvSpPr>
              <p:cNvPr id="99" name="Rectangle 64">
                <a:extLst>
                  <a:ext uri="{FF2B5EF4-FFF2-40B4-BE49-F238E27FC236}">
                    <a16:creationId xmlns:a16="http://schemas.microsoft.com/office/drawing/2014/main" id="{517F2B13-C563-4E43-B2A5-C5BD2544BCE8}"/>
                  </a:ext>
                </a:extLst>
              </p:cNvPr>
              <p:cNvSpPr>
                <a:spLocks noChangeArrowheads="1"/>
              </p:cNvSpPr>
              <p:nvPr/>
            </p:nvSpPr>
            <p:spPr bwMode="auto">
              <a:xfrm>
                <a:off x="4221" y="1020"/>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nvGrpSpPr>
              <p:cNvPr id="100" name="Group 65">
                <a:extLst>
                  <a:ext uri="{FF2B5EF4-FFF2-40B4-BE49-F238E27FC236}">
                    <a16:creationId xmlns:a16="http://schemas.microsoft.com/office/drawing/2014/main" id="{4ED80E09-23D9-1444-A08C-74DBBD9F351B}"/>
                  </a:ext>
                </a:extLst>
              </p:cNvPr>
              <p:cNvGrpSpPr>
                <a:grpSpLocks/>
              </p:cNvGrpSpPr>
              <p:nvPr/>
            </p:nvGrpSpPr>
            <p:grpSpPr bwMode="auto">
              <a:xfrm>
                <a:off x="4747" y="994"/>
                <a:ext cx="581" cy="134"/>
                <a:chOff x="614" y="2568"/>
                <a:chExt cx="725" cy="139"/>
              </a:xfrm>
            </p:grpSpPr>
            <p:sp>
              <p:nvSpPr>
                <p:cNvPr id="139" name="AutoShape 66">
                  <a:extLst>
                    <a:ext uri="{FF2B5EF4-FFF2-40B4-BE49-F238E27FC236}">
                      <a16:creationId xmlns:a16="http://schemas.microsoft.com/office/drawing/2014/main" id="{BD5E8DEF-A6A7-524F-A3E8-38105351EF54}"/>
                    </a:ext>
                  </a:extLst>
                </p:cNvPr>
                <p:cNvSpPr>
                  <a:spLocks noChangeArrowheads="1"/>
                </p:cNvSpPr>
                <p:nvPr/>
              </p:nvSpPr>
              <p:spPr bwMode="auto">
                <a:xfrm>
                  <a:off x="613" y="2572"/>
                  <a:ext cx="731" cy="13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40" name="AutoShape 67">
                  <a:extLst>
                    <a:ext uri="{FF2B5EF4-FFF2-40B4-BE49-F238E27FC236}">
                      <a16:creationId xmlns:a16="http://schemas.microsoft.com/office/drawing/2014/main" id="{83CE605A-8B9B-FF4A-ADD9-77EFF07CEC97}"/>
                    </a:ext>
                  </a:extLst>
                </p:cNvPr>
                <p:cNvSpPr>
                  <a:spLocks noChangeArrowheads="1"/>
                </p:cNvSpPr>
                <p:nvPr/>
              </p:nvSpPr>
              <p:spPr bwMode="auto">
                <a:xfrm>
                  <a:off x="626" y="2588"/>
                  <a:ext cx="706"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sp>
            <p:nvSpPr>
              <p:cNvPr id="101" name="Rectangle 68">
                <a:extLst>
                  <a:ext uri="{FF2B5EF4-FFF2-40B4-BE49-F238E27FC236}">
                    <a16:creationId xmlns:a16="http://schemas.microsoft.com/office/drawing/2014/main" id="{13298108-AEB2-9C4B-9F8E-E0273C39A75B}"/>
                  </a:ext>
                </a:extLst>
              </p:cNvPr>
              <p:cNvSpPr>
                <a:spLocks noChangeArrowheads="1"/>
              </p:cNvSpPr>
              <p:nvPr/>
            </p:nvSpPr>
            <p:spPr bwMode="auto">
              <a:xfrm>
                <a:off x="4221" y="1362"/>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02" name="Rectangle 69">
                <a:extLst>
                  <a:ext uri="{FF2B5EF4-FFF2-40B4-BE49-F238E27FC236}">
                    <a16:creationId xmlns:a16="http://schemas.microsoft.com/office/drawing/2014/main" id="{998350A7-0615-C644-9F45-39D62BDB9867}"/>
                  </a:ext>
                </a:extLst>
              </p:cNvPr>
              <p:cNvSpPr>
                <a:spLocks noChangeArrowheads="1"/>
              </p:cNvSpPr>
              <p:nvPr/>
            </p:nvSpPr>
            <p:spPr bwMode="auto">
              <a:xfrm>
                <a:off x="4231" y="1657"/>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nvGrpSpPr>
              <p:cNvPr id="103" name="Group 70">
                <a:extLst>
                  <a:ext uri="{FF2B5EF4-FFF2-40B4-BE49-F238E27FC236}">
                    <a16:creationId xmlns:a16="http://schemas.microsoft.com/office/drawing/2014/main" id="{B66F256F-0190-C34D-B1CF-5EC3FBA6E08D}"/>
                  </a:ext>
                </a:extLst>
              </p:cNvPr>
              <p:cNvGrpSpPr>
                <a:grpSpLocks/>
              </p:cNvGrpSpPr>
              <p:nvPr/>
            </p:nvGrpSpPr>
            <p:grpSpPr bwMode="auto">
              <a:xfrm>
                <a:off x="4735" y="1627"/>
                <a:ext cx="582" cy="151"/>
                <a:chOff x="614" y="2568"/>
                <a:chExt cx="725" cy="139"/>
              </a:xfrm>
            </p:grpSpPr>
            <p:sp>
              <p:nvSpPr>
                <p:cNvPr id="119" name="AutoShape 71">
                  <a:extLst>
                    <a:ext uri="{FF2B5EF4-FFF2-40B4-BE49-F238E27FC236}">
                      <a16:creationId xmlns:a16="http://schemas.microsoft.com/office/drawing/2014/main" id="{B44DED58-257C-B64B-BAD6-1093812EF734}"/>
                    </a:ext>
                  </a:extLst>
                </p:cNvPr>
                <p:cNvSpPr>
                  <a:spLocks noChangeArrowheads="1"/>
                </p:cNvSpPr>
                <p:nvPr/>
              </p:nvSpPr>
              <p:spPr bwMode="auto">
                <a:xfrm>
                  <a:off x="616" y="2568"/>
                  <a:ext cx="718"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20" name="AutoShape 72">
                  <a:extLst>
                    <a:ext uri="{FF2B5EF4-FFF2-40B4-BE49-F238E27FC236}">
                      <a16:creationId xmlns:a16="http://schemas.microsoft.com/office/drawing/2014/main" id="{17264758-5A11-0143-AA34-8D5FF585E9F0}"/>
                    </a:ext>
                  </a:extLst>
                </p:cNvPr>
                <p:cNvSpPr>
                  <a:spLocks noChangeArrowheads="1"/>
                </p:cNvSpPr>
                <p:nvPr/>
              </p:nvSpPr>
              <p:spPr bwMode="auto">
                <a:xfrm>
                  <a:off x="628" y="2582"/>
                  <a:ext cx="692" cy="11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sp>
            <p:nvSpPr>
              <p:cNvPr id="104" name="Freeform 73">
                <a:extLst>
                  <a:ext uri="{FF2B5EF4-FFF2-40B4-BE49-F238E27FC236}">
                    <a16:creationId xmlns:a16="http://schemas.microsoft.com/office/drawing/2014/main" id="{F9396AFF-50A0-E543-85ED-A1775DCAB5B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105" name="Group 74">
                <a:extLst>
                  <a:ext uri="{FF2B5EF4-FFF2-40B4-BE49-F238E27FC236}">
                    <a16:creationId xmlns:a16="http://schemas.microsoft.com/office/drawing/2014/main" id="{EFAA059B-DB96-6A46-B4E6-8F3321F53126}"/>
                  </a:ext>
                </a:extLst>
              </p:cNvPr>
              <p:cNvGrpSpPr>
                <a:grpSpLocks/>
              </p:cNvGrpSpPr>
              <p:nvPr/>
            </p:nvGrpSpPr>
            <p:grpSpPr bwMode="auto">
              <a:xfrm>
                <a:off x="4739" y="1327"/>
                <a:ext cx="582" cy="139"/>
                <a:chOff x="614" y="2568"/>
                <a:chExt cx="725" cy="139"/>
              </a:xfrm>
            </p:grpSpPr>
            <p:sp>
              <p:nvSpPr>
                <p:cNvPr id="117" name="AutoShape 75">
                  <a:extLst>
                    <a:ext uri="{FF2B5EF4-FFF2-40B4-BE49-F238E27FC236}">
                      <a16:creationId xmlns:a16="http://schemas.microsoft.com/office/drawing/2014/main" id="{83348DAB-4511-F04F-BD32-D337DF959B21}"/>
                    </a:ext>
                  </a:extLst>
                </p:cNvPr>
                <p:cNvSpPr>
                  <a:spLocks noChangeArrowheads="1"/>
                </p:cNvSpPr>
                <p:nvPr/>
              </p:nvSpPr>
              <p:spPr bwMode="auto">
                <a:xfrm>
                  <a:off x="611" y="2565"/>
                  <a:ext cx="730" cy="14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18" name="AutoShape 76">
                  <a:extLst>
                    <a:ext uri="{FF2B5EF4-FFF2-40B4-BE49-F238E27FC236}">
                      <a16:creationId xmlns:a16="http://schemas.microsoft.com/office/drawing/2014/main" id="{A1C8B31D-3D51-2648-9688-2AEA89487C8D}"/>
                    </a:ext>
                  </a:extLst>
                </p:cNvPr>
                <p:cNvSpPr>
                  <a:spLocks noChangeArrowheads="1"/>
                </p:cNvSpPr>
                <p:nvPr/>
              </p:nvSpPr>
              <p:spPr bwMode="auto">
                <a:xfrm>
                  <a:off x="623" y="2580"/>
                  <a:ext cx="705"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sp>
            <p:nvSpPr>
              <p:cNvPr id="106" name="Rectangle 77">
                <a:extLst>
                  <a:ext uri="{FF2B5EF4-FFF2-40B4-BE49-F238E27FC236}">
                    <a16:creationId xmlns:a16="http://schemas.microsoft.com/office/drawing/2014/main" id="{7EF69E7C-0C67-7148-8FE3-54101303E382}"/>
                  </a:ext>
                </a:extLst>
              </p:cNvPr>
              <p:cNvSpPr>
                <a:spLocks noChangeArrowheads="1"/>
              </p:cNvSpPr>
              <p:nvPr/>
            </p:nvSpPr>
            <p:spPr bwMode="auto">
              <a:xfrm>
                <a:off x="5252"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07" name="Freeform 78">
                <a:extLst>
                  <a:ext uri="{FF2B5EF4-FFF2-40B4-BE49-F238E27FC236}">
                    <a16:creationId xmlns:a16="http://schemas.microsoft.com/office/drawing/2014/main" id="{FBDFC7A2-78F6-6B42-8CB8-7F23EE4E35C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08" name="Freeform 79">
                <a:extLst>
                  <a:ext uri="{FF2B5EF4-FFF2-40B4-BE49-F238E27FC236}">
                    <a16:creationId xmlns:a16="http://schemas.microsoft.com/office/drawing/2014/main" id="{CC939040-7BF3-9046-BF6A-0458E0E2ED5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09" name="Oval 80">
                <a:extLst>
                  <a:ext uri="{FF2B5EF4-FFF2-40B4-BE49-F238E27FC236}">
                    <a16:creationId xmlns:a16="http://schemas.microsoft.com/office/drawing/2014/main" id="{D3889CB4-554F-C549-9233-410F2A7029F0}"/>
                  </a:ext>
                </a:extLst>
              </p:cNvPr>
              <p:cNvSpPr>
                <a:spLocks noChangeArrowheads="1"/>
              </p:cNvSpPr>
              <p:nvPr/>
            </p:nvSpPr>
            <p:spPr bwMode="auto">
              <a:xfrm>
                <a:off x="5514" y="2613"/>
                <a:ext cx="51" cy="91"/>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10" name="Freeform 81">
                <a:extLst>
                  <a:ext uri="{FF2B5EF4-FFF2-40B4-BE49-F238E27FC236}">
                    <a16:creationId xmlns:a16="http://schemas.microsoft.com/office/drawing/2014/main" id="{01CB4D71-6B24-D14B-8E88-E20AA937EAC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11" name="AutoShape 82">
                <a:extLst>
                  <a:ext uri="{FF2B5EF4-FFF2-40B4-BE49-F238E27FC236}">
                    <a16:creationId xmlns:a16="http://schemas.microsoft.com/office/drawing/2014/main" id="{765BBEDF-3C6B-1040-8B52-503C49ECEE41}"/>
                  </a:ext>
                </a:extLst>
              </p:cNvPr>
              <p:cNvSpPr>
                <a:spLocks noChangeArrowheads="1"/>
              </p:cNvSpPr>
              <p:nvPr/>
            </p:nvSpPr>
            <p:spPr bwMode="auto">
              <a:xfrm>
                <a:off x="4140" y="2681"/>
                <a:ext cx="1203"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12" name="AutoShape 83">
                <a:extLst>
                  <a:ext uri="{FF2B5EF4-FFF2-40B4-BE49-F238E27FC236}">
                    <a16:creationId xmlns:a16="http://schemas.microsoft.com/office/drawing/2014/main" id="{6FAE78A0-65F7-5C4E-B7EA-70A785714C79}"/>
                  </a:ext>
                </a:extLst>
              </p:cNvPr>
              <p:cNvSpPr>
                <a:spLocks noChangeArrowheads="1"/>
              </p:cNvSpPr>
              <p:nvPr/>
            </p:nvSpPr>
            <p:spPr bwMode="auto">
              <a:xfrm>
                <a:off x="4211" y="2711"/>
                <a:ext cx="106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13" name="Oval 84">
                <a:extLst>
                  <a:ext uri="{FF2B5EF4-FFF2-40B4-BE49-F238E27FC236}">
                    <a16:creationId xmlns:a16="http://schemas.microsoft.com/office/drawing/2014/main" id="{AABAB6CF-26FB-E547-93D6-6BFF67172415}"/>
                  </a:ext>
                </a:extLst>
              </p:cNvPr>
              <p:cNvSpPr>
                <a:spLocks noChangeArrowheads="1"/>
              </p:cNvSpPr>
              <p:nvPr/>
            </p:nvSpPr>
            <p:spPr bwMode="auto">
              <a:xfrm>
                <a:off x="4312" y="2385"/>
                <a:ext cx="15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14" name="Oval 85">
                <a:extLst>
                  <a:ext uri="{FF2B5EF4-FFF2-40B4-BE49-F238E27FC236}">
                    <a16:creationId xmlns:a16="http://schemas.microsoft.com/office/drawing/2014/main" id="{EE66FB07-9865-0B46-8669-F1B01050BFB9}"/>
                  </a:ext>
                </a:extLst>
              </p:cNvPr>
              <p:cNvSpPr>
                <a:spLocks noChangeArrowheads="1"/>
              </p:cNvSpPr>
              <p:nvPr/>
            </p:nvSpPr>
            <p:spPr bwMode="auto">
              <a:xfrm>
                <a:off x="4484" y="2385"/>
                <a:ext cx="162"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srgbClr val="FF0000"/>
                  </a:solidFill>
                  <a:latin typeface="Arial" charset="0"/>
                  <a:ea typeface="ＭＳ Ｐゴシック" charset="0"/>
                  <a:cs typeface="Arial" charset="0"/>
                </a:endParaRPr>
              </a:p>
            </p:txBody>
          </p:sp>
          <p:sp>
            <p:nvSpPr>
              <p:cNvPr id="115" name="Oval 86">
                <a:extLst>
                  <a:ext uri="{FF2B5EF4-FFF2-40B4-BE49-F238E27FC236}">
                    <a16:creationId xmlns:a16="http://schemas.microsoft.com/office/drawing/2014/main" id="{5A789240-A8CA-A84D-A9E3-BD6D3717368B}"/>
                  </a:ext>
                </a:extLst>
              </p:cNvPr>
              <p:cNvSpPr>
                <a:spLocks noChangeArrowheads="1"/>
              </p:cNvSpPr>
              <p:nvPr/>
            </p:nvSpPr>
            <p:spPr bwMode="auto">
              <a:xfrm>
                <a:off x="4666" y="2378"/>
                <a:ext cx="15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16" name="Rectangle 87">
                <a:extLst>
                  <a:ext uri="{FF2B5EF4-FFF2-40B4-BE49-F238E27FC236}">
                    <a16:creationId xmlns:a16="http://schemas.microsoft.com/office/drawing/2014/main" id="{A762B790-F441-E240-934E-A9664B2F5399}"/>
                  </a:ext>
                </a:extLst>
              </p:cNvPr>
              <p:cNvSpPr>
                <a:spLocks noChangeArrowheads="1"/>
              </p:cNvSpPr>
              <p:nvPr/>
            </p:nvSpPr>
            <p:spPr bwMode="auto">
              <a:xfrm>
                <a:off x="5060" y="1832"/>
                <a:ext cx="91" cy="766"/>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grpSp>
          <p:nvGrpSpPr>
            <p:cNvPr id="143" name="Group 88">
              <a:extLst>
                <a:ext uri="{FF2B5EF4-FFF2-40B4-BE49-F238E27FC236}">
                  <a16:creationId xmlns:a16="http://schemas.microsoft.com/office/drawing/2014/main" id="{17DC5732-628F-6741-852D-2CBD1EC0FDEB}"/>
                </a:ext>
              </a:extLst>
            </p:cNvPr>
            <p:cNvGrpSpPr>
              <a:grpSpLocks/>
            </p:cNvGrpSpPr>
            <p:nvPr/>
          </p:nvGrpSpPr>
          <p:grpSpPr bwMode="auto">
            <a:xfrm>
              <a:off x="7659865" y="3576238"/>
              <a:ext cx="223838" cy="501650"/>
              <a:chOff x="4140" y="429"/>
              <a:chExt cx="1425" cy="2396"/>
            </a:xfrm>
          </p:grpSpPr>
          <p:sp>
            <p:nvSpPr>
              <p:cNvPr id="144" name="Freeform 89">
                <a:extLst>
                  <a:ext uri="{FF2B5EF4-FFF2-40B4-BE49-F238E27FC236}">
                    <a16:creationId xmlns:a16="http://schemas.microsoft.com/office/drawing/2014/main" id="{66258626-CF43-4144-AFB5-A001FE5BE71D}"/>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5" name="Rectangle 90">
                <a:extLst>
                  <a:ext uri="{FF2B5EF4-FFF2-40B4-BE49-F238E27FC236}">
                    <a16:creationId xmlns:a16="http://schemas.microsoft.com/office/drawing/2014/main" id="{75E92CB8-71C3-E048-84D7-F08068A4723B}"/>
                  </a:ext>
                </a:extLst>
              </p:cNvPr>
              <p:cNvSpPr>
                <a:spLocks noChangeArrowheads="1"/>
              </p:cNvSpPr>
              <p:nvPr/>
            </p:nvSpPr>
            <p:spPr bwMode="auto">
              <a:xfrm>
                <a:off x="4211" y="429"/>
                <a:ext cx="1041"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46" name="Freeform 91">
                <a:extLst>
                  <a:ext uri="{FF2B5EF4-FFF2-40B4-BE49-F238E27FC236}">
                    <a16:creationId xmlns:a16="http://schemas.microsoft.com/office/drawing/2014/main" id="{71C22EB9-D8A4-F04F-A304-D772EEAB70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7" name="Freeform 92">
                <a:extLst>
                  <a:ext uri="{FF2B5EF4-FFF2-40B4-BE49-F238E27FC236}">
                    <a16:creationId xmlns:a16="http://schemas.microsoft.com/office/drawing/2014/main" id="{A649EF14-8235-8B4A-8B8B-3AC2B2B64C7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8" name="Rectangle 93">
                <a:extLst>
                  <a:ext uri="{FF2B5EF4-FFF2-40B4-BE49-F238E27FC236}">
                    <a16:creationId xmlns:a16="http://schemas.microsoft.com/office/drawing/2014/main" id="{2C3B9489-DBCD-1B41-A1E0-9939F842AA3D}"/>
                  </a:ext>
                </a:extLst>
              </p:cNvPr>
              <p:cNvSpPr>
                <a:spLocks noChangeArrowheads="1"/>
              </p:cNvSpPr>
              <p:nvPr/>
            </p:nvSpPr>
            <p:spPr bwMode="auto">
              <a:xfrm>
                <a:off x="4211" y="694"/>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nvGrpSpPr>
              <p:cNvPr id="149" name="Group 94">
                <a:extLst>
                  <a:ext uri="{FF2B5EF4-FFF2-40B4-BE49-F238E27FC236}">
                    <a16:creationId xmlns:a16="http://schemas.microsoft.com/office/drawing/2014/main" id="{5EA53608-D5A4-FB4B-8294-6D9D65EFF00C}"/>
                  </a:ext>
                </a:extLst>
              </p:cNvPr>
              <p:cNvGrpSpPr>
                <a:grpSpLocks/>
              </p:cNvGrpSpPr>
              <p:nvPr/>
            </p:nvGrpSpPr>
            <p:grpSpPr bwMode="auto">
              <a:xfrm>
                <a:off x="4749" y="668"/>
                <a:ext cx="581" cy="145"/>
                <a:chOff x="614" y="2568"/>
                <a:chExt cx="725" cy="139"/>
              </a:xfrm>
            </p:grpSpPr>
            <p:sp>
              <p:nvSpPr>
                <p:cNvPr id="174" name="AutoShape 95">
                  <a:extLst>
                    <a:ext uri="{FF2B5EF4-FFF2-40B4-BE49-F238E27FC236}">
                      <a16:creationId xmlns:a16="http://schemas.microsoft.com/office/drawing/2014/main" id="{AED3F1D5-BB8C-254E-83E5-6EAB6528B99F}"/>
                    </a:ext>
                  </a:extLst>
                </p:cNvPr>
                <p:cNvSpPr>
                  <a:spLocks noChangeArrowheads="1"/>
                </p:cNvSpPr>
                <p:nvPr/>
              </p:nvSpPr>
              <p:spPr bwMode="auto">
                <a:xfrm>
                  <a:off x="611" y="2571"/>
                  <a:ext cx="731"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75" name="AutoShape 96">
                  <a:extLst>
                    <a:ext uri="{FF2B5EF4-FFF2-40B4-BE49-F238E27FC236}">
                      <a16:creationId xmlns:a16="http://schemas.microsoft.com/office/drawing/2014/main" id="{942D2E9F-6E36-084E-9FBC-AD82CA243A50}"/>
                    </a:ext>
                  </a:extLst>
                </p:cNvPr>
                <p:cNvSpPr>
                  <a:spLocks noChangeArrowheads="1"/>
                </p:cNvSpPr>
                <p:nvPr/>
              </p:nvSpPr>
              <p:spPr bwMode="auto">
                <a:xfrm>
                  <a:off x="623" y="2586"/>
                  <a:ext cx="706"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sp>
            <p:nvSpPr>
              <p:cNvPr id="150" name="Rectangle 97">
                <a:extLst>
                  <a:ext uri="{FF2B5EF4-FFF2-40B4-BE49-F238E27FC236}">
                    <a16:creationId xmlns:a16="http://schemas.microsoft.com/office/drawing/2014/main" id="{E8FF0B53-6745-A84C-89E0-B850FA20B8A6}"/>
                  </a:ext>
                </a:extLst>
              </p:cNvPr>
              <p:cNvSpPr>
                <a:spLocks noChangeArrowheads="1"/>
              </p:cNvSpPr>
              <p:nvPr/>
            </p:nvSpPr>
            <p:spPr bwMode="auto">
              <a:xfrm>
                <a:off x="4221" y="1020"/>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nvGrpSpPr>
              <p:cNvPr id="151" name="Group 98">
                <a:extLst>
                  <a:ext uri="{FF2B5EF4-FFF2-40B4-BE49-F238E27FC236}">
                    <a16:creationId xmlns:a16="http://schemas.microsoft.com/office/drawing/2014/main" id="{3E1DFAB8-85DC-9B47-A3FC-17FA76E4DB95}"/>
                  </a:ext>
                </a:extLst>
              </p:cNvPr>
              <p:cNvGrpSpPr>
                <a:grpSpLocks/>
              </p:cNvGrpSpPr>
              <p:nvPr/>
            </p:nvGrpSpPr>
            <p:grpSpPr bwMode="auto">
              <a:xfrm>
                <a:off x="4747" y="994"/>
                <a:ext cx="581" cy="134"/>
                <a:chOff x="614" y="2568"/>
                <a:chExt cx="725" cy="139"/>
              </a:xfrm>
            </p:grpSpPr>
            <p:sp>
              <p:nvSpPr>
                <p:cNvPr id="172" name="AutoShape 99">
                  <a:extLst>
                    <a:ext uri="{FF2B5EF4-FFF2-40B4-BE49-F238E27FC236}">
                      <a16:creationId xmlns:a16="http://schemas.microsoft.com/office/drawing/2014/main" id="{9B63DA8A-7611-6449-A57A-B40172E56E2A}"/>
                    </a:ext>
                  </a:extLst>
                </p:cNvPr>
                <p:cNvSpPr>
                  <a:spLocks noChangeArrowheads="1"/>
                </p:cNvSpPr>
                <p:nvPr/>
              </p:nvSpPr>
              <p:spPr bwMode="auto">
                <a:xfrm>
                  <a:off x="613" y="2572"/>
                  <a:ext cx="731" cy="13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73" name="AutoShape 100">
                  <a:extLst>
                    <a:ext uri="{FF2B5EF4-FFF2-40B4-BE49-F238E27FC236}">
                      <a16:creationId xmlns:a16="http://schemas.microsoft.com/office/drawing/2014/main" id="{AB3060D8-D09B-3F4B-AEE4-AEE61862CA56}"/>
                    </a:ext>
                  </a:extLst>
                </p:cNvPr>
                <p:cNvSpPr>
                  <a:spLocks noChangeArrowheads="1"/>
                </p:cNvSpPr>
                <p:nvPr/>
              </p:nvSpPr>
              <p:spPr bwMode="auto">
                <a:xfrm>
                  <a:off x="626" y="2588"/>
                  <a:ext cx="706"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sp>
            <p:nvSpPr>
              <p:cNvPr id="152" name="Rectangle 101">
                <a:extLst>
                  <a:ext uri="{FF2B5EF4-FFF2-40B4-BE49-F238E27FC236}">
                    <a16:creationId xmlns:a16="http://schemas.microsoft.com/office/drawing/2014/main" id="{3C0F1872-3B7D-4A41-8B0C-E81E4AC44AD7}"/>
                  </a:ext>
                </a:extLst>
              </p:cNvPr>
              <p:cNvSpPr>
                <a:spLocks noChangeArrowheads="1"/>
              </p:cNvSpPr>
              <p:nvPr/>
            </p:nvSpPr>
            <p:spPr bwMode="auto">
              <a:xfrm>
                <a:off x="4221" y="1362"/>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53" name="Rectangle 102">
                <a:extLst>
                  <a:ext uri="{FF2B5EF4-FFF2-40B4-BE49-F238E27FC236}">
                    <a16:creationId xmlns:a16="http://schemas.microsoft.com/office/drawing/2014/main" id="{660918F1-C396-1647-B4E6-234CB13D9502}"/>
                  </a:ext>
                </a:extLst>
              </p:cNvPr>
              <p:cNvSpPr>
                <a:spLocks noChangeArrowheads="1"/>
              </p:cNvSpPr>
              <p:nvPr/>
            </p:nvSpPr>
            <p:spPr bwMode="auto">
              <a:xfrm>
                <a:off x="4231" y="1657"/>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nvGrpSpPr>
              <p:cNvPr id="154" name="Group 103">
                <a:extLst>
                  <a:ext uri="{FF2B5EF4-FFF2-40B4-BE49-F238E27FC236}">
                    <a16:creationId xmlns:a16="http://schemas.microsoft.com/office/drawing/2014/main" id="{A148F5A9-0478-8F4F-89E7-8C39446345C2}"/>
                  </a:ext>
                </a:extLst>
              </p:cNvPr>
              <p:cNvGrpSpPr>
                <a:grpSpLocks/>
              </p:cNvGrpSpPr>
              <p:nvPr/>
            </p:nvGrpSpPr>
            <p:grpSpPr bwMode="auto">
              <a:xfrm>
                <a:off x="4735" y="1627"/>
                <a:ext cx="582" cy="151"/>
                <a:chOff x="614" y="2568"/>
                <a:chExt cx="725" cy="139"/>
              </a:xfrm>
            </p:grpSpPr>
            <p:sp>
              <p:nvSpPr>
                <p:cNvPr id="170" name="AutoShape 104">
                  <a:extLst>
                    <a:ext uri="{FF2B5EF4-FFF2-40B4-BE49-F238E27FC236}">
                      <a16:creationId xmlns:a16="http://schemas.microsoft.com/office/drawing/2014/main" id="{80F9D10C-B532-B14A-B8EA-13E7BE80A42A}"/>
                    </a:ext>
                  </a:extLst>
                </p:cNvPr>
                <p:cNvSpPr>
                  <a:spLocks noChangeArrowheads="1"/>
                </p:cNvSpPr>
                <p:nvPr/>
              </p:nvSpPr>
              <p:spPr bwMode="auto">
                <a:xfrm>
                  <a:off x="616" y="2568"/>
                  <a:ext cx="718"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71" name="AutoShape 105">
                  <a:extLst>
                    <a:ext uri="{FF2B5EF4-FFF2-40B4-BE49-F238E27FC236}">
                      <a16:creationId xmlns:a16="http://schemas.microsoft.com/office/drawing/2014/main" id="{88383691-0F9A-5544-9926-129A049B8A9C}"/>
                    </a:ext>
                  </a:extLst>
                </p:cNvPr>
                <p:cNvSpPr>
                  <a:spLocks noChangeArrowheads="1"/>
                </p:cNvSpPr>
                <p:nvPr/>
              </p:nvSpPr>
              <p:spPr bwMode="auto">
                <a:xfrm>
                  <a:off x="628" y="2582"/>
                  <a:ext cx="692" cy="11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sp>
            <p:nvSpPr>
              <p:cNvPr id="155" name="Freeform 106">
                <a:extLst>
                  <a:ext uri="{FF2B5EF4-FFF2-40B4-BE49-F238E27FC236}">
                    <a16:creationId xmlns:a16="http://schemas.microsoft.com/office/drawing/2014/main" id="{5F307D13-C702-C846-AAC3-1F59F5B9637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156" name="Group 107">
                <a:extLst>
                  <a:ext uri="{FF2B5EF4-FFF2-40B4-BE49-F238E27FC236}">
                    <a16:creationId xmlns:a16="http://schemas.microsoft.com/office/drawing/2014/main" id="{26FB1383-43C2-B14E-B7B3-0D43473DA491}"/>
                  </a:ext>
                </a:extLst>
              </p:cNvPr>
              <p:cNvGrpSpPr>
                <a:grpSpLocks/>
              </p:cNvGrpSpPr>
              <p:nvPr/>
            </p:nvGrpSpPr>
            <p:grpSpPr bwMode="auto">
              <a:xfrm>
                <a:off x="4739" y="1327"/>
                <a:ext cx="582" cy="139"/>
                <a:chOff x="614" y="2568"/>
                <a:chExt cx="725" cy="139"/>
              </a:xfrm>
            </p:grpSpPr>
            <p:sp>
              <p:nvSpPr>
                <p:cNvPr id="168" name="AutoShape 108">
                  <a:extLst>
                    <a:ext uri="{FF2B5EF4-FFF2-40B4-BE49-F238E27FC236}">
                      <a16:creationId xmlns:a16="http://schemas.microsoft.com/office/drawing/2014/main" id="{D061EDA9-2C53-BE45-915E-589037D84565}"/>
                    </a:ext>
                  </a:extLst>
                </p:cNvPr>
                <p:cNvSpPr>
                  <a:spLocks noChangeArrowheads="1"/>
                </p:cNvSpPr>
                <p:nvPr/>
              </p:nvSpPr>
              <p:spPr bwMode="auto">
                <a:xfrm>
                  <a:off x="611" y="2565"/>
                  <a:ext cx="730" cy="14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69" name="AutoShape 109">
                  <a:extLst>
                    <a:ext uri="{FF2B5EF4-FFF2-40B4-BE49-F238E27FC236}">
                      <a16:creationId xmlns:a16="http://schemas.microsoft.com/office/drawing/2014/main" id="{998AB447-94FE-834C-84AB-CB37AB3038DB}"/>
                    </a:ext>
                  </a:extLst>
                </p:cNvPr>
                <p:cNvSpPr>
                  <a:spLocks noChangeArrowheads="1"/>
                </p:cNvSpPr>
                <p:nvPr/>
              </p:nvSpPr>
              <p:spPr bwMode="auto">
                <a:xfrm>
                  <a:off x="623" y="2580"/>
                  <a:ext cx="705"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sp>
            <p:nvSpPr>
              <p:cNvPr id="157" name="Rectangle 110">
                <a:extLst>
                  <a:ext uri="{FF2B5EF4-FFF2-40B4-BE49-F238E27FC236}">
                    <a16:creationId xmlns:a16="http://schemas.microsoft.com/office/drawing/2014/main" id="{7E161FDF-4931-A54D-9200-97C2E9F03CFB}"/>
                  </a:ext>
                </a:extLst>
              </p:cNvPr>
              <p:cNvSpPr>
                <a:spLocks noChangeArrowheads="1"/>
              </p:cNvSpPr>
              <p:nvPr/>
            </p:nvSpPr>
            <p:spPr bwMode="auto">
              <a:xfrm>
                <a:off x="5252"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58" name="Freeform 111">
                <a:extLst>
                  <a:ext uri="{FF2B5EF4-FFF2-40B4-BE49-F238E27FC236}">
                    <a16:creationId xmlns:a16="http://schemas.microsoft.com/office/drawing/2014/main" id="{6F205231-B042-214A-BAF1-BBBFAAE8657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59" name="Freeform 112">
                <a:extLst>
                  <a:ext uri="{FF2B5EF4-FFF2-40B4-BE49-F238E27FC236}">
                    <a16:creationId xmlns:a16="http://schemas.microsoft.com/office/drawing/2014/main" id="{2C9F0014-AAE6-1E42-B6A0-5FDBFB0943C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60" name="Oval 113">
                <a:extLst>
                  <a:ext uri="{FF2B5EF4-FFF2-40B4-BE49-F238E27FC236}">
                    <a16:creationId xmlns:a16="http://schemas.microsoft.com/office/drawing/2014/main" id="{8553CA72-700C-7E4C-96EA-C8E02AC51709}"/>
                  </a:ext>
                </a:extLst>
              </p:cNvPr>
              <p:cNvSpPr>
                <a:spLocks noChangeArrowheads="1"/>
              </p:cNvSpPr>
              <p:nvPr/>
            </p:nvSpPr>
            <p:spPr bwMode="auto">
              <a:xfrm>
                <a:off x="5514" y="2613"/>
                <a:ext cx="51" cy="91"/>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61" name="Freeform 114">
                <a:extLst>
                  <a:ext uri="{FF2B5EF4-FFF2-40B4-BE49-F238E27FC236}">
                    <a16:creationId xmlns:a16="http://schemas.microsoft.com/office/drawing/2014/main" id="{E1B0C7DC-C796-224B-95BB-EA9A64983E6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62" name="AutoShape 115">
                <a:extLst>
                  <a:ext uri="{FF2B5EF4-FFF2-40B4-BE49-F238E27FC236}">
                    <a16:creationId xmlns:a16="http://schemas.microsoft.com/office/drawing/2014/main" id="{38969B4B-14F8-4C4B-9F4D-1C9709448CC3}"/>
                  </a:ext>
                </a:extLst>
              </p:cNvPr>
              <p:cNvSpPr>
                <a:spLocks noChangeArrowheads="1"/>
              </p:cNvSpPr>
              <p:nvPr/>
            </p:nvSpPr>
            <p:spPr bwMode="auto">
              <a:xfrm>
                <a:off x="4140" y="2681"/>
                <a:ext cx="1203"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63" name="AutoShape 116">
                <a:extLst>
                  <a:ext uri="{FF2B5EF4-FFF2-40B4-BE49-F238E27FC236}">
                    <a16:creationId xmlns:a16="http://schemas.microsoft.com/office/drawing/2014/main" id="{20FB94C7-96EF-D64F-9AEA-E2F1422FE2D0}"/>
                  </a:ext>
                </a:extLst>
              </p:cNvPr>
              <p:cNvSpPr>
                <a:spLocks noChangeArrowheads="1"/>
              </p:cNvSpPr>
              <p:nvPr/>
            </p:nvSpPr>
            <p:spPr bwMode="auto">
              <a:xfrm>
                <a:off x="4211" y="2711"/>
                <a:ext cx="106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64" name="Oval 117">
                <a:extLst>
                  <a:ext uri="{FF2B5EF4-FFF2-40B4-BE49-F238E27FC236}">
                    <a16:creationId xmlns:a16="http://schemas.microsoft.com/office/drawing/2014/main" id="{307DF5A4-259A-DC44-9789-8EE924382397}"/>
                  </a:ext>
                </a:extLst>
              </p:cNvPr>
              <p:cNvSpPr>
                <a:spLocks noChangeArrowheads="1"/>
              </p:cNvSpPr>
              <p:nvPr/>
            </p:nvSpPr>
            <p:spPr bwMode="auto">
              <a:xfrm>
                <a:off x="4312" y="2385"/>
                <a:ext cx="15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65" name="Oval 118">
                <a:extLst>
                  <a:ext uri="{FF2B5EF4-FFF2-40B4-BE49-F238E27FC236}">
                    <a16:creationId xmlns:a16="http://schemas.microsoft.com/office/drawing/2014/main" id="{6D1DB86E-92BD-2544-B8B1-844EDAE5784B}"/>
                  </a:ext>
                </a:extLst>
              </p:cNvPr>
              <p:cNvSpPr>
                <a:spLocks noChangeArrowheads="1"/>
              </p:cNvSpPr>
              <p:nvPr/>
            </p:nvSpPr>
            <p:spPr bwMode="auto">
              <a:xfrm>
                <a:off x="4484" y="2385"/>
                <a:ext cx="162"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srgbClr val="FF0000"/>
                  </a:solidFill>
                  <a:latin typeface="Arial" charset="0"/>
                  <a:ea typeface="ＭＳ Ｐゴシック" charset="0"/>
                  <a:cs typeface="Arial" charset="0"/>
                </a:endParaRPr>
              </a:p>
            </p:txBody>
          </p:sp>
          <p:sp>
            <p:nvSpPr>
              <p:cNvPr id="166" name="Oval 119">
                <a:extLst>
                  <a:ext uri="{FF2B5EF4-FFF2-40B4-BE49-F238E27FC236}">
                    <a16:creationId xmlns:a16="http://schemas.microsoft.com/office/drawing/2014/main" id="{B13B6B0E-57D8-B54A-814C-263EB46D92DD}"/>
                  </a:ext>
                </a:extLst>
              </p:cNvPr>
              <p:cNvSpPr>
                <a:spLocks noChangeArrowheads="1"/>
              </p:cNvSpPr>
              <p:nvPr/>
            </p:nvSpPr>
            <p:spPr bwMode="auto">
              <a:xfrm>
                <a:off x="4666" y="2378"/>
                <a:ext cx="15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167" name="Rectangle 120">
                <a:extLst>
                  <a:ext uri="{FF2B5EF4-FFF2-40B4-BE49-F238E27FC236}">
                    <a16:creationId xmlns:a16="http://schemas.microsoft.com/office/drawing/2014/main" id="{270171A8-F5A4-F640-8B20-2A908A8BA70C}"/>
                  </a:ext>
                </a:extLst>
              </p:cNvPr>
              <p:cNvSpPr>
                <a:spLocks noChangeArrowheads="1"/>
              </p:cNvSpPr>
              <p:nvPr/>
            </p:nvSpPr>
            <p:spPr bwMode="auto">
              <a:xfrm>
                <a:off x="5060" y="1832"/>
                <a:ext cx="91" cy="766"/>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grpSp>
      </p:grpSp>
      <p:sp>
        <p:nvSpPr>
          <p:cNvPr id="6" name="Freeform 5">
            <a:extLst>
              <a:ext uri="{FF2B5EF4-FFF2-40B4-BE49-F238E27FC236}">
                <a16:creationId xmlns:a16="http://schemas.microsoft.com/office/drawing/2014/main" id="{E31BA10A-DEA2-4D4B-AB0D-89FB36E5C7B3}"/>
              </a:ext>
            </a:extLst>
          </p:cNvPr>
          <p:cNvSpPr/>
          <p:nvPr/>
        </p:nvSpPr>
        <p:spPr>
          <a:xfrm>
            <a:off x="4552122" y="3063737"/>
            <a:ext cx="2812774" cy="1868556"/>
          </a:xfrm>
          <a:custGeom>
            <a:avLst/>
            <a:gdLst>
              <a:gd name="connsiteX0" fmla="*/ 331304 w 3750365"/>
              <a:gd name="connsiteY0" fmla="*/ 0 h 2491408"/>
              <a:gd name="connsiteX1" fmla="*/ 0 w 3750365"/>
              <a:gd name="connsiteY1" fmla="*/ 861391 h 2491408"/>
              <a:gd name="connsiteX2" fmla="*/ 13252 w 3750365"/>
              <a:gd name="connsiteY2" fmla="*/ 1378226 h 2491408"/>
              <a:gd name="connsiteX3" fmla="*/ 26504 w 3750365"/>
              <a:gd name="connsiteY3" fmla="*/ 2491408 h 2491408"/>
              <a:gd name="connsiteX4" fmla="*/ 3750365 w 3750365"/>
              <a:gd name="connsiteY4" fmla="*/ 2451652 h 2491408"/>
              <a:gd name="connsiteX5" fmla="*/ 3723861 w 3750365"/>
              <a:gd name="connsiteY5" fmla="*/ 79513 h 2491408"/>
              <a:gd name="connsiteX6" fmla="*/ 331304 w 3750365"/>
              <a:gd name="connsiteY6" fmla="*/ 0 h 249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0365" h="2491408">
                <a:moveTo>
                  <a:pt x="331304" y="0"/>
                </a:moveTo>
                <a:lnTo>
                  <a:pt x="0" y="861391"/>
                </a:lnTo>
                <a:lnTo>
                  <a:pt x="13252" y="1378226"/>
                </a:lnTo>
                <a:lnTo>
                  <a:pt x="26504" y="2491408"/>
                </a:lnTo>
                <a:lnTo>
                  <a:pt x="3750365" y="2451652"/>
                </a:lnTo>
                <a:lnTo>
                  <a:pt x="3723861" y="79513"/>
                </a:lnTo>
                <a:lnTo>
                  <a:pt x="331304"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1" name="Slide Number Placeholder 2">
            <a:extLst>
              <a:ext uri="{FF2B5EF4-FFF2-40B4-BE49-F238E27FC236}">
                <a16:creationId xmlns:a16="http://schemas.microsoft.com/office/drawing/2014/main" id="{1DCC9415-F6BD-EB4B-8CBA-8543440AF94D}"/>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56</a:t>
            </a:fld>
            <a:endParaRPr lang="en-US" dirty="0"/>
          </a:p>
        </p:txBody>
      </p:sp>
    </p:spTree>
    <p:extLst>
      <p:ext uri="{BB962C8B-B14F-4D97-AF65-F5344CB8AC3E}">
        <p14:creationId xmlns:p14="http://schemas.microsoft.com/office/powerpoint/2010/main" val="389869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Pipelining: increased utilization</a:t>
            </a:r>
            <a:endParaRPr lang="en-US" dirty="0"/>
          </a:p>
        </p:txBody>
      </p:sp>
      <p:grpSp>
        <p:nvGrpSpPr>
          <p:cNvPr id="6" name="Group 5">
            <a:extLst>
              <a:ext uri="{FF2B5EF4-FFF2-40B4-BE49-F238E27FC236}">
                <a16:creationId xmlns:a16="http://schemas.microsoft.com/office/drawing/2014/main" id="{F2D9612C-CE0F-6C45-B7EC-FE1D2900506E}"/>
              </a:ext>
            </a:extLst>
          </p:cNvPr>
          <p:cNvGrpSpPr/>
          <p:nvPr/>
        </p:nvGrpSpPr>
        <p:grpSpPr>
          <a:xfrm>
            <a:off x="1077686" y="1920140"/>
            <a:ext cx="6858000" cy="2819400"/>
            <a:chOff x="1436915" y="1417186"/>
            <a:chExt cx="9144000" cy="3759200"/>
          </a:xfrm>
        </p:grpSpPr>
        <p:grpSp>
          <p:nvGrpSpPr>
            <p:cNvPr id="5" name="Group 4">
              <a:extLst>
                <a:ext uri="{FF2B5EF4-FFF2-40B4-BE49-F238E27FC236}">
                  <a16:creationId xmlns:a16="http://schemas.microsoft.com/office/drawing/2014/main" id="{F0C3BE89-6F62-424C-BFB2-28F71C43CE69}"/>
                </a:ext>
              </a:extLst>
            </p:cNvPr>
            <p:cNvGrpSpPr/>
            <p:nvPr/>
          </p:nvGrpSpPr>
          <p:grpSpPr>
            <a:xfrm>
              <a:off x="1436915" y="1744211"/>
              <a:ext cx="5265738" cy="3432175"/>
              <a:chOff x="1436915" y="1744211"/>
              <a:chExt cx="5265738" cy="3432175"/>
            </a:xfrm>
          </p:grpSpPr>
          <p:sp>
            <p:nvSpPr>
              <p:cNvPr id="271" name="Text Box 4">
                <a:extLst>
                  <a:ext uri="{FF2B5EF4-FFF2-40B4-BE49-F238E27FC236}">
                    <a16:creationId xmlns:a16="http://schemas.microsoft.com/office/drawing/2014/main" id="{8A9D06FA-5302-274C-84A9-DD1CED459992}"/>
                  </a:ext>
                </a:extLst>
              </p:cNvPr>
              <p:cNvSpPr txBox="1">
                <a:spLocks noChangeArrowheads="1"/>
              </p:cNvSpPr>
              <p:nvPr/>
            </p:nvSpPr>
            <p:spPr bwMode="auto">
              <a:xfrm>
                <a:off x="1436915" y="1760086"/>
                <a:ext cx="3086100" cy="3540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first packet bit transmitted, t = 0</a:t>
                </a:r>
                <a:endParaRPr lang="en-US" altLang="en-US" sz="1200" dirty="0">
                  <a:solidFill>
                    <a:srgbClr val="000000"/>
                  </a:solidFill>
                  <a:latin typeface="Times New Roman" panose="02020603050405020304" pitchFamily="18" charset="0"/>
                </a:endParaRPr>
              </a:p>
            </p:txBody>
          </p:sp>
          <p:sp>
            <p:nvSpPr>
              <p:cNvPr id="272" name="Line 5">
                <a:extLst>
                  <a:ext uri="{FF2B5EF4-FFF2-40B4-BE49-F238E27FC236}">
                    <a16:creationId xmlns:a16="http://schemas.microsoft.com/office/drawing/2014/main" id="{EBE74238-0C8D-D64B-8C2E-687BBF22856B}"/>
                  </a:ext>
                </a:extLst>
              </p:cNvPr>
              <p:cNvSpPr>
                <a:spLocks noChangeShapeType="1"/>
              </p:cNvSpPr>
              <p:nvPr/>
            </p:nvSpPr>
            <p:spPr bwMode="auto">
              <a:xfrm>
                <a:off x="4599215" y="1744211"/>
                <a:ext cx="20638" cy="32845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73" name="Line 6">
                <a:extLst>
                  <a:ext uri="{FF2B5EF4-FFF2-40B4-BE49-F238E27FC236}">
                    <a16:creationId xmlns:a16="http://schemas.microsoft.com/office/drawing/2014/main" id="{0C9FFAAE-DCDE-8044-9CE7-6F8A7B2FC055}"/>
                  </a:ext>
                </a:extLst>
              </p:cNvPr>
              <p:cNvSpPr>
                <a:spLocks noChangeShapeType="1"/>
              </p:cNvSpPr>
              <p:nvPr/>
            </p:nvSpPr>
            <p:spPr bwMode="auto">
              <a:xfrm>
                <a:off x="6680428" y="1756911"/>
                <a:ext cx="22225" cy="335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290" name="Group 23">
                <a:extLst>
                  <a:ext uri="{FF2B5EF4-FFF2-40B4-BE49-F238E27FC236}">
                    <a16:creationId xmlns:a16="http://schemas.microsoft.com/office/drawing/2014/main" id="{C2DCCE27-7917-EA41-B0D5-20716F45FD67}"/>
                  </a:ext>
                </a:extLst>
              </p:cNvPr>
              <p:cNvGrpSpPr>
                <a:grpSpLocks/>
              </p:cNvGrpSpPr>
              <p:nvPr/>
            </p:nvGrpSpPr>
            <p:grpSpPr bwMode="auto">
              <a:xfrm>
                <a:off x="4480153" y="4081011"/>
                <a:ext cx="1466850" cy="608013"/>
                <a:chOff x="12502" y="21425"/>
                <a:chExt cx="3400" cy="1025"/>
              </a:xfrm>
            </p:grpSpPr>
            <p:sp>
              <p:nvSpPr>
                <p:cNvPr id="291" name="Line 24">
                  <a:extLst>
                    <a:ext uri="{FF2B5EF4-FFF2-40B4-BE49-F238E27FC236}">
                      <a16:creationId xmlns:a16="http://schemas.microsoft.com/office/drawing/2014/main" id="{A9FA2FEB-7650-5B42-A31A-A637A45CA6FF}"/>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92" name="Freeform 25">
                  <a:extLst>
                    <a:ext uri="{FF2B5EF4-FFF2-40B4-BE49-F238E27FC236}">
                      <a16:creationId xmlns:a16="http://schemas.microsoft.com/office/drawing/2014/main" id="{5BCD89AD-C50C-6545-ADEB-A57C6CDD92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293" name="Group 26">
                  <a:extLst>
                    <a:ext uri="{FF2B5EF4-FFF2-40B4-BE49-F238E27FC236}">
                      <a16:creationId xmlns:a16="http://schemas.microsoft.com/office/drawing/2014/main" id="{CD5FB7C7-CD97-554F-9528-260B8217603A}"/>
                    </a:ext>
                  </a:extLst>
                </p:cNvPr>
                <p:cNvGrpSpPr>
                  <a:grpSpLocks/>
                </p:cNvGrpSpPr>
                <p:nvPr/>
              </p:nvGrpSpPr>
              <p:grpSpPr bwMode="auto">
                <a:xfrm>
                  <a:off x="12815" y="21425"/>
                  <a:ext cx="2776" cy="913"/>
                  <a:chOff x="12315" y="13225"/>
                  <a:chExt cx="2775" cy="913"/>
                </a:xfrm>
              </p:grpSpPr>
              <p:sp>
                <p:nvSpPr>
                  <p:cNvPr id="296" name="Line 27">
                    <a:extLst>
                      <a:ext uri="{FF2B5EF4-FFF2-40B4-BE49-F238E27FC236}">
                        <a16:creationId xmlns:a16="http://schemas.microsoft.com/office/drawing/2014/main" id="{73F94F66-30C4-DD47-A1F3-8FC6B19EB61B}"/>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97" name="Line 28">
                    <a:extLst>
                      <a:ext uri="{FF2B5EF4-FFF2-40B4-BE49-F238E27FC236}">
                        <a16:creationId xmlns:a16="http://schemas.microsoft.com/office/drawing/2014/main" id="{5CF9459B-BF29-474D-BD49-51BFB74A167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sp>
              <p:nvSpPr>
                <p:cNvPr id="294" name="Line 29">
                  <a:extLst>
                    <a:ext uri="{FF2B5EF4-FFF2-40B4-BE49-F238E27FC236}">
                      <a16:creationId xmlns:a16="http://schemas.microsoft.com/office/drawing/2014/main" id="{C83DFF49-AFA9-B447-8725-97F2F7C2664C}"/>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95" name="Line 30">
                  <a:extLst>
                    <a:ext uri="{FF2B5EF4-FFF2-40B4-BE49-F238E27FC236}">
                      <a16:creationId xmlns:a16="http://schemas.microsoft.com/office/drawing/2014/main" id="{9326AF50-13D7-574E-AFF2-CD2DDBD17BD8}"/>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302" name="Group 35">
                <a:extLst>
                  <a:ext uri="{FF2B5EF4-FFF2-40B4-BE49-F238E27FC236}">
                    <a16:creationId xmlns:a16="http://schemas.microsoft.com/office/drawing/2014/main" id="{22FDE4C6-35BE-AD41-8733-199E0B0C3987}"/>
                  </a:ext>
                </a:extLst>
              </p:cNvPr>
              <p:cNvGrpSpPr>
                <a:grpSpLocks/>
              </p:cNvGrpSpPr>
              <p:nvPr/>
            </p:nvGrpSpPr>
            <p:grpSpPr bwMode="auto">
              <a:xfrm>
                <a:off x="4469040" y="4319136"/>
                <a:ext cx="1466850" cy="606425"/>
                <a:chOff x="12502" y="21425"/>
                <a:chExt cx="3400" cy="1025"/>
              </a:xfrm>
            </p:grpSpPr>
            <p:sp>
              <p:nvSpPr>
                <p:cNvPr id="303" name="Line 36">
                  <a:extLst>
                    <a:ext uri="{FF2B5EF4-FFF2-40B4-BE49-F238E27FC236}">
                      <a16:creationId xmlns:a16="http://schemas.microsoft.com/office/drawing/2014/main" id="{C65011A2-C10F-4E4E-950F-6344F3BFE55D}"/>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304" name="Freeform 37">
                  <a:extLst>
                    <a:ext uri="{FF2B5EF4-FFF2-40B4-BE49-F238E27FC236}">
                      <a16:creationId xmlns:a16="http://schemas.microsoft.com/office/drawing/2014/main" id="{4BC1F15A-0B55-9B41-BB0E-8078C84DD8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305" name="Group 38">
                  <a:extLst>
                    <a:ext uri="{FF2B5EF4-FFF2-40B4-BE49-F238E27FC236}">
                      <a16:creationId xmlns:a16="http://schemas.microsoft.com/office/drawing/2014/main" id="{C74149F6-2BD9-1547-B14C-69B2E641BDFF}"/>
                    </a:ext>
                  </a:extLst>
                </p:cNvPr>
                <p:cNvGrpSpPr>
                  <a:grpSpLocks/>
                </p:cNvGrpSpPr>
                <p:nvPr/>
              </p:nvGrpSpPr>
              <p:grpSpPr bwMode="auto">
                <a:xfrm>
                  <a:off x="12815" y="21425"/>
                  <a:ext cx="2776" cy="913"/>
                  <a:chOff x="12315" y="13225"/>
                  <a:chExt cx="2775" cy="913"/>
                </a:xfrm>
              </p:grpSpPr>
              <p:sp>
                <p:nvSpPr>
                  <p:cNvPr id="308" name="Line 39">
                    <a:extLst>
                      <a:ext uri="{FF2B5EF4-FFF2-40B4-BE49-F238E27FC236}">
                        <a16:creationId xmlns:a16="http://schemas.microsoft.com/office/drawing/2014/main" id="{59CC4175-88B4-8C40-B032-807D24CE2432}"/>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309" name="Line 40">
                    <a:extLst>
                      <a:ext uri="{FF2B5EF4-FFF2-40B4-BE49-F238E27FC236}">
                        <a16:creationId xmlns:a16="http://schemas.microsoft.com/office/drawing/2014/main" id="{2A62733E-86E9-C64F-8671-78D818E6BEB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sp>
              <p:nvSpPr>
                <p:cNvPr id="306" name="Line 41">
                  <a:extLst>
                    <a:ext uri="{FF2B5EF4-FFF2-40B4-BE49-F238E27FC236}">
                      <a16:creationId xmlns:a16="http://schemas.microsoft.com/office/drawing/2014/main" id="{11893E37-487E-1C43-93FA-50C9B2770C22}"/>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307" name="Line 42">
                  <a:extLst>
                    <a:ext uri="{FF2B5EF4-FFF2-40B4-BE49-F238E27FC236}">
                      <a16:creationId xmlns:a16="http://schemas.microsoft.com/office/drawing/2014/main" id="{30CC5948-C914-3749-A6FB-7CBA6CEFC2F4}"/>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310" name="Group 43">
                <a:extLst>
                  <a:ext uri="{FF2B5EF4-FFF2-40B4-BE49-F238E27FC236}">
                    <a16:creationId xmlns:a16="http://schemas.microsoft.com/office/drawing/2014/main" id="{EF1CBAE6-6435-1B41-BF0D-D5BDA59F7DBF}"/>
                  </a:ext>
                </a:extLst>
              </p:cNvPr>
              <p:cNvGrpSpPr>
                <a:grpSpLocks/>
              </p:cNvGrpSpPr>
              <p:nvPr/>
            </p:nvGrpSpPr>
            <p:grpSpPr bwMode="auto">
              <a:xfrm>
                <a:off x="4480153" y="4569961"/>
                <a:ext cx="1466850" cy="606425"/>
                <a:chOff x="12502" y="21425"/>
                <a:chExt cx="3400" cy="1025"/>
              </a:xfrm>
            </p:grpSpPr>
            <p:sp>
              <p:nvSpPr>
                <p:cNvPr id="311" name="Line 44">
                  <a:extLst>
                    <a:ext uri="{FF2B5EF4-FFF2-40B4-BE49-F238E27FC236}">
                      <a16:creationId xmlns:a16="http://schemas.microsoft.com/office/drawing/2014/main" id="{F14701CF-76F1-2A4D-B2B4-A5BD8ECC327A}"/>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312" name="Freeform 45">
                  <a:extLst>
                    <a:ext uri="{FF2B5EF4-FFF2-40B4-BE49-F238E27FC236}">
                      <a16:creationId xmlns:a16="http://schemas.microsoft.com/office/drawing/2014/main" id="{731F34A3-5536-D645-BFF8-86128FA9A642}"/>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defTabSz="685800">
                    <a:defRPr/>
                  </a:pPr>
                  <a:endParaRPr lang="en-US" sz="1200" dirty="0">
                    <a:solidFill>
                      <a:srgbClr val="000000"/>
                    </a:solidFill>
                    <a:latin typeface="Tahoma" panose="020B0604030504040204" pitchFamily="34" charset="0"/>
                  </a:endParaRPr>
                </a:p>
              </p:txBody>
            </p:sp>
            <p:grpSp>
              <p:nvGrpSpPr>
                <p:cNvPr id="313" name="Group 46">
                  <a:extLst>
                    <a:ext uri="{FF2B5EF4-FFF2-40B4-BE49-F238E27FC236}">
                      <a16:creationId xmlns:a16="http://schemas.microsoft.com/office/drawing/2014/main" id="{85521E25-61DD-F442-81A5-F4A019724E19}"/>
                    </a:ext>
                  </a:extLst>
                </p:cNvPr>
                <p:cNvGrpSpPr>
                  <a:grpSpLocks/>
                </p:cNvGrpSpPr>
                <p:nvPr/>
              </p:nvGrpSpPr>
              <p:grpSpPr bwMode="auto">
                <a:xfrm>
                  <a:off x="12815" y="21425"/>
                  <a:ext cx="2776" cy="913"/>
                  <a:chOff x="12315" y="13225"/>
                  <a:chExt cx="2775" cy="913"/>
                </a:xfrm>
              </p:grpSpPr>
              <p:sp>
                <p:nvSpPr>
                  <p:cNvPr id="316" name="Line 47">
                    <a:extLst>
                      <a:ext uri="{FF2B5EF4-FFF2-40B4-BE49-F238E27FC236}">
                        <a16:creationId xmlns:a16="http://schemas.microsoft.com/office/drawing/2014/main" id="{1A001C50-CAEA-3442-AFBA-E51180AC45BE}"/>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317" name="Line 48">
                    <a:extLst>
                      <a:ext uri="{FF2B5EF4-FFF2-40B4-BE49-F238E27FC236}">
                        <a16:creationId xmlns:a16="http://schemas.microsoft.com/office/drawing/2014/main" id="{37926C33-0CD4-CD45-BDFA-BADA6AC2CF0C}"/>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sp>
              <p:nvSpPr>
                <p:cNvPr id="314" name="Line 49">
                  <a:extLst>
                    <a:ext uri="{FF2B5EF4-FFF2-40B4-BE49-F238E27FC236}">
                      <a16:creationId xmlns:a16="http://schemas.microsoft.com/office/drawing/2014/main" id="{2F091D1F-079B-8B42-8F5F-7A038D533AEE}"/>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315" name="Line 50">
                  <a:extLst>
                    <a:ext uri="{FF2B5EF4-FFF2-40B4-BE49-F238E27FC236}">
                      <a16:creationId xmlns:a16="http://schemas.microsoft.com/office/drawing/2014/main" id="{5D3DE632-11F8-E547-996E-81F2B81B1B96}"/>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sp>
            <p:nvSpPr>
              <p:cNvPr id="318" name="Line 51">
                <a:extLst>
                  <a:ext uri="{FF2B5EF4-FFF2-40B4-BE49-F238E27FC236}">
                    <a16:creationId xmlns:a16="http://schemas.microsoft.com/office/drawing/2014/main" id="{DB7CC19A-0A6A-DC4D-BED1-5955B59496B3}"/>
                  </a:ext>
                </a:extLst>
              </p:cNvPr>
              <p:cNvSpPr>
                <a:spLocks noChangeShapeType="1"/>
              </p:cNvSpPr>
              <p:nvPr/>
            </p:nvSpPr>
            <p:spPr bwMode="auto">
              <a:xfrm flipV="1">
                <a:off x="4630965" y="3646036"/>
                <a:ext cx="2065338"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grpSp>
        <p:grpSp>
          <p:nvGrpSpPr>
            <p:cNvPr id="4" name="Group 3">
              <a:extLst>
                <a:ext uri="{FF2B5EF4-FFF2-40B4-BE49-F238E27FC236}">
                  <a16:creationId xmlns:a16="http://schemas.microsoft.com/office/drawing/2014/main" id="{5DE6FBFC-B25F-574B-9C74-BFE13D65297A}"/>
                </a:ext>
              </a:extLst>
            </p:cNvPr>
            <p:cNvGrpSpPr/>
            <p:nvPr/>
          </p:nvGrpSpPr>
          <p:grpSpPr>
            <a:xfrm>
              <a:off x="1782990" y="1417186"/>
              <a:ext cx="8797925" cy="2974975"/>
              <a:chOff x="1782990" y="1417186"/>
              <a:chExt cx="8797925" cy="2974975"/>
            </a:xfrm>
          </p:grpSpPr>
          <p:sp>
            <p:nvSpPr>
              <p:cNvPr id="270" name="Line 3">
                <a:extLst>
                  <a:ext uri="{FF2B5EF4-FFF2-40B4-BE49-F238E27FC236}">
                    <a16:creationId xmlns:a16="http://schemas.microsoft.com/office/drawing/2014/main" id="{8578E745-D056-4142-B481-0269A613480E}"/>
                  </a:ext>
                </a:extLst>
              </p:cNvPr>
              <p:cNvSpPr>
                <a:spLocks noChangeShapeType="1"/>
              </p:cNvSpPr>
              <p:nvPr/>
            </p:nvSpPr>
            <p:spPr bwMode="auto">
              <a:xfrm>
                <a:off x="4608740" y="1966461"/>
                <a:ext cx="2082800"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74" name="Text Box 7">
                <a:extLst>
                  <a:ext uri="{FF2B5EF4-FFF2-40B4-BE49-F238E27FC236}">
                    <a16:creationId xmlns:a16="http://schemas.microsoft.com/office/drawing/2014/main" id="{275A02AE-605A-8841-9D53-53820A5CF657}"/>
                  </a:ext>
                </a:extLst>
              </p:cNvPr>
              <p:cNvSpPr txBox="1">
                <a:spLocks noChangeArrowheads="1"/>
              </p:cNvSpPr>
              <p:nvPr/>
            </p:nvSpPr>
            <p:spPr bwMode="auto">
              <a:xfrm>
                <a:off x="4138840" y="1417186"/>
                <a:ext cx="1042988"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sender</a:t>
                </a:r>
                <a:endParaRPr lang="en-US" altLang="en-US" sz="1200" dirty="0">
                  <a:solidFill>
                    <a:srgbClr val="000000"/>
                  </a:solidFill>
                  <a:latin typeface="Times New Roman" panose="02020603050405020304" pitchFamily="18" charset="0"/>
                </a:endParaRPr>
              </a:p>
            </p:txBody>
          </p:sp>
          <p:sp>
            <p:nvSpPr>
              <p:cNvPr id="275" name="Text Box 8">
                <a:extLst>
                  <a:ext uri="{FF2B5EF4-FFF2-40B4-BE49-F238E27FC236}">
                    <a16:creationId xmlns:a16="http://schemas.microsoft.com/office/drawing/2014/main" id="{27A750B8-38FA-9A48-B75F-4D9DAA80B3C8}"/>
                  </a:ext>
                </a:extLst>
              </p:cNvPr>
              <p:cNvSpPr txBox="1">
                <a:spLocks noChangeArrowheads="1"/>
              </p:cNvSpPr>
              <p:nvPr/>
            </p:nvSpPr>
            <p:spPr bwMode="auto">
              <a:xfrm>
                <a:off x="6167665" y="1417186"/>
                <a:ext cx="1108075"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receiver</a:t>
                </a:r>
                <a:endParaRPr lang="en-US" altLang="en-US" sz="1200" dirty="0">
                  <a:solidFill>
                    <a:srgbClr val="000000"/>
                  </a:solidFill>
                  <a:latin typeface="Times New Roman" panose="02020603050405020304" pitchFamily="18" charset="0"/>
                </a:endParaRPr>
              </a:p>
            </p:txBody>
          </p:sp>
          <p:sp>
            <p:nvSpPr>
              <p:cNvPr id="276" name="Line 9">
                <a:extLst>
                  <a:ext uri="{FF2B5EF4-FFF2-40B4-BE49-F238E27FC236}">
                    <a16:creationId xmlns:a16="http://schemas.microsoft.com/office/drawing/2014/main" id="{9EF9145B-0631-6D40-844E-0FEE146AD807}"/>
                  </a:ext>
                </a:extLst>
              </p:cNvPr>
              <p:cNvSpPr>
                <a:spLocks noChangeShapeType="1"/>
              </p:cNvSpPr>
              <p:nvPr/>
            </p:nvSpPr>
            <p:spPr bwMode="auto">
              <a:xfrm>
                <a:off x="4619853" y="1961699"/>
                <a:ext cx="2049462"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77" name="Line 10">
                <a:extLst>
                  <a:ext uri="{FF2B5EF4-FFF2-40B4-BE49-F238E27FC236}">
                    <a16:creationId xmlns:a16="http://schemas.microsoft.com/office/drawing/2014/main" id="{89818B7B-1767-9D41-8631-8A3B93FF67C3}"/>
                  </a:ext>
                </a:extLst>
              </p:cNvPr>
              <p:cNvSpPr>
                <a:spLocks noChangeShapeType="1"/>
              </p:cNvSpPr>
              <p:nvPr/>
            </p:nvSpPr>
            <p:spPr bwMode="auto">
              <a:xfrm>
                <a:off x="4626203" y="4093711"/>
                <a:ext cx="204946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78" name="Freeform 11">
                <a:extLst>
                  <a:ext uri="{FF2B5EF4-FFF2-40B4-BE49-F238E27FC236}">
                    <a16:creationId xmlns:a16="http://schemas.microsoft.com/office/drawing/2014/main" id="{7C53C3B4-7876-5B43-ABD7-074C37F12BE6}"/>
                  </a:ext>
                </a:extLst>
              </p:cNvPr>
              <p:cNvSpPr>
                <a:spLocks/>
              </p:cNvSpPr>
              <p:nvPr/>
            </p:nvSpPr>
            <p:spPr bwMode="auto">
              <a:xfrm>
                <a:off x="4603978" y="1958524"/>
                <a:ext cx="2087562" cy="1169987"/>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algn="ctr" defTabSz="685800">
                  <a:defRPr/>
                </a:pPr>
                <a:endParaRPr lang="en-US" sz="1200" dirty="0">
                  <a:solidFill>
                    <a:srgbClr val="000000"/>
                  </a:solidFill>
                  <a:latin typeface="Tahoma" panose="020B0604030504040204" pitchFamily="34" charset="0"/>
                </a:endParaRPr>
              </a:p>
            </p:txBody>
          </p:sp>
          <p:sp>
            <p:nvSpPr>
              <p:cNvPr id="279" name="Line 12">
                <a:extLst>
                  <a:ext uri="{FF2B5EF4-FFF2-40B4-BE49-F238E27FC236}">
                    <a16:creationId xmlns:a16="http://schemas.microsoft.com/office/drawing/2014/main" id="{A956E0A5-AC1B-5447-84D9-4593A3E93C16}"/>
                  </a:ext>
                </a:extLst>
              </p:cNvPr>
              <p:cNvSpPr>
                <a:spLocks noChangeShapeType="1"/>
              </p:cNvSpPr>
              <p:nvPr/>
            </p:nvSpPr>
            <p:spPr bwMode="auto">
              <a:xfrm flipH="1">
                <a:off x="4469040" y="1958524"/>
                <a:ext cx="123825"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80" name="Line 13">
                <a:extLst>
                  <a:ext uri="{FF2B5EF4-FFF2-40B4-BE49-F238E27FC236}">
                    <a16:creationId xmlns:a16="http://schemas.microsoft.com/office/drawing/2014/main" id="{4E911566-59D1-CB47-B826-2D5CA791D0B9}"/>
                  </a:ext>
                </a:extLst>
              </p:cNvPr>
              <p:cNvSpPr>
                <a:spLocks noChangeShapeType="1"/>
              </p:cNvSpPr>
              <p:nvPr/>
            </p:nvSpPr>
            <p:spPr bwMode="auto">
              <a:xfrm flipH="1">
                <a:off x="4469040" y="2202999"/>
                <a:ext cx="1238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81" name="Text Box 14">
                <a:extLst>
                  <a:ext uri="{FF2B5EF4-FFF2-40B4-BE49-F238E27FC236}">
                    <a16:creationId xmlns:a16="http://schemas.microsoft.com/office/drawing/2014/main" id="{445CA97C-CB18-2644-916B-02A60272C884}"/>
                  </a:ext>
                </a:extLst>
              </p:cNvPr>
              <p:cNvSpPr txBox="1">
                <a:spLocks noChangeArrowheads="1"/>
              </p:cNvSpPr>
              <p:nvPr/>
            </p:nvSpPr>
            <p:spPr bwMode="auto">
              <a:xfrm>
                <a:off x="3687990" y="2942774"/>
                <a:ext cx="965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RTT </a:t>
                </a:r>
                <a:endParaRPr lang="en-US" altLang="en-US" sz="1200" dirty="0">
                  <a:solidFill>
                    <a:srgbClr val="000000"/>
                  </a:solidFill>
                  <a:latin typeface="Times New Roman" panose="02020603050405020304" pitchFamily="18" charset="0"/>
                </a:endParaRPr>
              </a:p>
            </p:txBody>
          </p:sp>
          <p:sp>
            <p:nvSpPr>
              <p:cNvPr id="282" name="Line 15">
                <a:extLst>
                  <a:ext uri="{FF2B5EF4-FFF2-40B4-BE49-F238E27FC236}">
                    <a16:creationId xmlns:a16="http://schemas.microsoft.com/office/drawing/2014/main" id="{05D08CE0-2B2A-6943-A3AF-E51CE2FDFD3C}"/>
                  </a:ext>
                </a:extLst>
              </p:cNvPr>
              <p:cNvSpPr>
                <a:spLocks noChangeShapeType="1"/>
              </p:cNvSpPr>
              <p:nvPr/>
            </p:nvSpPr>
            <p:spPr bwMode="auto">
              <a:xfrm>
                <a:off x="4502378" y="3253924"/>
                <a:ext cx="9525" cy="8207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83" name="Line 16">
                <a:extLst>
                  <a:ext uri="{FF2B5EF4-FFF2-40B4-BE49-F238E27FC236}">
                    <a16:creationId xmlns:a16="http://schemas.microsoft.com/office/drawing/2014/main" id="{E60C4BA4-F185-6C4D-81D1-73276FF1E040}"/>
                  </a:ext>
                </a:extLst>
              </p:cNvPr>
              <p:cNvSpPr>
                <a:spLocks noChangeShapeType="1"/>
              </p:cNvSpPr>
              <p:nvPr/>
            </p:nvSpPr>
            <p:spPr bwMode="auto">
              <a:xfrm flipV="1">
                <a:off x="4507140" y="2225224"/>
                <a:ext cx="1588" cy="776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84" name="Text Box 17">
                <a:extLst>
                  <a:ext uri="{FF2B5EF4-FFF2-40B4-BE49-F238E27FC236}">
                    <a16:creationId xmlns:a16="http://schemas.microsoft.com/office/drawing/2014/main" id="{2D2A4BCC-1CF4-BE4F-9159-6547BADEC7D1}"/>
                  </a:ext>
                </a:extLst>
              </p:cNvPr>
              <p:cNvSpPr txBox="1">
                <a:spLocks noChangeArrowheads="1"/>
              </p:cNvSpPr>
              <p:nvPr/>
            </p:nvSpPr>
            <p:spPr bwMode="auto">
              <a:xfrm>
                <a:off x="1782990" y="2041074"/>
                <a:ext cx="274002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last bit transmitted, t = L / R</a:t>
                </a:r>
                <a:endParaRPr lang="en-US" altLang="en-US" sz="1200" dirty="0">
                  <a:solidFill>
                    <a:srgbClr val="000000"/>
                  </a:solidFill>
                  <a:latin typeface="Times New Roman" panose="02020603050405020304" pitchFamily="18" charset="0"/>
                </a:endParaRPr>
              </a:p>
            </p:txBody>
          </p:sp>
          <p:sp>
            <p:nvSpPr>
              <p:cNvPr id="285" name="Line 18">
                <a:extLst>
                  <a:ext uri="{FF2B5EF4-FFF2-40B4-BE49-F238E27FC236}">
                    <a16:creationId xmlns:a16="http://schemas.microsoft.com/office/drawing/2014/main" id="{7DA72F70-6275-E44B-B3B2-867A077BBE1F}"/>
                  </a:ext>
                </a:extLst>
              </p:cNvPr>
              <p:cNvSpPr>
                <a:spLocks noChangeShapeType="1"/>
              </p:cNvSpPr>
              <p:nvPr/>
            </p:nvSpPr>
            <p:spPr bwMode="auto">
              <a:xfrm flipH="1">
                <a:off x="6669315" y="2884036"/>
                <a:ext cx="125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86" name="Text Box 19">
                <a:extLst>
                  <a:ext uri="{FF2B5EF4-FFF2-40B4-BE49-F238E27FC236}">
                    <a16:creationId xmlns:a16="http://schemas.microsoft.com/office/drawing/2014/main" id="{090538B9-64B8-8249-A097-902A990BDC61}"/>
                  </a:ext>
                </a:extLst>
              </p:cNvPr>
              <p:cNvSpPr txBox="1">
                <a:spLocks noChangeArrowheads="1"/>
              </p:cNvSpPr>
              <p:nvPr/>
            </p:nvSpPr>
            <p:spPr bwMode="auto">
              <a:xfrm>
                <a:off x="6745515" y="2706236"/>
                <a:ext cx="2641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first packet bit arrives</a:t>
                </a:r>
                <a:endParaRPr lang="en-US" altLang="en-US" sz="1200" dirty="0">
                  <a:solidFill>
                    <a:srgbClr val="000000"/>
                  </a:solidFill>
                  <a:latin typeface="Times New Roman" panose="02020603050405020304" pitchFamily="18" charset="0"/>
                </a:endParaRPr>
              </a:p>
            </p:txBody>
          </p:sp>
          <p:sp>
            <p:nvSpPr>
              <p:cNvPr id="287" name="Line 20">
                <a:extLst>
                  <a:ext uri="{FF2B5EF4-FFF2-40B4-BE49-F238E27FC236}">
                    <a16:creationId xmlns:a16="http://schemas.microsoft.com/office/drawing/2014/main" id="{43859A12-C8B1-7F4C-996B-A2335F971C54}"/>
                  </a:ext>
                </a:extLst>
              </p:cNvPr>
              <p:cNvSpPr>
                <a:spLocks noChangeShapeType="1"/>
              </p:cNvSpPr>
              <p:nvPr/>
            </p:nvSpPr>
            <p:spPr bwMode="auto">
              <a:xfrm>
                <a:off x="6691540" y="3134861"/>
                <a:ext cx="119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88" name="Text Box 21">
                <a:extLst>
                  <a:ext uri="{FF2B5EF4-FFF2-40B4-BE49-F238E27FC236}">
                    <a16:creationId xmlns:a16="http://schemas.microsoft.com/office/drawing/2014/main" id="{D5887813-0036-6B4B-A7D4-5F561E3F1047}"/>
                  </a:ext>
                </a:extLst>
              </p:cNvPr>
              <p:cNvSpPr txBox="1">
                <a:spLocks noChangeArrowheads="1"/>
              </p:cNvSpPr>
              <p:nvPr/>
            </p:nvSpPr>
            <p:spPr bwMode="auto">
              <a:xfrm>
                <a:off x="6750278" y="2958649"/>
                <a:ext cx="35814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last packet bit arrives, send ACK</a:t>
                </a:r>
                <a:endParaRPr lang="en-US" altLang="en-US" sz="1200" dirty="0">
                  <a:solidFill>
                    <a:srgbClr val="000000"/>
                  </a:solidFill>
                  <a:latin typeface="Times New Roman" panose="02020603050405020304" pitchFamily="18" charset="0"/>
                </a:endParaRPr>
              </a:p>
            </p:txBody>
          </p:sp>
          <p:sp>
            <p:nvSpPr>
              <p:cNvPr id="289" name="Text Box 22">
                <a:extLst>
                  <a:ext uri="{FF2B5EF4-FFF2-40B4-BE49-F238E27FC236}">
                    <a16:creationId xmlns:a16="http://schemas.microsoft.com/office/drawing/2014/main" id="{FCD4E8AC-1B13-DA41-948F-91A83864962E}"/>
                  </a:ext>
                </a:extLst>
              </p:cNvPr>
              <p:cNvSpPr txBox="1">
                <a:spLocks noChangeArrowheads="1"/>
              </p:cNvSpPr>
              <p:nvPr/>
            </p:nvSpPr>
            <p:spPr bwMode="auto">
              <a:xfrm>
                <a:off x="1930628" y="3750811"/>
                <a:ext cx="2635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a:defRPr/>
                </a:pPr>
                <a:r>
                  <a:rPr lang="en-US" altLang="en-US" sz="1200" dirty="0">
                    <a:solidFill>
                      <a:srgbClr val="000000"/>
                    </a:solidFill>
                    <a:latin typeface="Arial" panose="020B0604020202020204" pitchFamily="34" charset="0"/>
                  </a:rPr>
                  <a:t>ACK arrives, send next </a:t>
                </a:r>
              </a:p>
              <a:p>
                <a:pPr algn="r" defTabSz="685800">
                  <a:defRPr/>
                </a:pPr>
                <a:r>
                  <a:rPr lang="en-US" altLang="en-US" sz="1200" dirty="0">
                    <a:solidFill>
                      <a:srgbClr val="000000"/>
                    </a:solidFill>
                    <a:latin typeface="Arial" panose="020B0604020202020204" pitchFamily="34" charset="0"/>
                  </a:rPr>
                  <a:t>packet, t = RTT + L / R</a:t>
                </a:r>
                <a:endParaRPr lang="en-US" altLang="en-US" sz="1200" dirty="0">
                  <a:solidFill>
                    <a:srgbClr val="000000"/>
                  </a:solidFill>
                  <a:latin typeface="Times New Roman" panose="02020603050405020304" pitchFamily="18" charset="0"/>
                </a:endParaRPr>
              </a:p>
            </p:txBody>
          </p:sp>
          <p:sp>
            <p:nvSpPr>
              <p:cNvPr id="298" name="Freeform 31">
                <a:extLst>
                  <a:ext uri="{FF2B5EF4-FFF2-40B4-BE49-F238E27FC236}">
                    <a16:creationId xmlns:a16="http://schemas.microsoft.com/office/drawing/2014/main" id="{F38321EB-FAE2-904A-9B81-21D0186CBC57}"/>
                  </a:ext>
                </a:extLst>
              </p:cNvPr>
              <p:cNvSpPr>
                <a:spLocks/>
              </p:cNvSpPr>
              <p:nvPr/>
            </p:nvSpPr>
            <p:spPr bwMode="auto">
              <a:xfrm>
                <a:off x="4608740" y="2210936"/>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299" name="Freeform 32">
                <a:extLst>
                  <a:ext uri="{FF2B5EF4-FFF2-40B4-BE49-F238E27FC236}">
                    <a16:creationId xmlns:a16="http://schemas.microsoft.com/office/drawing/2014/main" id="{FBE57882-6BB0-FB42-8297-3020DB77FC4F}"/>
                  </a:ext>
                </a:extLst>
              </p:cNvPr>
              <p:cNvSpPr>
                <a:spLocks/>
              </p:cNvSpPr>
              <p:nvPr/>
            </p:nvSpPr>
            <p:spPr bwMode="auto">
              <a:xfrm>
                <a:off x="4608740" y="2461761"/>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algn="ctr" defTabSz="685800">
                  <a:defRPr/>
                </a:pPr>
                <a:endParaRPr lang="en-US" sz="1200" dirty="0">
                  <a:solidFill>
                    <a:srgbClr val="000000"/>
                  </a:solidFill>
                  <a:latin typeface="Tahoma" panose="020B0604030504040204" pitchFamily="34" charset="0"/>
                </a:endParaRPr>
              </a:p>
            </p:txBody>
          </p:sp>
          <p:sp>
            <p:nvSpPr>
              <p:cNvPr id="300" name="Line 33">
                <a:extLst>
                  <a:ext uri="{FF2B5EF4-FFF2-40B4-BE49-F238E27FC236}">
                    <a16:creationId xmlns:a16="http://schemas.microsoft.com/office/drawing/2014/main" id="{FEACB0C4-D684-9C47-A7A0-8FB12C2D6D5C}"/>
                  </a:ext>
                </a:extLst>
              </p:cNvPr>
              <p:cNvSpPr>
                <a:spLocks noChangeShapeType="1"/>
              </p:cNvSpPr>
              <p:nvPr/>
            </p:nvSpPr>
            <p:spPr bwMode="auto">
              <a:xfrm flipV="1">
                <a:off x="4626203" y="3142799"/>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301" name="Line 34">
                <a:extLst>
                  <a:ext uri="{FF2B5EF4-FFF2-40B4-BE49-F238E27FC236}">
                    <a16:creationId xmlns:a16="http://schemas.microsoft.com/office/drawing/2014/main" id="{B381B3DB-0359-7246-93D3-750B1DF80082}"/>
                  </a:ext>
                </a:extLst>
              </p:cNvPr>
              <p:cNvSpPr>
                <a:spLocks noChangeShapeType="1"/>
              </p:cNvSpPr>
              <p:nvPr/>
            </p:nvSpPr>
            <p:spPr bwMode="auto">
              <a:xfrm flipV="1">
                <a:off x="4626203" y="3393624"/>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319" name="Text Box 52">
                <a:extLst>
                  <a:ext uri="{FF2B5EF4-FFF2-40B4-BE49-F238E27FC236}">
                    <a16:creationId xmlns:a16="http://schemas.microsoft.com/office/drawing/2014/main" id="{7C41A37A-EA25-6B42-B8A7-D7B83D33521A}"/>
                  </a:ext>
                </a:extLst>
              </p:cNvPr>
              <p:cNvSpPr txBox="1">
                <a:spLocks noChangeArrowheads="1"/>
              </p:cNvSpPr>
              <p:nvPr/>
            </p:nvSpPr>
            <p:spPr bwMode="auto">
              <a:xfrm>
                <a:off x="6747103" y="3212649"/>
                <a:ext cx="38338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last bit of 2</a:t>
                </a:r>
                <a:r>
                  <a:rPr lang="en-US" altLang="en-US" sz="1200" baseline="30000" dirty="0">
                    <a:solidFill>
                      <a:srgbClr val="000000"/>
                    </a:solidFill>
                    <a:latin typeface="Arial" panose="020B0604020202020204" pitchFamily="34" charset="0"/>
                  </a:rPr>
                  <a:t>nd</a:t>
                </a:r>
                <a:r>
                  <a:rPr lang="en-US" altLang="en-US" sz="1200" dirty="0">
                    <a:solidFill>
                      <a:srgbClr val="000000"/>
                    </a:solidFill>
                    <a:latin typeface="Arial" panose="020B0604020202020204" pitchFamily="34" charset="0"/>
                  </a:rPr>
                  <a:t> packet arrives, send ACK</a:t>
                </a:r>
                <a:endParaRPr lang="en-US" altLang="en-US" sz="1200" dirty="0">
                  <a:solidFill>
                    <a:srgbClr val="000000"/>
                  </a:solidFill>
                  <a:latin typeface="Times New Roman" panose="02020603050405020304" pitchFamily="18" charset="0"/>
                </a:endParaRPr>
              </a:p>
            </p:txBody>
          </p:sp>
          <p:sp>
            <p:nvSpPr>
              <p:cNvPr id="320" name="Line 53">
                <a:extLst>
                  <a:ext uri="{FF2B5EF4-FFF2-40B4-BE49-F238E27FC236}">
                    <a16:creationId xmlns:a16="http://schemas.microsoft.com/office/drawing/2014/main" id="{87E7DB36-E98C-7E44-A72B-F7EAC66CB01A}"/>
                  </a:ext>
                </a:extLst>
              </p:cNvPr>
              <p:cNvSpPr>
                <a:spLocks noChangeShapeType="1"/>
              </p:cNvSpPr>
              <p:nvPr/>
            </p:nvSpPr>
            <p:spPr bwMode="auto">
              <a:xfrm flipV="1">
                <a:off x="6691540" y="3371399"/>
                <a:ext cx="112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321" name="Line 54">
                <a:extLst>
                  <a:ext uri="{FF2B5EF4-FFF2-40B4-BE49-F238E27FC236}">
                    <a16:creationId xmlns:a16="http://schemas.microsoft.com/office/drawing/2014/main" id="{6F1B7C9A-215A-474C-BA01-5D7C9727191A}"/>
                  </a:ext>
                </a:extLst>
              </p:cNvPr>
              <p:cNvSpPr>
                <a:spLocks noChangeShapeType="1"/>
              </p:cNvSpPr>
              <p:nvPr/>
            </p:nvSpPr>
            <p:spPr bwMode="auto">
              <a:xfrm flipV="1">
                <a:off x="6702653" y="3623811"/>
                <a:ext cx="1127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a:defRPr/>
                </a:pPr>
                <a:endParaRPr lang="en-US" sz="1200" dirty="0">
                  <a:solidFill>
                    <a:srgbClr val="000000"/>
                  </a:solidFill>
                  <a:latin typeface="Tahoma" panose="020B0604030504040204" pitchFamily="34" charset="0"/>
                </a:endParaRPr>
              </a:p>
            </p:txBody>
          </p:sp>
          <p:sp>
            <p:nvSpPr>
              <p:cNvPr id="322" name="Text Box 55">
                <a:extLst>
                  <a:ext uri="{FF2B5EF4-FFF2-40B4-BE49-F238E27FC236}">
                    <a16:creationId xmlns:a16="http://schemas.microsoft.com/office/drawing/2014/main" id="{2CD16A00-05F1-344E-A3E7-C5304F7F9228}"/>
                  </a:ext>
                </a:extLst>
              </p:cNvPr>
              <p:cNvSpPr txBox="1">
                <a:spLocks noChangeArrowheads="1"/>
              </p:cNvSpPr>
              <p:nvPr/>
            </p:nvSpPr>
            <p:spPr bwMode="auto">
              <a:xfrm>
                <a:off x="6742340" y="3446011"/>
                <a:ext cx="38385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srgbClr val="000000"/>
                    </a:solidFill>
                    <a:latin typeface="Arial" panose="020B0604020202020204" pitchFamily="34" charset="0"/>
                  </a:rPr>
                  <a:t>last bit of 3</a:t>
                </a:r>
                <a:r>
                  <a:rPr lang="en-US" altLang="en-US" sz="1200" baseline="30000" dirty="0">
                    <a:solidFill>
                      <a:srgbClr val="000000"/>
                    </a:solidFill>
                    <a:latin typeface="Arial" panose="020B0604020202020204" pitchFamily="34" charset="0"/>
                  </a:rPr>
                  <a:t>rd</a:t>
                </a:r>
                <a:r>
                  <a:rPr lang="en-US" altLang="en-US" sz="1200" dirty="0">
                    <a:solidFill>
                      <a:srgbClr val="000000"/>
                    </a:solidFill>
                    <a:latin typeface="Arial" panose="020B0604020202020204" pitchFamily="34" charset="0"/>
                  </a:rPr>
                  <a:t> packet arrives, send ACK</a:t>
                </a:r>
                <a:endParaRPr lang="en-US" altLang="en-US" sz="1200" dirty="0">
                  <a:solidFill>
                    <a:srgbClr val="000000"/>
                  </a:solidFill>
                  <a:latin typeface="Times New Roman" panose="02020603050405020304" pitchFamily="18" charset="0"/>
                </a:endParaRPr>
              </a:p>
            </p:txBody>
          </p:sp>
        </p:grpSp>
      </p:grpSp>
      <p:grpSp>
        <p:nvGrpSpPr>
          <p:cNvPr id="7" name="Group 6">
            <a:extLst>
              <a:ext uri="{FF2B5EF4-FFF2-40B4-BE49-F238E27FC236}">
                <a16:creationId xmlns:a16="http://schemas.microsoft.com/office/drawing/2014/main" id="{7B6176C9-7176-F240-9157-3D2494A14415}"/>
              </a:ext>
            </a:extLst>
          </p:cNvPr>
          <p:cNvGrpSpPr/>
          <p:nvPr/>
        </p:nvGrpSpPr>
        <p:grpSpPr>
          <a:xfrm>
            <a:off x="5177818" y="4113271"/>
            <a:ext cx="2672526" cy="858779"/>
            <a:chOff x="6903757" y="4341361"/>
            <a:chExt cx="3563367" cy="1145039"/>
          </a:xfrm>
        </p:grpSpPr>
        <p:sp>
          <p:nvSpPr>
            <p:cNvPr id="323" name="Text Box 57">
              <a:extLst>
                <a:ext uri="{FF2B5EF4-FFF2-40B4-BE49-F238E27FC236}">
                  <a16:creationId xmlns:a16="http://schemas.microsoft.com/office/drawing/2014/main" id="{FB511FDF-D49A-204F-9558-B726F99E69A7}"/>
                </a:ext>
              </a:extLst>
            </p:cNvPr>
            <p:cNvSpPr txBox="1">
              <a:spLocks noChangeArrowheads="1"/>
            </p:cNvSpPr>
            <p:nvPr/>
          </p:nvSpPr>
          <p:spPr bwMode="auto">
            <a:xfrm>
              <a:off x="6903757" y="4341361"/>
              <a:ext cx="3563367" cy="7386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a:defRPr/>
              </a:pPr>
              <a:r>
                <a:rPr lang="en-US" sz="1500" dirty="0">
                  <a:solidFill>
                    <a:srgbClr val="CC0000"/>
                  </a:solidFill>
                  <a:latin typeface="Arial" charset="0"/>
                </a:rPr>
                <a:t>3-packet pipelining increases</a:t>
              </a:r>
            </a:p>
            <a:p>
              <a:pPr algn="ctr" defTabSz="685800">
                <a:defRPr/>
              </a:pPr>
              <a:r>
                <a:rPr lang="en-US" sz="1500" dirty="0">
                  <a:solidFill>
                    <a:srgbClr val="CC0000"/>
                  </a:solidFill>
                  <a:latin typeface="Arial" charset="0"/>
                </a:rPr>
                <a:t> utilization by a factor of 3!</a:t>
              </a:r>
            </a:p>
          </p:txBody>
        </p:sp>
        <p:sp>
          <p:nvSpPr>
            <p:cNvPr id="324" name="Line 58">
              <a:extLst>
                <a:ext uri="{FF2B5EF4-FFF2-40B4-BE49-F238E27FC236}">
                  <a16:creationId xmlns:a16="http://schemas.microsoft.com/office/drawing/2014/main" id="{D6D6E111-408F-FB4E-BDCF-4A37A9DB381A}"/>
                </a:ext>
              </a:extLst>
            </p:cNvPr>
            <p:cNvSpPr>
              <a:spLocks noChangeShapeType="1"/>
            </p:cNvSpPr>
            <p:nvPr/>
          </p:nvSpPr>
          <p:spPr bwMode="auto">
            <a:xfrm>
              <a:off x="7948840" y="5009699"/>
              <a:ext cx="1360" cy="476701"/>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defTabSz="685800">
                <a:defRPr/>
              </a:pPr>
              <a:endParaRPr lang="en-US" sz="1200" dirty="0">
                <a:solidFill>
                  <a:srgbClr val="000000"/>
                </a:solidFill>
                <a:latin typeface="Tahoma" charset="0"/>
                <a:ea typeface="ＭＳ Ｐゴシック" charset="0"/>
              </a:endParaRPr>
            </a:p>
          </p:txBody>
        </p:sp>
      </p:grpSp>
      <p:graphicFrame>
        <p:nvGraphicFramePr>
          <p:cNvPr id="325" name="Object 61">
            <a:extLst>
              <a:ext uri="{FF2B5EF4-FFF2-40B4-BE49-F238E27FC236}">
                <a16:creationId xmlns:a16="http://schemas.microsoft.com/office/drawing/2014/main" id="{A3FC3780-5690-F049-A6E0-28EEB6C29DDD}"/>
              </a:ext>
            </a:extLst>
          </p:cNvPr>
          <p:cNvGraphicFramePr>
            <a:graphicFrameLocks noChangeAspect="1"/>
          </p:cNvGraphicFramePr>
          <p:nvPr/>
        </p:nvGraphicFramePr>
        <p:xfrm>
          <a:off x="2244499" y="4814549"/>
          <a:ext cx="5061347" cy="700088"/>
        </p:xfrm>
        <a:graphic>
          <a:graphicData uri="http://schemas.openxmlformats.org/presentationml/2006/ole">
            <mc:AlternateContent xmlns:mc="http://schemas.openxmlformats.org/markup-compatibility/2006">
              <mc:Choice xmlns:v="urn:schemas-microsoft-com:vml" Requires="v">
                <p:oleObj name="Picture" r:id="rId3" imgW="2578100" imgH="355600" progId="Word.Picture.8">
                  <p:embed/>
                </p:oleObj>
              </mc:Choice>
              <mc:Fallback>
                <p:oleObj name="Picture" r:id="rId3" imgW="2578100" imgH="355600" progId="Word.Picture.8">
                  <p:embed/>
                  <p:pic>
                    <p:nvPicPr>
                      <p:cNvPr id="325" name="Object 61">
                        <a:extLst>
                          <a:ext uri="{FF2B5EF4-FFF2-40B4-BE49-F238E27FC236}">
                            <a16:creationId xmlns:a16="http://schemas.microsoft.com/office/drawing/2014/main" id="{A3FC3780-5690-F049-A6E0-28EEB6C29D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4499" y="4814549"/>
                        <a:ext cx="5061347"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 name="Slide Number Placeholder 2">
            <a:extLst>
              <a:ext uri="{FF2B5EF4-FFF2-40B4-BE49-F238E27FC236}">
                <a16:creationId xmlns:a16="http://schemas.microsoft.com/office/drawing/2014/main" id="{5140CCE3-35CF-C249-B39A-9608764C93DB}"/>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57</a:t>
            </a:fld>
            <a:endParaRPr lang="en-US" dirty="0"/>
          </a:p>
        </p:txBody>
      </p:sp>
    </p:spTree>
    <p:extLst>
      <p:ext uri="{BB962C8B-B14F-4D97-AF65-F5344CB8AC3E}">
        <p14:creationId xmlns:p14="http://schemas.microsoft.com/office/powerpoint/2010/main" val="107088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5"/>
                                        </p:tgtEl>
                                        <p:attrNameLst>
                                          <p:attrName>style.visibility</p:attrName>
                                        </p:attrNameLst>
                                      </p:cBhvr>
                                      <p:to>
                                        <p:strVal val="visible"/>
                                      </p:to>
                                    </p:set>
                                    <p:animEffect transition="in" filter="dissolve">
                                      <p:cBhvr>
                                        <p:cTn id="12" dur="500"/>
                                        <p:tgtEl>
                                          <p:spTgt spid="32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C7A046D-38A0-4C4D-89C5-98A73D6176B8}"/>
              </a:ext>
            </a:extLst>
          </p:cNvPr>
          <p:cNvSpPr/>
          <p:nvPr/>
        </p:nvSpPr>
        <p:spPr>
          <a:xfrm>
            <a:off x="2074545" y="3257550"/>
            <a:ext cx="1860233" cy="5057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Go-Back-N: sender</a:t>
            </a:r>
            <a:endParaRPr lang="en-US" dirty="0"/>
          </a:p>
        </p:txBody>
      </p:sp>
      <p:sp>
        <p:nvSpPr>
          <p:cNvPr id="6" name="Rectangle 3">
            <a:extLst>
              <a:ext uri="{FF2B5EF4-FFF2-40B4-BE49-F238E27FC236}">
                <a16:creationId xmlns:a16="http://schemas.microsoft.com/office/drawing/2014/main" id="{1D02EA8C-0D47-4345-907B-176DCE82FE33}"/>
              </a:ext>
            </a:extLst>
          </p:cNvPr>
          <p:cNvSpPr txBox="1">
            <a:spLocks noChangeArrowheads="1"/>
          </p:cNvSpPr>
          <p:nvPr/>
        </p:nvSpPr>
        <p:spPr>
          <a:xfrm>
            <a:off x="703905" y="1828679"/>
            <a:ext cx="8308314" cy="104707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fontAlgn="auto">
              <a:spcBef>
                <a:spcPts val="750"/>
              </a:spcBef>
              <a:spcAft>
                <a:spcPts val="0"/>
              </a:spcAft>
              <a:defRPr/>
            </a:pPr>
            <a:r>
              <a:rPr lang="en-US" altLang="ja-JP" sz="2100" dirty="0">
                <a:solidFill>
                  <a:prstClr val="black"/>
                </a:solidFill>
                <a:latin typeface="Calibri" panose="020F0502020204030204"/>
                <a:ea typeface="ＭＳ Ｐゴシック" panose="020B0600070205080204" pitchFamily="34" charset="-128"/>
              </a:rPr>
              <a:t>sender: “window” of up to N, consecutive transmitted but unACKed pkts </a:t>
            </a:r>
          </a:p>
          <a:p>
            <a:pPr marL="611981" lvl="1" indent="-257175" defTabSz="685800" fontAlgn="auto">
              <a:spcBef>
                <a:spcPts val="750"/>
              </a:spcBef>
              <a:spcAft>
                <a:spcPts val="0"/>
              </a:spcAft>
              <a:buClr>
                <a:srgbClr val="0000A3"/>
              </a:buClr>
              <a:defRPr/>
            </a:pPr>
            <a:r>
              <a:rPr lang="en-US" altLang="en-US" sz="1800" dirty="0">
                <a:solidFill>
                  <a:prstClr val="black"/>
                </a:solidFill>
                <a:latin typeface="Calibri" panose="020F0502020204030204"/>
                <a:ea typeface="ＭＳ Ｐゴシック" panose="020B0600070205080204" pitchFamily="34" charset="-128"/>
              </a:rPr>
              <a:t>k-bit seq # in pkt header</a:t>
            </a:r>
          </a:p>
          <a:p>
            <a:pPr marL="521494" lvl="1" indent="-166688" defTabSz="685800" fontAlgn="auto">
              <a:spcBef>
                <a:spcPts val="750"/>
              </a:spcBef>
              <a:spcAft>
                <a:spcPts val="0"/>
              </a:spcAft>
              <a:buClr>
                <a:srgbClr val="0000A3"/>
              </a:buClr>
              <a:buFont typeface="Wingdings" pitchFamily="2" charset="2"/>
              <a:buChar char="§"/>
              <a:defRPr/>
            </a:pPr>
            <a:endParaRPr lang="en-US" altLang="ja-JP" sz="1800" dirty="0">
              <a:solidFill>
                <a:prstClr val="black"/>
              </a:solidFill>
              <a:latin typeface="Calibri" panose="020F0502020204030204"/>
              <a:ea typeface="ＭＳ Ｐゴシック" panose="020B0600070205080204" pitchFamily="34" charset="-128"/>
            </a:endParaRPr>
          </a:p>
          <a:p>
            <a:pPr marL="264319" indent="-166688" defTabSz="685800" fontAlgn="auto">
              <a:spcBef>
                <a:spcPts val="750"/>
              </a:spcBef>
              <a:spcAft>
                <a:spcPts val="0"/>
              </a:spcAft>
              <a:defRPr/>
            </a:pPr>
            <a:endParaRPr lang="en-US" altLang="en-US" sz="2100" dirty="0">
              <a:solidFill>
                <a:prstClr val="black"/>
              </a:solidFill>
              <a:latin typeface="Calibri" panose="020F0502020204030204"/>
              <a:ea typeface="ＭＳ Ｐゴシック" panose="020B0600070205080204" pitchFamily="34" charset="-128"/>
            </a:endParaRPr>
          </a:p>
          <a:p>
            <a:pPr marL="264319" indent="-166688" defTabSz="685800" fontAlgn="auto">
              <a:spcBef>
                <a:spcPts val="750"/>
              </a:spcBef>
              <a:spcAft>
                <a:spcPts val="0"/>
              </a:spcAft>
              <a:defRPr/>
            </a:pPr>
            <a:endParaRPr lang="en-US" altLang="en-US" sz="2100" dirty="0">
              <a:solidFill>
                <a:prstClr val="black"/>
              </a:solidFill>
              <a:latin typeface="Calibri" panose="020F0502020204030204"/>
              <a:ea typeface="ＭＳ Ｐゴシック" panose="020B0600070205080204" pitchFamily="34" charset="-128"/>
            </a:endParaRPr>
          </a:p>
        </p:txBody>
      </p:sp>
      <p:pic>
        <p:nvPicPr>
          <p:cNvPr id="8" name="Picture 4" descr="gbn_seqnum">
            <a:extLst>
              <a:ext uri="{FF2B5EF4-FFF2-40B4-BE49-F238E27FC236}">
                <a16:creationId xmlns:a16="http://schemas.microsoft.com/office/drawing/2014/main" id="{7F787B9F-F0D5-184B-849D-6DD1215CE2A5}"/>
              </a:ext>
            </a:extLst>
          </p:cNvPr>
          <p:cNvPicPr>
            <a:picLocks noChangeAspect="1" noChangeArrowheads="1"/>
          </p:cNvPicPr>
          <p:nvPr/>
        </p:nvPicPr>
        <p:blipFill>
          <a:blip r:embed="rId3">
            <a:alphaModFix amt="83000"/>
            <a:extLst>
              <a:ext uri="{28A0092B-C50C-407E-A947-70E740481C1C}">
                <a14:useLocalDpi xmlns:a14="http://schemas.microsoft.com/office/drawing/2010/main" val="0"/>
              </a:ext>
            </a:extLst>
          </a:blip>
          <a:srcRect/>
          <a:stretch>
            <a:fillRect/>
          </a:stretch>
        </p:blipFill>
        <p:spPr bwMode="auto">
          <a:xfrm>
            <a:off x="1307814" y="2789268"/>
            <a:ext cx="6875603" cy="138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5">
            <a:extLst>
              <a:ext uri="{FF2B5EF4-FFF2-40B4-BE49-F238E27FC236}">
                <a16:creationId xmlns:a16="http://schemas.microsoft.com/office/drawing/2014/main" id="{5CC992CE-9CC7-5B4F-A0DC-4AE1FB2B5032}"/>
              </a:ext>
            </a:extLst>
          </p:cNvPr>
          <p:cNvSpPr>
            <a:spLocks noChangeArrowheads="1"/>
          </p:cNvSpPr>
          <p:nvPr/>
        </p:nvSpPr>
        <p:spPr bwMode="auto">
          <a:xfrm>
            <a:off x="793376" y="4443961"/>
            <a:ext cx="8482353" cy="14887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292100" indent="-292100">
              <a:defRPr sz="1600">
                <a:solidFill>
                  <a:schemeClr val="tx1"/>
                </a:solidFill>
                <a:latin typeface="Tahoma" panose="020B0604030504040204" pitchFamily="34" charset="0"/>
                <a:ea typeface="ＭＳ Ｐゴシック" panose="020B0600070205080204" pitchFamily="34" charset="-128"/>
              </a:defRPr>
            </a:lvl1pPr>
            <a:lvl2pPr marL="685800" indent="-22860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63129" indent="-254794" defTabSz="685800" eaLnBrk="1" fontAlgn="auto" hangingPunct="1">
              <a:lnSpc>
                <a:spcPct val="85000"/>
              </a:lnSpc>
              <a:spcBef>
                <a:spcPct val="20000"/>
              </a:spcBef>
              <a:spcAft>
                <a:spcPts val="0"/>
              </a:spcAft>
              <a:buClr>
                <a:srgbClr val="000099"/>
              </a:buClr>
              <a:buSzPct val="100000"/>
              <a:buFont typeface="Wingdings" pitchFamily="2" charset="2"/>
              <a:buChar char="§"/>
              <a:defRPr/>
            </a:pPr>
            <a:r>
              <a:rPr lang="en-US" altLang="en-US" sz="2100" i="1" dirty="0">
                <a:solidFill>
                  <a:srgbClr val="C00000"/>
                </a:solidFill>
                <a:latin typeface="Calibri" panose="020F0502020204030204"/>
              </a:rPr>
              <a:t>cumulative ACK: </a:t>
            </a:r>
            <a:r>
              <a:rPr lang="en-US" altLang="en-US" sz="2100" dirty="0">
                <a:solidFill>
                  <a:prstClr val="black"/>
                </a:solidFill>
                <a:latin typeface="Calibri" panose="020F0502020204030204"/>
              </a:rPr>
              <a:t>ACK(</a:t>
            </a:r>
            <a:r>
              <a:rPr lang="en-US" altLang="en-US" sz="2100" i="1" dirty="0">
                <a:solidFill>
                  <a:prstClr val="black"/>
                </a:solidFill>
                <a:latin typeface="Calibri" panose="020F0502020204030204"/>
              </a:rPr>
              <a:t>n</a:t>
            </a:r>
            <a:r>
              <a:rPr lang="en-US" altLang="en-US" sz="2100" dirty="0">
                <a:solidFill>
                  <a:prstClr val="black"/>
                </a:solidFill>
                <a:latin typeface="Calibri" panose="020F0502020204030204"/>
              </a:rPr>
              <a:t>): ACKs all packets up to, including seq # </a:t>
            </a:r>
            <a:r>
              <a:rPr lang="en-US" altLang="en-US" sz="2100" i="1" dirty="0">
                <a:solidFill>
                  <a:prstClr val="black"/>
                </a:solidFill>
                <a:latin typeface="Calibri" panose="020F0502020204030204"/>
              </a:rPr>
              <a:t>n</a:t>
            </a:r>
            <a:r>
              <a:rPr lang="en-US" altLang="en-US" sz="2100" dirty="0">
                <a:solidFill>
                  <a:prstClr val="black"/>
                </a:solidFill>
                <a:latin typeface="Calibri" panose="020F0502020204030204"/>
              </a:rPr>
              <a:t> </a:t>
            </a:r>
          </a:p>
          <a:p>
            <a:pPr marL="646510" lvl="1" indent="-342900" defTabSz="685800" eaLnBrk="1" fontAlgn="auto" hangingPunct="1">
              <a:lnSpc>
                <a:spcPct val="85000"/>
              </a:lnSpc>
              <a:spcBef>
                <a:spcPct val="20000"/>
              </a:spcBef>
              <a:spcAft>
                <a:spcPts val="0"/>
              </a:spcAft>
              <a:buClr>
                <a:srgbClr val="000099"/>
              </a:buClr>
              <a:buSzPct val="100000"/>
              <a:buFont typeface="Arial" panose="020B0604020202020204" pitchFamily="34" charset="0"/>
              <a:buChar char="•"/>
              <a:defRPr/>
            </a:pPr>
            <a:r>
              <a:rPr lang="en-US" altLang="en-US" sz="2100" dirty="0">
                <a:solidFill>
                  <a:prstClr val="black"/>
                </a:solidFill>
                <a:latin typeface="Calibri" panose="020F0502020204030204"/>
              </a:rPr>
              <a:t>on receiving ACK(</a:t>
            </a:r>
            <a:r>
              <a:rPr lang="en-US" altLang="en-US" sz="2100" i="1" dirty="0">
                <a:solidFill>
                  <a:prstClr val="black"/>
                </a:solidFill>
                <a:latin typeface="Calibri" panose="020F0502020204030204"/>
              </a:rPr>
              <a:t>n</a:t>
            </a:r>
            <a:r>
              <a:rPr lang="en-US" altLang="en-US" sz="2100" dirty="0">
                <a:solidFill>
                  <a:prstClr val="black"/>
                </a:solidFill>
                <a:latin typeface="Calibri" panose="020F0502020204030204"/>
              </a:rPr>
              <a:t>): move window forward to begin at </a:t>
            </a:r>
            <a:r>
              <a:rPr lang="en-US" altLang="en-US" sz="2100" i="1" dirty="0">
                <a:solidFill>
                  <a:prstClr val="black"/>
                </a:solidFill>
                <a:latin typeface="Calibri" panose="020F0502020204030204"/>
              </a:rPr>
              <a:t>n+1</a:t>
            </a:r>
          </a:p>
          <a:p>
            <a:pPr marL="263129" indent="-254794" defTabSz="685800" eaLnBrk="1" fontAlgn="auto" hangingPunct="1">
              <a:lnSpc>
                <a:spcPct val="85000"/>
              </a:lnSpc>
              <a:spcBef>
                <a:spcPct val="20000"/>
              </a:spcBef>
              <a:spcAft>
                <a:spcPts val="0"/>
              </a:spcAft>
              <a:buClr>
                <a:srgbClr val="000099"/>
              </a:buClr>
              <a:buFont typeface="Wingdings" pitchFamily="2" charset="2"/>
              <a:buChar char="§"/>
              <a:defRPr/>
            </a:pPr>
            <a:r>
              <a:rPr lang="en-US" altLang="en-US" sz="2100" dirty="0">
                <a:solidFill>
                  <a:prstClr val="black"/>
                </a:solidFill>
                <a:latin typeface="Calibri" panose="020F0502020204030204"/>
              </a:rPr>
              <a:t>timer for oldest in-flight packet</a:t>
            </a:r>
          </a:p>
          <a:p>
            <a:pPr marL="263129" indent="-254794" defTabSz="685800" eaLnBrk="1" fontAlgn="auto" hangingPunct="1">
              <a:lnSpc>
                <a:spcPct val="85000"/>
              </a:lnSpc>
              <a:spcBef>
                <a:spcPct val="20000"/>
              </a:spcBef>
              <a:spcAft>
                <a:spcPts val="0"/>
              </a:spcAft>
              <a:buClr>
                <a:srgbClr val="000099"/>
              </a:buClr>
              <a:buSzPct val="100000"/>
              <a:buFont typeface="Wingdings" pitchFamily="2" charset="2"/>
              <a:buChar char="§"/>
              <a:defRPr/>
            </a:pPr>
            <a:r>
              <a:rPr lang="en-US" altLang="en-US" sz="2100" i="1" dirty="0">
                <a:solidFill>
                  <a:prstClr val="black"/>
                </a:solidFill>
                <a:latin typeface="Calibri" panose="020F0502020204030204"/>
              </a:rPr>
              <a:t>timeout(n):</a:t>
            </a:r>
            <a:r>
              <a:rPr lang="en-US" altLang="en-US" sz="2100" dirty="0">
                <a:solidFill>
                  <a:prstClr val="black"/>
                </a:solidFill>
                <a:latin typeface="Calibri" panose="020F0502020204030204"/>
              </a:rPr>
              <a:t> retransmit packet n and all higher seq # packets in window</a:t>
            </a:r>
            <a:endParaRPr lang="en-US" altLang="en-US" sz="2400" dirty="0">
              <a:solidFill>
                <a:prstClr val="black"/>
              </a:solidFill>
              <a:latin typeface="Calibri" panose="020F0502020204030204"/>
            </a:endParaRPr>
          </a:p>
          <a:p>
            <a:pPr marL="219075" indent="-219075" defTabSz="685800" eaLnBrk="1" fontAlgn="auto" hangingPunct="1">
              <a:lnSpc>
                <a:spcPct val="85000"/>
              </a:lnSpc>
              <a:spcBef>
                <a:spcPct val="20000"/>
              </a:spcBef>
              <a:spcAft>
                <a:spcPts val="0"/>
              </a:spcAft>
              <a:buClr>
                <a:srgbClr val="000099"/>
              </a:buClr>
              <a:buSzPct val="65000"/>
              <a:buFont typeface="Wingdings" pitchFamily="2" charset="2"/>
              <a:buChar char="v"/>
              <a:defRPr/>
            </a:pPr>
            <a:endParaRPr lang="en-US" altLang="en-US" sz="2100" dirty="0">
              <a:solidFill>
                <a:prstClr val="black"/>
              </a:solidFill>
              <a:latin typeface="Gill Sans MT" panose="020B0502020104020203" pitchFamily="34" charset="77"/>
            </a:endParaRPr>
          </a:p>
        </p:txBody>
      </p:sp>
      <p:sp>
        <p:nvSpPr>
          <p:cNvPr id="7" name="Slide Number Placeholder 2">
            <a:extLst>
              <a:ext uri="{FF2B5EF4-FFF2-40B4-BE49-F238E27FC236}">
                <a16:creationId xmlns:a16="http://schemas.microsoft.com/office/drawing/2014/main" id="{FDEE9FF9-C882-024E-8974-9BAEDEEE0BFA}"/>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58</a:t>
            </a:fld>
            <a:endParaRPr lang="en-US" dirty="0"/>
          </a:p>
        </p:txBody>
      </p:sp>
    </p:spTree>
    <p:extLst>
      <p:ext uri="{BB962C8B-B14F-4D97-AF65-F5344CB8AC3E}">
        <p14:creationId xmlns:p14="http://schemas.microsoft.com/office/powerpoint/2010/main" val="176597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Go-Back-N: receiver</a:t>
            </a:r>
            <a:endParaRPr lang="en-US" dirty="0"/>
          </a:p>
        </p:txBody>
      </p:sp>
      <p:sp>
        <p:nvSpPr>
          <p:cNvPr id="7" name="Rectangle 3">
            <a:extLst>
              <a:ext uri="{FF2B5EF4-FFF2-40B4-BE49-F238E27FC236}">
                <a16:creationId xmlns:a16="http://schemas.microsoft.com/office/drawing/2014/main" id="{D4D350FA-D6D7-FD41-A9BE-7C8ADB1B89FE}"/>
              </a:ext>
            </a:extLst>
          </p:cNvPr>
          <p:cNvSpPr txBox="1">
            <a:spLocks noChangeArrowheads="1"/>
          </p:cNvSpPr>
          <p:nvPr/>
        </p:nvSpPr>
        <p:spPr>
          <a:xfrm>
            <a:off x="602542" y="1888332"/>
            <a:ext cx="7738552" cy="2140744"/>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6694" indent="-208360" defTabSz="685800" fontAlgn="auto">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ACK-only: always send ACK for correctly-received packet so far, with highest </a:t>
            </a:r>
            <a:r>
              <a:rPr lang="en-US" altLang="en-US" sz="2100" i="1" dirty="0">
                <a:solidFill>
                  <a:srgbClr val="CC0000"/>
                </a:solidFill>
                <a:latin typeface="Calibri" panose="020F0502020204030204"/>
                <a:ea typeface="ＭＳ Ｐゴシック" panose="020B0600070205080204" pitchFamily="34" charset="-128"/>
              </a:rPr>
              <a:t>in-order</a:t>
            </a:r>
            <a:r>
              <a:rPr lang="en-US" altLang="en-US" sz="2100" dirty="0">
                <a:solidFill>
                  <a:prstClr val="black"/>
                </a:solidFill>
                <a:latin typeface="Calibri" panose="020F0502020204030204"/>
                <a:ea typeface="ＭＳ Ｐゴシック" panose="020B0600070205080204" pitchFamily="34" charset="-128"/>
              </a:rPr>
              <a:t> seq #</a:t>
            </a:r>
          </a:p>
          <a:p>
            <a:pPr marL="521494" lvl="1" indent="-173831" defTabSz="685800" fontAlgn="auto">
              <a:spcBef>
                <a:spcPts val="375"/>
              </a:spcBef>
              <a:spcAft>
                <a:spcPts val="0"/>
              </a:spcAft>
              <a:defRPr/>
            </a:pPr>
            <a:r>
              <a:rPr lang="en-US" altLang="en-US" sz="1800" dirty="0">
                <a:solidFill>
                  <a:prstClr val="black"/>
                </a:solidFill>
                <a:latin typeface="Calibri" panose="020F0502020204030204"/>
                <a:ea typeface="ＭＳ Ｐゴシック" panose="020B0600070205080204" pitchFamily="34" charset="-128"/>
              </a:rPr>
              <a:t>may generate duplicate ACKs</a:t>
            </a:r>
          </a:p>
          <a:p>
            <a:pPr marL="521494" lvl="1" indent="-173831" defTabSz="685800" fontAlgn="auto">
              <a:spcBef>
                <a:spcPts val="375"/>
              </a:spcBef>
              <a:spcAft>
                <a:spcPts val="0"/>
              </a:spcAft>
              <a:defRPr/>
            </a:pPr>
            <a:r>
              <a:rPr lang="en-US" altLang="en-US" sz="1800" dirty="0">
                <a:solidFill>
                  <a:prstClr val="black"/>
                </a:solidFill>
                <a:latin typeface="Calibri" panose="020F0502020204030204"/>
                <a:ea typeface="ＭＳ Ｐゴシック" panose="020B0600070205080204" pitchFamily="34" charset="-128"/>
              </a:rPr>
              <a:t>need only remember </a:t>
            </a:r>
            <a:r>
              <a:rPr lang="en-US" altLang="en-US" sz="1800" dirty="0">
                <a:solidFill>
                  <a:srgbClr val="0013A3"/>
                </a:solidFill>
                <a:latin typeface="Courier New" panose="02070309020205020404" pitchFamily="49" charset="0"/>
                <a:ea typeface="ＭＳ Ｐゴシック" panose="020B0600070205080204" pitchFamily="34" charset="-128"/>
              </a:rPr>
              <a:t>rcv_base</a:t>
            </a:r>
          </a:p>
          <a:p>
            <a:pPr marL="264319" indent="-166688" defTabSz="685800" fontAlgn="auto">
              <a:spcBef>
                <a:spcPts val="750"/>
              </a:spcBef>
              <a:spcAft>
                <a:spcPts val="0"/>
              </a:spcAft>
              <a:defRPr/>
            </a:pPr>
            <a:r>
              <a:rPr lang="en-US" altLang="en-US" sz="2100" dirty="0">
                <a:solidFill>
                  <a:prstClr val="black"/>
                </a:solidFill>
                <a:latin typeface="Calibri" panose="020F0502020204030204"/>
                <a:ea typeface="ＭＳ Ｐゴシック" panose="020B0600070205080204" pitchFamily="34" charset="-128"/>
              </a:rPr>
              <a:t>on receipt of out-of-order packet: </a:t>
            </a:r>
          </a:p>
          <a:p>
            <a:pPr marL="521494" lvl="1" indent="-173831" defTabSz="685800" fontAlgn="auto">
              <a:spcBef>
                <a:spcPts val="375"/>
              </a:spcBef>
              <a:spcAft>
                <a:spcPts val="0"/>
              </a:spcAft>
              <a:defRPr/>
            </a:pPr>
            <a:r>
              <a:rPr lang="en-US" altLang="en-US" sz="1800" dirty="0">
                <a:solidFill>
                  <a:prstClr val="black"/>
                </a:solidFill>
                <a:latin typeface="Calibri" panose="020F0502020204030204"/>
                <a:ea typeface="ＭＳ Ｐゴシック" panose="020B0600070205080204" pitchFamily="34" charset="-128"/>
              </a:rPr>
              <a:t>can discard (don’</a:t>
            </a:r>
            <a:r>
              <a:rPr lang="en-US" altLang="ja-JP" sz="1800" dirty="0">
                <a:solidFill>
                  <a:prstClr val="black"/>
                </a:solidFill>
                <a:latin typeface="Calibri" panose="020F0502020204030204"/>
                <a:ea typeface="ＭＳ Ｐゴシック" panose="020B0600070205080204" pitchFamily="34" charset="-128"/>
              </a:rPr>
              <a:t>t buffer) or buffer: an implementation decision</a:t>
            </a:r>
            <a:endParaRPr lang="en-US" altLang="ja-JP" sz="1800" i="1" dirty="0">
              <a:solidFill>
                <a:srgbClr val="CC0000"/>
              </a:solidFill>
              <a:latin typeface="Calibri" panose="020F0502020204030204"/>
              <a:ea typeface="ＭＳ Ｐゴシック" panose="020B0600070205080204" pitchFamily="34" charset="-128"/>
            </a:endParaRPr>
          </a:p>
          <a:p>
            <a:pPr marL="521494" lvl="1" indent="-173831" defTabSz="685800" fontAlgn="auto">
              <a:spcBef>
                <a:spcPts val="375"/>
              </a:spcBef>
              <a:spcAft>
                <a:spcPts val="0"/>
              </a:spcAft>
              <a:defRPr/>
            </a:pPr>
            <a:r>
              <a:rPr lang="en-US" altLang="en-US" sz="1800" dirty="0">
                <a:solidFill>
                  <a:prstClr val="black"/>
                </a:solidFill>
                <a:latin typeface="Calibri" panose="020F0502020204030204"/>
                <a:ea typeface="ＭＳ Ｐゴシック" panose="020B0600070205080204" pitchFamily="34" charset="-128"/>
              </a:rPr>
              <a:t>re-ACK pkt with highest in-order seq #</a:t>
            </a:r>
          </a:p>
        </p:txBody>
      </p:sp>
      <p:grpSp>
        <p:nvGrpSpPr>
          <p:cNvPr id="40" name="Group 39">
            <a:extLst>
              <a:ext uri="{FF2B5EF4-FFF2-40B4-BE49-F238E27FC236}">
                <a16:creationId xmlns:a16="http://schemas.microsoft.com/office/drawing/2014/main" id="{721F1563-4EE6-624A-B419-51472DAFC422}"/>
              </a:ext>
            </a:extLst>
          </p:cNvPr>
          <p:cNvGrpSpPr/>
          <p:nvPr/>
        </p:nvGrpSpPr>
        <p:grpSpPr>
          <a:xfrm>
            <a:off x="723900" y="4133850"/>
            <a:ext cx="7654809" cy="1601409"/>
            <a:chOff x="965200" y="4368800"/>
            <a:chExt cx="10206411" cy="2135212"/>
          </a:xfrm>
        </p:grpSpPr>
        <p:sp>
          <p:nvSpPr>
            <p:cNvPr id="4" name="Rectangle 3">
              <a:extLst>
                <a:ext uri="{FF2B5EF4-FFF2-40B4-BE49-F238E27FC236}">
                  <a16:creationId xmlns:a16="http://schemas.microsoft.com/office/drawing/2014/main" id="{B5C749AC-5A6B-CE44-BD87-CDEAD30D68DC}"/>
                </a:ext>
              </a:extLst>
            </p:cNvPr>
            <p:cNvSpPr/>
            <p:nvPr/>
          </p:nvSpPr>
          <p:spPr>
            <a:xfrm>
              <a:off x="2412281" y="487799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0" name="Rectangle 9">
              <a:extLst>
                <a:ext uri="{FF2B5EF4-FFF2-40B4-BE49-F238E27FC236}">
                  <a16:creationId xmlns:a16="http://schemas.microsoft.com/office/drawing/2014/main" id="{FB7AB02A-A4B7-9D4F-A1D7-19D810FD4F54}"/>
                </a:ext>
              </a:extLst>
            </p:cNvPr>
            <p:cNvSpPr/>
            <p:nvPr/>
          </p:nvSpPr>
          <p:spPr>
            <a:xfrm>
              <a:off x="2603500" y="487853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1" name="Rectangle 10">
              <a:extLst>
                <a:ext uri="{FF2B5EF4-FFF2-40B4-BE49-F238E27FC236}">
                  <a16:creationId xmlns:a16="http://schemas.microsoft.com/office/drawing/2014/main" id="{6DFBB702-FA2B-A04A-B08F-95DFA12C7EDD}"/>
                </a:ext>
              </a:extLst>
            </p:cNvPr>
            <p:cNvSpPr/>
            <p:nvPr/>
          </p:nvSpPr>
          <p:spPr>
            <a:xfrm>
              <a:off x="2777467" y="4879975"/>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 name="Rectangle 11">
              <a:extLst>
                <a:ext uri="{FF2B5EF4-FFF2-40B4-BE49-F238E27FC236}">
                  <a16:creationId xmlns:a16="http://schemas.microsoft.com/office/drawing/2014/main" id="{B7C745A3-C7DB-3942-A271-0A92B4788494}"/>
                </a:ext>
              </a:extLst>
            </p:cNvPr>
            <p:cNvSpPr/>
            <p:nvPr/>
          </p:nvSpPr>
          <p:spPr>
            <a:xfrm>
              <a:off x="2951434" y="487823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 name="Rectangle 12">
              <a:extLst>
                <a:ext uri="{FF2B5EF4-FFF2-40B4-BE49-F238E27FC236}">
                  <a16:creationId xmlns:a16="http://schemas.microsoft.com/office/drawing/2014/main" id="{9242AB67-120B-794E-928E-64266D32C52D}"/>
                </a:ext>
              </a:extLst>
            </p:cNvPr>
            <p:cNvSpPr/>
            <p:nvPr/>
          </p:nvSpPr>
          <p:spPr>
            <a:xfrm>
              <a:off x="3125401" y="4879676"/>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4" name="Rectangle 13">
              <a:extLst>
                <a:ext uri="{FF2B5EF4-FFF2-40B4-BE49-F238E27FC236}">
                  <a16:creationId xmlns:a16="http://schemas.microsoft.com/office/drawing/2014/main" id="{5E626C37-8D68-3743-89DE-5821F910BA38}"/>
                </a:ext>
              </a:extLst>
            </p:cNvPr>
            <p:cNvSpPr/>
            <p:nvPr/>
          </p:nvSpPr>
          <p:spPr>
            <a:xfrm>
              <a:off x="3312307" y="4876800"/>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8" name="Rectangle 17">
              <a:extLst>
                <a:ext uri="{FF2B5EF4-FFF2-40B4-BE49-F238E27FC236}">
                  <a16:creationId xmlns:a16="http://schemas.microsoft.com/office/drawing/2014/main" id="{713FA41E-5B3A-9E42-85D0-F244A9CA09BA}"/>
                </a:ext>
              </a:extLst>
            </p:cNvPr>
            <p:cNvSpPr/>
            <p:nvPr/>
          </p:nvSpPr>
          <p:spPr>
            <a:xfrm>
              <a:off x="4042679" y="487709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9" name="Rectangle 18">
              <a:extLst>
                <a:ext uri="{FF2B5EF4-FFF2-40B4-BE49-F238E27FC236}">
                  <a16:creationId xmlns:a16="http://schemas.microsoft.com/office/drawing/2014/main" id="{DC459346-9ED9-4045-B9EF-F21C877F5C71}"/>
                </a:ext>
              </a:extLst>
            </p:cNvPr>
            <p:cNvSpPr/>
            <p:nvPr/>
          </p:nvSpPr>
          <p:spPr>
            <a:xfrm>
              <a:off x="4216646" y="48773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0" name="Rectangle 19">
              <a:extLst>
                <a:ext uri="{FF2B5EF4-FFF2-40B4-BE49-F238E27FC236}">
                  <a16:creationId xmlns:a16="http://schemas.microsoft.com/office/drawing/2014/main" id="{F0135D84-780D-1C4B-B705-7166D92BFCB2}"/>
                </a:ext>
              </a:extLst>
            </p:cNvPr>
            <p:cNvSpPr/>
            <p:nvPr/>
          </p:nvSpPr>
          <p:spPr>
            <a:xfrm>
              <a:off x="4394926" y="4877695"/>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1" name="Rectangle 20">
              <a:extLst>
                <a:ext uri="{FF2B5EF4-FFF2-40B4-BE49-F238E27FC236}">
                  <a16:creationId xmlns:a16="http://schemas.microsoft.com/office/drawing/2014/main" id="{4C92DF50-BC76-3348-AFB6-0E120E535E9F}"/>
                </a:ext>
              </a:extLst>
            </p:cNvPr>
            <p:cNvSpPr/>
            <p:nvPr/>
          </p:nvSpPr>
          <p:spPr>
            <a:xfrm>
              <a:off x="4573204" y="48770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2" name="Rectangle 21">
              <a:extLst>
                <a:ext uri="{FF2B5EF4-FFF2-40B4-BE49-F238E27FC236}">
                  <a16:creationId xmlns:a16="http://schemas.microsoft.com/office/drawing/2014/main" id="{BD359C03-4942-1F4E-9943-A4770ABD7A5C}"/>
                </a:ext>
              </a:extLst>
            </p:cNvPr>
            <p:cNvSpPr/>
            <p:nvPr/>
          </p:nvSpPr>
          <p:spPr>
            <a:xfrm>
              <a:off x="4738544" y="488260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5" name="TextBox 4">
              <a:extLst>
                <a:ext uri="{FF2B5EF4-FFF2-40B4-BE49-F238E27FC236}">
                  <a16:creationId xmlns:a16="http://schemas.microsoft.com/office/drawing/2014/main" id="{24FB1D15-C716-6642-9A8C-FF574649B132}"/>
                </a:ext>
              </a:extLst>
            </p:cNvPr>
            <p:cNvSpPr txBox="1"/>
            <p:nvPr/>
          </p:nvSpPr>
          <p:spPr>
            <a:xfrm>
              <a:off x="3200400" y="5878723"/>
              <a:ext cx="1357636" cy="400109"/>
            </a:xfrm>
            <a:prstGeom prst="rect">
              <a:avLst/>
            </a:prstGeom>
            <a:noFill/>
          </p:spPr>
          <p:txBody>
            <a:bodyPr wrap="none" rtlCol="0">
              <a:spAutoFit/>
            </a:bodyPr>
            <a:lstStyle/>
            <a:p>
              <a:pPr defTabSz="685800" eaLnBrk="1" fontAlgn="auto" hangingPunct="1">
                <a:spcBef>
                  <a:spcPts val="0"/>
                </a:spcBef>
                <a:spcAft>
                  <a:spcPts val="0"/>
                </a:spcAft>
                <a:defRPr/>
              </a:pPr>
              <a:r>
                <a:rPr lang="en-US" altLang="en-US" sz="1350" dirty="0">
                  <a:solidFill>
                    <a:srgbClr val="0013A3"/>
                  </a:solidFill>
                  <a:latin typeface="Courier New" panose="02070309020205020404" pitchFamily="49" charset="0"/>
                </a:rPr>
                <a:t>rcv_base</a:t>
              </a:r>
              <a:endParaRPr lang="en-US" sz="1350" dirty="0">
                <a:solidFill>
                  <a:srgbClr val="0013A3"/>
                </a:solidFill>
                <a:latin typeface="Calibri" panose="020F0502020204030204"/>
                <a:ea typeface="+mn-ea"/>
              </a:endParaRPr>
            </a:p>
          </p:txBody>
        </p:sp>
        <p:cxnSp>
          <p:nvCxnSpPr>
            <p:cNvPr id="24" name="Straight Arrow Connector 23">
              <a:extLst>
                <a:ext uri="{FF2B5EF4-FFF2-40B4-BE49-F238E27FC236}">
                  <a16:creationId xmlns:a16="http://schemas.microsoft.com/office/drawing/2014/main" id="{FFDA1BD1-92DD-964D-A4AD-4395424A812F}"/>
                </a:ext>
              </a:extLst>
            </p:cNvPr>
            <p:cNvCxnSpPr/>
            <p:nvPr/>
          </p:nvCxnSpPr>
          <p:spPr>
            <a:xfrm flipV="1">
              <a:off x="3340100" y="5523122"/>
              <a:ext cx="0" cy="46990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814D852D-4652-CD46-A032-5387C52666B7}"/>
                </a:ext>
              </a:extLst>
            </p:cNvPr>
            <p:cNvGrpSpPr/>
            <p:nvPr/>
          </p:nvGrpSpPr>
          <p:grpSpPr>
            <a:xfrm>
              <a:off x="7035081" y="4522877"/>
              <a:ext cx="4136530" cy="1981135"/>
              <a:chOff x="7797081" y="4179977"/>
              <a:chExt cx="4136530" cy="1981135"/>
            </a:xfrm>
          </p:grpSpPr>
          <p:sp>
            <p:nvSpPr>
              <p:cNvPr id="25" name="Rectangle 24">
                <a:extLst>
                  <a:ext uri="{FF2B5EF4-FFF2-40B4-BE49-F238E27FC236}">
                    <a16:creationId xmlns:a16="http://schemas.microsoft.com/office/drawing/2014/main" id="{06E499E9-05E0-2848-A525-BB3AC2E78B77}"/>
                  </a:ext>
                </a:extLst>
              </p:cNvPr>
              <p:cNvSpPr/>
              <p:nvPr/>
            </p:nvSpPr>
            <p:spPr>
              <a:xfrm>
                <a:off x="7797081" y="417997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7" name="Rectangle 26">
                <a:extLst>
                  <a:ext uri="{FF2B5EF4-FFF2-40B4-BE49-F238E27FC236}">
                    <a16:creationId xmlns:a16="http://schemas.microsoft.com/office/drawing/2014/main" id="{75E59F90-0AC1-D949-8CB5-B7E829DBDF1B}"/>
                  </a:ext>
                </a:extLst>
              </p:cNvPr>
              <p:cNvSpPr/>
              <p:nvPr/>
            </p:nvSpPr>
            <p:spPr>
              <a:xfrm>
                <a:off x="7797081" y="5565889"/>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 name="TextBox 27">
                <a:extLst>
                  <a:ext uri="{FF2B5EF4-FFF2-40B4-BE49-F238E27FC236}">
                    <a16:creationId xmlns:a16="http://schemas.microsoft.com/office/drawing/2014/main" id="{0D5C9899-6096-4643-8719-DE793696866F}"/>
                  </a:ext>
                </a:extLst>
              </p:cNvPr>
              <p:cNvSpPr txBox="1"/>
              <p:nvPr/>
            </p:nvSpPr>
            <p:spPr>
              <a:xfrm>
                <a:off x="8089900" y="4279900"/>
                <a:ext cx="2111604"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received and ACKed</a:t>
                </a:r>
              </a:p>
            </p:txBody>
          </p:sp>
          <p:sp>
            <p:nvSpPr>
              <p:cNvPr id="29" name="TextBox 28">
                <a:extLst>
                  <a:ext uri="{FF2B5EF4-FFF2-40B4-BE49-F238E27FC236}">
                    <a16:creationId xmlns:a16="http://schemas.microsoft.com/office/drawing/2014/main" id="{B3F847CB-3827-2544-8543-6EF3912864FB}"/>
                  </a:ext>
                </a:extLst>
              </p:cNvPr>
              <p:cNvSpPr txBox="1"/>
              <p:nvPr/>
            </p:nvSpPr>
            <p:spPr>
              <a:xfrm>
                <a:off x="8115300" y="4965700"/>
                <a:ext cx="3818311"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Out-of-order: received but not  ACKed</a:t>
                </a:r>
              </a:p>
            </p:txBody>
          </p:sp>
          <p:sp>
            <p:nvSpPr>
              <p:cNvPr id="30" name="TextBox 29">
                <a:extLst>
                  <a:ext uri="{FF2B5EF4-FFF2-40B4-BE49-F238E27FC236}">
                    <a16:creationId xmlns:a16="http://schemas.microsoft.com/office/drawing/2014/main" id="{79AF6502-A49B-FB42-8066-694FB04355A3}"/>
                  </a:ext>
                </a:extLst>
              </p:cNvPr>
              <p:cNvSpPr txBox="1"/>
              <p:nvPr/>
            </p:nvSpPr>
            <p:spPr>
              <a:xfrm>
                <a:off x="8089900" y="5664200"/>
                <a:ext cx="1446378"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Not received</a:t>
                </a:r>
              </a:p>
            </p:txBody>
          </p:sp>
        </p:grpSp>
        <p:sp>
          <p:nvSpPr>
            <p:cNvPr id="32" name="TextBox 31">
              <a:extLst>
                <a:ext uri="{FF2B5EF4-FFF2-40B4-BE49-F238E27FC236}">
                  <a16:creationId xmlns:a16="http://schemas.microsoft.com/office/drawing/2014/main" id="{8AE8A9EC-F9D6-AD41-BDA3-40B447572E22}"/>
                </a:ext>
              </a:extLst>
            </p:cNvPr>
            <p:cNvSpPr txBox="1"/>
            <p:nvPr/>
          </p:nvSpPr>
          <p:spPr>
            <a:xfrm>
              <a:off x="965200" y="4368800"/>
              <a:ext cx="5494153" cy="492443"/>
            </a:xfrm>
            <a:prstGeom prst="rect">
              <a:avLst/>
            </a:prstGeom>
            <a:noFill/>
          </p:spPr>
          <p:txBody>
            <a:bodyPr wrap="none" rtlCol="0">
              <a:spAutoFit/>
            </a:bodyPr>
            <a:lstStyle/>
            <a:p>
              <a:pPr defTabSz="685800" eaLnBrk="1" fontAlgn="auto" hangingPunct="1">
                <a:spcBef>
                  <a:spcPts val="0"/>
                </a:spcBef>
                <a:spcAft>
                  <a:spcPts val="0"/>
                </a:spcAft>
                <a:defRPr/>
              </a:pPr>
              <a:r>
                <a:rPr lang="en-US" sz="1800" dirty="0">
                  <a:solidFill>
                    <a:prstClr val="black"/>
                  </a:solidFill>
                  <a:latin typeface="Calibri" panose="020F0502020204030204"/>
                  <a:ea typeface="+mn-ea"/>
                </a:rPr>
                <a:t>Receiver view of sequence number space:</a:t>
              </a:r>
            </a:p>
          </p:txBody>
        </p:sp>
        <p:sp>
          <p:nvSpPr>
            <p:cNvPr id="34" name="Rectangle 33">
              <a:extLst>
                <a:ext uri="{FF2B5EF4-FFF2-40B4-BE49-F238E27FC236}">
                  <a16:creationId xmlns:a16="http://schemas.microsoft.com/office/drawing/2014/main" id="{7C6C7DB5-7268-0B44-A56E-B28CC92134BC}"/>
                </a:ext>
              </a:extLst>
            </p:cNvPr>
            <p:cNvSpPr/>
            <p:nvPr/>
          </p:nvSpPr>
          <p:spPr>
            <a:xfrm>
              <a:off x="7043594" y="5225507"/>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5" name="Rectangle 34">
              <a:extLst>
                <a:ext uri="{FF2B5EF4-FFF2-40B4-BE49-F238E27FC236}">
                  <a16:creationId xmlns:a16="http://schemas.microsoft.com/office/drawing/2014/main" id="{AA046972-9F03-F944-BC25-0B2150456151}"/>
                </a:ext>
              </a:extLst>
            </p:cNvPr>
            <p:cNvSpPr/>
            <p:nvPr/>
          </p:nvSpPr>
          <p:spPr>
            <a:xfrm>
              <a:off x="38558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6" name="Rectangle 35">
              <a:extLst>
                <a:ext uri="{FF2B5EF4-FFF2-40B4-BE49-F238E27FC236}">
                  <a16:creationId xmlns:a16="http://schemas.microsoft.com/office/drawing/2014/main" id="{E2CC5FA3-3D8B-6548-BA93-1DA3D5DF3E6E}"/>
                </a:ext>
              </a:extLst>
            </p:cNvPr>
            <p:cNvSpPr/>
            <p:nvPr/>
          </p:nvSpPr>
          <p:spPr>
            <a:xfrm>
              <a:off x="35002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7" name="Rectangle 36">
              <a:extLst>
                <a:ext uri="{FF2B5EF4-FFF2-40B4-BE49-F238E27FC236}">
                  <a16:creationId xmlns:a16="http://schemas.microsoft.com/office/drawing/2014/main" id="{BB5F6F20-040F-1941-B33E-7134B25528B8}"/>
                </a:ext>
              </a:extLst>
            </p:cNvPr>
            <p:cNvSpPr/>
            <p:nvPr/>
          </p:nvSpPr>
          <p:spPr>
            <a:xfrm>
              <a:off x="368444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8" name="TextBox 37">
              <a:extLst>
                <a:ext uri="{FF2B5EF4-FFF2-40B4-BE49-F238E27FC236}">
                  <a16:creationId xmlns:a16="http://schemas.microsoft.com/office/drawing/2014/main" id="{27974E79-9D0E-3745-ABD9-0984B3110ABE}"/>
                </a:ext>
              </a:extLst>
            </p:cNvPr>
            <p:cNvSpPr txBox="1"/>
            <p:nvPr/>
          </p:nvSpPr>
          <p:spPr>
            <a:xfrm>
              <a:off x="1892300" y="5105400"/>
              <a:ext cx="494152" cy="553997"/>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a:t>
              </a:r>
              <a:endParaRPr lang="en-US" sz="1350" dirty="0">
                <a:solidFill>
                  <a:prstClr val="black"/>
                </a:solidFill>
                <a:latin typeface="Calibri" panose="020F0502020204030204"/>
                <a:ea typeface="+mn-ea"/>
              </a:endParaRPr>
            </a:p>
          </p:txBody>
        </p:sp>
        <p:sp>
          <p:nvSpPr>
            <p:cNvPr id="39" name="TextBox 38">
              <a:extLst>
                <a:ext uri="{FF2B5EF4-FFF2-40B4-BE49-F238E27FC236}">
                  <a16:creationId xmlns:a16="http://schemas.microsoft.com/office/drawing/2014/main" id="{E72C8E0E-B0A1-2140-BDEC-22D5E69331DA}"/>
                </a:ext>
              </a:extLst>
            </p:cNvPr>
            <p:cNvSpPr txBox="1"/>
            <p:nvPr/>
          </p:nvSpPr>
          <p:spPr>
            <a:xfrm>
              <a:off x="4876800" y="5105400"/>
              <a:ext cx="494152" cy="553997"/>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a:t>
              </a:r>
              <a:endParaRPr lang="en-US" sz="1350" dirty="0">
                <a:solidFill>
                  <a:prstClr val="black"/>
                </a:solidFill>
                <a:latin typeface="Calibri" panose="020F0502020204030204"/>
                <a:ea typeface="+mn-ea"/>
              </a:endParaRPr>
            </a:p>
          </p:txBody>
        </p:sp>
      </p:grpSp>
      <p:sp>
        <p:nvSpPr>
          <p:cNvPr id="31" name="Slide Number Placeholder 2">
            <a:extLst>
              <a:ext uri="{FF2B5EF4-FFF2-40B4-BE49-F238E27FC236}">
                <a16:creationId xmlns:a16="http://schemas.microsoft.com/office/drawing/2014/main" id="{D2730539-5138-AA4F-8FB6-75E508098962}"/>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59</a:t>
            </a:fld>
            <a:endParaRPr lang="en-US" dirty="0"/>
          </a:p>
        </p:txBody>
      </p:sp>
    </p:spTree>
    <p:extLst>
      <p:ext uri="{BB962C8B-B14F-4D97-AF65-F5344CB8AC3E}">
        <p14:creationId xmlns:p14="http://schemas.microsoft.com/office/powerpoint/2010/main" val="102219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Go-Back-N in action</a:t>
            </a:r>
            <a:endParaRPr lang="en-US"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3523096" y="2006203"/>
            <a:ext cx="989373" cy="11310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1350" kern="0" dirty="0">
                <a:solidFill>
                  <a:srgbClr val="000000"/>
                </a:solidFill>
              </a:rPr>
              <a:t>send  pkt0</a:t>
            </a:r>
          </a:p>
          <a:p>
            <a:pPr algn="r">
              <a:defRPr/>
            </a:pPr>
            <a:r>
              <a:rPr lang="en-US" sz="1350" kern="0" dirty="0">
                <a:solidFill>
                  <a:srgbClr val="000000"/>
                </a:solidFill>
              </a:rPr>
              <a:t>send  pkt1</a:t>
            </a:r>
          </a:p>
          <a:p>
            <a:pPr algn="r">
              <a:defRPr/>
            </a:pPr>
            <a:r>
              <a:rPr lang="en-US" sz="1350" kern="0" dirty="0">
                <a:solidFill>
                  <a:srgbClr val="000000"/>
                </a:solidFill>
              </a:rPr>
              <a:t>send  pkt2</a:t>
            </a:r>
          </a:p>
          <a:p>
            <a:pPr algn="r">
              <a:defRPr/>
            </a:pPr>
            <a:r>
              <a:rPr lang="en-US" sz="1350" kern="0" dirty="0">
                <a:solidFill>
                  <a:srgbClr val="000000"/>
                </a:solidFill>
              </a:rPr>
              <a:t>send  pkt3</a:t>
            </a:r>
          </a:p>
          <a:p>
            <a:pPr algn="r">
              <a:defRPr/>
            </a:pPr>
            <a:r>
              <a:rPr lang="en-US" sz="1350" kern="0" dirty="0">
                <a:solidFill>
                  <a:srgbClr val="000000"/>
                </a:solidFill>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3791901" y="1727597"/>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i="1" u="sng" kern="0">
                <a:solidFill>
                  <a:srgbClr val="000099"/>
                </a:solidFill>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6066514" y="1741884"/>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i="1" u="sng" kern="0">
                <a:solidFill>
                  <a:srgbClr val="008000"/>
                </a:solidFill>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6147197" y="2190750"/>
            <a:ext cx="8335" cy="340399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12" name="Text Box 15">
            <a:extLst>
              <a:ext uri="{FF2B5EF4-FFF2-40B4-BE49-F238E27FC236}">
                <a16:creationId xmlns:a16="http://schemas.microsoft.com/office/drawing/2014/main" id="{AF86798F-8D3B-3F46-8E9A-88A423CB91FE}"/>
              </a:ext>
            </a:extLst>
          </p:cNvPr>
          <p:cNvSpPr txBox="1">
            <a:spLocks noChangeArrowheads="1"/>
          </p:cNvSpPr>
          <p:nvPr/>
        </p:nvSpPr>
        <p:spPr bwMode="auto">
          <a:xfrm>
            <a:off x="6104334" y="2337197"/>
            <a:ext cx="1992853" cy="11310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350" kern="0" dirty="0">
                <a:solidFill>
                  <a:srgbClr val="000000"/>
                </a:solidFill>
              </a:rPr>
              <a:t>receive pkt0, send ack0</a:t>
            </a:r>
          </a:p>
          <a:p>
            <a:pPr>
              <a:defRPr/>
            </a:pPr>
            <a:r>
              <a:rPr lang="en-US" sz="1350" kern="0" dirty="0">
                <a:solidFill>
                  <a:srgbClr val="000000"/>
                </a:solidFill>
              </a:rPr>
              <a:t>receive pkt1, send ack1</a:t>
            </a:r>
          </a:p>
          <a:p>
            <a:pPr>
              <a:defRPr/>
            </a:pPr>
            <a:r>
              <a:rPr lang="en-US" sz="1350" kern="0" dirty="0">
                <a:solidFill>
                  <a:srgbClr val="000000"/>
                </a:solidFill>
              </a:rPr>
              <a:t> </a:t>
            </a:r>
          </a:p>
          <a:p>
            <a:pPr>
              <a:defRPr/>
            </a:pPr>
            <a:r>
              <a:rPr lang="en-US" sz="1350" kern="0" dirty="0">
                <a:solidFill>
                  <a:srgbClr val="000000"/>
                </a:solidFill>
              </a:rPr>
              <a:t>receive pkt3, discard, </a:t>
            </a:r>
          </a:p>
          <a:p>
            <a:pPr>
              <a:defRPr/>
            </a:pPr>
            <a:r>
              <a:rPr lang="en-US" sz="1350" kern="0" dirty="0">
                <a:solidFill>
                  <a:srgbClr val="000000"/>
                </a:solidFill>
              </a:rPr>
              <a:t>           (re)send ack1</a:t>
            </a: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3526668" y="4392215"/>
            <a:ext cx="989373"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350" kern="0" dirty="0">
                <a:solidFill>
                  <a:srgbClr val="000000"/>
                </a:solidFill>
              </a:rPr>
              <a:t>send  pkt2</a:t>
            </a:r>
          </a:p>
          <a:p>
            <a:pPr algn="r">
              <a:lnSpc>
                <a:spcPct val="90000"/>
              </a:lnSpc>
              <a:defRPr/>
            </a:pPr>
            <a:r>
              <a:rPr lang="en-US" sz="1350" kern="0" dirty="0">
                <a:solidFill>
                  <a:srgbClr val="000000"/>
                </a:solidFill>
              </a:rPr>
              <a:t>send  pkt3</a:t>
            </a:r>
          </a:p>
          <a:p>
            <a:pPr algn="r">
              <a:lnSpc>
                <a:spcPct val="90000"/>
              </a:lnSpc>
              <a:defRPr/>
            </a:pPr>
            <a:r>
              <a:rPr lang="en-US" sz="1350" kern="0" dirty="0">
                <a:solidFill>
                  <a:srgbClr val="000000"/>
                </a:solidFill>
              </a:rPr>
              <a:t>send  pkt4</a:t>
            </a:r>
          </a:p>
          <a:p>
            <a:pPr algn="r">
              <a:lnSpc>
                <a:spcPct val="90000"/>
              </a:lnSpc>
              <a:defRPr/>
            </a:pPr>
            <a:r>
              <a:rPr lang="en-US" sz="1350" kern="0" dirty="0">
                <a:solidFill>
                  <a:srgbClr val="000000"/>
                </a:solidFill>
              </a:rPr>
              <a:t>send  pkt5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4550569" y="2544365"/>
            <a:ext cx="1510903" cy="80010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4544615" y="2151459"/>
            <a:ext cx="1591866" cy="969169"/>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05826" y="2298700"/>
              <a:ext cx="404385" cy="4001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b="1" kern="0">
                  <a:solidFill>
                    <a:srgbClr val="FF0000"/>
                  </a:solidFill>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63159" y="2319337"/>
              <a:ext cx="58819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i="1" kern="0">
                  <a:solidFill>
                    <a:srgbClr val="FF0000"/>
                  </a:solidFill>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4548188" y="2758678"/>
            <a:ext cx="1510903" cy="825104"/>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4550569" y="3386138"/>
            <a:ext cx="1575197" cy="351234"/>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4574381" y="3625453"/>
            <a:ext cx="1576388" cy="3512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4572000" y="3156346"/>
            <a:ext cx="1510903" cy="825104"/>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3061097" y="2547938"/>
            <a:ext cx="1483519" cy="1931689"/>
            <a:chOff x="4081462" y="2254250"/>
            <a:chExt cx="1978025" cy="257558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371795" y="4498975"/>
              <a:ext cx="1616254" cy="3308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75000"/>
                </a:lnSpc>
                <a:defRPr/>
              </a:pPr>
              <a:r>
                <a:rPr lang="en-US" sz="1350" i="1" kern="0">
                  <a:solidFill>
                    <a:srgbClr val="FF0000"/>
                  </a:solidFill>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grpSp>
        <p:nvGrpSpPr>
          <p:cNvPr id="11" name="Group 10">
            <a:extLst>
              <a:ext uri="{FF2B5EF4-FFF2-40B4-BE49-F238E27FC236}">
                <a16:creationId xmlns:a16="http://schemas.microsoft.com/office/drawing/2014/main" id="{B43C2478-ADE4-9940-A00F-07B0A8A168AB}"/>
              </a:ext>
            </a:extLst>
          </p:cNvPr>
          <p:cNvGrpSpPr/>
          <p:nvPr/>
        </p:nvGrpSpPr>
        <p:grpSpPr>
          <a:xfrm>
            <a:off x="4545806" y="4520803"/>
            <a:ext cx="1585913" cy="884635"/>
            <a:chOff x="6061075" y="4884737"/>
            <a:chExt cx="2114550" cy="1179513"/>
          </a:xfrm>
        </p:grpSpPr>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6075362" y="4884737"/>
              <a:ext cx="2100263"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33" name="Line 38">
              <a:extLst>
                <a:ext uri="{FF2B5EF4-FFF2-40B4-BE49-F238E27FC236}">
                  <a16:creationId xmlns:a16="http://schemas.microsoft.com/office/drawing/2014/main" id="{F145FE1E-AA9A-9247-82EE-3228DB0DB25A}"/>
                </a:ext>
              </a:extLst>
            </p:cNvPr>
            <p:cNvSpPr>
              <a:spLocks noChangeShapeType="1"/>
            </p:cNvSpPr>
            <p:nvPr/>
          </p:nvSpPr>
          <p:spPr bwMode="auto">
            <a:xfrm>
              <a:off x="6067425" y="51292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34" name="Line 39">
              <a:extLst>
                <a:ext uri="{FF2B5EF4-FFF2-40B4-BE49-F238E27FC236}">
                  <a16:creationId xmlns:a16="http://schemas.microsoft.com/office/drawing/2014/main" id="{A6917865-5501-404F-B05D-FD50B31DAC19}"/>
                </a:ext>
              </a:extLst>
            </p:cNvPr>
            <p:cNvSpPr>
              <a:spLocks noChangeShapeType="1"/>
            </p:cNvSpPr>
            <p:nvPr/>
          </p:nvSpPr>
          <p:spPr bwMode="auto">
            <a:xfrm>
              <a:off x="6061075" y="5362575"/>
              <a:ext cx="2101850"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35" name="Line 40">
              <a:extLst>
                <a:ext uri="{FF2B5EF4-FFF2-40B4-BE49-F238E27FC236}">
                  <a16:creationId xmlns:a16="http://schemas.microsoft.com/office/drawing/2014/main" id="{C1F71149-521E-A245-80B1-E26288E6E967}"/>
                </a:ext>
              </a:extLst>
            </p:cNvPr>
            <p:cNvSpPr>
              <a:spLocks noChangeShapeType="1"/>
            </p:cNvSpPr>
            <p:nvPr/>
          </p:nvSpPr>
          <p:spPr bwMode="auto">
            <a:xfrm>
              <a:off x="6064250" y="5595937"/>
              <a:ext cx="2100262"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sp>
        <p:nvSpPr>
          <p:cNvPr id="136" name="Text Box 41">
            <a:extLst>
              <a:ext uri="{FF2B5EF4-FFF2-40B4-BE49-F238E27FC236}">
                <a16:creationId xmlns:a16="http://schemas.microsoft.com/office/drawing/2014/main" id="{C2E1F2DD-A0AF-3A4F-84ED-5EB921B7EA8C}"/>
              </a:ext>
            </a:extLst>
          </p:cNvPr>
          <p:cNvSpPr txBox="1">
            <a:spLocks noChangeArrowheads="1"/>
          </p:cNvSpPr>
          <p:nvPr/>
        </p:nvSpPr>
        <p:spPr bwMode="auto">
          <a:xfrm>
            <a:off x="6101953" y="3480197"/>
            <a:ext cx="1875835" cy="5078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350" kern="0" dirty="0">
                <a:solidFill>
                  <a:srgbClr val="000000"/>
                </a:solidFill>
              </a:rPr>
              <a:t>receive pkt4, discard, </a:t>
            </a:r>
          </a:p>
          <a:p>
            <a:pPr>
              <a:defRPr/>
            </a:pPr>
            <a:r>
              <a:rPr lang="en-US" sz="1350" kern="0" dirty="0">
                <a:solidFill>
                  <a:srgbClr val="000000"/>
                </a:solidFill>
              </a:rPr>
              <a:t>           (re)send ack1</a:t>
            </a:r>
          </a:p>
        </p:txBody>
      </p:sp>
      <p:sp>
        <p:nvSpPr>
          <p:cNvPr id="137" name="Text Box 42">
            <a:extLst>
              <a:ext uri="{FF2B5EF4-FFF2-40B4-BE49-F238E27FC236}">
                <a16:creationId xmlns:a16="http://schemas.microsoft.com/office/drawing/2014/main" id="{9460E1DE-6181-0944-8A7F-243E2C9494FD}"/>
              </a:ext>
            </a:extLst>
          </p:cNvPr>
          <p:cNvSpPr txBox="1">
            <a:spLocks noChangeArrowheads="1"/>
          </p:cNvSpPr>
          <p:nvPr/>
        </p:nvSpPr>
        <p:spPr bwMode="auto">
          <a:xfrm>
            <a:off x="6116241" y="3870722"/>
            <a:ext cx="1875835" cy="5078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350" kern="0" dirty="0">
                <a:solidFill>
                  <a:srgbClr val="000000"/>
                </a:solidFill>
              </a:rPr>
              <a:t>receive pkt5, discard, </a:t>
            </a:r>
          </a:p>
          <a:p>
            <a:pPr>
              <a:defRPr/>
            </a:pPr>
            <a:r>
              <a:rPr lang="en-US" sz="1350" kern="0" dirty="0">
                <a:solidFill>
                  <a:srgbClr val="000000"/>
                </a:solidFill>
              </a:rPr>
              <a:t>           (re)send ack1</a:t>
            </a:r>
          </a:p>
        </p:txBody>
      </p:sp>
      <p:sp>
        <p:nvSpPr>
          <p:cNvPr id="138" name="Text Box 43">
            <a:extLst>
              <a:ext uri="{FF2B5EF4-FFF2-40B4-BE49-F238E27FC236}">
                <a16:creationId xmlns:a16="http://schemas.microsoft.com/office/drawing/2014/main" id="{9372D8AC-242E-6F41-B4F3-7282D16B0794}"/>
              </a:ext>
            </a:extLst>
          </p:cNvPr>
          <p:cNvSpPr txBox="1">
            <a:spLocks noChangeArrowheads="1"/>
          </p:cNvSpPr>
          <p:nvPr/>
        </p:nvSpPr>
        <p:spPr bwMode="auto">
          <a:xfrm>
            <a:off x="6124575" y="4736306"/>
            <a:ext cx="2294218"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350" kern="0" dirty="0" err="1">
                <a:solidFill>
                  <a:srgbClr val="000000"/>
                </a:solidFill>
              </a:rPr>
              <a:t>rcv</a:t>
            </a:r>
            <a:r>
              <a:rPr lang="en-US" sz="1350" kern="0" dirty="0">
                <a:solidFill>
                  <a:srgbClr val="000000"/>
                </a:solidFill>
              </a:rPr>
              <a:t> pkt2, deliver, send ack2</a:t>
            </a:r>
          </a:p>
          <a:p>
            <a:pPr>
              <a:lnSpc>
                <a:spcPct val="90000"/>
              </a:lnSpc>
              <a:defRPr/>
            </a:pPr>
            <a:r>
              <a:rPr lang="en-US" sz="1350" kern="0" dirty="0" err="1">
                <a:solidFill>
                  <a:srgbClr val="000000"/>
                </a:solidFill>
              </a:rPr>
              <a:t>rcv</a:t>
            </a:r>
            <a:r>
              <a:rPr lang="en-US" sz="1350" kern="0" dirty="0">
                <a:solidFill>
                  <a:srgbClr val="000000"/>
                </a:solidFill>
              </a:rPr>
              <a:t> pkt3, deliver, send ack3</a:t>
            </a:r>
          </a:p>
          <a:p>
            <a:pPr>
              <a:lnSpc>
                <a:spcPct val="90000"/>
              </a:lnSpc>
              <a:defRPr/>
            </a:pPr>
            <a:r>
              <a:rPr lang="en-US" sz="1350" kern="0" dirty="0" err="1">
                <a:solidFill>
                  <a:srgbClr val="000000"/>
                </a:solidFill>
              </a:rPr>
              <a:t>rcv</a:t>
            </a:r>
            <a:r>
              <a:rPr lang="en-US" sz="1350" kern="0" dirty="0">
                <a:solidFill>
                  <a:srgbClr val="000000"/>
                </a:solidFill>
              </a:rPr>
              <a:t> pkt4, deliver, send ack4</a:t>
            </a:r>
          </a:p>
          <a:p>
            <a:pPr>
              <a:lnSpc>
                <a:spcPct val="90000"/>
              </a:lnSpc>
              <a:defRPr/>
            </a:pPr>
            <a:r>
              <a:rPr lang="en-US" sz="1350" kern="0" dirty="0" err="1">
                <a:solidFill>
                  <a:srgbClr val="000000"/>
                </a:solidFill>
              </a:rPr>
              <a:t>rcv</a:t>
            </a:r>
            <a:r>
              <a:rPr lang="en-US" sz="1350" kern="0" dirty="0">
                <a:solidFill>
                  <a:srgbClr val="000000"/>
                </a:solidFill>
              </a:rPr>
              <a:t> pkt5, deliver, send ack5</a:t>
            </a:r>
          </a:p>
        </p:txBody>
      </p:sp>
      <p:sp>
        <p:nvSpPr>
          <p:cNvPr id="139" name="Text Box 44">
            <a:extLst>
              <a:ext uri="{FF2B5EF4-FFF2-40B4-BE49-F238E27FC236}">
                <a16:creationId xmlns:a16="http://schemas.microsoft.com/office/drawing/2014/main" id="{3FF05DAC-881F-5A4C-85B0-7DEC9D8730CF}"/>
              </a:ext>
            </a:extLst>
          </p:cNvPr>
          <p:cNvSpPr txBox="1">
            <a:spLocks noChangeArrowheads="1"/>
          </p:cNvSpPr>
          <p:nvPr/>
        </p:nvSpPr>
        <p:spPr bwMode="auto">
          <a:xfrm>
            <a:off x="3137261" y="3857625"/>
            <a:ext cx="1410964"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ignore duplicate ACK</a:t>
            </a: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1675679" y="1775222"/>
            <a:ext cx="1675460"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i="1" u="sng" kern="0">
                <a:solidFill>
                  <a:srgbClr val="000099"/>
                </a:solidFill>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1707356" y="2034780"/>
            <a:ext cx="1200149" cy="888207"/>
            <a:chOff x="2276475" y="1570039"/>
            <a:chExt cx="1600200" cy="1184276"/>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279650" y="1570039"/>
              <a:ext cx="1592262" cy="338138"/>
              <a:chOff x="89" y="914"/>
              <a:chExt cx="1003" cy="213"/>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276475" y="1855789"/>
              <a:ext cx="1592262" cy="338138"/>
              <a:chOff x="89" y="914"/>
              <a:chExt cx="1003" cy="213"/>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284412" y="2141539"/>
              <a:ext cx="1592263" cy="338138"/>
              <a:chOff x="89" y="914"/>
              <a:chExt cx="1003" cy="213"/>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FFFFFF"/>
                    </a:solidFill>
                    <a:latin typeface="Arial" charset="0"/>
                  </a:rPr>
                  <a:t>0 1 2 3 </a:t>
                </a:r>
                <a:r>
                  <a:rPr lang="en-US" sz="1050">
                    <a:solidFill>
                      <a:srgbClr val="000000"/>
                    </a:solidFill>
                    <a:latin typeface="Arial" charset="0"/>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281237" y="2416177"/>
              <a:ext cx="1592263" cy="338138"/>
              <a:chOff x="89" y="914"/>
              <a:chExt cx="1003" cy="213"/>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FFFFFF"/>
                    </a:solidFill>
                    <a:latin typeface="Arial" charset="0"/>
                  </a:rPr>
                  <a:t>0 1 2 3 </a:t>
                </a:r>
                <a:r>
                  <a:rPr lang="en-US" sz="1050">
                    <a:solidFill>
                      <a:srgbClr val="000000"/>
                    </a:solidFill>
                    <a:latin typeface="Arial" charset="0"/>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1709557" y="3208736"/>
            <a:ext cx="2842202" cy="507832"/>
            <a:chOff x="2279410" y="3135312"/>
            <a:chExt cx="3789602" cy="677108"/>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279410" y="3135312"/>
              <a:ext cx="3789602" cy="677108"/>
              <a:chOff x="2279410" y="3135312"/>
              <a:chExt cx="3789602" cy="677108"/>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677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1350" kern="0" dirty="0" err="1">
                    <a:solidFill>
                      <a:srgbClr val="000000"/>
                    </a:solidFill>
                  </a:rPr>
                  <a:t>rcv</a:t>
                </a:r>
                <a:r>
                  <a:rPr lang="en-US" sz="1350" kern="0" dirty="0">
                    <a:solidFill>
                      <a:srgbClr val="000000"/>
                    </a:solidFill>
                  </a:rPr>
                  <a:t>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279410" y="3186112"/>
                <a:ext cx="159274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000000"/>
                    </a:solidFill>
                    <a:latin typeface="Arial" charset="0"/>
                  </a:rPr>
                  <a:t>0 </a:t>
                </a:r>
                <a:r>
                  <a:rPr lang="en-US" sz="1050" dirty="0">
                    <a:solidFill>
                      <a:srgbClr val="FFFFFF"/>
                    </a:solidFill>
                    <a:latin typeface="Arial" charset="0"/>
                  </a:rPr>
                  <a:t>1 2 3 4</a:t>
                </a:r>
                <a:r>
                  <a:rPr lang="en-US" sz="1050" dirty="0">
                    <a:solidFill>
                      <a:srgbClr val="000000"/>
                    </a:solidFill>
                    <a:latin typeface="Arial" charset="0"/>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1697832" y="4423176"/>
            <a:ext cx="1200151" cy="813198"/>
            <a:chOff x="2263775" y="4754567"/>
            <a:chExt cx="1600200" cy="1084263"/>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263775" y="4754567"/>
              <a:ext cx="1592263" cy="338138"/>
              <a:chOff x="86" y="2105"/>
              <a:chExt cx="1003" cy="213"/>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271712" y="4995867"/>
              <a:ext cx="1592263" cy="338138"/>
              <a:chOff x="86" y="2105"/>
              <a:chExt cx="1003" cy="213"/>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268537" y="5259392"/>
              <a:ext cx="1592263" cy="338138"/>
              <a:chOff x="86" y="2105"/>
              <a:chExt cx="1003" cy="213"/>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265362" y="5500692"/>
              <a:ext cx="1592263" cy="338138"/>
              <a:chOff x="86" y="2105"/>
              <a:chExt cx="1003" cy="213"/>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5347097" y="3764757"/>
            <a:ext cx="779860" cy="654844"/>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grpSp>
        <p:nvGrpSpPr>
          <p:cNvPr id="12" name="Group 11">
            <a:extLst>
              <a:ext uri="{FF2B5EF4-FFF2-40B4-BE49-F238E27FC236}">
                <a16:creationId xmlns:a16="http://schemas.microsoft.com/office/drawing/2014/main" id="{A72E6ECF-EC8F-534A-B975-E7A316543BA2}"/>
              </a:ext>
            </a:extLst>
          </p:cNvPr>
          <p:cNvGrpSpPr/>
          <p:nvPr/>
        </p:nvGrpSpPr>
        <p:grpSpPr>
          <a:xfrm>
            <a:off x="5331619" y="4889896"/>
            <a:ext cx="810815" cy="977504"/>
            <a:chOff x="7083425" y="5376862"/>
            <a:chExt cx="1081087" cy="1303338"/>
          </a:xfrm>
        </p:grpSpPr>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7131050" y="5376862"/>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3" name="Line 101">
              <a:extLst>
                <a:ext uri="{FF2B5EF4-FFF2-40B4-BE49-F238E27FC236}">
                  <a16:creationId xmlns:a16="http://schemas.microsoft.com/office/drawing/2014/main" id="{84B4DDDE-6474-8442-BB57-A50ADD9CEBEC}"/>
                </a:ext>
              </a:extLst>
            </p:cNvPr>
            <p:cNvSpPr>
              <a:spLocks noChangeShapeType="1"/>
            </p:cNvSpPr>
            <p:nvPr/>
          </p:nvSpPr>
          <p:spPr bwMode="auto">
            <a:xfrm flipH="1">
              <a:off x="7115175" y="5630862"/>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4" name="Line 102">
              <a:extLst>
                <a:ext uri="{FF2B5EF4-FFF2-40B4-BE49-F238E27FC236}">
                  <a16:creationId xmlns:a16="http://schemas.microsoft.com/office/drawing/2014/main" id="{73C0C64C-D6E3-AC4F-B1DD-2ECA3B116102}"/>
                </a:ext>
              </a:extLst>
            </p:cNvPr>
            <p:cNvSpPr>
              <a:spLocks noChangeShapeType="1"/>
            </p:cNvSpPr>
            <p:nvPr/>
          </p:nvSpPr>
          <p:spPr bwMode="auto">
            <a:xfrm flipH="1">
              <a:off x="7099300" y="5873750"/>
              <a:ext cx="1033462"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5" name="Line 103">
              <a:extLst>
                <a:ext uri="{FF2B5EF4-FFF2-40B4-BE49-F238E27FC236}">
                  <a16:creationId xmlns:a16="http://schemas.microsoft.com/office/drawing/2014/main" id="{2133D681-30CA-654C-AE01-4F7EF0A35A48}"/>
                </a:ext>
              </a:extLst>
            </p:cNvPr>
            <p:cNvSpPr>
              <a:spLocks noChangeShapeType="1"/>
            </p:cNvSpPr>
            <p:nvPr/>
          </p:nvSpPr>
          <p:spPr bwMode="auto">
            <a:xfrm flipH="1">
              <a:off x="7083425" y="6116637"/>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grpSp>
        <p:nvGrpSpPr>
          <p:cNvPr id="7" name="Group 6">
            <a:extLst>
              <a:ext uri="{FF2B5EF4-FFF2-40B4-BE49-F238E27FC236}">
                <a16:creationId xmlns:a16="http://schemas.microsoft.com/office/drawing/2014/main" id="{FBA17A60-2A45-964D-961F-A44FDA1E12F8}"/>
              </a:ext>
            </a:extLst>
          </p:cNvPr>
          <p:cNvGrpSpPr/>
          <p:nvPr/>
        </p:nvGrpSpPr>
        <p:grpSpPr>
          <a:xfrm>
            <a:off x="1706165" y="3446865"/>
            <a:ext cx="2845594" cy="507831"/>
            <a:chOff x="2274887" y="3452813"/>
            <a:chExt cx="3794125" cy="677105"/>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274887" y="3460755"/>
              <a:ext cx="1592263" cy="338138"/>
              <a:chOff x="86" y="2105"/>
              <a:chExt cx="1003" cy="213"/>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6771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1350" kern="0" dirty="0" err="1">
                  <a:solidFill>
                    <a:srgbClr val="000000"/>
                  </a:solidFill>
                </a:rPr>
                <a:t>rcv</a:t>
              </a:r>
              <a:r>
                <a:rPr lang="en-US" sz="1350" kern="0" dirty="0">
                  <a:solidFill>
                    <a:srgbClr val="000000"/>
                  </a:solidFill>
                </a:rPr>
                <a:t>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4527947" y="2066925"/>
            <a:ext cx="8335" cy="340399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83" name="Slide Number Placeholder 2">
            <a:extLst>
              <a:ext uri="{FF2B5EF4-FFF2-40B4-BE49-F238E27FC236}">
                <a16:creationId xmlns:a16="http://schemas.microsoft.com/office/drawing/2014/main" id="{D2E57CDD-AF57-3E45-9B83-97B06BD5DF03}"/>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60</a:t>
            </a:fld>
            <a:endParaRPr lang="en-US" dirty="0">
              <a:solidFill>
                <a:prstClr val="white">
                  <a:lumMod val="50000"/>
                </a:prstClr>
              </a:solidFill>
            </a:endParaRPr>
          </a:p>
        </p:txBody>
      </p:sp>
    </p:spTree>
    <p:extLst>
      <p:ext uri="{BB962C8B-B14F-4D97-AF65-F5344CB8AC3E}">
        <p14:creationId xmlns:p14="http://schemas.microsoft.com/office/powerpoint/2010/main" val="1325519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2"/>
                                        </p:tgtEl>
                                        <p:attrNameLst>
                                          <p:attrName>style.visibility</p:attrName>
                                        </p:attrNameLst>
                                      </p:cBhvr>
                                      <p:to>
                                        <p:strVal val="visible"/>
                                      </p:to>
                                    </p:set>
                                    <p:animEffect transition="in" filter="dissolve">
                                      <p:cBhvr>
                                        <p:cTn id="19" dur="500"/>
                                        <p:tgtEl>
                                          <p:spTgt spid="1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136"/>
                                        </p:tgtEl>
                                        <p:attrNameLst>
                                          <p:attrName>style.visibility</p:attrName>
                                        </p:attrNameLst>
                                      </p:cBhvr>
                                      <p:to>
                                        <p:strVal val="visible"/>
                                      </p:to>
                                    </p:set>
                                    <p:animEffect transition="in" filter="dissolve">
                                      <p:cBhvr>
                                        <p:cTn id="43" dur="500"/>
                                        <p:tgtEl>
                                          <p:spTgt spid="13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137"/>
                                        </p:tgtEl>
                                        <p:attrNameLst>
                                          <p:attrName>style.visibility</p:attrName>
                                        </p:attrNameLst>
                                      </p:cBhvr>
                                      <p:to>
                                        <p:strVal val="visible"/>
                                      </p:to>
                                    </p:set>
                                    <p:animEffect transition="in" filter="dissolve">
                                      <p:cBhvr>
                                        <p:cTn id="56" dur="500"/>
                                        <p:tgtEl>
                                          <p:spTgt spid="137"/>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39"/>
                                        </p:tgtEl>
                                        <p:attrNameLst>
                                          <p:attrName>style.visibility</p:attrName>
                                        </p:attrNameLst>
                                      </p:cBhvr>
                                      <p:to>
                                        <p:strVal val="visible"/>
                                      </p:to>
                                    </p:set>
                                    <p:animEffect transition="in" filter="dissolve">
                                      <p:cBhvr>
                                        <p:cTn id="61" dur="500"/>
                                        <p:tgtEl>
                                          <p:spTgt spid="13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right)">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dissolve">
                                      <p:cBhvr>
                                        <p:cTn id="71" dur="500"/>
                                        <p:tgtEl>
                                          <p:spTgt spid="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wipe(left)">
                                      <p:cBhvr>
                                        <p:cTn id="76" dur="500"/>
                                        <p:tgtEl>
                                          <p:spTgt spid="10"/>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116"/>
                                        </p:tgtEl>
                                        <p:attrNameLst>
                                          <p:attrName>style.visibility</p:attrName>
                                        </p:attrNameLst>
                                      </p:cBhvr>
                                      <p:to>
                                        <p:strVal val="visible"/>
                                      </p:to>
                                    </p:set>
                                    <p:animEffect transition="in" filter="wipe(left)">
                                      <p:cBhvr>
                                        <p:cTn id="80" dur="500"/>
                                        <p:tgtEl>
                                          <p:spTgt spid="116"/>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ipe(left)">
                                      <p:cBhvr>
                                        <p:cTn id="84" dur="500"/>
                                        <p:tgtEl>
                                          <p:spTgt spid="11"/>
                                        </p:tgtEl>
                                      </p:cBhvr>
                                    </p:animEffect>
                                  </p:childTnLst>
                                </p:cTn>
                              </p:par>
                            </p:childTnLst>
                          </p:cTn>
                        </p:par>
                        <p:par>
                          <p:cTn id="85" fill="hold">
                            <p:stCondLst>
                              <p:cond delay="1500"/>
                            </p:stCondLst>
                            <p:childTnLst>
                              <p:par>
                                <p:cTn id="86" presetID="9" presetClass="entr" presetSubtype="0" fill="hold" grpId="0" nodeType="afterEffect">
                                  <p:stCondLst>
                                    <p:cond delay="0"/>
                                  </p:stCondLst>
                                  <p:childTnLst>
                                    <p:set>
                                      <p:cBhvr>
                                        <p:cTn id="87" dur="1" fill="hold">
                                          <p:stCondLst>
                                            <p:cond delay="0"/>
                                          </p:stCondLst>
                                        </p:cTn>
                                        <p:tgtEl>
                                          <p:spTgt spid="138"/>
                                        </p:tgtEl>
                                        <p:attrNameLst>
                                          <p:attrName>style.visibility</p:attrName>
                                        </p:attrNameLst>
                                      </p:cBhvr>
                                      <p:to>
                                        <p:strVal val="visible"/>
                                      </p:to>
                                    </p:set>
                                    <p:animEffect transition="in" filter="dissolve">
                                      <p:cBhvr>
                                        <p:cTn id="88" dur="500"/>
                                        <p:tgtEl>
                                          <p:spTgt spid="138"/>
                                        </p:tgtEl>
                                      </p:cBhvr>
                                    </p:animEffect>
                                  </p:childTnLst>
                                </p:cTn>
                              </p:par>
                            </p:childTnLst>
                          </p:cTn>
                        </p:par>
                        <p:par>
                          <p:cTn id="89" fill="hold">
                            <p:stCondLst>
                              <p:cond delay="2000"/>
                            </p:stCondLst>
                            <p:childTnLst>
                              <p:par>
                                <p:cTn id="90" presetID="22" presetClass="entr" presetSubtype="2" fill="hold" nodeType="after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wipe(right)">
                                      <p:cBhvr>
                                        <p:cTn id="9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2" grpId="0"/>
      <p:bldP spid="116" grpId="0"/>
      <p:bldP spid="121" grpId="0" animBg="1"/>
      <p:bldP spid="124" grpId="0" animBg="1"/>
      <p:bldP spid="125" grpId="0" animBg="1"/>
      <p:bldP spid="126" grpId="0" animBg="1"/>
      <p:bldP spid="127" grpId="0" animBg="1"/>
      <p:bldP spid="136" grpId="0"/>
      <p:bldP spid="137" grpId="0"/>
      <p:bldP spid="138" grpId="0"/>
      <p:bldP spid="13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Selective Repeat in action</a:t>
            </a:r>
            <a:endParaRPr lang="en-US"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3523096" y="2006203"/>
            <a:ext cx="989373" cy="11310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1350" kern="0" dirty="0">
                <a:solidFill>
                  <a:srgbClr val="000000"/>
                </a:solidFill>
              </a:rPr>
              <a:t>send  pkt0</a:t>
            </a:r>
          </a:p>
          <a:p>
            <a:pPr algn="r">
              <a:defRPr/>
            </a:pPr>
            <a:r>
              <a:rPr lang="en-US" sz="1350" kern="0" dirty="0">
                <a:solidFill>
                  <a:srgbClr val="000000"/>
                </a:solidFill>
              </a:rPr>
              <a:t>send  pkt1</a:t>
            </a:r>
          </a:p>
          <a:p>
            <a:pPr algn="r">
              <a:defRPr/>
            </a:pPr>
            <a:r>
              <a:rPr lang="en-US" sz="1350" kern="0" dirty="0">
                <a:solidFill>
                  <a:srgbClr val="000000"/>
                </a:solidFill>
              </a:rPr>
              <a:t>send  pkt2</a:t>
            </a:r>
          </a:p>
          <a:p>
            <a:pPr algn="r">
              <a:defRPr/>
            </a:pPr>
            <a:r>
              <a:rPr lang="en-US" sz="1350" kern="0" dirty="0">
                <a:solidFill>
                  <a:srgbClr val="000000"/>
                </a:solidFill>
              </a:rPr>
              <a:t>send  pkt3</a:t>
            </a:r>
          </a:p>
          <a:p>
            <a:pPr algn="r">
              <a:defRPr/>
            </a:pPr>
            <a:r>
              <a:rPr lang="en-US" sz="1350" kern="0" dirty="0">
                <a:solidFill>
                  <a:srgbClr val="000000"/>
                </a:solidFill>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3791901" y="1727597"/>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i="1" u="sng" kern="0">
                <a:solidFill>
                  <a:srgbClr val="000099"/>
                </a:solidFill>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6066514" y="1741884"/>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i="1" u="sng" kern="0">
                <a:solidFill>
                  <a:srgbClr val="008000"/>
                </a:solidFill>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6147197" y="2190750"/>
            <a:ext cx="8335" cy="340399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3329498" y="4392216"/>
            <a:ext cx="1186543" cy="4455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350" kern="0" dirty="0">
                <a:solidFill>
                  <a:srgbClr val="000000"/>
                </a:solidFill>
              </a:rPr>
              <a:t>send  pkt2</a:t>
            </a:r>
          </a:p>
          <a:p>
            <a:pPr algn="r">
              <a:lnSpc>
                <a:spcPct val="90000"/>
              </a:lnSpc>
              <a:defRPr/>
            </a:pPr>
            <a:r>
              <a:rPr lang="en-US" sz="1200" kern="0" dirty="0">
                <a:solidFill>
                  <a:srgbClr val="C00000"/>
                </a:solidFill>
              </a:rPr>
              <a:t>(but not 3,4,5)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4550569" y="2544365"/>
            <a:ext cx="1510903" cy="80010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4544615" y="2151459"/>
            <a:ext cx="1591866" cy="969169"/>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05826" y="2298700"/>
              <a:ext cx="404385" cy="4001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b="1" kern="0">
                  <a:solidFill>
                    <a:srgbClr val="FF0000"/>
                  </a:solidFill>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63159" y="2319337"/>
              <a:ext cx="58819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i="1" kern="0">
                  <a:solidFill>
                    <a:srgbClr val="FF0000"/>
                  </a:solidFill>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4548188" y="2758678"/>
            <a:ext cx="1510903" cy="825104"/>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4550569" y="3386138"/>
            <a:ext cx="1575197" cy="351234"/>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4574381" y="3625453"/>
            <a:ext cx="1576388" cy="3512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4572000" y="3156346"/>
            <a:ext cx="1510903" cy="825104"/>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3061097" y="2547938"/>
            <a:ext cx="1483519" cy="1931689"/>
            <a:chOff x="4081462" y="2254250"/>
            <a:chExt cx="1978025" cy="257558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371795" y="4498975"/>
              <a:ext cx="1616254" cy="3308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75000"/>
                </a:lnSpc>
                <a:defRPr/>
              </a:pPr>
              <a:r>
                <a:rPr lang="en-US" sz="1350" i="1" kern="0">
                  <a:solidFill>
                    <a:srgbClr val="FF0000"/>
                  </a:solidFill>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4556522" y="4520803"/>
            <a:ext cx="1575197" cy="3512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1675679" y="1775222"/>
            <a:ext cx="1675460"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i="1" u="sng" kern="0">
                <a:solidFill>
                  <a:srgbClr val="000099"/>
                </a:solidFill>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1707356" y="2034780"/>
            <a:ext cx="1200149" cy="888207"/>
            <a:chOff x="2276475" y="1570039"/>
            <a:chExt cx="1600200" cy="1184276"/>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279650" y="1570039"/>
              <a:ext cx="1592262" cy="338138"/>
              <a:chOff x="89" y="914"/>
              <a:chExt cx="1003" cy="213"/>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276475" y="1855789"/>
              <a:ext cx="1592262" cy="338138"/>
              <a:chOff x="89" y="914"/>
              <a:chExt cx="1003" cy="213"/>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284412" y="2141539"/>
              <a:ext cx="1592263" cy="338138"/>
              <a:chOff x="89" y="914"/>
              <a:chExt cx="1003" cy="213"/>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FFFFFF"/>
                    </a:solidFill>
                    <a:latin typeface="Arial" charset="0"/>
                  </a:rPr>
                  <a:t>0 1 2 3 </a:t>
                </a:r>
                <a:r>
                  <a:rPr lang="en-US" sz="1050">
                    <a:solidFill>
                      <a:srgbClr val="000000"/>
                    </a:solidFill>
                    <a:latin typeface="Arial" charset="0"/>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281237" y="2416177"/>
              <a:ext cx="1592263" cy="338138"/>
              <a:chOff x="89" y="914"/>
              <a:chExt cx="1003" cy="213"/>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FFFFFF"/>
                    </a:solidFill>
                    <a:latin typeface="Arial" charset="0"/>
                  </a:rPr>
                  <a:t>0 1 2 3 </a:t>
                </a:r>
                <a:r>
                  <a:rPr lang="en-US" sz="1050">
                    <a:solidFill>
                      <a:srgbClr val="000000"/>
                    </a:solidFill>
                    <a:latin typeface="Arial" charset="0"/>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1709557" y="3208736"/>
            <a:ext cx="2842202" cy="507832"/>
            <a:chOff x="2279410" y="3135312"/>
            <a:chExt cx="3789602" cy="677108"/>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279410" y="3135312"/>
              <a:ext cx="3789602" cy="677108"/>
              <a:chOff x="2279410" y="3135312"/>
              <a:chExt cx="3789602" cy="677108"/>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677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1350" kern="0" dirty="0" err="1">
                    <a:solidFill>
                      <a:srgbClr val="000000"/>
                    </a:solidFill>
                  </a:rPr>
                  <a:t>rcv</a:t>
                </a:r>
                <a:r>
                  <a:rPr lang="en-US" sz="1350" kern="0" dirty="0">
                    <a:solidFill>
                      <a:srgbClr val="000000"/>
                    </a:solidFill>
                  </a:rPr>
                  <a:t>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279410" y="3186112"/>
                <a:ext cx="159274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000000"/>
                    </a:solidFill>
                    <a:latin typeface="Arial" charset="0"/>
                  </a:rPr>
                  <a:t>0 </a:t>
                </a:r>
                <a:r>
                  <a:rPr lang="en-US" sz="1050" dirty="0">
                    <a:solidFill>
                      <a:srgbClr val="FFFFFF"/>
                    </a:solidFill>
                    <a:latin typeface="Arial" charset="0"/>
                  </a:rPr>
                  <a:t>1 2 3 4</a:t>
                </a:r>
                <a:r>
                  <a:rPr lang="en-US" sz="1050" dirty="0">
                    <a:solidFill>
                      <a:srgbClr val="000000"/>
                    </a:solidFill>
                    <a:latin typeface="Arial" charset="0"/>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1697832" y="4423176"/>
            <a:ext cx="1200151" cy="813198"/>
            <a:chOff x="2263775" y="4754567"/>
            <a:chExt cx="1600200" cy="1084263"/>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263775" y="4754567"/>
              <a:ext cx="1592263" cy="338138"/>
              <a:chOff x="86" y="2105"/>
              <a:chExt cx="1003" cy="213"/>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271712" y="4995867"/>
              <a:ext cx="1592263" cy="338138"/>
              <a:chOff x="86" y="2105"/>
              <a:chExt cx="1003" cy="213"/>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268537" y="5259392"/>
              <a:ext cx="1592263" cy="338138"/>
              <a:chOff x="86" y="2105"/>
              <a:chExt cx="1003" cy="213"/>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265362" y="5500692"/>
              <a:ext cx="1592263" cy="338138"/>
              <a:chOff x="86" y="2105"/>
              <a:chExt cx="1003" cy="213"/>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5347097" y="3764757"/>
            <a:ext cx="779860" cy="654844"/>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5367337" y="4889897"/>
            <a:ext cx="775097" cy="42267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nvGrpSpPr>
          <p:cNvPr id="7" name="Group 6">
            <a:extLst>
              <a:ext uri="{FF2B5EF4-FFF2-40B4-BE49-F238E27FC236}">
                <a16:creationId xmlns:a16="http://schemas.microsoft.com/office/drawing/2014/main" id="{FBA17A60-2A45-964D-961F-A44FDA1E12F8}"/>
              </a:ext>
            </a:extLst>
          </p:cNvPr>
          <p:cNvGrpSpPr/>
          <p:nvPr/>
        </p:nvGrpSpPr>
        <p:grpSpPr>
          <a:xfrm>
            <a:off x="1706165" y="3446865"/>
            <a:ext cx="2845594" cy="507831"/>
            <a:chOff x="2274887" y="3452813"/>
            <a:chExt cx="3794125" cy="677105"/>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274887" y="3460755"/>
              <a:ext cx="1592263" cy="338138"/>
              <a:chOff x="86" y="2105"/>
              <a:chExt cx="1003" cy="213"/>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6771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1350" kern="0" dirty="0" err="1">
                  <a:solidFill>
                    <a:srgbClr val="000000"/>
                  </a:solidFill>
                </a:rPr>
                <a:t>rcv</a:t>
              </a:r>
              <a:r>
                <a:rPr lang="en-US" sz="1350" kern="0" dirty="0">
                  <a:solidFill>
                    <a:srgbClr val="000000"/>
                  </a:solidFill>
                </a:rPr>
                <a:t>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4527947" y="2066925"/>
            <a:ext cx="5954" cy="321945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83" name="Text Box 8">
            <a:extLst>
              <a:ext uri="{FF2B5EF4-FFF2-40B4-BE49-F238E27FC236}">
                <a16:creationId xmlns:a16="http://schemas.microsoft.com/office/drawing/2014/main" id="{BABEA9E2-FB48-7943-B33A-C867AB1A6D4D}"/>
              </a:ext>
            </a:extLst>
          </p:cNvPr>
          <p:cNvSpPr txBox="1">
            <a:spLocks noChangeArrowheads="1"/>
          </p:cNvSpPr>
          <p:nvPr/>
        </p:nvSpPr>
        <p:spPr bwMode="auto">
          <a:xfrm>
            <a:off x="6091749" y="2359819"/>
            <a:ext cx="1992853" cy="11310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350" kern="0" dirty="0">
                <a:solidFill>
                  <a:srgbClr val="000000"/>
                </a:solidFill>
              </a:rPr>
              <a:t>receive pkt0, send ack0</a:t>
            </a:r>
          </a:p>
          <a:p>
            <a:pPr>
              <a:defRPr/>
            </a:pPr>
            <a:r>
              <a:rPr lang="en-US" sz="1350" kern="0" dirty="0">
                <a:solidFill>
                  <a:srgbClr val="000000"/>
                </a:solidFill>
              </a:rPr>
              <a:t>receive pkt1, send ack1</a:t>
            </a:r>
          </a:p>
          <a:p>
            <a:pPr>
              <a:defRPr/>
            </a:pPr>
            <a:r>
              <a:rPr lang="en-US" sz="1350" kern="0" dirty="0">
                <a:solidFill>
                  <a:srgbClr val="000000"/>
                </a:solidFill>
              </a:rPr>
              <a:t> </a:t>
            </a:r>
          </a:p>
          <a:p>
            <a:pPr>
              <a:defRPr/>
            </a:pPr>
            <a:r>
              <a:rPr lang="en-US" sz="1350" kern="0" dirty="0">
                <a:solidFill>
                  <a:srgbClr val="000000"/>
                </a:solidFill>
              </a:rPr>
              <a:t>receive pkt3, </a:t>
            </a:r>
            <a:r>
              <a:rPr lang="en-US" sz="1350" kern="0" dirty="0">
                <a:solidFill>
                  <a:srgbClr val="C00000"/>
                </a:solidFill>
              </a:rPr>
              <a:t>buffer</a:t>
            </a:r>
            <a:r>
              <a:rPr lang="en-US" sz="1350" kern="0" dirty="0">
                <a:solidFill>
                  <a:srgbClr val="000000"/>
                </a:solidFill>
              </a:rPr>
              <a:t>, </a:t>
            </a:r>
          </a:p>
          <a:p>
            <a:pPr>
              <a:defRPr/>
            </a:pPr>
            <a:r>
              <a:rPr lang="en-US" sz="1350" kern="0" dirty="0">
                <a:solidFill>
                  <a:srgbClr val="000000"/>
                </a:solidFill>
              </a:rPr>
              <a:t>           </a:t>
            </a:r>
            <a:r>
              <a:rPr lang="en-US" sz="1350" kern="0" dirty="0">
                <a:solidFill>
                  <a:srgbClr val="C00000"/>
                </a:solidFill>
              </a:rPr>
              <a:t>send ack3</a:t>
            </a:r>
          </a:p>
        </p:txBody>
      </p:sp>
      <p:sp>
        <p:nvSpPr>
          <p:cNvPr id="8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3265769" y="3832622"/>
            <a:ext cx="1327608"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C00000"/>
                </a:solidFill>
              </a:rPr>
              <a:t>record ack3 arrived</a:t>
            </a:r>
          </a:p>
        </p:txBody>
      </p:sp>
      <p:sp>
        <p:nvSpPr>
          <p:cNvPr id="85" name="Text Box 33">
            <a:extLst>
              <a:ext uri="{FF2B5EF4-FFF2-40B4-BE49-F238E27FC236}">
                <a16:creationId xmlns:a16="http://schemas.microsoft.com/office/drawing/2014/main" id="{2C93E184-20A0-D148-9427-205CD214D4C6}"/>
              </a:ext>
            </a:extLst>
          </p:cNvPr>
          <p:cNvSpPr txBox="1">
            <a:spLocks noChangeArrowheads="1"/>
          </p:cNvSpPr>
          <p:nvPr/>
        </p:nvSpPr>
        <p:spPr bwMode="auto">
          <a:xfrm>
            <a:off x="6127467" y="3559969"/>
            <a:ext cx="1787669" cy="5078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350" kern="0" dirty="0">
                <a:solidFill>
                  <a:srgbClr val="000000"/>
                </a:solidFill>
              </a:rPr>
              <a:t>receive pkt4, </a:t>
            </a:r>
            <a:r>
              <a:rPr lang="en-US" sz="1350" kern="0" dirty="0">
                <a:solidFill>
                  <a:srgbClr val="C00000"/>
                </a:solidFill>
              </a:rPr>
              <a:t>buffer, </a:t>
            </a:r>
          </a:p>
          <a:p>
            <a:pPr>
              <a:defRPr/>
            </a:pPr>
            <a:r>
              <a:rPr lang="en-US" sz="1350" kern="0" dirty="0">
                <a:solidFill>
                  <a:srgbClr val="C00000"/>
                </a:solidFill>
              </a:rPr>
              <a:t>           send ack4</a:t>
            </a:r>
          </a:p>
        </p:txBody>
      </p:sp>
      <p:sp>
        <p:nvSpPr>
          <p:cNvPr id="86" name="Text Box 34">
            <a:extLst>
              <a:ext uri="{FF2B5EF4-FFF2-40B4-BE49-F238E27FC236}">
                <a16:creationId xmlns:a16="http://schemas.microsoft.com/office/drawing/2014/main" id="{68B83592-7F50-904A-B0CC-EE81AD5FA7B7}"/>
              </a:ext>
            </a:extLst>
          </p:cNvPr>
          <p:cNvSpPr txBox="1">
            <a:spLocks noChangeArrowheads="1"/>
          </p:cNvSpPr>
          <p:nvPr/>
        </p:nvSpPr>
        <p:spPr bwMode="auto">
          <a:xfrm>
            <a:off x="6141755" y="3950494"/>
            <a:ext cx="1787669" cy="5078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350" kern="0" dirty="0">
                <a:solidFill>
                  <a:srgbClr val="000000"/>
                </a:solidFill>
              </a:rPr>
              <a:t>receive pkt5, </a:t>
            </a:r>
            <a:r>
              <a:rPr lang="en-US" sz="1350" kern="0" dirty="0">
                <a:solidFill>
                  <a:srgbClr val="C00000"/>
                </a:solidFill>
              </a:rPr>
              <a:t>buffer, </a:t>
            </a:r>
          </a:p>
          <a:p>
            <a:pPr>
              <a:defRPr/>
            </a:pPr>
            <a:r>
              <a:rPr lang="en-US" sz="1350" kern="0" dirty="0">
                <a:solidFill>
                  <a:srgbClr val="C00000"/>
                </a:solidFill>
              </a:rPr>
              <a:t>           send ack5</a:t>
            </a:r>
          </a:p>
        </p:txBody>
      </p:sp>
      <p:sp>
        <p:nvSpPr>
          <p:cNvPr id="87" name="Text Box 35">
            <a:extLst>
              <a:ext uri="{FF2B5EF4-FFF2-40B4-BE49-F238E27FC236}">
                <a16:creationId xmlns:a16="http://schemas.microsoft.com/office/drawing/2014/main" id="{CD12A2A4-73A8-BA4D-9548-DF22CB731141}"/>
              </a:ext>
            </a:extLst>
          </p:cNvPr>
          <p:cNvSpPr txBox="1">
            <a:spLocks noChangeArrowheads="1"/>
          </p:cNvSpPr>
          <p:nvPr/>
        </p:nvSpPr>
        <p:spPr bwMode="auto">
          <a:xfrm>
            <a:off x="6121513" y="4749403"/>
            <a:ext cx="2287806" cy="4662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350" kern="0" dirty="0" err="1">
                <a:solidFill>
                  <a:srgbClr val="000000"/>
                </a:solidFill>
              </a:rPr>
              <a:t>rcv</a:t>
            </a:r>
            <a:r>
              <a:rPr lang="en-US" sz="1350" kern="0" dirty="0">
                <a:solidFill>
                  <a:srgbClr val="000000"/>
                </a:solidFill>
              </a:rPr>
              <a:t> pkt2; </a:t>
            </a:r>
            <a:r>
              <a:rPr lang="en-US" sz="1350" kern="0" dirty="0">
                <a:solidFill>
                  <a:srgbClr val="C00000"/>
                </a:solidFill>
              </a:rPr>
              <a:t>deliver pkt2,</a:t>
            </a:r>
          </a:p>
          <a:p>
            <a:pPr>
              <a:lnSpc>
                <a:spcPct val="90000"/>
              </a:lnSpc>
              <a:defRPr/>
            </a:pPr>
            <a:r>
              <a:rPr lang="en-US" sz="1350" kern="0" dirty="0">
                <a:solidFill>
                  <a:srgbClr val="C00000"/>
                </a:solidFill>
              </a:rPr>
              <a:t>pkt3, pkt4, pkt5; send ack2</a:t>
            </a:r>
          </a:p>
        </p:txBody>
      </p:sp>
      <p:sp>
        <p:nvSpPr>
          <p:cNvPr id="88" name="Text Box 93">
            <a:extLst>
              <a:ext uri="{FF2B5EF4-FFF2-40B4-BE49-F238E27FC236}">
                <a16:creationId xmlns:a16="http://schemas.microsoft.com/office/drawing/2014/main" id="{DA7120B9-9E7A-1348-95F0-2AB8574C69FF}"/>
              </a:ext>
            </a:extLst>
          </p:cNvPr>
          <p:cNvSpPr txBox="1">
            <a:spLocks noChangeArrowheads="1"/>
          </p:cNvSpPr>
          <p:nvPr/>
        </p:nvSpPr>
        <p:spPr bwMode="auto">
          <a:xfrm>
            <a:off x="3315880" y="5297091"/>
            <a:ext cx="2701381"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i="1" kern="0" dirty="0">
                <a:solidFill>
                  <a:srgbClr val="000000"/>
                </a:solidFill>
              </a:rPr>
              <a:t>Q: what happens when ack2 arrives?</a:t>
            </a:r>
          </a:p>
        </p:txBody>
      </p:sp>
      <p:sp>
        <p:nvSpPr>
          <p:cNvPr id="76" name="Slide Number Placeholder 2">
            <a:extLst>
              <a:ext uri="{FF2B5EF4-FFF2-40B4-BE49-F238E27FC236}">
                <a16:creationId xmlns:a16="http://schemas.microsoft.com/office/drawing/2014/main" id="{31C667D1-6F31-7340-B2B9-6B7265E49357}"/>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61</a:t>
            </a:fld>
            <a:endParaRPr lang="en-US" dirty="0">
              <a:solidFill>
                <a:prstClr val="white">
                  <a:lumMod val="50000"/>
                </a:prstClr>
              </a:solidFill>
            </a:endParaRPr>
          </a:p>
        </p:txBody>
      </p:sp>
    </p:spTree>
    <p:extLst>
      <p:ext uri="{BB962C8B-B14F-4D97-AF65-F5344CB8AC3E}">
        <p14:creationId xmlns:p14="http://schemas.microsoft.com/office/powerpoint/2010/main" val="50703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dissolve">
                                      <p:cBhvr>
                                        <p:cTn id="19" dur="500"/>
                                        <p:tgtEl>
                                          <p:spTgt spid="8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85"/>
                                        </p:tgtEl>
                                        <p:attrNameLst>
                                          <p:attrName>style.visibility</p:attrName>
                                        </p:attrNameLst>
                                      </p:cBhvr>
                                      <p:to>
                                        <p:strVal val="visible"/>
                                      </p:to>
                                    </p:set>
                                    <p:animEffect transition="in" filter="dissolve">
                                      <p:cBhvr>
                                        <p:cTn id="43" dur="500"/>
                                        <p:tgtEl>
                                          <p:spTgt spid="8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86"/>
                                        </p:tgtEl>
                                        <p:attrNameLst>
                                          <p:attrName>style.visibility</p:attrName>
                                        </p:attrNameLst>
                                      </p:cBhvr>
                                      <p:to>
                                        <p:strVal val="visible"/>
                                      </p:to>
                                    </p:set>
                                    <p:animEffect transition="in" filter="dissolve">
                                      <p:cBhvr>
                                        <p:cTn id="56" dur="500"/>
                                        <p:tgtEl>
                                          <p:spTgt spid="8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500"/>
                                        <p:tgtEl>
                                          <p:spTgt spid="13"/>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dissolve">
                                      <p:cBhvr>
                                        <p:cTn id="65" dur="500"/>
                                        <p:tgtEl>
                                          <p:spTgt spid="84"/>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dissolve">
                                      <p:cBhvr>
                                        <p:cTn id="70" dur="500"/>
                                        <p:tgtEl>
                                          <p:spTgt spid="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wipe(left)">
                                      <p:cBhvr>
                                        <p:cTn id="75" dur="500"/>
                                        <p:tgtEl>
                                          <p:spTgt spid="10"/>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116"/>
                                        </p:tgtEl>
                                        <p:attrNameLst>
                                          <p:attrName>style.visibility</p:attrName>
                                        </p:attrNameLst>
                                      </p:cBhvr>
                                      <p:to>
                                        <p:strVal val="visible"/>
                                      </p:to>
                                    </p:set>
                                    <p:animEffect transition="in" filter="wipe(left)">
                                      <p:cBhvr>
                                        <p:cTn id="79" dur="500"/>
                                        <p:tgtEl>
                                          <p:spTgt spid="116"/>
                                        </p:tgtEl>
                                      </p:cBhvr>
                                    </p:animEffect>
                                  </p:childTnLst>
                                </p:cTn>
                              </p:par>
                            </p:childTnLst>
                          </p:cTn>
                        </p:par>
                        <p:par>
                          <p:cTn id="80" fill="hold">
                            <p:stCondLst>
                              <p:cond delay="1000"/>
                            </p:stCondLst>
                            <p:childTnLst>
                              <p:par>
                                <p:cTn id="81" presetID="22" presetClass="entr" presetSubtype="8" fill="hold" grpId="0" nodeType="afterEffect">
                                  <p:stCondLst>
                                    <p:cond delay="0"/>
                                  </p:stCondLst>
                                  <p:childTnLst>
                                    <p:set>
                                      <p:cBhvr>
                                        <p:cTn id="82" dur="1" fill="hold">
                                          <p:stCondLst>
                                            <p:cond delay="0"/>
                                          </p:stCondLst>
                                        </p:cTn>
                                        <p:tgtEl>
                                          <p:spTgt spid="132"/>
                                        </p:tgtEl>
                                        <p:attrNameLst>
                                          <p:attrName>style.visibility</p:attrName>
                                        </p:attrNameLst>
                                      </p:cBhvr>
                                      <p:to>
                                        <p:strVal val="visible"/>
                                      </p:to>
                                    </p:set>
                                    <p:animEffect transition="in" filter="wipe(left)">
                                      <p:cBhvr>
                                        <p:cTn id="83" dur="500"/>
                                        <p:tgtEl>
                                          <p:spTgt spid="132"/>
                                        </p:tgtEl>
                                      </p:cBhvr>
                                    </p:animEffect>
                                  </p:childTnLst>
                                </p:cTn>
                              </p:par>
                            </p:childTnLst>
                          </p:cTn>
                        </p:par>
                        <p:par>
                          <p:cTn id="84" fill="hold">
                            <p:stCondLst>
                              <p:cond delay="1500"/>
                            </p:stCondLst>
                            <p:childTnLst>
                              <p:par>
                                <p:cTn id="85" presetID="9" presetClass="entr" presetSubtype="0" fill="hold" grpId="0" nodeType="afterEffect">
                                  <p:stCondLst>
                                    <p:cond delay="0"/>
                                  </p:stCondLst>
                                  <p:childTnLst>
                                    <p:set>
                                      <p:cBhvr>
                                        <p:cTn id="86" dur="1" fill="hold">
                                          <p:stCondLst>
                                            <p:cond delay="0"/>
                                          </p:stCondLst>
                                        </p:cTn>
                                        <p:tgtEl>
                                          <p:spTgt spid="87"/>
                                        </p:tgtEl>
                                        <p:attrNameLst>
                                          <p:attrName>style.visibility</p:attrName>
                                        </p:attrNameLst>
                                      </p:cBhvr>
                                      <p:to>
                                        <p:strVal val="visible"/>
                                      </p:to>
                                    </p:set>
                                    <p:animEffect transition="in" filter="dissolve">
                                      <p:cBhvr>
                                        <p:cTn id="87" dur="500"/>
                                        <p:tgtEl>
                                          <p:spTgt spid="87"/>
                                        </p:tgtEl>
                                      </p:cBhvr>
                                    </p:animEffect>
                                  </p:childTnLst>
                                </p:cTn>
                              </p:par>
                            </p:childTnLst>
                          </p:cTn>
                        </p:par>
                        <p:par>
                          <p:cTn id="88" fill="hold">
                            <p:stCondLst>
                              <p:cond delay="2000"/>
                            </p:stCondLst>
                            <p:childTnLst>
                              <p:par>
                                <p:cTn id="89" presetID="22" presetClass="entr" presetSubtype="2" fill="hold" grpId="0" nodeType="afterEffect">
                                  <p:stCondLst>
                                    <p:cond delay="0"/>
                                  </p:stCondLst>
                                  <p:childTnLst>
                                    <p:set>
                                      <p:cBhvr>
                                        <p:cTn id="90" dur="1" fill="hold">
                                          <p:stCondLst>
                                            <p:cond delay="0"/>
                                          </p:stCondLst>
                                        </p:cTn>
                                        <p:tgtEl>
                                          <p:spTgt spid="172"/>
                                        </p:tgtEl>
                                        <p:attrNameLst>
                                          <p:attrName>style.visibility</p:attrName>
                                        </p:attrNameLst>
                                      </p:cBhvr>
                                      <p:to>
                                        <p:strVal val="visible"/>
                                      </p:to>
                                    </p:set>
                                    <p:animEffect transition="in" filter="wipe(right)">
                                      <p:cBhvr>
                                        <p:cTn id="91" dur="500"/>
                                        <p:tgtEl>
                                          <p:spTgt spid="172"/>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88"/>
                                        </p:tgtEl>
                                        <p:attrNameLst>
                                          <p:attrName>style.visibility</p:attrName>
                                        </p:attrNameLst>
                                      </p:cBhvr>
                                      <p:to>
                                        <p:strVal val="visible"/>
                                      </p:to>
                                    </p:set>
                                    <p:animEffect transition="in" filter="dissolve">
                                      <p:cBhvr>
                                        <p:cTn id="96"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6" grpId="0"/>
      <p:bldP spid="121" grpId="0" animBg="1"/>
      <p:bldP spid="124" grpId="0" animBg="1"/>
      <p:bldP spid="125" grpId="0" animBg="1"/>
      <p:bldP spid="126" grpId="0" animBg="1"/>
      <p:bldP spid="127" grpId="0" animBg="1"/>
      <p:bldP spid="132" grpId="0" animBg="1"/>
      <p:bldP spid="172" grpId="0" animBg="1"/>
      <p:bldP spid="83" grpId="0"/>
      <p:bldP spid="84" grpId="0"/>
      <p:bldP spid="85" grpId="0"/>
      <p:bldP spid="86" grpId="0"/>
      <p:bldP spid="87" grpId="0"/>
      <p:bldP spid="8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overview  </a:t>
            </a:r>
            <a:r>
              <a:rPr lang="en-US" sz="2400" b="0" dirty="0"/>
              <a:t>RFCs: 793,1122, 2018, 5681, 7323</a:t>
            </a:r>
            <a:endParaRPr lang="en-US" b="0" dirty="0"/>
          </a:p>
        </p:txBody>
      </p:sp>
      <p:sp>
        <p:nvSpPr>
          <p:cNvPr id="70" name="Rectangle 3">
            <a:extLst>
              <a:ext uri="{FF2B5EF4-FFF2-40B4-BE49-F238E27FC236}">
                <a16:creationId xmlns:a16="http://schemas.microsoft.com/office/drawing/2014/main" id="{BE7365D6-3297-0A41-9B2B-91B801F95815}"/>
              </a:ext>
            </a:extLst>
          </p:cNvPr>
          <p:cNvSpPr txBox="1">
            <a:spLocks noChangeArrowheads="1"/>
          </p:cNvSpPr>
          <p:nvPr/>
        </p:nvSpPr>
        <p:spPr>
          <a:xfrm>
            <a:off x="4462398" y="1849210"/>
            <a:ext cx="4509715" cy="4151540"/>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3616" indent="-220266" fontAlgn="auto">
              <a:spcAft>
                <a:spcPts val="0"/>
              </a:spcAft>
              <a:defRPr/>
            </a:pPr>
            <a:r>
              <a:rPr lang="en-US" altLang="en-US" sz="2400" dirty="0">
                <a:solidFill>
                  <a:srgbClr val="C00000"/>
                </a:solidFill>
                <a:ea typeface="ＭＳ Ｐゴシック" panose="020B0600070205080204" pitchFamily="34" charset="-128"/>
              </a:rPr>
              <a:t>cumulative ACKs</a:t>
            </a:r>
          </a:p>
          <a:p>
            <a:pPr marL="353616" indent="-220266" fontAlgn="auto">
              <a:spcAft>
                <a:spcPts val="0"/>
              </a:spcAft>
              <a:defRPr/>
            </a:pPr>
            <a:r>
              <a:rPr lang="en-US" altLang="en-US" sz="2400" dirty="0">
                <a:solidFill>
                  <a:srgbClr val="C00000"/>
                </a:solidFill>
                <a:ea typeface="ＭＳ Ｐゴシック" panose="020B0600070205080204" pitchFamily="34" charset="-128"/>
              </a:rPr>
              <a:t>pipelining:</a:t>
            </a:r>
          </a:p>
          <a:p>
            <a:pPr marL="689372" lvl="2" indent="-220266" fontAlgn="auto">
              <a:spcAft>
                <a:spcPts val="0"/>
              </a:spcAft>
              <a:defRPr/>
            </a:pPr>
            <a:r>
              <a:rPr lang="en-US" altLang="en-US" sz="2100" dirty="0">
                <a:solidFill>
                  <a:prstClr val="black"/>
                </a:solidFill>
                <a:ea typeface="ＭＳ Ｐゴシック" panose="020B0600070205080204" pitchFamily="34" charset="-128"/>
              </a:rPr>
              <a:t>TCP congestion and flow control set window size</a:t>
            </a:r>
            <a:endParaRPr lang="en-US" altLang="en-US" sz="2100" i="1" dirty="0">
              <a:solidFill>
                <a:prstClr val="black"/>
              </a:solidFill>
              <a:ea typeface="ＭＳ Ｐゴシック" panose="020B0600070205080204" pitchFamily="34" charset="-128"/>
            </a:endParaRPr>
          </a:p>
          <a:p>
            <a:pPr marL="353616" indent="-255985" fontAlgn="auto">
              <a:spcAft>
                <a:spcPts val="0"/>
              </a:spcAft>
              <a:buFont typeface="Wingdings" charset="2"/>
              <a:buChar char="§"/>
              <a:defRPr/>
            </a:pPr>
            <a:r>
              <a:rPr lang="en-US" sz="2400" dirty="0">
                <a:solidFill>
                  <a:srgbClr val="C00000"/>
                </a:solidFill>
              </a:rPr>
              <a:t>connection-oriented: </a:t>
            </a:r>
          </a:p>
          <a:p>
            <a:pPr lvl="1" fontAlgn="auto">
              <a:spcAft>
                <a:spcPts val="0"/>
              </a:spcAft>
              <a:buFont typeface="Arial"/>
              <a:buChar char="•"/>
              <a:defRPr/>
            </a:pPr>
            <a:r>
              <a:rPr lang="en-US" sz="2100" dirty="0">
                <a:solidFill>
                  <a:prstClr val="black"/>
                </a:solidFill>
              </a:rPr>
              <a:t>handshaking (exchange of control messages) initializes sender, receiver state before data exchange</a:t>
            </a:r>
          </a:p>
          <a:p>
            <a:pPr marL="353616" indent="-255985" fontAlgn="auto">
              <a:spcAft>
                <a:spcPts val="0"/>
              </a:spcAft>
              <a:buFont typeface="Wingdings" charset="2"/>
              <a:buChar char="§"/>
              <a:defRPr/>
            </a:pPr>
            <a:r>
              <a:rPr lang="en-US" sz="2400" dirty="0">
                <a:solidFill>
                  <a:srgbClr val="C00000"/>
                </a:solidFill>
              </a:rPr>
              <a:t>flow controlled:</a:t>
            </a:r>
          </a:p>
          <a:p>
            <a:pPr lvl="1" fontAlgn="auto">
              <a:spcBef>
                <a:spcPts val="300"/>
              </a:spcBef>
              <a:spcAft>
                <a:spcPts val="0"/>
              </a:spcAft>
              <a:buFont typeface="Arial"/>
              <a:buChar char="•"/>
              <a:defRPr/>
            </a:pPr>
            <a:r>
              <a:rPr lang="en-US" sz="2100" dirty="0">
                <a:solidFill>
                  <a:prstClr val="black"/>
                </a:solidFill>
              </a:rPr>
              <a:t>sender will not overwhelm receiver</a:t>
            </a:r>
          </a:p>
        </p:txBody>
      </p:sp>
      <p:sp>
        <p:nvSpPr>
          <p:cNvPr id="71" name="Rectangle 4">
            <a:extLst>
              <a:ext uri="{FF2B5EF4-FFF2-40B4-BE49-F238E27FC236}">
                <a16:creationId xmlns:a16="http://schemas.microsoft.com/office/drawing/2014/main" id="{B36C086D-3E3E-F04F-BB50-EE7FE6F1A87A}"/>
              </a:ext>
            </a:extLst>
          </p:cNvPr>
          <p:cNvSpPr txBox="1">
            <a:spLocks noChangeArrowheads="1"/>
          </p:cNvSpPr>
          <p:nvPr/>
        </p:nvSpPr>
        <p:spPr>
          <a:xfrm>
            <a:off x="515971" y="1849210"/>
            <a:ext cx="4037240"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3616" indent="-220266" fontAlgn="auto">
              <a:spcAft>
                <a:spcPts val="0"/>
              </a:spcAft>
              <a:defRPr/>
            </a:pPr>
            <a:r>
              <a:rPr lang="en-US" altLang="en-US" sz="2400" dirty="0">
                <a:solidFill>
                  <a:srgbClr val="C00000"/>
                </a:solidFill>
                <a:ea typeface="ＭＳ Ｐゴシック" panose="020B0600070205080204" pitchFamily="34" charset="-128"/>
              </a:rPr>
              <a:t>point-to-point</a:t>
            </a:r>
            <a:r>
              <a:rPr lang="en-US" altLang="en-US" sz="2400" dirty="0">
                <a:solidFill>
                  <a:srgbClr val="CC0000"/>
                </a:solidFill>
                <a:ea typeface="ＭＳ Ｐゴシック" panose="020B0600070205080204" pitchFamily="34" charset="-128"/>
              </a:rPr>
              <a:t>:</a:t>
            </a:r>
          </a:p>
          <a:p>
            <a:pPr marL="689372" lvl="2" indent="-220266" fontAlgn="auto">
              <a:spcAft>
                <a:spcPts val="0"/>
              </a:spcAft>
              <a:defRPr/>
            </a:pPr>
            <a:r>
              <a:rPr lang="en-US" altLang="en-US" sz="2100" dirty="0">
                <a:solidFill>
                  <a:prstClr val="black"/>
                </a:solidFill>
                <a:ea typeface="ＭＳ Ｐゴシック" panose="020B0600070205080204" pitchFamily="34" charset="-128"/>
              </a:rPr>
              <a:t>one sender, one receiver</a:t>
            </a:r>
            <a:r>
              <a:rPr lang="en-US" altLang="en-US" sz="2100" dirty="0">
                <a:solidFill>
                  <a:srgbClr val="FF0000"/>
                </a:solidFill>
                <a:ea typeface="ＭＳ Ｐゴシック" panose="020B0600070205080204" pitchFamily="34" charset="-128"/>
              </a:rPr>
              <a:t> </a:t>
            </a:r>
          </a:p>
          <a:p>
            <a:pPr marL="353616" indent="-220266" fontAlgn="auto">
              <a:spcAft>
                <a:spcPts val="0"/>
              </a:spcAft>
              <a:defRPr/>
            </a:pPr>
            <a:r>
              <a:rPr lang="en-US" altLang="en-US" sz="2400" dirty="0">
                <a:solidFill>
                  <a:srgbClr val="C00000"/>
                </a:solidFill>
                <a:ea typeface="ＭＳ Ｐゴシック" panose="020B0600070205080204" pitchFamily="34" charset="-128"/>
              </a:rPr>
              <a:t>reliable, in-order </a:t>
            </a:r>
            <a:r>
              <a:rPr lang="en-US" altLang="en-US" sz="2400" i="1" dirty="0">
                <a:solidFill>
                  <a:srgbClr val="C00000"/>
                </a:solidFill>
                <a:ea typeface="ＭＳ Ｐゴシック" panose="020B0600070205080204" pitchFamily="34" charset="-128"/>
              </a:rPr>
              <a:t>byte steam:</a:t>
            </a:r>
          </a:p>
          <a:p>
            <a:pPr marL="689372" lvl="2" indent="-220266" fontAlgn="auto">
              <a:spcAft>
                <a:spcPts val="0"/>
              </a:spcAft>
              <a:defRPr/>
            </a:pPr>
            <a:r>
              <a:rPr lang="en-US" altLang="en-US" sz="2100" dirty="0">
                <a:solidFill>
                  <a:prstClr val="black"/>
                </a:solidFill>
                <a:ea typeface="ＭＳ Ｐゴシック" panose="020B0600070205080204" pitchFamily="34" charset="-128"/>
              </a:rPr>
              <a:t>no “</a:t>
            </a:r>
            <a:r>
              <a:rPr lang="en-US" altLang="ja-JP" sz="2100" dirty="0">
                <a:solidFill>
                  <a:prstClr val="black"/>
                </a:solidFill>
                <a:ea typeface="ＭＳ Ｐゴシック" panose="020B0600070205080204" pitchFamily="34" charset="-128"/>
              </a:rPr>
              <a:t>message boundaries"</a:t>
            </a:r>
          </a:p>
          <a:p>
            <a:pPr marL="353616" indent="-255985" fontAlgn="auto">
              <a:spcAft>
                <a:spcPts val="0"/>
              </a:spcAft>
              <a:buFont typeface="Wingdings" charset="2"/>
              <a:buChar char="§"/>
              <a:defRPr/>
            </a:pPr>
            <a:r>
              <a:rPr lang="en-US" sz="2400" dirty="0">
                <a:solidFill>
                  <a:srgbClr val="C00000"/>
                </a:solidFill>
              </a:rPr>
              <a:t>full duplex data:</a:t>
            </a:r>
          </a:p>
          <a:p>
            <a:pPr lvl="1" fontAlgn="auto">
              <a:spcBef>
                <a:spcPts val="300"/>
              </a:spcBef>
              <a:spcAft>
                <a:spcPts val="0"/>
              </a:spcAft>
              <a:buFont typeface="Arial"/>
              <a:buChar char="•"/>
              <a:defRPr/>
            </a:pPr>
            <a:r>
              <a:rPr lang="en-US" sz="2100" dirty="0">
                <a:solidFill>
                  <a:prstClr val="black"/>
                </a:solidFill>
              </a:rPr>
              <a:t>bi-directional data flow in same connection</a:t>
            </a:r>
          </a:p>
          <a:p>
            <a:pPr lvl="1" fontAlgn="auto">
              <a:spcBef>
                <a:spcPts val="300"/>
              </a:spcBef>
              <a:spcAft>
                <a:spcPts val="0"/>
              </a:spcAft>
              <a:buFont typeface="Arial"/>
              <a:buChar char="•"/>
              <a:defRPr/>
            </a:pPr>
            <a:r>
              <a:rPr lang="en-US" sz="2100" dirty="0">
                <a:solidFill>
                  <a:prstClr val="black"/>
                </a:solidFill>
              </a:rPr>
              <a:t>MSS: maximum segment size</a:t>
            </a:r>
          </a:p>
          <a:p>
            <a:pPr fontAlgn="auto">
              <a:spcAft>
                <a:spcPts val="0"/>
              </a:spcAft>
              <a:defRPr/>
            </a:pPr>
            <a:endParaRPr lang="en-US" altLang="en-US" sz="2100" dirty="0">
              <a:solidFill>
                <a:prstClr val="black"/>
              </a:solidFill>
              <a:ea typeface="ＭＳ Ｐゴシック" panose="020B0600070205080204" pitchFamily="34" charset="-128"/>
            </a:endParaRPr>
          </a:p>
        </p:txBody>
      </p:sp>
      <p:sp>
        <p:nvSpPr>
          <p:cNvPr id="5" name="Slide Number Placeholder 2">
            <a:extLst>
              <a:ext uri="{FF2B5EF4-FFF2-40B4-BE49-F238E27FC236}">
                <a16:creationId xmlns:a16="http://schemas.microsoft.com/office/drawing/2014/main" id="{D9F10C56-26D5-5C45-B097-EE8A46539976}"/>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62</a:t>
            </a:fld>
            <a:endParaRPr lang="en-US" dirty="0">
              <a:solidFill>
                <a:prstClr val="white">
                  <a:lumMod val="50000"/>
                </a:prstClr>
              </a:solidFill>
            </a:endParaRPr>
          </a:p>
        </p:txBody>
      </p:sp>
    </p:spTree>
    <p:extLst>
      <p:ext uri="{BB962C8B-B14F-4D97-AF65-F5344CB8AC3E}">
        <p14:creationId xmlns:p14="http://schemas.microsoft.com/office/powerpoint/2010/main" val="1763815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segment structure</a:t>
            </a:r>
            <a:endParaRPr lang="en-US" b="0" dirty="0"/>
          </a:p>
        </p:txBody>
      </p:sp>
      <p:sp>
        <p:nvSpPr>
          <p:cNvPr id="60" name="Rectangle 4">
            <a:extLst>
              <a:ext uri="{FF2B5EF4-FFF2-40B4-BE49-F238E27FC236}">
                <a16:creationId xmlns:a16="http://schemas.microsoft.com/office/drawing/2014/main" id="{1438C6A7-F9CB-854D-92BB-74AFAE175928}"/>
              </a:ext>
            </a:extLst>
          </p:cNvPr>
          <p:cNvSpPr>
            <a:spLocks noChangeArrowheads="1"/>
          </p:cNvSpPr>
          <p:nvPr/>
        </p:nvSpPr>
        <p:spPr bwMode="auto">
          <a:xfrm>
            <a:off x="3324055" y="2027297"/>
            <a:ext cx="2963465" cy="3618309"/>
          </a:xfrm>
          <a:prstGeom prst="rect">
            <a:avLst/>
          </a:prstGeom>
          <a:solidFill>
            <a:srgbClr val="000099"/>
          </a:soli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61" name="Rectangle 5">
            <a:extLst>
              <a:ext uri="{FF2B5EF4-FFF2-40B4-BE49-F238E27FC236}">
                <a16:creationId xmlns:a16="http://schemas.microsoft.com/office/drawing/2014/main" id="{21D47CEF-020C-9C44-AB75-DA719011CBEF}"/>
              </a:ext>
            </a:extLst>
          </p:cNvPr>
          <p:cNvSpPr>
            <a:spLocks noChangeArrowheads="1"/>
          </p:cNvSpPr>
          <p:nvPr/>
        </p:nvSpPr>
        <p:spPr bwMode="auto">
          <a:xfrm>
            <a:off x="3259762" y="2114212"/>
            <a:ext cx="2963465" cy="3604022"/>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800" kern="0">
              <a:solidFill>
                <a:srgbClr val="000000"/>
              </a:solidFill>
              <a:latin typeface="Arial" charset="0"/>
              <a:ea typeface="ＭＳ Ｐゴシック" charset="0"/>
            </a:endParaRPr>
          </a:p>
        </p:txBody>
      </p:sp>
      <p:grpSp>
        <p:nvGrpSpPr>
          <p:cNvPr id="4" name="Group 3">
            <a:extLst>
              <a:ext uri="{FF2B5EF4-FFF2-40B4-BE49-F238E27FC236}">
                <a16:creationId xmlns:a16="http://schemas.microsoft.com/office/drawing/2014/main" id="{A0F66122-9E4A-7644-B40C-189BABEA3388}"/>
              </a:ext>
            </a:extLst>
          </p:cNvPr>
          <p:cNvGrpSpPr/>
          <p:nvPr/>
        </p:nvGrpSpPr>
        <p:grpSpPr>
          <a:xfrm>
            <a:off x="3341384" y="2103229"/>
            <a:ext cx="2647068" cy="327006"/>
            <a:chOff x="4455177" y="1661303"/>
            <a:chExt cx="3529424" cy="436008"/>
          </a:xfrm>
        </p:grpSpPr>
        <p:sp>
          <p:nvSpPr>
            <p:cNvPr id="62" name="Text Box 6">
              <a:extLst>
                <a:ext uri="{FF2B5EF4-FFF2-40B4-BE49-F238E27FC236}">
                  <a16:creationId xmlns:a16="http://schemas.microsoft.com/office/drawing/2014/main" id="{A183A89B-2122-E141-9DF3-203A60EFF295}"/>
                </a:ext>
              </a:extLst>
            </p:cNvPr>
            <p:cNvSpPr txBox="1">
              <a:spLocks noChangeArrowheads="1"/>
            </p:cNvSpPr>
            <p:nvPr/>
          </p:nvSpPr>
          <p:spPr bwMode="auto">
            <a:xfrm>
              <a:off x="4455177" y="1661303"/>
              <a:ext cx="1744495" cy="4308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dirty="0">
                  <a:solidFill>
                    <a:srgbClr val="000000"/>
                  </a:solidFill>
                  <a:latin typeface="Arial" charset="0"/>
                </a:rPr>
                <a:t>source port #</a:t>
              </a:r>
              <a:endParaRPr lang="en-US" sz="1800" dirty="0">
                <a:solidFill>
                  <a:srgbClr val="000000"/>
                </a:solidFill>
                <a:latin typeface="Arial" charset="0"/>
              </a:endParaRPr>
            </a:p>
          </p:txBody>
        </p:sp>
        <p:sp>
          <p:nvSpPr>
            <p:cNvPr id="63" name="Text Box 7">
              <a:extLst>
                <a:ext uri="{FF2B5EF4-FFF2-40B4-BE49-F238E27FC236}">
                  <a16:creationId xmlns:a16="http://schemas.microsoft.com/office/drawing/2014/main" id="{E52BAEBA-8AEA-B545-A35F-AEB6190843E5}"/>
                </a:ext>
              </a:extLst>
            </p:cNvPr>
            <p:cNvSpPr txBox="1">
              <a:spLocks noChangeArrowheads="1"/>
            </p:cNvSpPr>
            <p:nvPr/>
          </p:nvSpPr>
          <p:spPr bwMode="auto">
            <a:xfrm>
              <a:off x="6526509" y="1666424"/>
              <a:ext cx="1458092" cy="4308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dirty="0" err="1">
                  <a:solidFill>
                    <a:srgbClr val="000000"/>
                  </a:solidFill>
                  <a:latin typeface="Arial" charset="0"/>
                </a:rPr>
                <a:t>dest</a:t>
              </a:r>
              <a:r>
                <a:rPr lang="en-US" sz="1500" dirty="0">
                  <a:solidFill>
                    <a:srgbClr val="000000"/>
                  </a:solidFill>
                  <a:latin typeface="Arial" charset="0"/>
                </a:rPr>
                <a:t> port #</a:t>
              </a:r>
              <a:endParaRPr lang="en-US" sz="1350" dirty="0">
                <a:solidFill>
                  <a:srgbClr val="000000"/>
                </a:solidFill>
                <a:latin typeface="Arial" charset="0"/>
              </a:endParaRPr>
            </a:p>
          </p:txBody>
        </p:sp>
      </p:grpSp>
      <p:sp>
        <p:nvSpPr>
          <p:cNvPr id="64" name="Line 8">
            <a:extLst>
              <a:ext uri="{FF2B5EF4-FFF2-40B4-BE49-F238E27FC236}">
                <a16:creationId xmlns:a16="http://schemas.microsoft.com/office/drawing/2014/main" id="{BDC40F37-DD1A-6848-AB76-2EA7683B9566}"/>
              </a:ext>
            </a:extLst>
          </p:cNvPr>
          <p:cNvSpPr>
            <a:spLocks noChangeShapeType="1"/>
          </p:cNvSpPr>
          <p:nvPr/>
        </p:nvSpPr>
        <p:spPr bwMode="auto">
          <a:xfrm>
            <a:off x="3262143" y="2395200"/>
            <a:ext cx="2959894" cy="3572"/>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65" name="Line 9">
            <a:extLst>
              <a:ext uri="{FF2B5EF4-FFF2-40B4-BE49-F238E27FC236}">
                <a16:creationId xmlns:a16="http://schemas.microsoft.com/office/drawing/2014/main" id="{92C91585-33BC-084B-A3CF-F5A7CD082B67}"/>
              </a:ext>
            </a:extLst>
          </p:cNvPr>
          <p:cNvSpPr>
            <a:spLocks noChangeShapeType="1"/>
          </p:cNvSpPr>
          <p:nvPr/>
        </p:nvSpPr>
        <p:spPr bwMode="auto">
          <a:xfrm flipV="1">
            <a:off x="3257380" y="2679759"/>
            <a:ext cx="296346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12" name="Group 11">
            <a:extLst>
              <a:ext uri="{FF2B5EF4-FFF2-40B4-BE49-F238E27FC236}">
                <a16:creationId xmlns:a16="http://schemas.microsoft.com/office/drawing/2014/main" id="{8552304C-19AC-C84B-842E-CBCC3EA9E153}"/>
              </a:ext>
            </a:extLst>
          </p:cNvPr>
          <p:cNvGrpSpPr/>
          <p:nvPr/>
        </p:nvGrpSpPr>
        <p:grpSpPr>
          <a:xfrm>
            <a:off x="3243092" y="1716544"/>
            <a:ext cx="2951559" cy="300082"/>
            <a:chOff x="4324123" y="1145724"/>
            <a:chExt cx="3935412" cy="400108"/>
          </a:xfrm>
        </p:grpSpPr>
        <p:sp>
          <p:nvSpPr>
            <p:cNvPr id="67" name="Text Box 11">
              <a:extLst>
                <a:ext uri="{FF2B5EF4-FFF2-40B4-BE49-F238E27FC236}">
                  <a16:creationId xmlns:a16="http://schemas.microsoft.com/office/drawing/2014/main" id="{D7A6E153-CAA2-2E43-9742-982E16926734}"/>
                </a:ext>
              </a:extLst>
            </p:cNvPr>
            <p:cNvSpPr txBox="1">
              <a:spLocks noChangeArrowheads="1"/>
            </p:cNvSpPr>
            <p:nvPr/>
          </p:nvSpPr>
          <p:spPr bwMode="auto">
            <a:xfrm>
              <a:off x="5797924" y="1145724"/>
              <a:ext cx="925896" cy="40010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a:solidFill>
                    <a:srgbClr val="000000"/>
                  </a:solidFill>
                  <a:latin typeface="Arial" charset="0"/>
                </a:rPr>
                <a:t>32 bits</a:t>
              </a:r>
              <a:endParaRPr lang="en-US" sz="1800">
                <a:solidFill>
                  <a:srgbClr val="000000"/>
                </a:solidFill>
                <a:latin typeface="Arial" charset="0"/>
              </a:endParaRPr>
            </a:p>
          </p:txBody>
        </p:sp>
        <p:sp>
          <p:nvSpPr>
            <p:cNvPr id="68" name="Line 12">
              <a:extLst>
                <a:ext uri="{FF2B5EF4-FFF2-40B4-BE49-F238E27FC236}">
                  <a16:creationId xmlns:a16="http://schemas.microsoft.com/office/drawing/2014/main" id="{C28AE80D-AED7-BB43-AEEF-9A3E95D70A42}"/>
                </a:ext>
              </a:extLst>
            </p:cNvPr>
            <p:cNvSpPr>
              <a:spLocks noChangeShapeType="1"/>
            </p:cNvSpPr>
            <p:nvPr/>
          </p:nvSpPr>
          <p:spPr bwMode="auto">
            <a:xfrm>
              <a:off x="6832373" y="1391787"/>
              <a:ext cx="1427162" cy="4762"/>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69" name="Line 13">
              <a:extLst>
                <a:ext uri="{FF2B5EF4-FFF2-40B4-BE49-F238E27FC236}">
                  <a16:creationId xmlns:a16="http://schemas.microsoft.com/office/drawing/2014/main" id="{0FE91D57-DF52-A948-8B79-BE2C69D24056}"/>
                </a:ext>
              </a:extLst>
            </p:cNvPr>
            <p:cNvSpPr>
              <a:spLocks noChangeShapeType="1"/>
            </p:cNvSpPr>
            <p:nvPr/>
          </p:nvSpPr>
          <p:spPr bwMode="auto">
            <a:xfrm rot="10800000">
              <a:off x="4324123" y="1402899"/>
              <a:ext cx="1341437"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74" name="Line 16">
            <a:extLst>
              <a:ext uri="{FF2B5EF4-FFF2-40B4-BE49-F238E27FC236}">
                <a16:creationId xmlns:a16="http://schemas.microsoft.com/office/drawing/2014/main" id="{ADBC9EF8-B51B-F249-8F7B-C16F5F07A21E}"/>
              </a:ext>
            </a:extLst>
          </p:cNvPr>
          <p:cNvSpPr>
            <a:spLocks noChangeShapeType="1"/>
          </p:cNvSpPr>
          <p:nvPr/>
        </p:nvSpPr>
        <p:spPr bwMode="auto">
          <a:xfrm flipV="1">
            <a:off x="3264524" y="2965509"/>
            <a:ext cx="296346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76" name="Line 18">
            <a:extLst>
              <a:ext uri="{FF2B5EF4-FFF2-40B4-BE49-F238E27FC236}">
                <a16:creationId xmlns:a16="http://schemas.microsoft.com/office/drawing/2014/main" id="{32231029-9349-864B-ABF1-0D56E55824BB}"/>
              </a:ext>
            </a:extLst>
          </p:cNvPr>
          <p:cNvSpPr>
            <a:spLocks noChangeShapeType="1"/>
          </p:cNvSpPr>
          <p:nvPr/>
        </p:nvSpPr>
        <p:spPr bwMode="auto">
          <a:xfrm flipV="1">
            <a:off x="3260951" y="3261974"/>
            <a:ext cx="2963466"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77" name="Line 19">
            <a:extLst>
              <a:ext uri="{FF2B5EF4-FFF2-40B4-BE49-F238E27FC236}">
                <a16:creationId xmlns:a16="http://schemas.microsoft.com/office/drawing/2014/main" id="{F2503E28-C28E-B541-932B-7E2993655C9A}"/>
              </a:ext>
            </a:extLst>
          </p:cNvPr>
          <p:cNvSpPr>
            <a:spLocks noChangeShapeType="1"/>
          </p:cNvSpPr>
          <p:nvPr/>
        </p:nvSpPr>
        <p:spPr bwMode="auto">
          <a:xfrm flipV="1">
            <a:off x="3257380" y="3554868"/>
            <a:ext cx="296346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78" name="Line 20">
            <a:extLst>
              <a:ext uri="{FF2B5EF4-FFF2-40B4-BE49-F238E27FC236}">
                <a16:creationId xmlns:a16="http://schemas.microsoft.com/office/drawing/2014/main" id="{10D5BEAE-CBC6-5040-B37E-6D12FC20E9CB}"/>
              </a:ext>
            </a:extLst>
          </p:cNvPr>
          <p:cNvSpPr>
            <a:spLocks noChangeShapeType="1"/>
          </p:cNvSpPr>
          <p:nvPr/>
        </p:nvSpPr>
        <p:spPr bwMode="auto">
          <a:xfrm flipV="1">
            <a:off x="3257380" y="3976349"/>
            <a:ext cx="296346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79" name="Line 21">
            <a:extLst>
              <a:ext uri="{FF2B5EF4-FFF2-40B4-BE49-F238E27FC236}">
                <a16:creationId xmlns:a16="http://schemas.microsoft.com/office/drawing/2014/main" id="{A186AEBD-F0F5-494B-9D24-09B9888787CD}"/>
              </a:ext>
            </a:extLst>
          </p:cNvPr>
          <p:cNvSpPr>
            <a:spLocks noChangeShapeType="1"/>
          </p:cNvSpPr>
          <p:nvPr/>
        </p:nvSpPr>
        <p:spPr bwMode="auto">
          <a:xfrm flipH="1" flipV="1">
            <a:off x="4727802" y="2967891"/>
            <a:ext cx="3572" cy="583406"/>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87" name="Line 29">
            <a:extLst>
              <a:ext uri="{FF2B5EF4-FFF2-40B4-BE49-F238E27FC236}">
                <a16:creationId xmlns:a16="http://schemas.microsoft.com/office/drawing/2014/main" id="{B0BB3064-7239-A344-B7D3-3350540CF7AA}"/>
              </a:ext>
            </a:extLst>
          </p:cNvPr>
          <p:cNvSpPr>
            <a:spLocks noChangeShapeType="1"/>
          </p:cNvSpPr>
          <p:nvPr/>
        </p:nvSpPr>
        <p:spPr bwMode="auto">
          <a:xfrm flipV="1">
            <a:off x="4251551" y="2967890"/>
            <a:ext cx="0" cy="294084"/>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Calibri"/>
              <a:ea typeface="ＭＳ Ｐゴシック" charset="0"/>
            </a:endParaRPr>
          </a:p>
        </p:txBody>
      </p:sp>
      <p:sp>
        <p:nvSpPr>
          <p:cNvPr id="88" name="Line 30">
            <a:extLst>
              <a:ext uri="{FF2B5EF4-FFF2-40B4-BE49-F238E27FC236}">
                <a16:creationId xmlns:a16="http://schemas.microsoft.com/office/drawing/2014/main" id="{22FDEDB0-0202-4C4C-9B34-FF72CC278D77}"/>
              </a:ext>
            </a:extLst>
          </p:cNvPr>
          <p:cNvSpPr>
            <a:spLocks noChangeShapeType="1"/>
          </p:cNvSpPr>
          <p:nvPr/>
        </p:nvSpPr>
        <p:spPr bwMode="auto">
          <a:xfrm flipV="1">
            <a:off x="4136061" y="2964318"/>
            <a:ext cx="0" cy="294085"/>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Calibri"/>
              <a:ea typeface="ＭＳ Ｐゴシック" charset="0"/>
            </a:endParaRPr>
          </a:p>
        </p:txBody>
      </p:sp>
      <p:sp>
        <p:nvSpPr>
          <p:cNvPr id="89" name="Line 31">
            <a:extLst>
              <a:ext uri="{FF2B5EF4-FFF2-40B4-BE49-F238E27FC236}">
                <a16:creationId xmlns:a16="http://schemas.microsoft.com/office/drawing/2014/main" id="{9AF172E8-0A6A-6644-BD77-F1EE190D4ADE}"/>
              </a:ext>
            </a:extLst>
          </p:cNvPr>
          <p:cNvSpPr>
            <a:spLocks noChangeShapeType="1"/>
          </p:cNvSpPr>
          <p:nvPr/>
        </p:nvSpPr>
        <p:spPr bwMode="auto">
          <a:xfrm flipV="1">
            <a:off x="4016999" y="2971462"/>
            <a:ext cx="0" cy="294085"/>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Calibri"/>
              <a:ea typeface="ＭＳ Ｐゴシック" charset="0"/>
            </a:endParaRPr>
          </a:p>
        </p:txBody>
      </p:sp>
      <p:sp>
        <p:nvSpPr>
          <p:cNvPr id="96" name="Text Box 38">
            <a:extLst>
              <a:ext uri="{FF2B5EF4-FFF2-40B4-BE49-F238E27FC236}">
                <a16:creationId xmlns:a16="http://schemas.microsoft.com/office/drawing/2014/main" id="{A4AA77C6-3CD5-F642-BD90-B898C462C724}"/>
              </a:ext>
            </a:extLst>
          </p:cNvPr>
          <p:cNvSpPr txBox="1">
            <a:spLocks noChangeArrowheads="1"/>
          </p:cNvSpPr>
          <p:nvPr/>
        </p:nvSpPr>
        <p:spPr bwMode="auto">
          <a:xfrm>
            <a:off x="3454240" y="2974464"/>
            <a:ext cx="409087" cy="3277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lnSpc>
                <a:spcPct val="85000"/>
              </a:lnSpc>
              <a:defRPr/>
            </a:pPr>
            <a:r>
              <a:rPr lang="en-US" sz="900" dirty="0">
                <a:solidFill>
                  <a:srgbClr val="000000"/>
                </a:solidFill>
                <a:latin typeface="Calibri"/>
              </a:rPr>
              <a:t>not</a:t>
            </a:r>
          </a:p>
          <a:p>
            <a:pPr algn="ctr">
              <a:lnSpc>
                <a:spcPct val="85000"/>
              </a:lnSpc>
              <a:defRPr/>
            </a:pPr>
            <a:r>
              <a:rPr lang="en-US" sz="900" dirty="0">
                <a:solidFill>
                  <a:srgbClr val="000000"/>
                </a:solidFill>
                <a:latin typeface="Calibri"/>
              </a:rPr>
              <a:t>used</a:t>
            </a:r>
            <a:endParaRPr lang="en-US" sz="1200" dirty="0">
              <a:solidFill>
                <a:srgbClr val="000000"/>
              </a:solidFill>
              <a:latin typeface="Calibri"/>
            </a:endParaRPr>
          </a:p>
        </p:txBody>
      </p:sp>
      <p:sp>
        <p:nvSpPr>
          <p:cNvPr id="97" name="Line 39">
            <a:extLst>
              <a:ext uri="{FF2B5EF4-FFF2-40B4-BE49-F238E27FC236}">
                <a16:creationId xmlns:a16="http://schemas.microsoft.com/office/drawing/2014/main" id="{356A6247-1FB1-3845-A2C5-956708DFFBCF}"/>
              </a:ext>
            </a:extLst>
          </p:cNvPr>
          <p:cNvSpPr>
            <a:spLocks noChangeShapeType="1"/>
          </p:cNvSpPr>
          <p:nvPr/>
        </p:nvSpPr>
        <p:spPr bwMode="auto">
          <a:xfrm flipV="1">
            <a:off x="3535325" y="2964318"/>
            <a:ext cx="0" cy="294085"/>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Calibri"/>
              <a:ea typeface="ＭＳ Ｐゴシック" charset="0"/>
            </a:endParaRPr>
          </a:p>
        </p:txBody>
      </p:sp>
      <p:grpSp>
        <p:nvGrpSpPr>
          <p:cNvPr id="115" name="Group 114">
            <a:extLst>
              <a:ext uri="{FF2B5EF4-FFF2-40B4-BE49-F238E27FC236}">
                <a16:creationId xmlns:a16="http://schemas.microsoft.com/office/drawing/2014/main" id="{25F3ABB6-FC22-8E45-923B-C272F3E47C12}"/>
              </a:ext>
            </a:extLst>
          </p:cNvPr>
          <p:cNvGrpSpPr/>
          <p:nvPr/>
        </p:nvGrpSpPr>
        <p:grpSpPr>
          <a:xfrm>
            <a:off x="4775003" y="2970272"/>
            <a:ext cx="3968437" cy="571696"/>
            <a:chOff x="6366672" y="2817362"/>
            <a:chExt cx="5291249" cy="762260"/>
          </a:xfrm>
        </p:grpSpPr>
        <p:sp>
          <p:nvSpPr>
            <p:cNvPr id="80" name="Text Box 22">
              <a:extLst>
                <a:ext uri="{FF2B5EF4-FFF2-40B4-BE49-F238E27FC236}">
                  <a16:creationId xmlns:a16="http://schemas.microsoft.com/office/drawing/2014/main" id="{C121B465-E333-C34D-A9B1-4EC95AB29663}"/>
                </a:ext>
              </a:extLst>
            </p:cNvPr>
            <p:cNvSpPr txBox="1">
              <a:spLocks noChangeArrowheads="1"/>
            </p:cNvSpPr>
            <p:nvPr/>
          </p:nvSpPr>
          <p:spPr bwMode="auto">
            <a:xfrm>
              <a:off x="6366672" y="2817362"/>
              <a:ext cx="1823576" cy="4001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dirty="0">
                  <a:solidFill>
                    <a:srgbClr val="000000"/>
                  </a:solidFill>
                  <a:latin typeface="Arial" charset="0"/>
                </a:rPr>
                <a:t>receive window</a:t>
              </a:r>
            </a:p>
          </p:txBody>
        </p:sp>
        <p:sp>
          <p:nvSpPr>
            <p:cNvPr id="107" name="Text Box 49">
              <a:extLst>
                <a:ext uri="{FF2B5EF4-FFF2-40B4-BE49-F238E27FC236}">
                  <a16:creationId xmlns:a16="http://schemas.microsoft.com/office/drawing/2014/main" id="{C1196D10-63E5-F146-A338-FB6B53C00F42}"/>
                </a:ext>
              </a:extLst>
            </p:cNvPr>
            <p:cNvSpPr txBox="1">
              <a:spLocks noChangeArrowheads="1"/>
            </p:cNvSpPr>
            <p:nvPr/>
          </p:nvSpPr>
          <p:spPr bwMode="auto">
            <a:xfrm>
              <a:off x="8724900" y="2847115"/>
              <a:ext cx="2933021" cy="73250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800" dirty="0">
                  <a:solidFill>
                    <a:srgbClr val="000000"/>
                  </a:solidFill>
                  <a:latin typeface="Calibri" panose="020F0502020204030204"/>
                </a:rPr>
                <a:t>flow control: </a:t>
              </a:r>
              <a:r>
                <a:rPr lang="en-US" sz="1500" dirty="0">
                  <a:solidFill>
                    <a:srgbClr val="000000"/>
                  </a:solidFill>
                  <a:latin typeface="Calibri" panose="020F0502020204030204"/>
                </a:rPr>
                <a:t># bytes receiver willing to accept</a:t>
              </a:r>
              <a:endParaRPr lang="en-US" sz="1800" dirty="0">
                <a:solidFill>
                  <a:srgbClr val="000000"/>
                </a:solidFill>
                <a:latin typeface="Calibri" panose="020F0502020204030204"/>
              </a:endParaRPr>
            </a:p>
          </p:txBody>
        </p:sp>
        <p:sp>
          <p:nvSpPr>
            <p:cNvPr id="111" name="Line 53">
              <a:extLst>
                <a:ext uri="{FF2B5EF4-FFF2-40B4-BE49-F238E27FC236}">
                  <a16:creationId xmlns:a16="http://schemas.microsoft.com/office/drawing/2014/main" id="{AF202832-D8A0-CC44-AEC9-474E90CA4102}"/>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grpSp>
        <p:nvGrpSpPr>
          <p:cNvPr id="6" name="Group 5">
            <a:extLst>
              <a:ext uri="{FF2B5EF4-FFF2-40B4-BE49-F238E27FC236}">
                <a16:creationId xmlns:a16="http://schemas.microsoft.com/office/drawing/2014/main" id="{9EBAA956-8E89-0A4A-A4BC-91B08D93CC59}"/>
              </a:ext>
            </a:extLst>
          </p:cNvPr>
          <p:cNvGrpSpPr/>
          <p:nvPr/>
        </p:nvGrpSpPr>
        <p:grpSpPr>
          <a:xfrm>
            <a:off x="3734820" y="2113077"/>
            <a:ext cx="5280325" cy="798680"/>
            <a:chOff x="4979760" y="1674436"/>
            <a:chExt cx="7040433" cy="1064908"/>
          </a:xfrm>
        </p:grpSpPr>
        <p:sp>
          <p:nvSpPr>
            <p:cNvPr id="73" name="Text Box 15">
              <a:extLst>
                <a:ext uri="{FF2B5EF4-FFF2-40B4-BE49-F238E27FC236}">
                  <a16:creationId xmlns:a16="http://schemas.microsoft.com/office/drawing/2014/main" id="{2925631F-CA45-E24E-A2A3-36475CE0E0E7}"/>
                </a:ext>
              </a:extLst>
            </p:cNvPr>
            <p:cNvSpPr txBox="1">
              <a:spLocks noChangeArrowheads="1"/>
            </p:cNvSpPr>
            <p:nvPr/>
          </p:nvSpPr>
          <p:spPr bwMode="auto">
            <a:xfrm>
              <a:off x="4979760" y="2029962"/>
              <a:ext cx="2486025" cy="4308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dirty="0">
                  <a:solidFill>
                    <a:srgbClr val="000000"/>
                  </a:solidFill>
                  <a:latin typeface="Arial" charset="0"/>
                </a:rPr>
                <a:t>sequence number</a:t>
              </a:r>
              <a:endParaRPr lang="en-US" sz="1800" dirty="0">
                <a:solidFill>
                  <a:srgbClr val="000000"/>
                </a:solidFill>
                <a:latin typeface="Arial" charset="0"/>
              </a:endParaRPr>
            </a:p>
          </p:txBody>
        </p:sp>
        <p:sp>
          <p:nvSpPr>
            <p:cNvPr id="108" name="Text Box 50">
              <a:extLst>
                <a:ext uri="{FF2B5EF4-FFF2-40B4-BE49-F238E27FC236}">
                  <a16:creationId xmlns:a16="http://schemas.microsoft.com/office/drawing/2014/main" id="{62087231-CA89-9F46-9993-D5CE4726B8FD}"/>
                </a:ext>
              </a:extLst>
            </p:cNvPr>
            <p:cNvSpPr txBox="1">
              <a:spLocks noChangeArrowheads="1"/>
            </p:cNvSpPr>
            <p:nvPr/>
          </p:nvSpPr>
          <p:spPr bwMode="auto">
            <a:xfrm>
              <a:off x="8724900" y="1674436"/>
              <a:ext cx="3295293" cy="106490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800" dirty="0">
                  <a:solidFill>
                    <a:srgbClr val="000000"/>
                  </a:solidFill>
                  <a:latin typeface="Calibri" panose="020F0502020204030204"/>
                </a:rPr>
                <a:t>segment seq  #: </a:t>
              </a:r>
              <a:r>
                <a:rPr lang="en-US" sz="1500" dirty="0">
                  <a:solidFill>
                    <a:srgbClr val="000000"/>
                  </a:solidFill>
                  <a:latin typeface="Calibri" panose="020F0502020204030204"/>
                </a:rPr>
                <a:t>counting bytes of data</a:t>
              </a:r>
              <a:r>
                <a:rPr lang="en-US" sz="1800" dirty="0">
                  <a:solidFill>
                    <a:srgbClr val="000000"/>
                  </a:solidFill>
                  <a:latin typeface="Calibri" panose="020F0502020204030204"/>
                </a:rPr>
                <a:t> </a:t>
              </a:r>
              <a:r>
                <a:rPr lang="en-US" sz="1500" dirty="0">
                  <a:solidFill>
                    <a:srgbClr val="000000"/>
                  </a:solidFill>
                  <a:latin typeface="Calibri" panose="020F0502020204030204"/>
                </a:rPr>
                <a:t>into </a:t>
              </a:r>
              <a:r>
                <a:rPr lang="en-US" sz="1500" dirty="0" err="1">
                  <a:solidFill>
                    <a:srgbClr val="000000"/>
                  </a:solidFill>
                  <a:latin typeface="Calibri" panose="020F0502020204030204"/>
                </a:rPr>
                <a:t>bytestream</a:t>
              </a:r>
              <a:r>
                <a:rPr lang="en-US" sz="1800" dirty="0">
                  <a:solidFill>
                    <a:srgbClr val="000000"/>
                  </a:solidFill>
                  <a:latin typeface="Calibri" panose="020F0502020204030204"/>
                </a:rPr>
                <a:t> </a:t>
              </a:r>
              <a:r>
                <a:rPr lang="en-US" sz="1500" dirty="0">
                  <a:solidFill>
                    <a:srgbClr val="000000"/>
                  </a:solidFill>
                  <a:latin typeface="Calibri" panose="020F0502020204030204"/>
                </a:rPr>
                <a:t>(not segments!)</a:t>
              </a:r>
              <a:endParaRPr lang="en-US" sz="1800" dirty="0">
                <a:solidFill>
                  <a:srgbClr val="000000"/>
                </a:solidFill>
                <a:latin typeface="Calibri" panose="020F0502020204030204"/>
              </a:endParaRPr>
            </a:p>
          </p:txBody>
        </p:sp>
        <p:sp>
          <p:nvSpPr>
            <p:cNvPr id="113" name="Line 55">
              <a:extLst>
                <a:ext uri="{FF2B5EF4-FFF2-40B4-BE49-F238E27FC236}">
                  <a16:creationId xmlns:a16="http://schemas.microsoft.com/office/drawing/2014/main" id="{69F8FE7B-57A5-CA45-A15F-AB7CA1D8D54F}"/>
                </a:ext>
              </a:extLst>
            </p:cNvPr>
            <p:cNvSpPr>
              <a:spLocks noChangeShapeType="1"/>
            </p:cNvSpPr>
            <p:nvPr/>
          </p:nvSpPr>
          <p:spPr bwMode="auto">
            <a:xfrm flipH="1" flipV="1">
              <a:off x="7924797" y="2244436"/>
              <a:ext cx="800102" cy="0"/>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dirty="0">
                <a:solidFill>
                  <a:srgbClr val="000000"/>
                </a:solidFill>
                <a:latin typeface="Tahoma" charset="0"/>
                <a:ea typeface="ＭＳ Ｐゴシック" charset="0"/>
              </a:endParaRPr>
            </a:p>
          </p:txBody>
        </p:sp>
      </p:grpSp>
      <p:grpSp>
        <p:nvGrpSpPr>
          <p:cNvPr id="129" name="Group 128">
            <a:extLst>
              <a:ext uri="{FF2B5EF4-FFF2-40B4-BE49-F238E27FC236}">
                <a16:creationId xmlns:a16="http://schemas.microsoft.com/office/drawing/2014/main" id="{33475873-1909-F649-A643-DFFF77ECF966}"/>
              </a:ext>
            </a:extLst>
          </p:cNvPr>
          <p:cNvGrpSpPr/>
          <p:nvPr/>
        </p:nvGrpSpPr>
        <p:grpSpPr>
          <a:xfrm>
            <a:off x="4016996" y="4318061"/>
            <a:ext cx="4360261" cy="858179"/>
            <a:chOff x="5355994" y="4614412"/>
            <a:chExt cx="5813682" cy="1144238"/>
          </a:xfrm>
        </p:grpSpPr>
        <p:sp>
          <p:nvSpPr>
            <p:cNvPr id="72" name="Text Box 14">
              <a:extLst>
                <a:ext uri="{FF2B5EF4-FFF2-40B4-BE49-F238E27FC236}">
                  <a16:creationId xmlns:a16="http://schemas.microsoft.com/office/drawing/2014/main" id="{394540FC-9B80-C049-964F-3AEAF7A4BA2D}"/>
                </a:ext>
              </a:extLst>
            </p:cNvPr>
            <p:cNvSpPr txBox="1">
              <a:spLocks noChangeArrowheads="1"/>
            </p:cNvSpPr>
            <p:nvPr/>
          </p:nvSpPr>
          <p:spPr bwMode="auto">
            <a:xfrm>
              <a:off x="5355994" y="4614412"/>
              <a:ext cx="2090744" cy="104644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dirty="0">
                  <a:solidFill>
                    <a:srgbClr val="000000"/>
                  </a:solidFill>
                  <a:latin typeface="Arial" charset="0"/>
                </a:rPr>
                <a:t>application</a:t>
              </a:r>
            </a:p>
            <a:p>
              <a:pPr algn="ctr">
                <a:defRPr/>
              </a:pPr>
              <a:r>
                <a:rPr lang="en-US" sz="1500" dirty="0">
                  <a:solidFill>
                    <a:srgbClr val="000000"/>
                  </a:solidFill>
                  <a:latin typeface="Arial" charset="0"/>
                </a:rPr>
                <a:t>data </a:t>
              </a:r>
            </a:p>
            <a:p>
              <a:pPr algn="ctr">
                <a:defRPr/>
              </a:pPr>
              <a:r>
                <a:rPr lang="en-US" sz="1500" dirty="0">
                  <a:solidFill>
                    <a:srgbClr val="000000"/>
                  </a:solidFill>
                  <a:latin typeface="Arial" charset="0"/>
                </a:rPr>
                <a:t>(variable length)</a:t>
              </a:r>
              <a:endParaRPr lang="en-US" sz="1800" dirty="0">
                <a:solidFill>
                  <a:srgbClr val="000000"/>
                </a:solidFill>
                <a:latin typeface="Arial" charset="0"/>
              </a:endParaRPr>
            </a:p>
          </p:txBody>
        </p:sp>
        <p:sp>
          <p:nvSpPr>
            <p:cNvPr id="125" name="TextBox 124">
              <a:extLst>
                <a:ext uri="{FF2B5EF4-FFF2-40B4-BE49-F238E27FC236}">
                  <a16:creationId xmlns:a16="http://schemas.microsoft.com/office/drawing/2014/main" id="{5CEFBFE2-D6C5-6C4B-85CD-C2B1704479E4}"/>
                </a:ext>
              </a:extLst>
            </p:cNvPr>
            <p:cNvSpPr txBox="1"/>
            <p:nvPr/>
          </p:nvSpPr>
          <p:spPr>
            <a:xfrm>
              <a:off x="8980285" y="4638343"/>
              <a:ext cx="2189391" cy="1120307"/>
            </a:xfrm>
            <a:prstGeom prst="rect">
              <a:avLst/>
            </a:prstGeom>
            <a:noFill/>
          </p:spPr>
          <p:txBody>
            <a:bodyPr wrap="square" rtlCol="0">
              <a:spAutoFit/>
            </a:bodyPr>
            <a:lstStyle/>
            <a:p>
              <a:pPr eaLnBrk="1" fontAlgn="auto" hangingPunct="1">
                <a:lnSpc>
                  <a:spcPct val="90000"/>
                </a:lnSpc>
                <a:spcBef>
                  <a:spcPts val="0"/>
                </a:spcBef>
                <a:spcAft>
                  <a:spcPts val="0"/>
                </a:spcAft>
                <a:defRPr/>
              </a:pPr>
              <a:r>
                <a:rPr lang="en-US" sz="1800" dirty="0">
                  <a:solidFill>
                    <a:prstClr val="black"/>
                  </a:solidFill>
                  <a:latin typeface="Calibri" panose="020F0502020204030204"/>
                  <a:ea typeface="+mn-ea"/>
                </a:rPr>
                <a:t>data sent by application into TCP socket</a:t>
              </a:r>
            </a:p>
          </p:txBody>
        </p:sp>
        <p:cxnSp>
          <p:nvCxnSpPr>
            <p:cNvPr id="127" name="Straight Connector 126">
              <a:extLst>
                <a:ext uri="{FF2B5EF4-FFF2-40B4-BE49-F238E27FC236}">
                  <a16:creationId xmlns:a16="http://schemas.microsoft.com/office/drawing/2014/main" id="{C6493B77-D766-824F-B26A-A73B9CE92231}"/>
                </a:ext>
              </a:extLst>
            </p:cNvPr>
            <p:cNvCxnSpPr>
              <a:cxnSpLocks/>
            </p:cNvCxnSpPr>
            <p:nvPr/>
          </p:nvCxnSpPr>
          <p:spPr>
            <a:xfrm>
              <a:off x="6727821" y="5150307"/>
              <a:ext cx="214947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BF59DCBE-5CE4-3C4C-AE43-7FF674B5D23E}"/>
              </a:ext>
            </a:extLst>
          </p:cNvPr>
          <p:cNvGrpSpPr/>
          <p:nvPr/>
        </p:nvGrpSpPr>
        <p:grpSpPr>
          <a:xfrm>
            <a:off x="172795" y="2321808"/>
            <a:ext cx="5828845" cy="954044"/>
            <a:chOff x="230393" y="1952743"/>
            <a:chExt cx="7771793" cy="1272058"/>
          </a:xfrm>
        </p:grpSpPr>
        <p:sp>
          <p:nvSpPr>
            <p:cNvPr id="137" name="Text Box 35">
              <a:extLst>
                <a:ext uri="{FF2B5EF4-FFF2-40B4-BE49-F238E27FC236}">
                  <a16:creationId xmlns:a16="http://schemas.microsoft.com/office/drawing/2014/main" id="{56F627F0-D04E-AD42-8864-F7B517B4A587}"/>
                </a:ext>
              </a:extLst>
            </p:cNvPr>
            <p:cNvSpPr txBox="1">
              <a:spLocks noChangeArrowheads="1"/>
            </p:cNvSpPr>
            <p:nvPr/>
          </p:nvSpPr>
          <p:spPr bwMode="auto">
            <a:xfrm>
              <a:off x="5415985" y="2855469"/>
              <a:ext cx="365913"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dirty="0">
                  <a:solidFill>
                    <a:srgbClr val="000000"/>
                  </a:solidFill>
                  <a:latin typeface="Calibri"/>
                </a:rPr>
                <a:t>A</a:t>
              </a:r>
              <a:endParaRPr lang="en-US" sz="1800" dirty="0">
                <a:solidFill>
                  <a:srgbClr val="000000"/>
                </a:solidFill>
                <a:latin typeface="Calibri"/>
              </a:endParaRPr>
            </a:p>
          </p:txBody>
        </p:sp>
        <p:grpSp>
          <p:nvGrpSpPr>
            <p:cNvPr id="15" name="Group 14">
              <a:extLst>
                <a:ext uri="{FF2B5EF4-FFF2-40B4-BE49-F238E27FC236}">
                  <a16:creationId xmlns:a16="http://schemas.microsoft.com/office/drawing/2014/main" id="{3379D87E-87A4-BA4A-B25D-D60B162F998C}"/>
                </a:ext>
              </a:extLst>
            </p:cNvPr>
            <p:cNvGrpSpPr/>
            <p:nvPr/>
          </p:nvGrpSpPr>
          <p:grpSpPr>
            <a:xfrm>
              <a:off x="230393" y="1952743"/>
              <a:ext cx="7771793" cy="971860"/>
              <a:chOff x="217867" y="1965269"/>
              <a:chExt cx="7771793" cy="971860"/>
            </a:xfrm>
          </p:grpSpPr>
          <p:sp>
            <p:nvSpPr>
              <p:cNvPr id="75" name="Text Box 17">
                <a:extLst>
                  <a:ext uri="{FF2B5EF4-FFF2-40B4-BE49-F238E27FC236}">
                    <a16:creationId xmlns:a16="http://schemas.microsoft.com/office/drawing/2014/main" id="{0864898F-71F3-8C4E-ACBC-273A8F765CF5}"/>
                  </a:ext>
                </a:extLst>
              </p:cNvPr>
              <p:cNvSpPr txBox="1">
                <a:spLocks noChangeArrowheads="1"/>
              </p:cNvSpPr>
              <p:nvPr/>
            </p:nvSpPr>
            <p:spPr bwMode="auto">
              <a:xfrm>
                <a:off x="4579709" y="2430012"/>
                <a:ext cx="3409951" cy="4308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dirty="0">
                    <a:solidFill>
                      <a:srgbClr val="000000"/>
                    </a:solidFill>
                    <a:latin typeface="Arial" charset="0"/>
                  </a:rPr>
                  <a:t>acknowledgement number</a:t>
                </a:r>
              </a:p>
            </p:txBody>
          </p:sp>
          <p:sp>
            <p:nvSpPr>
              <p:cNvPr id="119" name="Text Box 42">
                <a:extLst>
                  <a:ext uri="{FF2B5EF4-FFF2-40B4-BE49-F238E27FC236}">
                    <a16:creationId xmlns:a16="http://schemas.microsoft.com/office/drawing/2014/main" id="{C0762B76-1537-D346-8718-8BAF6E1F14E0}"/>
                  </a:ext>
                </a:extLst>
              </p:cNvPr>
              <p:cNvSpPr txBox="1">
                <a:spLocks noChangeArrowheads="1"/>
              </p:cNvSpPr>
              <p:nvPr/>
            </p:nvSpPr>
            <p:spPr bwMode="auto">
              <a:xfrm>
                <a:off x="217867" y="1965269"/>
                <a:ext cx="3287333" cy="73250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800" dirty="0">
                    <a:solidFill>
                      <a:srgbClr val="000000"/>
                    </a:solidFill>
                    <a:latin typeface="Calibri" panose="020F0502020204030204"/>
                  </a:rPr>
                  <a:t>ACK: </a:t>
                </a:r>
                <a:r>
                  <a:rPr lang="en-US" sz="1500" dirty="0">
                    <a:solidFill>
                      <a:srgbClr val="000000"/>
                    </a:solidFill>
                    <a:latin typeface="Calibri" panose="020F0502020204030204"/>
                  </a:rPr>
                  <a:t>seq # of next expected byte; A bit: this is an ACK</a:t>
                </a:r>
                <a:endParaRPr lang="en-US" sz="825" dirty="0">
                  <a:solidFill>
                    <a:srgbClr val="000000"/>
                  </a:solidFill>
                  <a:latin typeface="Calibri" panose="020F0502020204030204"/>
                </a:endParaRPr>
              </a:p>
            </p:txBody>
          </p:sp>
          <p:sp>
            <p:nvSpPr>
              <p:cNvPr id="130" name="Line 46">
                <a:extLst>
                  <a:ext uri="{FF2B5EF4-FFF2-40B4-BE49-F238E27FC236}">
                    <a16:creationId xmlns:a16="http://schemas.microsoft.com/office/drawing/2014/main" id="{412FF679-1D4F-2847-94BC-15BFC61FB4F3}"/>
                  </a:ext>
                </a:extLst>
              </p:cNvPr>
              <p:cNvSpPr>
                <a:spLocks noChangeShapeType="1"/>
              </p:cNvSpPr>
              <p:nvPr/>
            </p:nvSpPr>
            <p:spPr bwMode="auto">
              <a:xfrm>
                <a:off x="3505200" y="2417523"/>
                <a:ext cx="2076276" cy="519606"/>
              </a:xfrm>
              <a:custGeom>
                <a:avLst/>
                <a:gdLst>
                  <a:gd name="connsiteX0" fmla="*/ 0 w 2082626"/>
                  <a:gd name="connsiteY0" fmla="*/ 0 h 560881"/>
                  <a:gd name="connsiteX1" fmla="*/ 2082626 w 2082626"/>
                  <a:gd name="connsiteY1" fmla="*/ 560881 h 560881"/>
                  <a:gd name="connsiteX0" fmla="*/ 0 w 2076276"/>
                  <a:gd name="connsiteY0" fmla="*/ 0 h 519606"/>
                  <a:gd name="connsiteX1" fmla="*/ 2076276 w 2076276"/>
                  <a:gd name="connsiteY1" fmla="*/ 519606 h 519606"/>
                </a:gdLst>
                <a:ahLst/>
                <a:cxnLst>
                  <a:cxn ang="0">
                    <a:pos x="connsiteX0" y="connsiteY0"/>
                  </a:cxn>
                  <a:cxn ang="0">
                    <a:pos x="connsiteX1" y="connsiteY1"/>
                  </a:cxn>
                </a:cxnLst>
                <a:rect l="l" t="t" r="r" b="b"/>
                <a:pathLst>
                  <a:path w="2076276" h="519606">
                    <a:moveTo>
                      <a:pt x="0" y="0"/>
                    </a:moveTo>
                    <a:cubicBezTo>
                      <a:pt x="694209" y="186960"/>
                      <a:pt x="1382067" y="332646"/>
                      <a:pt x="2076276" y="519606"/>
                    </a:cubicBezTo>
                  </a:path>
                </a:pathLst>
              </a:cu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39" name="Line 46">
                <a:extLst>
                  <a:ext uri="{FF2B5EF4-FFF2-40B4-BE49-F238E27FC236}">
                    <a16:creationId xmlns:a16="http://schemas.microsoft.com/office/drawing/2014/main" id="{EB8BFD18-324C-2547-AC63-1A0429ECFF56}"/>
                  </a:ext>
                </a:extLst>
              </p:cNvPr>
              <p:cNvSpPr>
                <a:spLocks noChangeShapeType="1"/>
              </p:cNvSpPr>
              <p:nvPr/>
            </p:nvSpPr>
            <p:spPr bwMode="auto">
              <a:xfrm>
                <a:off x="3505200" y="2404996"/>
                <a:ext cx="1263476" cy="215853"/>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grpSp>
      <p:grpSp>
        <p:nvGrpSpPr>
          <p:cNvPr id="19" name="Group 18">
            <a:extLst>
              <a:ext uri="{FF2B5EF4-FFF2-40B4-BE49-F238E27FC236}">
                <a16:creationId xmlns:a16="http://schemas.microsoft.com/office/drawing/2014/main" id="{953AA9D9-F43E-B546-80D0-95A95FF3FD84}"/>
              </a:ext>
            </a:extLst>
          </p:cNvPr>
          <p:cNvGrpSpPr/>
          <p:nvPr/>
        </p:nvGrpSpPr>
        <p:grpSpPr>
          <a:xfrm>
            <a:off x="1421564" y="3602103"/>
            <a:ext cx="4371717" cy="841318"/>
            <a:chOff x="1895418" y="3659802"/>
            <a:chExt cx="5828956" cy="1121757"/>
          </a:xfrm>
        </p:grpSpPr>
        <p:sp>
          <p:nvSpPr>
            <p:cNvPr id="98" name="Text Box 40">
              <a:extLst>
                <a:ext uri="{FF2B5EF4-FFF2-40B4-BE49-F238E27FC236}">
                  <a16:creationId xmlns:a16="http://schemas.microsoft.com/office/drawing/2014/main" id="{CF922213-3DD4-4C4D-B198-ADF3A29EDBE7}"/>
                </a:ext>
              </a:extLst>
            </p:cNvPr>
            <p:cNvSpPr txBox="1">
              <a:spLocks noChangeArrowheads="1"/>
            </p:cNvSpPr>
            <p:nvPr/>
          </p:nvSpPr>
          <p:spPr bwMode="auto">
            <a:xfrm>
              <a:off x="4830361" y="3659802"/>
              <a:ext cx="2894013" cy="73866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dirty="0">
                  <a:solidFill>
                    <a:srgbClr val="000000"/>
                  </a:solidFill>
                  <a:latin typeface="Arial" charset="0"/>
                </a:rPr>
                <a:t>options (variable length)</a:t>
              </a:r>
              <a:endParaRPr lang="en-US" sz="1800" dirty="0">
                <a:solidFill>
                  <a:srgbClr val="000000"/>
                </a:solidFill>
                <a:latin typeface="Arial" charset="0"/>
              </a:endParaRPr>
            </a:p>
          </p:txBody>
        </p:sp>
        <p:sp>
          <p:nvSpPr>
            <p:cNvPr id="99" name="Text Box 42">
              <a:extLst>
                <a:ext uri="{FF2B5EF4-FFF2-40B4-BE49-F238E27FC236}">
                  <a16:creationId xmlns:a16="http://schemas.microsoft.com/office/drawing/2014/main" id="{0BC58028-06B7-1A4E-8510-AE6EC1534B60}"/>
                </a:ext>
              </a:extLst>
            </p:cNvPr>
            <p:cNvSpPr txBox="1">
              <a:spLocks noChangeArrowheads="1"/>
            </p:cNvSpPr>
            <p:nvPr/>
          </p:nvSpPr>
          <p:spPr bwMode="auto">
            <a:xfrm>
              <a:off x="1895418" y="4326050"/>
              <a:ext cx="1688927" cy="4555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500" dirty="0">
                  <a:solidFill>
                    <a:srgbClr val="000000"/>
                  </a:solidFill>
                  <a:latin typeface="Calibri" panose="020F0502020204030204"/>
                </a:rPr>
                <a:t>TCP</a:t>
              </a:r>
              <a:r>
                <a:rPr lang="en-US" sz="1800" dirty="0">
                  <a:solidFill>
                    <a:srgbClr val="000000"/>
                  </a:solidFill>
                  <a:latin typeface="Calibri" panose="020F0502020204030204"/>
                </a:rPr>
                <a:t> options</a:t>
              </a:r>
              <a:endParaRPr lang="en-US" sz="1500" dirty="0">
                <a:solidFill>
                  <a:srgbClr val="000000"/>
                </a:solidFill>
                <a:latin typeface="Calibri" panose="020F0502020204030204"/>
              </a:endParaRPr>
            </a:p>
          </p:txBody>
        </p:sp>
        <p:cxnSp>
          <p:nvCxnSpPr>
            <p:cNvPr id="7" name="Straight Connector 6">
              <a:extLst>
                <a:ext uri="{FF2B5EF4-FFF2-40B4-BE49-F238E27FC236}">
                  <a16:creationId xmlns:a16="http://schemas.microsoft.com/office/drawing/2014/main" id="{163A6281-16AF-5F4C-91CB-DC46FB513501}"/>
                </a:ext>
              </a:extLst>
            </p:cNvPr>
            <p:cNvCxnSpPr>
              <a:cxnSpLocks/>
              <a:stCxn id="99" idx="3"/>
              <a:endCxn id="98" idx="1"/>
            </p:cNvCxnSpPr>
            <p:nvPr/>
          </p:nvCxnSpPr>
          <p:spPr>
            <a:xfrm flipV="1">
              <a:off x="3584345" y="4029134"/>
              <a:ext cx="1246016" cy="52467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F2A3E3DD-D73E-3547-B33E-7D97BEE9201E}"/>
              </a:ext>
            </a:extLst>
          </p:cNvPr>
          <p:cNvGrpSpPr/>
          <p:nvPr/>
        </p:nvGrpSpPr>
        <p:grpSpPr>
          <a:xfrm>
            <a:off x="238557" y="2971596"/>
            <a:ext cx="3365827" cy="341632"/>
            <a:chOff x="318075" y="2819126"/>
            <a:chExt cx="4487769" cy="455509"/>
          </a:xfrm>
        </p:grpSpPr>
        <p:sp>
          <p:nvSpPr>
            <p:cNvPr id="95" name="Text Box 37">
              <a:extLst>
                <a:ext uri="{FF2B5EF4-FFF2-40B4-BE49-F238E27FC236}">
                  <a16:creationId xmlns:a16="http://schemas.microsoft.com/office/drawing/2014/main" id="{71EB8016-A1DB-1C48-954C-FFBE5CF06DD6}"/>
                </a:ext>
              </a:extLst>
            </p:cNvPr>
            <p:cNvSpPr txBox="1">
              <a:spLocks noChangeArrowheads="1"/>
            </p:cNvSpPr>
            <p:nvPr/>
          </p:nvSpPr>
          <p:spPr bwMode="auto">
            <a:xfrm>
              <a:off x="4247572" y="2826981"/>
              <a:ext cx="558272" cy="43704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lnSpc>
                  <a:spcPct val="85000"/>
                </a:lnSpc>
                <a:defRPr/>
              </a:pPr>
              <a:r>
                <a:rPr lang="en-US" sz="900" dirty="0">
                  <a:solidFill>
                    <a:srgbClr val="000000"/>
                  </a:solidFill>
                  <a:latin typeface="Calibri"/>
                </a:rPr>
                <a:t>head</a:t>
              </a:r>
            </a:p>
            <a:p>
              <a:pPr algn="ctr">
                <a:lnSpc>
                  <a:spcPct val="85000"/>
                </a:lnSpc>
                <a:defRPr/>
              </a:pPr>
              <a:r>
                <a:rPr lang="en-US" sz="900" dirty="0" err="1">
                  <a:solidFill>
                    <a:srgbClr val="000000"/>
                  </a:solidFill>
                  <a:latin typeface="Calibri"/>
                </a:rPr>
                <a:t>len</a:t>
              </a:r>
              <a:endParaRPr lang="en-US" sz="1200" dirty="0">
                <a:solidFill>
                  <a:srgbClr val="000000"/>
                </a:solidFill>
                <a:latin typeface="Calibri"/>
              </a:endParaRPr>
            </a:p>
          </p:txBody>
        </p:sp>
        <p:sp>
          <p:nvSpPr>
            <p:cNvPr id="93" name="Text Box 42">
              <a:extLst>
                <a:ext uri="{FF2B5EF4-FFF2-40B4-BE49-F238E27FC236}">
                  <a16:creationId xmlns:a16="http://schemas.microsoft.com/office/drawing/2014/main" id="{23616F6F-F6F8-274A-8F63-2AC8E94CAB0A}"/>
                </a:ext>
              </a:extLst>
            </p:cNvPr>
            <p:cNvSpPr txBox="1">
              <a:spLocks noChangeArrowheads="1"/>
            </p:cNvSpPr>
            <p:nvPr/>
          </p:nvSpPr>
          <p:spPr bwMode="auto">
            <a:xfrm>
              <a:off x="318075" y="2819126"/>
              <a:ext cx="3287333" cy="4555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800" dirty="0">
                  <a:solidFill>
                    <a:srgbClr val="000000"/>
                  </a:solidFill>
                  <a:latin typeface="Calibri" panose="020F0502020204030204"/>
                </a:rPr>
                <a:t>length </a:t>
              </a:r>
              <a:r>
                <a:rPr lang="en-US" sz="1500" dirty="0">
                  <a:solidFill>
                    <a:srgbClr val="000000"/>
                  </a:solidFill>
                  <a:latin typeface="Calibri" panose="020F0502020204030204"/>
                </a:rPr>
                <a:t>(of TCP header)</a:t>
              </a:r>
            </a:p>
          </p:txBody>
        </p:sp>
        <p:cxnSp>
          <p:nvCxnSpPr>
            <p:cNvPr id="100" name="Straight Connector 99">
              <a:extLst>
                <a:ext uri="{FF2B5EF4-FFF2-40B4-BE49-F238E27FC236}">
                  <a16:creationId xmlns:a16="http://schemas.microsoft.com/office/drawing/2014/main" id="{D004F6AA-C795-934B-B4F0-CA6FD9652FA1}"/>
                </a:ext>
              </a:extLst>
            </p:cNvPr>
            <p:cNvCxnSpPr>
              <a:cxnSpLocks/>
            </p:cNvCxnSpPr>
            <p:nvPr/>
          </p:nvCxnSpPr>
          <p:spPr>
            <a:xfrm>
              <a:off x="3544867" y="3031480"/>
              <a:ext cx="78388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B36175C2-99D1-404D-ADB0-0C09C4338566}"/>
              </a:ext>
            </a:extLst>
          </p:cNvPr>
          <p:cNvGrpSpPr/>
          <p:nvPr/>
        </p:nvGrpSpPr>
        <p:grpSpPr>
          <a:xfrm>
            <a:off x="-18659" y="3237838"/>
            <a:ext cx="4550857" cy="341632"/>
            <a:chOff x="-24878" y="3174115"/>
            <a:chExt cx="6067809" cy="455509"/>
          </a:xfrm>
        </p:grpSpPr>
        <p:sp>
          <p:nvSpPr>
            <p:cNvPr id="82" name="Text Box 24">
              <a:extLst>
                <a:ext uri="{FF2B5EF4-FFF2-40B4-BE49-F238E27FC236}">
                  <a16:creationId xmlns:a16="http://schemas.microsoft.com/office/drawing/2014/main" id="{DA04993C-122C-384A-9568-6515DE95D883}"/>
                </a:ext>
              </a:extLst>
            </p:cNvPr>
            <p:cNvSpPr txBox="1">
              <a:spLocks noChangeArrowheads="1"/>
            </p:cNvSpPr>
            <p:nvPr/>
          </p:nvSpPr>
          <p:spPr bwMode="auto">
            <a:xfrm>
              <a:off x="4757963" y="3203124"/>
              <a:ext cx="1284968" cy="4001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dirty="0">
                  <a:solidFill>
                    <a:srgbClr val="000000"/>
                  </a:solidFill>
                  <a:latin typeface="Arial" charset="0"/>
                </a:rPr>
                <a:t>checksum</a:t>
              </a:r>
            </a:p>
          </p:txBody>
        </p:sp>
        <p:sp>
          <p:nvSpPr>
            <p:cNvPr id="109" name="Text Box 51">
              <a:extLst>
                <a:ext uri="{FF2B5EF4-FFF2-40B4-BE49-F238E27FC236}">
                  <a16:creationId xmlns:a16="http://schemas.microsoft.com/office/drawing/2014/main" id="{CE090396-5F4D-6E4E-AA9C-2778A62E73B2}"/>
                </a:ext>
              </a:extLst>
            </p:cNvPr>
            <p:cNvSpPr txBox="1">
              <a:spLocks noChangeArrowheads="1"/>
            </p:cNvSpPr>
            <p:nvPr/>
          </p:nvSpPr>
          <p:spPr bwMode="auto">
            <a:xfrm>
              <a:off x="-24878" y="3174115"/>
              <a:ext cx="3595494" cy="4555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500" dirty="0">
                  <a:solidFill>
                    <a:srgbClr val="000000"/>
                  </a:solidFill>
                  <a:latin typeface="Calibri" panose="020F0502020204030204"/>
                </a:rPr>
                <a:t>Internet</a:t>
              </a:r>
              <a:r>
                <a:rPr lang="en-US" sz="1800" dirty="0">
                  <a:solidFill>
                    <a:srgbClr val="000000"/>
                  </a:solidFill>
                  <a:latin typeface="Calibri" panose="020F0502020204030204"/>
                </a:rPr>
                <a:t> checksum</a:t>
              </a:r>
            </a:p>
          </p:txBody>
        </p:sp>
        <p:cxnSp>
          <p:nvCxnSpPr>
            <p:cNvPr id="101" name="Straight Connector 100">
              <a:extLst>
                <a:ext uri="{FF2B5EF4-FFF2-40B4-BE49-F238E27FC236}">
                  <a16:creationId xmlns:a16="http://schemas.microsoft.com/office/drawing/2014/main" id="{4F87AC36-0055-DB45-A995-89129C5BB34A}"/>
                </a:ext>
              </a:extLst>
            </p:cNvPr>
            <p:cNvCxnSpPr>
              <a:cxnSpLocks/>
              <a:stCxn id="109" idx="3"/>
              <a:endCxn id="82" idx="1"/>
            </p:cNvCxnSpPr>
            <p:nvPr/>
          </p:nvCxnSpPr>
          <p:spPr>
            <a:xfrm>
              <a:off x="3570616" y="3401870"/>
              <a:ext cx="1187347" cy="130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6" name="Line 10">
            <a:extLst>
              <a:ext uri="{FF2B5EF4-FFF2-40B4-BE49-F238E27FC236}">
                <a16:creationId xmlns:a16="http://schemas.microsoft.com/office/drawing/2014/main" id="{A7BD37B6-D73B-A04D-BDC5-AC47A5470DF4}"/>
              </a:ext>
            </a:extLst>
          </p:cNvPr>
          <p:cNvSpPr>
            <a:spLocks noChangeShapeType="1"/>
          </p:cNvSpPr>
          <p:nvPr/>
        </p:nvSpPr>
        <p:spPr bwMode="auto">
          <a:xfrm flipH="1" flipV="1">
            <a:off x="4717086" y="2116781"/>
            <a:ext cx="1321" cy="273888"/>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84" name="Line 26">
            <a:extLst>
              <a:ext uri="{FF2B5EF4-FFF2-40B4-BE49-F238E27FC236}">
                <a16:creationId xmlns:a16="http://schemas.microsoft.com/office/drawing/2014/main" id="{E9E32468-C9DF-C94D-9DAD-F82B75D02C08}"/>
              </a:ext>
            </a:extLst>
          </p:cNvPr>
          <p:cNvSpPr>
            <a:spLocks noChangeShapeType="1"/>
          </p:cNvSpPr>
          <p:nvPr/>
        </p:nvSpPr>
        <p:spPr bwMode="auto">
          <a:xfrm flipV="1">
            <a:off x="4613033" y="2960747"/>
            <a:ext cx="0" cy="294084"/>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Calibri"/>
              <a:ea typeface="ＭＳ Ｐゴシック" charset="0"/>
            </a:endParaRPr>
          </a:p>
        </p:txBody>
      </p:sp>
      <p:sp>
        <p:nvSpPr>
          <p:cNvPr id="85" name="Line 27">
            <a:extLst>
              <a:ext uri="{FF2B5EF4-FFF2-40B4-BE49-F238E27FC236}">
                <a16:creationId xmlns:a16="http://schemas.microsoft.com/office/drawing/2014/main" id="{595D2D86-0F8D-4945-A03B-3D969A9DA275}"/>
              </a:ext>
            </a:extLst>
          </p:cNvPr>
          <p:cNvSpPr>
            <a:spLocks noChangeShapeType="1"/>
          </p:cNvSpPr>
          <p:nvPr/>
        </p:nvSpPr>
        <p:spPr bwMode="auto">
          <a:xfrm flipV="1">
            <a:off x="4494693" y="2964318"/>
            <a:ext cx="0" cy="294085"/>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Calibri"/>
              <a:ea typeface="ＭＳ Ｐゴシック" charset="0"/>
            </a:endParaRPr>
          </a:p>
        </p:txBody>
      </p:sp>
      <p:sp>
        <p:nvSpPr>
          <p:cNvPr id="86" name="Line 28">
            <a:extLst>
              <a:ext uri="{FF2B5EF4-FFF2-40B4-BE49-F238E27FC236}">
                <a16:creationId xmlns:a16="http://schemas.microsoft.com/office/drawing/2014/main" id="{480E04C4-4E6B-614E-B6E0-47722F1E738E}"/>
              </a:ext>
            </a:extLst>
          </p:cNvPr>
          <p:cNvSpPr>
            <a:spLocks noChangeShapeType="1"/>
          </p:cNvSpPr>
          <p:nvPr/>
        </p:nvSpPr>
        <p:spPr bwMode="auto">
          <a:xfrm flipV="1">
            <a:off x="4372781" y="2964318"/>
            <a:ext cx="0" cy="294085"/>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Calibri"/>
              <a:ea typeface="ＭＳ Ｐゴシック" charset="0"/>
            </a:endParaRPr>
          </a:p>
        </p:txBody>
      </p:sp>
      <p:grpSp>
        <p:nvGrpSpPr>
          <p:cNvPr id="28" name="Group 27">
            <a:extLst>
              <a:ext uri="{FF2B5EF4-FFF2-40B4-BE49-F238E27FC236}">
                <a16:creationId xmlns:a16="http://schemas.microsoft.com/office/drawing/2014/main" id="{D7BB42C1-3F72-AF44-97A0-27D00776292C}"/>
              </a:ext>
            </a:extLst>
          </p:cNvPr>
          <p:cNvGrpSpPr/>
          <p:nvPr/>
        </p:nvGrpSpPr>
        <p:grpSpPr>
          <a:xfrm>
            <a:off x="129408" y="3005212"/>
            <a:ext cx="4665732" cy="2018496"/>
            <a:chOff x="172543" y="2863949"/>
            <a:chExt cx="6220977" cy="2691328"/>
          </a:xfrm>
        </p:grpSpPr>
        <p:sp>
          <p:nvSpPr>
            <p:cNvPr id="102" name="Text Box 44">
              <a:extLst>
                <a:ext uri="{FF2B5EF4-FFF2-40B4-BE49-F238E27FC236}">
                  <a16:creationId xmlns:a16="http://schemas.microsoft.com/office/drawing/2014/main" id="{26B4BE77-FB6F-AB48-BDB1-C2E23D5564F9}"/>
                </a:ext>
              </a:extLst>
            </p:cNvPr>
            <p:cNvSpPr txBox="1">
              <a:spLocks noChangeArrowheads="1"/>
            </p:cNvSpPr>
            <p:nvPr/>
          </p:nvSpPr>
          <p:spPr bwMode="auto">
            <a:xfrm>
              <a:off x="172543" y="4822769"/>
              <a:ext cx="3419248" cy="73250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800" dirty="0">
                  <a:solidFill>
                    <a:srgbClr val="000000"/>
                  </a:solidFill>
                  <a:latin typeface="Calibri" panose="020F0502020204030204"/>
                </a:rPr>
                <a:t>RST, SYN, FIN: </a:t>
              </a:r>
              <a:r>
                <a:rPr lang="en-US" sz="1500" dirty="0">
                  <a:solidFill>
                    <a:srgbClr val="000000"/>
                  </a:solidFill>
                  <a:latin typeface="Calibri" panose="020F0502020204030204"/>
                </a:rPr>
                <a:t>connection management</a:t>
              </a:r>
              <a:endParaRPr lang="en-US" sz="1800" dirty="0">
                <a:solidFill>
                  <a:srgbClr val="000000"/>
                </a:solidFill>
                <a:latin typeface="Calibri" panose="020F0502020204030204"/>
              </a:endParaRPr>
            </a:p>
          </p:txBody>
        </p:sp>
        <p:sp>
          <p:nvSpPr>
            <p:cNvPr id="106" name="Freeform 48">
              <a:extLst>
                <a:ext uri="{FF2B5EF4-FFF2-40B4-BE49-F238E27FC236}">
                  <a16:creationId xmlns:a16="http://schemas.microsoft.com/office/drawing/2014/main" id="{60B1CDA3-93F4-6C43-A635-618B9929B512}"/>
                </a:ext>
              </a:extLst>
            </p:cNvPr>
            <p:cNvSpPr>
              <a:spLocks/>
            </p:cNvSpPr>
            <p:nvPr/>
          </p:nvSpPr>
          <p:spPr bwMode="auto">
            <a:xfrm>
              <a:off x="3558336" y="3152325"/>
              <a:ext cx="2678659" cy="2026938"/>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877"/>
                <a:gd name="connsiteY0" fmla="*/ 32885 h 32885"/>
                <a:gd name="connsiteX1" fmla="*/ 10451 w 11877"/>
                <a:gd name="connsiteY1" fmla="*/ 0 h 32885"/>
                <a:gd name="connsiteX2" fmla="*/ 11877 w 11877"/>
                <a:gd name="connsiteY2" fmla="*/ 0 h 32885"/>
                <a:gd name="connsiteX0" fmla="*/ 0 w 11573"/>
                <a:gd name="connsiteY0" fmla="*/ 32885 h 32885"/>
                <a:gd name="connsiteX1" fmla="*/ 10147 w 11573"/>
                <a:gd name="connsiteY1" fmla="*/ 0 h 32885"/>
                <a:gd name="connsiteX2" fmla="*/ 11573 w 11573"/>
                <a:gd name="connsiteY2" fmla="*/ 0 h 32885"/>
                <a:gd name="connsiteX0" fmla="*/ 0 w 11573"/>
                <a:gd name="connsiteY0" fmla="*/ 28757 h 28757"/>
                <a:gd name="connsiteX1" fmla="*/ 10147 w 11573"/>
                <a:gd name="connsiteY1" fmla="*/ 0 h 28757"/>
                <a:gd name="connsiteX2" fmla="*/ 11573 w 11573"/>
                <a:gd name="connsiteY2" fmla="*/ 0 h 28757"/>
              </a:gdLst>
              <a:ahLst/>
              <a:cxnLst>
                <a:cxn ang="0">
                  <a:pos x="connsiteX0" y="connsiteY0"/>
                </a:cxn>
                <a:cxn ang="0">
                  <a:pos x="connsiteX1" y="connsiteY1"/>
                </a:cxn>
                <a:cxn ang="0">
                  <a:pos x="connsiteX2" y="connsiteY2"/>
                </a:cxn>
              </a:cxnLst>
              <a:rect l="l" t="t" r="r" b="b"/>
              <a:pathLst>
                <a:path w="11573" h="28757">
                  <a:moveTo>
                    <a:pt x="0" y="28757"/>
                  </a:moveTo>
                  <a:lnTo>
                    <a:pt x="10147" y="0"/>
                  </a:lnTo>
                  <a:lnTo>
                    <a:pt x="11573"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sz="1200">
                <a:solidFill>
                  <a:srgbClr val="000000"/>
                </a:solidFill>
                <a:latin typeface="Tahoma" panose="020B0604030504040204" pitchFamily="34" charset="0"/>
              </a:endParaRPr>
            </a:p>
          </p:txBody>
        </p:sp>
        <p:grpSp>
          <p:nvGrpSpPr>
            <p:cNvPr id="27" name="Group 26">
              <a:extLst>
                <a:ext uri="{FF2B5EF4-FFF2-40B4-BE49-F238E27FC236}">
                  <a16:creationId xmlns:a16="http://schemas.microsoft.com/office/drawing/2014/main" id="{879AF9A6-0FEF-B247-BE32-9C9E788D06B7}"/>
                </a:ext>
              </a:extLst>
            </p:cNvPr>
            <p:cNvGrpSpPr/>
            <p:nvPr/>
          </p:nvGrpSpPr>
          <p:grpSpPr>
            <a:xfrm>
              <a:off x="5745055" y="2863949"/>
              <a:ext cx="648465" cy="369958"/>
              <a:chOff x="5745055" y="2863949"/>
              <a:chExt cx="648465" cy="369958"/>
            </a:xfrm>
          </p:grpSpPr>
          <p:sp>
            <p:nvSpPr>
              <p:cNvPr id="104" name="Text Box 25">
                <a:extLst>
                  <a:ext uri="{FF2B5EF4-FFF2-40B4-BE49-F238E27FC236}">
                    <a16:creationId xmlns:a16="http://schemas.microsoft.com/office/drawing/2014/main" id="{1E9027CA-7A6A-B448-891E-3892BD3436EF}"/>
                  </a:ext>
                </a:extLst>
              </p:cNvPr>
              <p:cNvSpPr txBox="1">
                <a:spLocks noChangeArrowheads="1"/>
              </p:cNvSpPr>
              <p:nvPr/>
            </p:nvSpPr>
            <p:spPr bwMode="auto">
              <a:xfrm>
                <a:off x="6053255" y="2864576"/>
                <a:ext cx="340265" cy="369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dirty="0">
                    <a:solidFill>
                      <a:srgbClr val="000000"/>
                    </a:solidFill>
                    <a:latin typeface="Calibri"/>
                  </a:rPr>
                  <a:t>F</a:t>
                </a:r>
                <a:endParaRPr lang="en-US" sz="1800" dirty="0">
                  <a:solidFill>
                    <a:srgbClr val="000000"/>
                  </a:solidFill>
                  <a:latin typeface="Calibri"/>
                </a:endParaRPr>
              </a:p>
            </p:txBody>
          </p:sp>
          <p:sp>
            <p:nvSpPr>
              <p:cNvPr id="105" name="Text Box 32">
                <a:extLst>
                  <a:ext uri="{FF2B5EF4-FFF2-40B4-BE49-F238E27FC236}">
                    <a16:creationId xmlns:a16="http://schemas.microsoft.com/office/drawing/2014/main" id="{BF401CFD-599A-5C4B-A029-67CB6B08DBD3}"/>
                  </a:ext>
                </a:extLst>
              </p:cNvPr>
              <p:cNvSpPr txBox="1">
                <a:spLocks noChangeArrowheads="1"/>
              </p:cNvSpPr>
              <p:nvPr/>
            </p:nvSpPr>
            <p:spPr bwMode="auto">
              <a:xfrm>
                <a:off x="5908673" y="2863949"/>
                <a:ext cx="340266" cy="369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dirty="0">
                    <a:solidFill>
                      <a:srgbClr val="000000"/>
                    </a:solidFill>
                    <a:latin typeface="Calibri"/>
                  </a:rPr>
                  <a:t>S</a:t>
                </a:r>
                <a:endParaRPr lang="en-US" sz="1800" dirty="0">
                  <a:solidFill>
                    <a:srgbClr val="000000"/>
                  </a:solidFill>
                  <a:latin typeface="Calibri"/>
                </a:endParaRPr>
              </a:p>
            </p:txBody>
          </p:sp>
          <p:sp>
            <p:nvSpPr>
              <p:cNvPr id="112" name="Text Box 33">
                <a:extLst>
                  <a:ext uri="{FF2B5EF4-FFF2-40B4-BE49-F238E27FC236}">
                    <a16:creationId xmlns:a16="http://schemas.microsoft.com/office/drawing/2014/main" id="{4835EFCA-3EC6-3040-AA54-B10AD772E111}"/>
                  </a:ext>
                </a:extLst>
              </p:cNvPr>
              <p:cNvSpPr txBox="1">
                <a:spLocks noChangeArrowheads="1"/>
              </p:cNvSpPr>
              <p:nvPr/>
            </p:nvSpPr>
            <p:spPr bwMode="auto">
              <a:xfrm>
                <a:off x="5745055" y="2863950"/>
                <a:ext cx="357363" cy="369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dirty="0">
                    <a:solidFill>
                      <a:srgbClr val="000000"/>
                    </a:solidFill>
                    <a:latin typeface="Calibri"/>
                  </a:rPr>
                  <a:t>R</a:t>
                </a:r>
                <a:endParaRPr lang="en-US" sz="1800" dirty="0">
                  <a:solidFill>
                    <a:srgbClr val="000000"/>
                  </a:solidFill>
                  <a:latin typeface="Calibri"/>
                </a:endParaRPr>
              </a:p>
            </p:txBody>
          </p:sp>
        </p:grpSp>
      </p:grpSp>
      <p:grpSp>
        <p:nvGrpSpPr>
          <p:cNvPr id="25" name="Group 24">
            <a:extLst>
              <a:ext uri="{FF2B5EF4-FFF2-40B4-BE49-F238E27FC236}">
                <a16:creationId xmlns:a16="http://schemas.microsoft.com/office/drawing/2014/main" id="{3AF86AF7-F0A9-0D49-BD66-0BCBA2EFC273}"/>
              </a:ext>
            </a:extLst>
          </p:cNvPr>
          <p:cNvGrpSpPr/>
          <p:nvPr/>
        </p:nvGrpSpPr>
        <p:grpSpPr>
          <a:xfrm>
            <a:off x="3934274" y="3002217"/>
            <a:ext cx="2284895" cy="564601"/>
            <a:chOff x="5245696" y="2859957"/>
            <a:chExt cx="3046525" cy="752801"/>
          </a:xfrm>
        </p:grpSpPr>
        <p:sp>
          <p:nvSpPr>
            <p:cNvPr id="81" name="Text Box 23">
              <a:extLst>
                <a:ext uri="{FF2B5EF4-FFF2-40B4-BE49-F238E27FC236}">
                  <a16:creationId xmlns:a16="http://schemas.microsoft.com/office/drawing/2014/main" id="{81D77D1D-D542-E748-880E-847E52816584}"/>
                </a:ext>
              </a:extLst>
            </p:cNvPr>
            <p:cNvSpPr txBox="1">
              <a:spLocks noChangeArrowheads="1"/>
            </p:cNvSpPr>
            <p:nvPr/>
          </p:nvSpPr>
          <p:spPr bwMode="auto">
            <a:xfrm>
              <a:off x="6391701" y="3212649"/>
              <a:ext cx="1900520" cy="4001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dirty="0" err="1">
                  <a:solidFill>
                    <a:prstClr val="white">
                      <a:lumMod val="75000"/>
                    </a:prstClr>
                  </a:solidFill>
                  <a:latin typeface="Arial" charset="0"/>
                </a:rPr>
                <a:t>Urg</a:t>
              </a:r>
              <a:r>
                <a:rPr lang="en-US" sz="1350" dirty="0">
                  <a:solidFill>
                    <a:prstClr val="white">
                      <a:lumMod val="75000"/>
                    </a:prstClr>
                  </a:solidFill>
                  <a:latin typeface="Arial" charset="0"/>
                </a:rPr>
                <a:t> data pointer</a:t>
              </a:r>
            </a:p>
          </p:txBody>
        </p:sp>
        <p:grpSp>
          <p:nvGrpSpPr>
            <p:cNvPr id="20" name="Group 19">
              <a:extLst>
                <a:ext uri="{FF2B5EF4-FFF2-40B4-BE49-F238E27FC236}">
                  <a16:creationId xmlns:a16="http://schemas.microsoft.com/office/drawing/2014/main" id="{B4F94C5D-E8AA-B440-8C55-70C383D81C15}"/>
                </a:ext>
              </a:extLst>
            </p:cNvPr>
            <p:cNvGrpSpPr/>
            <p:nvPr/>
          </p:nvGrpSpPr>
          <p:grpSpPr>
            <a:xfrm>
              <a:off x="5245696" y="2859957"/>
              <a:ext cx="690459" cy="376473"/>
              <a:chOff x="5496217" y="3067992"/>
              <a:chExt cx="690459" cy="376473"/>
            </a:xfrm>
          </p:grpSpPr>
          <p:sp>
            <p:nvSpPr>
              <p:cNvPr id="114" name="Text Box 34">
                <a:extLst>
                  <a:ext uri="{FF2B5EF4-FFF2-40B4-BE49-F238E27FC236}">
                    <a16:creationId xmlns:a16="http://schemas.microsoft.com/office/drawing/2014/main" id="{7FD0470F-0A1F-AA4D-A333-01EBF41CDBEA}"/>
                  </a:ext>
                </a:extLst>
              </p:cNvPr>
              <p:cNvSpPr txBox="1">
                <a:spLocks noChangeArrowheads="1"/>
              </p:cNvSpPr>
              <p:nvPr/>
            </p:nvSpPr>
            <p:spPr bwMode="auto">
              <a:xfrm>
                <a:off x="5833588" y="3067992"/>
                <a:ext cx="353088"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dirty="0">
                    <a:solidFill>
                      <a:prstClr val="white">
                        <a:lumMod val="65000"/>
                      </a:prstClr>
                    </a:solidFill>
                    <a:latin typeface="Calibri"/>
                  </a:rPr>
                  <a:t>P</a:t>
                </a:r>
                <a:endParaRPr lang="en-US" sz="1800" dirty="0">
                  <a:solidFill>
                    <a:prstClr val="white">
                      <a:lumMod val="65000"/>
                    </a:prstClr>
                  </a:solidFill>
                  <a:latin typeface="Calibri"/>
                </a:endParaRPr>
              </a:p>
            </p:txBody>
          </p:sp>
          <p:sp>
            <p:nvSpPr>
              <p:cNvPr id="120" name="Text Box 36">
                <a:extLst>
                  <a:ext uri="{FF2B5EF4-FFF2-40B4-BE49-F238E27FC236}">
                    <a16:creationId xmlns:a16="http://schemas.microsoft.com/office/drawing/2014/main" id="{B48CC928-18A3-8E4E-944E-47C0F754B01D}"/>
                  </a:ext>
                </a:extLst>
              </p:cNvPr>
              <p:cNvSpPr txBox="1">
                <a:spLocks noChangeArrowheads="1"/>
              </p:cNvSpPr>
              <p:nvPr/>
            </p:nvSpPr>
            <p:spPr bwMode="auto">
              <a:xfrm>
                <a:off x="5496217" y="3075133"/>
                <a:ext cx="378736"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dirty="0">
                    <a:solidFill>
                      <a:prstClr val="white">
                        <a:lumMod val="65000"/>
                      </a:prstClr>
                    </a:solidFill>
                    <a:latin typeface="Calibri"/>
                  </a:rPr>
                  <a:t>U</a:t>
                </a:r>
                <a:endParaRPr lang="en-US" sz="1800" dirty="0">
                  <a:solidFill>
                    <a:prstClr val="white">
                      <a:lumMod val="65000"/>
                    </a:prstClr>
                  </a:solidFill>
                  <a:latin typeface="Calibri"/>
                </a:endParaRPr>
              </a:p>
            </p:txBody>
          </p:sp>
        </p:grpSp>
      </p:grpSp>
      <p:sp>
        <p:nvSpPr>
          <p:cNvPr id="83" name="Line 39">
            <a:extLst>
              <a:ext uri="{FF2B5EF4-FFF2-40B4-BE49-F238E27FC236}">
                <a16:creationId xmlns:a16="http://schemas.microsoft.com/office/drawing/2014/main" id="{392B7123-3C26-1749-8AFA-C33B254E566D}"/>
              </a:ext>
            </a:extLst>
          </p:cNvPr>
          <p:cNvSpPr>
            <a:spLocks noChangeShapeType="1"/>
          </p:cNvSpPr>
          <p:nvPr/>
        </p:nvSpPr>
        <p:spPr bwMode="auto">
          <a:xfrm flipV="1">
            <a:off x="3778729" y="2973111"/>
            <a:ext cx="0" cy="294085"/>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Calibri"/>
              <a:ea typeface="ＭＳ Ｐゴシック" charset="0"/>
            </a:endParaRPr>
          </a:p>
        </p:txBody>
      </p:sp>
      <p:sp>
        <p:nvSpPr>
          <p:cNvPr id="90" name="Line 39">
            <a:extLst>
              <a:ext uri="{FF2B5EF4-FFF2-40B4-BE49-F238E27FC236}">
                <a16:creationId xmlns:a16="http://schemas.microsoft.com/office/drawing/2014/main" id="{7076B497-C69A-EF44-9C73-7365E43E17C4}"/>
              </a:ext>
            </a:extLst>
          </p:cNvPr>
          <p:cNvSpPr>
            <a:spLocks noChangeShapeType="1"/>
          </p:cNvSpPr>
          <p:nvPr/>
        </p:nvSpPr>
        <p:spPr bwMode="auto">
          <a:xfrm flipV="1">
            <a:off x="3899020" y="2966387"/>
            <a:ext cx="0" cy="294085"/>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Calibri"/>
              <a:ea typeface="ＭＳ Ｐゴシック" charset="0"/>
            </a:endParaRPr>
          </a:p>
        </p:txBody>
      </p:sp>
      <p:grpSp>
        <p:nvGrpSpPr>
          <p:cNvPr id="21" name="Group 20">
            <a:extLst>
              <a:ext uri="{FF2B5EF4-FFF2-40B4-BE49-F238E27FC236}">
                <a16:creationId xmlns:a16="http://schemas.microsoft.com/office/drawing/2014/main" id="{EDC6B1EF-A64F-C94C-81C5-7457A0FFD99A}"/>
              </a:ext>
            </a:extLst>
          </p:cNvPr>
          <p:cNvGrpSpPr/>
          <p:nvPr/>
        </p:nvGrpSpPr>
        <p:grpSpPr>
          <a:xfrm>
            <a:off x="137161" y="3005212"/>
            <a:ext cx="3945109" cy="1065639"/>
            <a:chOff x="182880" y="2863950"/>
            <a:chExt cx="5260146" cy="1420851"/>
          </a:xfrm>
        </p:grpSpPr>
        <p:grpSp>
          <p:nvGrpSpPr>
            <p:cNvPr id="18" name="Group 17">
              <a:extLst>
                <a:ext uri="{FF2B5EF4-FFF2-40B4-BE49-F238E27FC236}">
                  <a16:creationId xmlns:a16="http://schemas.microsoft.com/office/drawing/2014/main" id="{A2C55822-331C-DB41-AB07-59E5BF177405}"/>
                </a:ext>
              </a:extLst>
            </p:cNvPr>
            <p:cNvGrpSpPr/>
            <p:nvPr/>
          </p:nvGrpSpPr>
          <p:grpSpPr>
            <a:xfrm>
              <a:off x="4933324" y="2863950"/>
              <a:ext cx="509702" cy="369332"/>
              <a:chOff x="4933324" y="2863950"/>
              <a:chExt cx="509702" cy="369332"/>
            </a:xfrm>
          </p:grpSpPr>
          <p:sp>
            <p:nvSpPr>
              <p:cNvPr id="91" name="Text Box 33">
                <a:extLst>
                  <a:ext uri="{FF2B5EF4-FFF2-40B4-BE49-F238E27FC236}">
                    <a16:creationId xmlns:a16="http://schemas.microsoft.com/office/drawing/2014/main" id="{C85C82AE-5A3B-EC47-8EA4-C0FA0727D048}"/>
                  </a:ext>
                </a:extLst>
              </p:cNvPr>
              <p:cNvSpPr txBox="1">
                <a:spLocks noChangeArrowheads="1"/>
              </p:cNvSpPr>
              <p:nvPr/>
            </p:nvSpPr>
            <p:spPr bwMode="auto">
              <a:xfrm>
                <a:off x="4933324" y="2863950"/>
                <a:ext cx="355227"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dirty="0">
                    <a:solidFill>
                      <a:srgbClr val="000000"/>
                    </a:solidFill>
                    <a:latin typeface="Calibri"/>
                  </a:rPr>
                  <a:t>C</a:t>
                </a:r>
                <a:endParaRPr lang="en-US" sz="1800" dirty="0">
                  <a:solidFill>
                    <a:srgbClr val="000000"/>
                  </a:solidFill>
                  <a:latin typeface="Calibri"/>
                </a:endParaRPr>
              </a:p>
            </p:txBody>
          </p:sp>
          <p:sp>
            <p:nvSpPr>
              <p:cNvPr id="92" name="Text Box 33">
                <a:extLst>
                  <a:ext uri="{FF2B5EF4-FFF2-40B4-BE49-F238E27FC236}">
                    <a16:creationId xmlns:a16="http://schemas.microsoft.com/office/drawing/2014/main" id="{D8D1B074-0355-2942-9977-4413DF7E41C7}"/>
                  </a:ext>
                </a:extLst>
              </p:cNvPr>
              <p:cNvSpPr txBox="1">
                <a:spLocks noChangeArrowheads="1"/>
              </p:cNvSpPr>
              <p:nvPr/>
            </p:nvSpPr>
            <p:spPr bwMode="auto">
              <a:xfrm>
                <a:off x="5096348" y="2863950"/>
                <a:ext cx="346678"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dirty="0">
                    <a:solidFill>
                      <a:srgbClr val="000000"/>
                    </a:solidFill>
                    <a:latin typeface="Calibri"/>
                  </a:rPr>
                  <a:t>E</a:t>
                </a:r>
                <a:endParaRPr lang="en-US" sz="1800" dirty="0">
                  <a:solidFill>
                    <a:srgbClr val="000000"/>
                  </a:solidFill>
                  <a:latin typeface="Calibri"/>
                </a:endParaRPr>
              </a:p>
            </p:txBody>
          </p:sp>
        </p:grpSp>
        <p:sp>
          <p:nvSpPr>
            <p:cNvPr id="103" name="Text Box 44">
              <a:extLst>
                <a:ext uri="{FF2B5EF4-FFF2-40B4-BE49-F238E27FC236}">
                  <a16:creationId xmlns:a16="http://schemas.microsoft.com/office/drawing/2014/main" id="{8DAB804F-166B-0D4B-8089-4B58E3A0811F}"/>
                </a:ext>
              </a:extLst>
            </p:cNvPr>
            <p:cNvSpPr txBox="1">
              <a:spLocks noChangeArrowheads="1"/>
            </p:cNvSpPr>
            <p:nvPr/>
          </p:nvSpPr>
          <p:spPr bwMode="auto">
            <a:xfrm>
              <a:off x="182880" y="3829292"/>
              <a:ext cx="3384479" cy="4555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800" dirty="0">
                  <a:solidFill>
                    <a:srgbClr val="000000"/>
                  </a:solidFill>
                  <a:latin typeface="Calibri" panose="020F0502020204030204"/>
                </a:rPr>
                <a:t>C, E: </a:t>
              </a:r>
              <a:r>
                <a:rPr lang="en-US" sz="1500" dirty="0">
                  <a:solidFill>
                    <a:srgbClr val="000000"/>
                  </a:solidFill>
                  <a:latin typeface="Calibri" panose="020F0502020204030204"/>
                </a:rPr>
                <a:t>congestion notification</a:t>
              </a:r>
              <a:endParaRPr lang="en-US" sz="1800" dirty="0">
                <a:solidFill>
                  <a:srgbClr val="000000"/>
                </a:solidFill>
                <a:latin typeface="Calibri" panose="020F0502020204030204"/>
              </a:endParaRPr>
            </a:p>
          </p:txBody>
        </p:sp>
        <p:sp>
          <p:nvSpPr>
            <p:cNvPr id="110" name="Freeform 48">
              <a:extLst>
                <a:ext uri="{FF2B5EF4-FFF2-40B4-BE49-F238E27FC236}">
                  <a16:creationId xmlns:a16="http://schemas.microsoft.com/office/drawing/2014/main" id="{7103D547-1AEC-9743-8B26-22B579AF1CE1}"/>
                </a:ext>
              </a:extLst>
            </p:cNvPr>
            <p:cNvSpPr>
              <a:spLocks/>
            </p:cNvSpPr>
            <p:nvPr/>
          </p:nvSpPr>
          <p:spPr bwMode="auto">
            <a:xfrm>
              <a:off x="3573195" y="3136684"/>
              <a:ext cx="1749482" cy="914811"/>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391"/>
                <a:gd name="connsiteY0" fmla="*/ 28743 h 28743"/>
                <a:gd name="connsiteX1" fmla="*/ 6388 w 11391"/>
                <a:gd name="connsiteY1" fmla="*/ 0 h 28743"/>
                <a:gd name="connsiteX2" fmla="*/ 11391 w 11391"/>
                <a:gd name="connsiteY2" fmla="*/ 49 h 28743"/>
                <a:gd name="connsiteX0" fmla="*/ 0 w 7455"/>
                <a:gd name="connsiteY0" fmla="*/ 28792 h 28792"/>
                <a:gd name="connsiteX1" fmla="*/ 6388 w 7455"/>
                <a:gd name="connsiteY1" fmla="*/ 49 h 28792"/>
                <a:gd name="connsiteX2" fmla="*/ 7455 w 7455"/>
                <a:gd name="connsiteY2" fmla="*/ 0 h 28792"/>
                <a:gd name="connsiteX0" fmla="*/ 0 w 9679"/>
                <a:gd name="connsiteY0" fmla="*/ 9983 h 9983"/>
                <a:gd name="connsiteX1" fmla="*/ 8569 w 9679"/>
                <a:gd name="connsiteY1" fmla="*/ 0 h 9983"/>
                <a:gd name="connsiteX2" fmla="*/ 9679 w 9679"/>
                <a:gd name="connsiteY2" fmla="*/ 34 h 9983"/>
                <a:gd name="connsiteX0" fmla="*/ 0 w 10062"/>
                <a:gd name="connsiteY0" fmla="*/ 10017 h 10017"/>
                <a:gd name="connsiteX1" fmla="*/ 8853 w 10062"/>
                <a:gd name="connsiteY1" fmla="*/ 17 h 10017"/>
                <a:gd name="connsiteX2" fmla="*/ 10062 w 10062"/>
                <a:gd name="connsiteY2" fmla="*/ 0 h 10017"/>
              </a:gdLst>
              <a:ahLst/>
              <a:cxnLst>
                <a:cxn ang="0">
                  <a:pos x="connsiteX0" y="connsiteY0"/>
                </a:cxn>
                <a:cxn ang="0">
                  <a:pos x="connsiteX1" y="connsiteY1"/>
                </a:cxn>
                <a:cxn ang="0">
                  <a:pos x="connsiteX2" y="connsiteY2"/>
                </a:cxn>
              </a:cxnLst>
              <a:rect l="l" t="t" r="r" b="b"/>
              <a:pathLst>
                <a:path w="10062" h="10017">
                  <a:moveTo>
                    <a:pt x="0" y="10017"/>
                  </a:moveTo>
                  <a:lnTo>
                    <a:pt x="8853" y="17"/>
                  </a:lnTo>
                  <a:lnTo>
                    <a:pt x="10062"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sz="1200" dirty="0">
                <a:solidFill>
                  <a:srgbClr val="000000"/>
                </a:solidFill>
                <a:latin typeface="Tahoma" panose="020B0604030504040204" pitchFamily="34" charset="0"/>
              </a:endParaRPr>
            </a:p>
          </p:txBody>
        </p:sp>
      </p:grpSp>
      <p:sp>
        <p:nvSpPr>
          <p:cNvPr id="94" name="Slide Number Placeholder 2">
            <a:extLst>
              <a:ext uri="{FF2B5EF4-FFF2-40B4-BE49-F238E27FC236}">
                <a16:creationId xmlns:a16="http://schemas.microsoft.com/office/drawing/2014/main" id="{A3EE5CD7-E8F0-2F4B-B766-7EC8F235C30A}"/>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63</a:t>
            </a:fld>
            <a:endParaRPr lang="en-US" dirty="0">
              <a:solidFill>
                <a:prstClr val="white">
                  <a:lumMod val="50000"/>
                </a:prstClr>
              </a:solidFill>
            </a:endParaRPr>
          </a:p>
        </p:txBody>
      </p:sp>
    </p:spTree>
    <p:extLst>
      <p:ext uri="{BB962C8B-B14F-4D97-AF65-F5344CB8AC3E}">
        <p14:creationId xmlns:p14="http://schemas.microsoft.com/office/powerpoint/2010/main" val="3290709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dissolve">
                                      <p:cBhvr>
                                        <p:cTn id="22" dur="500"/>
                                        <p:tgtEl>
                                          <p:spTgt spid="12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dissolv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15"/>
                                        </p:tgtEl>
                                        <p:attrNameLst>
                                          <p:attrName>style.visibility</p:attrName>
                                        </p:attrNameLst>
                                      </p:cBhvr>
                                      <p:to>
                                        <p:strVal val="visible"/>
                                      </p:to>
                                    </p:set>
                                    <p:animEffect transition="in" filter="dissolve">
                                      <p:cBhvr>
                                        <p:cTn id="47" dur="500"/>
                                        <p:tgtEl>
                                          <p:spTgt spid="11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dissolv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sequence numbers, ACKs</a:t>
            </a:r>
            <a:endParaRPr lang="en-US" b="0" dirty="0"/>
          </a:p>
        </p:txBody>
      </p:sp>
      <p:sp>
        <p:nvSpPr>
          <p:cNvPr id="223" name="Rectangle 5">
            <a:extLst>
              <a:ext uri="{FF2B5EF4-FFF2-40B4-BE49-F238E27FC236}">
                <a16:creationId xmlns:a16="http://schemas.microsoft.com/office/drawing/2014/main" id="{D2976065-03BB-9A44-9CEB-93BE9CAA88A6}"/>
              </a:ext>
            </a:extLst>
          </p:cNvPr>
          <p:cNvSpPr txBox="1">
            <a:spLocks noChangeArrowheads="1"/>
          </p:cNvSpPr>
          <p:nvPr/>
        </p:nvSpPr>
        <p:spPr bwMode="auto">
          <a:xfrm>
            <a:off x="536379" y="1874034"/>
            <a:ext cx="3822502" cy="9834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176213" indent="-92869">
              <a:buNone/>
              <a:defRPr/>
            </a:pPr>
            <a:r>
              <a:rPr lang="en-US" altLang="en-US" sz="2100" i="1" kern="0" dirty="0">
                <a:solidFill>
                  <a:srgbClr val="CC0000"/>
                </a:solidFill>
                <a:ea typeface="ＭＳ Ｐゴシック" panose="020B0600070205080204" pitchFamily="34" charset="-128"/>
              </a:rPr>
              <a:t>Sequence numbers:</a:t>
            </a:r>
          </a:p>
          <a:p>
            <a:pPr marL="476250" lvl="1" indent="-208360">
              <a:defRPr/>
            </a:pPr>
            <a:r>
              <a:rPr lang="en-US" altLang="en-US" sz="2100" kern="0" dirty="0">
                <a:solidFill>
                  <a:prstClr val="black"/>
                </a:solidFill>
                <a:ea typeface="ＭＳ Ｐゴシック" panose="020B0600070205080204" pitchFamily="34" charset="-128"/>
              </a:rPr>
              <a:t>byte stream “</a:t>
            </a:r>
            <a:r>
              <a:rPr lang="en-US" altLang="ja-JP" sz="2100" kern="0" dirty="0">
                <a:solidFill>
                  <a:prstClr val="black"/>
                </a:solidFill>
                <a:ea typeface="ＭＳ Ｐゴシック" panose="020B0600070205080204" pitchFamily="34" charset="-128"/>
              </a:rPr>
              <a:t>number” of first byte in segment’s data</a:t>
            </a:r>
            <a:endParaRPr lang="en-US" altLang="ja-JP" sz="1800" kern="0" dirty="0">
              <a:solidFill>
                <a:prstClr val="black"/>
              </a:solidFill>
              <a:ea typeface="ＭＳ Ｐゴシック" panose="020B0600070205080204" pitchFamily="34" charset="-128"/>
            </a:endParaRPr>
          </a:p>
        </p:txBody>
      </p:sp>
      <p:grpSp>
        <p:nvGrpSpPr>
          <p:cNvPr id="224" name="Group 192">
            <a:extLst>
              <a:ext uri="{FF2B5EF4-FFF2-40B4-BE49-F238E27FC236}">
                <a16:creationId xmlns:a16="http://schemas.microsoft.com/office/drawing/2014/main" id="{9FCDCC73-BB43-8046-8E2C-1100B11E1F9D}"/>
              </a:ext>
            </a:extLst>
          </p:cNvPr>
          <p:cNvGrpSpPr>
            <a:grpSpLocks/>
          </p:cNvGrpSpPr>
          <p:nvPr/>
        </p:nvGrpSpPr>
        <p:grpSpPr bwMode="auto">
          <a:xfrm>
            <a:off x="5810263" y="3849212"/>
            <a:ext cx="2369349" cy="1930004"/>
            <a:chOff x="3497" y="2404"/>
            <a:chExt cx="1990" cy="1621"/>
          </a:xfrm>
        </p:grpSpPr>
        <p:sp>
          <p:nvSpPr>
            <p:cNvPr id="225" name="Rectangle 167">
              <a:extLst>
                <a:ext uri="{FF2B5EF4-FFF2-40B4-BE49-F238E27FC236}">
                  <a16:creationId xmlns:a16="http://schemas.microsoft.com/office/drawing/2014/main" id="{9463A16E-CF3F-744B-B6DB-33800BAB4519}"/>
                </a:ext>
              </a:extLst>
            </p:cNvPr>
            <p:cNvSpPr>
              <a:spLocks noChangeArrowheads="1"/>
            </p:cNvSpPr>
            <p:nvPr/>
          </p:nvSpPr>
          <p:spPr bwMode="auto">
            <a:xfrm>
              <a:off x="3755" y="3589"/>
              <a:ext cx="1202" cy="130"/>
            </a:xfrm>
            <a:prstGeom prst="rect">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26" name="Group 148">
              <a:extLst>
                <a:ext uri="{FF2B5EF4-FFF2-40B4-BE49-F238E27FC236}">
                  <a16:creationId xmlns:a16="http://schemas.microsoft.com/office/drawing/2014/main" id="{841F4166-2762-C948-9842-0D47AF0FC7F8}"/>
                </a:ext>
              </a:extLst>
            </p:cNvPr>
            <p:cNvGrpSpPr>
              <a:grpSpLocks/>
            </p:cNvGrpSpPr>
            <p:nvPr/>
          </p:nvGrpSpPr>
          <p:grpSpPr bwMode="auto">
            <a:xfrm>
              <a:off x="3731" y="3291"/>
              <a:ext cx="1252" cy="734"/>
              <a:chOff x="1974" y="2984"/>
              <a:chExt cx="1252" cy="734"/>
            </a:xfrm>
          </p:grpSpPr>
          <p:sp>
            <p:nvSpPr>
              <p:cNvPr id="229" name="Rectangle 149">
                <a:extLst>
                  <a:ext uri="{FF2B5EF4-FFF2-40B4-BE49-F238E27FC236}">
                    <a16:creationId xmlns:a16="http://schemas.microsoft.com/office/drawing/2014/main" id="{6E7D0693-0288-9A4A-9FBC-6B90B9B96584}"/>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30" name="Text Box 150">
                <a:extLst>
                  <a:ext uri="{FF2B5EF4-FFF2-40B4-BE49-F238E27FC236}">
                    <a16:creationId xmlns:a16="http://schemas.microsoft.com/office/drawing/2014/main" id="{62697352-4BED-A64F-8830-504FE043B5D0}"/>
                  </a:ext>
                </a:extLst>
              </p:cNvPr>
              <p:cNvSpPr txBox="1">
                <a:spLocks noChangeArrowheads="1"/>
              </p:cNvSpPr>
              <p:nvPr/>
            </p:nvSpPr>
            <p:spPr bwMode="auto">
              <a:xfrm>
                <a:off x="1979" y="2984"/>
                <a:ext cx="625" cy="17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750" kern="0">
                    <a:solidFill>
                      <a:srgbClr val="000000"/>
                    </a:solidFill>
                    <a:latin typeface="Arial" charset="0"/>
                  </a:rPr>
                  <a:t>source port #</a:t>
                </a:r>
              </a:p>
            </p:txBody>
          </p:sp>
          <p:sp>
            <p:nvSpPr>
              <p:cNvPr id="231" name="Text Box 151">
                <a:extLst>
                  <a:ext uri="{FF2B5EF4-FFF2-40B4-BE49-F238E27FC236}">
                    <a16:creationId xmlns:a16="http://schemas.microsoft.com/office/drawing/2014/main" id="{2C0BFF63-7DCB-6D4D-AF9A-56894AAAD824}"/>
                  </a:ext>
                </a:extLst>
              </p:cNvPr>
              <p:cNvSpPr txBox="1">
                <a:spLocks noChangeArrowheads="1"/>
              </p:cNvSpPr>
              <p:nvPr/>
            </p:nvSpPr>
            <p:spPr bwMode="auto">
              <a:xfrm>
                <a:off x="2625" y="2987"/>
                <a:ext cx="536" cy="17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750" kern="0">
                    <a:solidFill>
                      <a:srgbClr val="000000"/>
                    </a:solidFill>
                    <a:latin typeface="Arial" charset="0"/>
                  </a:rPr>
                  <a:t>dest port #</a:t>
                </a:r>
              </a:p>
            </p:txBody>
          </p:sp>
          <p:sp>
            <p:nvSpPr>
              <p:cNvPr id="232" name="Text Box 152">
                <a:extLst>
                  <a:ext uri="{FF2B5EF4-FFF2-40B4-BE49-F238E27FC236}">
                    <a16:creationId xmlns:a16="http://schemas.microsoft.com/office/drawing/2014/main" id="{69698EB5-AC5E-124A-AB12-0B1B72742F02}"/>
                  </a:ext>
                </a:extLst>
              </p:cNvPr>
              <p:cNvSpPr txBox="1">
                <a:spLocks noChangeArrowheads="1"/>
              </p:cNvSpPr>
              <p:nvPr/>
            </p:nvSpPr>
            <p:spPr bwMode="auto">
              <a:xfrm>
                <a:off x="2154" y="3117"/>
                <a:ext cx="912" cy="3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900" kern="0">
                    <a:solidFill>
                      <a:srgbClr val="000000"/>
                    </a:solidFill>
                    <a:latin typeface="Arial" charset="0"/>
                  </a:rPr>
                  <a:t>sequence number</a:t>
                </a:r>
              </a:p>
            </p:txBody>
          </p:sp>
          <p:sp>
            <p:nvSpPr>
              <p:cNvPr id="233" name="Text Box 153">
                <a:extLst>
                  <a:ext uri="{FF2B5EF4-FFF2-40B4-BE49-F238E27FC236}">
                    <a16:creationId xmlns:a16="http://schemas.microsoft.com/office/drawing/2014/main" id="{697ADB2B-E096-7A41-ACDA-9E058B2EFF5D}"/>
                  </a:ext>
                </a:extLst>
              </p:cNvPr>
              <p:cNvSpPr txBox="1">
                <a:spLocks noChangeArrowheads="1"/>
              </p:cNvSpPr>
              <p:nvPr/>
            </p:nvSpPr>
            <p:spPr bwMode="auto">
              <a:xfrm>
                <a:off x="1974" y="3257"/>
                <a:ext cx="1252" cy="3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900" kern="0" dirty="0">
                    <a:solidFill>
                      <a:srgbClr val="FFFFFF"/>
                    </a:solidFill>
                    <a:latin typeface="Arial" charset="0"/>
                  </a:rPr>
                  <a:t>acknowledgement number</a:t>
                </a:r>
              </a:p>
            </p:txBody>
          </p:sp>
          <p:sp>
            <p:nvSpPr>
              <p:cNvPr id="234" name="Text Box 154">
                <a:extLst>
                  <a:ext uri="{FF2B5EF4-FFF2-40B4-BE49-F238E27FC236}">
                    <a16:creationId xmlns:a16="http://schemas.microsoft.com/office/drawing/2014/main" id="{FD66858C-8D5E-8443-9F2A-57EB759D3EFB}"/>
                  </a:ext>
                </a:extLst>
              </p:cNvPr>
              <p:cNvSpPr txBox="1">
                <a:spLocks noChangeArrowheads="1"/>
              </p:cNvSpPr>
              <p:nvPr/>
            </p:nvSpPr>
            <p:spPr bwMode="auto">
              <a:xfrm>
                <a:off x="2032" y="3544"/>
                <a:ext cx="517" cy="17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750" kern="0">
                    <a:solidFill>
                      <a:srgbClr val="000000"/>
                    </a:solidFill>
                    <a:latin typeface="Arial" charset="0"/>
                  </a:rPr>
                  <a:t>checksum</a:t>
                </a:r>
              </a:p>
            </p:txBody>
          </p:sp>
          <p:sp>
            <p:nvSpPr>
              <p:cNvPr id="235" name="Line 155">
                <a:extLst>
                  <a:ext uri="{FF2B5EF4-FFF2-40B4-BE49-F238E27FC236}">
                    <a16:creationId xmlns:a16="http://schemas.microsoft.com/office/drawing/2014/main" id="{3FFD0288-879C-5D4E-AB0C-3445A5A97975}"/>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36" name="Line 156">
                <a:extLst>
                  <a:ext uri="{FF2B5EF4-FFF2-40B4-BE49-F238E27FC236}">
                    <a16:creationId xmlns:a16="http://schemas.microsoft.com/office/drawing/2014/main" id="{258401F9-F43D-C344-A200-772A5E1E1CB6}"/>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37" name="Line 157">
                <a:extLst>
                  <a:ext uri="{FF2B5EF4-FFF2-40B4-BE49-F238E27FC236}">
                    <a16:creationId xmlns:a16="http://schemas.microsoft.com/office/drawing/2014/main" id="{1E8AD451-7070-4243-A92C-2F6573F9406B}"/>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38" name="Line 158">
                <a:extLst>
                  <a:ext uri="{FF2B5EF4-FFF2-40B4-BE49-F238E27FC236}">
                    <a16:creationId xmlns:a16="http://schemas.microsoft.com/office/drawing/2014/main" id="{A4BD4C96-4E2A-074E-8E46-E4BF76EDD858}"/>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39" name="Line 159">
                <a:extLst>
                  <a:ext uri="{FF2B5EF4-FFF2-40B4-BE49-F238E27FC236}">
                    <a16:creationId xmlns:a16="http://schemas.microsoft.com/office/drawing/2014/main" id="{2153A22B-2E95-B947-A87C-50991B8DBA5D}"/>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40" name="Line 160">
                <a:extLst>
                  <a:ext uri="{FF2B5EF4-FFF2-40B4-BE49-F238E27FC236}">
                    <a16:creationId xmlns:a16="http://schemas.microsoft.com/office/drawing/2014/main" id="{BE256B00-4CFB-254F-8432-198CA45B2CAE}"/>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41" name="Text Box 161">
                <a:extLst>
                  <a:ext uri="{FF2B5EF4-FFF2-40B4-BE49-F238E27FC236}">
                    <a16:creationId xmlns:a16="http://schemas.microsoft.com/office/drawing/2014/main" id="{B0718275-925B-4143-80DA-87B335709565}"/>
                  </a:ext>
                </a:extLst>
              </p:cNvPr>
              <p:cNvSpPr txBox="1">
                <a:spLocks noChangeArrowheads="1"/>
              </p:cNvSpPr>
              <p:nvPr/>
            </p:nvSpPr>
            <p:spPr bwMode="auto">
              <a:xfrm>
                <a:off x="2687" y="3390"/>
                <a:ext cx="365" cy="19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900" kern="0">
                    <a:solidFill>
                      <a:srgbClr val="000000"/>
                    </a:solidFill>
                    <a:latin typeface="Arial" charset="0"/>
                  </a:rPr>
                  <a:t>rwnd</a:t>
                </a:r>
              </a:p>
            </p:txBody>
          </p:sp>
          <p:sp>
            <p:nvSpPr>
              <p:cNvPr id="242" name="Text Box 162">
                <a:extLst>
                  <a:ext uri="{FF2B5EF4-FFF2-40B4-BE49-F238E27FC236}">
                    <a16:creationId xmlns:a16="http://schemas.microsoft.com/office/drawing/2014/main" id="{539F6CE1-CE5E-234B-9AFA-A6F230193072}"/>
                  </a:ext>
                </a:extLst>
              </p:cNvPr>
              <p:cNvSpPr txBox="1">
                <a:spLocks noChangeArrowheads="1"/>
              </p:cNvSpPr>
              <p:nvPr/>
            </p:nvSpPr>
            <p:spPr bwMode="auto">
              <a:xfrm>
                <a:off x="2630" y="3544"/>
                <a:ext cx="539" cy="17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750" kern="0">
                    <a:solidFill>
                      <a:srgbClr val="000000"/>
                    </a:solidFill>
                    <a:latin typeface="Arial" charset="0"/>
                  </a:rPr>
                  <a:t>urg pointer</a:t>
                </a:r>
              </a:p>
            </p:txBody>
          </p:sp>
          <p:sp>
            <p:nvSpPr>
              <p:cNvPr id="243" name="Line 163">
                <a:extLst>
                  <a:ext uri="{FF2B5EF4-FFF2-40B4-BE49-F238E27FC236}">
                    <a16:creationId xmlns:a16="http://schemas.microsoft.com/office/drawing/2014/main" id="{6A1FC325-C1C9-E145-AB86-EB4CA77AB42D}"/>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44" name="Line 164">
                <a:extLst>
                  <a:ext uri="{FF2B5EF4-FFF2-40B4-BE49-F238E27FC236}">
                    <a16:creationId xmlns:a16="http://schemas.microsoft.com/office/drawing/2014/main" id="{A57D4AEC-EA9B-6441-B943-116E0B65541F}"/>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sp>
          <p:nvSpPr>
            <p:cNvPr id="227" name="Text Box 166">
              <a:extLst>
                <a:ext uri="{FF2B5EF4-FFF2-40B4-BE49-F238E27FC236}">
                  <a16:creationId xmlns:a16="http://schemas.microsoft.com/office/drawing/2014/main" id="{A11A42A2-3DE7-8749-BEFC-4B12DFD4E911}"/>
                </a:ext>
              </a:extLst>
            </p:cNvPr>
            <p:cNvSpPr txBox="1">
              <a:spLocks noChangeArrowheads="1"/>
            </p:cNvSpPr>
            <p:nvPr/>
          </p:nvSpPr>
          <p:spPr bwMode="auto">
            <a:xfrm>
              <a:off x="3497" y="3092"/>
              <a:ext cx="1990"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dirty="0">
                  <a:solidFill>
                    <a:srgbClr val="000000"/>
                  </a:solidFill>
                </a:rPr>
                <a:t>outgoing segment from receiver</a:t>
              </a:r>
            </a:p>
          </p:txBody>
        </p:sp>
        <p:sp>
          <p:nvSpPr>
            <p:cNvPr id="228" name="Freeform 168">
              <a:extLst>
                <a:ext uri="{FF2B5EF4-FFF2-40B4-BE49-F238E27FC236}">
                  <a16:creationId xmlns:a16="http://schemas.microsoft.com/office/drawing/2014/main" id="{06FB8DE4-FF8B-2A4C-9587-9B7067BCC3D8}"/>
                </a:ext>
              </a:extLst>
            </p:cNvPr>
            <p:cNvSpPr>
              <a:spLocks/>
            </p:cNvSpPr>
            <p:nvPr/>
          </p:nvSpPr>
          <p:spPr bwMode="auto">
            <a:xfrm flipH="1" flipV="1">
              <a:off x="3599" y="2404"/>
              <a:ext cx="107" cy="1194"/>
            </a:xfrm>
            <a:custGeom>
              <a:avLst/>
              <a:gdLst>
                <a:gd name="T0" fmla="*/ 0 w 107"/>
                <a:gd name="T1" fmla="*/ 0 h 910"/>
                <a:gd name="T2" fmla="*/ 107 w 107"/>
                <a:gd name="T3" fmla="*/ 0 h 910"/>
                <a:gd name="T4" fmla="*/ 107 w 107"/>
                <a:gd name="T5" fmla="*/ 13768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245" name="Group 195">
            <a:extLst>
              <a:ext uri="{FF2B5EF4-FFF2-40B4-BE49-F238E27FC236}">
                <a16:creationId xmlns:a16="http://schemas.microsoft.com/office/drawing/2014/main" id="{B37D7216-C212-C843-A667-53A7C0B847CF}"/>
              </a:ext>
            </a:extLst>
          </p:cNvPr>
          <p:cNvGrpSpPr>
            <a:grpSpLocks/>
          </p:cNvGrpSpPr>
          <p:nvPr/>
        </p:nvGrpSpPr>
        <p:grpSpPr bwMode="auto">
          <a:xfrm>
            <a:off x="6513911" y="5374417"/>
            <a:ext cx="269081" cy="253604"/>
            <a:chOff x="5144" y="3677"/>
            <a:chExt cx="226" cy="213"/>
          </a:xfrm>
        </p:grpSpPr>
        <p:sp>
          <p:nvSpPr>
            <p:cNvPr id="246" name="Rectangle 194">
              <a:extLst>
                <a:ext uri="{FF2B5EF4-FFF2-40B4-BE49-F238E27FC236}">
                  <a16:creationId xmlns:a16="http://schemas.microsoft.com/office/drawing/2014/main" id="{43AFBFF1-B1C6-C147-BB51-D67A053105CA}"/>
                </a:ext>
              </a:extLst>
            </p:cNvPr>
            <p:cNvSpPr>
              <a:spLocks noChangeArrowheads="1"/>
            </p:cNvSpPr>
            <p:nvPr/>
          </p:nvSpPr>
          <p:spPr bwMode="auto">
            <a:xfrm>
              <a:off x="5212" y="3716"/>
              <a:ext cx="88" cy="130"/>
            </a:xfrm>
            <a:prstGeom prst="rect">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47" name="Text Box 193">
              <a:extLst>
                <a:ext uri="{FF2B5EF4-FFF2-40B4-BE49-F238E27FC236}">
                  <a16:creationId xmlns:a16="http://schemas.microsoft.com/office/drawing/2014/main" id="{BF6FCEAE-49B5-A041-A298-4CB690E54688}"/>
                </a:ext>
              </a:extLst>
            </p:cNvPr>
            <p:cNvSpPr txBox="1">
              <a:spLocks noChangeArrowheads="1"/>
            </p:cNvSpPr>
            <p:nvPr/>
          </p:nvSpPr>
          <p:spPr bwMode="auto">
            <a:xfrm>
              <a:off x="5144" y="3677"/>
              <a:ext cx="226"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spcBef>
                  <a:spcPct val="50000"/>
                </a:spcBef>
                <a:defRPr/>
              </a:pPr>
              <a:r>
                <a:rPr lang="en-US" sz="1050" dirty="0">
                  <a:solidFill>
                    <a:srgbClr val="FFFFFF"/>
                  </a:solidFill>
                  <a:latin typeface="Arial Narrow" charset="0"/>
                </a:rPr>
                <a:t>A</a:t>
              </a:r>
            </a:p>
          </p:txBody>
        </p:sp>
      </p:grpSp>
      <p:sp>
        <p:nvSpPr>
          <p:cNvPr id="248" name="Rectangle 37">
            <a:extLst>
              <a:ext uri="{FF2B5EF4-FFF2-40B4-BE49-F238E27FC236}">
                <a16:creationId xmlns:a16="http://schemas.microsoft.com/office/drawing/2014/main" id="{A8678432-C6E0-9045-9DFE-9E95FBC24301}"/>
              </a:ext>
            </a:extLst>
          </p:cNvPr>
          <p:cNvSpPr>
            <a:spLocks noChangeArrowheads="1"/>
          </p:cNvSpPr>
          <p:nvPr/>
        </p:nvSpPr>
        <p:spPr bwMode="auto">
          <a:xfrm>
            <a:off x="5126833" y="3199970"/>
            <a:ext cx="48815" cy="466725"/>
          </a:xfrm>
          <a:prstGeom prst="rect">
            <a:avLst/>
          </a:prstGeom>
          <a:gradFill rotWithShape="1">
            <a:gsLst>
              <a:gs pos="0">
                <a:srgbClr val="FFFFFF"/>
              </a:gs>
              <a:gs pos="100000">
                <a:srgbClr val="33CC33"/>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49" name="Rectangle 39">
            <a:extLst>
              <a:ext uri="{FF2B5EF4-FFF2-40B4-BE49-F238E27FC236}">
                <a16:creationId xmlns:a16="http://schemas.microsoft.com/office/drawing/2014/main" id="{92ADD221-F1C3-B645-92EB-9D1C9315A58A}"/>
              </a:ext>
            </a:extLst>
          </p:cNvPr>
          <p:cNvSpPr>
            <a:spLocks noChangeArrowheads="1"/>
          </p:cNvSpPr>
          <p:nvPr/>
        </p:nvSpPr>
        <p:spPr bwMode="auto">
          <a:xfrm>
            <a:off x="5199461" y="3201161"/>
            <a:ext cx="48816" cy="466725"/>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50" name="Rectangle 40">
            <a:extLst>
              <a:ext uri="{FF2B5EF4-FFF2-40B4-BE49-F238E27FC236}">
                <a16:creationId xmlns:a16="http://schemas.microsoft.com/office/drawing/2014/main" id="{BB8D0EB3-2337-2A41-9EFC-CC44292E23D6}"/>
              </a:ext>
            </a:extLst>
          </p:cNvPr>
          <p:cNvSpPr>
            <a:spLocks noChangeArrowheads="1"/>
          </p:cNvSpPr>
          <p:nvPr/>
        </p:nvSpPr>
        <p:spPr bwMode="auto">
          <a:xfrm>
            <a:off x="5273279" y="3199970"/>
            <a:ext cx="48816" cy="466725"/>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51" name="Rectangle 41">
            <a:extLst>
              <a:ext uri="{FF2B5EF4-FFF2-40B4-BE49-F238E27FC236}">
                <a16:creationId xmlns:a16="http://schemas.microsoft.com/office/drawing/2014/main" id="{08B40AAE-C4F3-B24B-A758-0CBE422C11F5}"/>
              </a:ext>
            </a:extLst>
          </p:cNvPr>
          <p:cNvSpPr>
            <a:spLocks noChangeArrowheads="1"/>
          </p:cNvSpPr>
          <p:nvPr/>
        </p:nvSpPr>
        <p:spPr bwMode="auto">
          <a:xfrm>
            <a:off x="5345908" y="3199970"/>
            <a:ext cx="48815" cy="466725"/>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52" name="Rectangle 42">
            <a:extLst>
              <a:ext uri="{FF2B5EF4-FFF2-40B4-BE49-F238E27FC236}">
                <a16:creationId xmlns:a16="http://schemas.microsoft.com/office/drawing/2014/main" id="{1B696D21-4399-C041-91DC-701FB61A0E4C}"/>
              </a:ext>
            </a:extLst>
          </p:cNvPr>
          <p:cNvSpPr>
            <a:spLocks noChangeArrowheads="1"/>
          </p:cNvSpPr>
          <p:nvPr/>
        </p:nvSpPr>
        <p:spPr bwMode="auto">
          <a:xfrm>
            <a:off x="5417346" y="3199970"/>
            <a:ext cx="48815" cy="466725"/>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53" name="Rectangle 43">
            <a:extLst>
              <a:ext uri="{FF2B5EF4-FFF2-40B4-BE49-F238E27FC236}">
                <a16:creationId xmlns:a16="http://schemas.microsoft.com/office/drawing/2014/main" id="{2CEBC228-9E7F-7E48-9C85-63629AFC09AA}"/>
              </a:ext>
            </a:extLst>
          </p:cNvPr>
          <p:cNvSpPr>
            <a:spLocks noChangeArrowheads="1"/>
          </p:cNvSpPr>
          <p:nvPr/>
        </p:nvSpPr>
        <p:spPr bwMode="auto">
          <a:xfrm>
            <a:off x="5489973" y="3199970"/>
            <a:ext cx="48816" cy="466725"/>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54" name="Rectangle 45">
            <a:extLst>
              <a:ext uri="{FF2B5EF4-FFF2-40B4-BE49-F238E27FC236}">
                <a16:creationId xmlns:a16="http://schemas.microsoft.com/office/drawing/2014/main" id="{499D6101-0E72-764D-90A9-65FA5E9288DF}"/>
              </a:ext>
            </a:extLst>
          </p:cNvPr>
          <p:cNvSpPr>
            <a:spLocks noChangeArrowheads="1"/>
          </p:cNvSpPr>
          <p:nvPr/>
        </p:nvSpPr>
        <p:spPr bwMode="auto">
          <a:xfrm>
            <a:off x="5559029" y="3199970"/>
            <a:ext cx="48816" cy="466725"/>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55" name="Rectangle 46">
            <a:extLst>
              <a:ext uri="{FF2B5EF4-FFF2-40B4-BE49-F238E27FC236}">
                <a16:creationId xmlns:a16="http://schemas.microsoft.com/office/drawing/2014/main" id="{69025D46-11EA-C34F-8D0D-7B789A5DBC95}"/>
              </a:ext>
            </a:extLst>
          </p:cNvPr>
          <p:cNvSpPr>
            <a:spLocks noChangeArrowheads="1"/>
          </p:cNvSpPr>
          <p:nvPr/>
        </p:nvSpPr>
        <p:spPr bwMode="auto">
          <a:xfrm>
            <a:off x="5630467" y="3199970"/>
            <a:ext cx="48816" cy="466725"/>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56" name="Rectangle 47">
            <a:extLst>
              <a:ext uri="{FF2B5EF4-FFF2-40B4-BE49-F238E27FC236}">
                <a16:creationId xmlns:a16="http://schemas.microsoft.com/office/drawing/2014/main" id="{097282D2-CB09-6743-BD88-978413D66230}"/>
              </a:ext>
            </a:extLst>
          </p:cNvPr>
          <p:cNvSpPr>
            <a:spLocks noChangeArrowheads="1"/>
          </p:cNvSpPr>
          <p:nvPr/>
        </p:nvSpPr>
        <p:spPr bwMode="auto">
          <a:xfrm>
            <a:off x="5701904" y="3199970"/>
            <a:ext cx="48816" cy="466725"/>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57" name="Rectangle 50">
            <a:extLst>
              <a:ext uri="{FF2B5EF4-FFF2-40B4-BE49-F238E27FC236}">
                <a16:creationId xmlns:a16="http://schemas.microsoft.com/office/drawing/2014/main" id="{C44BBA4A-C75F-6344-A7C0-80FA59F967B5}"/>
              </a:ext>
            </a:extLst>
          </p:cNvPr>
          <p:cNvSpPr>
            <a:spLocks noChangeArrowheads="1"/>
          </p:cNvSpPr>
          <p:nvPr/>
        </p:nvSpPr>
        <p:spPr bwMode="auto">
          <a:xfrm>
            <a:off x="5781677" y="3199970"/>
            <a:ext cx="48815" cy="466725"/>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58" name="Rectangle 51">
            <a:extLst>
              <a:ext uri="{FF2B5EF4-FFF2-40B4-BE49-F238E27FC236}">
                <a16:creationId xmlns:a16="http://schemas.microsoft.com/office/drawing/2014/main" id="{660EEC78-FF50-7445-8190-34F20263528D}"/>
              </a:ext>
            </a:extLst>
          </p:cNvPr>
          <p:cNvSpPr>
            <a:spLocks noChangeArrowheads="1"/>
          </p:cNvSpPr>
          <p:nvPr/>
        </p:nvSpPr>
        <p:spPr bwMode="auto">
          <a:xfrm>
            <a:off x="5855496" y="3201161"/>
            <a:ext cx="48815" cy="466725"/>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59" name="Rectangle 52">
            <a:extLst>
              <a:ext uri="{FF2B5EF4-FFF2-40B4-BE49-F238E27FC236}">
                <a16:creationId xmlns:a16="http://schemas.microsoft.com/office/drawing/2014/main" id="{BF1D4EAF-3E48-E64D-A9F0-800C14DE416B}"/>
              </a:ext>
            </a:extLst>
          </p:cNvPr>
          <p:cNvSpPr>
            <a:spLocks noChangeArrowheads="1"/>
          </p:cNvSpPr>
          <p:nvPr/>
        </p:nvSpPr>
        <p:spPr bwMode="auto">
          <a:xfrm>
            <a:off x="5928123" y="3199970"/>
            <a:ext cx="48816" cy="466725"/>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60" name="Rectangle 53">
            <a:extLst>
              <a:ext uri="{FF2B5EF4-FFF2-40B4-BE49-F238E27FC236}">
                <a16:creationId xmlns:a16="http://schemas.microsoft.com/office/drawing/2014/main" id="{7F7F3BD0-061B-0346-BC6C-7C752F28EF13}"/>
              </a:ext>
            </a:extLst>
          </p:cNvPr>
          <p:cNvSpPr>
            <a:spLocks noChangeArrowheads="1"/>
          </p:cNvSpPr>
          <p:nvPr/>
        </p:nvSpPr>
        <p:spPr bwMode="auto">
          <a:xfrm>
            <a:off x="6000752" y="3199970"/>
            <a:ext cx="48815" cy="466725"/>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61" name="Rectangle 54">
            <a:extLst>
              <a:ext uri="{FF2B5EF4-FFF2-40B4-BE49-F238E27FC236}">
                <a16:creationId xmlns:a16="http://schemas.microsoft.com/office/drawing/2014/main" id="{1419AB61-44E3-7B43-ADE9-9DF5C9E18D93}"/>
              </a:ext>
            </a:extLst>
          </p:cNvPr>
          <p:cNvSpPr>
            <a:spLocks noChangeArrowheads="1"/>
          </p:cNvSpPr>
          <p:nvPr/>
        </p:nvSpPr>
        <p:spPr bwMode="auto">
          <a:xfrm>
            <a:off x="6073379" y="3199970"/>
            <a:ext cx="48816" cy="466725"/>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62" name="Rectangle 55">
            <a:extLst>
              <a:ext uri="{FF2B5EF4-FFF2-40B4-BE49-F238E27FC236}">
                <a16:creationId xmlns:a16="http://schemas.microsoft.com/office/drawing/2014/main" id="{FA07924E-D97C-9E4F-9629-377D86F65D54}"/>
              </a:ext>
            </a:extLst>
          </p:cNvPr>
          <p:cNvSpPr>
            <a:spLocks noChangeArrowheads="1"/>
          </p:cNvSpPr>
          <p:nvPr/>
        </p:nvSpPr>
        <p:spPr bwMode="auto">
          <a:xfrm>
            <a:off x="6144817" y="3199970"/>
            <a:ext cx="48816" cy="466725"/>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63" name="Rectangle 56">
            <a:extLst>
              <a:ext uri="{FF2B5EF4-FFF2-40B4-BE49-F238E27FC236}">
                <a16:creationId xmlns:a16="http://schemas.microsoft.com/office/drawing/2014/main" id="{78BBA4C2-77BF-7140-8522-72AA5C9FF7DA}"/>
              </a:ext>
            </a:extLst>
          </p:cNvPr>
          <p:cNvSpPr>
            <a:spLocks noChangeArrowheads="1"/>
          </p:cNvSpPr>
          <p:nvPr/>
        </p:nvSpPr>
        <p:spPr bwMode="auto">
          <a:xfrm>
            <a:off x="6213873" y="3199970"/>
            <a:ext cx="48816" cy="466725"/>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64" name="Rectangle 57">
            <a:extLst>
              <a:ext uri="{FF2B5EF4-FFF2-40B4-BE49-F238E27FC236}">
                <a16:creationId xmlns:a16="http://schemas.microsoft.com/office/drawing/2014/main" id="{8C781153-D0D1-4F49-A7D5-E9E0E02C7481}"/>
              </a:ext>
            </a:extLst>
          </p:cNvPr>
          <p:cNvSpPr>
            <a:spLocks noChangeArrowheads="1"/>
          </p:cNvSpPr>
          <p:nvPr/>
        </p:nvSpPr>
        <p:spPr bwMode="auto">
          <a:xfrm>
            <a:off x="6285311" y="3199970"/>
            <a:ext cx="48816" cy="466725"/>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65" name="Rectangle 58">
            <a:extLst>
              <a:ext uri="{FF2B5EF4-FFF2-40B4-BE49-F238E27FC236}">
                <a16:creationId xmlns:a16="http://schemas.microsoft.com/office/drawing/2014/main" id="{1252424B-0051-8B4E-8014-7CDFA89980FC}"/>
              </a:ext>
            </a:extLst>
          </p:cNvPr>
          <p:cNvSpPr>
            <a:spLocks noChangeArrowheads="1"/>
          </p:cNvSpPr>
          <p:nvPr/>
        </p:nvSpPr>
        <p:spPr bwMode="auto">
          <a:xfrm>
            <a:off x="6357940" y="3199970"/>
            <a:ext cx="48815" cy="466725"/>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66" name="Rectangle 59">
            <a:extLst>
              <a:ext uri="{FF2B5EF4-FFF2-40B4-BE49-F238E27FC236}">
                <a16:creationId xmlns:a16="http://schemas.microsoft.com/office/drawing/2014/main" id="{FA783663-FBFD-1D4F-94E0-8E07864896AD}"/>
              </a:ext>
            </a:extLst>
          </p:cNvPr>
          <p:cNvSpPr>
            <a:spLocks noChangeArrowheads="1"/>
          </p:cNvSpPr>
          <p:nvPr/>
        </p:nvSpPr>
        <p:spPr bwMode="auto">
          <a:xfrm>
            <a:off x="6424615" y="3199970"/>
            <a:ext cx="48815" cy="466725"/>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67" name="Rectangle 60">
            <a:extLst>
              <a:ext uri="{FF2B5EF4-FFF2-40B4-BE49-F238E27FC236}">
                <a16:creationId xmlns:a16="http://schemas.microsoft.com/office/drawing/2014/main" id="{9A20FCBA-A9E2-494E-8A95-747703BA2FAA}"/>
              </a:ext>
            </a:extLst>
          </p:cNvPr>
          <p:cNvSpPr>
            <a:spLocks noChangeArrowheads="1"/>
          </p:cNvSpPr>
          <p:nvPr/>
        </p:nvSpPr>
        <p:spPr bwMode="auto">
          <a:xfrm>
            <a:off x="6496052" y="3199970"/>
            <a:ext cx="48815" cy="466725"/>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68" name="Rectangle 61">
            <a:extLst>
              <a:ext uri="{FF2B5EF4-FFF2-40B4-BE49-F238E27FC236}">
                <a16:creationId xmlns:a16="http://schemas.microsoft.com/office/drawing/2014/main" id="{BD15B2FA-70B2-F44B-A21B-EE69A9B05DC8}"/>
              </a:ext>
            </a:extLst>
          </p:cNvPr>
          <p:cNvSpPr>
            <a:spLocks noChangeArrowheads="1"/>
          </p:cNvSpPr>
          <p:nvPr/>
        </p:nvSpPr>
        <p:spPr bwMode="auto">
          <a:xfrm>
            <a:off x="6566298" y="3198779"/>
            <a:ext cx="48816" cy="466725"/>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69" name="Rectangle 62">
            <a:extLst>
              <a:ext uri="{FF2B5EF4-FFF2-40B4-BE49-F238E27FC236}">
                <a16:creationId xmlns:a16="http://schemas.microsoft.com/office/drawing/2014/main" id="{FCC59CFB-2A58-CB44-B886-3040D9E44C77}"/>
              </a:ext>
            </a:extLst>
          </p:cNvPr>
          <p:cNvSpPr>
            <a:spLocks noChangeArrowheads="1"/>
          </p:cNvSpPr>
          <p:nvPr/>
        </p:nvSpPr>
        <p:spPr bwMode="auto">
          <a:xfrm>
            <a:off x="6635354" y="3198779"/>
            <a:ext cx="48816" cy="466725"/>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70" name="Rectangle 63">
            <a:extLst>
              <a:ext uri="{FF2B5EF4-FFF2-40B4-BE49-F238E27FC236}">
                <a16:creationId xmlns:a16="http://schemas.microsoft.com/office/drawing/2014/main" id="{C2CEED62-895E-984B-A8A4-247D41CE7E93}"/>
              </a:ext>
            </a:extLst>
          </p:cNvPr>
          <p:cNvSpPr>
            <a:spLocks noChangeArrowheads="1"/>
          </p:cNvSpPr>
          <p:nvPr/>
        </p:nvSpPr>
        <p:spPr bwMode="auto">
          <a:xfrm>
            <a:off x="6707983" y="3198779"/>
            <a:ext cx="48815" cy="466725"/>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71" name="Rectangle 64">
            <a:extLst>
              <a:ext uri="{FF2B5EF4-FFF2-40B4-BE49-F238E27FC236}">
                <a16:creationId xmlns:a16="http://schemas.microsoft.com/office/drawing/2014/main" id="{A927D859-82EA-9A4A-9764-093C53E03753}"/>
              </a:ext>
            </a:extLst>
          </p:cNvPr>
          <p:cNvSpPr>
            <a:spLocks noChangeArrowheads="1"/>
          </p:cNvSpPr>
          <p:nvPr/>
        </p:nvSpPr>
        <p:spPr bwMode="auto">
          <a:xfrm>
            <a:off x="6779421" y="3198779"/>
            <a:ext cx="48815" cy="466725"/>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72" name="Rectangle 65">
            <a:extLst>
              <a:ext uri="{FF2B5EF4-FFF2-40B4-BE49-F238E27FC236}">
                <a16:creationId xmlns:a16="http://schemas.microsoft.com/office/drawing/2014/main" id="{F473CF44-260A-E04B-8696-E13EFF7EE281}"/>
              </a:ext>
            </a:extLst>
          </p:cNvPr>
          <p:cNvSpPr>
            <a:spLocks noChangeArrowheads="1"/>
          </p:cNvSpPr>
          <p:nvPr/>
        </p:nvSpPr>
        <p:spPr bwMode="auto">
          <a:xfrm>
            <a:off x="6846096" y="3198779"/>
            <a:ext cx="48815" cy="466725"/>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73" name="Rectangle 66">
            <a:extLst>
              <a:ext uri="{FF2B5EF4-FFF2-40B4-BE49-F238E27FC236}">
                <a16:creationId xmlns:a16="http://schemas.microsoft.com/office/drawing/2014/main" id="{489A018C-E3FF-AC42-A61C-40BC11AD79CE}"/>
              </a:ext>
            </a:extLst>
          </p:cNvPr>
          <p:cNvSpPr>
            <a:spLocks noChangeArrowheads="1"/>
          </p:cNvSpPr>
          <p:nvPr/>
        </p:nvSpPr>
        <p:spPr bwMode="auto">
          <a:xfrm>
            <a:off x="6917533" y="3198779"/>
            <a:ext cx="48815" cy="466725"/>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74" name="Rectangle 68">
            <a:extLst>
              <a:ext uri="{FF2B5EF4-FFF2-40B4-BE49-F238E27FC236}">
                <a16:creationId xmlns:a16="http://schemas.microsoft.com/office/drawing/2014/main" id="{15DBA7E3-2A55-A347-8398-5FF2E190C152}"/>
              </a:ext>
            </a:extLst>
          </p:cNvPr>
          <p:cNvSpPr>
            <a:spLocks noChangeArrowheads="1"/>
          </p:cNvSpPr>
          <p:nvPr/>
        </p:nvSpPr>
        <p:spPr bwMode="auto">
          <a:xfrm>
            <a:off x="6990161" y="3199970"/>
            <a:ext cx="48816" cy="466725"/>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5" name="Rectangle 69">
            <a:extLst>
              <a:ext uri="{FF2B5EF4-FFF2-40B4-BE49-F238E27FC236}">
                <a16:creationId xmlns:a16="http://schemas.microsoft.com/office/drawing/2014/main" id="{C41C2999-2C3A-6B42-BFD4-461D81F336F2}"/>
              </a:ext>
            </a:extLst>
          </p:cNvPr>
          <p:cNvSpPr>
            <a:spLocks noChangeArrowheads="1"/>
          </p:cNvSpPr>
          <p:nvPr/>
        </p:nvSpPr>
        <p:spPr bwMode="auto">
          <a:xfrm>
            <a:off x="7062790" y="3201161"/>
            <a:ext cx="48815" cy="466725"/>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6" name="Rectangle 70">
            <a:extLst>
              <a:ext uri="{FF2B5EF4-FFF2-40B4-BE49-F238E27FC236}">
                <a16:creationId xmlns:a16="http://schemas.microsoft.com/office/drawing/2014/main" id="{C31E0892-5A99-CC4B-9267-B95157619AAA}"/>
              </a:ext>
            </a:extLst>
          </p:cNvPr>
          <p:cNvSpPr>
            <a:spLocks noChangeArrowheads="1"/>
          </p:cNvSpPr>
          <p:nvPr/>
        </p:nvSpPr>
        <p:spPr bwMode="auto">
          <a:xfrm>
            <a:off x="7135417" y="3199970"/>
            <a:ext cx="48816" cy="466725"/>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7" name="Rectangle 71">
            <a:extLst>
              <a:ext uri="{FF2B5EF4-FFF2-40B4-BE49-F238E27FC236}">
                <a16:creationId xmlns:a16="http://schemas.microsoft.com/office/drawing/2014/main" id="{F4A34BCF-97FE-9043-BC3E-A64DDF0FE4E2}"/>
              </a:ext>
            </a:extLst>
          </p:cNvPr>
          <p:cNvSpPr>
            <a:spLocks noChangeArrowheads="1"/>
          </p:cNvSpPr>
          <p:nvPr/>
        </p:nvSpPr>
        <p:spPr bwMode="auto">
          <a:xfrm>
            <a:off x="7209236" y="3199970"/>
            <a:ext cx="48816" cy="466725"/>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8" name="Rectangle 72">
            <a:extLst>
              <a:ext uri="{FF2B5EF4-FFF2-40B4-BE49-F238E27FC236}">
                <a16:creationId xmlns:a16="http://schemas.microsoft.com/office/drawing/2014/main" id="{AF39E66A-9553-3344-9AD6-6EDA216F2880}"/>
              </a:ext>
            </a:extLst>
          </p:cNvPr>
          <p:cNvSpPr>
            <a:spLocks noChangeArrowheads="1"/>
          </p:cNvSpPr>
          <p:nvPr/>
        </p:nvSpPr>
        <p:spPr bwMode="auto">
          <a:xfrm>
            <a:off x="7280673" y="3199970"/>
            <a:ext cx="48816" cy="466725"/>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9" name="Rectangle 73">
            <a:extLst>
              <a:ext uri="{FF2B5EF4-FFF2-40B4-BE49-F238E27FC236}">
                <a16:creationId xmlns:a16="http://schemas.microsoft.com/office/drawing/2014/main" id="{ECFAFFA1-A372-CF41-884A-8A8C27CFE0C1}"/>
              </a:ext>
            </a:extLst>
          </p:cNvPr>
          <p:cNvSpPr>
            <a:spLocks noChangeArrowheads="1"/>
          </p:cNvSpPr>
          <p:nvPr/>
        </p:nvSpPr>
        <p:spPr bwMode="auto">
          <a:xfrm>
            <a:off x="7352111" y="3199970"/>
            <a:ext cx="48816" cy="466725"/>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0" name="Rectangle 74">
            <a:extLst>
              <a:ext uri="{FF2B5EF4-FFF2-40B4-BE49-F238E27FC236}">
                <a16:creationId xmlns:a16="http://schemas.microsoft.com/office/drawing/2014/main" id="{3C3828F5-F0A3-9B49-AB1D-346F1948CC97}"/>
              </a:ext>
            </a:extLst>
          </p:cNvPr>
          <p:cNvSpPr>
            <a:spLocks noChangeArrowheads="1"/>
          </p:cNvSpPr>
          <p:nvPr/>
        </p:nvSpPr>
        <p:spPr bwMode="auto">
          <a:xfrm>
            <a:off x="7421167" y="3199970"/>
            <a:ext cx="48816" cy="466725"/>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1" name="Rectangle 75">
            <a:extLst>
              <a:ext uri="{FF2B5EF4-FFF2-40B4-BE49-F238E27FC236}">
                <a16:creationId xmlns:a16="http://schemas.microsoft.com/office/drawing/2014/main" id="{E047C25C-F28E-9A40-9394-4DFA7C5CF236}"/>
              </a:ext>
            </a:extLst>
          </p:cNvPr>
          <p:cNvSpPr>
            <a:spLocks noChangeArrowheads="1"/>
          </p:cNvSpPr>
          <p:nvPr/>
        </p:nvSpPr>
        <p:spPr bwMode="auto">
          <a:xfrm>
            <a:off x="7493796" y="3199970"/>
            <a:ext cx="48815" cy="466725"/>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2" name="Rectangle 76">
            <a:extLst>
              <a:ext uri="{FF2B5EF4-FFF2-40B4-BE49-F238E27FC236}">
                <a16:creationId xmlns:a16="http://schemas.microsoft.com/office/drawing/2014/main" id="{95AB1F8C-60E0-6E4E-BBC9-6AFCA871BF9F}"/>
              </a:ext>
            </a:extLst>
          </p:cNvPr>
          <p:cNvSpPr>
            <a:spLocks noChangeArrowheads="1"/>
          </p:cNvSpPr>
          <p:nvPr/>
        </p:nvSpPr>
        <p:spPr bwMode="auto">
          <a:xfrm>
            <a:off x="7565233" y="3199970"/>
            <a:ext cx="48815" cy="466725"/>
          </a:xfrm>
          <a:prstGeom prst="rect">
            <a:avLst/>
          </a:prstGeom>
          <a:gradFill rotWithShape="1">
            <a:gsLst>
              <a:gs pos="0">
                <a:srgbClr val="B2B2B2"/>
              </a:gs>
              <a:gs pos="100000">
                <a:srgbClr val="FFFFFF"/>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3" name="Rectangle 78">
            <a:extLst>
              <a:ext uri="{FF2B5EF4-FFF2-40B4-BE49-F238E27FC236}">
                <a16:creationId xmlns:a16="http://schemas.microsoft.com/office/drawing/2014/main" id="{4C4E8CF6-C760-5B4C-9C8B-724BC7EC9D27}"/>
              </a:ext>
            </a:extLst>
          </p:cNvPr>
          <p:cNvSpPr>
            <a:spLocks noChangeArrowheads="1"/>
          </p:cNvSpPr>
          <p:nvPr/>
        </p:nvSpPr>
        <p:spPr bwMode="auto">
          <a:xfrm>
            <a:off x="5094686" y="3753611"/>
            <a:ext cx="2556272" cy="6667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4" name="Rectangle 79">
            <a:extLst>
              <a:ext uri="{FF2B5EF4-FFF2-40B4-BE49-F238E27FC236}">
                <a16:creationId xmlns:a16="http://schemas.microsoft.com/office/drawing/2014/main" id="{19F096B9-3111-7D40-B5B1-AE181A6D6D1D}"/>
              </a:ext>
            </a:extLst>
          </p:cNvPr>
          <p:cNvSpPr>
            <a:spLocks noChangeArrowheads="1"/>
          </p:cNvSpPr>
          <p:nvPr/>
        </p:nvSpPr>
        <p:spPr bwMode="auto">
          <a:xfrm>
            <a:off x="5158980" y="3117817"/>
            <a:ext cx="2556272" cy="6667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5" name="Line 80">
            <a:extLst>
              <a:ext uri="{FF2B5EF4-FFF2-40B4-BE49-F238E27FC236}">
                <a16:creationId xmlns:a16="http://schemas.microsoft.com/office/drawing/2014/main" id="{E753CF95-7893-FD4E-BE3D-215F410E8408}"/>
              </a:ext>
            </a:extLst>
          </p:cNvPr>
          <p:cNvSpPr>
            <a:spLocks noChangeShapeType="1"/>
          </p:cNvSpPr>
          <p:nvPr/>
        </p:nvSpPr>
        <p:spPr bwMode="auto">
          <a:xfrm>
            <a:off x="5175649" y="3839336"/>
            <a:ext cx="651272"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286" name="Line 82">
            <a:extLst>
              <a:ext uri="{FF2B5EF4-FFF2-40B4-BE49-F238E27FC236}">
                <a16:creationId xmlns:a16="http://schemas.microsoft.com/office/drawing/2014/main" id="{A84B4DF1-EC9A-7F46-AA18-AD952AC6BF0E}"/>
              </a:ext>
            </a:extLst>
          </p:cNvPr>
          <p:cNvSpPr>
            <a:spLocks noChangeShapeType="1"/>
          </p:cNvSpPr>
          <p:nvPr/>
        </p:nvSpPr>
        <p:spPr bwMode="auto">
          <a:xfrm>
            <a:off x="5876926" y="3840526"/>
            <a:ext cx="651272"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287" name="Line 83">
            <a:extLst>
              <a:ext uri="{FF2B5EF4-FFF2-40B4-BE49-F238E27FC236}">
                <a16:creationId xmlns:a16="http://schemas.microsoft.com/office/drawing/2014/main" id="{F05D6B54-06E8-3340-AF49-E2A2D7CDBC38}"/>
              </a:ext>
            </a:extLst>
          </p:cNvPr>
          <p:cNvSpPr>
            <a:spLocks noChangeShapeType="1"/>
          </p:cNvSpPr>
          <p:nvPr/>
        </p:nvSpPr>
        <p:spPr bwMode="auto">
          <a:xfrm>
            <a:off x="6997304" y="3839336"/>
            <a:ext cx="601266"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288" name="Line 84">
            <a:extLst>
              <a:ext uri="{FF2B5EF4-FFF2-40B4-BE49-F238E27FC236}">
                <a16:creationId xmlns:a16="http://schemas.microsoft.com/office/drawing/2014/main" id="{B41A428C-2E0E-ED49-9C7F-ADDB6951A77B}"/>
              </a:ext>
            </a:extLst>
          </p:cNvPr>
          <p:cNvSpPr>
            <a:spLocks noChangeShapeType="1"/>
          </p:cNvSpPr>
          <p:nvPr/>
        </p:nvSpPr>
        <p:spPr bwMode="auto">
          <a:xfrm>
            <a:off x="6569871" y="3840526"/>
            <a:ext cx="396478"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289" name="Line 87">
            <a:extLst>
              <a:ext uri="{FF2B5EF4-FFF2-40B4-BE49-F238E27FC236}">
                <a16:creationId xmlns:a16="http://schemas.microsoft.com/office/drawing/2014/main" id="{F10E82D1-86EA-0A43-A26B-826B8C65625C}"/>
              </a:ext>
            </a:extLst>
          </p:cNvPr>
          <p:cNvSpPr>
            <a:spLocks noChangeShapeType="1"/>
          </p:cNvSpPr>
          <p:nvPr/>
        </p:nvSpPr>
        <p:spPr bwMode="auto">
          <a:xfrm>
            <a:off x="5244704" y="3857195"/>
            <a:ext cx="0" cy="175022"/>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290" name="Line 88">
            <a:extLst>
              <a:ext uri="{FF2B5EF4-FFF2-40B4-BE49-F238E27FC236}">
                <a16:creationId xmlns:a16="http://schemas.microsoft.com/office/drawing/2014/main" id="{849D7775-1F0E-F446-AFC3-AB4363FCD990}"/>
              </a:ext>
            </a:extLst>
          </p:cNvPr>
          <p:cNvSpPr>
            <a:spLocks noChangeShapeType="1"/>
          </p:cNvSpPr>
          <p:nvPr/>
        </p:nvSpPr>
        <p:spPr bwMode="auto">
          <a:xfrm>
            <a:off x="6166248" y="3853623"/>
            <a:ext cx="0" cy="175022"/>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291" name="Line 89">
            <a:extLst>
              <a:ext uri="{FF2B5EF4-FFF2-40B4-BE49-F238E27FC236}">
                <a16:creationId xmlns:a16="http://schemas.microsoft.com/office/drawing/2014/main" id="{0E0B871C-6367-774B-BA58-EF11B16FA4E2}"/>
              </a:ext>
            </a:extLst>
          </p:cNvPr>
          <p:cNvSpPr>
            <a:spLocks noChangeShapeType="1"/>
          </p:cNvSpPr>
          <p:nvPr/>
        </p:nvSpPr>
        <p:spPr bwMode="auto">
          <a:xfrm>
            <a:off x="6780611" y="3853623"/>
            <a:ext cx="0" cy="175022"/>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292" name="Line 90">
            <a:extLst>
              <a:ext uri="{FF2B5EF4-FFF2-40B4-BE49-F238E27FC236}">
                <a16:creationId xmlns:a16="http://schemas.microsoft.com/office/drawing/2014/main" id="{C09F078D-04FC-E640-8A03-2400CC0F0B8A}"/>
              </a:ext>
            </a:extLst>
          </p:cNvPr>
          <p:cNvSpPr>
            <a:spLocks noChangeShapeType="1"/>
          </p:cNvSpPr>
          <p:nvPr/>
        </p:nvSpPr>
        <p:spPr bwMode="auto">
          <a:xfrm>
            <a:off x="7273529" y="3853623"/>
            <a:ext cx="0" cy="175022"/>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293" name="Text Box 91">
            <a:extLst>
              <a:ext uri="{FF2B5EF4-FFF2-40B4-BE49-F238E27FC236}">
                <a16:creationId xmlns:a16="http://schemas.microsoft.com/office/drawing/2014/main" id="{39A723B2-B4B0-634D-AE9D-8AC58218E734}"/>
              </a:ext>
            </a:extLst>
          </p:cNvPr>
          <p:cNvSpPr txBox="1">
            <a:spLocks noChangeArrowheads="1"/>
          </p:cNvSpPr>
          <p:nvPr/>
        </p:nvSpPr>
        <p:spPr bwMode="auto">
          <a:xfrm>
            <a:off x="5151836" y="4025073"/>
            <a:ext cx="567784" cy="3831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050" kern="0">
                <a:solidFill>
                  <a:srgbClr val="000000"/>
                </a:solidFill>
              </a:rPr>
              <a:t>sent </a:t>
            </a:r>
          </a:p>
          <a:p>
            <a:pPr>
              <a:lnSpc>
                <a:spcPct val="90000"/>
              </a:lnSpc>
              <a:defRPr/>
            </a:pPr>
            <a:r>
              <a:rPr lang="en-US" sz="1050" kern="0">
                <a:solidFill>
                  <a:srgbClr val="000000"/>
                </a:solidFill>
              </a:rPr>
              <a:t>ACKed</a:t>
            </a:r>
          </a:p>
        </p:txBody>
      </p:sp>
      <p:sp>
        <p:nvSpPr>
          <p:cNvPr id="294" name="Text Box 92">
            <a:extLst>
              <a:ext uri="{FF2B5EF4-FFF2-40B4-BE49-F238E27FC236}">
                <a16:creationId xmlns:a16="http://schemas.microsoft.com/office/drawing/2014/main" id="{3B367685-832F-A24C-8E10-9208FC23187F}"/>
              </a:ext>
            </a:extLst>
          </p:cNvPr>
          <p:cNvSpPr txBox="1">
            <a:spLocks noChangeArrowheads="1"/>
          </p:cNvSpPr>
          <p:nvPr/>
        </p:nvSpPr>
        <p:spPr bwMode="auto">
          <a:xfrm>
            <a:off x="5887641" y="4029836"/>
            <a:ext cx="854866" cy="5334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nSpc>
                <a:spcPct val="90000"/>
              </a:lnSpc>
              <a:defRPr/>
            </a:pPr>
            <a:r>
              <a:rPr lang="en-US" altLang="en-US" sz="1050" kern="0" dirty="0">
                <a:solidFill>
                  <a:srgbClr val="000000"/>
                </a:solidFill>
              </a:rPr>
              <a:t>sent, not-yet </a:t>
            </a:r>
            <a:r>
              <a:rPr lang="en-US" altLang="en-US" sz="1050" kern="0" dirty="0" err="1">
                <a:solidFill>
                  <a:srgbClr val="000000"/>
                </a:solidFill>
              </a:rPr>
              <a:t>ACKed</a:t>
            </a:r>
            <a:endParaRPr lang="en-US" altLang="en-US" sz="1050" kern="0" dirty="0">
              <a:solidFill>
                <a:srgbClr val="000000"/>
              </a:solidFill>
            </a:endParaRPr>
          </a:p>
          <a:p>
            <a:pPr>
              <a:lnSpc>
                <a:spcPct val="90000"/>
              </a:lnSpc>
              <a:spcBef>
                <a:spcPts val="225"/>
              </a:spcBef>
              <a:defRPr/>
            </a:pPr>
            <a:r>
              <a:rPr lang="en-US" altLang="en-US" sz="900" kern="0" dirty="0">
                <a:solidFill>
                  <a:srgbClr val="000000"/>
                </a:solidFill>
              </a:rPr>
              <a:t>(“</a:t>
            </a:r>
            <a:r>
              <a:rPr lang="en-US" altLang="ja-JP" sz="900" kern="0" dirty="0">
                <a:solidFill>
                  <a:srgbClr val="000000"/>
                </a:solidFill>
              </a:rPr>
              <a:t>in-flight”)</a:t>
            </a:r>
            <a:endParaRPr lang="en-US" altLang="en-US" sz="900" kern="0" dirty="0">
              <a:solidFill>
                <a:srgbClr val="000000"/>
              </a:solidFill>
            </a:endParaRPr>
          </a:p>
        </p:txBody>
      </p:sp>
      <p:sp>
        <p:nvSpPr>
          <p:cNvPr id="295" name="Text Box 93">
            <a:extLst>
              <a:ext uri="{FF2B5EF4-FFF2-40B4-BE49-F238E27FC236}">
                <a16:creationId xmlns:a16="http://schemas.microsoft.com/office/drawing/2014/main" id="{81CC0B14-ECA5-7042-90A8-A3D1691D8277}"/>
              </a:ext>
            </a:extLst>
          </p:cNvPr>
          <p:cNvSpPr txBox="1">
            <a:spLocks noChangeArrowheads="1"/>
          </p:cNvSpPr>
          <p:nvPr/>
        </p:nvSpPr>
        <p:spPr bwMode="auto">
          <a:xfrm>
            <a:off x="6622258" y="4026263"/>
            <a:ext cx="800100" cy="5286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050" kern="0">
                <a:solidFill>
                  <a:srgbClr val="000000"/>
                </a:solidFill>
              </a:rPr>
              <a:t>usable</a:t>
            </a:r>
          </a:p>
          <a:p>
            <a:pPr>
              <a:lnSpc>
                <a:spcPct val="90000"/>
              </a:lnSpc>
              <a:defRPr/>
            </a:pPr>
            <a:r>
              <a:rPr lang="en-US" sz="1050" kern="0">
                <a:solidFill>
                  <a:srgbClr val="000000"/>
                </a:solidFill>
              </a:rPr>
              <a:t>but not </a:t>
            </a:r>
          </a:p>
          <a:p>
            <a:pPr>
              <a:lnSpc>
                <a:spcPct val="90000"/>
              </a:lnSpc>
              <a:defRPr/>
            </a:pPr>
            <a:r>
              <a:rPr lang="en-US" sz="1050" kern="0">
                <a:solidFill>
                  <a:srgbClr val="000000"/>
                </a:solidFill>
              </a:rPr>
              <a:t>yet sent</a:t>
            </a:r>
          </a:p>
        </p:txBody>
      </p:sp>
      <p:sp>
        <p:nvSpPr>
          <p:cNvPr id="296" name="Text Box 94">
            <a:extLst>
              <a:ext uri="{FF2B5EF4-FFF2-40B4-BE49-F238E27FC236}">
                <a16:creationId xmlns:a16="http://schemas.microsoft.com/office/drawing/2014/main" id="{AA04402D-D3B0-AD47-B91F-3AC1C3E2066A}"/>
              </a:ext>
            </a:extLst>
          </p:cNvPr>
          <p:cNvSpPr txBox="1">
            <a:spLocks noChangeArrowheads="1"/>
          </p:cNvSpPr>
          <p:nvPr/>
        </p:nvSpPr>
        <p:spPr bwMode="auto">
          <a:xfrm>
            <a:off x="7190185" y="4029835"/>
            <a:ext cx="614363" cy="3831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050" kern="0">
                <a:solidFill>
                  <a:srgbClr val="000000"/>
                </a:solidFill>
              </a:rPr>
              <a:t>not </a:t>
            </a:r>
          </a:p>
          <a:p>
            <a:pPr>
              <a:lnSpc>
                <a:spcPct val="90000"/>
              </a:lnSpc>
              <a:defRPr/>
            </a:pPr>
            <a:r>
              <a:rPr lang="en-US" sz="1050" kern="0">
                <a:solidFill>
                  <a:srgbClr val="000000"/>
                </a:solidFill>
              </a:rPr>
              <a:t>usable</a:t>
            </a:r>
          </a:p>
        </p:txBody>
      </p:sp>
      <p:sp>
        <p:nvSpPr>
          <p:cNvPr id="297" name="Text Box 96">
            <a:extLst>
              <a:ext uri="{FF2B5EF4-FFF2-40B4-BE49-F238E27FC236}">
                <a16:creationId xmlns:a16="http://schemas.microsoft.com/office/drawing/2014/main" id="{7BC9AF2B-9067-6D40-8AD6-38C8B0980442}"/>
              </a:ext>
            </a:extLst>
          </p:cNvPr>
          <p:cNvSpPr txBox="1">
            <a:spLocks noChangeArrowheads="1"/>
          </p:cNvSpPr>
          <p:nvPr/>
        </p:nvSpPr>
        <p:spPr bwMode="auto">
          <a:xfrm>
            <a:off x="5922630" y="2851117"/>
            <a:ext cx="898003" cy="3831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lnSpc>
                <a:spcPct val="90000"/>
              </a:lnSpc>
              <a:defRPr/>
            </a:pPr>
            <a:r>
              <a:rPr lang="en-US" sz="1050" kern="0">
                <a:solidFill>
                  <a:srgbClr val="000000"/>
                </a:solidFill>
              </a:rPr>
              <a:t>window size</a:t>
            </a:r>
          </a:p>
          <a:p>
            <a:pPr algn="ctr">
              <a:lnSpc>
                <a:spcPct val="90000"/>
              </a:lnSpc>
              <a:defRPr/>
            </a:pPr>
            <a:r>
              <a:rPr lang="en-US" sz="1050" i="1" kern="0">
                <a:solidFill>
                  <a:srgbClr val="000000"/>
                </a:solidFill>
              </a:rPr>
              <a:t> N</a:t>
            </a:r>
          </a:p>
        </p:txBody>
      </p:sp>
      <p:grpSp>
        <p:nvGrpSpPr>
          <p:cNvPr id="298" name="Group 99">
            <a:extLst>
              <a:ext uri="{FF2B5EF4-FFF2-40B4-BE49-F238E27FC236}">
                <a16:creationId xmlns:a16="http://schemas.microsoft.com/office/drawing/2014/main" id="{24BD0429-57C9-5949-A0FA-36C1FBC99776}"/>
              </a:ext>
            </a:extLst>
          </p:cNvPr>
          <p:cNvGrpSpPr>
            <a:grpSpLocks/>
          </p:cNvGrpSpPr>
          <p:nvPr/>
        </p:nvGrpSpPr>
        <p:grpSpPr bwMode="auto">
          <a:xfrm>
            <a:off x="6522246" y="3018995"/>
            <a:ext cx="445294" cy="102394"/>
            <a:chOff x="4250" y="1692"/>
            <a:chExt cx="374" cy="86"/>
          </a:xfrm>
        </p:grpSpPr>
        <p:sp>
          <p:nvSpPr>
            <p:cNvPr id="299" name="Line 97">
              <a:extLst>
                <a:ext uri="{FF2B5EF4-FFF2-40B4-BE49-F238E27FC236}">
                  <a16:creationId xmlns:a16="http://schemas.microsoft.com/office/drawing/2014/main" id="{A02E02EA-0929-104A-BF00-5ADA492F2B7C}"/>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300" name="Line 98">
              <a:extLst>
                <a:ext uri="{FF2B5EF4-FFF2-40B4-BE49-F238E27FC236}">
                  <a16:creationId xmlns:a16="http://schemas.microsoft.com/office/drawing/2014/main" id="{BBA1422E-A86D-8048-8C6A-CBCE03DB28AC}"/>
                </a:ext>
              </a:extLst>
            </p:cNvPr>
            <p:cNvSpPr>
              <a:spLocks noChangeShapeType="1"/>
            </p:cNvSpPr>
            <p:nvPr/>
          </p:nvSpPr>
          <p:spPr bwMode="auto">
            <a:xfrm>
              <a:off x="4622" y="1692"/>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grpSp>
        <p:nvGrpSpPr>
          <p:cNvPr id="301" name="Group 100">
            <a:extLst>
              <a:ext uri="{FF2B5EF4-FFF2-40B4-BE49-F238E27FC236}">
                <a16:creationId xmlns:a16="http://schemas.microsoft.com/office/drawing/2014/main" id="{953BBB09-1247-E749-B041-4AB4BC053F15}"/>
              </a:ext>
            </a:extLst>
          </p:cNvPr>
          <p:cNvGrpSpPr>
            <a:grpSpLocks/>
          </p:cNvGrpSpPr>
          <p:nvPr/>
        </p:nvGrpSpPr>
        <p:grpSpPr bwMode="auto">
          <a:xfrm rot="10800000">
            <a:off x="5853114" y="3038045"/>
            <a:ext cx="445294" cy="102394"/>
            <a:chOff x="4250" y="1692"/>
            <a:chExt cx="374" cy="86"/>
          </a:xfrm>
        </p:grpSpPr>
        <p:sp>
          <p:nvSpPr>
            <p:cNvPr id="302" name="Line 101">
              <a:extLst>
                <a:ext uri="{FF2B5EF4-FFF2-40B4-BE49-F238E27FC236}">
                  <a16:creationId xmlns:a16="http://schemas.microsoft.com/office/drawing/2014/main" id="{3C66FDCF-F2B7-8447-A6D6-18D719B215CF}"/>
                </a:ext>
              </a:extLst>
            </p:cNvPr>
            <p:cNvSpPr>
              <a:spLocks noChangeShapeType="1"/>
            </p:cNvSpPr>
            <p:nvPr/>
          </p:nvSpPr>
          <p:spPr bwMode="auto">
            <a:xfrm>
              <a:off x="4257" y="1745"/>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303" name="Line 102">
              <a:extLst>
                <a:ext uri="{FF2B5EF4-FFF2-40B4-BE49-F238E27FC236}">
                  <a16:creationId xmlns:a16="http://schemas.microsoft.com/office/drawing/2014/main" id="{3E685C18-38D0-2242-B6E7-6B45955EA4D6}"/>
                </a:ext>
              </a:extLst>
            </p:cNvPr>
            <p:cNvSpPr>
              <a:spLocks noChangeShapeType="1"/>
            </p:cNvSpPr>
            <p:nvPr/>
          </p:nvSpPr>
          <p:spPr bwMode="auto">
            <a:xfrm>
              <a:off x="4629" y="1699"/>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sp>
        <p:nvSpPr>
          <p:cNvPr id="304" name="Text Box 196">
            <a:extLst>
              <a:ext uri="{FF2B5EF4-FFF2-40B4-BE49-F238E27FC236}">
                <a16:creationId xmlns:a16="http://schemas.microsoft.com/office/drawing/2014/main" id="{8A4318F8-8B4B-BA46-9E7C-C771B9AFC315}"/>
              </a:ext>
            </a:extLst>
          </p:cNvPr>
          <p:cNvSpPr txBox="1">
            <a:spLocks noChangeArrowheads="1"/>
          </p:cNvSpPr>
          <p:nvPr/>
        </p:nvSpPr>
        <p:spPr bwMode="auto">
          <a:xfrm>
            <a:off x="5455448" y="3615498"/>
            <a:ext cx="2100255"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defRPr sz="1600">
                <a:solidFill>
                  <a:schemeClr val="tx1"/>
                </a:solidFill>
                <a:latin typeface="Tahoma" charset="0"/>
                <a:ea typeface="ＭＳ Ｐゴシック" charset="0"/>
              </a:defRPr>
            </a:lvl1pPr>
            <a:lvl2pPr>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lvl="1" algn="ctr">
              <a:defRPr/>
            </a:pPr>
            <a:r>
              <a:rPr lang="en-US" sz="1050" i="1" kern="0">
                <a:solidFill>
                  <a:srgbClr val="000000"/>
                </a:solidFill>
              </a:rPr>
              <a:t>sender sequence number space </a:t>
            </a:r>
          </a:p>
        </p:txBody>
      </p:sp>
      <p:grpSp>
        <p:nvGrpSpPr>
          <p:cNvPr id="305" name="Group 199">
            <a:extLst>
              <a:ext uri="{FF2B5EF4-FFF2-40B4-BE49-F238E27FC236}">
                <a16:creationId xmlns:a16="http://schemas.microsoft.com/office/drawing/2014/main" id="{17C79495-9E5E-D743-8F6F-313B7597C3E0}"/>
              </a:ext>
            </a:extLst>
          </p:cNvPr>
          <p:cNvGrpSpPr>
            <a:grpSpLocks/>
          </p:cNvGrpSpPr>
          <p:nvPr/>
        </p:nvGrpSpPr>
        <p:grpSpPr bwMode="auto">
          <a:xfrm>
            <a:off x="4704163" y="1712879"/>
            <a:ext cx="2289572" cy="1475184"/>
            <a:chOff x="2569" y="665"/>
            <a:chExt cx="1923" cy="1239"/>
          </a:xfrm>
        </p:grpSpPr>
        <p:sp>
          <p:nvSpPr>
            <p:cNvPr id="306" name="Rectangle 171">
              <a:extLst>
                <a:ext uri="{FF2B5EF4-FFF2-40B4-BE49-F238E27FC236}">
                  <a16:creationId xmlns:a16="http://schemas.microsoft.com/office/drawing/2014/main" id="{1EAF4F70-21E7-C34E-8873-423E3B1E6A8A}"/>
                </a:ext>
              </a:extLst>
            </p:cNvPr>
            <p:cNvSpPr>
              <a:spLocks noChangeArrowheads="1"/>
            </p:cNvSpPr>
            <p:nvPr/>
          </p:nvSpPr>
          <p:spPr bwMode="auto">
            <a:xfrm>
              <a:off x="2840" y="1028"/>
              <a:ext cx="1202" cy="130"/>
            </a:xfrm>
            <a:prstGeom prst="rect">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307" name="Group 172">
              <a:extLst>
                <a:ext uri="{FF2B5EF4-FFF2-40B4-BE49-F238E27FC236}">
                  <a16:creationId xmlns:a16="http://schemas.microsoft.com/office/drawing/2014/main" id="{DEE85BA8-BC48-F24A-B3C5-A13DD502AF23}"/>
                </a:ext>
              </a:extLst>
            </p:cNvPr>
            <p:cNvGrpSpPr>
              <a:grpSpLocks/>
            </p:cNvGrpSpPr>
            <p:nvPr/>
          </p:nvGrpSpPr>
          <p:grpSpPr bwMode="auto">
            <a:xfrm>
              <a:off x="2820" y="872"/>
              <a:ext cx="1252" cy="734"/>
              <a:chOff x="1976" y="2984"/>
              <a:chExt cx="1252" cy="734"/>
            </a:xfrm>
          </p:grpSpPr>
          <p:sp>
            <p:nvSpPr>
              <p:cNvPr id="310" name="Rectangle 173">
                <a:extLst>
                  <a:ext uri="{FF2B5EF4-FFF2-40B4-BE49-F238E27FC236}">
                    <a16:creationId xmlns:a16="http://schemas.microsoft.com/office/drawing/2014/main" id="{512EC936-B599-4C42-A3CB-F206B3359FAC}"/>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311" name="Text Box 174">
                <a:extLst>
                  <a:ext uri="{FF2B5EF4-FFF2-40B4-BE49-F238E27FC236}">
                    <a16:creationId xmlns:a16="http://schemas.microsoft.com/office/drawing/2014/main" id="{D1A37C4D-C221-B944-960D-5E1AC157A7DE}"/>
                  </a:ext>
                </a:extLst>
              </p:cNvPr>
              <p:cNvSpPr txBox="1">
                <a:spLocks noChangeArrowheads="1"/>
              </p:cNvSpPr>
              <p:nvPr/>
            </p:nvSpPr>
            <p:spPr bwMode="auto">
              <a:xfrm>
                <a:off x="1979" y="2984"/>
                <a:ext cx="625" cy="17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750" kern="0">
                    <a:solidFill>
                      <a:srgbClr val="000000"/>
                    </a:solidFill>
                    <a:latin typeface="Arial" charset="0"/>
                  </a:rPr>
                  <a:t>source port #</a:t>
                </a:r>
              </a:p>
            </p:txBody>
          </p:sp>
          <p:sp>
            <p:nvSpPr>
              <p:cNvPr id="312" name="Text Box 175">
                <a:extLst>
                  <a:ext uri="{FF2B5EF4-FFF2-40B4-BE49-F238E27FC236}">
                    <a16:creationId xmlns:a16="http://schemas.microsoft.com/office/drawing/2014/main" id="{DC506D04-4DCA-2A42-8A11-92D274739497}"/>
                  </a:ext>
                </a:extLst>
              </p:cNvPr>
              <p:cNvSpPr txBox="1">
                <a:spLocks noChangeArrowheads="1"/>
              </p:cNvSpPr>
              <p:nvPr/>
            </p:nvSpPr>
            <p:spPr bwMode="auto">
              <a:xfrm>
                <a:off x="2625" y="2987"/>
                <a:ext cx="536" cy="17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750" kern="0">
                    <a:solidFill>
                      <a:srgbClr val="000000"/>
                    </a:solidFill>
                    <a:latin typeface="Arial" charset="0"/>
                  </a:rPr>
                  <a:t>dest port #</a:t>
                </a:r>
              </a:p>
            </p:txBody>
          </p:sp>
          <p:sp>
            <p:nvSpPr>
              <p:cNvPr id="313" name="Text Box 176">
                <a:extLst>
                  <a:ext uri="{FF2B5EF4-FFF2-40B4-BE49-F238E27FC236}">
                    <a16:creationId xmlns:a16="http://schemas.microsoft.com/office/drawing/2014/main" id="{E9E72ACF-7C4B-3247-896D-D6CDE3C1CEE4}"/>
                  </a:ext>
                </a:extLst>
              </p:cNvPr>
              <p:cNvSpPr txBox="1">
                <a:spLocks noChangeArrowheads="1"/>
              </p:cNvSpPr>
              <p:nvPr/>
            </p:nvSpPr>
            <p:spPr bwMode="auto">
              <a:xfrm>
                <a:off x="2154" y="3117"/>
                <a:ext cx="912" cy="3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900" kern="0">
                    <a:solidFill>
                      <a:srgbClr val="FFFFFF"/>
                    </a:solidFill>
                    <a:latin typeface="Arial" charset="0"/>
                  </a:rPr>
                  <a:t>sequence number</a:t>
                </a:r>
              </a:p>
            </p:txBody>
          </p:sp>
          <p:sp>
            <p:nvSpPr>
              <p:cNvPr id="314" name="Text Box 177">
                <a:extLst>
                  <a:ext uri="{FF2B5EF4-FFF2-40B4-BE49-F238E27FC236}">
                    <a16:creationId xmlns:a16="http://schemas.microsoft.com/office/drawing/2014/main" id="{4A1EA7EA-E261-2540-A61F-14F1D3C62770}"/>
                  </a:ext>
                </a:extLst>
              </p:cNvPr>
              <p:cNvSpPr txBox="1">
                <a:spLocks noChangeArrowheads="1"/>
              </p:cNvSpPr>
              <p:nvPr/>
            </p:nvSpPr>
            <p:spPr bwMode="auto">
              <a:xfrm>
                <a:off x="1976" y="3257"/>
                <a:ext cx="1252" cy="3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900" kern="0">
                    <a:solidFill>
                      <a:srgbClr val="000000"/>
                    </a:solidFill>
                    <a:latin typeface="Arial" charset="0"/>
                  </a:rPr>
                  <a:t>acknowledgement number</a:t>
                </a:r>
              </a:p>
            </p:txBody>
          </p:sp>
          <p:sp>
            <p:nvSpPr>
              <p:cNvPr id="315" name="Text Box 178">
                <a:extLst>
                  <a:ext uri="{FF2B5EF4-FFF2-40B4-BE49-F238E27FC236}">
                    <a16:creationId xmlns:a16="http://schemas.microsoft.com/office/drawing/2014/main" id="{14D444FC-B976-4B43-AF8C-651999F1EAD7}"/>
                  </a:ext>
                </a:extLst>
              </p:cNvPr>
              <p:cNvSpPr txBox="1">
                <a:spLocks noChangeArrowheads="1"/>
              </p:cNvSpPr>
              <p:nvPr/>
            </p:nvSpPr>
            <p:spPr bwMode="auto">
              <a:xfrm>
                <a:off x="2032" y="3544"/>
                <a:ext cx="517" cy="17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750" kern="0">
                    <a:solidFill>
                      <a:srgbClr val="000000"/>
                    </a:solidFill>
                    <a:latin typeface="Arial" charset="0"/>
                  </a:rPr>
                  <a:t>checksum</a:t>
                </a:r>
              </a:p>
            </p:txBody>
          </p:sp>
          <p:sp>
            <p:nvSpPr>
              <p:cNvPr id="316" name="Line 179">
                <a:extLst>
                  <a:ext uri="{FF2B5EF4-FFF2-40B4-BE49-F238E27FC236}">
                    <a16:creationId xmlns:a16="http://schemas.microsoft.com/office/drawing/2014/main" id="{03CA3683-10CF-2D45-855C-D741CB3E84FC}"/>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317" name="Line 180">
                <a:extLst>
                  <a:ext uri="{FF2B5EF4-FFF2-40B4-BE49-F238E27FC236}">
                    <a16:creationId xmlns:a16="http://schemas.microsoft.com/office/drawing/2014/main" id="{4427CEC2-BFD3-0543-AAB5-E40DA49DCF81}"/>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318" name="Line 181">
                <a:extLst>
                  <a:ext uri="{FF2B5EF4-FFF2-40B4-BE49-F238E27FC236}">
                    <a16:creationId xmlns:a16="http://schemas.microsoft.com/office/drawing/2014/main" id="{83A31360-0241-B24B-9A5B-5DF36A70BB1A}"/>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319" name="Line 182">
                <a:extLst>
                  <a:ext uri="{FF2B5EF4-FFF2-40B4-BE49-F238E27FC236}">
                    <a16:creationId xmlns:a16="http://schemas.microsoft.com/office/drawing/2014/main" id="{E2E74D6E-689D-3E49-A5CA-1EB053F0D115}"/>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320" name="Line 183">
                <a:extLst>
                  <a:ext uri="{FF2B5EF4-FFF2-40B4-BE49-F238E27FC236}">
                    <a16:creationId xmlns:a16="http://schemas.microsoft.com/office/drawing/2014/main" id="{34408127-C1C4-5142-81BC-0772E406AF42}"/>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321" name="Line 184">
                <a:extLst>
                  <a:ext uri="{FF2B5EF4-FFF2-40B4-BE49-F238E27FC236}">
                    <a16:creationId xmlns:a16="http://schemas.microsoft.com/office/drawing/2014/main" id="{AF6C4EF8-1ED8-1A4B-B94D-F145C940A384}"/>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322" name="Text Box 185">
                <a:extLst>
                  <a:ext uri="{FF2B5EF4-FFF2-40B4-BE49-F238E27FC236}">
                    <a16:creationId xmlns:a16="http://schemas.microsoft.com/office/drawing/2014/main" id="{8F8508CA-EE38-AF4E-A97C-1BE94735E56E}"/>
                  </a:ext>
                </a:extLst>
              </p:cNvPr>
              <p:cNvSpPr txBox="1">
                <a:spLocks noChangeArrowheads="1"/>
              </p:cNvSpPr>
              <p:nvPr/>
            </p:nvSpPr>
            <p:spPr bwMode="auto">
              <a:xfrm>
                <a:off x="2687" y="3390"/>
                <a:ext cx="365" cy="19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900" kern="0">
                    <a:solidFill>
                      <a:srgbClr val="000000"/>
                    </a:solidFill>
                    <a:latin typeface="Arial" charset="0"/>
                  </a:rPr>
                  <a:t>rwnd</a:t>
                </a:r>
              </a:p>
            </p:txBody>
          </p:sp>
          <p:sp>
            <p:nvSpPr>
              <p:cNvPr id="323" name="Text Box 186">
                <a:extLst>
                  <a:ext uri="{FF2B5EF4-FFF2-40B4-BE49-F238E27FC236}">
                    <a16:creationId xmlns:a16="http://schemas.microsoft.com/office/drawing/2014/main" id="{88BEC28D-C62B-B54E-A090-DF6809C9E835}"/>
                  </a:ext>
                </a:extLst>
              </p:cNvPr>
              <p:cNvSpPr txBox="1">
                <a:spLocks noChangeArrowheads="1"/>
              </p:cNvSpPr>
              <p:nvPr/>
            </p:nvSpPr>
            <p:spPr bwMode="auto">
              <a:xfrm>
                <a:off x="2630" y="3544"/>
                <a:ext cx="539" cy="17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750" kern="0">
                    <a:solidFill>
                      <a:srgbClr val="000000"/>
                    </a:solidFill>
                    <a:latin typeface="Arial" charset="0"/>
                  </a:rPr>
                  <a:t>urg pointer</a:t>
                </a:r>
              </a:p>
            </p:txBody>
          </p:sp>
          <p:sp>
            <p:nvSpPr>
              <p:cNvPr id="324" name="Line 187">
                <a:extLst>
                  <a:ext uri="{FF2B5EF4-FFF2-40B4-BE49-F238E27FC236}">
                    <a16:creationId xmlns:a16="http://schemas.microsoft.com/office/drawing/2014/main" id="{8CC1CABE-C086-144F-8F1F-A7D004A1EA6E}"/>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325" name="Line 188">
                <a:extLst>
                  <a:ext uri="{FF2B5EF4-FFF2-40B4-BE49-F238E27FC236}">
                    <a16:creationId xmlns:a16="http://schemas.microsoft.com/office/drawing/2014/main" id="{061C4173-FBA5-7749-BCE1-9EBD070DBA3D}"/>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sp>
          <p:nvSpPr>
            <p:cNvPr id="308" name="Text Box 189">
              <a:extLst>
                <a:ext uri="{FF2B5EF4-FFF2-40B4-BE49-F238E27FC236}">
                  <a16:creationId xmlns:a16="http://schemas.microsoft.com/office/drawing/2014/main" id="{961ADE6B-9EA8-FA44-92C6-6941117B3BDE}"/>
                </a:ext>
              </a:extLst>
            </p:cNvPr>
            <p:cNvSpPr txBox="1">
              <a:spLocks noChangeArrowheads="1"/>
            </p:cNvSpPr>
            <p:nvPr/>
          </p:nvSpPr>
          <p:spPr bwMode="auto">
            <a:xfrm>
              <a:off x="2569" y="665"/>
              <a:ext cx="1923"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dirty="0">
                  <a:solidFill>
                    <a:srgbClr val="000000"/>
                  </a:solidFill>
                </a:rPr>
                <a:t>outgoing segment from sender</a:t>
              </a:r>
            </a:p>
          </p:txBody>
        </p:sp>
        <p:sp>
          <p:nvSpPr>
            <p:cNvPr id="309" name="Freeform 190">
              <a:extLst>
                <a:ext uri="{FF2B5EF4-FFF2-40B4-BE49-F238E27FC236}">
                  <a16:creationId xmlns:a16="http://schemas.microsoft.com/office/drawing/2014/main" id="{ECB9422A-F7AA-6143-8673-CA97EE9D620B}"/>
                </a:ext>
              </a:extLst>
            </p:cNvPr>
            <p:cNvSpPr>
              <a:spLocks/>
            </p:cNvSpPr>
            <p:nvPr/>
          </p:nvSpPr>
          <p:spPr bwMode="auto">
            <a:xfrm>
              <a:off x="4050" y="1080"/>
              <a:ext cx="107" cy="824"/>
            </a:xfrm>
            <a:custGeom>
              <a:avLst/>
              <a:gdLst>
                <a:gd name="T0" fmla="*/ 0 w 107"/>
                <a:gd name="T1" fmla="*/ 0 h 910"/>
                <a:gd name="T2" fmla="*/ 107 w 107"/>
                <a:gd name="T3" fmla="*/ 0 h 910"/>
                <a:gd name="T4" fmla="*/ 107 w 107"/>
                <a:gd name="T5" fmla="*/ 337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sp>
        <p:nvSpPr>
          <p:cNvPr id="107" name="Rectangle 5">
            <a:extLst>
              <a:ext uri="{FF2B5EF4-FFF2-40B4-BE49-F238E27FC236}">
                <a16:creationId xmlns:a16="http://schemas.microsoft.com/office/drawing/2014/main" id="{6C3FDCE7-5731-3B49-B3F0-A28BEE20C1DD}"/>
              </a:ext>
            </a:extLst>
          </p:cNvPr>
          <p:cNvSpPr txBox="1">
            <a:spLocks noChangeArrowheads="1"/>
          </p:cNvSpPr>
          <p:nvPr/>
        </p:nvSpPr>
        <p:spPr bwMode="auto">
          <a:xfrm>
            <a:off x="555429" y="2959884"/>
            <a:ext cx="3822502" cy="13263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176213" indent="-92869">
              <a:buNone/>
              <a:defRPr/>
            </a:pPr>
            <a:r>
              <a:rPr lang="en-US" altLang="en-US" sz="2100" i="1" kern="0" dirty="0">
                <a:solidFill>
                  <a:srgbClr val="CC0000"/>
                </a:solidFill>
                <a:ea typeface="ＭＳ Ｐゴシック" panose="020B0600070205080204" pitchFamily="34" charset="-128"/>
              </a:rPr>
              <a:t>Acknowledgements</a:t>
            </a:r>
            <a:r>
              <a:rPr lang="en-US" altLang="en-US" sz="2100" u="sng" kern="0" dirty="0">
                <a:solidFill>
                  <a:srgbClr val="CC0000"/>
                </a:solidFill>
                <a:ea typeface="ＭＳ Ｐゴシック" panose="020B0600070205080204" pitchFamily="34" charset="-128"/>
              </a:rPr>
              <a:t>:</a:t>
            </a:r>
            <a:endParaRPr lang="en-US" altLang="en-US" sz="2100" kern="0" dirty="0">
              <a:solidFill>
                <a:srgbClr val="CC0000"/>
              </a:solidFill>
              <a:ea typeface="ＭＳ Ｐゴシック" panose="020B0600070205080204" pitchFamily="34" charset="-128"/>
            </a:endParaRPr>
          </a:p>
          <a:p>
            <a:pPr marL="476250" lvl="1" indent="-214313">
              <a:defRPr/>
            </a:pPr>
            <a:r>
              <a:rPr lang="en-US" altLang="en-US" sz="2100" kern="0" dirty="0">
                <a:solidFill>
                  <a:prstClr val="black"/>
                </a:solidFill>
                <a:ea typeface="ＭＳ Ｐゴシック" panose="020B0600070205080204" pitchFamily="34" charset="-128"/>
              </a:rPr>
              <a:t>seq # of next byte expected from other side</a:t>
            </a:r>
          </a:p>
          <a:p>
            <a:pPr marL="476250" lvl="1" indent="-214313">
              <a:defRPr/>
            </a:pPr>
            <a:r>
              <a:rPr lang="en-US" altLang="en-US" sz="2100" kern="0" dirty="0">
                <a:solidFill>
                  <a:prstClr val="black"/>
                </a:solidFill>
                <a:ea typeface="ＭＳ Ｐゴシック" panose="020B0600070205080204" pitchFamily="34" charset="-128"/>
              </a:rPr>
              <a:t>cumulative ACK</a:t>
            </a:r>
          </a:p>
        </p:txBody>
      </p:sp>
      <p:sp>
        <p:nvSpPr>
          <p:cNvPr id="108" name="Rectangle 5">
            <a:extLst>
              <a:ext uri="{FF2B5EF4-FFF2-40B4-BE49-F238E27FC236}">
                <a16:creationId xmlns:a16="http://schemas.microsoft.com/office/drawing/2014/main" id="{845D3A7B-C2B2-5F46-AC88-0FE1A562E0B2}"/>
              </a:ext>
            </a:extLst>
          </p:cNvPr>
          <p:cNvSpPr txBox="1">
            <a:spLocks noChangeArrowheads="1"/>
          </p:cNvSpPr>
          <p:nvPr/>
        </p:nvSpPr>
        <p:spPr bwMode="auto">
          <a:xfrm>
            <a:off x="488754" y="4332680"/>
            <a:ext cx="3822502" cy="12977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176213" indent="-92869">
              <a:spcBef>
                <a:spcPts val="1425"/>
              </a:spcBef>
              <a:buNone/>
              <a:defRPr/>
            </a:pPr>
            <a:r>
              <a:rPr lang="en-US" altLang="en-US" sz="2100" i="1" u="sng" kern="0" dirty="0">
                <a:solidFill>
                  <a:srgbClr val="CC0000"/>
                </a:solidFill>
                <a:ea typeface="ＭＳ Ｐゴシック" panose="020B0600070205080204" pitchFamily="34" charset="-128"/>
              </a:rPr>
              <a:t>Q</a:t>
            </a:r>
            <a:r>
              <a:rPr lang="en-US" altLang="en-US" sz="2100" kern="0" dirty="0">
                <a:solidFill>
                  <a:srgbClr val="CC0000"/>
                </a:solidFill>
                <a:ea typeface="ＭＳ Ｐゴシック" panose="020B0600070205080204" pitchFamily="34" charset="-128"/>
              </a:rPr>
              <a:t>:</a:t>
            </a:r>
            <a:r>
              <a:rPr lang="en-US" altLang="en-US" sz="2100" kern="0" dirty="0">
                <a:solidFill>
                  <a:prstClr val="black"/>
                </a:solidFill>
                <a:ea typeface="ＭＳ Ｐゴシック" panose="020B0600070205080204" pitchFamily="34" charset="-128"/>
              </a:rPr>
              <a:t> how receiver handles out-of-order segments</a:t>
            </a:r>
          </a:p>
          <a:p>
            <a:pPr marL="476250" lvl="1" indent="-214313">
              <a:defRPr/>
            </a:pPr>
            <a:r>
              <a:rPr lang="en-US" altLang="en-US" sz="2100" i="1" u="sng" kern="0" dirty="0">
                <a:solidFill>
                  <a:srgbClr val="C00000"/>
                </a:solidFill>
                <a:ea typeface="ＭＳ Ｐゴシック" panose="020B0600070205080204" pitchFamily="34" charset="-128"/>
              </a:rPr>
              <a:t>A: </a:t>
            </a:r>
            <a:r>
              <a:rPr lang="en-US" altLang="en-US" sz="2100" kern="0" dirty="0">
                <a:solidFill>
                  <a:prstClr val="black"/>
                </a:solidFill>
                <a:ea typeface="ＭＳ Ｐゴシック" panose="020B0600070205080204" pitchFamily="34" charset="-128"/>
              </a:rPr>
              <a:t>TCP spec doesn</a:t>
            </a:r>
            <a:r>
              <a:rPr lang="en-US" altLang="ja-JP" sz="2100" kern="0" dirty="0">
                <a:solidFill>
                  <a:prstClr val="black"/>
                </a:solidFill>
                <a:ea typeface="ＭＳ Ｐゴシック" panose="020B0600070205080204" pitchFamily="34" charset="-128"/>
              </a:rPr>
              <a:t>’t say, - up to implementor</a:t>
            </a:r>
            <a:endParaRPr lang="en-US" altLang="en-US" sz="2100" kern="0" dirty="0">
              <a:solidFill>
                <a:prstClr val="black"/>
              </a:solidFill>
              <a:ea typeface="ＭＳ Ｐゴシック" panose="020B0600070205080204" pitchFamily="34" charset="-128"/>
            </a:endParaRPr>
          </a:p>
        </p:txBody>
      </p:sp>
      <p:sp>
        <p:nvSpPr>
          <p:cNvPr id="109" name="Slide Number Placeholder 2">
            <a:extLst>
              <a:ext uri="{FF2B5EF4-FFF2-40B4-BE49-F238E27FC236}">
                <a16:creationId xmlns:a16="http://schemas.microsoft.com/office/drawing/2014/main" id="{471D7C94-F1DF-F240-884F-FBFDCBF83554}"/>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64</a:t>
            </a:fld>
            <a:endParaRPr lang="en-US" dirty="0">
              <a:solidFill>
                <a:prstClr val="white">
                  <a:lumMod val="50000"/>
                </a:prstClr>
              </a:solidFill>
            </a:endParaRPr>
          </a:p>
        </p:txBody>
      </p:sp>
    </p:spTree>
    <p:extLst>
      <p:ext uri="{BB962C8B-B14F-4D97-AF65-F5344CB8AC3E}">
        <p14:creationId xmlns:p14="http://schemas.microsoft.com/office/powerpoint/2010/main" val="117892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dissolve">
                                      <p:cBhvr>
                                        <p:cTn id="7" dur="500"/>
                                        <p:tgtEl>
                                          <p:spTgt spid="3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4"/>
                                        </p:tgtEl>
                                        <p:attrNameLst>
                                          <p:attrName>style.visibility</p:attrName>
                                        </p:attrNameLst>
                                      </p:cBhvr>
                                      <p:to>
                                        <p:strVal val="visible"/>
                                      </p:to>
                                    </p:set>
                                    <p:animEffect transition="in" filter="dissolve">
                                      <p:cBhvr>
                                        <p:cTn id="12" dur="500"/>
                                        <p:tgtEl>
                                          <p:spTgt spid="224"/>
                                        </p:tgtEl>
                                      </p:cBhvr>
                                    </p:animEffect>
                                  </p:childTnLst>
                                </p:cTn>
                              </p:par>
                              <p:par>
                                <p:cTn id="13" presetID="9" presetClass="entr" presetSubtype="0" fill="hold" nodeType="withEffect">
                                  <p:stCondLst>
                                    <p:cond delay="0"/>
                                  </p:stCondLst>
                                  <p:childTnLst>
                                    <p:set>
                                      <p:cBhvr>
                                        <p:cTn id="14" dur="1" fill="hold">
                                          <p:stCondLst>
                                            <p:cond delay="0"/>
                                          </p:stCondLst>
                                        </p:cTn>
                                        <p:tgtEl>
                                          <p:spTgt spid="245"/>
                                        </p:tgtEl>
                                        <p:attrNameLst>
                                          <p:attrName>style.visibility</p:attrName>
                                        </p:attrNameLst>
                                      </p:cBhvr>
                                      <p:to>
                                        <p:strVal val="visible"/>
                                      </p:to>
                                    </p:set>
                                    <p:animEffect transition="in" filter="dissolve">
                                      <p:cBhvr>
                                        <p:cTn id="15" dur="500"/>
                                        <p:tgtEl>
                                          <p:spTgt spid="24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07"/>
                                        </p:tgtEl>
                                        <p:attrNameLst>
                                          <p:attrName>style.visibility</p:attrName>
                                        </p:attrNameLst>
                                      </p:cBhvr>
                                      <p:to>
                                        <p:strVal val="visible"/>
                                      </p:to>
                                    </p:set>
                                    <p:animEffect transition="in" filter="dissolve">
                                      <p:cBhvr>
                                        <p:cTn id="18" dur="500"/>
                                        <p:tgtEl>
                                          <p:spTgt spid="10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8"/>
                                        </p:tgtEl>
                                        <p:attrNameLst>
                                          <p:attrName>style.visibility</p:attrName>
                                        </p:attrNameLst>
                                      </p:cBhvr>
                                      <p:to>
                                        <p:strVal val="visible"/>
                                      </p:to>
                                    </p:set>
                                    <p:animEffect transition="in" filter="dissolve">
                                      <p:cBhvr>
                                        <p:cTn id="23"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sequence numbers, ACKs</a:t>
            </a:r>
            <a:endParaRPr lang="en-US" b="0" dirty="0"/>
          </a:p>
        </p:txBody>
      </p:sp>
      <p:sp>
        <p:nvSpPr>
          <p:cNvPr id="133" name="Text Box 8">
            <a:extLst>
              <a:ext uri="{FF2B5EF4-FFF2-40B4-BE49-F238E27FC236}">
                <a16:creationId xmlns:a16="http://schemas.microsoft.com/office/drawing/2014/main" id="{4BFA7F94-ECDC-4F4E-BAAE-2F377F89AF1C}"/>
              </a:ext>
            </a:extLst>
          </p:cNvPr>
          <p:cNvSpPr txBox="1">
            <a:spLocks noChangeArrowheads="1"/>
          </p:cNvSpPr>
          <p:nvPr/>
        </p:nvSpPr>
        <p:spPr bwMode="auto">
          <a:xfrm>
            <a:off x="1245838" y="3866051"/>
            <a:ext cx="1889389" cy="5909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a:lnSpc>
                <a:spcPct val="90000"/>
              </a:lnSpc>
              <a:defRPr/>
            </a:pPr>
            <a:r>
              <a:rPr lang="en-US" altLang="en-US" sz="1800" kern="0" dirty="0">
                <a:solidFill>
                  <a:srgbClr val="000000"/>
                </a:solidFill>
                <a:latin typeface="Calibri" panose="020F0502020204030204"/>
              </a:rPr>
              <a:t>host ACKs receipt of echoed </a:t>
            </a:r>
            <a:r>
              <a:rPr lang="ja-JP" altLang="en-US" sz="1800" kern="0">
                <a:solidFill>
                  <a:srgbClr val="000000"/>
                </a:solidFill>
                <a:latin typeface="Calibri" panose="020F0502020204030204"/>
              </a:rPr>
              <a:t>‘</a:t>
            </a:r>
            <a:r>
              <a:rPr lang="en-US" altLang="ja-JP" sz="1800" kern="0" dirty="0">
                <a:solidFill>
                  <a:srgbClr val="000000"/>
                </a:solidFill>
                <a:latin typeface="Calibri" panose="020F0502020204030204"/>
              </a:rPr>
              <a:t>C</a:t>
            </a:r>
            <a:r>
              <a:rPr lang="ja-JP" altLang="en-US" sz="1800" kern="0">
                <a:solidFill>
                  <a:srgbClr val="000000"/>
                </a:solidFill>
                <a:latin typeface="Calibri" panose="020F0502020204030204"/>
              </a:rPr>
              <a:t>’</a:t>
            </a:r>
            <a:endParaRPr lang="en-US" altLang="en-US" sz="900" kern="0" dirty="0">
              <a:solidFill>
                <a:srgbClr val="000000"/>
              </a:solidFill>
              <a:latin typeface="Calibri" panose="020F0502020204030204"/>
            </a:endParaRPr>
          </a:p>
        </p:txBody>
      </p:sp>
      <p:sp>
        <p:nvSpPr>
          <p:cNvPr id="134" name="Text Box 9">
            <a:extLst>
              <a:ext uri="{FF2B5EF4-FFF2-40B4-BE49-F238E27FC236}">
                <a16:creationId xmlns:a16="http://schemas.microsoft.com/office/drawing/2014/main" id="{6F6C270A-95D4-3B45-95CD-2E7A27820BF0}"/>
              </a:ext>
            </a:extLst>
          </p:cNvPr>
          <p:cNvSpPr txBox="1">
            <a:spLocks noChangeArrowheads="1"/>
          </p:cNvSpPr>
          <p:nvPr/>
        </p:nvSpPr>
        <p:spPr bwMode="auto">
          <a:xfrm>
            <a:off x="5422108" y="3108649"/>
            <a:ext cx="2390409" cy="646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defRPr/>
            </a:pPr>
            <a:r>
              <a:rPr lang="en-US" altLang="en-US" sz="1800" kern="0" dirty="0">
                <a:solidFill>
                  <a:srgbClr val="000000"/>
                </a:solidFill>
                <a:latin typeface="Calibri" panose="020F0502020204030204"/>
              </a:rPr>
              <a:t>host ACKs receipt of</a:t>
            </a:r>
            <a:r>
              <a:rPr lang="ja-JP" altLang="en-US" sz="1800" kern="0">
                <a:solidFill>
                  <a:srgbClr val="000000"/>
                </a:solidFill>
                <a:latin typeface="Calibri" panose="020F0502020204030204"/>
              </a:rPr>
              <a:t>‘</a:t>
            </a:r>
            <a:r>
              <a:rPr lang="en-US" altLang="ja-JP" sz="1800" kern="0" dirty="0">
                <a:solidFill>
                  <a:srgbClr val="000000"/>
                </a:solidFill>
                <a:latin typeface="Calibri" panose="020F0502020204030204"/>
              </a:rPr>
              <a:t>C</a:t>
            </a:r>
            <a:r>
              <a:rPr lang="ja-JP" altLang="en-US" sz="1800" kern="0">
                <a:solidFill>
                  <a:srgbClr val="000000"/>
                </a:solidFill>
                <a:latin typeface="Calibri" panose="020F0502020204030204"/>
              </a:rPr>
              <a:t>’</a:t>
            </a:r>
            <a:r>
              <a:rPr lang="en-US" altLang="ja-JP" sz="1800" kern="0" dirty="0">
                <a:solidFill>
                  <a:srgbClr val="000000"/>
                </a:solidFill>
                <a:latin typeface="Calibri" panose="020F0502020204030204"/>
              </a:rPr>
              <a:t>, echoes </a:t>
            </a:r>
            <a:r>
              <a:rPr lang="en-US" altLang="en-US" sz="1800" kern="0" dirty="0">
                <a:solidFill>
                  <a:srgbClr val="000000"/>
                </a:solidFill>
                <a:latin typeface="Calibri" panose="020F0502020204030204"/>
              </a:rPr>
              <a:t>back </a:t>
            </a:r>
            <a:r>
              <a:rPr lang="ja-JP" altLang="en-US" sz="1800" kern="0">
                <a:solidFill>
                  <a:srgbClr val="000000"/>
                </a:solidFill>
                <a:latin typeface="Calibri" panose="020F0502020204030204"/>
              </a:rPr>
              <a:t>‘</a:t>
            </a:r>
            <a:r>
              <a:rPr lang="en-US" altLang="ja-JP" sz="1800" kern="0" dirty="0">
                <a:solidFill>
                  <a:srgbClr val="000000"/>
                </a:solidFill>
                <a:latin typeface="Calibri" panose="020F0502020204030204"/>
              </a:rPr>
              <a:t>C</a:t>
            </a:r>
            <a:r>
              <a:rPr lang="ja-JP" altLang="en-US" sz="1800" kern="0">
                <a:solidFill>
                  <a:srgbClr val="000000"/>
                </a:solidFill>
                <a:latin typeface="Calibri" panose="020F0502020204030204"/>
              </a:rPr>
              <a:t>’</a:t>
            </a:r>
            <a:endParaRPr lang="en-US" altLang="en-US" sz="1800" kern="0" dirty="0">
              <a:solidFill>
                <a:srgbClr val="000000"/>
              </a:solidFill>
              <a:latin typeface="Calibri" panose="020F0502020204030204"/>
            </a:endParaRPr>
          </a:p>
        </p:txBody>
      </p:sp>
      <p:sp>
        <p:nvSpPr>
          <p:cNvPr id="136" name="Text Box 11">
            <a:extLst>
              <a:ext uri="{FF2B5EF4-FFF2-40B4-BE49-F238E27FC236}">
                <a16:creationId xmlns:a16="http://schemas.microsoft.com/office/drawing/2014/main" id="{7AB83FEF-E6C5-3C4E-8F11-410822AB937A}"/>
              </a:ext>
            </a:extLst>
          </p:cNvPr>
          <p:cNvSpPr txBox="1">
            <a:spLocks noChangeArrowheads="1"/>
          </p:cNvSpPr>
          <p:nvPr/>
        </p:nvSpPr>
        <p:spPr bwMode="auto">
          <a:xfrm>
            <a:off x="2944670" y="5090609"/>
            <a:ext cx="2603598" cy="41549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2100" kern="0" dirty="0">
                <a:solidFill>
                  <a:srgbClr val="000099"/>
                </a:solidFill>
                <a:latin typeface="Calibri" panose="020F0502020204030204"/>
              </a:rPr>
              <a:t>simple telnet scenario</a:t>
            </a:r>
            <a:endParaRPr lang="en-US" sz="900" kern="0" dirty="0">
              <a:solidFill>
                <a:srgbClr val="000099"/>
              </a:solidFill>
              <a:latin typeface="Calibri" panose="020F0502020204030204"/>
            </a:endParaRPr>
          </a:p>
        </p:txBody>
      </p:sp>
      <p:sp>
        <p:nvSpPr>
          <p:cNvPr id="137" name="Text Box 13">
            <a:extLst>
              <a:ext uri="{FF2B5EF4-FFF2-40B4-BE49-F238E27FC236}">
                <a16:creationId xmlns:a16="http://schemas.microsoft.com/office/drawing/2014/main" id="{0851DEB2-88A4-C849-8DEA-02D53E9ABCBD}"/>
              </a:ext>
            </a:extLst>
          </p:cNvPr>
          <p:cNvSpPr txBox="1">
            <a:spLocks noChangeArrowheads="1"/>
          </p:cNvSpPr>
          <p:nvPr/>
        </p:nvSpPr>
        <p:spPr bwMode="auto">
          <a:xfrm>
            <a:off x="5323570" y="1976978"/>
            <a:ext cx="795411"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800" kern="0" dirty="0">
                <a:solidFill>
                  <a:srgbClr val="000000"/>
                </a:solidFill>
                <a:latin typeface="Calibri" panose="020F0502020204030204"/>
              </a:rPr>
              <a:t>Host B</a:t>
            </a:r>
          </a:p>
        </p:txBody>
      </p:sp>
      <p:sp>
        <p:nvSpPr>
          <p:cNvPr id="138" name="Text Box 17">
            <a:extLst>
              <a:ext uri="{FF2B5EF4-FFF2-40B4-BE49-F238E27FC236}">
                <a16:creationId xmlns:a16="http://schemas.microsoft.com/office/drawing/2014/main" id="{847A8C2E-C7AE-5B45-9FFE-DE39BC581384}"/>
              </a:ext>
            </a:extLst>
          </p:cNvPr>
          <p:cNvSpPr txBox="1">
            <a:spLocks noChangeArrowheads="1"/>
          </p:cNvSpPr>
          <p:nvPr/>
        </p:nvSpPr>
        <p:spPr bwMode="auto">
          <a:xfrm>
            <a:off x="2379809" y="1951752"/>
            <a:ext cx="803426"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800" kern="0" dirty="0">
                <a:solidFill>
                  <a:srgbClr val="000000"/>
                </a:solidFill>
                <a:latin typeface="Calibri" panose="020F0502020204030204"/>
              </a:rPr>
              <a:t>Host A</a:t>
            </a:r>
          </a:p>
        </p:txBody>
      </p:sp>
      <p:grpSp>
        <p:nvGrpSpPr>
          <p:cNvPr id="4" name="Group 3">
            <a:extLst>
              <a:ext uri="{FF2B5EF4-FFF2-40B4-BE49-F238E27FC236}">
                <a16:creationId xmlns:a16="http://schemas.microsoft.com/office/drawing/2014/main" id="{89152BC9-BFE2-2C4F-B7CF-DD705BF09468}"/>
              </a:ext>
            </a:extLst>
          </p:cNvPr>
          <p:cNvGrpSpPr/>
          <p:nvPr/>
        </p:nvGrpSpPr>
        <p:grpSpPr>
          <a:xfrm>
            <a:off x="1124250" y="2763016"/>
            <a:ext cx="4208239" cy="585294"/>
            <a:chOff x="1499000" y="2541021"/>
            <a:chExt cx="5610984" cy="780392"/>
          </a:xfrm>
        </p:grpSpPr>
        <p:sp>
          <p:nvSpPr>
            <p:cNvPr id="131" name="Line 4">
              <a:extLst>
                <a:ext uri="{FF2B5EF4-FFF2-40B4-BE49-F238E27FC236}">
                  <a16:creationId xmlns:a16="http://schemas.microsoft.com/office/drawing/2014/main" id="{4E48AD8B-7F93-B847-8494-F0B86AABA007}"/>
                </a:ext>
              </a:extLst>
            </p:cNvPr>
            <p:cNvSpPr>
              <a:spLocks noChangeShapeType="1"/>
            </p:cNvSpPr>
            <p:nvPr/>
          </p:nvSpPr>
          <p:spPr bwMode="auto">
            <a:xfrm>
              <a:off x="4354237" y="2749913"/>
              <a:ext cx="2586037"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500" kern="0">
                <a:solidFill>
                  <a:srgbClr val="000000"/>
                </a:solidFill>
                <a:latin typeface="Calibri" panose="020F0502020204030204"/>
                <a:ea typeface="ＭＳ Ｐゴシック" charset="0"/>
              </a:endParaRPr>
            </a:p>
          </p:txBody>
        </p:sp>
        <p:sp>
          <p:nvSpPr>
            <p:cNvPr id="132" name="Text Box 7">
              <a:extLst>
                <a:ext uri="{FF2B5EF4-FFF2-40B4-BE49-F238E27FC236}">
                  <a16:creationId xmlns:a16="http://schemas.microsoft.com/office/drawing/2014/main" id="{B9E9C219-DA90-8A41-A18D-4DF67A2B1B94}"/>
                </a:ext>
              </a:extLst>
            </p:cNvPr>
            <p:cNvSpPr txBox="1">
              <a:spLocks noChangeArrowheads="1"/>
            </p:cNvSpPr>
            <p:nvPr/>
          </p:nvSpPr>
          <p:spPr bwMode="auto">
            <a:xfrm>
              <a:off x="1499000" y="2541021"/>
              <a:ext cx="2725008" cy="4555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a:lnSpc>
                  <a:spcPct val="90000"/>
                </a:lnSpc>
                <a:defRPr/>
              </a:pPr>
              <a:r>
                <a:rPr lang="en-US" altLang="en-US" sz="1800" kern="0" dirty="0">
                  <a:solidFill>
                    <a:srgbClr val="000000"/>
                  </a:solidFill>
                  <a:latin typeface="Calibri" panose="020F0502020204030204"/>
                </a:rPr>
                <a:t>User types</a:t>
              </a:r>
              <a:r>
                <a:rPr lang="ja-JP" altLang="en-US" sz="1800" kern="0">
                  <a:solidFill>
                    <a:srgbClr val="000000"/>
                  </a:solidFill>
                  <a:latin typeface="Calibri" panose="020F0502020204030204"/>
                </a:rPr>
                <a:t>‘</a:t>
              </a:r>
              <a:r>
                <a:rPr lang="en-US" altLang="ja-JP" sz="1800" kern="0" dirty="0">
                  <a:solidFill>
                    <a:srgbClr val="000000"/>
                  </a:solidFill>
                  <a:latin typeface="Calibri" panose="020F0502020204030204"/>
                </a:rPr>
                <a:t>C</a:t>
              </a:r>
              <a:r>
                <a:rPr lang="ja-JP" altLang="en-US" sz="1800" kern="0">
                  <a:solidFill>
                    <a:srgbClr val="000000"/>
                  </a:solidFill>
                  <a:latin typeface="Calibri" panose="020F0502020204030204"/>
                </a:rPr>
                <a:t>’</a:t>
              </a:r>
              <a:endParaRPr lang="en-US" altLang="en-US" sz="900" kern="0" dirty="0">
                <a:solidFill>
                  <a:srgbClr val="000000"/>
                </a:solidFill>
                <a:latin typeface="Calibri" panose="020F0502020204030204"/>
              </a:endParaRPr>
            </a:p>
          </p:txBody>
        </p:sp>
        <p:sp>
          <p:nvSpPr>
            <p:cNvPr id="139" name="Rectangle 18">
              <a:extLst>
                <a:ext uri="{FF2B5EF4-FFF2-40B4-BE49-F238E27FC236}">
                  <a16:creationId xmlns:a16="http://schemas.microsoft.com/office/drawing/2014/main" id="{35BA661F-5A22-C84E-B47D-9147B3088598}"/>
                </a:ext>
              </a:extLst>
            </p:cNvPr>
            <p:cNvSpPr>
              <a:spLocks noChangeArrowheads="1"/>
            </p:cNvSpPr>
            <p:nvPr/>
          </p:nvSpPr>
          <p:spPr bwMode="auto">
            <a:xfrm>
              <a:off x="5167037" y="2841988"/>
              <a:ext cx="814387" cy="37941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500" kern="0">
                <a:solidFill>
                  <a:srgbClr val="000000"/>
                </a:solidFill>
                <a:latin typeface="Calibri" panose="020F0502020204030204"/>
                <a:ea typeface="ＭＳ Ｐゴシック" charset="0"/>
              </a:endParaRPr>
            </a:p>
          </p:txBody>
        </p:sp>
        <p:sp>
          <p:nvSpPr>
            <p:cNvPr id="140" name="Text Box 19">
              <a:extLst>
                <a:ext uri="{FF2B5EF4-FFF2-40B4-BE49-F238E27FC236}">
                  <a16:creationId xmlns:a16="http://schemas.microsoft.com/office/drawing/2014/main" id="{880D64B6-5AB7-0245-B925-5A511DDE93D7}"/>
                </a:ext>
              </a:extLst>
            </p:cNvPr>
            <p:cNvSpPr txBox="1">
              <a:spLocks noChangeArrowheads="1"/>
            </p:cNvSpPr>
            <p:nvPr/>
          </p:nvSpPr>
          <p:spPr bwMode="auto">
            <a:xfrm>
              <a:off x="4230562" y="2854620"/>
              <a:ext cx="2879422" cy="4001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defRPr/>
              </a:pPr>
              <a:r>
                <a:rPr lang="en-US" altLang="en-US" sz="1350" kern="0" dirty="0">
                  <a:solidFill>
                    <a:srgbClr val="000000"/>
                  </a:solidFill>
                  <a:latin typeface="Calibri" panose="020F0502020204030204"/>
                </a:rPr>
                <a:t>Seq=42, ACK=79, data = </a:t>
              </a:r>
              <a:r>
                <a:rPr lang="ja-JP" altLang="en-US" sz="1350" kern="0">
                  <a:solidFill>
                    <a:srgbClr val="000000"/>
                  </a:solidFill>
                  <a:latin typeface="Calibri" panose="020F0502020204030204"/>
                </a:rPr>
                <a:t>‘</a:t>
              </a:r>
              <a:r>
                <a:rPr lang="en-US" altLang="ja-JP" sz="1350" kern="0" dirty="0">
                  <a:solidFill>
                    <a:srgbClr val="000000"/>
                  </a:solidFill>
                  <a:latin typeface="Calibri" panose="020F0502020204030204"/>
                </a:rPr>
                <a:t>C</a:t>
              </a:r>
              <a:r>
                <a:rPr lang="ja-JP" altLang="en-US" sz="1350" kern="0">
                  <a:solidFill>
                    <a:srgbClr val="000000"/>
                  </a:solidFill>
                  <a:latin typeface="Calibri" panose="020F0502020204030204"/>
                </a:rPr>
                <a:t>’</a:t>
              </a:r>
              <a:endParaRPr lang="en-US" altLang="en-US" sz="1350" kern="0" dirty="0">
                <a:solidFill>
                  <a:srgbClr val="000000"/>
                </a:solidFill>
                <a:latin typeface="Calibri" panose="020F0502020204030204"/>
              </a:endParaRPr>
            </a:p>
          </p:txBody>
        </p:sp>
      </p:grpSp>
      <p:grpSp>
        <p:nvGrpSpPr>
          <p:cNvPr id="5" name="Group 4">
            <a:extLst>
              <a:ext uri="{FF2B5EF4-FFF2-40B4-BE49-F238E27FC236}">
                <a16:creationId xmlns:a16="http://schemas.microsoft.com/office/drawing/2014/main" id="{30581A9F-48A7-D546-AB16-5A259024E309}"/>
              </a:ext>
            </a:extLst>
          </p:cNvPr>
          <p:cNvGrpSpPr/>
          <p:nvPr/>
        </p:nvGrpSpPr>
        <p:grpSpPr>
          <a:xfrm>
            <a:off x="3176020" y="3499520"/>
            <a:ext cx="2154564" cy="600075"/>
            <a:chOff x="4234692" y="3523026"/>
            <a:chExt cx="2872752" cy="800100"/>
          </a:xfrm>
        </p:grpSpPr>
        <p:sp>
          <p:nvSpPr>
            <p:cNvPr id="135" name="Line 10">
              <a:extLst>
                <a:ext uri="{FF2B5EF4-FFF2-40B4-BE49-F238E27FC236}">
                  <a16:creationId xmlns:a16="http://schemas.microsoft.com/office/drawing/2014/main" id="{7C681F4C-24E8-5D43-BE10-D3949F61CDFA}"/>
                </a:ext>
              </a:extLst>
            </p:cNvPr>
            <p:cNvSpPr>
              <a:spLocks noChangeShapeType="1"/>
            </p:cNvSpPr>
            <p:nvPr/>
          </p:nvSpPr>
          <p:spPr bwMode="auto">
            <a:xfrm flipH="1">
              <a:off x="4344712" y="3523026"/>
              <a:ext cx="2554287" cy="8001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500" kern="0">
                <a:solidFill>
                  <a:srgbClr val="000000"/>
                </a:solidFill>
                <a:latin typeface="Calibri" panose="020F0502020204030204"/>
                <a:ea typeface="ＭＳ Ｐゴシック" charset="0"/>
              </a:endParaRPr>
            </a:p>
          </p:txBody>
        </p:sp>
        <p:sp>
          <p:nvSpPr>
            <p:cNvPr id="141" name="Rectangle 20">
              <a:extLst>
                <a:ext uri="{FF2B5EF4-FFF2-40B4-BE49-F238E27FC236}">
                  <a16:creationId xmlns:a16="http://schemas.microsoft.com/office/drawing/2014/main" id="{E3E3363E-9511-1A43-912C-05D171708B3A}"/>
                </a:ext>
              </a:extLst>
            </p:cNvPr>
            <p:cNvSpPr>
              <a:spLocks noChangeArrowheads="1"/>
            </p:cNvSpPr>
            <p:nvPr/>
          </p:nvSpPr>
          <p:spPr bwMode="auto">
            <a:xfrm>
              <a:off x="5201962" y="3800838"/>
              <a:ext cx="823912" cy="24606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500" kern="0">
                <a:solidFill>
                  <a:srgbClr val="000000"/>
                </a:solidFill>
                <a:latin typeface="Calibri" panose="020F0502020204030204"/>
                <a:ea typeface="ＭＳ Ｐゴシック" charset="0"/>
              </a:endParaRPr>
            </a:p>
          </p:txBody>
        </p:sp>
        <p:sp>
          <p:nvSpPr>
            <p:cNvPr id="142" name="Text Box 21">
              <a:extLst>
                <a:ext uri="{FF2B5EF4-FFF2-40B4-BE49-F238E27FC236}">
                  <a16:creationId xmlns:a16="http://schemas.microsoft.com/office/drawing/2014/main" id="{18709FF4-595B-2F4F-9697-F2C14F760728}"/>
                </a:ext>
              </a:extLst>
            </p:cNvPr>
            <p:cNvSpPr txBox="1">
              <a:spLocks noChangeArrowheads="1"/>
            </p:cNvSpPr>
            <p:nvPr/>
          </p:nvSpPr>
          <p:spPr bwMode="auto">
            <a:xfrm>
              <a:off x="4234692" y="3736718"/>
              <a:ext cx="2872752" cy="4001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defRPr/>
              </a:pPr>
              <a:r>
                <a:rPr lang="en-US" altLang="en-US" sz="1350" dirty="0">
                  <a:solidFill>
                    <a:srgbClr val="000000"/>
                  </a:solidFill>
                  <a:latin typeface="Calibri" panose="020F0502020204030204"/>
                </a:rPr>
                <a:t>Seq=79, ACK=43, data = </a:t>
              </a:r>
              <a:r>
                <a:rPr lang="ja-JP" altLang="en-US" sz="1350">
                  <a:solidFill>
                    <a:srgbClr val="000000"/>
                  </a:solidFill>
                  <a:latin typeface="Calibri" panose="020F0502020204030204"/>
                </a:rPr>
                <a:t>‘</a:t>
              </a:r>
              <a:r>
                <a:rPr lang="en-US" altLang="ja-JP" sz="1350" dirty="0">
                  <a:solidFill>
                    <a:srgbClr val="000000"/>
                  </a:solidFill>
                  <a:latin typeface="Calibri" panose="020F0502020204030204"/>
                </a:rPr>
                <a:t>C</a:t>
              </a:r>
              <a:r>
                <a:rPr lang="ja-JP" altLang="en-US" sz="1350">
                  <a:solidFill>
                    <a:srgbClr val="000000"/>
                  </a:solidFill>
                  <a:latin typeface="Calibri" panose="020F0502020204030204"/>
                </a:rPr>
                <a:t>’</a:t>
              </a:r>
              <a:endParaRPr lang="en-US" altLang="en-US" sz="825" dirty="0">
                <a:solidFill>
                  <a:srgbClr val="000000"/>
                </a:solidFill>
                <a:latin typeface="Calibri" panose="020F0502020204030204"/>
              </a:endParaRPr>
            </a:p>
          </p:txBody>
        </p:sp>
      </p:grpSp>
      <p:grpSp>
        <p:nvGrpSpPr>
          <p:cNvPr id="6" name="Group 5">
            <a:extLst>
              <a:ext uri="{FF2B5EF4-FFF2-40B4-BE49-F238E27FC236}">
                <a16:creationId xmlns:a16="http://schemas.microsoft.com/office/drawing/2014/main" id="{9A6C1350-9453-1E48-8790-F100F9587769}"/>
              </a:ext>
            </a:extLst>
          </p:cNvPr>
          <p:cNvGrpSpPr/>
          <p:nvPr/>
        </p:nvGrpSpPr>
        <p:grpSpPr>
          <a:xfrm>
            <a:off x="3254962" y="4246041"/>
            <a:ext cx="1943100" cy="379810"/>
            <a:chOff x="4339949" y="4518388"/>
            <a:chExt cx="2590800" cy="506413"/>
          </a:xfrm>
        </p:grpSpPr>
        <p:sp>
          <p:nvSpPr>
            <p:cNvPr id="130" name="Line 3">
              <a:extLst>
                <a:ext uri="{FF2B5EF4-FFF2-40B4-BE49-F238E27FC236}">
                  <a16:creationId xmlns:a16="http://schemas.microsoft.com/office/drawing/2014/main" id="{21939EAE-12FE-4B4B-8477-DA966E53E581}"/>
                </a:ext>
              </a:extLst>
            </p:cNvPr>
            <p:cNvSpPr>
              <a:spLocks noChangeShapeType="1"/>
            </p:cNvSpPr>
            <p:nvPr/>
          </p:nvSpPr>
          <p:spPr bwMode="auto">
            <a:xfrm>
              <a:off x="4339949" y="4518388"/>
              <a:ext cx="2590800" cy="50641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500" kern="0">
                <a:solidFill>
                  <a:srgbClr val="000000"/>
                </a:solidFill>
                <a:latin typeface="Calibri" panose="020F0502020204030204"/>
                <a:ea typeface="ＭＳ Ｐゴシック" charset="0"/>
              </a:endParaRPr>
            </a:p>
          </p:txBody>
        </p:sp>
        <p:sp>
          <p:nvSpPr>
            <p:cNvPr id="143" name="Rectangle 22">
              <a:extLst>
                <a:ext uri="{FF2B5EF4-FFF2-40B4-BE49-F238E27FC236}">
                  <a16:creationId xmlns:a16="http://schemas.microsoft.com/office/drawing/2014/main" id="{36373196-F0F3-9041-A157-0DFF0B56BE41}"/>
                </a:ext>
              </a:extLst>
            </p:cNvPr>
            <p:cNvSpPr>
              <a:spLocks noChangeArrowheads="1"/>
            </p:cNvSpPr>
            <p:nvPr/>
          </p:nvSpPr>
          <p:spPr bwMode="auto">
            <a:xfrm>
              <a:off x="5268637" y="4648563"/>
              <a:ext cx="958850" cy="35718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500" kern="0">
                <a:solidFill>
                  <a:srgbClr val="000000"/>
                </a:solidFill>
                <a:latin typeface="Calibri" panose="020F0502020204030204"/>
                <a:ea typeface="ＭＳ Ｐゴシック" charset="0"/>
              </a:endParaRPr>
            </a:p>
          </p:txBody>
        </p:sp>
        <p:sp>
          <p:nvSpPr>
            <p:cNvPr id="144" name="Text Box 23">
              <a:extLst>
                <a:ext uri="{FF2B5EF4-FFF2-40B4-BE49-F238E27FC236}">
                  <a16:creationId xmlns:a16="http://schemas.microsoft.com/office/drawing/2014/main" id="{2C94660D-0BE1-434B-85A6-BB22849908C7}"/>
                </a:ext>
              </a:extLst>
            </p:cNvPr>
            <p:cNvSpPr txBox="1">
              <a:spLocks noChangeArrowheads="1"/>
            </p:cNvSpPr>
            <p:nvPr/>
          </p:nvSpPr>
          <p:spPr bwMode="auto">
            <a:xfrm>
              <a:off x="4934710" y="4609843"/>
              <a:ext cx="1774845" cy="4001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350" dirty="0">
                  <a:solidFill>
                    <a:srgbClr val="000000"/>
                  </a:solidFill>
                  <a:latin typeface="Calibri" panose="020F0502020204030204"/>
                </a:rPr>
                <a:t>Seq=43, ACK=80</a:t>
              </a:r>
              <a:endParaRPr lang="en-US" sz="825" dirty="0">
                <a:solidFill>
                  <a:srgbClr val="000000"/>
                </a:solidFill>
                <a:latin typeface="Calibri" panose="020F0502020204030204"/>
              </a:endParaRPr>
            </a:p>
          </p:txBody>
        </p:sp>
      </p:grpSp>
      <p:sp>
        <p:nvSpPr>
          <p:cNvPr id="145" name="Line 24">
            <a:extLst>
              <a:ext uri="{FF2B5EF4-FFF2-40B4-BE49-F238E27FC236}">
                <a16:creationId xmlns:a16="http://schemas.microsoft.com/office/drawing/2014/main" id="{4198420A-33F5-1542-B39F-616C0F629FE7}"/>
              </a:ext>
            </a:extLst>
          </p:cNvPr>
          <p:cNvSpPr>
            <a:spLocks noChangeShapeType="1"/>
          </p:cNvSpPr>
          <p:nvPr/>
        </p:nvSpPr>
        <p:spPr bwMode="auto">
          <a:xfrm>
            <a:off x="3249009" y="2738710"/>
            <a:ext cx="0" cy="1940719"/>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800" kern="0">
              <a:solidFill>
                <a:srgbClr val="000000"/>
              </a:solidFill>
              <a:latin typeface="Calibri" panose="020F0502020204030204"/>
              <a:ea typeface="ＭＳ Ｐゴシック" charset="0"/>
            </a:endParaRPr>
          </a:p>
        </p:txBody>
      </p:sp>
      <p:sp>
        <p:nvSpPr>
          <p:cNvPr id="146" name="Line 25">
            <a:extLst>
              <a:ext uri="{FF2B5EF4-FFF2-40B4-BE49-F238E27FC236}">
                <a16:creationId xmlns:a16="http://schemas.microsoft.com/office/drawing/2014/main" id="{C59AD6B4-1F7E-D046-AE58-B0A2143452E4}"/>
              </a:ext>
            </a:extLst>
          </p:cNvPr>
          <p:cNvSpPr>
            <a:spLocks noChangeShapeType="1"/>
          </p:cNvSpPr>
          <p:nvPr/>
        </p:nvSpPr>
        <p:spPr bwMode="auto">
          <a:xfrm>
            <a:off x="5245687" y="2778001"/>
            <a:ext cx="0" cy="1940719"/>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500" kern="0">
              <a:solidFill>
                <a:srgbClr val="000000"/>
              </a:solidFill>
              <a:latin typeface="Calibri" panose="020F0502020204030204"/>
              <a:ea typeface="ＭＳ Ｐゴシック" charset="0"/>
            </a:endParaRPr>
          </a:p>
        </p:txBody>
      </p:sp>
      <p:grpSp>
        <p:nvGrpSpPr>
          <p:cNvPr id="147" name="Group 27">
            <a:extLst>
              <a:ext uri="{FF2B5EF4-FFF2-40B4-BE49-F238E27FC236}">
                <a16:creationId xmlns:a16="http://schemas.microsoft.com/office/drawing/2014/main" id="{78A4C821-5D3D-F049-95FB-64A6C2EFC29B}"/>
              </a:ext>
            </a:extLst>
          </p:cNvPr>
          <p:cNvGrpSpPr>
            <a:grpSpLocks/>
          </p:cNvGrpSpPr>
          <p:nvPr/>
        </p:nvGrpSpPr>
        <p:grpSpPr bwMode="auto">
          <a:xfrm>
            <a:off x="2868009" y="2123157"/>
            <a:ext cx="566738" cy="586978"/>
            <a:chOff x="-44" y="1473"/>
            <a:chExt cx="981" cy="1105"/>
          </a:xfrm>
        </p:grpSpPr>
        <p:pic>
          <p:nvPicPr>
            <p:cNvPr id="148" name="Picture 28" descr="desktop_computer_stylized_medium">
              <a:extLst>
                <a:ext uri="{FF2B5EF4-FFF2-40B4-BE49-F238E27FC236}">
                  <a16:creationId xmlns:a16="http://schemas.microsoft.com/office/drawing/2014/main" id="{37E197D2-A990-E643-BBEF-3FDB8B30E8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Freeform 29">
              <a:extLst>
                <a:ext uri="{FF2B5EF4-FFF2-40B4-BE49-F238E27FC236}">
                  <a16:creationId xmlns:a16="http://schemas.microsoft.com/office/drawing/2014/main" id="{B63C2E39-A8CB-1F4B-B3CA-E65FF2976D4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800" kern="0">
                <a:solidFill>
                  <a:srgbClr val="000000"/>
                </a:solidFill>
                <a:latin typeface="Calibri" panose="020F0502020204030204"/>
              </a:endParaRPr>
            </a:p>
          </p:txBody>
        </p:sp>
      </p:grpSp>
      <p:grpSp>
        <p:nvGrpSpPr>
          <p:cNvPr id="150" name="Group 30">
            <a:extLst>
              <a:ext uri="{FF2B5EF4-FFF2-40B4-BE49-F238E27FC236}">
                <a16:creationId xmlns:a16="http://schemas.microsoft.com/office/drawing/2014/main" id="{AEA67504-808C-2C43-80AA-6BED564C9A22}"/>
              </a:ext>
            </a:extLst>
          </p:cNvPr>
          <p:cNvGrpSpPr>
            <a:grpSpLocks/>
          </p:cNvGrpSpPr>
          <p:nvPr/>
        </p:nvGrpSpPr>
        <p:grpSpPr bwMode="auto">
          <a:xfrm flipH="1">
            <a:off x="5014706" y="2152923"/>
            <a:ext cx="591741" cy="646510"/>
            <a:chOff x="-44" y="1473"/>
            <a:chExt cx="981" cy="1105"/>
          </a:xfrm>
        </p:grpSpPr>
        <p:pic>
          <p:nvPicPr>
            <p:cNvPr id="151" name="Picture 31" descr="desktop_computer_stylized_medium">
              <a:extLst>
                <a:ext uri="{FF2B5EF4-FFF2-40B4-BE49-F238E27FC236}">
                  <a16:creationId xmlns:a16="http://schemas.microsoft.com/office/drawing/2014/main" id="{0B37A6B2-9E4A-114B-85F9-5E3DF6205E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Freeform 32">
              <a:extLst>
                <a:ext uri="{FF2B5EF4-FFF2-40B4-BE49-F238E27FC236}">
                  <a16:creationId xmlns:a16="http://schemas.microsoft.com/office/drawing/2014/main" id="{100E17DE-5CEE-AB45-8E97-F0E8B661790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800" kern="0">
                <a:solidFill>
                  <a:srgbClr val="000000"/>
                </a:solidFill>
                <a:latin typeface="Calibri" panose="020F0502020204030204"/>
              </a:endParaRPr>
            </a:p>
          </p:txBody>
        </p:sp>
      </p:grpSp>
      <p:grpSp>
        <p:nvGrpSpPr>
          <p:cNvPr id="9" name="Group 8">
            <a:extLst>
              <a:ext uri="{FF2B5EF4-FFF2-40B4-BE49-F238E27FC236}">
                <a16:creationId xmlns:a16="http://schemas.microsoft.com/office/drawing/2014/main" id="{178778AE-4599-7841-B71E-D835F9A5393E}"/>
              </a:ext>
            </a:extLst>
          </p:cNvPr>
          <p:cNvGrpSpPr/>
          <p:nvPr/>
        </p:nvGrpSpPr>
        <p:grpSpPr>
          <a:xfrm>
            <a:off x="3519237" y="2968792"/>
            <a:ext cx="1041364" cy="1028700"/>
            <a:chOff x="4692316" y="2815389"/>
            <a:chExt cx="1388485" cy="1371600"/>
          </a:xfrm>
        </p:grpSpPr>
        <p:sp>
          <p:nvSpPr>
            <p:cNvPr id="3" name="Oval 2">
              <a:extLst>
                <a:ext uri="{FF2B5EF4-FFF2-40B4-BE49-F238E27FC236}">
                  <a16:creationId xmlns:a16="http://schemas.microsoft.com/office/drawing/2014/main" id="{AB715EF6-F294-3449-96CB-B6947A099ADE}"/>
                </a:ext>
              </a:extLst>
            </p:cNvPr>
            <p:cNvSpPr/>
            <p:nvPr/>
          </p:nvSpPr>
          <p:spPr>
            <a:xfrm>
              <a:off x="5566610" y="3721768"/>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31" name="Oval 30">
              <a:extLst>
                <a:ext uri="{FF2B5EF4-FFF2-40B4-BE49-F238E27FC236}">
                  <a16:creationId xmlns:a16="http://schemas.microsoft.com/office/drawing/2014/main" id="{7D783624-80C6-2148-8502-F1C29047872A}"/>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cxnSp>
          <p:nvCxnSpPr>
            <p:cNvPr id="8" name="Straight Arrow Connector 7">
              <a:extLst>
                <a:ext uri="{FF2B5EF4-FFF2-40B4-BE49-F238E27FC236}">
                  <a16:creationId xmlns:a16="http://schemas.microsoft.com/office/drawing/2014/main" id="{907B7D31-A373-0B4B-A1B5-F4FD39A2F3C3}"/>
                </a:ext>
              </a:extLst>
            </p:cNvPr>
            <p:cNvCxnSpPr/>
            <p:nvPr/>
          </p:nvCxnSpPr>
          <p:spPr>
            <a:xfrm flipH="1" flipV="1">
              <a:off x="5117431" y="3224463"/>
              <a:ext cx="513348" cy="513348"/>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A45AF06C-D673-CA4F-A51B-93240818CB9A}"/>
              </a:ext>
            </a:extLst>
          </p:cNvPr>
          <p:cNvGrpSpPr/>
          <p:nvPr/>
        </p:nvGrpSpPr>
        <p:grpSpPr>
          <a:xfrm>
            <a:off x="3513222" y="3660608"/>
            <a:ext cx="1486532" cy="980574"/>
            <a:chOff x="4692316" y="2815389"/>
            <a:chExt cx="1982043" cy="1307432"/>
          </a:xfrm>
        </p:grpSpPr>
        <p:sp>
          <p:nvSpPr>
            <p:cNvPr id="36" name="Oval 35">
              <a:extLst>
                <a:ext uri="{FF2B5EF4-FFF2-40B4-BE49-F238E27FC236}">
                  <a16:creationId xmlns:a16="http://schemas.microsoft.com/office/drawing/2014/main" id="{6B1B5065-4044-F742-9CE7-C6C1E51A71E8}"/>
                </a:ext>
              </a:extLst>
            </p:cNvPr>
            <p:cNvSpPr/>
            <p:nvPr/>
          </p:nvSpPr>
          <p:spPr>
            <a:xfrm>
              <a:off x="6160168" y="3657600"/>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37" name="Oval 36">
              <a:extLst>
                <a:ext uri="{FF2B5EF4-FFF2-40B4-BE49-F238E27FC236}">
                  <a16:creationId xmlns:a16="http://schemas.microsoft.com/office/drawing/2014/main" id="{C5F4BEC1-9A8B-BA47-BC77-A5A357B8A4B6}"/>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cxnSp>
          <p:nvCxnSpPr>
            <p:cNvPr id="38" name="Straight Arrow Connector 37">
              <a:extLst>
                <a:ext uri="{FF2B5EF4-FFF2-40B4-BE49-F238E27FC236}">
                  <a16:creationId xmlns:a16="http://schemas.microsoft.com/office/drawing/2014/main" id="{1894C7DC-0B9B-5648-ACEB-7945930EE55B}"/>
                </a:ext>
              </a:extLst>
            </p:cNvPr>
            <p:cNvCxnSpPr>
              <a:cxnSpLocks/>
            </p:cNvCxnSpPr>
            <p:nvPr/>
          </p:nvCxnSpPr>
          <p:spPr>
            <a:xfrm flipH="1" flipV="1">
              <a:off x="5165557" y="3224463"/>
              <a:ext cx="970548" cy="521369"/>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Slide Number Placeholder 2">
            <a:extLst>
              <a:ext uri="{FF2B5EF4-FFF2-40B4-BE49-F238E27FC236}">
                <a16:creationId xmlns:a16="http://schemas.microsoft.com/office/drawing/2014/main" id="{951C5C48-402B-A744-B23C-9DA42D7A6E17}"/>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65</a:t>
            </a:fld>
            <a:endParaRPr lang="en-US" dirty="0">
              <a:solidFill>
                <a:prstClr val="white">
                  <a:lumMod val="50000"/>
                </a:prstClr>
              </a:solidFill>
            </a:endParaRPr>
          </a:p>
        </p:txBody>
      </p:sp>
    </p:spTree>
    <p:extLst>
      <p:ext uri="{BB962C8B-B14F-4D97-AF65-F5344CB8AC3E}">
        <p14:creationId xmlns:p14="http://schemas.microsoft.com/office/powerpoint/2010/main" val="3444144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4"/>
                                        </p:tgtEl>
                                        <p:attrNameLst>
                                          <p:attrName>style.visibility</p:attrName>
                                        </p:attrNameLst>
                                      </p:cBhvr>
                                      <p:to>
                                        <p:strVal val="visible"/>
                                      </p:to>
                                    </p:set>
                                    <p:animEffect transition="in" filter="dissolve">
                                      <p:cBhvr>
                                        <p:cTn id="11" dur="500"/>
                                        <p:tgtEl>
                                          <p:spTgt spid="134"/>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righ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33"/>
                                        </p:tgtEl>
                                        <p:attrNameLst>
                                          <p:attrName>style.visibility</p:attrName>
                                        </p:attrNameLst>
                                      </p:cBhvr>
                                      <p:to>
                                        <p:strVal val="visible"/>
                                      </p:to>
                                    </p:set>
                                    <p:animEffect transition="in" filter="dissolve">
                                      <p:cBhvr>
                                        <p:cTn id="19" dur="500"/>
                                        <p:tgtEl>
                                          <p:spTgt spid="13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xit" presetSubtype="0" fill="hold" nodeType="clickEffect">
                                  <p:stCondLst>
                                    <p:cond delay="0"/>
                                  </p:stCondLst>
                                  <p:childTnLst>
                                    <p:animEffect transition="out" filter="dissolve">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9" presetClass="entr" presetSubtype="0"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dissolve">
                                      <p:cBhvr>
                                        <p:cTn id="3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Sender </a:t>
            </a:r>
            <a:r>
              <a:rPr lang="en-US" sz="2700" dirty="0"/>
              <a:t>(simplified)</a:t>
            </a:r>
            <a:endParaRPr lang="en-US" b="0" dirty="0"/>
          </a:p>
        </p:txBody>
      </p:sp>
      <p:sp>
        <p:nvSpPr>
          <p:cNvPr id="6" name="Rectangle 3">
            <a:extLst>
              <a:ext uri="{FF2B5EF4-FFF2-40B4-BE49-F238E27FC236}">
                <a16:creationId xmlns:a16="http://schemas.microsoft.com/office/drawing/2014/main" id="{93E50F9F-34A2-434D-9CCF-7D058EEE958D}"/>
              </a:ext>
            </a:extLst>
          </p:cNvPr>
          <p:cNvSpPr txBox="1">
            <a:spLocks noChangeArrowheads="1"/>
          </p:cNvSpPr>
          <p:nvPr/>
        </p:nvSpPr>
        <p:spPr>
          <a:xfrm>
            <a:off x="599018" y="1895540"/>
            <a:ext cx="3714750" cy="3486150"/>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fontAlgn="auto">
              <a:spcAft>
                <a:spcPts val="0"/>
              </a:spcAft>
              <a:buNone/>
              <a:defRPr/>
            </a:pPr>
            <a:r>
              <a:rPr lang="en-US" sz="2100" dirty="0">
                <a:solidFill>
                  <a:srgbClr val="CC0000"/>
                </a:solidFill>
              </a:rPr>
              <a:t>event: data received from application</a:t>
            </a:r>
          </a:p>
          <a:p>
            <a:pPr fontAlgn="auto">
              <a:spcAft>
                <a:spcPts val="0"/>
              </a:spcAft>
              <a:buFont typeface="Wingdings" charset="2"/>
              <a:buChar char="§"/>
              <a:defRPr/>
            </a:pPr>
            <a:r>
              <a:rPr lang="en-US" sz="2100" dirty="0">
                <a:solidFill>
                  <a:prstClr val="black"/>
                </a:solidFill>
              </a:rPr>
              <a:t>create segment with seq #</a:t>
            </a:r>
          </a:p>
          <a:p>
            <a:pPr fontAlgn="auto">
              <a:spcAft>
                <a:spcPts val="0"/>
              </a:spcAft>
              <a:buFont typeface="Wingdings" charset="2"/>
              <a:buChar char="§"/>
              <a:defRPr/>
            </a:pPr>
            <a:r>
              <a:rPr lang="en-US" sz="2100" dirty="0">
                <a:solidFill>
                  <a:prstClr val="black"/>
                </a:solidFill>
              </a:rPr>
              <a:t>seq # is byte-stream number of first data byte in  segment</a:t>
            </a:r>
          </a:p>
          <a:p>
            <a:pPr fontAlgn="auto">
              <a:spcAft>
                <a:spcPts val="0"/>
              </a:spcAft>
              <a:buFont typeface="Wingdings" charset="2"/>
              <a:buChar char="§"/>
              <a:defRPr/>
            </a:pPr>
            <a:r>
              <a:rPr lang="en-US" sz="2100" dirty="0">
                <a:solidFill>
                  <a:prstClr val="black"/>
                </a:solidFill>
              </a:rPr>
              <a:t>start timer if not already running </a:t>
            </a:r>
          </a:p>
          <a:p>
            <a:pPr lvl="1" fontAlgn="auto">
              <a:spcAft>
                <a:spcPts val="0"/>
              </a:spcAft>
              <a:buFont typeface="Arial"/>
              <a:buChar char="•"/>
              <a:defRPr/>
            </a:pPr>
            <a:r>
              <a:rPr lang="en-US" sz="1800" dirty="0">
                <a:solidFill>
                  <a:prstClr val="black"/>
                </a:solidFill>
              </a:rPr>
              <a:t>think of timer as for oldest </a:t>
            </a:r>
            <a:r>
              <a:rPr lang="en-US" sz="1800" dirty="0" err="1">
                <a:solidFill>
                  <a:prstClr val="black"/>
                </a:solidFill>
              </a:rPr>
              <a:t>unACKed</a:t>
            </a:r>
            <a:r>
              <a:rPr lang="en-US" sz="1800" dirty="0">
                <a:solidFill>
                  <a:prstClr val="black"/>
                </a:solidFill>
              </a:rPr>
              <a:t> segment</a:t>
            </a:r>
          </a:p>
          <a:p>
            <a:pPr lvl="1" fontAlgn="auto">
              <a:spcAft>
                <a:spcPts val="0"/>
              </a:spcAft>
              <a:buFont typeface="Arial"/>
              <a:buChar char="•"/>
              <a:defRPr/>
            </a:pPr>
            <a:r>
              <a:rPr lang="en-US" sz="1800" dirty="0">
                <a:solidFill>
                  <a:prstClr val="black"/>
                </a:solidFill>
              </a:rPr>
              <a:t>expiration interval: </a:t>
            </a:r>
            <a:r>
              <a:rPr lang="en-US" sz="1800" b="1" dirty="0" err="1">
                <a:solidFill>
                  <a:prstClr val="black"/>
                </a:solidFill>
                <a:latin typeface="Courier New" charset="0"/>
              </a:rPr>
              <a:t>TimeOutInterval</a:t>
            </a:r>
            <a:r>
              <a:rPr lang="en-US" sz="1800" dirty="0">
                <a:solidFill>
                  <a:prstClr val="black"/>
                </a:solidFill>
                <a:latin typeface="Courier New" charset="0"/>
              </a:rPr>
              <a:t> </a:t>
            </a:r>
            <a:endParaRPr lang="en-US" sz="1800" dirty="0">
              <a:solidFill>
                <a:prstClr val="black"/>
              </a:solidFill>
            </a:endParaRPr>
          </a:p>
        </p:txBody>
      </p:sp>
      <p:sp>
        <p:nvSpPr>
          <p:cNvPr id="7" name="Rectangle 4">
            <a:extLst>
              <a:ext uri="{FF2B5EF4-FFF2-40B4-BE49-F238E27FC236}">
                <a16:creationId xmlns:a16="http://schemas.microsoft.com/office/drawing/2014/main" id="{DA35D0F5-641B-DD43-98AE-2CF2FD980706}"/>
              </a:ext>
            </a:extLst>
          </p:cNvPr>
          <p:cNvSpPr txBox="1">
            <a:spLocks noChangeArrowheads="1"/>
          </p:cNvSpPr>
          <p:nvPr/>
        </p:nvSpPr>
        <p:spPr>
          <a:xfrm>
            <a:off x="5046156" y="1941858"/>
            <a:ext cx="2857500" cy="1457325"/>
          </a:xfrm>
          <a:prstGeom prst="rect">
            <a:avLst/>
          </a:prstGeom>
        </p:spPr>
        <p:txBody>
          <a:bodyPr vert="horz" lIns="68580" tIns="34290" rIns="68580" bIns="34290" rtlCol="0">
            <a:normAutofit fontScale="850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fontAlgn="auto">
              <a:spcAft>
                <a:spcPts val="0"/>
              </a:spcAft>
              <a:buNone/>
              <a:defRPr/>
            </a:pPr>
            <a:r>
              <a:rPr lang="en-US" sz="2250" i="1" dirty="0">
                <a:solidFill>
                  <a:srgbClr val="CC0000"/>
                </a:solidFill>
              </a:rPr>
              <a:t>event: timeout</a:t>
            </a:r>
          </a:p>
          <a:p>
            <a:pPr fontAlgn="auto">
              <a:spcAft>
                <a:spcPts val="0"/>
              </a:spcAft>
              <a:buFont typeface="Wingdings" charset="2"/>
              <a:buChar char="§"/>
              <a:defRPr/>
            </a:pPr>
            <a:r>
              <a:rPr lang="en-US" sz="2100" dirty="0">
                <a:solidFill>
                  <a:prstClr val="black"/>
                </a:solidFill>
              </a:rPr>
              <a:t>retransmit segment that caused timeout</a:t>
            </a:r>
          </a:p>
          <a:p>
            <a:pPr fontAlgn="auto">
              <a:spcAft>
                <a:spcPts val="0"/>
              </a:spcAft>
              <a:buFont typeface="Wingdings" charset="2"/>
              <a:buChar char="§"/>
              <a:defRPr/>
            </a:pPr>
            <a:r>
              <a:rPr lang="en-US" sz="2100" dirty="0">
                <a:solidFill>
                  <a:prstClr val="black"/>
                </a:solidFill>
              </a:rPr>
              <a:t>restart timer</a:t>
            </a:r>
          </a:p>
          <a:p>
            <a:pPr fontAlgn="auto">
              <a:spcAft>
                <a:spcPts val="0"/>
              </a:spcAft>
              <a:buNone/>
              <a:defRPr/>
            </a:pPr>
            <a:r>
              <a:rPr lang="en-US" sz="2100" dirty="0">
                <a:solidFill>
                  <a:prstClr val="black"/>
                </a:solidFill>
              </a:rPr>
              <a:t> </a:t>
            </a:r>
          </a:p>
        </p:txBody>
      </p:sp>
      <p:sp>
        <p:nvSpPr>
          <p:cNvPr id="8" name="Rectangle 4">
            <a:extLst>
              <a:ext uri="{FF2B5EF4-FFF2-40B4-BE49-F238E27FC236}">
                <a16:creationId xmlns:a16="http://schemas.microsoft.com/office/drawing/2014/main" id="{7626FEA2-2ED1-6640-83D4-E13C73302CE0}"/>
              </a:ext>
            </a:extLst>
          </p:cNvPr>
          <p:cNvSpPr txBox="1">
            <a:spLocks noChangeArrowheads="1"/>
          </p:cNvSpPr>
          <p:nvPr/>
        </p:nvSpPr>
        <p:spPr>
          <a:xfrm>
            <a:off x="5046156" y="3401664"/>
            <a:ext cx="3690340" cy="2395331"/>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fontAlgn="auto">
              <a:spcAft>
                <a:spcPts val="0"/>
              </a:spcAft>
              <a:buNone/>
              <a:defRPr/>
            </a:pPr>
            <a:r>
              <a:rPr lang="en-US" sz="2100" i="1" dirty="0">
                <a:solidFill>
                  <a:srgbClr val="CC0000"/>
                </a:solidFill>
              </a:rPr>
              <a:t>event: ACK received </a:t>
            </a:r>
          </a:p>
          <a:p>
            <a:pPr fontAlgn="auto">
              <a:spcAft>
                <a:spcPts val="0"/>
              </a:spcAft>
              <a:buFont typeface="Wingdings" charset="2"/>
              <a:buChar char="§"/>
              <a:defRPr/>
            </a:pPr>
            <a:r>
              <a:rPr lang="en-US" sz="2100" dirty="0">
                <a:solidFill>
                  <a:prstClr val="black"/>
                </a:solidFill>
              </a:rPr>
              <a:t>if ACK acknowledges previously </a:t>
            </a:r>
            <a:r>
              <a:rPr lang="en-US" sz="2100" dirty="0" err="1">
                <a:solidFill>
                  <a:prstClr val="black"/>
                </a:solidFill>
              </a:rPr>
              <a:t>unACKed</a:t>
            </a:r>
            <a:r>
              <a:rPr lang="en-US" sz="2100" dirty="0">
                <a:solidFill>
                  <a:prstClr val="black"/>
                </a:solidFill>
              </a:rPr>
              <a:t> segments</a:t>
            </a:r>
          </a:p>
          <a:p>
            <a:pPr lvl="1" fontAlgn="auto">
              <a:spcAft>
                <a:spcPts val="0"/>
              </a:spcAft>
              <a:buFont typeface="Arial"/>
              <a:buChar char="•"/>
              <a:defRPr/>
            </a:pPr>
            <a:r>
              <a:rPr lang="en-US" sz="1800" dirty="0">
                <a:solidFill>
                  <a:prstClr val="black"/>
                </a:solidFill>
              </a:rPr>
              <a:t>update what is known to be </a:t>
            </a:r>
            <a:r>
              <a:rPr lang="en-US" sz="1800" dirty="0" err="1">
                <a:solidFill>
                  <a:prstClr val="black"/>
                </a:solidFill>
              </a:rPr>
              <a:t>ACKed</a:t>
            </a:r>
            <a:endParaRPr lang="en-US" sz="1800" dirty="0">
              <a:solidFill>
                <a:prstClr val="black"/>
              </a:solidFill>
            </a:endParaRPr>
          </a:p>
          <a:p>
            <a:pPr lvl="1" fontAlgn="auto">
              <a:spcAft>
                <a:spcPts val="0"/>
              </a:spcAft>
              <a:buFont typeface="Arial"/>
              <a:buChar char="•"/>
              <a:defRPr/>
            </a:pPr>
            <a:r>
              <a:rPr lang="en-US" sz="1800" dirty="0">
                <a:solidFill>
                  <a:prstClr val="black"/>
                </a:solidFill>
              </a:rPr>
              <a:t>start timer if there are  still </a:t>
            </a:r>
            <a:r>
              <a:rPr lang="en-US" sz="1800" dirty="0" err="1">
                <a:solidFill>
                  <a:prstClr val="black"/>
                </a:solidFill>
              </a:rPr>
              <a:t>unACKed</a:t>
            </a:r>
            <a:r>
              <a:rPr lang="en-US" sz="1800" dirty="0">
                <a:solidFill>
                  <a:prstClr val="black"/>
                </a:solidFill>
              </a:rPr>
              <a:t> segments</a:t>
            </a:r>
          </a:p>
          <a:p>
            <a:pPr lvl="1" fontAlgn="auto">
              <a:spcAft>
                <a:spcPts val="0"/>
              </a:spcAft>
              <a:buNone/>
              <a:defRPr/>
            </a:pPr>
            <a:endParaRPr lang="en-US" sz="1800" dirty="0">
              <a:solidFill>
                <a:prstClr val="black"/>
              </a:solidFill>
            </a:endParaRPr>
          </a:p>
        </p:txBody>
      </p:sp>
      <p:sp>
        <p:nvSpPr>
          <p:cNvPr id="9" name="Slide Number Placeholder 2">
            <a:extLst>
              <a:ext uri="{FF2B5EF4-FFF2-40B4-BE49-F238E27FC236}">
                <a16:creationId xmlns:a16="http://schemas.microsoft.com/office/drawing/2014/main" id="{F7A5BD9A-E49F-7E4D-A1AC-729448A7B15E}"/>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66</a:t>
            </a:fld>
            <a:endParaRPr lang="en-US" dirty="0">
              <a:solidFill>
                <a:prstClr val="white">
                  <a:lumMod val="50000"/>
                </a:prstClr>
              </a:solidFill>
            </a:endParaRPr>
          </a:p>
        </p:txBody>
      </p:sp>
    </p:spTree>
    <p:extLst>
      <p:ext uri="{BB962C8B-B14F-4D97-AF65-F5344CB8AC3E}">
        <p14:creationId xmlns:p14="http://schemas.microsoft.com/office/powerpoint/2010/main" val="3335111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Receiver: ACK generation </a:t>
            </a:r>
            <a:r>
              <a:rPr lang="en-US" sz="1800" b="0" dirty="0"/>
              <a:t>[RFC 5681]</a:t>
            </a:r>
            <a:endParaRPr lang="en-US" b="0" dirty="0"/>
          </a:p>
        </p:txBody>
      </p:sp>
      <p:sp>
        <p:nvSpPr>
          <p:cNvPr id="43" name="Text Box 3">
            <a:extLst>
              <a:ext uri="{FF2B5EF4-FFF2-40B4-BE49-F238E27FC236}">
                <a16:creationId xmlns:a16="http://schemas.microsoft.com/office/drawing/2014/main" id="{0C54E9E4-D2A0-C64E-B652-DCC0E63DDD71}"/>
              </a:ext>
            </a:extLst>
          </p:cNvPr>
          <p:cNvSpPr txBox="1">
            <a:spLocks noChangeArrowheads="1"/>
          </p:cNvSpPr>
          <p:nvPr/>
        </p:nvSpPr>
        <p:spPr bwMode="auto">
          <a:xfrm>
            <a:off x="1607965" y="1936717"/>
            <a:ext cx="2666884" cy="381630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fontAlgn="auto" hangingPunct="1">
              <a:lnSpc>
                <a:spcPct val="90000"/>
              </a:lnSpc>
              <a:spcBef>
                <a:spcPts val="0"/>
              </a:spcBef>
              <a:spcAft>
                <a:spcPts val="0"/>
              </a:spcAft>
              <a:defRPr/>
            </a:pPr>
            <a:r>
              <a:rPr lang="en-US" sz="2100" i="1" dirty="0">
                <a:solidFill>
                  <a:srgbClr val="CC0000"/>
                </a:solidFill>
                <a:latin typeface="Calibri" panose="020F0502020204030204"/>
              </a:rPr>
              <a:t>Event at receiver</a:t>
            </a:r>
            <a:endParaRPr lang="en-US" sz="1500" i="1" dirty="0">
              <a:solidFill>
                <a:srgbClr val="CC0000"/>
              </a:solidFill>
              <a:latin typeface="Calibri" panose="020F0502020204030204"/>
            </a:endParaRPr>
          </a:p>
          <a:p>
            <a:pPr eaLnBrk="1" fontAlgn="auto" hangingPunct="1">
              <a:lnSpc>
                <a:spcPct val="90000"/>
              </a:lnSpc>
              <a:spcBef>
                <a:spcPts val="0"/>
              </a:spcBef>
              <a:spcAft>
                <a:spcPts val="0"/>
              </a:spcAft>
              <a:defRPr/>
            </a:pPr>
            <a:endParaRPr lang="en-US" sz="1500" i="1" dirty="0">
              <a:solidFill>
                <a:srgbClr val="CC0000"/>
              </a:solidFill>
              <a:latin typeface="Calibri" panose="020F0502020204030204"/>
            </a:endParaRPr>
          </a:p>
          <a:p>
            <a:pPr eaLnBrk="1" fontAlgn="auto" hangingPunct="1">
              <a:lnSpc>
                <a:spcPct val="90000"/>
              </a:lnSpc>
              <a:spcBef>
                <a:spcPts val="0"/>
              </a:spcBef>
              <a:spcAft>
                <a:spcPts val="0"/>
              </a:spcAft>
              <a:defRPr/>
            </a:pPr>
            <a:r>
              <a:rPr lang="en-US" sz="1500" dirty="0">
                <a:solidFill>
                  <a:prstClr val="black"/>
                </a:solidFill>
                <a:latin typeface="Calibri" panose="020F0502020204030204"/>
              </a:rPr>
              <a:t>arrival of in-order segment with</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expected seq #. All data up to</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expected seq # already </a:t>
            </a:r>
            <a:r>
              <a:rPr lang="en-US" sz="1500" dirty="0" err="1">
                <a:solidFill>
                  <a:prstClr val="black"/>
                </a:solidFill>
                <a:latin typeface="Calibri" panose="020F0502020204030204"/>
              </a:rPr>
              <a:t>ACKed</a:t>
            </a:r>
            <a:endParaRPr lang="en-US" sz="1500" dirty="0">
              <a:solidFill>
                <a:prstClr val="black"/>
              </a:solidFill>
              <a:latin typeface="Calibri" panose="020F0502020204030204"/>
            </a:endParaRPr>
          </a:p>
          <a:p>
            <a:pPr eaLnBrk="1" fontAlgn="auto" hangingPunct="1">
              <a:lnSpc>
                <a:spcPct val="90000"/>
              </a:lnSpc>
              <a:spcBef>
                <a:spcPts val="0"/>
              </a:spcBef>
              <a:spcAft>
                <a:spcPts val="0"/>
              </a:spcAft>
              <a:defRPr/>
            </a:pPr>
            <a:endParaRPr lang="en-US" sz="1500" dirty="0">
              <a:solidFill>
                <a:prstClr val="black"/>
              </a:solidFill>
              <a:latin typeface="Calibri" panose="020F0502020204030204"/>
            </a:endParaRPr>
          </a:p>
          <a:p>
            <a:pPr eaLnBrk="1" fontAlgn="auto" hangingPunct="1">
              <a:lnSpc>
                <a:spcPct val="90000"/>
              </a:lnSpc>
              <a:spcBef>
                <a:spcPts val="0"/>
              </a:spcBef>
              <a:spcAft>
                <a:spcPts val="0"/>
              </a:spcAft>
              <a:defRPr/>
            </a:pPr>
            <a:r>
              <a:rPr lang="en-US" sz="1500" dirty="0">
                <a:solidFill>
                  <a:prstClr val="black"/>
                </a:solidFill>
                <a:latin typeface="Calibri" panose="020F0502020204030204"/>
              </a:rPr>
              <a:t>arrival of in-order segment with</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expected seq #. One other </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segment has ACK pending</a:t>
            </a:r>
          </a:p>
          <a:p>
            <a:pPr eaLnBrk="1" fontAlgn="auto" hangingPunct="1">
              <a:lnSpc>
                <a:spcPct val="90000"/>
              </a:lnSpc>
              <a:spcBef>
                <a:spcPts val="0"/>
              </a:spcBef>
              <a:spcAft>
                <a:spcPts val="0"/>
              </a:spcAft>
              <a:defRPr/>
            </a:pPr>
            <a:endParaRPr lang="en-US" sz="1500" dirty="0">
              <a:solidFill>
                <a:prstClr val="black"/>
              </a:solidFill>
              <a:latin typeface="Calibri" panose="020F0502020204030204"/>
            </a:endParaRPr>
          </a:p>
          <a:p>
            <a:pPr eaLnBrk="1" fontAlgn="auto" hangingPunct="1">
              <a:lnSpc>
                <a:spcPct val="90000"/>
              </a:lnSpc>
              <a:spcBef>
                <a:spcPts val="0"/>
              </a:spcBef>
              <a:spcAft>
                <a:spcPts val="0"/>
              </a:spcAft>
              <a:defRPr/>
            </a:pPr>
            <a:r>
              <a:rPr lang="en-US" sz="1500" dirty="0">
                <a:solidFill>
                  <a:prstClr val="black"/>
                </a:solidFill>
                <a:latin typeface="Calibri" panose="020F0502020204030204"/>
              </a:rPr>
              <a:t>arrival of out-of-order segment</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higher-than-expect seq. # .</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Gap detected</a:t>
            </a:r>
          </a:p>
          <a:p>
            <a:pPr eaLnBrk="1" fontAlgn="auto" hangingPunct="1">
              <a:lnSpc>
                <a:spcPct val="90000"/>
              </a:lnSpc>
              <a:spcBef>
                <a:spcPts val="0"/>
              </a:spcBef>
              <a:spcAft>
                <a:spcPts val="0"/>
              </a:spcAft>
              <a:defRPr/>
            </a:pPr>
            <a:endParaRPr lang="en-US" sz="1500" dirty="0">
              <a:solidFill>
                <a:prstClr val="black"/>
              </a:solidFill>
              <a:latin typeface="Calibri" panose="020F0502020204030204"/>
            </a:endParaRPr>
          </a:p>
          <a:p>
            <a:pPr eaLnBrk="1" fontAlgn="auto" hangingPunct="1">
              <a:lnSpc>
                <a:spcPct val="90000"/>
              </a:lnSpc>
              <a:spcBef>
                <a:spcPts val="0"/>
              </a:spcBef>
              <a:spcAft>
                <a:spcPts val="0"/>
              </a:spcAft>
              <a:defRPr/>
            </a:pPr>
            <a:r>
              <a:rPr lang="en-US" sz="1500" dirty="0">
                <a:solidFill>
                  <a:prstClr val="black"/>
                </a:solidFill>
                <a:latin typeface="Calibri" panose="020F0502020204030204"/>
              </a:rPr>
              <a:t>arrival of segment that </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partially or completely fills gap</a:t>
            </a:r>
          </a:p>
          <a:p>
            <a:pPr eaLnBrk="1" fontAlgn="auto" hangingPunct="1">
              <a:lnSpc>
                <a:spcPct val="90000"/>
              </a:lnSpc>
              <a:spcBef>
                <a:spcPts val="0"/>
              </a:spcBef>
              <a:spcAft>
                <a:spcPts val="0"/>
              </a:spcAft>
              <a:defRPr/>
            </a:pPr>
            <a:endParaRPr lang="en-US" sz="1500" dirty="0">
              <a:solidFill>
                <a:prstClr val="black"/>
              </a:solidFill>
              <a:latin typeface="Calibri" panose="020F0502020204030204"/>
            </a:endParaRPr>
          </a:p>
          <a:p>
            <a:pPr eaLnBrk="1" fontAlgn="auto" hangingPunct="1">
              <a:lnSpc>
                <a:spcPct val="90000"/>
              </a:lnSpc>
              <a:spcBef>
                <a:spcPts val="0"/>
              </a:spcBef>
              <a:spcAft>
                <a:spcPts val="0"/>
              </a:spcAft>
              <a:defRPr/>
            </a:pPr>
            <a:endParaRPr lang="en-US" sz="788" dirty="0">
              <a:solidFill>
                <a:prstClr val="black"/>
              </a:solidFill>
              <a:latin typeface="Calibri" panose="020F0502020204030204"/>
            </a:endParaRPr>
          </a:p>
        </p:txBody>
      </p:sp>
      <p:sp>
        <p:nvSpPr>
          <p:cNvPr id="44" name="Text Box 4">
            <a:extLst>
              <a:ext uri="{FF2B5EF4-FFF2-40B4-BE49-F238E27FC236}">
                <a16:creationId xmlns:a16="http://schemas.microsoft.com/office/drawing/2014/main" id="{7D1A8937-7497-E947-B481-036DB6905786}"/>
              </a:ext>
            </a:extLst>
          </p:cNvPr>
          <p:cNvSpPr txBox="1">
            <a:spLocks noChangeArrowheads="1"/>
          </p:cNvSpPr>
          <p:nvPr/>
        </p:nvSpPr>
        <p:spPr bwMode="auto">
          <a:xfrm>
            <a:off x="4429746" y="1929573"/>
            <a:ext cx="3185616" cy="381630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fontAlgn="auto" hangingPunct="1">
              <a:lnSpc>
                <a:spcPct val="90000"/>
              </a:lnSpc>
              <a:spcBef>
                <a:spcPts val="0"/>
              </a:spcBef>
              <a:spcAft>
                <a:spcPts val="0"/>
              </a:spcAft>
              <a:defRPr/>
            </a:pPr>
            <a:r>
              <a:rPr lang="en-US" sz="2100" i="1" dirty="0">
                <a:solidFill>
                  <a:srgbClr val="CC0000"/>
                </a:solidFill>
                <a:latin typeface="Calibri" panose="020F0502020204030204"/>
              </a:rPr>
              <a:t>TCP receiver action</a:t>
            </a:r>
            <a:endParaRPr lang="en-US" sz="1500" i="1" dirty="0">
              <a:solidFill>
                <a:srgbClr val="CC0000"/>
              </a:solidFill>
              <a:latin typeface="Calibri" panose="020F0502020204030204"/>
            </a:endParaRPr>
          </a:p>
          <a:p>
            <a:pPr eaLnBrk="1" fontAlgn="auto" hangingPunct="1">
              <a:lnSpc>
                <a:spcPct val="90000"/>
              </a:lnSpc>
              <a:spcBef>
                <a:spcPts val="0"/>
              </a:spcBef>
              <a:spcAft>
                <a:spcPts val="0"/>
              </a:spcAft>
              <a:defRPr/>
            </a:pPr>
            <a:endParaRPr lang="en-US" sz="1500" i="1" dirty="0">
              <a:solidFill>
                <a:srgbClr val="CC0000"/>
              </a:solidFill>
              <a:latin typeface="Calibri" panose="020F0502020204030204"/>
            </a:endParaRPr>
          </a:p>
          <a:p>
            <a:pPr eaLnBrk="1" fontAlgn="auto" hangingPunct="1">
              <a:lnSpc>
                <a:spcPct val="90000"/>
              </a:lnSpc>
              <a:spcBef>
                <a:spcPts val="0"/>
              </a:spcBef>
              <a:spcAft>
                <a:spcPts val="0"/>
              </a:spcAft>
              <a:defRPr/>
            </a:pPr>
            <a:r>
              <a:rPr lang="en-US" sz="1500" dirty="0">
                <a:solidFill>
                  <a:prstClr val="black"/>
                </a:solidFill>
                <a:latin typeface="Calibri" panose="020F0502020204030204"/>
              </a:rPr>
              <a:t>delayed ACK. Wait up to 500ms</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for next segment. If no next segment,</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send ACK</a:t>
            </a:r>
          </a:p>
          <a:p>
            <a:pPr eaLnBrk="1" fontAlgn="auto" hangingPunct="1">
              <a:lnSpc>
                <a:spcPct val="90000"/>
              </a:lnSpc>
              <a:spcBef>
                <a:spcPts val="0"/>
              </a:spcBef>
              <a:spcAft>
                <a:spcPts val="0"/>
              </a:spcAft>
              <a:defRPr/>
            </a:pPr>
            <a:endParaRPr lang="en-US" sz="1500" dirty="0">
              <a:solidFill>
                <a:prstClr val="black"/>
              </a:solidFill>
              <a:latin typeface="Calibri" panose="020F0502020204030204"/>
            </a:endParaRPr>
          </a:p>
          <a:p>
            <a:pPr eaLnBrk="1" fontAlgn="auto" hangingPunct="1">
              <a:lnSpc>
                <a:spcPct val="90000"/>
              </a:lnSpc>
              <a:spcBef>
                <a:spcPts val="0"/>
              </a:spcBef>
              <a:spcAft>
                <a:spcPts val="0"/>
              </a:spcAft>
              <a:defRPr/>
            </a:pPr>
            <a:r>
              <a:rPr lang="en-US" sz="1500" dirty="0">
                <a:solidFill>
                  <a:prstClr val="black"/>
                </a:solidFill>
                <a:latin typeface="Calibri" panose="020F0502020204030204"/>
              </a:rPr>
              <a:t>immediately send single cumulative </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ACK, </a:t>
            </a:r>
            <a:r>
              <a:rPr lang="en-US" sz="1500" dirty="0" err="1">
                <a:solidFill>
                  <a:prstClr val="black"/>
                </a:solidFill>
                <a:latin typeface="Calibri" panose="020F0502020204030204"/>
              </a:rPr>
              <a:t>ACKing</a:t>
            </a:r>
            <a:r>
              <a:rPr lang="en-US" sz="1500" dirty="0">
                <a:solidFill>
                  <a:prstClr val="black"/>
                </a:solidFill>
                <a:latin typeface="Calibri" panose="020F0502020204030204"/>
              </a:rPr>
              <a:t> both in-order segments </a:t>
            </a:r>
          </a:p>
          <a:p>
            <a:pPr eaLnBrk="1" fontAlgn="auto" hangingPunct="1">
              <a:lnSpc>
                <a:spcPct val="90000"/>
              </a:lnSpc>
              <a:spcBef>
                <a:spcPts val="0"/>
              </a:spcBef>
              <a:spcAft>
                <a:spcPts val="0"/>
              </a:spcAft>
              <a:defRPr/>
            </a:pPr>
            <a:endParaRPr lang="en-US" sz="1500" dirty="0">
              <a:solidFill>
                <a:prstClr val="black"/>
              </a:solidFill>
              <a:latin typeface="Calibri" panose="020F0502020204030204"/>
            </a:endParaRPr>
          </a:p>
          <a:p>
            <a:pPr eaLnBrk="1" fontAlgn="auto" hangingPunct="1">
              <a:lnSpc>
                <a:spcPct val="90000"/>
              </a:lnSpc>
              <a:spcBef>
                <a:spcPts val="0"/>
              </a:spcBef>
              <a:spcAft>
                <a:spcPts val="0"/>
              </a:spcAft>
              <a:defRPr/>
            </a:pPr>
            <a:endParaRPr lang="en-US" sz="1500" dirty="0">
              <a:solidFill>
                <a:prstClr val="black"/>
              </a:solidFill>
              <a:latin typeface="Calibri" panose="020F0502020204030204"/>
            </a:endParaRPr>
          </a:p>
          <a:p>
            <a:pPr eaLnBrk="1" fontAlgn="auto" hangingPunct="1">
              <a:lnSpc>
                <a:spcPct val="90000"/>
              </a:lnSpc>
              <a:spcBef>
                <a:spcPts val="0"/>
              </a:spcBef>
              <a:spcAft>
                <a:spcPts val="0"/>
              </a:spcAft>
              <a:defRPr/>
            </a:pPr>
            <a:r>
              <a:rPr lang="en-US" sz="1500" dirty="0">
                <a:solidFill>
                  <a:prstClr val="black"/>
                </a:solidFill>
                <a:latin typeface="Calibri" panose="020F0502020204030204"/>
              </a:rPr>
              <a:t>immediately send </a:t>
            </a:r>
            <a:r>
              <a:rPr lang="en-US" sz="1500" i="1" dirty="0">
                <a:solidFill>
                  <a:srgbClr val="CC0000"/>
                </a:solidFill>
                <a:latin typeface="Calibri" panose="020F0502020204030204"/>
              </a:rPr>
              <a:t>duplicate ACK</a:t>
            </a:r>
            <a:r>
              <a:rPr lang="en-US" sz="1500" dirty="0">
                <a:solidFill>
                  <a:srgbClr val="CC0000"/>
                </a:solidFill>
                <a:latin typeface="Calibri" panose="020F0502020204030204"/>
              </a:rPr>
              <a:t>,</a:t>
            </a:r>
            <a:r>
              <a:rPr lang="en-US" sz="1500" dirty="0">
                <a:solidFill>
                  <a:prstClr val="black"/>
                </a:solidFill>
                <a:latin typeface="Calibri" panose="020F0502020204030204"/>
              </a:rPr>
              <a:t> </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indicating seq. # of next expected byte</a:t>
            </a:r>
          </a:p>
          <a:p>
            <a:pPr eaLnBrk="1" fontAlgn="auto" hangingPunct="1">
              <a:lnSpc>
                <a:spcPct val="90000"/>
              </a:lnSpc>
              <a:spcBef>
                <a:spcPts val="0"/>
              </a:spcBef>
              <a:spcAft>
                <a:spcPts val="0"/>
              </a:spcAft>
              <a:defRPr/>
            </a:pPr>
            <a:endParaRPr lang="en-US" sz="1500" dirty="0">
              <a:solidFill>
                <a:prstClr val="black"/>
              </a:solidFill>
              <a:latin typeface="Calibri" panose="020F0502020204030204"/>
            </a:endParaRPr>
          </a:p>
          <a:p>
            <a:pPr eaLnBrk="1" fontAlgn="auto" hangingPunct="1">
              <a:lnSpc>
                <a:spcPct val="90000"/>
              </a:lnSpc>
              <a:spcBef>
                <a:spcPts val="0"/>
              </a:spcBef>
              <a:spcAft>
                <a:spcPts val="0"/>
              </a:spcAft>
              <a:defRPr/>
            </a:pPr>
            <a:endParaRPr lang="en-US" sz="1500" dirty="0">
              <a:solidFill>
                <a:prstClr val="black"/>
              </a:solidFill>
              <a:latin typeface="Calibri" panose="020F0502020204030204"/>
            </a:endParaRPr>
          </a:p>
          <a:p>
            <a:pPr eaLnBrk="1" fontAlgn="auto" hangingPunct="1">
              <a:lnSpc>
                <a:spcPct val="90000"/>
              </a:lnSpc>
              <a:spcBef>
                <a:spcPts val="0"/>
              </a:spcBef>
              <a:spcAft>
                <a:spcPts val="0"/>
              </a:spcAft>
              <a:defRPr/>
            </a:pPr>
            <a:r>
              <a:rPr lang="en-US" sz="1500" dirty="0">
                <a:solidFill>
                  <a:prstClr val="black"/>
                </a:solidFill>
                <a:latin typeface="Calibri" panose="020F0502020204030204"/>
              </a:rPr>
              <a:t>immediate send ACK, provided that</a:t>
            </a:r>
          </a:p>
          <a:p>
            <a:pPr eaLnBrk="1" fontAlgn="auto" hangingPunct="1">
              <a:lnSpc>
                <a:spcPct val="90000"/>
              </a:lnSpc>
              <a:spcBef>
                <a:spcPts val="0"/>
              </a:spcBef>
              <a:spcAft>
                <a:spcPts val="0"/>
              </a:spcAft>
              <a:defRPr/>
            </a:pPr>
            <a:r>
              <a:rPr lang="en-US" sz="1500" dirty="0">
                <a:solidFill>
                  <a:prstClr val="black"/>
                </a:solidFill>
                <a:latin typeface="Calibri" panose="020F0502020204030204"/>
              </a:rPr>
              <a:t>segment starts at lower end of gap</a:t>
            </a:r>
          </a:p>
          <a:p>
            <a:pPr eaLnBrk="1" fontAlgn="auto" hangingPunct="1">
              <a:lnSpc>
                <a:spcPct val="90000"/>
              </a:lnSpc>
              <a:spcBef>
                <a:spcPts val="0"/>
              </a:spcBef>
              <a:spcAft>
                <a:spcPts val="0"/>
              </a:spcAft>
              <a:defRPr/>
            </a:pPr>
            <a:endParaRPr lang="en-US" sz="1500" dirty="0">
              <a:solidFill>
                <a:prstClr val="black"/>
              </a:solidFill>
              <a:latin typeface="Calibri" panose="020F0502020204030204"/>
            </a:endParaRPr>
          </a:p>
          <a:p>
            <a:pPr eaLnBrk="1" fontAlgn="auto" hangingPunct="1">
              <a:lnSpc>
                <a:spcPct val="90000"/>
              </a:lnSpc>
              <a:spcBef>
                <a:spcPts val="0"/>
              </a:spcBef>
              <a:spcAft>
                <a:spcPts val="0"/>
              </a:spcAft>
              <a:defRPr/>
            </a:pPr>
            <a:endParaRPr lang="en-US" sz="788" dirty="0">
              <a:solidFill>
                <a:prstClr val="black"/>
              </a:solidFill>
              <a:latin typeface="Calibri" panose="020F0502020204030204"/>
            </a:endParaRPr>
          </a:p>
        </p:txBody>
      </p:sp>
      <p:sp>
        <p:nvSpPr>
          <p:cNvPr id="45" name="Line 9">
            <a:extLst>
              <a:ext uri="{FF2B5EF4-FFF2-40B4-BE49-F238E27FC236}">
                <a16:creationId xmlns:a16="http://schemas.microsoft.com/office/drawing/2014/main" id="{B5C333E2-4347-8B41-A67B-31280E7B23CD}"/>
              </a:ext>
            </a:extLst>
          </p:cNvPr>
          <p:cNvSpPr>
            <a:spLocks noChangeShapeType="1"/>
          </p:cNvSpPr>
          <p:nvPr/>
        </p:nvSpPr>
        <p:spPr bwMode="auto">
          <a:xfrm>
            <a:off x="4286871" y="2049826"/>
            <a:ext cx="0" cy="3264694"/>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lnSpc>
                <a:spcPct val="90000"/>
              </a:lnSpc>
              <a:spcBef>
                <a:spcPts val="0"/>
              </a:spcBef>
              <a:spcAft>
                <a:spcPts val="0"/>
              </a:spcAft>
              <a:defRPr/>
            </a:pPr>
            <a:endParaRPr lang="en-US" sz="1500">
              <a:solidFill>
                <a:prstClr val="black"/>
              </a:solidFill>
              <a:latin typeface="Calibri" panose="020F0502020204030204"/>
              <a:ea typeface="ＭＳ Ｐゴシック" charset="0"/>
            </a:endParaRPr>
          </a:p>
        </p:txBody>
      </p:sp>
      <p:sp>
        <p:nvSpPr>
          <p:cNvPr id="46" name="Line 11">
            <a:extLst>
              <a:ext uri="{FF2B5EF4-FFF2-40B4-BE49-F238E27FC236}">
                <a16:creationId xmlns:a16="http://schemas.microsoft.com/office/drawing/2014/main" id="{A3C87D27-55A1-0740-A388-14FABFDCAECD}"/>
              </a:ext>
            </a:extLst>
          </p:cNvPr>
          <p:cNvSpPr>
            <a:spLocks noChangeShapeType="1"/>
          </p:cNvSpPr>
          <p:nvPr/>
        </p:nvSpPr>
        <p:spPr bwMode="auto">
          <a:xfrm>
            <a:off x="1619871" y="2379629"/>
            <a:ext cx="5620941"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lnSpc>
                <a:spcPct val="90000"/>
              </a:lnSpc>
              <a:spcBef>
                <a:spcPts val="0"/>
              </a:spcBef>
              <a:spcAft>
                <a:spcPts val="0"/>
              </a:spcAft>
              <a:defRPr/>
            </a:pPr>
            <a:endParaRPr lang="en-US" sz="1500">
              <a:solidFill>
                <a:prstClr val="black"/>
              </a:solidFill>
              <a:latin typeface="Calibri" panose="020F0502020204030204"/>
              <a:ea typeface="ＭＳ Ｐゴシック" charset="0"/>
            </a:endParaRPr>
          </a:p>
        </p:txBody>
      </p:sp>
      <p:sp>
        <p:nvSpPr>
          <p:cNvPr id="47" name="Line 12">
            <a:extLst>
              <a:ext uri="{FF2B5EF4-FFF2-40B4-BE49-F238E27FC236}">
                <a16:creationId xmlns:a16="http://schemas.microsoft.com/office/drawing/2014/main" id="{BAEE28BF-45B4-7B4F-8643-BEFCF1817DB3}"/>
              </a:ext>
            </a:extLst>
          </p:cNvPr>
          <p:cNvSpPr>
            <a:spLocks noChangeShapeType="1"/>
          </p:cNvSpPr>
          <p:nvPr/>
        </p:nvSpPr>
        <p:spPr bwMode="auto">
          <a:xfrm>
            <a:off x="1607965" y="3170204"/>
            <a:ext cx="5620941"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lnSpc>
                <a:spcPct val="90000"/>
              </a:lnSpc>
              <a:spcBef>
                <a:spcPts val="0"/>
              </a:spcBef>
              <a:spcAft>
                <a:spcPts val="0"/>
              </a:spcAft>
              <a:defRPr/>
            </a:pPr>
            <a:endParaRPr lang="en-US" sz="1500">
              <a:solidFill>
                <a:prstClr val="black"/>
              </a:solidFill>
              <a:latin typeface="Calibri" panose="020F0502020204030204"/>
              <a:ea typeface="ＭＳ Ｐゴシック" charset="0"/>
            </a:endParaRPr>
          </a:p>
        </p:txBody>
      </p:sp>
      <p:sp>
        <p:nvSpPr>
          <p:cNvPr id="48" name="Line 13">
            <a:extLst>
              <a:ext uri="{FF2B5EF4-FFF2-40B4-BE49-F238E27FC236}">
                <a16:creationId xmlns:a16="http://schemas.microsoft.com/office/drawing/2014/main" id="{497F621D-E3C3-D549-BCDE-B1C658BA2FF8}"/>
              </a:ext>
            </a:extLst>
          </p:cNvPr>
          <p:cNvSpPr>
            <a:spLocks noChangeShapeType="1"/>
          </p:cNvSpPr>
          <p:nvPr/>
        </p:nvSpPr>
        <p:spPr bwMode="auto">
          <a:xfrm>
            <a:off x="1621063" y="3994117"/>
            <a:ext cx="5620940"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lnSpc>
                <a:spcPct val="90000"/>
              </a:lnSpc>
              <a:spcBef>
                <a:spcPts val="0"/>
              </a:spcBef>
              <a:spcAft>
                <a:spcPts val="0"/>
              </a:spcAft>
              <a:defRPr/>
            </a:pPr>
            <a:endParaRPr lang="en-US" sz="1500">
              <a:solidFill>
                <a:prstClr val="black"/>
              </a:solidFill>
              <a:latin typeface="Calibri" panose="020F0502020204030204"/>
              <a:ea typeface="ＭＳ Ｐゴシック" charset="0"/>
            </a:endParaRPr>
          </a:p>
        </p:txBody>
      </p:sp>
      <p:sp>
        <p:nvSpPr>
          <p:cNvPr id="49" name="Line 14">
            <a:extLst>
              <a:ext uri="{FF2B5EF4-FFF2-40B4-BE49-F238E27FC236}">
                <a16:creationId xmlns:a16="http://schemas.microsoft.com/office/drawing/2014/main" id="{B5CA7B9A-CEFE-9440-989C-72777EDC3F97}"/>
              </a:ext>
            </a:extLst>
          </p:cNvPr>
          <p:cNvSpPr>
            <a:spLocks noChangeShapeType="1"/>
          </p:cNvSpPr>
          <p:nvPr/>
        </p:nvSpPr>
        <p:spPr bwMode="auto">
          <a:xfrm>
            <a:off x="1616300" y="4810886"/>
            <a:ext cx="5620940"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lnSpc>
                <a:spcPct val="90000"/>
              </a:lnSpc>
              <a:spcBef>
                <a:spcPts val="0"/>
              </a:spcBef>
              <a:spcAft>
                <a:spcPts val="0"/>
              </a:spcAft>
              <a:defRPr/>
            </a:pPr>
            <a:endParaRPr lang="en-US" sz="1500">
              <a:solidFill>
                <a:prstClr val="black"/>
              </a:solidFill>
              <a:latin typeface="Calibri" panose="020F0502020204030204"/>
              <a:ea typeface="ＭＳ Ｐゴシック" charset="0"/>
            </a:endParaRPr>
          </a:p>
        </p:txBody>
      </p:sp>
      <p:sp>
        <p:nvSpPr>
          <p:cNvPr id="4" name="Rectangle 3">
            <a:extLst>
              <a:ext uri="{FF2B5EF4-FFF2-40B4-BE49-F238E27FC236}">
                <a16:creationId xmlns:a16="http://schemas.microsoft.com/office/drawing/2014/main" id="{446007AE-16BF-5641-9533-FDFCED5467B7}"/>
              </a:ext>
            </a:extLst>
          </p:cNvPr>
          <p:cNvSpPr/>
          <p:nvPr/>
        </p:nvSpPr>
        <p:spPr>
          <a:xfrm>
            <a:off x="1606464" y="2416741"/>
            <a:ext cx="5815208" cy="704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 name="Rectangle 11">
            <a:extLst>
              <a:ext uri="{FF2B5EF4-FFF2-40B4-BE49-F238E27FC236}">
                <a16:creationId xmlns:a16="http://schemas.microsoft.com/office/drawing/2014/main" id="{4788DE70-9425-C941-B687-5CDA29AFB818}"/>
              </a:ext>
            </a:extLst>
          </p:cNvPr>
          <p:cNvSpPr/>
          <p:nvPr/>
        </p:nvSpPr>
        <p:spPr>
          <a:xfrm>
            <a:off x="1504690" y="3226235"/>
            <a:ext cx="5815208" cy="704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3" name="Rectangle 12">
            <a:extLst>
              <a:ext uri="{FF2B5EF4-FFF2-40B4-BE49-F238E27FC236}">
                <a16:creationId xmlns:a16="http://schemas.microsoft.com/office/drawing/2014/main" id="{8A265DF2-3FEE-3D4C-9E18-1D8A86817D23}"/>
              </a:ext>
            </a:extLst>
          </p:cNvPr>
          <p:cNvSpPr/>
          <p:nvPr/>
        </p:nvSpPr>
        <p:spPr>
          <a:xfrm>
            <a:off x="1647174" y="4035730"/>
            <a:ext cx="5815208" cy="704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4" name="Rectangle 13">
            <a:extLst>
              <a:ext uri="{FF2B5EF4-FFF2-40B4-BE49-F238E27FC236}">
                <a16:creationId xmlns:a16="http://schemas.microsoft.com/office/drawing/2014/main" id="{03861685-9E67-3541-901D-AC152EC9F9C7}"/>
              </a:ext>
            </a:extLst>
          </p:cNvPr>
          <p:cNvSpPr/>
          <p:nvPr/>
        </p:nvSpPr>
        <p:spPr>
          <a:xfrm>
            <a:off x="1684752" y="4862448"/>
            <a:ext cx="5815208" cy="704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5" name="Slide Number Placeholder 2">
            <a:extLst>
              <a:ext uri="{FF2B5EF4-FFF2-40B4-BE49-F238E27FC236}">
                <a16:creationId xmlns:a16="http://schemas.microsoft.com/office/drawing/2014/main" id="{340791B0-4154-D14E-9DBD-0157764BBAE9}"/>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67</a:t>
            </a:fld>
            <a:endParaRPr lang="en-US" dirty="0">
              <a:solidFill>
                <a:prstClr val="white">
                  <a:lumMod val="50000"/>
                </a:prstClr>
              </a:solidFill>
            </a:endParaRPr>
          </a:p>
        </p:txBody>
      </p:sp>
    </p:spTree>
    <p:extLst>
      <p:ext uri="{BB962C8B-B14F-4D97-AF65-F5344CB8AC3E}">
        <p14:creationId xmlns:p14="http://schemas.microsoft.com/office/powerpoint/2010/main" val="4186535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retransmission scenarios</a:t>
            </a:r>
            <a:endParaRPr lang="en-US" b="0" dirty="0"/>
          </a:p>
        </p:txBody>
      </p:sp>
      <p:sp>
        <p:nvSpPr>
          <p:cNvPr id="169" name="Text Box 105">
            <a:extLst>
              <a:ext uri="{FF2B5EF4-FFF2-40B4-BE49-F238E27FC236}">
                <a16:creationId xmlns:a16="http://schemas.microsoft.com/office/drawing/2014/main" id="{BFF25F7B-7978-5140-B991-E71AA865A711}"/>
              </a:ext>
            </a:extLst>
          </p:cNvPr>
          <p:cNvSpPr txBox="1">
            <a:spLocks noChangeArrowheads="1"/>
          </p:cNvSpPr>
          <p:nvPr/>
        </p:nvSpPr>
        <p:spPr bwMode="auto">
          <a:xfrm>
            <a:off x="1645796" y="5262316"/>
            <a:ext cx="1505540"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a:solidFill>
                  <a:srgbClr val="000000"/>
                </a:solidFill>
              </a:rPr>
              <a:t>lost ACK scenario</a:t>
            </a:r>
            <a:endParaRPr lang="en-US" sz="750" kern="0">
              <a:solidFill>
                <a:srgbClr val="000000"/>
              </a:solidFill>
            </a:endParaRPr>
          </a:p>
        </p:txBody>
      </p:sp>
      <p:sp>
        <p:nvSpPr>
          <p:cNvPr id="173" name="Text Box 107">
            <a:extLst>
              <a:ext uri="{FF2B5EF4-FFF2-40B4-BE49-F238E27FC236}">
                <a16:creationId xmlns:a16="http://schemas.microsoft.com/office/drawing/2014/main" id="{F3A3ACB5-362A-6544-B734-58B0D301B082}"/>
              </a:ext>
            </a:extLst>
          </p:cNvPr>
          <p:cNvSpPr txBox="1">
            <a:spLocks noChangeArrowheads="1"/>
          </p:cNvSpPr>
          <p:nvPr/>
        </p:nvSpPr>
        <p:spPr bwMode="auto">
          <a:xfrm>
            <a:off x="2951770" y="1745211"/>
            <a:ext cx="631904" cy="2769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Host B</a:t>
            </a:r>
          </a:p>
        </p:txBody>
      </p:sp>
      <p:sp>
        <p:nvSpPr>
          <p:cNvPr id="174" name="Text Box 111">
            <a:extLst>
              <a:ext uri="{FF2B5EF4-FFF2-40B4-BE49-F238E27FC236}">
                <a16:creationId xmlns:a16="http://schemas.microsoft.com/office/drawing/2014/main" id="{C335325B-B5CF-6043-990C-413A908C3855}"/>
              </a:ext>
            </a:extLst>
          </p:cNvPr>
          <p:cNvSpPr txBox="1">
            <a:spLocks noChangeArrowheads="1"/>
          </p:cNvSpPr>
          <p:nvPr/>
        </p:nvSpPr>
        <p:spPr bwMode="auto">
          <a:xfrm>
            <a:off x="1201941" y="1758308"/>
            <a:ext cx="633507" cy="2769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Host A</a:t>
            </a:r>
          </a:p>
        </p:txBody>
      </p:sp>
      <p:grpSp>
        <p:nvGrpSpPr>
          <p:cNvPr id="4" name="Group 3">
            <a:extLst>
              <a:ext uri="{FF2B5EF4-FFF2-40B4-BE49-F238E27FC236}">
                <a16:creationId xmlns:a16="http://schemas.microsoft.com/office/drawing/2014/main" id="{47AB30F9-BD3F-264E-8DF5-3B4B9CA352A7}"/>
              </a:ext>
            </a:extLst>
          </p:cNvPr>
          <p:cNvGrpSpPr/>
          <p:nvPr/>
        </p:nvGrpSpPr>
        <p:grpSpPr>
          <a:xfrm>
            <a:off x="1524052" y="2614367"/>
            <a:ext cx="1759744" cy="428625"/>
            <a:chOff x="2032069" y="2342822"/>
            <a:chExt cx="2346325" cy="571500"/>
          </a:xfrm>
        </p:grpSpPr>
        <p:sp>
          <p:nvSpPr>
            <p:cNvPr id="171" name="Line 100">
              <a:extLst>
                <a:ext uri="{FF2B5EF4-FFF2-40B4-BE49-F238E27FC236}">
                  <a16:creationId xmlns:a16="http://schemas.microsoft.com/office/drawing/2014/main" id="{9BCB851E-085B-9D4B-8A34-064757F2C932}"/>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75" name="Rectangle 112">
              <a:extLst>
                <a:ext uri="{FF2B5EF4-FFF2-40B4-BE49-F238E27FC236}">
                  <a16:creationId xmlns:a16="http://schemas.microsoft.com/office/drawing/2014/main" id="{B9ED3E7B-3C38-A24B-9528-FA547DDE0CDC}"/>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76" name="Text Box 113">
              <a:extLst>
                <a:ext uri="{FF2B5EF4-FFF2-40B4-BE49-F238E27FC236}">
                  <a16:creationId xmlns:a16="http://schemas.microsoft.com/office/drawing/2014/main" id="{08010453-6652-E348-AC57-7E9E8D356969}"/>
                </a:ext>
              </a:extLst>
            </p:cNvPr>
            <p:cNvSpPr txBox="1">
              <a:spLocks noChangeArrowheads="1"/>
            </p:cNvSpPr>
            <p:nvPr/>
          </p:nvSpPr>
          <p:spPr bwMode="auto">
            <a:xfrm>
              <a:off x="2137812" y="2476173"/>
              <a:ext cx="2163413"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Seq=92, 8 bytes of data</a:t>
              </a:r>
            </a:p>
          </p:txBody>
        </p:sp>
      </p:grpSp>
      <p:sp>
        <p:nvSpPr>
          <p:cNvPr id="179" name="Line 118">
            <a:extLst>
              <a:ext uri="{FF2B5EF4-FFF2-40B4-BE49-F238E27FC236}">
                <a16:creationId xmlns:a16="http://schemas.microsoft.com/office/drawing/2014/main" id="{5429E427-16E3-344A-A034-DAE0253AB97D}"/>
              </a:ext>
            </a:extLst>
          </p:cNvPr>
          <p:cNvSpPr>
            <a:spLocks noChangeShapeType="1"/>
          </p:cNvSpPr>
          <p:nvPr/>
        </p:nvSpPr>
        <p:spPr bwMode="auto">
          <a:xfrm>
            <a:off x="1508573" y="2433391"/>
            <a:ext cx="0" cy="2644379"/>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80" name="Line 119">
            <a:extLst>
              <a:ext uri="{FF2B5EF4-FFF2-40B4-BE49-F238E27FC236}">
                <a16:creationId xmlns:a16="http://schemas.microsoft.com/office/drawing/2014/main" id="{B685EEAE-4766-CE43-A2A6-32288A3FE5E9}"/>
              </a:ext>
            </a:extLst>
          </p:cNvPr>
          <p:cNvSpPr>
            <a:spLocks noChangeShapeType="1"/>
          </p:cNvSpPr>
          <p:nvPr/>
        </p:nvSpPr>
        <p:spPr bwMode="auto">
          <a:xfrm>
            <a:off x="3329039" y="2429820"/>
            <a:ext cx="0" cy="2653903"/>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nvGrpSpPr>
          <p:cNvPr id="8" name="Group 7">
            <a:extLst>
              <a:ext uri="{FF2B5EF4-FFF2-40B4-BE49-F238E27FC236}">
                <a16:creationId xmlns:a16="http://schemas.microsoft.com/office/drawing/2014/main" id="{F2169BDB-26D4-794C-AF29-1EBFE13D6C8F}"/>
              </a:ext>
            </a:extLst>
          </p:cNvPr>
          <p:cNvGrpSpPr/>
          <p:nvPr/>
        </p:nvGrpSpPr>
        <p:grpSpPr>
          <a:xfrm>
            <a:off x="1514527" y="3935961"/>
            <a:ext cx="1763315" cy="384572"/>
            <a:chOff x="2019369" y="4104947"/>
            <a:chExt cx="2351087" cy="512763"/>
          </a:xfrm>
        </p:grpSpPr>
        <p:sp>
          <p:nvSpPr>
            <p:cNvPr id="170" name="Line 99">
              <a:extLst>
                <a:ext uri="{FF2B5EF4-FFF2-40B4-BE49-F238E27FC236}">
                  <a16:creationId xmlns:a16="http://schemas.microsoft.com/office/drawing/2014/main" id="{79B38498-1004-6944-956A-ECE43F5BF0A1}"/>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81" name="Rectangle 122">
              <a:extLst>
                <a:ext uri="{FF2B5EF4-FFF2-40B4-BE49-F238E27FC236}">
                  <a16:creationId xmlns:a16="http://schemas.microsoft.com/office/drawing/2014/main" id="{60DDB655-86B1-2D4B-9108-1CEBCFF76AC9}"/>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82" name="Text Box 123">
              <a:extLst>
                <a:ext uri="{FF2B5EF4-FFF2-40B4-BE49-F238E27FC236}">
                  <a16:creationId xmlns:a16="http://schemas.microsoft.com/office/drawing/2014/main" id="{FB31845A-BC05-2942-A23F-7101518E3BF6}"/>
                </a:ext>
              </a:extLst>
            </p:cNvPr>
            <p:cNvSpPr txBox="1">
              <a:spLocks noChangeArrowheads="1"/>
            </p:cNvSpPr>
            <p:nvPr/>
          </p:nvSpPr>
          <p:spPr bwMode="auto">
            <a:xfrm>
              <a:off x="2126700" y="4185910"/>
              <a:ext cx="2163414"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a:solidFill>
                    <a:srgbClr val="000000"/>
                  </a:solidFill>
                </a:rPr>
                <a:t>Seq=92, 8 bytes of data</a:t>
              </a:r>
            </a:p>
          </p:txBody>
        </p:sp>
      </p:grpSp>
      <p:grpSp>
        <p:nvGrpSpPr>
          <p:cNvPr id="6" name="Group 5">
            <a:extLst>
              <a:ext uri="{FF2B5EF4-FFF2-40B4-BE49-F238E27FC236}">
                <a16:creationId xmlns:a16="http://schemas.microsoft.com/office/drawing/2014/main" id="{BDFBEB0F-AD33-9841-96A8-08332FBAA960}"/>
              </a:ext>
            </a:extLst>
          </p:cNvPr>
          <p:cNvGrpSpPr/>
          <p:nvPr/>
        </p:nvGrpSpPr>
        <p:grpSpPr>
          <a:xfrm>
            <a:off x="2119662" y="3110860"/>
            <a:ext cx="1136750" cy="496997"/>
            <a:chOff x="2826215" y="3004810"/>
            <a:chExt cx="1515666" cy="662662"/>
          </a:xfrm>
        </p:grpSpPr>
        <p:sp>
          <p:nvSpPr>
            <p:cNvPr id="172" name="Line 104">
              <a:extLst>
                <a:ext uri="{FF2B5EF4-FFF2-40B4-BE49-F238E27FC236}">
                  <a16:creationId xmlns:a16="http://schemas.microsoft.com/office/drawing/2014/main" id="{CDD77362-C693-4645-AF99-2BBCF441D31A}"/>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77" name="Rectangle 114">
              <a:extLst>
                <a:ext uri="{FF2B5EF4-FFF2-40B4-BE49-F238E27FC236}">
                  <a16:creationId xmlns:a16="http://schemas.microsoft.com/office/drawing/2014/main" id="{8B525616-75BA-9C49-973A-BD0F57E70412}"/>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78" name="Text Box 115">
              <a:extLst>
                <a:ext uri="{FF2B5EF4-FFF2-40B4-BE49-F238E27FC236}">
                  <a16:creationId xmlns:a16="http://schemas.microsoft.com/office/drawing/2014/main" id="{F3EC555B-6627-3C46-9C43-7AB97835B780}"/>
                </a:ext>
              </a:extLst>
            </p:cNvPr>
            <p:cNvSpPr txBox="1">
              <a:spLocks noChangeArrowheads="1"/>
            </p:cNvSpPr>
            <p:nvPr/>
          </p:nvSpPr>
          <p:spPr bwMode="auto">
            <a:xfrm>
              <a:off x="3187907" y="3046085"/>
              <a:ext cx="1022076"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000000"/>
                  </a:solidFill>
                  <a:latin typeface="Arial" charset="0"/>
                </a:rPr>
                <a:t>ACK=100</a:t>
              </a:r>
              <a:endParaRPr lang="en-US" sz="750" dirty="0">
                <a:solidFill>
                  <a:srgbClr val="000000"/>
                </a:solidFill>
                <a:latin typeface="Times New Roman" charset="0"/>
              </a:endParaRPr>
            </a:p>
          </p:txBody>
        </p:sp>
        <p:sp>
          <p:nvSpPr>
            <p:cNvPr id="183" name="Text Box 124">
              <a:extLst>
                <a:ext uri="{FF2B5EF4-FFF2-40B4-BE49-F238E27FC236}">
                  <a16:creationId xmlns:a16="http://schemas.microsoft.com/office/drawing/2014/main" id="{41BA4870-FF33-4142-991E-EDDE2B5293A4}"/>
                </a:ext>
              </a:extLst>
            </p:cNvPr>
            <p:cNvSpPr txBox="1">
              <a:spLocks noChangeArrowheads="1"/>
            </p:cNvSpPr>
            <p:nvPr/>
          </p:nvSpPr>
          <p:spPr bwMode="auto">
            <a:xfrm>
              <a:off x="2826215" y="3236585"/>
              <a:ext cx="421483" cy="430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b="1" kern="0">
                  <a:solidFill>
                    <a:srgbClr val="FF0000"/>
                  </a:solidFill>
                </a:rPr>
                <a:t>X</a:t>
              </a:r>
            </a:p>
          </p:txBody>
        </p:sp>
      </p:grpSp>
      <p:grpSp>
        <p:nvGrpSpPr>
          <p:cNvPr id="9" name="Group 8">
            <a:extLst>
              <a:ext uri="{FF2B5EF4-FFF2-40B4-BE49-F238E27FC236}">
                <a16:creationId xmlns:a16="http://schemas.microsoft.com/office/drawing/2014/main" id="{CA465D82-8FEB-3440-B371-2468D04E80CF}"/>
              </a:ext>
            </a:extLst>
          </p:cNvPr>
          <p:cNvGrpSpPr/>
          <p:nvPr/>
        </p:nvGrpSpPr>
        <p:grpSpPr>
          <a:xfrm>
            <a:off x="1506192" y="4384827"/>
            <a:ext cx="1753791" cy="586978"/>
            <a:chOff x="2008256" y="4703435"/>
            <a:chExt cx="2338388" cy="782637"/>
          </a:xfrm>
        </p:grpSpPr>
        <p:sp>
          <p:nvSpPr>
            <p:cNvPr id="185" name="Line 127">
              <a:extLst>
                <a:ext uri="{FF2B5EF4-FFF2-40B4-BE49-F238E27FC236}">
                  <a16:creationId xmlns:a16="http://schemas.microsoft.com/office/drawing/2014/main" id="{6B2D3167-D859-5D44-BBF6-C9AD75BFE46D}"/>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86" name="Rectangle 128">
              <a:extLst>
                <a:ext uri="{FF2B5EF4-FFF2-40B4-BE49-F238E27FC236}">
                  <a16:creationId xmlns:a16="http://schemas.microsoft.com/office/drawing/2014/main" id="{37A3DBF6-24FE-EF4F-8D6C-4ABC3854148F}"/>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87" name="Text Box 129">
              <a:extLst>
                <a:ext uri="{FF2B5EF4-FFF2-40B4-BE49-F238E27FC236}">
                  <a16:creationId xmlns:a16="http://schemas.microsoft.com/office/drawing/2014/main" id="{06DE42B2-117E-D241-8A87-B070A56CDFEA}"/>
                </a:ext>
              </a:extLst>
            </p:cNvPr>
            <p:cNvSpPr txBox="1">
              <a:spLocks noChangeArrowheads="1"/>
            </p:cNvSpPr>
            <p:nvPr/>
          </p:nvSpPr>
          <p:spPr bwMode="auto">
            <a:xfrm>
              <a:off x="2725944" y="4916160"/>
              <a:ext cx="1022076"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000000"/>
                  </a:solidFill>
                  <a:latin typeface="Arial" charset="0"/>
                </a:rPr>
                <a:t>ACK=100</a:t>
              </a:r>
              <a:endParaRPr lang="en-US" sz="750">
                <a:solidFill>
                  <a:srgbClr val="000000"/>
                </a:solidFill>
                <a:latin typeface="Times New Roman" charset="0"/>
              </a:endParaRPr>
            </a:p>
          </p:txBody>
        </p:sp>
      </p:grpSp>
      <p:grpSp>
        <p:nvGrpSpPr>
          <p:cNvPr id="7" name="Group 6">
            <a:extLst>
              <a:ext uri="{FF2B5EF4-FFF2-40B4-BE49-F238E27FC236}">
                <a16:creationId xmlns:a16="http://schemas.microsoft.com/office/drawing/2014/main" id="{9218D318-345A-1343-9E16-E2157D9EC9CA}"/>
              </a:ext>
            </a:extLst>
          </p:cNvPr>
          <p:cNvGrpSpPr/>
          <p:nvPr/>
        </p:nvGrpSpPr>
        <p:grpSpPr>
          <a:xfrm>
            <a:off x="1204481" y="2617939"/>
            <a:ext cx="346249" cy="1313259"/>
            <a:chOff x="1605974" y="2347585"/>
            <a:chExt cx="461665" cy="1751012"/>
          </a:xfrm>
        </p:grpSpPr>
        <p:sp>
          <p:nvSpPr>
            <p:cNvPr id="184" name="Text Box 126">
              <a:extLst>
                <a:ext uri="{FF2B5EF4-FFF2-40B4-BE49-F238E27FC236}">
                  <a16:creationId xmlns:a16="http://schemas.microsoft.com/office/drawing/2014/main" id="{708F4626-9140-0E43-9D62-AA0567E12965}"/>
                </a:ext>
              </a:extLst>
            </p:cNvPr>
            <p:cNvSpPr txBox="1">
              <a:spLocks noChangeArrowheads="1"/>
            </p:cNvSpPr>
            <p:nvPr/>
          </p:nvSpPr>
          <p:spPr bwMode="auto">
            <a:xfrm rot="10800000">
              <a:off x="1605974" y="2871009"/>
              <a:ext cx="461665" cy="7279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timeout</a:t>
              </a:r>
            </a:p>
          </p:txBody>
        </p:sp>
        <p:grpSp>
          <p:nvGrpSpPr>
            <p:cNvPr id="188" name="Group 134">
              <a:extLst>
                <a:ext uri="{FF2B5EF4-FFF2-40B4-BE49-F238E27FC236}">
                  <a16:creationId xmlns:a16="http://schemas.microsoft.com/office/drawing/2014/main" id="{A9BA4A8C-06E2-9D49-BA1F-308DB5A5179B}"/>
                </a:ext>
              </a:extLst>
            </p:cNvPr>
            <p:cNvGrpSpPr>
              <a:grpSpLocks/>
            </p:cNvGrpSpPr>
            <p:nvPr/>
          </p:nvGrpSpPr>
          <p:grpSpPr bwMode="auto">
            <a:xfrm>
              <a:off x="1779656" y="2347585"/>
              <a:ext cx="104775" cy="508000"/>
              <a:chOff x="3099" y="1749"/>
              <a:chExt cx="66" cy="320"/>
            </a:xfrm>
          </p:grpSpPr>
          <p:sp>
            <p:nvSpPr>
              <p:cNvPr id="189" name="Line 132">
                <a:extLst>
                  <a:ext uri="{FF2B5EF4-FFF2-40B4-BE49-F238E27FC236}">
                    <a16:creationId xmlns:a16="http://schemas.microsoft.com/office/drawing/2014/main" id="{9EFE05E8-2CD9-1641-9F8B-2FBC570F2364}"/>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90" name="Line 133">
                <a:extLst>
                  <a:ext uri="{FF2B5EF4-FFF2-40B4-BE49-F238E27FC236}">
                    <a16:creationId xmlns:a16="http://schemas.microsoft.com/office/drawing/2014/main" id="{65E827A8-0207-644E-85CB-90C7657D1F32}"/>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nvGrpSpPr>
            <p:cNvPr id="191" name="Group 135">
              <a:extLst>
                <a:ext uri="{FF2B5EF4-FFF2-40B4-BE49-F238E27FC236}">
                  <a16:creationId xmlns:a16="http://schemas.microsoft.com/office/drawing/2014/main" id="{0EF52FA7-3D6C-FA40-A158-75B80E576A89}"/>
                </a:ext>
              </a:extLst>
            </p:cNvPr>
            <p:cNvGrpSpPr>
              <a:grpSpLocks/>
            </p:cNvGrpSpPr>
            <p:nvPr/>
          </p:nvGrpSpPr>
          <p:grpSpPr bwMode="auto">
            <a:xfrm rot="10800000">
              <a:off x="1774894" y="3590597"/>
              <a:ext cx="104775" cy="508000"/>
              <a:chOff x="3099" y="1749"/>
              <a:chExt cx="66" cy="320"/>
            </a:xfrm>
          </p:grpSpPr>
          <p:sp>
            <p:nvSpPr>
              <p:cNvPr id="192" name="Line 136">
                <a:extLst>
                  <a:ext uri="{FF2B5EF4-FFF2-40B4-BE49-F238E27FC236}">
                    <a16:creationId xmlns:a16="http://schemas.microsoft.com/office/drawing/2014/main" id="{5229B570-0DC5-A34A-9912-9DC1EC3AF608}"/>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93" name="Line 137">
                <a:extLst>
                  <a:ext uri="{FF2B5EF4-FFF2-40B4-BE49-F238E27FC236}">
                    <a16:creationId xmlns:a16="http://schemas.microsoft.com/office/drawing/2014/main" id="{F842F667-D30F-4D4B-9510-3CA19042994E}"/>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sp>
        <p:nvSpPr>
          <p:cNvPr id="194" name="Text Box 172">
            <a:extLst>
              <a:ext uri="{FF2B5EF4-FFF2-40B4-BE49-F238E27FC236}">
                <a16:creationId xmlns:a16="http://schemas.microsoft.com/office/drawing/2014/main" id="{5B3CEA4D-B0D0-D04E-ADE8-909B1EDA7441}"/>
              </a:ext>
            </a:extLst>
          </p:cNvPr>
          <p:cNvSpPr txBox="1">
            <a:spLocks noChangeArrowheads="1"/>
          </p:cNvSpPr>
          <p:nvPr/>
        </p:nvSpPr>
        <p:spPr bwMode="auto">
          <a:xfrm>
            <a:off x="5787940" y="5262316"/>
            <a:ext cx="1617751"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a:solidFill>
                  <a:srgbClr val="000000"/>
                </a:solidFill>
              </a:rPr>
              <a:t>premature timeout</a:t>
            </a:r>
            <a:endParaRPr lang="en-US" sz="750" kern="0">
              <a:solidFill>
                <a:srgbClr val="000000"/>
              </a:solidFill>
            </a:endParaRPr>
          </a:p>
        </p:txBody>
      </p:sp>
      <p:sp>
        <p:nvSpPr>
          <p:cNvPr id="198" name="Text Box 177">
            <a:extLst>
              <a:ext uri="{FF2B5EF4-FFF2-40B4-BE49-F238E27FC236}">
                <a16:creationId xmlns:a16="http://schemas.microsoft.com/office/drawing/2014/main" id="{970D57D0-6509-F14E-A7FF-FFA09672DA95}"/>
              </a:ext>
            </a:extLst>
          </p:cNvPr>
          <p:cNvSpPr txBox="1">
            <a:spLocks noChangeArrowheads="1"/>
          </p:cNvSpPr>
          <p:nvPr/>
        </p:nvSpPr>
        <p:spPr bwMode="auto">
          <a:xfrm>
            <a:off x="7149424" y="1745211"/>
            <a:ext cx="631904" cy="2769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Host B</a:t>
            </a:r>
          </a:p>
        </p:txBody>
      </p:sp>
      <p:sp>
        <p:nvSpPr>
          <p:cNvPr id="199" name="Text Box 181">
            <a:extLst>
              <a:ext uri="{FF2B5EF4-FFF2-40B4-BE49-F238E27FC236}">
                <a16:creationId xmlns:a16="http://schemas.microsoft.com/office/drawing/2014/main" id="{5C9181D9-76B4-1547-B4C6-C03AC2F11CD9}"/>
              </a:ext>
            </a:extLst>
          </p:cNvPr>
          <p:cNvSpPr txBox="1">
            <a:spLocks noChangeArrowheads="1"/>
          </p:cNvSpPr>
          <p:nvPr/>
        </p:nvSpPr>
        <p:spPr bwMode="auto">
          <a:xfrm>
            <a:off x="5399595" y="1758308"/>
            <a:ext cx="633507" cy="2769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Host A</a:t>
            </a:r>
          </a:p>
        </p:txBody>
      </p:sp>
      <p:sp>
        <p:nvSpPr>
          <p:cNvPr id="205" name="Line 186">
            <a:extLst>
              <a:ext uri="{FF2B5EF4-FFF2-40B4-BE49-F238E27FC236}">
                <a16:creationId xmlns:a16="http://schemas.microsoft.com/office/drawing/2014/main" id="{DCFF6781-2E36-E241-A5F5-C0B04BC7CABB}"/>
              </a:ext>
            </a:extLst>
          </p:cNvPr>
          <p:cNvSpPr>
            <a:spLocks noChangeShapeType="1"/>
          </p:cNvSpPr>
          <p:nvPr/>
        </p:nvSpPr>
        <p:spPr bwMode="auto">
          <a:xfrm>
            <a:off x="5706227" y="2433391"/>
            <a:ext cx="0" cy="2644379"/>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06" name="Line 187">
            <a:extLst>
              <a:ext uri="{FF2B5EF4-FFF2-40B4-BE49-F238E27FC236}">
                <a16:creationId xmlns:a16="http://schemas.microsoft.com/office/drawing/2014/main" id="{9C6DC5B3-2960-3047-BC8D-684B3D849A13}"/>
              </a:ext>
            </a:extLst>
          </p:cNvPr>
          <p:cNvSpPr>
            <a:spLocks noChangeShapeType="1"/>
          </p:cNvSpPr>
          <p:nvPr/>
        </p:nvSpPr>
        <p:spPr bwMode="auto">
          <a:xfrm>
            <a:off x="7510025" y="2429820"/>
            <a:ext cx="0" cy="2653903"/>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07" name="Rectangle 188">
            <a:extLst>
              <a:ext uri="{FF2B5EF4-FFF2-40B4-BE49-F238E27FC236}">
                <a16:creationId xmlns:a16="http://schemas.microsoft.com/office/drawing/2014/main" id="{C15D63E4-15E1-BA4A-9606-42B07BDE7490}"/>
              </a:ext>
            </a:extLst>
          </p:cNvPr>
          <p:cNvSpPr>
            <a:spLocks noChangeArrowheads="1"/>
          </p:cNvSpPr>
          <p:nvPr/>
        </p:nvSpPr>
        <p:spPr bwMode="auto">
          <a:xfrm>
            <a:off x="6465847" y="4028829"/>
            <a:ext cx="792956" cy="3810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13" name="Group 12">
            <a:extLst>
              <a:ext uri="{FF2B5EF4-FFF2-40B4-BE49-F238E27FC236}">
                <a16:creationId xmlns:a16="http://schemas.microsoft.com/office/drawing/2014/main" id="{B716CABB-9429-2844-BE7D-347FDDC00473}"/>
              </a:ext>
            </a:extLst>
          </p:cNvPr>
          <p:cNvGrpSpPr/>
          <p:nvPr/>
        </p:nvGrpSpPr>
        <p:grpSpPr>
          <a:xfrm>
            <a:off x="5696703" y="3940723"/>
            <a:ext cx="1831181" cy="528608"/>
            <a:chOff x="7595603" y="4111297"/>
            <a:chExt cx="2441575" cy="704811"/>
          </a:xfrm>
        </p:grpSpPr>
        <p:sp>
          <p:nvSpPr>
            <p:cNvPr id="195" name="Line 173">
              <a:extLst>
                <a:ext uri="{FF2B5EF4-FFF2-40B4-BE49-F238E27FC236}">
                  <a16:creationId xmlns:a16="http://schemas.microsoft.com/office/drawing/2014/main" id="{3966F5D7-3131-A64E-88FC-C5DD67C3305E}"/>
                </a:ext>
              </a:extLst>
            </p:cNvPr>
            <p:cNvSpPr>
              <a:spLocks noChangeShapeType="1"/>
            </p:cNvSpPr>
            <p:nvPr/>
          </p:nvSpPr>
          <p:spPr bwMode="auto">
            <a:xfrm>
              <a:off x="7595603" y="4111297"/>
              <a:ext cx="2441575" cy="66516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08" name="Text Box 189">
              <a:extLst>
                <a:ext uri="{FF2B5EF4-FFF2-40B4-BE49-F238E27FC236}">
                  <a16:creationId xmlns:a16="http://schemas.microsoft.com/office/drawing/2014/main" id="{3EE494A8-6A2C-9F45-AA30-D5C659A717EE}"/>
                </a:ext>
              </a:extLst>
            </p:cNvPr>
            <p:cNvSpPr txBox="1">
              <a:spLocks noChangeArrowheads="1"/>
            </p:cNvSpPr>
            <p:nvPr/>
          </p:nvSpPr>
          <p:spPr bwMode="auto">
            <a:xfrm>
              <a:off x="8541752" y="4262110"/>
              <a:ext cx="1280692" cy="55399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050" kern="0" dirty="0">
                  <a:solidFill>
                    <a:srgbClr val="000000"/>
                  </a:solidFill>
                </a:rPr>
                <a:t>Seq=92,  8</a:t>
              </a:r>
            </a:p>
            <a:p>
              <a:pPr>
                <a:defRPr/>
              </a:pPr>
              <a:r>
                <a:rPr lang="en-US" sz="1050" kern="0" dirty="0">
                  <a:solidFill>
                    <a:srgbClr val="000000"/>
                  </a:solidFill>
                </a:rPr>
                <a:t>bytes of data</a:t>
              </a:r>
            </a:p>
          </p:txBody>
        </p:sp>
      </p:grpSp>
      <p:sp>
        <p:nvSpPr>
          <p:cNvPr id="211" name="Rectangle 193">
            <a:extLst>
              <a:ext uri="{FF2B5EF4-FFF2-40B4-BE49-F238E27FC236}">
                <a16:creationId xmlns:a16="http://schemas.microsoft.com/office/drawing/2014/main" id="{1BAF70E7-D466-2441-88C5-22FFEB1CAF5E}"/>
              </a:ext>
            </a:extLst>
          </p:cNvPr>
          <p:cNvSpPr>
            <a:spLocks noChangeArrowheads="1"/>
          </p:cNvSpPr>
          <p:nvPr/>
        </p:nvSpPr>
        <p:spPr bwMode="auto">
          <a:xfrm>
            <a:off x="6345593" y="4661051"/>
            <a:ext cx="560784" cy="18454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15" name="Group 14">
            <a:extLst>
              <a:ext uri="{FF2B5EF4-FFF2-40B4-BE49-F238E27FC236}">
                <a16:creationId xmlns:a16="http://schemas.microsoft.com/office/drawing/2014/main" id="{9E6A0178-9B0F-8A48-942B-60D872AAAD83}"/>
              </a:ext>
            </a:extLst>
          </p:cNvPr>
          <p:cNvGrpSpPr/>
          <p:nvPr/>
        </p:nvGrpSpPr>
        <p:grpSpPr>
          <a:xfrm>
            <a:off x="5720515" y="4468170"/>
            <a:ext cx="1753791" cy="586978"/>
            <a:chOff x="7627353" y="4814560"/>
            <a:chExt cx="2338388" cy="782637"/>
          </a:xfrm>
        </p:grpSpPr>
        <p:sp>
          <p:nvSpPr>
            <p:cNvPr id="210" name="Line 192">
              <a:extLst>
                <a:ext uri="{FF2B5EF4-FFF2-40B4-BE49-F238E27FC236}">
                  <a16:creationId xmlns:a16="http://schemas.microsoft.com/office/drawing/2014/main" id="{3827C940-37F6-2042-821B-DC7FC5969C64}"/>
                </a:ext>
              </a:extLst>
            </p:cNvPr>
            <p:cNvSpPr>
              <a:spLocks noChangeShapeType="1"/>
            </p:cNvSpPr>
            <p:nvPr/>
          </p:nvSpPr>
          <p:spPr bwMode="auto">
            <a:xfrm flipH="1">
              <a:off x="7627353" y="4814560"/>
              <a:ext cx="2338388" cy="7826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12" name="Text Box 194">
              <a:extLst>
                <a:ext uri="{FF2B5EF4-FFF2-40B4-BE49-F238E27FC236}">
                  <a16:creationId xmlns:a16="http://schemas.microsoft.com/office/drawing/2014/main" id="{7D3D6198-BDB0-DC4C-B2A5-2DBD9359B868}"/>
                </a:ext>
              </a:extLst>
            </p:cNvPr>
            <p:cNvSpPr txBox="1">
              <a:spLocks noChangeArrowheads="1"/>
            </p:cNvSpPr>
            <p:nvPr/>
          </p:nvSpPr>
          <p:spPr bwMode="auto">
            <a:xfrm>
              <a:off x="8345041" y="5027285"/>
              <a:ext cx="1022076"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000000"/>
                  </a:solidFill>
                  <a:latin typeface="Arial" charset="0"/>
                </a:rPr>
                <a:t>ACK=120</a:t>
              </a:r>
              <a:endParaRPr lang="en-US" sz="750" dirty="0">
                <a:solidFill>
                  <a:srgbClr val="000000"/>
                </a:solidFill>
                <a:latin typeface="Times New Roman" charset="0"/>
              </a:endParaRPr>
            </a:p>
          </p:txBody>
        </p:sp>
      </p:grpSp>
      <p:grpSp>
        <p:nvGrpSpPr>
          <p:cNvPr id="10" name="Group 9">
            <a:extLst>
              <a:ext uri="{FF2B5EF4-FFF2-40B4-BE49-F238E27FC236}">
                <a16:creationId xmlns:a16="http://schemas.microsoft.com/office/drawing/2014/main" id="{31CBCB81-D9E2-8D44-8B58-3A8203D0290F}"/>
              </a:ext>
            </a:extLst>
          </p:cNvPr>
          <p:cNvGrpSpPr/>
          <p:nvPr/>
        </p:nvGrpSpPr>
        <p:grpSpPr>
          <a:xfrm>
            <a:off x="5402134" y="2617939"/>
            <a:ext cx="346249" cy="1313259"/>
            <a:chOff x="7202846" y="2347585"/>
            <a:chExt cx="461665" cy="1751012"/>
          </a:xfrm>
        </p:grpSpPr>
        <p:sp>
          <p:nvSpPr>
            <p:cNvPr id="209" name="Text Box 191">
              <a:extLst>
                <a:ext uri="{FF2B5EF4-FFF2-40B4-BE49-F238E27FC236}">
                  <a16:creationId xmlns:a16="http://schemas.microsoft.com/office/drawing/2014/main" id="{D65DE059-0ADE-BA43-86FA-261D968382D9}"/>
                </a:ext>
              </a:extLst>
            </p:cNvPr>
            <p:cNvSpPr txBox="1">
              <a:spLocks noChangeArrowheads="1"/>
            </p:cNvSpPr>
            <p:nvPr/>
          </p:nvSpPr>
          <p:spPr bwMode="auto">
            <a:xfrm rot="10800000">
              <a:off x="7202846" y="2871009"/>
              <a:ext cx="461665" cy="7279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a:solidFill>
                    <a:srgbClr val="000000"/>
                  </a:solidFill>
                </a:rPr>
                <a:t>timeout</a:t>
              </a:r>
            </a:p>
          </p:txBody>
        </p:sp>
        <p:grpSp>
          <p:nvGrpSpPr>
            <p:cNvPr id="213" name="Group 195">
              <a:extLst>
                <a:ext uri="{FF2B5EF4-FFF2-40B4-BE49-F238E27FC236}">
                  <a16:creationId xmlns:a16="http://schemas.microsoft.com/office/drawing/2014/main" id="{FD63DE3D-F3EB-7747-87C5-F31E049B82E4}"/>
                </a:ext>
              </a:extLst>
            </p:cNvPr>
            <p:cNvGrpSpPr>
              <a:grpSpLocks/>
            </p:cNvGrpSpPr>
            <p:nvPr/>
          </p:nvGrpSpPr>
          <p:grpSpPr bwMode="auto">
            <a:xfrm>
              <a:off x="7376528" y="2347585"/>
              <a:ext cx="104775" cy="508000"/>
              <a:chOff x="3099" y="1749"/>
              <a:chExt cx="66" cy="320"/>
            </a:xfrm>
          </p:grpSpPr>
          <p:sp>
            <p:nvSpPr>
              <p:cNvPr id="214" name="Line 196">
                <a:extLst>
                  <a:ext uri="{FF2B5EF4-FFF2-40B4-BE49-F238E27FC236}">
                    <a16:creationId xmlns:a16="http://schemas.microsoft.com/office/drawing/2014/main" id="{F7116EE1-F7FA-8E4C-BC16-6BA1240EF8FC}"/>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15" name="Line 197">
                <a:extLst>
                  <a:ext uri="{FF2B5EF4-FFF2-40B4-BE49-F238E27FC236}">
                    <a16:creationId xmlns:a16="http://schemas.microsoft.com/office/drawing/2014/main" id="{057CB57E-4B2F-8C47-97F5-D0924F70DC97}"/>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nvGrpSpPr>
            <p:cNvPr id="216" name="Group 198">
              <a:extLst>
                <a:ext uri="{FF2B5EF4-FFF2-40B4-BE49-F238E27FC236}">
                  <a16:creationId xmlns:a16="http://schemas.microsoft.com/office/drawing/2014/main" id="{2E37771D-0A96-C34C-9C6B-504E80416ADC}"/>
                </a:ext>
              </a:extLst>
            </p:cNvPr>
            <p:cNvGrpSpPr>
              <a:grpSpLocks/>
            </p:cNvGrpSpPr>
            <p:nvPr/>
          </p:nvGrpSpPr>
          <p:grpSpPr bwMode="auto">
            <a:xfrm rot="10800000">
              <a:off x="7371766" y="3590597"/>
              <a:ext cx="104775" cy="508000"/>
              <a:chOff x="3099" y="1749"/>
              <a:chExt cx="66" cy="320"/>
            </a:xfrm>
          </p:grpSpPr>
          <p:sp>
            <p:nvSpPr>
              <p:cNvPr id="217" name="Line 199">
                <a:extLst>
                  <a:ext uri="{FF2B5EF4-FFF2-40B4-BE49-F238E27FC236}">
                    <a16:creationId xmlns:a16="http://schemas.microsoft.com/office/drawing/2014/main" id="{8E20D991-E195-FF4D-88F7-684DF42E9E14}"/>
                  </a:ext>
                </a:extLst>
              </p:cNvPr>
              <p:cNvSpPr>
                <a:spLocks noChangeShapeType="1"/>
              </p:cNvSpPr>
              <p:nvPr/>
            </p:nvSpPr>
            <p:spPr bwMode="auto">
              <a:xfrm flipV="1">
                <a:off x="3137" y="1756"/>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18" name="Line 200">
                <a:extLst>
                  <a:ext uri="{FF2B5EF4-FFF2-40B4-BE49-F238E27FC236}">
                    <a16:creationId xmlns:a16="http://schemas.microsoft.com/office/drawing/2014/main" id="{22C60B84-78BE-7345-BBC2-2490BC4DEFD3}"/>
                  </a:ext>
                </a:extLst>
              </p:cNvPr>
              <p:cNvSpPr>
                <a:spLocks noChangeShapeType="1"/>
              </p:cNvSpPr>
              <p:nvPr/>
            </p:nvSpPr>
            <p:spPr bwMode="auto">
              <a:xfrm>
                <a:off x="3107" y="1759"/>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grpSp>
        <p:nvGrpSpPr>
          <p:cNvPr id="12" name="Group 11">
            <a:extLst>
              <a:ext uri="{FF2B5EF4-FFF2-40B4-BE49-F238E27FC236}">
                <a16:creationId xmlns:a16="http://schemas.microsoft.com/office/drawing/2014/main" id="{A4259714-F109-3243-BC51-888D64DBCE91}"/>
              </a:ext>
            </a:extLst>
          </p:cNvPr>
          <p:cNvGrpSpPr/>
          <p:nvPr/>
        </p:nvGrpSpPr>
        <p:grpSpPr>
          <a:xfrm>
            <a:off x="5702656" y="3110858"/>
            <a:ext cx="1754981" cy="1458515"/>
            <a:chOff x="7603541" y="3004810"/>
            <a:chExt cx="2339975" cy="1944687"/>
          </a:xfrm>
        </p:grpSpPr>
        <p:sp>
          <p:nvSpPr>
            <p:cNvPr id="197" name="Line 175">
              <a:extLst>
                <a:ext uri="{FF2B5EF4-FFF2-40B4-BE49-F238E27FC236}">
                  <a16:creationId xmlns:a16="http://schemas.microsoft.com/office/drawing/2014/main" id="{C6151221-64CD-0A4D-8DCC-7243A0014631}"/>
                </a:ext>
              </a:extLst>
            </p:cNvPr>
            <p:cNvSpPr>
              <a:spLocks noChangeShapeType="1"/>
            </p:cNvSpPr>
            <p:nvPr/>
          </p:nvSpPr>
          <p:spPr bwMode="auto">
            <a:xfrm flipH="1">
              <a:off x="7603541" y="3004810"/>
              <a:ext cx="2335212" cy="1589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02" name="Group 202">
              <a:extLst>
                <a:ext uri="{FF2B5EF4-FFF2-40B4-BE49-F238E27FC236}">
                  <a16:creationId xmlns:a16="http://schemas.microsoft.com/office/drawing/2014/main" id="{D30CD59C-C944-CF4F-B17A-64886A573C0F}"/>
                </a:ext>
              </a:extLst>
            </p:cNvPr>
            <p:cNvGrpSpPr>
              <a:grpSpLocks/>
            </p:cNvGrpSpPr>
            <p:nvPr/>
          </p:nvGrpSpPr>
          <p:grpSpPr bwMode="auto">
            <a:xfrm>
              <a:off x="8470322" y="3496940"/>
              <a:ext cx="1022351" cy="338138"/>
              <a:chOff x="4193" y="2253"/>
              <a:chExt cx="644" cy="213"/>
            </a:xfrm>
          </p:grpSpPr>
          <p:sp>
            <p:nvSpPr>
              <p:cNvPr id="203" name="Rectangle 184">
                <a:extLst>
                  <a:ext uri="{FF2B5EF4-FFF2-40B4-BE49-F238E27FC236}">
                    <a16:creationId xmlns:a16="http://schemas.microsoft.com/office/drawing/2014/main" id="{38FC2E88-8043-CE4C-A502-AFA317824443}"/>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04" name="Text Box 185">
                <a:extLst>
                  <a:ext uri="{FF2B5EF4-FFF2-40B4-BE49-F238E27FC236}">
                    <a16:creationId xmlns:a16="http://schemas.microsoft.com/office/drawing/2014/main" id="{7BF7DF1E-2F02-9D41-B7BC-991A51E982F6}"/>
                  </a:ext>
                </a:extLst>
              </p:cNvPr>
              <p:cNvSpPr txBox="1">
                <a:spLocks noChangeArrowheads="1"/>
              </p:cNvSpPr>
              <p:nvPr/>
            </p:nvSpPr>
            <p:spPr bwMode="auto">
              <a:xfrm>
                <a:off x="4193" y="2253"/>
                <a:ext cx="644" cy="2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grpSp>
        <p:sp>
          <p:nvSpPr>
            <p:cNvPr id="223" name="Line 207">
              <a:extLst>
                <a:ext uri="{FF2B5EF4-FFF2-40B4-BE49-F238E27FC236}">
                  <a16:creationId xmlns:a16="http://schemas.microsoft.com/office/drawing/2014/main" id="{00ED8980-6CB4-9148-B161-8172F2430A06}"/>
                </a:ext>
              </a:extLst>
            </p:cNvPr>
            <p:cNvSpPr>
              <a:spLocks noChangeShapeType="1"/>
            </p:cNvSpPr>
            <p:nvPr/>
          </p:nvSpPr>
          <p:spPr bwMode="auto">
            <a:xfrm flipH="1">
              <a:off x="7608303" y="3360410"/>
              <a:ext cx="2335213" cy="1589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24" name="Group 208">
              <a:extLst>
                <a:ext uri="{FF2B5EF4-FFF2-40B4-BE49-F238E27FC236}">
                  <a16:creationId xmlns:a16="http://schemas.microsoft.com/office/drawing/2014/main" id="{6EE49A40-BE68-654E-AAC3-24E6E2BB625A}"/>
                </a:ext>
              </a:extLst>
            </p:cNvPr>
            <p:cNvGrpSpPr>
              <a:grpSpLocks/>
            </p:cNvGrpSpPr>
            <p:nvPr/>
          </p:nvGrpSpPr>
          <p:grpSpPr bwMode="auto">
            <a:xfrm>
              <a:off x="8710034" y="3773165"/>
              <a:ext cx="1022351" cy="338138"/>
              <a:chOff x="4193" y="2253"/>
              <a:chExt cx="644" cy="213"/>
            </a:xfrm>
          </p:grpSpPr>
          <p:sp>
            <p:nvSpPr>
              <p:cNvPr id="225" name="Rectangle 209">
                <a:extLst>
                  <a:ext uri="{FF2B5EF4-FFF2-40B4-BE49-F238E27FC236}">
                    <a16:creationId xmlns:a16="http://schemas.microsoft.com/office/drawing/2014/main" id="{25CA1210-B468-0040-9898-13C2587BDB0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26" name="Text Box 210">
                <a:extLst>
                  <a:ext uri="{FF2B5EF4-FFF2-40B4-BE49-F238E27FC236}">
                    <a16:creationId xmlns:a16="http://schemas.microsoft.com/office/drawing/2014/main" id="{8918B79C-3FE7-FC4C-B606-5C7CA33715A9}"/>
                  </a:ext>
                </a:extLst>
              </p:cNvPr>
              <p:cNvSpPr txBox="1">
                <a:spLocks noChangeArrowheads="1"/>
              </p:cNvSpPr>
              <p:nvPr/>
            </p:nvSpPr>
            <p:spPr bwMode="auto">
              <a:xfrm>
                <a:off x="4193" y="2253"/>
                <a:ext cx="644" cy="2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a:solidFill>
                      <a:srgbClr val="000000"/>
                    </a:solidFill>
                    <a:latin typeface="Arial" charset="0"/>
                  </a:rPr>
                  <a:t>ACK=120</a:t>
                </a:r>
                <a:endParaRPr lang="en-US" sz="750" kern="0">
                  <a:solidFill>
                    <a:srgbClr val="000000"/>
                  </a:solidFill>
                  <a:latin typeface="Times New Roman" charset="0"/>
                </a:endParaRPr>
              </a:p>
            </p:txBody>
          </p:sp>
        </p:grpSp>
      </p:grpSp>
      <p:grpSp>
        <p:nvGrpSpPr>
          <p:cNvPr id="14" name="Group 13">
            <a:extLst>
              <a:ext uri="{FF2B5EF4-FFF2-40B4-BE49-F238E27FC236}">
                <a16:creationId xmlns:a16="http://schemas.microsoft.com/office/drawing/2014/main" id="{CD914285-EBDF-1947-9C97-6E8CD760020F}"/>
              </a:ext>
            </a:extLst>
          </p:cNvPr>
          <p:cNvGrpSpPr/>
          <p:nvPr/>
        </p:nvGrpSpPr>
        <p:grpSpPr>
          <a:xfrm>
            <a:off x="4652902" y="4169326"/>
            <a:ext cx="1093430" cy="509901"/>
            <a:chOff x="6203870" y="4416097"/>
            <a:chExt cx="1457907" cy="679867"/>
          </a:xfrm>
        </p:grpSpPr>
        <p:sp>
          <p:nvSpPr>
            <p:cNvPr id="227" name="Text Box 211">
              <a:extLst>
                <a:ext uri="{FF2B5EF4-FFF2-40B4-BE49-F238E27FC236}">
                  <a16:creationId xmlns:a16="http://schemas.microsoft.com/office/drawing/2014/main" id="{1E82E105-7918-0E47-A934-825752F52D6B}"/>
                </a:ext>
              </a:extLst>
            </p:cNvPr>
            <p:cNvSpPr txBox="1">
              <a:spLocks noChangeArrowheads="1"/>
            </p:cNvSpPr>
            <p:nvPr/>
          </p:nvSpPr>
          <p:spPr bwMode="auto">
            <a:xfrm>
              <a:off x="6203870" y="4416097"/>
              <a:ext cx="1438856"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err="1">
                  <a:solidFill>
                    <a:srgbClr val="000000"/>
                  </a:solidFill>
                </a:rPr>
                <a:t>SendBase</a:t>
              </a:r>
              <a:r>
                <a:rPr lang="en-US" sz="1050" kern="0" dirty="0">
                  <a:solidFill>
                    <a:srgbClr val="000000"/>
                  </a:solidFill>
                </a:rPr>
                <a:t>=100</a:t>
              </a:r>
            </a:p>
          </p:txBody>
        </p:sp>
        <p:sp>
          <p:nvSpPr>
            <p:cNvPr id="228" name="Text Box 212">
              <a:extLst>
                <a:ext uri="{FF2B5EF4-FFF2-40B4-BE49-F238E27FC236}">
                  <a16:creationId xmlns:a16="http://schemas.microsoft.com/office/drawing/2014/main" id="{387E9E87-069A-FA4A-9F20-9DB5B471A427}"/>
                </a:ext>
              </a:extLst>
            </p:cNvPr>
            <p:cNvSpPr txBox="1">
              <a:spLocks noChangeArrowheads="1"/>
            </p:cNvSpPr>
            <p:nvPr/>
          </p:nvSpPr>
          <p:spPr bwMode="auto">
            <a:xfrm>
              <a:off x="6222921" y="4757410"/>
              <a:ext cx="1438856"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err="1">
                  <a:solidFill>
                    <a:srgbClr val="000000"/>
                  </a:solidFill>
                </a:rPr>
                <a:t>SendBase</a:t>
              </a:r>
              <a:r>
                <a:rPr lang="en-US" sz="1050" kern="0" dirty="0">
                  <a:solidFill>
                    <a:srgbClr val="000000"/>
                  </a:solidFill>
                </a:rPr>
                <a:t>=120</a:t>
              </a:r>
            </a:p>
          </p:txBody>
        </p:sp>
      </p:grpSp>
      <p:sp>
        <p:nvSpPr>
          <p:cNvPr id="229" name="Text Box 213">
            <a:extLst>
              <a:ext uri="{FF2B5EF4-FFF2-40B4-BE49-F238E27FC236}">
                <a16:creationId xmlns:a16="http://schemas.microsoft.com/office/drawing/2014/main" id="{31AD8D03-5F21-0F49-8D71-B6031900CD41}"/>
              </a:ext>
            </a:extLst>
          </p:cNvPr>
          <p:cNvSpPr txBox="1">
            <a:spLocks noChangeArrowheads="1"/>
          </p:cNvSpPr>
          <p:nvPr/>
        </p:nvSpPr>
        <p:spPr bwMode="auto">
          <a:xfrm>
            <a:off x="4681477" y="4931323"/>
            <a:ext cx="1079142"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err="1">
                <a:solidFill>
                  <a:srgbClr val="000000"/>
                </a:solidFill>
              </a:rPr>
              <a:t>SendBase</a:t>
            </a:r>
            <a:r>
              <a:rPr lang="en-US" sz="1050" kern="0" dirty="0">
                <a:solidFill>
                  <a:srgbClr val="000000"/>
                </a:solidFill>
              </a:rPr>
              <a:t>=120</a:t>
            </a:r>
          </a:p>
        </p:txBody>
      </p:sp>
      <p:grpSp>
        <p:nvGrpSpPr>
          <p:cNvPr id="11" name="Group 10">
            <a:extLst>
              <a:ext uri="{FF2B5EF4-FFF2-40B4-BE49-F238E27FC236}">
                <a16:creationId xmlns:a16="http://schemas.microsoft.com/office/drawing/2014/main" id="{5474E6BB-CCA6-CC47-8617-346673F363BD}"/>
              </a:ext>
            </a:extLst>
          </p:cNvPr>
          <p:cNvGrpSpPr/>
          <p:nvPr/>
        </p:nvGrpSpPr>
        <p:grpSpPr>
          <a:xfrm>
            <a:off x="4702273" y="2497685"/>
            <a:ext cx="2786322" cy="834629"/>
            <a:chOff x="6269697" y="2187247"/>
            <a:chExt cx="3715095" cy="1112838"/>
          </a:xfrm>
        </p:grpSpPr>
        <p:sp>
          <p:nvSpPr>
            <p:cNvPr id="196" name="Line 174">
              <a:extLst>
                <a:ext uri="{FF2B5EF4-FFF2-40B4-BE49-F238E27FC236}">
                  <a16:creationId xmlns:a16="http://schemas.microsoft.com/office/drawing/2014/main" id="{FF81BD19-4683-8144-8837-5193B3691D8F}"/>
                </a:ext>
              </a:extLst>
            </p:cNvPr>
            <p:cNvSpPr>
              <a:spLocks noChangeShapeType="1"/>
            </p:cNvSpPr>
            <p:nvPr/>
          </p:nvSpPr>
          <p:spPr bwMode="auto">
            <a:xfrm>
              <a:off x="7628941" y="2342822"/>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00" name="Rectangle 182">
              <a:extLst>
                <a:ext uri="{FF2B5EF4-FFF2-40B4-BE49-F238E27FC236}">
                  <a16:creationId xmlns:a16="http://schemas.microsoft.com/office/drawing/2014/main" id="{C74BFDE4-D3AE-5C4E-B670-449D49B67C22}"/>
                </a:ext>
              </a:extLst>
            </p:cNvPr>
            <p:cNvSpPr>
              <a:spLocks noChangeArrowheads="1"/>
            </p:cNvSpPr>
            <p:nvPr/>
          </p:nvSpPr>
          <p:spPr bwMode="auto">
            <a:xfrm>
              <a:off x="8332203" y="2423785"/>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01" name="Text Box 183">
              <a:extLst>
                <a:ext uri="{FF2B5EF4-FFF2-40B4-BE49-F238E27FC236}">
                  <a16:creationId xmlns:a16="http://schemas.microsoft.com/office/drawing/2014/main" id="{B8140015-E345-EE4A-90B6-3552DAC43E5C}"/>
                </a:ext>
              </a:extLst>
            </p:cNvPr>
            <p:cNvSpPr txBox="1">
              <a:spLocks noChangeArrowheads="1"/>
            </p:cNvSpPr>
            <p:nvPr/>
          </p:nvSpPr>
          <p:spPr bwMode="auto">
            <a:xfrm>
              <a:off x="7734684" y="2476172"/>
              <a:ext cx="2163413"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Seq=92, 8 bytes of data</a:t>
              </a:r>
            </a:p>
          </p:txBody>
        </p:sp>
        <p:grpSp>
          <p:nvGrpSpPr>
            <p:cNvPr id="219" name="Group 206">
              <a:extLst>
                <a:ext uri="{FF2B5EF4-FFF2-40B4-BE49-F238E27FC236}">
                  <a16:creationId xmlns:a16="http://schemas.microsoft.com/office/drawing/2014/main" id="{C3DB656C-371F-854E-81A2-904083BC4AF6}"/>
                </a:ext>
              </a:extLst>
            </p:cNvPr>
            <p:cNvGrpSpPr>
              <a:grpSpLocks/>
            </p:cNvGrpSpPr>
            <p:nvPr/>
          </p:nvGrpSpPr>
          <p:grpSpPr bwMode="auto">
            <a:xfrm>
              <a:off x="7614654" y="2728585"/>
              <a:ext cx="2370138" cy="571500"/>
              <a:chOff x="3759" y="1622"/>
              <a:chExt cx="1493" cy="360"/>
            </a:xfrm>
          </p:grpSpPr>
          <p:sp>
            <p:nvSpPr>
              <p:cNvPr id="220" name="Line 203">
                <a:extLst>
                  <a:ext uri="{FF2B5EF4-FFF2-40B4-BE49-F238E27FC236}">
                    <a16:creationId xmlns:a16="http://schemas.microsoft.com/office/drawing/2014/main" id="{90E12E5A-5437-8944-A28F-2F13C852A4D2}"/>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21" name="Rectangle 204">
                <a:extLst>
                  <a:ext uri="{FF2B5EF4-FFF2-40B4-BE49-F238E27FC236}">
                    <a16:creationId xmlns:a16="http://schemas.microsoft.com/office/drawing/2014/main" id="{7550E74D-2DAE-BC48-88DC-FF5E0936D8AA}"/>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22" name="Text Box 205">
                <a:extLst>
                  <a:ext uri="{FF2B5EF4-FFF2-40B4-BE49-F238E27FC236}">
                    <a16:creationId xmlns:a16="http://schemas.microsoft.com/office/drawing/2014/main" id="{1863CB88-8ADD-294C-BE46-8D80EEB9E9FE}"/>
                  </a:ext>
                </a:extLst>
              </p:cNvPr>
              <p:cNvSpPr txBox="1">
                <a:spLocks noChangeArrowheads="1"/>
              </p:cNvSpPr>
              <p:nvPr/>
            </p:nvSpPr>
            <p:spPr bwMode="auto">
              <a:xfrm>
                <a:off x="3765" y="1706"/>
                <a:ext cx="1487" cy="2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a:solidFill>
                      <a:srgbClr val="000000"/>
                    </a:solidFill>
                  </a:rPr>
                  <a:t>Seq=100, 20 bytes of data</a:t>
                </a:r>
              </a:p>
            </p:txBody>
          </p:sp>
        </p:grpSp>
        <p:sp>
          <p:nvSpPr>
            <p:cNvPr id="230" name="Text Box 214">
              <a:extLst>
                <a:ext uri="{FF2B5EF4-FFF2-40B4-BE49-F238E27FC236}">
                  <a16:creationId xmlns:a16="http://schemas.microsoft.com/office/drawing/2014/main" id="{8333BF3A-4F52-4F44-921F-4BAD57A4119A}"/>
                </a:ext>
              </a:extLst>
            </p:cNvPr>
            <p:cNvSpPr txBox="1">
              <a:spLocks noChangeArrowheads="1"/>
            </p:cNvSpPr>
            <p:nvPr/>
          </p:nvSpPr>
          <p:spPr bwMode="auto">
            <a:xfrm>
              <a:off x="6269697" y="2187247"/>
              <a:ext cx="1340537" cy="33855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err="1">
                  <a:solidFill>
                    <a:srgbClr val="000000"/>
                  </a:solidFill>
                </a:rPr>
                <a:t>SendBase</a:t>
              </a:r>
              <a:r>
                <a:rPr lang="en-US" sz="1050" kern="0" dirty="0">
                  <a:solidFill>
                    <a:srgbClr val="000000"/>
                  </a:solidFill>
                </a:rPr>
                <a:t>=92</a:t>
              </a:r>
            </a:p>
          </p:txBody>
        </p:sp>
      </p:grpSp>
      <p:grpSp>
        <p:nvGrpSpPr>
          <p:cNvPr id="231" name="Group 219">
            <a:extLst>
              <a:ext uri="{FF2B5EF4-FFF2-40B4-BE49-F238E27FC236}">
                <a16:creationId xmlns:a16="http://schemas.microsoft.com/office/drawing/2014/main" id="{2259D372-4B08-6D4E-A450-9719B81C5E51}"/>
              </a:ext>
            </a:extLst>
          </p:cNvPr>
          <p:cNvGrpSpPr>
            <a:grpSpLocks/>
          </p:cNvGrpSpPr>
          <p:nvPr/>
        </p:nvGrpSpPr>
        <p:grpSpPr bwMode="auto">
          <a:xfrm>
            <a:off x="5389521" y="1954760"/>
            <a:ext cx="472679" cy="400050"/>
            <a:chOff x="-44" y="1473"/>
            <a:chExt cx="981" cy="1105"/>
          </a:xfrm>
        </p:grpSpPr>
        <p:pic>
          <p:nvPicPr>
            <p:cNvPr id="232" name="Picture 220" descr="desktop_computer_stylized_medium">
              <a:extLst>
                <a:ext uri="{FF2B5EF4-FFF2-40B4-BE49-F238E27FC236}">
                  <a16:creationId xmlns:a16="http://schemas.microsoft.com/office/drawing/2014/main" id="{2D27C27D-9556-884F-AE7C-167179E6E06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221">
              <a:extLst>
                <a:ext uri="{FF2B5EF4-FFF2-40B4-BE49-F238E27FC236}">
                  <a16:creationId xmlns:a16="http://schemas.microsoft.com/office/drawing/2014/main" id="{7E825289-4A0B-4346-8F90-2D5646E5B4C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234" name="Group 225">
            <a:extLst>
              <a:ext uri="{FF2B5EF4-FFF2-40B4-BE49-F238E27FC236}">
                <a16:creationId xmlns:a16="http://schemas.microsoft.com/office/drawing/2014/main" id="{E20B8076-92C2-A04F-B618-A3527994FF6A}"/>
              </a:ext>
            </a:extLst>
          </p:cNvPr>
          <p:cNvGrpSpPr>
            <a:grpSpLocks/>
          </p:cNvGrpSpPr>
          <p:nvPr/>
        </p:nvGrpSpPr>
        <p:grpSpPr bwMode="auto">
          <a:xfrm flipH="1">
            <a:off x="7314762" y="1959523"/>
            <a:ext cx="473869" cy="466725"/>
            <a:chOff x="-44" y="1473"/>
            <a:chExt cx="981" cy="1105"/>
          </a:xfrm>
        </p:grpSpPr>
        <p:pic>
          <p:nvPicPr>
            <p:cNvPr id="235" name="Picture 226" descr="desktop_computer_stylized_medium">
              <a:extLst>
                <a:ext uri="{FF2B5EF4-FFF2-40B4-BE49-F238E27FC236}">
                  <a16:creationId xmlns:a16="http://schemas.microsoft.com/office/drawing/2014/main" id="{892509C8-70E3-9344-BECE-67F22233D0F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 name="Freeform 227">
              <a:extLst>
                <a:ext uri="{FF2B5EF4-FFF2-40B4-BE49-F238E27FC236}">
                  <a16:creationId xmlns:a16="http://schemas.microsoft.com/office/drawing/2014/main" id="{36FE986B-8994-0941-B989-B811ADDEEE3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237" name="Group 228">
            <a:extLst>
              <a:ext uri="{FF2B5EF4-FFF2-40B4-BE49-F238E27FC236}">
                <a16:creationId xmlns:a16="http://schemas.microsoft.com/office/drawing/2014/main" id="{F8939732-2442-144E-A5BB-23D63EE09D71}"/>
              </a:ext>
            </a:extLst>
          </p:cNvPr>
          <p:cNvGrpSpPr>
            <a:grpSpLocks/>
          </p:cNvGrpSpPr>
          <p:nvPr/>
        </p:nvGrpSpPr>
        <p:grpSpPr bwMode="auto">
          <a:xfrm>
            <a:off x="1201392" y="1963095"/>
            <a:ext cx="472679" cy="400050"/>
            <a:chOff x="-44" y="1473"/>
            <a:chExt cx="981" cy="1105"/>
          </a:xfrm>
        </p:grpSpPr>
        <p:pic>
          <p:nvPicPr>
            <p:cNvPr id="238" name="Picture 229" descr="desktop_computer_stylized_medium">
              <a:extLst>
                <a:ext uri="{FF2B5EF4-FFF2-40B4-BE49-F238E27FC236}">
                  <a16:creationId xmlns:a16="http://schemas.microsoft.com/office/drawing/2014/main" id="{D7F5765B-05B0-5245-99DA-1820CD6FB8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Freeform 230">
              <a:extLst>
                <a:ext uri="{FF2B5EF4-FFF2-40B4-BE49-F238E27FC236}">
                  <a16:creationId xmlns:a16="http://schemas.microsoft.com/office/drawing/2014/main" id="{D897DE15-A97F-F848-8C0A-B28F47B3323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240" name="Group 231">
            <a:extLst>
              <a:ext uri="{FF2B5EF4-FFF2-40B4-BE49-F238E27FC236}">
                <a16:creationId xmlns:a16="http://schemas.microsoft.com/office/drawing/2014/main" id="{E145A84A-1570-9C46-A817-B68A25E966D9}"/>
              </a:ext>
            </a:extLst>
          </p:cNvPr>
          <p:cNvGrpSpPr>
            <a:grpSpLocks/>
          </p:cNvGrpSpPr>
          <p:nvPr/>
        </p:nvGrpSpPr>
        <p:grpSpPr bwMode="auto">
          <a:xfrm flipH="1">
            <a:off x="3134967" y="1951189"/>
            <a:ext cx="532210" cy="450056"/>
            <a:chOff x="-44" y="1473"/>
            <a:chExt cx="981" cy="1105"/>
          </a:xfrm>
        </p:grpSpPr>
        <p:pic>
          <p:nvPicPr>
            <p:cNvPr id="241" name="Picture 232" descr="desktop_computer_stylized_medium">
              <a:extLst>
                <a:ext uri="{FF2B5EF4-FFF2-40B4-BE49-F238E27FC236}">
                  <a16:creationId xmlns:a16="http://schemas.microsoft.com/office/drawing/2014/main" id="{332C004D-ED3A-7348-8EC0-DF65AFEC655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 name="Freeform 233">
              <a:extLst>
                <a:ext uri="{FF2B5EF4-FFF2-40B4-BE49-F238E27FC236}">
                  <a16:creationId xmlns:a16="http://schemas.microsoft.com/office/drawing/2014/main" id="{A74C9FB1-2D29-F14B-8569-8E203840CFB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sp>
        <p:nvSpPr>
          <p:cNvPr id="19" name="TextBox 18">
            <a:extLst>
              <a:ext uri="{FF2B5EF4-FFF2-40B4-BE49-F238E27FC236}">
                <a16:creationId xmlns:a16="http://schemas.microsoft.com/office/drawing/2014/main" id="{8C70D25B-261A-724E-991C-E91D345300FB}"/>
              </a:ext>
            </a:extLst>
          </p:cNvPr>
          <p:cNvSpPr txBox="1"/>
          <p:nvPr/>
        </p:nvSpPr>
        <p:spPr>
          <a:xfrm>
            <a:off x="7480058" y="4238625"/>
            <a:ext cx="1241365" cy="424732"/>
          </a:xfrm>
          <a:prstGeom prst="rect">
            <a:avLst/>
          </a:prstGeom>
          <a:noFill/>
        </p:spPr>
        <p:txBody>
          <a:bodyPr wrap="none" rtlCol="0">
            <a:spAutoFit/>
          </a:bodyPr>
          <a:lstStyle/>
          <a:p>
            <a:pPr eaLnBrk="1" fontAlgn="auto" hangingPunct="1">
              <a:lnSpc>
                <a:spcPct val="90000"/>
              </a:lnSpc>
              <a:spcBef>
                <a:spcPts val="0"/>
              </a:spcBef>
              <a:spcAft>
                <a:spcPts val="0"/>
              </a:spcAft>
              <a:defRPr/>
            </a:pPr>
            <a:r>
              <a:rPr lang="en-US" sz="1200" dirty="0">
                <a:solidFill>
                  <a:srgbClr val="C00000"/>
                </a:solidFill>
                <a:latin typeface="Calibri"/>
                <a:ea typeface="+mn-ea"/>
              </a:rPr>
              <a:t>send cumulative </a:t>
            </a:r>
          </a:p>
          <a:p>
            <a:pPr eaLnBrk="1" fontAlgn="auto" hangingPunct="1">
              <a:lnSpc>
                <a:spcPct val="90000"/>
              </a:lnSpc>
              <a:spcBef>
                <a:spcPts val="0"/>
              </a:spcBef>
              <a:spcAft>
                <a:spcPts val="0"/>
              </a:spcAft>
              <a:defRPr/>
            </a:pPr>
            <a:r>
              <a:rPr lang="en-US" sz="1200" dirty="0">
                <a:solidFill>
                  <a:srgbClr val="C00000"/>
                </a:solidFill>
                <a:latin typeface="Calibri"/>
                <a:ea typeface="+mn-ea"/>
              </a:rPr>
              <a:t>ACK for 120</a:t>
            </a:r>
          </a:p>
        </p:txBody>
      </p:sp>
      <p:sp>
        <p:nvSpPr>
          <p:cNvPr id="89" name="Slide Number Placeholder 2">
            <a:extLst>
              <a:ext uri="{FF2B5EF4-FFF2-40B4-BE49-F238E27FC236}">
                <a16:creationId xmlns:a16="http://schemas.microsoft.com/office/drawing/2014/main" id="{9219ABA9-4F40-D04C-A34A-87A2AE31AF28}"/>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68</a:t>
            </a:fld>
            <a:endParaRPr lang="en-US" dirty="0">
              <a:solidFill>
                <a:prstClr val="white">
                  <a:lumMod val="50000"/>
                </a:prstClr>
              </a:solidFill>
            </a:endParaRPr>
          </a:p>
        </p:txBody>
      </p:sp>
    </p:spTree>
    <p:extLst>
      <p:ext uri="{BB962C8B-B14F-4D97-AF65-F5344CB8AC3E}">
        <p14:creationId xmlns:p14="http://schemas.microsoft.com/office/powerpoint/2010/main" val="802737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righ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500"/>
                            </p:stCondLst>
                            <p:childTnLst>
                              <p:par>
                                <p:cTn id="31" presetID="22" presetClass="entr" presetSubtype="2"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500"/>
                                        <p:tgtEl>
                                          <p:spTgt spid="12"/>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dissolve">
                                      <p:cBhvr>
                                        <p:cTn id="50" dur="500"/>
                                        <p:tgtEl>
                                          <p:spTgt spid="19"/>
                                        </p:tgtEl>
                                      </p:cBhvr>
                                    </p:animEffect>
                                  </p:childTnLst>
                                </p:cTn>
                              </p:par>
                            </p:childTnLst>
                          </p:cTn>
                        </p:par>
                        <p:par>
                          <p:cTn id="51" fill="hold">
                            <p:stCondLst>
                              <p:cond delay="1500"/>
                            </p:stCondLst>
                            <p:childTnLst>
                              <p:par>
                                <p:cTn id="52" presetID="22" presetClass="entr" presetSubtype="2"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right)">
                                      <p:cBhvr>
                                        <p:cTn id="54" dur="500"/>
                                        <p:tgtEl>
                                          <p:spTgt spid="15"/>
                                        </p:tgtEl>
                                      </p:cBhvr>
                                    </p:animEffect>
                                  </p:childTnLst>
                                </p:cTn>
                              </p:par>
                            </p:childTnLst>
                          </p:cTn>
                        </p:par>
                        <p:par>
                          <p:cTn id="55" fill="hold">
                            <p:stCondLst>
                              <p:cond delay="2000"/>
                            </p:stCondLst>
                            <p:childTnLst>
                              <p:par>
                                <p:cTn id="56" presetID="9" presetClass="entr" presetSubtype="0" fill="hold" grpId="0" nodeType="afterEffect">
                                  <p:stCondLst>
                                    <p:cond delay="0"/>
                                  </p:stCondLst>
                                  <p:childTnLst>
                                    <p:set>
                                      <p:cBhvr>
                                        <p:cTn id="57" dur="1" fill="hold">
                                          <p:stCondLst>
                                            <p:cond delay="0"/>
                                          </p:stCondLst>
                                        </p:cTn>
                                        <p:tgtEl>
                                          <p:spTgt spid="229"/>
                                        </p:tgtEl>
                                        <p:attrNameLst>
                                          <p:attrName>style.visibility</p:attrName>
                                        </p:attrNameLst>
                                      </p:cBhvr>
                                      <p:to>
                                        <p:strVal val="visible"/>
                                      </p:to>
                                    </p:set>
                                    <p:animEffect transition="in" filter="dissolve">
                                      <p:cBhvr>
                                        <p:cTn id="58"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p:bldP spid="1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retransmission scenarios</a:t>
            </a:r>
            <a:endParaRPr lang="en-US" b="0" dirty="0"/>
          </a:p>
        </p:txBody>
      </p:sp>
      <p:sp>
        <p:nvSpPr>
          <p:cNvPr id="119" name="Text Box 34">
            <a:extLst>
              <a:ext uri="{FF2B5EF4-FFF2-40B4-BE49-F238E27FC236}">
                <a16:creationId xmlns:a16="http://schemas.microsoft.com/office/drawing/2014/main" id="{ADFB94EB-2205-5C4D-A60C-0BE52074D9EF}"/>
              </a:ext>
            </a:extLst>
          </p:cNvPr>
          <p:cNvSpPr txBox="1">
            <a:spLocks noChangeArrowheads="1"/>
          </p:cNvSpPr>
          <p:nvPr/>
        </p:nvSpPr>
        <p:spPr bwMode="auto">
          <a:xfrm>
            <a:off x="1426604" y="4972051"/>
            <a:ext cx="1907147" cy="5078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dirty="0">
                <a:solidFill>
                  <a:srgbClr val="000000"/>
                </a:solidFill>
              </a:rPr>
              <a:t>cumulative ACK covers for earlier lost ACK</a:t>
            </a:r>
            <a:endParaRPr lang="en-US" sz="750" kern="0" dirty="0">
              <a:solidFill>
                <a:srgbClr val="000000"/>
              </a:solidFill>
            </a:endParaRPr>
          </a:p>
        </p:txBody>
      </p:sp>
      <p:sp>
        <p:nvSpPr>
          <p:cNvPr id="121" name="Line 36">
            <a:extLst>
              <a:ext uri="{FF2B5EF4-FFF2-40B4-BE49-F238E27FC236}">
                <a16:creationId xmlns:a16="http://schemas.microsoft.com/office/drawing/2014/main" id="{CCBE06AD-8A86-F04F-8691-D7894B915278}"/>
              </a:ext>
            </a:extLst>
          </p:cNvPr>
          <p:cNvSpPr>
            <a:spLocks noChangeShapeType="1"/>
          </p:cNvSpPr>
          <p:nvPr/>
        </p:nvSpPr>
        <p:spPr bwMode="auto">
          <a:xfrm>
            <a:off x="1529850" y="2619037"/>
            <a:ext cx="1759744" cy="4286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3" name="Text Box 39">
            <a:extLst>
              <a:ext uri="{FF2B5EF4-FFF2-40B4-BE49-F238E27FC236}">
                <a16:creationId xmlns:a16="http://schemas.microsoft.com/office/drawing/2014/main" id="{97669ECF-79A1-4D41-8748-0027E9432529}"/>
              </a:ext>
            </a:extLst>
          </p:cNvPr>
          <p:cNvSpPr txBox="1">
            <a:spLocks noChangeArrowheads="1"/>
          </p:cNvSpPr>
          <p:nvPr/>
        </p:nvSpPr>
        <p:spPr bwMode="auto">
          <a:xfrm>
            <a:off x="2948043" y="1740356"/>
            <a:ext cx="631904" cy="2769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Host B</a:t>
            </a:r>
          </a:p>
        </p:txBody>
      </p:sp>
      <p:sp>
        <p:nvSpPr>
          <p:cNvPr id="124" name="Text Box 43">
            <a:extLst>
              <a:ext uri="{FF2B5EF4-FFF2-40B4-BE49-F238E27FC236}">
                <a16:creationId xmlns:a16="http://schemas.microsoft.com/office/drawing/2014/main" id="{0992C83B-4206-984D-AB17-6BDBF1D64593}"/>
              </a:ext>
            </a:extLst>
          </p:cNvPr>
          <p:cNvSpPr txBox="1">
            <a:spLocks noChangeArrowheads="1"/>
          </p:cNvSpPr>
          <p:nvPr/>
        </p:nvSpPr>
        <p:spPr bwMode="auto">
          <a:xfrm>
            <a:off x="1207739" y="1762978"/>
            <a:ext cx="633507" cy="2769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Host A</a:t>
            </a:r>
          </a:p>
        </p:txBody>
      </p:sp>
      <p:sp>
        <p:nvSpPr>
          <p:cNvPr id="125" name="Rectangle 44">
            <a:extLst>
              <a:ext uri="{FF2B5EF4-FFF2-40B4-BE49-F238E27FC236}">
                <a16:creationId xmlns:a16="http://schemas.microsoft.com/office/drawing/2014/main" id="{831F8853-027A-294B-AA6D-ACCABA945CDE}"/>
              </a:ext>
            </a:extLst>
          </p:cNvPr>
          <p:cNvSpPr>
            <a:spLocks noChangeArrowheads="1"/>
          </p:cNvSpPr>
          <p:nvPr/>
        </p:nvSpPr>
        <p:spPr bwMode="auto">
          <a:xfrm>
            <a:off x="2057296" y="2679759"/>
            <a:ext cx="652463" cy="30122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6" name="Text Box 45">
            <a:extLst>
              <a:ext uri="{FF2B5EF4-FFF2-40B4-BE49-F238E27FC236}">
                <a16:creationId xmlns:a16="http://schemas.microsoft.com/office/drawing/2014/main" id="{8D027E41-059B-A348-B661-6F2DD0666670}"/>
              </a:ext>
            </a:extLst>
          </p:cNvPr>
          <p:cNvSpPr txBox="1">
            <a:spLocks noChangeArrowheads="1"/>
          </p:cNvSpPr>
          <p:nvPr/>
        </p:nvSpPr>
        <p:spPr bwMode="auto">
          <a:xfrm>
            <a:off x="1609157" y="2719049"/>
            <a:ext cx="1622560"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a:solidFill>
                  <a:srgbClr val="000000"/>
                </a:solidFill>
              </a:rPr>
              <a:t>Seq=92, 8 bytes of data</a:t>
            </a:r>
          </a:p>
        </p:txBody>
      </p:sp>
      <p:sp>
        <p:nvSpPr>
          <p:cNvPr id="130" name="Line 49">
            <a:extLst>
              <a:ext uri="{FF2B5EF4-FFF2-40B4-BE49-F238E27FC236}">
                <a16:creationId xmlns:a16="http://schemas.microsoft.com/office/drawing/2014/main" id="{7554A1BA-7B17-9947-9957-0D23896F869A}"/>
              </a:ext>
            </a:extLst>
          </p:cNvPr>
          <p:cNvSpPr>
            <a:spLocks noChangeShapeType="1"/>
          </p:cNvSpPr>
          <p:nvPr/>
        </p:nvSpPr>
        <p:spPr bwMode="auto">
          <a:xfrm>
            <a:off x="1514372" y="2438062"/>
            <a:ext cx="0" cy="2644379"/>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31" name="Line 50">
            <a:extLst>
              <a:ext uri="{FF2B5EF4-FFF2-40B4-BE49-F238E27FC236}">
                <a16:creationId xmlns:a16="http://schemas.microsoft.com/office/drawing/2014/main" id="{CBDA8AA8-732F-A344-BAE1-68752D7E6D4A}"/>
              </a:ext>
            </a:extLst>
          </p:cNvPr>
          <p:cNvSpPr>
            <a:spLocks noChangeShapeType="1"/>
          </p:cNvSpPr>
          <p:nvPr/>
        </p:nvSpPr>
        <p:spPr bwMode="auto">
          <a:xfrm>
            <a:off x="3318169" y="2434491"/>
            <a:ext cx="0" cy="2653903"/>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15CBAF7E-F641-074E-A960-6453A9AD2BBF}"/>
              </a:ext>
            </a:extLst>
          </p:cNvPr>
          <p:cNvGrpSpPr/>
          <p:nvPr/>
        </p:nvGrpSpPr>
        <p:grpSpPr>
          <a:xfrm>
            <a:off x="1507228" y="4181137"/>
            <a:ext cx="1989535" cy="659606"/>
            <a:chOff x="2035037" y="4444549"/>
            <a:chExt cx="2652713" cy="879475"/>
          </a:xfrm>
        </p:grpSpPr>
        <p:sp>
          <p:nvSpPr>
            <p:cNvPr id="120" name="Line 35">
              <a:extLst>
                <a:ext uri="{FF2B5EF4-FFF2-40B4-BE49-F238E27FC236}">
                  <a16:creationId xmlns:a16="http://schemas.microsoft.com/office/drawing/2014/main" id="{2F729834-AA00-3F49-9DAA-5799D25FBE77}"/>
                </a:ext>
              </a:extLst>
            </p:cNvPr>
            <p:cNvSpPr>
              <a:spLocks noChangeShapeType="1"/>
            </p:cNvSpPr>
            <p:nvPr/>
          </p:nvSpPr>
          <p:spPr bwMode="auto">
            <a:xfrm>
              <a:off x="2063612" y="4444549"/>
              <a:ext cx="2441575" cy="66516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2" name="Rectangle 51">
              <a:extLst>
                <a:ext uri="{FF2B5EF4-FFF2-40B4-BE49-F238E27FC236}">
                  <a16:creationId xmlns:a16="http://schemas.microsoft.com/office/drawing/2014/main" id="{5452ECDA-B3E0-374F-AC96-350658E75BBD}"/>
                </a:ext>
              </a:extLst>
            </p:cNvPr>
            <p:cNvSpPr>
              <a:spLocks noChangeArrowheads="1"/>
            </p:cNvSpPr>
            <p:nvPr/>
          </p:nvSpPr>
          <p:spPr bwMode="auto">
            <a:xfrm>
              <a:off x="2760525" y="4517574"/>
              <a:ext cx="933450" cy="5080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3" name="Text Box 52">
              <a:extLst>
                <a:ext uri="{FF2B5EF4-FFF2-40B4-BE49-F238E27FC236}">
                  <a16:creationId xmlns:a16="http://schemas.microsoft.com/office/drawing/2014/main" id="{CE55EEB5-1B37-394C-A536-E0960B386C84}"/>
                </a:ext>
              </a:extLst>
            </p:cNvPr>
            <p:cNvSpPr txBox="1">
              <a:spLocks noChangeArrowheads="1"/>
            </p:cNvSpPr>
            <p:nvPr/>
          </p:nvSpPr>
          <p:spPr bwMode="auto">
            <a:xfrm>
              <a:off x="2035037" y="4604886"/>
              <a:ext cx="2652713"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050" kern="0" dirty="0">
                  <a:solidFill>
                    <a:srgbClr val="000000"/>
                  </a:solidFill>
                </a:rPr>
                <a:t>Seq=120,  15 bytes of data</a:t>
              </a:r>
            </a:p>
          </p:txBody>
        </p:sp>
        <p:sp>
          <p:nvSpPr>
            <p:cNvPr id="134" name="Rectangle 55">
              <a:extLst>
                <a:ext uri="{FF2B5EF4-FFF2-40B4-BE49-F238E27FC236}">
                  <a16:creationId xmlns:a16="http://schemas.microsoft.com/office/drawing/2014/main" id="{448E8CE2-468E-C147-BBB6-851B8973F0A4}"/>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grpSp>
        <p:nvGrpSpPr>
          <p:cNvPr id="143" name="Group 63">
            <a:extLst>
              <a:ext uri="{FF2B5EF4-FFF2-40B4-BE49-F238E27FC236}">
                <a16:creationId xmlns:a16="http://schemas.microsoft.com/office/drawing/2014/main" id="{C3C010AE-BE43-6F47-963B-D6CB3155D42B}"/>
              </a:ext>
            </a:extLst>
          </p:cNvPr>
          <p:cNvGrpSpPr>
            <a:grpSpLocks/>
          </p:cNvGrpSpPr>
          <p:nvPr/>
        </p:nvGrpSpPr>
        <p:grpSpPr bwMode="auto">
          <a:xfrm>
            <a:off x="1519133" y="2908359"/>
            <a:ext cx="1777603" cy="428625"/>
            <a:chOff x="3759" y="1622"/>
            <a:chExt cx="1493" cy="360"/>
          </a:xfrm>
        </p:grpSpPr>
        <p:sp>
          <p:nvSpPr>
            <p:cNvPr id="144" name="Line 64">
              <a:extLst>
                <a:ext uri="{FF2B5EF4-FFF2-40B4-BE49-F238E27FC236}">
                  <a16:creationId xmlns:a16="http://schemas.microsoft.com/office/drawing/2014/main" id="{1530CC4E-B289-DB44-8685-B440E2B60DE1}"/>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45" name="Rectangle 65">
              <a:extLst>
                <a:ext uri="{FF2B5EF4-FFF2-40B4-BE49-F238E27FC236}">
                  <a16:creationId xmlns:a16="http://schemas.microsoft.com/office/drawing/2014/main" id="{FE817F64-FB48-EB47-B984-31AC87976FF4}"/>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46" name="Text Box 66">
              <a:extLst>
                <a:ext uri="{FF2B5EF4-FFF2-40B4-BE49-F238E27FC236}">
                  <a16:creationId xmlns:a16="http://schemas.microsoft.com/office/drawing/2014/main" id="{F1525CD3-6EAD-8B46-AE7B-D63A2D957330}"/>
                </a:ext>
              </a:extLst>
            </p:cNvPr>
            <p:cNvSpPr txBox="1">
              <a:spLocks noChangeArrowheads="1"/>
            </p:cNvSpPr>
            <p:nvPr/>
          </p:nvSpPr>
          <p:spPr bwMode="auto">
            <a:xfrm>
              <a:off x="3765" y="1706"/>
              <a:ext cx="1487" cy="2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a:solidFill>
                    <a:srgbClr val="000000"/>
                  </a:solidFill>
                </a:rPr>
                <a:t>Seq=100, 20 bytes of data</a:t>
              </a:r>
            </a:p>
          </p:txBody>
        </p:sp>
      </p:grpSp>
      <p:grpSp>
        <p:nvGrpSpPr>
          <p:cNvPr id="4" name="Group 3">
            <a:extLst>
              <a:ext uri="{FF2B5EF4-FFF2-40B4-BE49-F238E27FC236}">
                <a16:creationId xmlns:a16="http://schemas.microsoft.com/office/drawing/2014/main" id="{AEA8CEC7-4316-034E-9A10-D1758AB5C1E8}"/>
              </a:ext>
            </a:extLst>
          </p:cNvPr>
          <p:cNvGrpSpPr/>
          <p:nvPr/>
        </p:nvGrpSpPr>
        <p:grpSpPr>
          <a:xfrm>
            <a:off x="1522706" y="3115528"/>
            <a:ext cx="1743075" cy="1035844"/>
            <a:chOff x="2030275" y="3011037"/>
            <a:chExt cx="2324100" cy="1381125"/>
          </a:xfrm>
        </p:grpSpPr>
        <p:sp>
          <p:nvSpPr>
            <p:cNvPr id="118" name="Text Box 22">
              <a:extLst>
                <a:ext uri="{FF2B5EF4-FFF2-40B4-BE49-F238E27FC236}">
                  <a16:creationId xmlns:a16="http://schemas.microsoft.com/office/drawing/2014/main" id="{26DC4EAE-1D60-F74E-A59A-4591BEF7DB8A}"/>
                </a:ext>
              </a:extLst>
            </p:cNvPr>
            <p:cNvSpPr txBox="1">
              <a:spLocks noChangeArrowheads="1"/>
            </p:cNvSpPr>
            <p:nvPr/>
          </p:nvSpPr>
          <p:spPr bwMode="auto">
            <a:xfrm>
              <a:off x="2622808" y="3372988"/>
              <a:ext cx="421483" cy="430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b="1" kern="0">
                  <a:solidFill>
                    <a:srgbClr val="FF0000"/>
                  </a:solidFill>
                </a:rPr>
                <a:t>X</a:t>
              </a:r>
            </a:p>
          </p:txBody>
        </p:sp>
        <p:sp>
          <p:nvSpPr>
            <p:cNvPr id="122" name="Line 37">
              <a:extLst>
                <a:ext uri="{FF2B5EF4-FFF2-40B4-BE49-F238E27FC236}">
                  <a16:creationId xmlns:a16="http://schemas.microsoft.com/office/drawing/2014/main" id="{F82F123D-402E-6549-ACF5-E00DB455230B}"/>
                </a:ext>
              </a:extLst>
            </p:cNvPr>
            <p:cNvSpPr>
              <a:spLocks noChangeShapeType="1"/>
            </p:cNvSpPr>
            <p:nvPr/>
          </p:nvSpPr>
          <p:spPr bwMode="auto">
            <a:xfrm flipH="1">
              <a:off x="2917687" y="3011037"/>
              <a:ext cx="1431925" cy="573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127" name="Group 46">
              <a:extLst>
                <a:ext uri="{FF2B5EF4-FFF2-40B4-BE49-F238E27FC236}">
                  <a16:creationId xmlns:a16="http://schemas.microsoft.com/office/drawing/2014/main" id="{324855DF-61E7-B748-8BCC-0D83D44C7E23}"/>
                </a:ext>
              </a:extLst>
            </p:cNvPr>
            <p:cNvGrpSpPr>
              <a:grpSpLocks/>
            </p:cNvGrpSpPr>
            <p:nvPr/>
          </p:nvGrpSpPr>
          <p:grpSpPr bwMode="auto">
            <a:xfrm>
              <a:off x="2904993" y="3211067"/>
              <a:ext cx="1022351" cy="338138"/>
              <a:chOff x="4193" y="2253"/>
              <a:chExt cx="644" cy="213"/>
            </a:xfrm>
          </p:grpSpPr>
          <p:sp>
            <p:nvSpPr>
              <p:cNvPr id="128" name="Rectangle 47">
                <a:extLst>
                  <a:ext uri="{FF2B5EF4-FFF2-40B4-BE49-F238E27FC236}">
                    <a16:creationId xmlns:a16="http://schemas.microsoft.com/office/drawing/2014/main" id="{9FB09B08-6C10-9344-B5F2-19059A82D4DA}"/>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29" name="Text Box 48">
                <a:extLst>
                  <a:ext uri="{FF2B5EF4-FFF2-40B4-BE49-F238E27FC236}">
                    <a16:creationId xmlns:a16="http://schemas.microsoft.com/office/drawing/2014/main" id="{53E02B34-B365-F741-81B4-3CC6B76EE9BD}"/>
                  </a:ext>
                </a:extLst>
              </p:cNvPr>
              <p:cNvSpPr txBox="1">
                <a:spLocks noChangeArrowheads="1"/>
              </p:cNvSpPr>
              <p:nvPr/>
            </p:nvSpPr>
            <p:spPr bwMode="auto">
              <a:xfrm>
                <a:off x="4193" y="2253"/>
                <a:ext cx="644" cy="2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grpSp>
        <p:sp>
          <p:nvSpPr>
            <p:cNvPr id="147" name="Line 67">
              <a:extLst>
                <a:ext uri="{FF2B5EF4-FFF2-40B4-BE49-F238E27FC236}">
                  <a16:creationId xmlns:a16="http://schemas.microsoft.com/office/drawing/2014/main" id="{3A9C7800-3C25-D246-B475-A10782D1A42F}"/>
                </a:ext>
              </a:extLst>
            </p:cNvPr>
            <p:cNvSpPr>
              <a:spLocks noChangeShapeType="1"/>
            </p:cNvSpPr>
            <p:nvPr/>
          </p:nvSpPr>
          <p:spPr bwMode="auto">
            <a:xfrm flipH="1">
              <a:off x="2030275" y="3366637"/>
              <a:ext cx="2324100" cy="10255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148" name="Group 68">
              <a:extLst>
                <a:ext uri="{FF2B5EF4-FFF2-40B4-BE49-F238E27FC236}">
                  <a16:creationId xmlns:a16="http://schemas.microsoft.com/office/drawing/2014/main" id="{17041CF4-B3BE-AC4C-8F4D-F6EFAD312E20}"/>
                </a:ext>
              </a:extLst>
            </p:cNvPr>
            <p:cNvGrpSpPr>
              <a:grpSpLocks/>
            </p:cNvGrpSpPr>
            <p:nvPr/>
          </p:nvGrpSpPr>
          <p:grpSpPr bwMode="auto">
            <a:xfrm>
              <a:off x="2638293" y="3768279"/>
              <a:ext cx="1022351" cy="338138"/>
              <a:chOff x="4193" y="2253"/>
              <a:chExt cx="644" cy="213"/>
            </a:xfrm>
          </p:grpSpPr>
          <p:sp>
            <p:nvSpPr>
              <p:cNvPr id="149" name="Rectangle 69">
                <a:extLst>
                  <a:ext uri="{FF2B5EF4-FFF2-40B4-BE49-F238E27FC236}">
                    <a16:creationId xmlns:a16="http://schemas.microsoft.com/office/drawing/2014/main" id="{3AAC76A6-2B0F-6244-8FEC-36E70DA156C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0" name="Text Box 70">
                <a:extLst>
                  <a:ext uri="{FF2B5EF4-FFF2-40B4-BE49-F238E27FC236}">
                    <a16:creationId xmlns:a16="http://schemas.microsoft.com/office/drawing/2014/main" id="{821F7D19-F8C8-AE45-80AF-5153ED6D8304}"/>
                  </a:ext>
                </a:extLst>
              </p:cNvPr>
              <p:cNvSpPr txBox="1">
                <a:spLocks noChangeArrowheads="1"/>
              </p:cNvSpPr>
              <p:nvPr/>
            </p:nvSpPr>
            <p:spPr bwMode="auto">
              <a:xfrm>
                <a:off x="4193" y="2253"/>
                <a:ext cx="644" cy="2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a:solidFill>
                      <a:srgbClr val="000000"/>
                    </a:solidFill>
                    <a:latin typeface="Arial" charset="0"/>
                  </a:rPr>
                  <a:t>ACK=120</a:t>
                </a:r>
                <a:endParaRPr lang="en-US" sz="750" kern="0">
                  <a:solidFill>
                    <a:srgbClr val="000000"/>
                  </a:solidFill>
                  <a:latin typeface="Times New Roman" charset="0"/>
                </a:endParaRPr>
              </a:p>
            </p:txBody>
          </p:sp>
        </p:grpSp>
      </p:grpSp>
      <p:grpSp>
        <p:nvGrpSpPr>
          <p:cNvPr id="151" name="Group 84">
            <a:extLst>
              <a:ext uri="{FF2B5EF4-FFF2-40B4-BE49-F238E27FC236}">
                <a16:creationId xmlns:a16="http://schemas.microsoft.com/office/drawing/2014/main" id="{A513F213-614E-9644-8CDB-349CE9C0E465}"/>
              </a:ext>
            </a:extLst>
          </p:cNvPr>
          <p:cNvGrpSpPr>
            <a:grpSpLocks/>
          </p:cNvGrpSpPr>
          <p:nvPr/>
        </p:nvGrpSpPr>
        <p:grpSpPr bwMode="auto">
          <a:xfrm>
            <a:off x="1198857" y="1959431"/>
            <a:ext cx="472678" cy="400050"/>
            <a:chOff x="-44" y="1473"/>
            <a:chExt cx="981" cy="1105"/>
          </a:xfrm>
        </p:grpSpPr>
        <p:pic>
          <p:nvPicPr>
            <p:cNvPr id="152" name="Picture 85" descr="desktop_computer_stylized_medium">
              <a:extLst>
                <a:ext uri="{FF2B5EF4-FFF2-40B4-BE49-F238E27FC236}">
                  <a16:creationId xmlns:a16="http://schemas.microsoft.com/office/drawing/2014/main" id="{9BBAD69B-B04A-1542-BCB4-1BBB280A55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Freeform 86">
              <a:extLst>
                <a:ext uri="{FF2B5EF4-FFF2-40B4-BE49-F238E27FC236}">
                  <a16:creationId xmlns:a16="http://schemas.microsoft.com/office/drawing/2014/main" id="{B7171269-7915-9C4F-B3F9-C51F59FC719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154" name="Group 87">
            <a:extLst>
              <a:ext uri="{FF2B5EF4-FFF2-40B4-BE49-F238E27FC236}">
                <a16:creationId xmlns:a16="http://schemas.microsoft.com/office/drawing/2014/main" id="{C16FC996-18F5-D44A-B06A-968A8827AE39}"/>
              </a:ext>
            </a:extLst>
          </p:cNvPr>
          <p:cNvGrpSpPr>
            <a:grpSpLocks/>
          </p:cNvGrpSpPr>
          <p:nvPr/>
        </p:nvGrpSpPr>
        <p:grpSpPr bwMode="auto">
          <a:xfrm flipH="1">
            <a:off x="3132432" y="1955859"/>
            <a:ext cx="506015" cy="442913"/>
            <a:chOff x="-44" y="1473"/>
            <a:chExt cx="981" cy="1105"/>
          </a:xfrm>
        </p:grpSpPr>
        <p:pic>
          <p:nvPicPr>
            <p:cNvPr id="155" name="Picture 88" descr="desktop_computer_stylized_medium">
              <a:extLst>
                <a:ext uri="{FF2B5EF4-FFF2-40B4-BE49-F238E27FC236}">
                  <a16:creationId xmlns:a16="http://schemas.microsoft.com/office/drawing/2014/main" id="{DD8C1025-5742-124A-A45D-17C092AE9EA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 name="Freeform 89">
              <a:extLst>
                <a:ext uri="{FF2B5EF4-FFF2-40B4-BE49-F238E27FC236}">
                  <a16:creationId xmlns:a16="http://schemas.microsoft.com/office/drawing/2014/main" id="{29DD3896-6A51-A043-8276-55B2A1834AB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sp>
        <p:nvSpPr>
          <p:cNvPr id="36" name="Slide Number Placeholder 2">
            <a:extLst>
              <a:ext uri="{FF2B5EF4-FFF2-40B4-BE49-F238E27FC236}">
                <a16:creationId xmlns:a16="http://schemas.microsoft.com/office/drawing/2014/main" id="{F42F4D6B-59A3-9047-BAC8-F69D80AB687A}"/>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69</a:t>
            </a:fld>
            <a:endParaRPr lang="en-US" dirty="0">
              <a:solidFill>
                <a:prstClr val="white">
                  <a:lumMod val="50000"/>
                </a:prstClr>
              </a:solidFill>
            </a:endParaRPr>
          </a:p>
        </p:txBody>
      </p:sp>
    </p:spTree>
    <p:extLst>
      <p:ext uri="{BB962C8B-B14F-4D97-AF65-F5344CB8AC3E}">
        <p14:creationId xmlns:p14="http://schemas.microsoft.com/office/powerpoint/2010/main" val="3183935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left)">
                                      <p:cBhvr>
                                        <p:cTn id="7" dur="500"/>
                                        <p:tgtEl>
                                          <p:spTgt spid="12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5"/>
                                        </p:tgtEl>
                                        <p:attrNameLst>
                                          <p:attrName>style.visibility</p:attrName>
                                        </p:attrNameLst>
                                      </p:cBhvr>
                                      <p:to>
                                        <p:strVal val="visible"/>
                                      </p:to>
                                    </p:set>
                                    <p:animEffect transition="in" filter="wipe(left)">
                                      <p:cBhvr>
                                        <p:cTn id="10" dur="500"/>
                                        <p:tgtEl>
                                          <p:spTgt spid="12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6"/>
                                        </p:tgtEl>
                                        <p:attrNameLst>
                                          <p:attrName>style.visibility</p:attrName>
                                        </p:attrNameLst>
                                      </p:cBhvr>
                                      <p:to>
                                        <p:strVal val="visible"/>
                                      </p:to>
                                    </p:set>
                                    <p:animEffect transition="in" filter="wipe(left)">
                                      <p:cBhvr>
                                        <p:cTn id="13" dur="500"/>
                                        <p:tgtEl>
                                          <p:spTgt spid="126"/>
                                        </p:tgtEl>
                                      </p:cBhvr>
                                    </p:animEffect>
                                  </p:childTnLst>
                                </p:cTn>
                              </p:par>
                              <p:par>
                                <p:cTn id="14" presetID="22" presetClass="entr" presetSubtype="8" fill="hold" nodeType="withEffect">
                                  <p:stCondLst>
                                    <p:cond delay="0"/>
                                  </p:stCondLst>
                                  <p:childTnLst>
                                    <p:set>
                                      <p:cBhvr>
                                        <p:cTn id="15" dur="1" fill="hold">
                                          <p:stCondLst>
                                            <p:cond delay="0"/>
                                          </p:stCondLst>
                                        </p:cTn>
                                        <p:tgtEl>
                                          <p:spTgt spid="143"/>
                                        </p:tgtEl>
                                        <p:attrNameLst>
                                          <p:attrName>style.visibility</p:attrName>
                                        </p:attrNameLst>
                                      </p:cBhvr>
                                      <p:to>
                                        <p:strVal val="visible"/>
                                      </p:to>
                                    </p:set>
                                    <p:animEffect transition="in" filter="wipe(left)">
                                      <p:cBhvr>
                                        <p:cTn id="16" dur="500"/>
                                        <p:tgtEl>
                                          <p:spTgt spid="143"/>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5" grpId="0" animBg="1"/>
      <p:bldP spid="12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fast retransmit</a:t>
            </a:r>
            <a:endParaRPr lang="en-US" b="0" dirty="0"/>
          </a:p>
        </p:txBody>
      </p:sp>
      <p:sp>
        <p:nvSpPr>
          <p:cNvPr id="62" name="Line 10">
            <a:extLst>
              <a:ext uri="{FF2B5EF4-FFF2-40B4-BE49-F238E27FC236}">
                <a16:creationId xmlns:a16="http://schemas.microsoft.com/office/drawing/2014/main" id="{D5DBB1B8-3A7B-2149-A7A5-727E44799BF4}"/>
              </a:ext>
            </a:extLst>
          </p:cNvPr>
          <p:cNvSpPr>
            <a:spLocks noChangeShapeType="1"/>
          </p:cNvSpPr>
          <p:nvPr/>
        </p:nvSpPr>
        <p:spPr bwMode="auto">
          <a:xfrm flipH="1">
            <a:off x="5352938" y="2303261"/>
            <a:ext cx="0" cy="3310106"/>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63" name="Line 11">
            <a:extLst>
              <a:ext uri="{FF2B5EF4-FFF2-40B4-BE49-F238E27FC236}">
                <a16:creationId xmlns:a16="http://schemas.microsoft.com/office/drawing/2014/main" id="{689C7DF6-5B6C-F34C-B350-3B553A4C7C71}"/>
              </a:ext>
            </a:extLst>
          </p:cNvPr>
          <p:cNvSpPr>
            <a:spLocks noChangeShapeType="1"/>
          </p:cNvSpPr>
          <p:nvPr/>
        </p:nvSpPr>
        <p:spPr bwMode="auto">
          <a:xfrm>
            <a:off x="7960888" y="2369602"/>
            <a:ext cx="11000" cy="3243765"/>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74"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7555207" y="1641120"/>
            <a:ext cx="631904" cy="2769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Host B</a:t>
            </a:r>
          </a:p>
        </p:txBody>
      </p:sp>
      <p:sp>
        <p:nvSpPr>
          <p:cNvPr id="75"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5135795" y="1656323"/>
            <a:ext cx="633507" cy="2769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Host A</a:t>
            </a:r>
          </a:p>
        </p:txBody>
      </p:sp>
      <p:grpSp>
        <p:nvGrpSpPr>
          <p:cNvPr id="80" name="Group 78">
            <a:extLst>
              <a:ext uri="{FF2B5EF4-FFF2-40B4-BE49-F238E27FC236}">
                <a16:creationId xmlns:a16="http://schemas.microsoft.com/office/drawing/2014/main" id="{BFB3AB37-E716-1346-A8BA-2EFF122E1DFB}"/>
              </a:ext>
            </a:extLst>
          </p:cNvPr>
          <p:cNvGrpSpPr>
            <a:grpSpLocks/>
          </p:cNvGrpSpPr>
          <p:nvPr/>
        </p:nvGrpSpPr>
        <p:grpSpPr bwMode="auto">
          <a:xfrm>
            <a:off x="4987432" y="2545127"/>
            <a:ext cx="345752" cy="3068240"/>
            <a:chOff x="417" y="868"/>
            <a:chExt cx="210" cy="2220"/>
          </a:xfrm>
        </p:grpSpPr>
        <p:sp>
          <p:nvSpPr>
            <p:cNvPr id="81"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417" y="1797"/>
              <a:ext cx="210" cy="39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a:solidFill>
                    <a:srgbClr val="000000"/>
                  </a:solidFill>
                </a:rPr>
                <a:t>timeout</a:t>
              </a:r>
            </a:p>
          </p:txBody>
        </p:sp>
        <p:grpSp>
          <p:nvGrpSpPr>
            <p:cNvPr id="82"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87"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nvGrpSpPr>
            <p:cNvPr id="83"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85"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grpSp>
        <p:nvGrpSpPr>
          <p:cNvPr id="5" name="Group 4">
            <a:extLst>
              <a:ext uri="{FF2B5EF4-FFF2-40B4-BE49-F238E27FC236}">
                <a16:creationId xmlns:a16="http://schemas.microsoft.com/office/drawing/2014/main" id="{DFEC346A-D192-A745-962D-2F7187BE2EBA}"/>
              </a:ext>
            </a:extLst>
          </p:cNvPr>
          <p:cNvGrpSpPr/>
          <p:nvPr/>
        </p:nvGrpSpPr>
        <p:grpSpPr>
          <a:xfrm>
            <a:off x="5343255" y="3109580"/>
            <a:ext cx="2626061" cy="1569495"/>
            <a:chOff x="7124339" y="3003106"/>
            <a:chExt cx="3501415" cy="2092660"/>
          </a:xfrm>
        </p:grpSpPr>
        <p:sp>
          <p:nvSpPr>
            <p:cNvPr id="64" name="Line 12">
              <a:extLst>
                <a:ext uri="{FF2B5EF4-FFF2-40B4-BE49-F238E27FC236}">
                  <a16:creationId xmlns:a16="http://schemas.microsoft.com/office/drawing/2014/main"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68"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69"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70"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79" name="Text Box 43">
              <a:extLst>
                <a:ext uri="{FF2B5EF4-FFF2-40B4-BE49-F238E27FC236}">
                  <a16:creationId xmlns:a16="http://schemas.microsoft.com/office/drawing/2014/main" id="{239E35BD-73CE-0B47-977F-0F2E0F1170FF}"/>
                </a:ext>
              </a:extLst>
            </p:cNvPr>
            <p:cNvSpPr txBox="1">
              <a:spLocks noChangeArrowheads="1"/>
            </p:cNvSpPr>
            <p:nvPr/>
          </p:nvSpPr>
          <p:spPr bwMode="auto">
            <a:xfrm rot="20736981">
              <a:off x="7158639" y="3548622"/>
              <a:ext cx="1022076"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sp>
          <p:nvSpPr>
            <p:cNvPr id="90" name="Text Box 67">
              <a:extLst>
                <a:ext uri="{FF2B5EF4-FFF2-40B4-BE49-F238E27FC236}">
                  <a16:creationId xmlns:a16="http://schemas.microsoft.com/office/drawing/2014/main" id="{0D263B80-AF59-D348-84FD-932DC45167E5}"/>
                </a:ext>
              </a:extLst>
            </p:cNvPr>
            <p:cNvSpPr txBox="1">
              <a:spLocks noChangeArrowheads="1"/>
            </p:cNvSpPr>
            <p:nvPr/>
          </p:nvSpPr>
          <p:spPr bwMode="auto">
            <a:xfrm rot="20635106">
              <a:off x="7171102" y="4037678"/>
              <a:ext cx="1022076"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sp>
          <p:nvSpPr>
            <p:cNvPr id="93" name="Text Box 74">
              <a:extLst>
                <a:ext uri="{FF2B5EF4-FFF2-40B4-BE49-F238E27FC236}">
                  <a16:creationId xmlns:a16="http://schemas.microsoft.com/office/drawing/2014/main" id="{8EFF23A0-366A-E64A-A6E3-90FD7CB3D7C0}"/>
                </a:ext>
              </a:extLst>
            </p:cNvPr>
            <p:cNvSpPr txBox="1">
              <a:spLocks noChangeArrowheads="1"/>
            </p:cNvSpPr>
            <p:nvPr/>
          </p:nvSpPr>
          <p:spPr bwMode="auto">
            <a:xfrm rot="20657108">
              <a:off x="7162831" y="4408046"/>
              <a:ext cx="1022076"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sp>
          <p:nvSpPr>
            <p:cNvPr id="96" name="Text Box 77">
              <a:extLst>
                <a:ext uri="{FF2B5EF4-FFF2-40B4-BE49-F238E27FC236}">
                  <a16:creationId xmlns:a16="http://schemas.microsoft.com/office/drawing/2014/main" id="{589E2F0E-5EA2-944C-B543-F8CCDFFE3457}"/>
                </a:ext>
              </a:extLst>
            </p:cNvPr>
            <p:cNvSpPr txBox="1">
              <a:spLocks noChangeArrowheads="1"/>
            </p:cNvSpPr>
            <p:nvPr/>
          </p:nvSpPr>
          <p:spPr bwMode="auto">
            <a:xfrm rot="20628354">
              <a:off x="7165654" y="4694858"/>
              <a:ext cx="1022076"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latin typeface="Arial" charset="0"/>
                </a:rPr>
                <a:t>ACK=100</a:t>
              </a:r>
              <a:endParaRPr lang="en-US" sz="750" kern="0" dirty="0">
                <a:solidFill>
                  <a:srgbClr val="000000"/>
                </a:solidFill>
                <a:latin typeface="Times New Roman" charset="0"/>
              </a:endParaRPr>
            </a:p>
          </p:txBody>
        </p:sp>
      </p:grpSp>
      <p:sp>
        <p:nvSpPr>
          <p:cNvPr id="97" name="Rectangle 84">
            <a:extLst>
              <a:ext uri="{FF2B5EF4-FFF2-40B4-BE49-F238E27FC236}">
                <a16:creationId xmlns:a16="http://schemas.microsoft.com/office/drawing/2014/main" id="{DDC13008-E549-D946-9386-1DAF70895444}"/>
              </a:ext>
            </a:extLst>
          </p:cNvPr>
          <p:cNvSpPr>
            <a:spLocks noChangeArrowheads="1"/>
          </p:cNvSpPr>
          <p:nvPr/>
        </p:nvSpPr>
        <p:spPr bwMode="auto">
          <a:xfrm>
            <a:off x="5576854" y="2780082"/>
            <a:ext cx="785348" cy="19625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4" name="Group 3">
            <a:extLst>
              <a:ext uri="{FF2B5EF4-FFF2-40B4-BE49-F238E27FC236}">
                <a16:creationId xmlns:a16="http://schemas.microsoft.com/office/drawing/2014/main" id="{A410A887-ABC6-3C43-BE7B-AF0C2FBB6C93}"/>
              </a:ext>
            </a:extLst>
          </p:cNvPr>
          <p:cNvGrpSpPr/>
          <p:nvPr/>
        </p:nvGrpSpPr>
        <p:grpSpPr>
          <a:xfrm>
            <a:off x="5352939" y="2429206"/>
            <a:ext cx="2627707" cy="1449638"/>
            <a:chOff x="7137252" y="2095941"/>
            <a:chExt cx="3503609" cy="1932851"/>
          </a:xfrm>
        </p:grpSpPr>
        <p:sp>
          <p:nvSpPr>
            <p:cNvPr id="60" name="Line 3">
              <a:extLst>
                <a:ext uri="{FF2B5EF4-FFF2-40B4-BE49-F238E27FC236}">
                  <a16:creationId xmlns:a16="http://schemas.microsoft.com/office/drawing/2014/main"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61"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65"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66"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67"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71" name="Text Box 20">
              <a:extLst>
                <a:ext uri="{FF2B5EF4-FFF2-40B4-BE49-F238E27FC236}">
                  <a16:creationId xmlns:a16="http://schemas.microsoft.com/office/drawing/2014/main" id="{E876EFCF-EFAF-7745-82C0-69510059A681}"/>
                </a:ext>
              </a:extLst>
            </p:cNvPr>
            <p:cNvSpPr txBox="1">
              <a:spLocks noChangeArrowheads="1"/>
            </p:cNvSpPr>
            <p:nvPr/>
          </p:nvSpPr>
          <p:spPr bwMode="auto">
            <a:xfrm>
              <a:off x="9451038" y="2740684"/>
              <a:ext cx="390753" cy="49244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800">
                  <a:solidFill>
                    <a:srgbClr val="FF0000"/>
                  </a:solidFill>
                  <a:latin typeface="Arial" charset="0"/>
                </a:rPr>
                <a:t>X</a:t>
              </a:r>
              <a:endParaRPr lang="en-US" sz="750">
                <a:solidFill>
                  <a:srgbClr val="000000"/>
                </a:solidFill>
                <a:latin typeface="Times New Roman" charset="0"/>
              </a:endParaRPr>
            </a:p>
          </p:txBody>
        </p:sp>
        <p:sp>
          <p:nvSpPr>
            <p:cNvPr id="76" name="Text Box 40">
              <a:extLst>
                <a:ext uri="{FF2B5EF4-FFF2-40B4-BE49-F238E27FC236}">
                  <a16:creationId xmlns:a16="http://schemas.microsoft.com/office/drawing/2014/main" id="{9B99FD84-14B7-6845-8B4C-03596E083BDE}"/>
                </a:ext>
              </a:extLst>
            </p:cNvPr>
            <p:cNvSpPr txBox="1">
              <a:spLocks noChangeArrowheads="1"/>
            </p:cNvSpPr>
            <p:nvPr/>
          </p:nvSpPr>
          <p:spPr bwMode="auto">
            <a:xfrm rot="584648">
              <a:off x="7273253" y="2095941"/>
              <a:ext cx="2122193" cy="553997"/>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Seq=92, 8 bytes of data</a:t>
              </a:r>
            </a:p>
          </p:txBody>
        </p:sp>
        <p:sp>
          <p:nvSpPr>
            <p:cNvPr id="98" name="Text Box 83">
              <a:extLst>
                <a:ext uri="{FF2B5EF4-FFF2-40B4-BE49-F238E27FC236}">
                  <a16:creationId xmlns:a16="http://schemas.microsoft.com/office/drawing/2014/main" id="{677E8A81-661D-AA46-A7ED-6BC634EAB244}"/>
                </a:ext>
              </a:extLst>
            </p:cNvPr>
            <p:cNvSpPr txBox="1">
              <a:spLocks noChangeArrowheads="1"/>
            </p:cNvSpPr>
            <p:nvPr/>
          </p:nvSpPr>
          <p:spPr bwMode="auto">
            <a:xfrm rot="665764">
              <a:off x="7287508" y="2422309"/>
              <a:ext cx="2313690" cy="55399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Seq=100, 20 bytes of data</a:t>
              </a:r>
            </a:p>
          </p:txBody>
        </p:sp>
      </p:grpSp>
      <p:grpSp>
        <p:nvGrpSpPr>
          <p:cNvPr id="8" name="Group 7">
            <a:extLst>
              <a:ext uri="{FF2B5EF4-FFF2-40B4-BE49-F238E27FC236}">
                <a16:creationId xmlns:a16="http://schemas.microsoft.com/office/drawing/2014/main" id="{13A0E61A-342C-6348-8A8F-CA25838E85CE}"/>
              </a:ext>
            </a:extLst>
          </p:cNvPr>
          <p:cNvGrpSpPr/>
          <p:nvPr/>
        </p:nvGrpSpPr>
        <p:grpSpPr>
          <a:xfrm>
            <a:off x="5379282" y="4706689"/>
            <a:ext cx="2627707" cy="522458"/>
            <a:chOff x="7172376" y="5132585"/>
            <a:chExt cx="3503609" cy="696610"/>
          </a:xfrm>
        </p:grpSpPr>
        <p:sp>
          <p:nvSpPr>
            <p:cNvPr id="72" name="Line 24">
              <a:extLst>
                <a:ext uri="{FF2B5EF4-FFF2-40B4-BE49-F238E27FC236}">
                  <a16:creationId xmlns:a16="http://schemas.microsoft.com/office/drawing/2014/main"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99" name="Rectangle 85">
              <a:extLst>
                <a:ext uri="{FF2B5EF4-FFF2-40B4-BE49-F238E27FC236}">
                  <a16:creationId xmlns:a16="http://schemas.microsoft.com/office/drawing/2014/main"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00" name="Text Box 86">
              <a:extLst>
                <a:ext uri="{FF2B5EF4-FFF2-40B4-BE49-F238E27FC236}">
                  <a16:creationId xmlns:a16="http://schemas.microsoft.com/office/drawing/2014/main" id="{DDF60828-DFE2-734F-A384-4D3CA07DDADD}"/>
                </a:ext>
              </a:extLst>
            </p:cNvPr>
            <p:cNvSpPr txBox="1">
              <a:spLocks noChangeArrowheads="1"/>
            </p:cNvSpPr>
            <p:nvPr/>
          </p:nvSpPr>
          <p:spPr bwMode="auto">
            <a:xfrm>
              <a:off x="7239695" y="5132585"/>
              <a:ext cx="2360048" cy="338554"/>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Seq=100, 20 bytes of data</a:t>
              </a:r>
            </a:p>
          </p:txBody>
        </p:sp>
      </p:grpSp>
      <p:grpSp>
        <p:nvGrpSpPr>
          <p:cNvPr id="101" name="Group 93">
            <a:extLst>
              <a:ext uri="{FF2B5EF4-FFF2-40B4-BE49-F238E27FC236}">
                <a16:creationId xmlns:a16="http://schemas.microsoft.com/office/drawing/2014/main" id="{90980625-BCFD-F546-BD95-6CC80FC48859}"/>
              </a:ext>
            </a:extLst>
          </p:cNvPr>
          <p:cNvGrpSpPr>
            <a:grpSpLocks/>
          </p:cNvGrpSpPr>
          <p:nvPr/>
        </p:nvGrpSpPr>
        <p:grpSpPr bwMode="auto">
          <a:xfrm>
            <a:off x="4956149" y="1865018"/>
            <a:ext cx="607533" cy="464382"/>
            <a:chOff x="-44" y="1473"/>
            <a:chExt cx="981" cy="1105"/>
          </a:xfrm>
        </p:grpSpPr>
        <p:pic>
          <p:nvPicPr>
            <p:cNvPr id="102"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104" name="Group 96">
            <a:extLst>
              <a:ext uri="{FF2B5EF4-FFF2-40B4-BE49-F238E27FC236}">
                <a16:creationId xmlns:a16="http://schemas.microsoft.com/office/drawing/2014/main" id="{30D13886-717C-5C49-84EB-DD7C28AC75E9}"/>
              </a:ext>
            </a:extLst>
          </p:cNvPr>
          <p:cNvGrpSpPr>
            <a:grpSpLocks/>
          </p:cNvGrpSpPr>
          <p:nvPr/>
        </p:nvGrpSpPr>
        <p:grpSpPr bwMode="auto">
          <a:xfrm flipH="1">
            <a:off x="7746465" y="1888514"/>
            <a:ext cx="561820" cy="504463"/>
            <a:chOff x="-44" y="1473"/>
            <a:chExt cx="981" cy="1105"/>
          </a:xfrm>
        </p:grpSpPr>
        <p:pic>
          <p:nvPicPr>
            <p:cNvPr id="105"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7" name="Group 6">
            <a:extLst>
              <a:ext uri="{FF2B5EF4-FFF2-40B4-BE49-F238E27FC236}">
                <a16:creationId xmlns:a16="http://schemas.microsoft.com/office/drawing/2014/main" id="{96BABFE7-C970-8E4B-A16C-A7D788B9DA23}"/>
              </a:ext>
            </a:extLst>
          </p:cNvPr>
          <p:cNvGrpSpPr/>
          <p:nvPr/>
        </p:nvGrpSpPr>
        <p:grpSpPr>
          <a:xfrm>
            <a:off x="1352550" y="4300537"/>
            <a:ext cx="3989651" cy="1477116"/>
            <a:chOff x="1803400" y="4591050"/>
            <a:chExt cx="5319534" cy="1969489"/>
          </a:xfrm>
        </p:grpSpPr>
        <p:pic>
          <p:nvPicPr>
            <p:cNvPr id="52" name="Picture 2" descr="Image result for light bulb icon">
              <a:extLst>
                <a:ext uri="{FF2B5EF4-FFF2-40B4-BE49-F238E27FC236}">
                  <a16:creationId xmlns:a16="http://schemas.microsoft.com/office/drawing/2014/main" id="{F30DA35F-A671-6D4D-9DD4-D0D5E13E1A4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a16="http://schemas.microsoft.com/office/drawing/2014/main" id="{34AAC8DC-F059-7445-99BF-80AECC3E6614}"/>
                </a:ext>
              </a:extLst>
            </p:cNvPr>
            <p:cNvSpPr txBox="1">
              <a:spLocks noChangeArrowheads="1"/>
            </p:cNvSpPr>
            <p:nvPr/>
          </p:nvSpPr>
          <p:spPr bwMode="auto">
            <a:xfrm>
              <a:off x="2235200" y="4775435"/>
              <a:ext cx="4145527" cy="178510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800" kern="0" dirty="0">
                  <a:solidFill>
                    <a:srgbClr val="000000"/>
                  </a:solidFill>
                  <a:latin typeface="Calibri"/>
                </a:rPr>
                <a:t>Receipt of three duplicate ACKs indicates 3 segments received after a missing segment – lost segment is likely. So retransmit!</a:t>
              </a:r>
              <a:endParaRPr lang="en-US" sz="825" kern="0" dirty="0">
                <a:solidFill>
                  <a:srgbClr val="000000"/>
                </a:solidFill>
                <a:latin typeface="Calibri"/>
              </a:endParaRPr>
            </a:p>
          </p:txBody>
        </p:sp>
        <p:cxnSp>
          <p:nvCxnSpPr>
            <p:cNvPr id="6" name="Straight Connector 5">
              <a:extLst>
                <a:ext uri="{FF2B5EF4-FFF2-40B4-BE49-F238E27FC236}">
                  <a16:creationId xmlns:a16="http://schemas.microsoft.com/office/drawing/2014/main"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34962C80-D280-E449-81BD-84D3E53124DD}"/>
              </a:ext>
            </a:extLst>
          </p:cNvPr>
          <p:cNvGrpSpPr/>
          <p:nvPr/>
        </p:nvGrpSpPr>
        <p:grpSpPr>
          <a:xfrm>
            <a:off x="593034" y="1777902"/>
            <a:ext cx="3911233" cy="2159197"/>
            <a:chOff x="7089911" y="1681505"/>
            <a:chExt cx="5214977" cy="2878929"/>
          </a:xfrm>
        </p:grpSpPr>
        <p:sp>
          <p:nvSpPr>
            <p:cNvPr id="58" name="Rectangle 5">
              <a:extLst>
                <a:ext uri="{FF2B5EF4-FFF2-40B4-BE49-F238E27FC236}">
                  <a16:creationId xmlns:a16="http://schemas.microsoft.com/office/drawing/2014/main" id="{F5C10379-FA54-C34D-B355-F07F5DA409A8}"/>
                </a:ext>
              </a:extLst>
            </p:cNvPr>
            <p:cNvSpPr>
              <a:spLocks noChangeArrowheads="1"/>
            </p:cNvSpPr>
            <p:nvPr/>
          </p:nvSpPr>
          <p:spPr bwMode="auto">
            <a:xfrm>
              <a:off x="7360355" y="2207758"/>
              <a:ext cx="4809067" cy="22637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eaLnBrk="1" fontAlgn="auto" hangingPunct="1">
                <a:lnSpc>
                  <a:spcPct val="85000"/>
                </a:lnSpc>
                <a:spcBef>
                  <a:spcPct val="20000"/>
                </a:spcBef>
                <a:spcAft>
                  <a:spcPts val="0"/>
                </a:spcAft>
                <a:buClr>
                  <a:srgbClr val="000099"/>
                </a:buClr>
                <a:buSzPct val="65000"/>
                <a:defRPr/>
              </a:pPr>
              <a:r>
                <a:rPr lang="en-US" altLang="en-US" sz="2100" dirty="0">
                  <a:solidFill>
                    <a:prstClr val="black"/>
                  </a:solidFill>
                  <a:latin typeface="Calibri" panose="020F0502020204030204"/>
                </a:rPr>
                <a:t>if sender receives 3 additional ACKs for same data </a:t>
              </a:r>
              <a:r>
                <a:rPr lang="en-US" altLang="en-US" sz="1800" dirty="0">
                  <a:solidFill>
                    <a:prstClr val="black"/>
                  </a:solidFill>
                  <a:latin typeface="Calibri" panose="020F0502020204030204"/>
                </a:rPr>
                <a:t>(“</a:t>
              </a:r>
              <a:r>
                <a:rPr lang="en-US" altLang="ja-JP" sz="1800" dirty="0">
                  <a:solidFill>
                    <a:prstClr val="black"/>
                  </a:solidFill>
                  <a:latin typeface="Calibri" panose="020F0502020204030204"/>
                </a:rPr>
                <a:t>triple duplicate ACKs”),</a:t>
              </a:r>
              <a:r>
                <a:rPr lang="en-US" altLang="ja-JP" sz="2100" dirty="0">
                  <a:solidFill>
                    <a:prstClr val="black"/>
                  </a:solidFill>
                  <a:latin typeface="Calibri" panose="020F0502020204030204"/>
                </a:rPr>
                <a:t> resend </a:t>
              </a:r>
              <a:r>
                <a:rPr lang="en-US" altLang="ja-JP" sz="2100" dirty="0" err="1">
                  <a:solidFill>
                    <a:prstClr val="black"/>
                  </a:solidFill>
                  <a:latin typeface="Calibri" panose="020F0502020204030204"/>
                </a:rPr>
                <a:t>unACKed</a:t>
              </a:r>
              <a:r>
                <a:rPr lang="en-US" altLang="ja-JP" sz="2100" dirty="0">
                  <a:solidFill>
                    <a:prstClr val="black"/>
                  </a:solidFill>
                  <a:latin typeface="Calibri" panose="020F0502020204030204"/>
                </a:rPr>
                <a:t> segment with smallest seq #</a:t>
              </a:r>
            </a:p>
            <a:p>
              <a:pPr lvl="1" eaLnBrk="1" fontAlgn="auto" hangingPunct="1">
                <a:lnSpc>
                  <a:spcPct val="85000"/>
                </a:lnSpc>
                <a:spcBef>
                  <a:spcPct val="20000"/>
                </a:spcBef>
                <a:spcAft>
                  <a:spcPts val="0"/>
                </a:spcAft>
                <a:buClr>
                  <a:srgbClr val="000099"/>
                </a:buClr>
                <a:buFont typeface="Wingdings" pitchFamily="2" charset="2"/>
                <a:buChar char="§"/>
                <a:defRPr/>
              </a:pPr>
              <a:r>
                <a:rPr lang="en-US" altLang="en-US" sz="1800" dirty="0">
                  <a:solidFill>
                    <a:prstClr val="black"/>
                  </a:solidFill>
                  <a:latin typeface="Calibri" panose="020F0502020204030204"/>
                </a:rPr>
                <a:t>likely that </a:t>
              </a:r>
              <a:r>
                <a:rPr lang="en-US" altLang="en-US" sz="1800" dirty="0" err="1">
                  <a:solidFill>
                    <a:prstClr val="black"/>
                  </a:solidFill>
                  <a:latin typeface="Calibri" panose="020F0502020204030204"/>
                </a:rPr>
                <a:t>unACKed</a:t>
              </a:r>
              <a:r>
                <a:rPr lang="en-US" altLang="en-US" sz="1800" dirty="0">
                  <a:solidFill>
                    <a:prstClr val="black"/>
                  </a:solidFill>
                  <a:latin typeface="Calibri" panose="020F0502020204030204"/>
                </a:rPr>
                <a:t> segment lost, so don’</a:t>
              </a:r>
              <a:r>
                <a:rPr lang="en-US" altLang="ja-JP" sz="1800" dirty="0">
                  <a:solidFill>
                    <a:prstClr val="black"/>
                  </a:solidFill>
                  <a:latin typeface="Calibri" panose="020F0502020204030204"/>
                </a:rPr>
                <a:t>t wait for timeout</a:t>
              </a:r>
              <a:endParaRPr lang="en-US" altLang="en-US" sz="1800" dirty="0">
                <a:solidFill>
                  <a:prstClr val="black"/>
                </a:solidFill>
                <a:latin typeface="Calibri" panose="020F0502020204030204"/>
              </a:endParaRPr>
            </a:p>
          </p:txBody>
        </p:sp>
        <p:sp>
          <p:nvSpPr>
            <p:cNvPr id="59" name="Rectangle 6">
              <a:extLst>
                <a:ext uri="{FF2B5EF4-FFF2-40B4-BE49-F238E27FC236}">
                  <a16:creationId xmlns:a16="http://schemas.microsoft.com/office/drawing/2014/main"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107" name="Text Box 7">
              <a:extLst>
                <a:ext uri="{FF2B5EF4-FFF2-40B4-BE49-F238E27FC236}">
                  <a16:creationId xmlns:a16="http://schemas.microsoft.com/office/drawing/2014/main" id="{F5EE31CA-1C9B-9E4F-8E15-A0B0919A3B54}"/>
                </a:ext>
              </a:extLst>
            </p:cNvPr>
            <p:cNvSpPr txBox="1">
              <a:spLocks noChangeArrowheads="1"/>
            </p:cNvSpPr>
            <p:nvPr/>
          </p:nvSpPr>
          <p:spPr bwMode="auto">
            <a:xfrm>
              <a:off x="7348954" y="1681505"/>
              <a:ext cx="2844284" cy="492443"/>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fontAlgn="auto" hangingPunct="1">
                <a:spcBef>
                  <a:spcPts val="0"/>
                </a:spcBef>
                <a:spcAft>
                  <a:spcPts val="0"/>
                </a:spcAft>
                <a:defRPr/>
              </a:pPr>
              <a:r>
                <a:rPr lang="en-US" sz="1800" i="1">
                  <a:solidFill>
                    <a:srgbClr val="CC0000"/>
                  </a:solidFill>
                </a:rPr>
                <a:t>TCP fast retransmit</a:t>
              </a:r>
            </a:p>
          </p:txBody>
        </p:sp>
      </p:grpSp>
      <p:sp>
        <p:nvSpPr>
          <p:cNvPr id="53" name="Slide Number Placeholder 2">
            <a:extLst>
              <a:ext uri="{FF2B5EF4-FFF2-40B4-BE49-F238E27FC236}">
                <a16:creationId xmlns:a16="http://schemas.microsoft.com/office/drawing/2014/main" id="{16A9B416-8E8B-FD4A-BF46-FBBC16EEB4F4}"/>
              </a:ext>
            </a:extLst>
          </p:cNvPr>
          <p:cNvSpPr>
            <a:spLocks noGrp="1"/>
          </p:cNvSpPr>
          <p:nvPr>
            <p:ph type="sldNum" sz="quarter" idx="4"/>
          </p:nvPr>
        </p:nvSpPr>
        <p:spPr>
          <a:xfrm>
            <a:off x="6914712" y="5689567"/>
            <a:ext cx="2057400" cy="273844"/>
          </a:xfrm>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70</a:t>
            </a:fld>
            <a:endParaRPr lang="en-US" dirty="0">
              <a:solidFill>
                <a:prstClr val="white">
                  <a:lumMod val="50000"/>
                </a:prstClr>
              </a:solidFill>
            </a:endParaRPr>
          </a:p>
        </p:txBody>
      </p:sp>
    </p:spTree>
    <p:extLst>
      <p:ext uri="{BB962C8B-B14F-4D97-AF65-F5344CB8AC3E}">
        <p14:creationId xmlns:p14="http://schemas.microsoft.com/office/powerpoint/2010/main" val="970315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flow control</a:t>
            </a:r>
            <a:endParaRPr lang="en-US"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5886317" y="1670941"/>
            <a:ext cx="1893094" cy="2890838"/>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7717498" y="1666179"/>
            <a:ext cx="435769" cy="3155156"/>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5822023" y="1747141"/>
            <a:ext cx="1900238" cy="2861072"/>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6226835" y="1790003"/>
            <a:ext cx="1033463"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kern="0">
                <a:solidFill>
                  <a:srgbClr val="000000"/>
                </a:solidFill>
                <a:latin typeface="Arial" charset="0"/>
                <a:ea typeface="ＭＳ Ｐゴシック" charset="0"/>
              </a:rPr>
              <a:t>application</a:t>
            </a:r>
          </a:p>
          <a:p>
            <a:pPr algn="ctr">
              <a:defRPr/>
            </a:pPr>
            <a:r>
              <a:rPr lang="en-US" sz="1200" kern="0">
                <a:solidFill>
                  <a:srgbClr val="000000"/>
                </a:solidFill>
                <a:latin typeface="Arial" charset="0"/>
                <a:ea typeface="ＭＳ Ｐゴシック" charset="0"/>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6053005" y="2591294"/>
            <a:ext cx="1346597" cy="516731"/>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08" y="2368"/>
              <a:ext cx="1050" cy="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dirty="0">
                  <a:solidFill>
                    <a:prstClr val="white">
                      <a:lumMod val="95000"/>
                    </a:prstClr>
                  </a:solidFill>
                </a:rPr>
                <a:t>TCP socket</a:t>
              </a:r>
            </a:p>
            <a:p>
              <a:pPr algn="ctr">
                <a:defRPr/>
              </a:pPr>
              <a:r>
                <a:rPr lang="en-US" sz="1200" kern="0" dirty="0">
                  <a:solidFill>
                    <a:prstClr val="white">
                      <a:lumMod val="95000"/>
                    </a:prstClr>
                  </a:solidFill>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6179210" y="3359247"/>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Arial" charset="0"/>
              <a:ea typeface="ＭＳ Ｐゴシック" charset="0"/>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6536338" y="3380879"/>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TCP</a:t>
            </a:r>
          </a:p>
          <a:p>
            <a:pPr algn="ctr">
              <a:defRPr/>
            </a:pPr>
            <a:r>
              <a:rPr lang="en-US" sz="1050" kern="0" dirty="0">
                <a:solidFill>
                  <a:srgbClr val="000000"/>
                </a:solidFill>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6185164" y="4098625"/>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Arial" charset="0"/>
              <a:ea typeface="ＭＳ Ｐゴシック" charset="0"/>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6526093" y="4123484"/>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IP</a:t>
            </a:r>
          </a:p>
          <a:p>
            <a:pPr algn="ctr">
              <a:defRPr/>
            </a:pPr>
            <a:r>
              <a:rPr lang="en-US" sz="1050" kern="0" dirty="0">
                <a:solidFill>
                  <a:srgbClr val="000000"/>
                </a:solidFill>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5817260" y="3910506"/>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5826785" y="2522237"/>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6559020" y="2435323"/>
            <a:ext cx="400050" cy="154781"/>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5633542" y="5224890"/>
            <a:ext cx="2093843"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dirty="0">
                <a:solidFill>
                  <a:srgbClr val="000000"/>
                </a:solidFill>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6593083" y="4922126"/>
            <a:ext cx="0" cy="261938"/>
          </a:xfrm>
          <a:prstGeom prst="line">
            <a:avLst/>
          </a:prstGeom>
          <a:noFill/>
          <a:ln w="28575">
            <a:solidFill>
              <a:srgbClr val="CC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7713926" y="4604641"/>
            <a:ext cx="0" cy="347663"/>
          </a:xfrm>
          <a:prstGeom prst="line">
            <a:avLst/>
          </a:prstGeom>
          <a:noFill/>
          <a:ln w="1905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7892520" y="4299841"/>
            <a:ext cx="652463" cy="679847"/>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534416" y="1935016"/>
            <a:ext cx="2888120" cy="1477328"/>
          </a:xfrm>
          <a:prstGeom prst="rect">
            <a:avLst/>
          </a:prstGeom>
          <a:noFill/>
        </p:spPr>
        <p:txBody>
          <a:bodyPr wrap="square" rtlCol="0">
            <a:spAutoFit/>
          </a:bodyPr>
          <a:lstStyle/>
          <a:p>
            <a:pPr eaLnBrk="1" fontAlgn="auto" hangingPunct="1">
              <a:spcBef>
                <a:spcPts val="0"/>
              </a:spcBef>
              <a:spcAft>
                <a:spcPts val="0"/>
              </a:spcAft>
              <a:defRPr/>
            </a:pPr>
            <a:r>
              <a:rPr lang="en-US" sz="1800" i="1" u="sng" dirty="0">
                <a:solidFill>
                  <a:srgbClr val="C00000"/>
                </a:solidFill>
                <a:latin typeface="Calibri" panose="020F0502020204030204"/>
                <a:ea typeface="+mn-ea"/>
              </a:rPr>
              <a:t>Q: </a:t>
            </a:r>
            <a:r>
              <a:rPr lang="en-US" sz="1800" dirty="0">
                <a:solidFill>
                  <a:prstClr val="black"/>
                </a:solidFill>
                <a:latin typeface="Calibri" panose="020F0502020204030204"/>
                <a:ea typeface="+mn-ea"/>
              </a:rPr>
              <a:t>What happens if network layer delivers data faster than application layer removes data from socket buffers?</a:t>
            </a:r>
          </a:p>
        </p:txBody>
      </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5823356" y="4612272"/>
            <a:ext cx="0" cy="347663"/>
          </a:xfrm>
          <a:prstGeom prst="line">
            <a:avLst/>
          </a:prstGeom>
          <a:noFill/>
          <a:ln w="1905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grpSp>
        <p:nvGrpSpPr>
          <p:cNvPr id="12" name="Group 11">
            <a:extLst>
              <a:ext uri="{FF2B5EF4-FFF2-40B4-BE49-F238E27FC236}">
                <a16:creationId xmlns:a16="http://schemas.microsoft.com/office/drawing/2014/main" id="{C820FA96-992D-4547-BB82-D80AD6340B76}"/>
              </a:ext>
            </a:extLst>
          </p:cNvPr>
          <p:cNvGrpSpPr/>
          <p:nvPr/>
        </p:nvGrpSpPr>
        <p:grpSpPr>
          <a:xfrm>
            <a:off x="3892266" y="2962015"/>
            <a:ext cx="3400301" cy="2254033"/>
            <a:chOff x="5189688" y="2806352"/>
            <a:chExt cx="4533734" cy="3005378"/>
          </a:xfrm>
        </p:grpSpPr>
        <p:grpSp>
          <p:nvGrpSpPr>
            <p:cNvPr id="7" name="Group 6">
              <a:extLst>
                <a:ext uri="{FF2B5EF4-FFF2-40B4-BE49-F238E27FC236}">
                  <a16:creationId xmlns:a16="http://schemas.microsoft.com/office/drawing/2014/main" id="{90136498-1DCA-8245-9AEB-79D923D0965C}"/>
                </a:ext>
              </a:extLst>
            </p:cNvPr>
            <p:cNvGrpSpPr/>
            <p:nvPr/>
          </p:nvGrpSpPr>
          <p:grpSpPr>
            <a:xfrm>
              <a:off x="5189688" y="3080408"/>
              <a:ext cx="3750934" cy="2731322"/>
              <a:chOff x="4633274" y="3577949"/>
              <a:chExt cx="3750934" cy="2731322"/>
            </a:xfrm>
          </p:grpSpPr>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7655546" y="4619349"/>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344839" y="5551212"/>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7647608" y="3577949"/>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67" name="Text Box 106">
                <a:extLst>
                  <a:ext uri="{FF2B5EF4-FFF2-40B4-BE49-F238E27FC236}">
                    <a16:creationId xmlns:a16="http://schemas.microsoft.com/office/drawing/2014/main" id="{60423099-6913-6449-94EA-C3C8BD4E23A1}"/>
                  </a:ext>
                </a:extLst>
              </p:cNvPr>
              <p:cNvSpPr txBox="1">
                <a:spLocks noChangeArrowheads="1"/>
              </p:cNvSpPr>
              <p:nvPr/>
            </p:nvSpPr>
            <p:spPr bwMode="auto">
              <a:xfrm>
                <a:off x="4633274" y="4192806"/>
                <a:ext cx="2332549" cy="13696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a:lnSpc>
                    <a:spcPct val="90000"/>
                  </a:lnSpc>
                  <a:defRPr/>
                </a:pPr>
                <a:r>
                  <a:rPr lang="en-US" altLang="en-US" sz="1350" kern="0" dirty="0">
                    <a:solidFill>
                      <a:srgbClr val="000000"/>
                    </a:solidFill>
                    <a:latin typeface="Calibri" panose="020F0502020204030204" pitchFamily="34" charset="0"/>
                    <a:cs typeface="Calibri" panose="020F0502020204030204" pitchFamily="34" charset="0"/>
                  </a:rPr>
                  <a:t>Network layer delivering IP datagram payload into TCP socket buffers</a:t>
                </a:r>
              </a:p>
            </p:txBody>
          </p:sp>
          <p:sp>
            <p:nvSpPr>
              <p:cNvPr id="168" name="Line 108">
                <a:extLst>
                  <a:ext uri="{FF2B5EF4-FFF2-40B4-BE49-F238E27FC236}">
                    <a16:creationId xmlns:a16="http://schemas.microsoft.com/office/drawing/2014/main" id="{526C2D0A-E0A9-564E-8CDF-3A8B49E5D882}"/>
                  </a:ext>
                </a:extLst>
              </p:cNvPr>
              <p:cNvSpPr>
                <a:spLocks noChangeShapeType="1"/>
              </p:cNvSpPr>
              <p:nvPr/>
            </p:nvSpPr>
            <p:spPr bwMode="auto">
              <a:xfrm>
                <a:off x="6906339" y="4724124"/>
                <a:ext cx="522908" cy="0"/>
              </a:xfrm>
              <a:prstGeom prst="line">
                <a:avLst/>
              </a:prstGeom>
              <a:noFill/>
              <a:ln w="1905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039386" y="5970716"/>
                <a:ext cx="1203748"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from sender</a:t>
                </a:r>
              </a:p>
            </p:txBody>
          </p:sp>
        </p:gr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black"/>
                </a:solidFill>
              </a:endParaRPr>
            </a:p>
          </p:txBody>
        </p:sp>
      </p:grpSp>
      <p:grpSp>
        <p:nvGrpSpPr>
          <p:cNvPr id="13" name="Group 12">
            <a:extLst>
              <a:ext uri="{FF2B5EF4-FFF2-40B4-BE49-F238E27FC236}">
                <a16:creationId xmlns:a16="http://schemas.microsoft.com/office/drawing/2014/main" id="{061072C8-D06D-0540-97C3-C1DE8C5A0444}"/>
              </a:ext>
            </a:extLst>
          </p:cNvPr>
          <p:cNvGrpSpPr/>
          <p:nvPr/>
        </p:nvGrpSpPr>
        <p:grpSpPr>
          <a:xfrm>
            <a:off x="3741864" y="2062595"/>
            <a:ext cx="3738700" cy="687523"/>
            <a:chOff x="4989152" y="1607125"/>
            <a:chExt cx="4984933" cy="916696"/>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71007"/>
              <a:chOff x="4432738" y="2150355"/>
              <a:chExt cx="4984933" cy="871007"/>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0" cy="8710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eaLnBrk="1" fontAlgn="auto" hangingPunct="1">
                  <a:lnSpc>
                    <a:spcPct val="90000"/>
                  </a:lnSpc>
                  <a:spcBef>
                    <a:spcPts val="0"/>
                  </a:spcBef>
                  <a:spcAft>
                    <a:spcPts val="0"/>
                  </a:spcAft>
                  <a:defRPr/>
                </a:pPr>
                <a:r>
                  <a:rPr lang="en-US" altLang="en-US" sz="1350" dirty="0">
                    <a:solidFill>
                      <a:prstClr val="black"/>
                    </a:solidFill>
                    <a:latin typeface="Calibri" panose="020F0502020204030204"/>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black"/>
                </a:solidFill>
              </a:endParaRPr>
            </a:p>
          </p:txBody>
        </p:sp>
      </p:grpSp>
      <p:sp>
        <p:nvSpPr>
          <p:cNvPr id="48" name="Slide Number Placeholder 2">
            <a:extLst>
              <a:ext uri="{FF2B5EF4-FFF2-40B4-BE49-F238E27FC236}">
                <a16:creationId xmlns:a16="http://schemas.microsoft.com/office/drawing/2014/main" id="{70507C61-599D-8346-AECE-C0A356026EDC}"/>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71</a:t>
            </a:fld>
            <a:endParaRPr lang="en-US" dirty="0">
              <a:solidFill>
                <a:prstClr val="white">
                  <a:lumMod val="50000"/>
                </a:prstClr>
              </a:solidFill>
            </a:endParaRPr>
          </a:p>
        </p:txBody>
      </p:sp>
    </p:spTree>
    <p:extLst>
      <p:ext uri="{BB962C8B-B14F-4D97-AF65-F5344CB8AC3E}">
        <p14:creationId xmlns:p14="http://schemas.microsoft.com/office/powerpoint/2010/main" val="19012555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flow control</a:t>
            </a:r>
            <a:endParaRPr lang="en-US"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5886317" y="1670941"/>
            <a:ext cx="1893094" cy="2890838"/>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7717498" y="1666179"/>
            <a:ext cx="435769" cy="3155156"/>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5822023" y="1747141"/>
            <a:ext cx="1900238" cy="2861072"/>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6226835" y="1790003"/>
            <a:ext cx="1033463"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kern="0">
                <a:solidFill>
                  <a:srgbClr val="000000"/>
                </a:solidFill>
                <a:latin typeface="Arial" charset="0"/>
                <a:ea typeface="ＭＳ Ｐゴシック" charset="0"/>
              </a:rPr>
              <a:t>application</a:t>
            </a:r>
          </a:p>
          <a:p>
            <a:pPr algn="ctr">
              <a:defRPr/>
            </a:pPr>
            <a:r>
              <a:rPr lang="en-US" sz="1200" kern="0">
                <a:solidFill>
                  <a:srgbClr val="000000"/>
                </a:solidFill>
                <a:latin typeface="Arial" charset="0"/>
                <a:ea typeface="ＭＳ Ｐゴシック" charset="0"/>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6053005" y="2591294"/>
            <a:ext cx="1346597" cy="516731"/>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08" y="2368"/>
              <a:ext cx="1050" cy="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dirty="0">
                  <a:solidFill>
                    <a:prstClr val="white">
                      <a:lumMod val="95000"/>
                    </a:prstClr>
                  </a:solidFill>
                </a:rPr>
                <a:t>TCP socket</a:t>
              </a:r>
            </a:p>
            <a:p>
              <a:pPr algn="ctr">
                <a:defRPr/>
              </a:pPr>
              <a:r>
                <a:rPr lang="en-US" sz="1200" kern="0" dirty="0">
                  <a:solidFill>
                    <a:prstClr val="white">
                      <a:lumMod val="95000"/>
                    </a:prstClr>
                  </a:solidFill>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6179210" y="3359247"/>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Arial" charset="0"/>
              <a:ea typeface="ＭＳ Ｐゴシック" charset="0"/>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6536338" y="3380879"/>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TCP</a:t>
            </a:r>
          </a:p>
          <a:p>
            <a:pPr algn="ctr">
              <a:defRPr/>
            </a:pPr>
            <a:r>
              <a:rPr lang="en-US" sz="1050" kern="0" dirty="0">
                <a:solidFill>
                  <a:srgbClr val="000000"/>
                </a:solidFill>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6185164" y="4098625"/>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Arial" charset="0"/>
              <a:ea typeface="ＭＳ Ｐゴシック" charset="0"/>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6526093" y="4123484"/>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IP</a:t>
            </a:r>
          </a:p>
          <a:p>
            <a:pPr algn="ctr">
              <a:defRPr/>
            </a:pPr>
            <a:r>
              <a:rPr lang="en-US" sz="1050" kern="0" dirty="0">
                <a:solidFill>
                  <a:srgbClr val="000000"/>
                </a:solidFill>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5817260" y="3910506"/>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5826785" y="2522237"/>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6559020" y="2435323"/>
            <a:ext cx="400050" cy="154781"/>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5633542" y="5224890"/>
            <a:ext cx="2093843"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dirty="0">
                <a:solidFill>
                  <a:srgbClr val="000000"/>
                </a:solidFill>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6593083" y="4922126"/>
            <a:ext cx="0" cy="261938"/>
          </a:xfrm>
          <a:prstGeom prst="line">
            <a:avLst/>
          </a:prstGeom>
          <a:noFill/>
          <a:ln w="28575">
            <a:solidFill>
              <a:srgbClr val="CC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7713926" y="4604641"/>
            <a:ext cx="0" cy="347663"/>
          </a:xfrm>
          <a:prstGeom prst="line">
            <a:avLst/>
          </a:prstGeom>
          <a:noFill/>
          <a:ln w="1905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7892520" y="4299841"/>
            <a:ext cx="652463" cy="679847"/>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534416" y="1935016"/>
            <a:ext cx="2888120" cy="1477328"/>
          </a:xfrm>
          <a:prstGeom prst="rect">
            <a:avLst/>
          </a:prstGeom>
          <a:noFill/>
        </p:spPr>
        <p:txBody>
          <a:bodyPr wrap="square" rtlCol="0">
            <a:spAutoFit/>
          </a:bodyPr>
          <a:lstStyle/>
          <a:p>
            <a:pPr eaLnBrk="1" fontAlgn="auto" hangingPunct="1">
              <a:spcBef>
                <a:spcPts val="0"/>
              </a:spcBef>
              <a:spcAft>
                <a:spcPts val="0"/>
              </a:spcAft>
              <a:defRPr/>
            </a:pPr>
            <a:r>
              <a:rPr lang="en-US" sz="1800" i="1" u="sng" dirty="0">
                <a:solidFill>
                  <a:srgbClr val="C00000"/>
                </a:solidFill>
                <a:latin typeface="Calibri" panose="020F0502020204030204"/>
                <a:ea typeface="+mn-ea"/>
              </a:rPr>
              <a:t>Q: </a:t>
            </a:r>
            <a:r>
              <a:rPr lang="en-US" sz="1800" dirty="0">
                <a:solidFill>
                  <a:prstClr val="black"/>
                </a:solidFill>
                <a:latin typeface="Calibri" panose="020F0502020204030204"/>
                <a:ea typeface="+mn-ea"/>
              </a:rPr>
              <a:t>What happens if network layer delivers data faster than application layer removes data from socket buffers?</a:t>
            </a:r>
          </a:p>
        </p:txBody>
      </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5823356" y="4612272"/>
            <a:ext cx="0" cy="347663"/>
          </a:xfrm>
          <a:prstGeom prst="line">
            <a:avLst/>
          </a:prstGeom>
          <a:noFill/>
          <a:ln w="1905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grpSp>
        <p:nvGrpSpPr>
          <p:cNvPr id="12" name="Group 11">
            <a:extLst>
              <a:ext uri="{FF2B5EF4-FFF2-40B4-BE49-F238E27FC236}">
                <a16:creationId xmlns:a16="http://schemas.microsoft.com/office/drawing/2014/main" id="{C820FA96-992D-4547-BB82-D80AD6340B76}"/>
              </a:ext>
            </a:extLst>
          </p:cNvPr>
          <p:cNvGrpSpPr/>
          <p:nvPr/>
        </p:nvGrpSpPr>
        <p:grpSpPr>
          <a:xfrm>
            <a:off x="3892266" y="2962015"/>
            <a:ext cx="3400301" cy="2254033"/>
            <a:chOff x="5189688" y="2806352"/>
            <a:chExt cx="4533734" cy="3005378"/>
          </a:xfrm>
        </p:grpSpPr>
        <p:grpSp>
          <p:nvGrpSpPr>
            <p:cNvPr id="7" name="Group 6">
              <a:extLst>
                <a:ext uri="{FF2B5EF4-FFF2-40B4-BE49-F238E27FC236}">
                  <a16:creationId xmlns:a16="http://schemas.microsoft.com/office/drawing/2014/main" id="{90136498-1DCA-8245-9AEB-79D923D0965C}"/>
                </a:ext>
              </a:extLst>
            </p:cNvPr>
            <p:cNvGrpSpPr/>
            <p:nvPr/>
          </p:nvGrpSpPr>
          <p:grpSpPr>
            <a:xfrm>
              <a:off x="5189688" y="3080408"/>
              <a:ext cx="3750934" cy="2731322"/>
              <a:chOff x="4633274" y="3577949"/>
              <a:chExt cx="3750934" cy="2731322"/>
            </a:xfrm>
          </p:grpSpPr>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7655546" y="4619349"/>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344839" y="5551212"/>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7647608" y="3577949"/>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67" name="Text Box 106">
                <a:extLst>
                  <a:ext uri="{FF2B5EF4-FFF2-40B4-BE49-F238E27FC236}">
                    <a16:creationId xmlns:a16="http://schemas.microsoft.com/office/drawing/2014/main" id="{60423099-6913-6449-94EA-C3C8BD4E23A1}"/>
                  </a:ext>
                </a:extLst>
              </p:cNvPr>
              <p:cNvSpPr txBox="1">
                <a:spLocks noChangeArrowheads="1"/>
              </p:cNvSpPr>
              <p:nvPr/>
            </p:nvSpPr>
            <p:spPr bwMode="auto">
              <a:xfrm>
                <a:off x="4633274" y="4192806"/>
                <a:ext cx="2332549" cy="13696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a:lnSpc>
                    <a:spcPct val="90000"/>
                  </a:lnSpc>
                  <a:defRPr/>
                </a:pPr>
                <a:r>
                  <a:rPr lang="en-US" altLang="en-US" sz="1350" kern="0" dirty="0">
                    <a:solidFill>
                      <a:srgbClr val="000000"/>
                    </a:solidFill>
                    <a:latin typeface="Calibri" panose="020F0502020204030204" pitchFamily="34" charset="0"/>
                    <a:cs typeface="Calibri" panose="020F0502020204030204" pitchFamily="34" charset="0"/>
                  </a:rPr>
                  <a:t>Network layer delivering IP datagram payload into TCP socket buffers</a:t>
                </a:r>
              </a:p>
            </p:txBody>
          </p:sp>
          <p:sp>
            <p:nvSpPr>
              <p:cNvPr id="168" name="Line 108">
                <a:extLst>
                  <a:ext uri="{FF2B5EF4-FFF2-40B4-BE49-F238E27FC236}">
                    <a16:creationId xmlns:a16="http://schemas.microsoft.com/office/drawing/2014/main" id="{526C2D0A-E0A9-564E-8CDF-3A8B49E5D882}"/>
                  </a:ext>
                </a:extLst>
              </p:cNvPr>
              <p:cNvSpPr>
                <a:spLocks noChangeShapeType="1"/>
              </p:cNvSpPr>
              <p:nvPr/>
            </p:nvSpPr>
            <p:spPr bwMode="auto">
              <a:xfrm>
                <a:off x="6906339" y="4724124"/>
                <a:ext cx="522908" cy="0"/>
              </a:xfrm>
              <a:prstGeom prst="line">
                <a:avLst/>
              </a:prstGeom>
              <a:noFill/>
              <a:ln w="1905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039386" y="5970716"/>
                <a:ext cx="1203748"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from sender</a:t>
                </a:r>
              </a:p>
            </p:txBody>
          </p:sp>
        </p:gr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black"/>
                </a:solidFill>
              </a:endParaRPr>
            </a:p>
          </p:txBody>
        </p:sp>
      </p:grpSp>
      <p:grpSp>
        <p:nvGrpSpPr>
          <p:cNvPr id="13" name="Group 12">
            <a:extLst>
              <a:ext uri="{FF2B5EF4-FFF2-40B4-BE49-F238E27FC236}">
                <a16:creationId xmlns:a16="http://schemas.microsoft.com/office/drawing/2014/main" id="{061072C8-D06D-0540-97C3-C1DE8C5A0444}"/>
              </a:ext>
            </a:extLst>
          </p:cNvPr>
          <p:cNvGrpSpPr/>
          <p:nvPr/>
        </p:nvGrpSpPr>
        <p:grpSpPr>
          <a:xfrm>
            <a:off x="3741864" y="2062595"/>
            <a:ext cx="3738700" cy="687523"/>
            <a:chOff x="4989152" y="1607125"/>
            <a:chExt cx="4984933" cy="916696"/>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71007"/>
              <a:chOff x="4432738" y="2150355"/>
              <a:chExt cx="4984933" cy="871007"/>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0" cy="8710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eaLnBrk="1" fontAlgn="auto" hangingPunct="1">
                  <a:lnSpc>
                    <a:spcPct val="90000"/>
                  </a:lnSpc>
                  <a:spcBef>
                    <a:spcPts val="0"/>
                  </a:spcBef>
                  <a:spcAft>
                    <a:spcPts val="0"/>
                  </a:spcAft>
                  <a:defRPr/>
                </a:pPr>
                <a:r>
                  <a:rPr lang="en-US" altLang="en-US" sz="1350" dirty="0">
                    <a:solidFill>
                      <a:prstClr val="black"/>
                    </a:solidFill>
                    <a:latin typeface="Calibri" panose="020F0502020204030204"/>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black"/>
                </a:solidFill>
              </a:endParaRPr>
            </a:p>
          </p:txBody>
        </p:sp>
      </p:grpSp>
      <p:pic>
        <p:nvPicPr>
          <p:cNvPr id="1026" name="Picture 2" descr="Drinking from the Firehose: How VividCortex Compresses its Metrics">
            <a:extLst>
              <a:ext uri="{FF2B5EF4-FFF2-40B4-BE49-F238E27FC236}">
                <a16:creationId xmlns:a16="http://schemas.microsoft.com/office/drawing/2014/main" id="{4F457921-03BB-884A-B43A-C231DAB769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8316" y="4220310"/>
            <a:ext cx="2264019" cy="13584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rinking From the Information Firehose">
            <a:extLst>
              <a:ext uri="{FF2B5EF4-FFF2-40B4-BE49-F238E27FC236}">
                <a16:creationId xmlns:a16="http://schemas.microsoft.com/office/drawing/2014/main" id="{CC4ECDA6-EF5F-7940-8430-C0BB879305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7417" y="3332417"/>
            <a:ext cx="2024696" cy="1336299"/>
          </a:xfrm>
          <a:prstGeom prst="rect">
            <a:avLst/>
          </a:prstGeom>
          <a:noFill/>
          <a:extLst>
            <a:ext uri="{909E8E84-426E-40DD-AFC4-6F175D3DCCD1}">
              <a14:hiddenFill xmlns:a14="http://schemas.microsoft.com/office/drawing/2010/main">
                <a:solidFill>
                  <a:srgbClr val="FFFFFF"/>
                </a:solidFill>
              </a14:hiddenFill>
            </a:ext>
          </a:extLst>
        </p:spPr>
      </p:pic>
      <p:sp>
        <p:nvSpPr>
          <p:cNvPr id="50" name="Slide Number Placeholder 2">
            <a:extLst>
              <a:ext uri="{FF2B5EF4-FFF2-40B4-BE49-F238E27FC236}">
                <a16:creationId xmlns:a16="http://schemas.microsoft.com/office/drawing/2014/main" id="{48F7A259-99DD-7041-B802-66CCB4B0EB04}"/>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72</a:t>
            </a:fld>
            <a:endParaRPr lang="en-US" dirty="0">
              <a:solidFill>
                <a:prstClr val="white">
                  <a:lumMod val="50000"/>
                </a:prstClr>
              </a:solidFill>
            </a:endParaRPr>
          </a:p>
        </p:txBody>
      </p:sp>
    </p:spTree>
    <p:extLst>
      <p:ext uri="{BB962C8B-B14F-4D97-AF65-F5344CB8AC3E}">
        <p14:creationId xmlns:p14="http://schemas.microsoft.com/office/powerpoint/2010/main" val="782637697"/>
      </p:ext>
    </p:extLst>
  </p:cSld>
  <p:clrMapOvr>
    <a:masterClrMapping/>
  </p:clrMapOvr>
  <p:transition spd="med">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flow control</a:t>
            </a:r>
            <a:endParaRPr lang="en-US"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5886317" y="1670941"/>
            <a:ext cx="1893094" cy="2890838"/>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7717498" y="1666179"/>
            <a:ext cx="435769" cy="3155156"/>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5822023" y="1747141"/>
            <a:ext cx="1900238" cy="2861072"/>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6226835" y="1790003"/>
            <a:ext cx="1033463"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kern="0">
                <a:solidFill>
                  <a:srgbClr val="000000"/>
                </a:solidFill>
                <a:latin typeface="Arial" charset="0"/>
                <a:ea typeface="ＭＳ Ｐゴシック" charset="0"/>
              </a:rPr>
              <a:t>application</a:t>
            </a:r>
          </a:p>
          <a:p>
            <a:pPr algn="ctr">
              <a:defRPr/>
            </a:pPr>
            <a:r>
              <a:rPr lang="en-US" sz="1200" kern="0">
                <a:solidFill>
                  <a:srgbClr val="000000"/>
                </a:solidFill>
                <a:latin typeface="Arial" charset="0"/>
                <a:ea typeface="ＭＳ Ｐゴシック" charset="0"/>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6053005" y="2591294"/>
            <a:ext cx="1346597" cy="516731"/>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08" y="2368"/>
              <a:ext cx="1050" cy="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dirty="0">
                  <a:solidFill>
                    <a:prstClr val="white">
                      <a:lumMod val="95000"/>
                    </a:prstClr>
                  </a:solidFill>
                </a:rPr>
                <a:t>TCP socket</a:t>
              </a:r>
            </a:p>
            <a:p>
              <a:pPr algn="ctr">
                <a:defRPr/>
              </a:pPr>
              <a:r>
                <a:rPr lang="en-US" sz="1200" kern="0" dirty="0">
                  <a:solidFill>
                    <a:prstClr val="white">
                      <a:lumMod val="95000"/>
                    </a:prstClr>
                  </a:solidFill>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6179210" y="3359247"/>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Arial" charset="0"/>
              <a:ea typeface="ＭＳ Ｐゴシック" charset="0"/>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6536338" y="3380879"/>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TCP</a:t>
            </a:r>
          </a:p>
          <a:p>
            <a:pPr algn="ctr">
              <a:defRPr/>
            </a:pPr>
            <a:r>
              <a:rPr lang="en-US" sz="1050" kern="0" dirty="0">
                <a:solidFill>
                  <a:srgbClr val="000000"/>
                </a:solidFill>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6185164" y="4098625"/>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Arial" charset="0"/>
              <a:ea typeface="ＭＳ Ｐゴシック" charset="0"/>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6526093" y="4123484"/>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IP</a:t>
            </a:r>
          </a:p>
          <a:p>
            <a:pPr algn="ctr">
              <a:defRPr/>
            </a:pPr>
            <a:r>
              <a:rPr lang="en-US" sz="1050" kern="0" dirty="0">
                <a:solidFill>
                  <a:srgbClr val="000000"/>
                </a:solidFill>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5817260" y="3910506"/>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5826785" y="2522237"/>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6559020" y="2435323"/>
            <a:ext cx="400050" cy="154781"/>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5633542" y="5224890"/>
            <a:ext cx="2093843"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dirty="0">
                <a:solidFill>
                  <a:srgbClr val="000000"/>
                </a:solidFill>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6593083" y="4922126"/>
            <a:ext cx="0" cy="261938"/>
          </a:xfrm>
          <a:prstGeom prst="line">
            <a:avLst/>
          </a:prstGeom>
          <a:noFill/>
          <a:ln w="28575">
            <a:solidFill>
              <a:srgbClr val="CC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7713926" y="4604641"/>
            <a:ext cx="0" cy="347663"/>
          </a:xfrm>
          <a:prstGeom prst="line">
            <a:avLst/>
          </a:prstGeom>
          <a:noFill/>
          <a:ln w="1905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7892520" y="4299841"/>
            <a:ext cx="652463" cy="679847"/>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534416" y="1935016"/>
            <a:ext cx="2888120" cy="1477328"/>
          </a:xfrm>
          <a:prstGeom prst="rect">
            <a:avLst/>
          </a:prstGeom>
          <a:noFill/>
        </p:spPr>
        <p:txBody>
          <a:bodyPr wrap="square" rtlCol="0">
            <a:spAutoFit/>
          </a:bodyPr>
          <a:lstStyle/>
          <a:p>
            <a:pPr eaLnBrk="1" fontAlgn="auto" hangingPunct="1">
              <a:spcBef>
                <a:spcPts val="0"/>
              </a:spcBef>
              <a:spcAft>
                <a:spcPts val="0"/>
              </a:spcAft>
              <a:defRPr/>
            </a:pPr>
            <a:r>
              <a:rPr lang="en-US" sz="1800" i="1" u="sng" dirty="0">
                <a:solidFill>
                  <a:srgbClr val="C00000"/>
                </a:solidFill>
                <a:latin typeface="Calibri" panose="020F0502020204030204"/>
                <a:ea typeface="+mn-ea"/>
              </a:rPr>
              <a:t>Q: </a:t>
            </a:r>
            <a:r>
              <a:rPr lang="en-US" sz="1800" dirty="0">
                <a:solidFill>
                  <a:prstClr val="black"/>
                </a:solidFill>
                <a:latin typeface="Calibri" panose="020F0502020204030204"/>
                <a:ea typeface="+mn-ea"/>
              </a:rPr>
              <a:t>What happens if network layer delivers data faster than application layer removes data from socket buffers?</a:t>
            </a:r>
          </a:p>
        </p:txBody>
      </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5823356" y="4612272"/>
            <a:ext cx="0" cy="347663"/>
          </a:xfrm>
          <a:prstGeom prst="line">
            <a:avLst/>
          </a:prstGeom>
          <a:noFill/>
          <a:ln w="1905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6158970" y="3948606"/>
            <a:ext cx="540544" cy="157163"/>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5925940" y="4647503"/>
            <a:ext cx="779527" cy="160799"/>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6153017" y="3167556"/>
            <a:ext cx="540544" cy="157163"/>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5696850" y="4962131"/>
            <a:ext cx="902811"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from sender</a:t>
            </a:r>
          </a:p>
        </p:txBody>
      </p:sp>
      <p:sp>
        <p:nvSpPr>
          <p:cNvPr id="6" name="Curved Down Arrow 5">
            <a:extLst>
              <a:ext uri="{FF2B5EF4-FFF2-40B4-BE49-F238E27FC236}">
                <a16:creationId xmlns:a16="http://schemas.microsoft.com/office/drawing/2014/main" id="{1FE7EE57-FED3-864B-8F06-9CC2C77BF0DE}"/>
              </a:ext>
            </a:extLst>
          </p:cNvPr>
          <p:cNvSpPr/>
          <p:nvPr/>
        </p:nvSpPr>
        <p:spPr>
          <a:xfrm>
            <a:off x="6234546" y="2962014"/>
            <a:ext cx="1058021" cy="2038611"/>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black"/>
              </a:solidFill>
            </a:endParaRPr>
          </a:p>
        </p:txBody>
      </p:sp>
      <p:grpSp>
        <p:nvGrpSpPr>
          <p:cNvPr id="13" name="Group 12">
            <a:extLst>
              <a:ext uri="{FF2B5EF4-FFF2-40B4-BE49-F238E27FC236}">
                <a16:creationId xmlns:a16="http://schemas.microsoft.com/office/drawing/2014/main" id="{061072C8-D06D-0540-97C3-C1DE8C5A0444}"/>
              </a:ext>
            </a:extLst>
          </p:cNvPr>
          <p:cNvGrpSpPr/>
          <p:nvPr/>
        </p:nvGrpSpPr>
        <p:grpSpPr>
          <a:xfrm>
            <a:off x="3741864" y="2062595"/>
            <a:ext cx="3738700" cy="687523"/>
            <a:chOff x="4989152" y="1607125"/>
            <a:chExt cx="4984933" cy="916696"/>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71007"/>
              <a:chOff x="4432738" y="2150355"/>
              <a:chExt cx="4984933" cy="871007"/>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0" cy="8710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eaLnBrk="1" fontAlgn="auto" hangingPunct="1">
                  <a:lnSpc>
                    <a:spcPct val="90000"/>
                  </a:lnSpc>
                  <a:spcBef>
                    <a:spcPts val="0"/>
                  </a:spcBef>
                  <a:spcAft>
                    <a:spcPts val="0"/>
                  </a:spcAft>
                  <a:defRPr/>
                </a:pPr>
                <a:r>
                  <a:rPr lang="en-US" altLang="en-US" sz="1350" dirty="0">
                    <a:solidFill>
                      <a:prstClr val="black"/>
                    </a:solidFill>
                    <a:latin typeface="Calibri" panose="020F0502020204030204"/>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black"/>
                </a:solidFill>
              </a:endParaRPr>
            </a:p>
          </p:txBody>
        </p:sp>
      </p:grpSp>
      <p:grpSp>
        <p:nvGrpSpPr>
          <p:cNvPr id="54" name="Group 53">
            <a:extLst>
              <a:ext uri="{FF2B5EF4-FFF2-40B4-BE49-F238E27FC236}">
                <a16:creationId xmlns:a16="http://schemas.microsoft.com/office/drawing/2014/main" id="{FB367096-84FB-0C47-BA14-5CD76A63BC39}"/>
              </a:ext>
            </a:extLst>
          </p:cNvPr>
          <p:cNvGrpSpPr/>
          <p:nvPr/>
        </p:nvGrpSpPr>
        <p:grpSpPr>
          <a:xfrm>
            <a:off x="833378" y="3426830"/>
            <a:ext cx="3776240" cy="2100422"/>
            <a:chOff x="4343173" y="1560062"/>
            <a:chExt cx="9034622" cy="4921250"/>
          </a:xfrm>
        </p:grpSpPr>
        <p:sp>
          <p:nvSpPr>
            <p:cNvPr id="55" name="Rectangle 4">
              <a:extLst>
                <a:ext uri="{FF2B5EF4-FFF2-40B4-BE49-F238E27FC236}">
                  <a16:creationId xmlns:a16="http://schemas.microsoft.com/office/drawing/2014/main" id="{887BE98B-9B7E-9D41-AEF0-CA93BB1C9316}"/>
                </a:ext>
              </a:extLst>
            </p:cNvPr>
            <p:cNvSpPr>
              <a:spLocks noChangeArrowheads="1"/>
            </p:cNvSpPr>
            <p:nvPr/>
          </p:nvSpPr>
          <p:spPr bwMode="auto">
            <a:xfrm>
              <a:off x="4432073" y="1560062"/>
              <a:ext cx="3951287" cy="4824412"/>
            </a:xfrm>
            <a:prstGeom prst="rect">
              <a:avLst/>
            </a:prstGeom>
            <a:solidFill>
              <a:srgbClr val="000099"/>
            </a:soli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a:solidFill>
                  <a:srgbClr val="000000"/>
                </a:solidFill>
                <a:latin typeface="Tahoma" charset="0"/>
                <a:ea typeface="ＭＳ Ｐゴシック" charset="0"/>
              </a:endParaRPr>
            </a:p>
          </p:txBody>
        </p:sp>
        <p:sp>
          <p:nvSpPr>
            <p:cNvPr id="57" name="Rectangle 5">
              <a:extLst>
                <a:ext uri="{FF2B5EF4-FFF2-40B4-BE49-F238E27FC236}">
                  <a16:creationId xmlns:a16="http://schemas.microsoft.com/office/drawing/2014/main" id="{6DD2E62C-E2CB-C147-9685-E568D5425264}"/>
                </a:ext>
              </a:extLst>
            </p:cNvPr>
            <p:cNvSpPr>
              <a:spLocks noChangeArrowheads="1"/>
            </p:cNvSpPr>
            <p:nvPr/>
          </p:nvSpPr>
          <p:spPr bwMode="auto">
            <a:xfrm>
              <a:off x="4346348" y="1675949"/>
              <a:ext cx="3951287" cy="4805363"/>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050" kern="0">
                <a:solidFill>
                  <a:srgbClr val="000000"/>
                </a:solidFill>
                <a:latin typeface="Arial" charset="0"/>
                <a:ea typeface="ＭＳ Ｐゴシック" charset="0"/>
              </a:endParaRPr>
            </a:p>
          </p:txBody>
        </p:sp>
        <p:sp>
          <p:nvSpPr>
            <p:cNvPr id="58" name="Line 8">
              <a:extLst>
                <a:ext uri="{FF2B5EF4-FFF2-40B4-BE49-F238E27FC236}">
                  <a16:creationId xmlns:a16="http://schemas.microsoft.com/office/drawing/2014/main" id="{6E5293FD-6A44-CD45-9C2D-E6EC13F48E0D}"/>
                </a:ext>
              </a:extLst>
            </p:cNvPr>
            <p:cNvSpPr>
              <a:spLocks noChangeShapeType="1"/>
            </p:cNvSpPr>
            <p:nvPr/>
          </p:nvSpPr>
          <p:spPr bwMode="auto">
            <a:xfrm>
              <a:off x="4349523" y="2050599"/>
              <a:ext cx="3946525" cy="4763"/>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59" name="Line 9">
              <a:extLst>
                <a:ext uri="{FF2B5EF4-FFF2-40B4-BE49-F238E27FC236}">
                  <a16:creationId xmlns:a16="http://schemas.microsoft.com/office/drawing/2014/main" id="{D5FD85FC-35E3-CC42-86B2-4CBE4FF7A22C}"/>
                </a:ext>
              </a:extLst>
            </p:cNvPr>
            <p:cNvSpPr>
              <a:spLocks noChangeShapeType="1"/>
            </p:cNvSpPr>
            <p:nvPr/>
          </p:nvSpPr>
          <p:spPr bwMode="auto">
            <a:xfrm flipV="1">
              <a:off x="4343173" y="2430012"/>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60" name="Line 16">
              <a:extLst>
                <a:ext uri="{FF2B5EF4-FFF2-40B4-BE49-F238E27FC236}">
                  <a16:creationId xmlns:a16="http://schemas.microsoft.com/office/drawing/2014/main" id="{1F09DA56-95A7-9740-9266-702F4D667899}"/>
                </a:ext>
              </a:extLst>
            </p:cNvPr>
            <p:cNvSpPr>
              <a:spLocks noChangeShapeType="1"/>
            </p:cNvSpPr>
            <p:nvPr/>
          </p:nvSpPr>
          <p:spPr bwMode="auto">
            <a:xfrm flipV="1">
              <a:off x="4352698" y="2811012"/>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61" name="Line 18">
              <a:extLst>
                <a:ext uri="{FF2B5EF4-FFF2-40B4-BE49-F238E27FC236}">
                  <a16:creationId xmlns:a16="http://schemas.microsoft.com/office/drawing/2014/main" id="{3173FF56-BD9B-654B-92B6-4B36C86F420A}"/>
                </a:ext>
              </a:extLst>
            </p:cNvPr>
            <p:cNvSpPr>
              <a:spLocks noChangeShapeType="1"/>
            </p:cNvSpPr>
            <p:nvPr/>
          </p:nvSpPr>
          <p:spPr bwMode="auto">
            <a:xfrm flipV="1">
              <a:off x="4347935" y="3206299"/>
              <a:ext cx="39512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62" name="Line 19">
              <a:extLst>
                <a:ext uri="{FF2B5EF4-FFF2-40B4-BE49-F238E27FC236}">
                  <a16:creationId xmlns:a16="http://schemas.microsoft.com/office/drawing/2014/main" id="{84202EA3-2833-F04E-AA3C-8BB8999BFBC1}"/>
                </a:ext>
              </a:extLst>
            </p:cNvPr>
            <p:cNvSpPr>
              <a:spLocks noChangeShapeType="1"/>
            </p:cNvSpPr>
            <p:nvPr/>
          </p:nvSpPr>
          <p:spPr bwMode="auto">
            <a:xfrm flipV="1">
              <a:off x="4343173" y="3596824"/>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63" name="Line 20">
              <a:extLst>
                <a:ext uri="{FF2B5EF4-FFF2-40B4-BE49-F238E27FC236}">
                  <a16:creationId xmlns:a16="http://schemas.microsoft.com/office/drawing/2014/main" id="{B5EE22BF-1DD2-B74E-9710-050E4C365A6C}"/>
                </a:ext>
              </a:extLst>
            </p:cNvPr>
            <p:cNvSpPr>
              <a:spLocks noChangeShapeType="1"/>
            </p:cNvSpPr>
            <p:nvPr/>
          </p:nvSpPr>
          <p:spPr bwMode="auto">
            <a:xfrm flipV="1">
              <a:off x="4343173" y="4158799"/>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64" name="Line 21">
              <a:extLst>
                <a:ext uri="{FF2B5EF4-FFF2-40B4-BE49-F238E27FC236}">
                  <a16:creationId xmlns:a16="http://schemas.microsoft.com/office/drawing/2014/main" id="{E3D5975A-D204-D047-91DC-FE8A65BBCCE9}"/>
                </a:ext>
              </a:extLst>
            </p:cNvPr>
            <p:cNvSpPr>
              <a:spLocks noChangeShapeType="1"/>
            </p:cNvSpPr>
            <p:nvPr/>
          </p:nvSpPr>
          <p:spPr bwMode="auto">
            <a:xfrm flipH="1" flipV="1">
              <a:off x="6303735" y="2814187"/>
              <a:ext cx="4763" cy="77787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grpSp>
          <p:nvGrpSpPr>
            <p:cNvPr id="65" name="Group 64">
              <a:extLst>
                <a:ext uri="{FF2B5EF4-FFF2-40B4-BE49-F238E27FC236}">
                  <a16:creationId xmlns:a16="http://schemas.microsoft.com/office/drawing/2014/main" id="{067C1EE2-2B96-F74C-A327-2DFC2DFC62BA}"/>
                </a:ext>
              </a:extLst>
            </p:cNvPr>
            <p:cNvGrpSpPr/>
            <p:nvPr/>
          </p:nvGrpSpPr>
          <p:grpSpPr>
            <a:xfrm>
              <a:off x="6168491" y="2788385"/>
              <a:ext cx="7209304" cy="1102544"/>
              <a:chOff x="6168491" y="2788385"/>
              <a:chExt cx="7209304" cy="1102544"/>
            </a:xfrm>
          </p:grpSpPr>
          <p:sp>
            <p:nvSpPr>
              <p:cNvPr id="67" name="Text Box 22">
                <a:extLst>
                  <a:ext uri="{FF2B5EF4-FFF2-40B4-BE49-F238E27FC236}">
                    <a16:creationId xmlns:a16="http://schemas.microsoft.com/office/drawing/2014/main" id="{2E8A978C-B58F-724E-97B2-2FB3E91F6385}"/>
                  </a:ext>
                </a:extLst>
              </p:cNvPr>
              <p:cNvSpPr txBox="1">
                <a:spLocks noChangeArrowheads="1"/>
              </p:cNvSpPr>
              <p:nvPr/>
            </p:nvSpPr>
            <p:spPr bwMode="auto">
              <a:xfrm>
                <a:off x="6168491" y="2788385"/>
                <a:ext cx="2182981" cy="51379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825" dirty="0">
                    <a:solidFill>
                      <a:srgbClr val="000000"/>
                    </a:solidFill>
                    <a:latin typeface="Arial" charset="0"/>
                  </a:rPr>
                  <a:t>receive window</a:t>
                </a:r>
              </a:p>
            </p:txBody>
          </p:sp>
          <p:sp>
            <p:nvSpPr>
              <p:cNvPr id="68" name="Text Box 49">
                <a:extLst>
                  <a:ext uri="{FF2B5EF4-FFF2-40B4-BE49-F238E27FC236}">
                    <a16:creationId xmlns:a16="http://schemas.microsoft.com/office/drawing/2014/main" id="{4311B6E6-847F-7C42-98B1-9875A91D17B3}"/>
                  </a:ext>
                </a:extLst>
              </p:cNvPr>
              <p:cNvSpPr txBox="1">
                <a:spLocks noChangeArrowheads="1"/>
              </p:cNvSpPr>
              <p:nvPr/>
            </p:nvSpPr>
            <p:spPr bwMode="auto">
              <a:xfrm>
                <a:off x="8724899" y="2847114"/>
                <a:ext cx="4652896" cy="104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350" dirty="0">
                    <a:solidFill>
                      <a:srgbClr val="000000"/>
                    </a:solidFill>
                    <a:latin typeface="Calibri" panose="020F0502020204030204"/>
                  </a:rPr>
                  <a:t>flow control: </a:t>
                </a:r>
                <a:r>
                  <a:rPr lang="en-US" sz="1200" dirty="0">
                    <a:solidFill>
                      <a:srgbClr val="000000"/>
                    </a:solidFill>
                    <a:latin typeface="Calibri" panose="020F0502020204030204"/>
                  </a:rPr>
                  <a:t># bytes receiver willing to accept</a:t>
                </a:r>
                <a:endParaRPr lang="en-US" sz="1350" dirty="0">
                  <a:solidFill>
                    <a:srgbClr val="000000"/>
                  </a:solidFill>
                  <a:latin typeface="Calibri" panose="020F0502020204030204"/>
                </a:endParaRPr>
              </a:p>
            </p:txBody>
          </p:sp>
          <p:sp>
            <p:nvSpPr>
              <p:cNvPr id="69" name="Line 53">
                <a:extLst>
                  <a:ext uri="{FF2B5EF4-FFF2-40B4-BE49-F238E27FC236}">
                    <a16:creationId xmlns:a16="http://schemas.microsoft.com/office/drawing/2014/main" id="{1B19FC7E-F3A0-3F49-A0E5-0BD2B4FBCBD0}"/>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a:solidFill>
                    <a:srgbClr val="000000"/>
                  </a:solidFill>
                  <a:latin typeface="Tahoma" charset="0"/>
                  <a:ea typeface="ＭＳ Ｐゴシック" charset="0"/>
                </a:endParaRPr>
              </a:p>
            </p:txBody>
          </p:sp>
        </p:grpSp>
        <p:sp>
          <p:nvSpPr>
            <p:cNvPr id="66" name="Line 10">
              <a:extLst>
                <a:ext uri="{FF2B5EF4-FFF2-40B4-BE49-F238E27FC236}">
                  <a16:creationId xmlns:a16="http://schemas.microsoft.com/office/drawing/2014/main" id="{C66942C1-B5F2-CD48-AEFD-79309840AF0C}"/>
                </a:ext>
              </a:extLst>
            </p:cNvPr>
            <p:cNvSpPr>
              <a:spLocks noChangeShapeType="1"/>
            </p:cNvSpPr>
            <p:nvPr/>
          </p:nvSpPr>
          <p:spPr bwMode="auto">
            <a:xfrm flipH="1" flipV="1">
              <a:off x="6289447" y="1679374"/>
              <a:ext cx="1761" cy="365184"/>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grpSp>
      <p:sp>
        <p:nvSpPr>
          <p:cNvPr id="70" name="Slide Number Placeholder 2">
            <a:extLst>
              <a:ext uri="{FF2B5EF4-FFF2-40B4-BE49-F238E27FC236}">
                <a16:creationId xmlns:a16="http://schemas.microsoft.com/office/drawing/2014/main" id="{3A4399FC-22AC-CD4F-9984-791C62C984F2}"/>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73</a:t>
            </a:fld>
            <a:endParaRPr lang="en-US" dirty="0">
              <a:solidFill>
                <a:prstClr val="white">
                  <a:lumMod val="50000"/>
                </a:prstClr>
              </a:solidFill>
            </a:endParaRPr>
          </a:p>
        </p:txBody>
      </p:sp>
    </p:spTree>
    <p:extLst>
      <p:ext uri="{BB962C8B-B14F-4D97-AF65-F5344CB8AC3E}">
        <p14:creationId xmlns:p14="http://schemas.microsoft.com/office/powerpoint/2010/main" val="495238199"/>
      </p:ext>
    </p:extLst>
  </p:cSld>
  <p:clrMapOvr>
    <a:masterClrMapping/>
  </p:clrMapOvr>
  <p:transition spd="med">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flow control</a:t>
            </a:r>
            <a:endParaRPr lang="en-US"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5886317" y="1670941"/>
            <a:ext cx="1893094" cy="2890838"/>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7717498" y="1666179"/>
            <a:ext cx="435769" cy="3155156"/>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5822023" y="1747141"/>
            <a:ext cx="1900238" cy="2861072"/>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6226835" y="1790003"/>
            <a:ext cx="1033463"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kern="0">
                <a:solidFill>
                  <a:srgbClr val="000000"/>
                </a:solidFill>
                <a:latin typeface="Arial" charset="0"/>
                <a:ea typeface="ＭＳ Ｐゴシック" charset="0"/>
              </a:rPr>
              <a:t>application</a:t>
            </a:r>
          </a:p>
          <a:p>
            <a:pPr algn="ctr">
              <a:defRPr/>
            </a:pPr>
            <a:r>
              <a:rPr lang="en-US" sz="1200" kern="0">
                <a:solidFill>
                  <a:srgbClr val="000000"/>
                </a:solidFill>
                <a:latin typeface="Arial" charset="0"/>
                <a:ea typeface="ＭＳ Ｐゴシック" charset="0"/>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6053005" y="2591294"/>
            <a:ext cx="1346597" cy="516731"/>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08" y="2368"/>
              <a:ext cx="1050" cy="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dirty="0">
                  <a:solidFill>
                    <a:prstClr val="white">
                      <a:lumMod val="95000"/>
                    </a:prstClr>
                  </a:solidFill>
                </a:rPr>
                <a:t>TCP socket</a:t>
              </a:r>
            </a:p>
            <a:p>
              <a:pPr algn="ctr">
                <a:defRPr/>
              </a:pPr>
              <a:r>
                <a:rPr lang="en-US" sz="1200" kern="0" dirty="0">
                  <a:solidFill>
                    <a:prstClr val="white">
                      <a:lumMod val="95000"/>
                    </a:prstClr>
                  </a:solidFill>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6179210" y="3359247"/>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Arial" charset="0"/>
              <a:ea typeface="ＭＳ Ｐゴシック" charset="0"/>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6536338" y="3380879"/>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TCP</a:t>
            </a:r>
          </a:p>
          <a:p>
            <a:pPr algn="ctr">
              <a:defRPr/>
            </a:pPr>
            <a:r>
              <a:rPr lang="en-US" sz="1050" kern="0" dirty="0">
                <a:solidFill>
                  <a:srgbClr val="000000"/>
                </a:solidFill>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6185164" y="4098625"/>
            <a:ext cx="1171575" cy="447675"/>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Arial" charset="0"/>
              <a:ea typeface="ＭＳ Ｐゴシック" charset="0"/>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6526093" y="4123484"/>
            <a:ext cx="465192" cy="4154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IP</a:t>
            </a:r>
          </a:p>
          <a:p>
            <a:pPr algn="ctr">
              <a:defRPr/>
            </a:pPr>
            <a:r>
              <a:rPr lang="en-US" sz="1050" kern="0" dirty="0">
                <a:solidFill>
                  <a:srgbClr val="000000"/>
                </a:solidFill>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5817260" y="3910506"/>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5826785" y="2522237"/>
            <a:ext cx="1909763"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6559020" y="2435323"/>
            <a:ext cx="400050" cy="154781"/>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5633542" y="5224890"/>
            <a:ext cx="2093843"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dirty="0">
                <a:solidFill>
                  <a:srgbClr val="000000"/>
                </a:solidFill>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6593083" y="4922126"/>
            <a:ext cx="0" cy="261938"/>
          </a:xfrm>
          <a:prstGeom prst="line">
            <a:avLst/>
          </a:prstGeom>
          <a:noFill/>
          <a:ln w="28575">
            <a:solidFill>
              <a:srgbClr val="CC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7713926" y="4604641"/>
            <a:ext cx="0" cy="347663"/>
          </a:xfrm>
          <a:prstGeom prst="line">
            <a:avLst/>
          </a:prstGeom>
          <a:noFill/>
          <a:ln w="1905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7892520" y="4299841"/>
            <a:ext cx="652463" cy="679847"/>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534416" y="1935016"/>
            <a:ext cx="2888120" cy="1477328"/>
          </a:xfrm>
          <a:prstGeom prst="rect">
            <a:avLst/>
          </a:prstGeom>
          <a:noFill/>
        </p:spPr>
        <p:txBody>
          <a:bodyPr wrap="square" rtlCol="0">
            <a:spAutoFit/>
          </a:bodyPr>
          <a:lstStyle/>
          <a:p>
            <a:pPr eaLnBrk="1" fontAlgn="auto" hangingPunct="1">
              <a:spcBef>
                <a:spcPts val="0"/>
              </a:spcBef>
              <a:spcAft>
                <a:spcPts val="0"/>
              </a:spcAft>
              <a:defRPr/>
            </a:pPr>
            <a:r>
              <a:rPr lang="en-US" sz="1800" i="1" u="sng" dirty="0">
                <a:solidFill>
                  <a:srgbClr val="C00000"/>
                </a:solidFill>
                <a:latin typeface="Calibri" panose="020F0502020204030204"/>
                <a:ea typeface="+mn-ea"/>
              </a:rPr>
              <a:t>Q: </a:t>
            </a:r>
            <a:r>
              <a:rPr lang="en-US" sz="1800" dirty="0">
                <a:solidFill>
                  <a:prstClr val="black"/>
                </a:solidFill>
                <a:latin typeface="Calibri" panose="020F0502020204030204"/>
                <a:ea typeface="+mn-ea"/>
              </a:rPr>
              <a:t>What happens if network layer delivers data faster than application layer removes data from socket buffers?</a:t>
            </a:r>
          </a:p>
        </p:txBody>
      </p:sp>
      <p:grpSp>
        <p:nvGrpSpPr>
          <p:cNvPr id="10" name="Group 9">
            <a:extLst>
              <a:ext uri="{FF2B5EF4-FFF2-40B4-BE49-F238E27FC236}">
                <a16:creationId xmlns:a16="http://schemas.microsoft.com/office/drawing/2014/main" id="{9B4B0832-7295-6748-A6EB-5D9B0607F222}"/>
              </a:ext>
            </a:extLst>
          </p:cNvPr>
          <p:cNvGrpSpPr/>
          <p:nvPr/>
        </p:nvGrpSpPr>
        <p:grpSpPr>
          <a:xfrm>
            <a:off x="567742" y="3509121"/>
            <a:ext cx="3123579" cy="1655535"/>
            <a:chOff x="363537" y="4127499"/>
            <a:chExt cx="4164772" cy="2207380"/>
          </a:xfrm>
        </p:grpSpPr>
        <p:sp>
          <p:nvSpPr>
            <p:cNvPr id="179" name="Rectangle 110">
              <a:extLst>
                <a:ext uri="{FF2B5EF4-FFF2-40B4-BE49-F238E27FC236}">
                  <a16:creationId xmlns:a16="http://schemas.microsoft.com/office/drawing/2014/main" id="{71EEDA6C-9700-F540-8450-88D0CF387D8C}"/>
                </a:ext>
              </a:extLst>
            </p:cNvPr>
            <p:cNvSpPr>
              <a:spLocks noChangeArrowheads="1"/>
            </p:cNvSpPr>
            <p:nvPr/>
          </p:nvSpPr>
          <p:spPr bwMode="auto">
            <a:xfrm>
              <a:off x="363537" y="4397375"/>
              <a:ext cx="4134671" cy="1680696"/>
            </a:xfrm>
            <a:prstGeom prst="rect">
              <a:avLst/>
            </a:prstGeom>
            <a:solidFill>
              <a:srgbClr val="FFFFFF"/>
            </a:solidFill>
            <a:ln w="28575">
              <a:solidFill>
                <a:srgbClr val="CC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ＭＳ Ｐゴシック" charset="0"/>
              </a:endParaRPr>
            </a:p>
          </p:txBody>
        </p:sp>
        <p:sp>
          <p:nvSpPr>
            <p:cNvPr id="180" name="Text Box 111">
              <a:extLst>
                <a:ext uri="{FF2B5EF4-FFF2-40B4-BE49-F238E27FC236}">
                  <a16:creationId xmlns:a16="http://schemas.microsoft.com/office/drawing/2014/main" id="{8C96D4BC-6609-824B-A9B9-24E2A66F66C2}"/>
                </a:ext>
              </a:extLst>
            </p:cNvPr>
            <p:cNvSpPr txBox="1">
              <a:spLocks noChangeArrowheads="1"/>
            </p:cNvSpPr>
            <p:nvPr/>
          </p:nvSpPr>
          <p:spPr bwMode="auto">
            <a:xfrm>
              <a:off x="455613" y="4549775"/>
              <a:ext cx="4072696" cy="178510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eaLnBrk="1" fontAlgn="auto" hangingPunct="1">
                <a:lnSpc>
                  <a:spcPct val="90000"/>
                </a:lnSpc>
                <a:spcBef>
                  <a:spcPts val="0"/>
                </a:spcBef>
                <a:spcAft>
                  <a:spcPts val="0"/>
                </a:spcAft>
                <a:defRPr/>
              </a:pPr>
              <a:r>
                <a:rPr lang="en-US" altLang="en-US" sz="1800" dirty="0">
                  <a:solidFill>
                    <a:prstClr val="black"/>
                  </a:solidFill>
                  <a:latin typeface="Calibri" panose="020F0502020204030204"/>
                </a:rPr>
                <a:t>receiver controls sender, so sender won’</a:t>
              </a:r>
              <a:r>
                <a:rPr lang="en-US" altLang="ja-JP" sz="1800" dirty="0">
                  <a:solidFill>
                    <a:prstClr val="black"/>
                  </a:solidFill>
                  <a:latin typeface="Calibri" panose="020F0502020204030204"/>
                </a:rPr>
                <a:t>t overflow receiver’s buffer by transmitting too much, too fast</a:t>
              </a:r>
              <a:endParaRPr lang="en-US" altLang="en-US" sz="788" dirty="0">
                <a:solidFill>
                  <a:prstClr val="black"/>
                </a:solidFill>
                <a:latin typeface="Calibri" panose="020F0502020204030204"/>
              </a:endParaRPr>
            </a:p>
          </p:txBody>
        </p:sp>
        <p:grpSp>
          <p:nvGrpSpPr>
            <p:cNvPr id="181" name="Group 112">
              <a:extLst>
                <a:ext uri="{FF2B5EF4-FFF2-40B4-BE49-F238E27FC236}">
                  <a16:creationId xmlns:a16="http://schemas.microsoft.com/office/drawing/2014/main" id="{6B4EAE2E-56DA-864E-99A1-E535BFD3AF51}"/>
                </a:ext>
              </a:extLst>
            </p:cNvPr>
            <p:cNvGrpSpPr>
              <a:grpSpLocks/>
            </p:cNvGrpSpPr>
            <p:nvPr/>
          </p:nvGrpSpPr>
          <p:grpSpPr bwMode="auto">
            <a:xfrm>
              <a:off x="551438" y="4127499"/>
              <a:ext cx="2003542" cy="554038"/>
              <a:chOff x="3327" y="230"/>
              <a:chExt cx="1176" cy="349"/>
            </a:xfrm>
          </p:grpSpPr>
          <p:sp>
            <p:nvSpPr>
              <p:cNvPr id="183" name="Rectangle 113">
                <a:extLst>
                  <a:ext uri="{FF2B5EF4-FFF2-40B4-BE49-F238E27FC236}">
                    <a16:creationId xmlns:a16="http://schemas.microsoft.com/office/drawing/2014/main" id="{364B36BC-850A-C443-AFE1-8C4A92F8CA4E}"/>
                  </a:ext>
                </a:extLst>
              </p:cNvPr>
              <p:cNvSpPr>
                <a:spLocks noChangeArrowheads="1"/>
              </p:cNvSpPr>
              <p:nvPr/>
            </p:nvSpPr>
            <p:spPr bwMode="auto">
              <a:xfrm>
                <a:off x="3369" y="323"/>
                <a:ext cx="1134" cy="222"/>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lang="en-US" sz="1350">
                  <a:solidFill>
                    <a:prstClr val="black"/>
                  </a:solidFill>
                  <a:latin typeface="Calibri" panose="020F0502020204030204"/>
                  <a:ea typeface="ＭＳ Ｐゴシック" charset="0"/>
                </a:endParaRPr>
              </a:p>
            </p:txBody>
          </p:sp>
          <p:sp>
            <p:nvSpPr>
              <p:cNvPr id="184" name="Text Box 114">
                <a:extLst>
                  <a:ext uri="{FF2B5EF4-FFF2-40B4-BE49-F238E27FC236}">
                    <a16:creationId xmlns:a16="http://schemas.microsoft.com/office/drawing/2014/main" id="{4A67984A-D193-3248-9AD8-3DC1586083A2}"/>
                  </a:ext>
                </a:extLst>
              </p:cNvPr>
              <p:cNvSpPr txBox="1">
                <a:spLocks noChangeArrowheads="1"/>
              </p:cNvSpPr>
              <p:nvPr/>
            </p:nvSpPr>
            <p:spPr bwMode="auto">
              <a:xfrm>
                <a:off x="3327" y="230"/>
                <a:ext cx="1175" cy="34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fontAlgn="auto" hangingPunct="1">
                  <a:spcBef>
                    <a:spcPts val="0"/>
                  </a:spcBef>
                  <a:spcAft>
                    <a:spcPts val="0"/>
                  </a:spcAft>
                  <a:defRPr/>
                </a:pPr>
                <a:r>
                  <a:rPr lang="en-US" sz="2100" dirty="0">
                    <a:solidFill>
                      <a:srgbClr val="CC0000"/>
                    </a:solidFill>
                    <a:latin typeface="Calibri" panose="020F0502020204030204"/>
                  </a:rPr>
                  <a:t>flow control</a:t>
                </a:r>
              </a:p>
            </p:txBody>
          </p:sp>
        </p:grpSp>
      </p:gr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5823356" y="4612272"/>
            <a:ext cx="0" cy="347663"/>
          </a:xfrm>
          <a:prstGeom prst="line">
            <a:avLst/>
          </a:prstGeom>
          <a:noFill/>
          <a:ln w="1905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grpSp>
        <p:nvGrpSpPr>
          <p:cNvPr id="12" name="Group 11">
            <a:extLst>
              <a:ext uri="{FF2B5EF4-FFF2-40B4-BE49-F238E27FC236}">
                <a16:creationId xmlns:a16="http://schemas.microsoft.com/office/drawing/2014/main" id="{C820FA96-992D-4547-BB82-D80AD6340B76}"/>
              </a:ext>
            </a:extLst>
          </p:cNvPr>
          <p:cNvGrpSpPr/>
          <p:nvPr/>
        </p:nvGrpSpPr>
        <p:grpSpPr>
          <a:xfrm>
            <a:off x="5696850" y="2962015"/>
            <a:ext cx="1595717" cy="2254033"/>
            <a:chOff x="7595799" y="2806352"/>
            <a:chExt cx="2127623" cy="3005378"/>
          </a:xfrm>
        </p:grpSpPr>
        <p:grpSp>
          <p:nvGrpSpPr>
            <p:cNvPr id="7" name="Group 6">
              <a:extLst>
                <a:ext uri="{FF2B5EF4-FFF2-40B4-BE49-F238E27FC236}">
                  <a16:creationId xmlns:a16="http://schemas.microsoft.com/office/drawing/2014/main" id="{90136498-1DCA-8245-9AEB-79D923D0965C}"/>
                </a:ext>
              </a:extLst>
            </p:cNvPr>
            <p:cNvGrpSpPr/>
            <p:nvPr/>
          </p:nvGrpSpPr>
          <p:grpSpPr>
            <a:xfrm>
              <a:off x="7595799" y="3080408"/>
              <a:ext cx="1344823" cy="2731322"/>
              <a:chOff x="7039385" y="3577949"/>
              <a:chExt cx="1344823" cy="2731322"/>
            </a:xfrm>
          </p:grpSpPr>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7655546" y="4619349"/>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344839" y="5551212"/>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7647608" y="3577949"/>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039385" y="5970716"/>
                <a:ext cx="1203748"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dirty="0">
                    <a:solidFill>
                      <a:srgbClr val="000000"/>
                    </a:solidFill>
                  </a:rPr>
                  <a:t>from sender</a:t>
                </a:r>
              </a:p>
            </p:txBody>
          </p:sp>
        </p:gr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black"/>
                </a:solidFill>
              </a:endParaRPr>
            </a:p>
          </p:txBody>
        </p:sp>
      </p:grpSp>
      <p:grpSp>
        <p:nvGrpSpPr>
          <p:cNvPr id="13" name="Group 12">
            <a:extLst>
              <a:ext uri="{FF2B5EF4-FFF2-40B4-BE49-F238E27FC236}">
                <a16:creationId xmlns:a16="http://schemas.microsoft.com/office/drawing/2014/main" id="{061072C8-D06D-0540-97C3-C1DE8C5A0444}"/>
              </a:ext>
            </a:extLst>
          </p:cNvPr>
          <p:cNvGrpSpPr/>
          <p:nvPr/>
        </p:nvGrpSpPr>
        <p:grpSpPr>
          <a:xfrm>
            <a:off x="3741864" y="2062595"/>
            <a:ext cx="3738700" cy="687523"/>
            <a:chOff x="4989152" y="1607125"/>
            <a:chExt cx="4984933" cy="916696"/>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71007"/>
              <a:chOff x="4432738" y="2150355"/>
              <a:chExt cx="4984933" cy="871007"/>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0" cy="8710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eaLnBrk="1" fontAlgn="auto" hangingPunct="1">
                  <a:lnSpc>
                    <a:spcPct val="90000"/>
                  </a:lnSpc>
                  <a:spcBef>
                    <a:spcPts val="0"/>
                  </a:spcBef>
                  <a:spcAft>
                    <a:spcPts val="0"/>
                  </a:spcAft>
                  <a:defRPr/>
                </a:pPr>
                <a:r>
                  <a:rPr lang="en-US" altLang="en-US" sz="1350" dirty="0">
                    <a:solidFill>
                      <a:prstClr val="black"/>
                    </a:solidFill>
                    <a:latin typeface="Calibri" panose="020F0502020204030204"/>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black"/>
                </a:solidFill>
              </a:endParaRPr>
            </a:p>
          </p:txBody>
        </p:sp>
      </p:grpSp>
      <p:sp>
        <p:nvSpPr>
          <p:cNvPr id="52" name="Slide Number Placeholder 2">
            <a:extLst>
              <a:ext uri="{FF2B5EF4-FFF2-40B4-BE49-F238E27FC236}">
                <a16:creationId xmlns:a16="http://schemas.microsoft.com/office/drawing/2014/main" id="{6AC88DD4-8D5E-1A4B-AF04-AF0A9B96E264}"/>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74</a:t>
            </a:fld>
            <a:endParaRPr lang="en-US" dirty="0">
              <a:solidFill>
                <a:prstClr val="white">
                  <a:lumMod val="50000"/>
                </a:prstClr>
              </a:solidFill>
            </a:endParaRPr>
          </a:p>
        </p:txBody>
      </p:sp>
    </p:spTree>
    <p:extLst>
      <p:ext uri="{BB962C8B-B14F-4D97-AF65-F5344CB8AC3E}">
        <p14:creationId xmlns:p14="http://schemas.microsoft.com/office/powerpoint/2010/main" val="1703687911"/>
      </p:ext>
    </p:extLst>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flow control</a:t>
            </a:r>
            <a:endParaRPr lang="en-US" b="0" dirty="0"/>
          </a:p>
        </p:txBody>
      </p:sp>
      <p:sp>
        <p:nvSpPr>
          <p:cNvPr id="54" name="Rectangle 75">
            <a:extLst>
              <a:ext uri="{FF2B5EF4-FFF2-40B4-BE49-F238E27FC236}">
                <a16:creationId xmlns:a16="http://schemas.microsoft.com/office/drawing/2014/main" id="{78F7B284-6B74-F548-982C-C01C5F7D3D99}"/>
              </a:ext>
            </a:extLst>
          </p:cNvPr>
          <p:cNvSpPr txBox="1">
            <a:spLocks noChangeArrowheads="1"/>
          </p:cNvSpPr>
          <p:nvPr/>
        </p:nvSpPr>
        <p:spPr>
          <a:xfrm>
            <a:off x="501705" y="1971676"/>
            <a:ext cx="4369804" cy="3680222"/>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00000"/>
              </a:lnSpc>
              <a:spcAft>
                <a:spcPts val="0"/>
              </a:spcAft>
              <a:defRPr/>
            </a:pPr>
            <a:r>
              <a:rPr lang="en-US" altLang="en-US" sz="2100" dirty="0">
                <a:solidFill>
                  <a:prstClr val="black"/>
                </a:solidFill>
                <a:ea typeface="ＭＳ Ｐゴシック" panose="020B0600070205080204" pitchFamily="34" charset="-128"/>
              </a:rPr>
              <a:t>TCP receiver “</a:t>
            </a:r>
            <a:r>
              <a:rPr lang="en-US" altLang="ja-JP" sz="2100" dirty="0">
                <a:solidFill>
                  <a:prstClr val="black"/>
                </a:solidFill>
                <a:ea typeface="ＭＳ Ｐゴシック" panose="020B0600070205080204" pitchFamily="34" charset="-128"/>
              </a:rPr>
              <a:t>advertises” free buffer space in </a:t>
            </a:r>
            <a:r>
              <a:rPr lang="en-US" altLang="ja-JP" sz="2100" b="1" dirty="0" err="1">
                <a:solidFill>
                  <a:prstClr val="black"/>
                </a:solidFill>
                <a:latin typeface="Courier New" panose="02070309020205020404" pitchFamily="49" charset="0"/>
                <a:ea typeface="ＭＳ Ｐゴシック" panose="020B0600070205080204" pitchFamily="34" charset="-128"/>
              </a:rPr>
              <a:t>rwnd</a:t>
            </a:r>
            <a:r>
              <a:rPr lang="en-US" altLang="ja-JP" sz="2100" dirty="0">
                <a:solidFill>
                  <a:prstClr val="black"/>
                </a:solidFill>
                <a:ea typeface="ＭＳ Ｐゴシック" panose="020B0600070205080204" pitchFamily="34" charset="-128"/>
              </a:rPr>
              <a:t> field in TCP header</a:t>
            </a:r>
          </a:p>
          <a:p>
            <a:pPr lvl="1" fontAlgn="auto">
              <a:lnSpc>
                <a:spcPct val="100000"/>
              </a:lnSpc>
              <a:spcAft>
                <a:spcPts val="0"/>
              </a:spcAft>
              <a:defRPr/>
            </a:pPr>
            <a:r>
              <a:rPr lang="en-US" altLang="en-US" sz="1800" b="1" dirty="0" err="1">
                <a:solidFill>
                  <a:prstClr val="black"/>
                </a:solidFill>
                <a:latin typeface="Courier New" panose="02070309020205020404" pitchFamily="49" charset="0"/>
                <a:ea typeface="ＭＳ Ｐゴシック" panose="020B0600070205080204" pitchFamily="34" charset="-128"/>
              </a:rPr>
              <a:t>RcvBuffer</a:t>
            </a:r>
            <a:r>
              <a:rPr lang="en-US" altLang="en-US" sz="1800" b="1" dirty="0">
                <a:solidFill>
                  <a:prstClr val="black"/>
                </a:solidFill>
                <a:latin typeface="Courier New" panose="02070309020205020404" pitchFamily="49" charset="0"/>
                <a:ea typeface="ＭＳ Ｐゴシック" panose="020B0600070205080204" pitchFamily="34" charset="-128"/>
              </a:rPr>
              <a:t> </a:t>
            </a:r>
            <a:r>
              <a:rPr lang="en-US" altLang="en-US" sz="1800" dirty="0">
                <a:solidFill>
                  <a:prstClr val="black"/>
                </a:solidFill>
                <a:ea typeface="ＭＳ Ｐゴシック" panose="020B0600070205080204" pitchFamily="34" charset="-128"/>
              </a:rPr>
              <a:t>size set via socket options (typical default is 4096 bytes)</a:t>
            </a:r>
          </a:p>
          <a:p>
            <a:pPr lvl="1" fontAlgn="auto">
              <a:lnSpc>
                <a:spcPct val="100000"/>
              </a:lnSpc>
              <a:spcAft>
                <a:spcPts val="0"/>
              </a:spcAft>
              <a:defRPr/>
            </a:pPr>
            <a:r>
              <a:rPr lang="en-US" altLang="en-US" sz="1800" dirty="0">
                <a:solidFill>
                  <a:prstClr val="black"/>
                </a:solidFill>
                <a:ea typeface="ＭＳ Ｐゴシック" panose="020B0600070205080204" pitchFamily="34" charset="-128"/>
              </a:rPr>
              <a:t>many operating systems </a:t>
            </a:r>
            <a:r>
              <a:rPr lang="en-US" altLang="en-US" sz="1800" dirty="0" err="1">
                <a:solidFill>
                  <a:prstClr val="black"/>
                </a:solidFill>
                <a:ea typeface="ＭＳ Ｐゴシック" panose="020B0600070205080204" pitchFamily="34" charset="-128"/>
              </a:rPr>
              <a:t>autoadjust</a:t>
            </a:r>
            <a:r>
              <a:rPr lang="en-US" altLang="en-US" sz="1800" dirty="0">
                <a:solidFill>
                  <a:prstClr val="black"/>
                </a:solidFill>
                <a:ea typeface="ＭＳ Ｐゴシック" panose="020B0600070205080204" pitchFamily="34" charset="-128"/>
              </a:rPr>
              <a:t> </a:t>
            </a:r>
            <a:r>
              <a:rPr lang="en-US" altLang="en-US" sz="1800" b="1" dirty="0" err="1">
                <a:solidFill>
                  <a:prstClr val="black"/>
                </a:solidFill>
                <a:latin typeface="Courier New" panose="02070309020205020404" pitchFamily="49" charset="0"/>
                <a:ea typeface="ＭＳ Ｐゴシック" panose="020B0600070205080204" pitchFamily="34" charset="-128"/>
              </a:rPr>
              <a:t>RcvBuffer</a:t>
            </a:r>
            <a:endParaRPr lang="en-US" altLang="en-US" sz="1800" dirty="0">
              <a:solidFill>
                <a:prstClr val="black"/>
              </a:solidFill>
              <a:ea typeface="ＭＳ Ｐゴシック" panose="020B0600070205080204" pitchFamily="34" charset="-128"/>
            </a:endParaRPr>
          </a:p>
          <a:p>
            <a:pPr fontAlgn="auto">
              <a:lnSpc>
                <a:spcPct val="100000"/>
              </a:lnSpc>
              <a:spcAft>
                <a:spcPts val="0"/>
              </a:spcAft>
              <a:defRPr/>
            </a:pPr>
            <a:r>
              <a:rPr lang="en-US" altLang="en-US" sz="2100" dirty="0">
                <a:solidFill>
                  <a:prstClr val="black"/>
                </a:solidFill>
                <a:ea typeface="ＭＳ Ｐゴシック" panose="020B0600070205080204" pitchFamily="34" charset="-128"/>
              </a:rPr>
              <a:t>sender limits amount of </a:t>
            </a:r>
            <a:r>
              <a:rPr lang="en-US" altLang="en-US" sz="2100" dirty="0" err="1">
                <a:solidFill>
                  <a:prstClr val="black"/>
                </a:solidFill>
                <a:ea typeface="ＭＳ Ｐゴシック" panose="020B0600070205080204" pitchFamily="34" charset="-128"/>
              </a:rPr>
              <a:t>unACKed</a:t>
            </a:r>
            <a:r>
              <a:rPr lang="en-US" altLang="en-US" sz="2100" dirty="0">
                <a:solidFill>
                  <a:prstClr val="black"/>
                </a:solidFill>
                <a:ea typeface="ＭＳ Ｐゴシック" panose="020B0600070205080204" pitchFamily="34" charset="-128"/>
              </a:rPr>
              <a:t> (“</a:t>
            </a:r>
            <a:r>
              <a:rPr lang="en-US" altLang="ja-JP" sz="2100" dirty="0">
                <a:solidFill>
                  <a:prstClr val="black"/>
                </a:solidFill>
                <a:ea typeface="ＭＳ Ｐゴシック" panose="020B0600070205080204" pitchFamily="34" charset="-128"/>
              </a:rPr>
              <a:t>in-flight”) data to received </a:t>
            </a:r>
            <a:r>
              <a:rPr lang="en-US" altLang="ja-JP" sz="2100" b="1" dirty="0" err="1">
                <a:solidFill>
                  <a:prstClr val="black"/>
                </a:solidFill>
                <a:latin typeface="Courier New" panose="02070309020205020404" pitchFamily="49" charset="0"/>
                <a:ea typeface="ＭＳ Ｐゴシック" panose="020B0600070205080204" pitchFamily="34" charset="-128"/>
              </a:rPr>
              <a:t>rwnd</a:t>
            </a:r>
            <a:endParaRPr lang="en-US" altLang="ja-JP" sz="2100" b="1" dirty="0">
              <a:solidFill>
                <a:prstClr val="black"/>
              </a:solidFill>
              <a:latin typeface="Courier New" panose="02070309020205020404" pitchFamily="49" charset="0"/>
              <a:ea typeface="ＭＳ Ｐゴシック" panose="020B0600070205080204" pitchFamily="34" charset="-128"/>
            </a:endParaRPr>
          </a:p>
          <a:p>
            <a:pPr fontAlgn="auto">
              <a:lnSpc>
                <a:spcPct val="100000"/>
              </a:lnSpc>
              <a:spcAft>
                <a:spcPts val="0"/>
              </a:spcAft>
              <a:defRPr/>
            </a:pPr>
            <a:r>
              <a:rPr lang="en-US" altLang="en-US" sz="2100" dirty="0">
                <a:solidFill>
                  <a:prstClr val="black"/>
                </a:solidFill>
                <a:ea typeface="ＭＳ Ｐゴシック" panose="020B0600070205080204" pitchFamily="34" charset="-128"/>
              </a:rPr>
              <a:t>guarantees receive buffer will not overflow</a:t>
            </a:r>
          </a:p>
        </p:txBody>
      </p:sp>
      <p:grpSp>
        <p:nvGrpSpPr>
          <p:cNvPr id="81" name="Group 72">
            <a:extLst>
              <a:ext uri="{FF2B5EF4-FFF2-40B4-BE49-F238E27FC236}">
                <a16:creationId xmlns:a16="http://schemas.microsoft.com/office/drawing/2014/main" id="{BCF10484-C4F0-2146-A1F6-01CD23E18EAF}"/>
              </a:ext>
            </a:extLst>
          </p:cNvPr>
          <p:cNvGrpSpPr>
            <a:grpSpLocks/>
          </p:cNvGrpSpPr>
          <p:nvPr/>
        </p:nvGrpSpPr>
        <p:grpSpPr bwMode="auto">
          <a:xfrm>
            <a:off x="6110638" y="2620566"/>
            <a:ext cx="1933575" cy="1616869"/>
            <a:chOff x="512" y="1294"/>
            <a:chExt cx="1888" cy="1358"/>
          </a:xfrm>
        </p:grpSpPr>
        <p:grpSp>
          <p:nvGrpSpPr>
            <p:cNvPr id="82" name="Group 17">
              <a:extLst>
                <a:ext uri="{FF2B5EF4-FFF2-40B4-BE49-F238E27FC236}">
                  <a16:creationId xmlns:a16="http://schemas.microsoft.com/office/drawing/2014/main" id="{1B215862-92BC-FD44-8231-FAC4460EC932}"/>
                </a:ext>
              </a:extLst>
            </p:cNvPr>
            <p:cNvGrpSpPr>
              <a:grpSpLocks/>
            </p:cNvGrpSpPr>
            <p:nvPr/>
          </p:nvGrpSpPr>
          <p:grpSpPr bwMode="auto">
            <a:xfrm>
              <a:off x="1232" y="1410"/>
              <a:ext cx="336" cy="130"/>
              <a:chOff x="2003" y="1816"/>
              <a:chExt cx="336" cy="130"/>
            </a:xfrm>
          </p:grpSpPr>
          <p:sp>
            <p:nvSpPr>
              <p:cNvPr id="91" name="Rectangle 18">
                <a:extLst>
                  <a:ext uri="{FF2B5EF4-FFF2-40B4-BE49-F238E27FC236}">
                    <a16:creationId xmlns:a16="http://schemas.microsoft.com/office/drawing/2014/main" id="{9F916805-82BB-7244-99A5-5F0A5D165046}"/>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92" name="Rectangle 19">
                <a:extLst>
                  <a:ext uri="{FF2B5EF4-FFF2-40B4-BE49-F238E27FC236}">
                    <a16:creationId xmlns:a16="http://schemas.microsoft.com/office/drawing/2014/main" id="{4DA550D0-215D-334C-AB2B-CF8748123D33}"/>
                  </a:ext>
                </a:extLst>
              </p:cNvPr>
              <p:cNvSpPr>
                <a:spLocks noChangeArrowheads="1"/>
              </p:cNvSpPr>
              <p:nvPr/>
            </p:nvSpPr>
            <p:spPr bwMode="auto">
              <a:xfrm>
                <a:off x="2105" y="1833"/>
                <a:ext cx="108"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93" name="Rectangle 20">
                <a:extLst>
                  <a:ext uri="{FF2B5EF4-FFF2-40B4-BE49-F238E27FC236}">
                    <a16:creationId xmlns:a16="http://schemas.microsoft.com/office/drawing/2014/main" id="{B48A6578-4F82-8A4E-B684-CD32D31F82B1}"/>
                  </a:ext>
                </a:extLst>
              </p:cNvPr>
              <p:cNvSpPr>
                <a:spLocks noChangeArrowheads="1"/>
              </p:cNvSpPr>
              <p:nvPr/>
            </p:nvSpPr>
            <p:spPr bwMode="auto">
              <a:xfrm>
                <a:off x="2228" y="1891"/>
                <a:ext cx="28"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94" name="Rectangle 21">
                <a:extLst>
                  <a:ext uri="{FF2B5EF4-FFF2-40B4-BE49-F238E27FC236}">
                    <a16:creationId xmlns:a16="http://schemas.microsoft.com/office/drawing/2014/main" id="{FE3C8549-958F-8C49-9BB2-21BE77A5A384}"/>
                  </a:ext>
                </a:extLst>
              </p:cNvPr>
              <p:cNvSpPr>
                <a:spLocks noChangeArrowheads="1"/>
              </p:cNvSpPr>
              <p:nvPr/>
            </p:nvSpPr>
            <p:spPr bwMode="auto">
              <a:xfrm>
                <a:off x="2056" y="189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83" name="Rectangle 52">
              <a:extLst>
                <a:ext uri="{FF2B5EF4-FFF2-40B4-BE49-F238E27FC236}">
                  <a16:creationId xmlns:a16="http://schemas.microsoft.com/office/drawing/2014/main" id="{4EAEE0E4-1542-A044-B98C-0D8E8528492B}"/>
                </a:ext>
              </a:extLst>
            </p:cNvPr>
            <p:cNvSpPr>
              <a:spLocks noChangeArrowheads="1"/>
            </p:cNvSpPr>
            <p:nvPr/>
          </p:nvSpPr>
          <p:spPr bwMode="auto">
            <a:xfrm>
              <a:off x="526" y="1522"/>
              <a:ext cx="1871" cy="896"/>
            </a:xfrm>
            <a:prstGeom prst="rect">
              <a:avLst/>
            </a:prstGeom>
            <a:solidFill>
              <a:srgbClr val="0000A8"/>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84" name="Line 53">
              <a:extLst>
                <a:ext uri="{FF2B5EF4-FFF2-40B4-BE49-F238E27FC236}">
                  <a16:creationId xmlns:a16="http://schemas.microsoft.com/office/drawing/2014/main" id="{1BF4AFA5-7079-8E48-98E5-F01131B6DC42}"/>
                </a:ext>
              </a:extLst>
            </p:cNvPr>
            <p:cNvSpPr>
              <a:spLocks noChangeShapeType="1"/>
            </p:cNvSpPr>
            <p:nvPr/>
          </p:nvSpPr>
          <p:spPr bwMode="auto">
            <a:xfrm>
              <a:off x="512" y="1863"/>
              <a:ext cx="188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85" name="AutoShape 54">
              <a:extLst>
                <a:ext uri="{FF2B5EF4-FFF2-40B4-BE49-F238E27FC236}">
                  <a16:creationId xmlns:a16="http://schemas.microsoft.com/office/drawing/2014/main" id="{01CE49A7-7FEA-2F41-B96C-9C13B374840D}"/>
                </a:ext>
              </a:extLst>
            </p:cNvPr>
            <p:cNvSpPr>
              <a:spLocks noChangeArrowheads="1"/>
            </p:cNvSpPr>
            <p:nvPr/>
          </p:nvSpPr>
          <p:spPr bwMode="auto">
            <a:xfrm>
              <a:off x="1310" y="1294"/>
              <a:ext cx="157" cy="288"/>
            </a:xfrm>
            <a:prstGeom prst="upArrow">
              <a:avLst>
                <a:gd name="adj1" fmla="val 50000"/>
                <a:gd name="adj2" fmla="val 45860"/>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86" name="Rectangle 55" descr="Dark upward diagonal">
              <a:extLst>
                <a:ext uri="{FF2B5EF4-FFF2-40B4-BE49-F238E27FC236}">
                  <a16:creationId xmlns:a16="http://schemas.microsoft.com/office/drawing/2014/main" id="{E7DBF90D-63AF-CA4B-B765-CCAF65A7F80D}"/>
                </a:ext>
              </a:extLst>
            </p:cNvPr>
            <p:cNvSpPr>
              <a:spLocks noChangeArrowheads="1"/>
            </p:cNvSpPr>
            <p:nvPr/>
          </p:nvSpPr>
          <p:spPr bwMode="auto">
            <a:xfrm>
              <a:off x="534" y="1856"/>
              <a:ext cx="1848" cy="555"/>
            </a:xfrm>
            <a:prstGeom prst="rect">
              <a:avLst/>
            </a:prstGeom>
            <a:solidFill>
              <a:schemeClr val="bg1">
                <a:lumMod val="9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87" name="AutoShape 56">
              <a:extLst>
                <a:ext uri="{FF2B5EF4-FFF2-40B4-BE49-F238E27FC236}">
                  <a16:creationId xmlns:a16="http://schemas.microsoft.com/office/drawing/2014/main" id="{E85EDD4B-2EB2-CF4B-A7E7-5DB87DD8E261}"/>
                </a:ext>
              </a:extLst>
            </p:cNvPr>
            <p:cNvSpPr>
              <a:spLocks noChangeArrowheads="1"/>
            </p:cNvSpPr>
            <p:nvPr/>
          </p:nvSpPr>
          <p:spPr bwMode="auto">
            <a:xfrm>
              <a:off x="1312" y="2364"/>
              <a:ext cx="157" cy="288"/>
            </a:xfrm>
            <a:prstGeom prst="upArrow">
              <a:avLst>
                <a:gd name="adj1" fmla="val 50000"/>
                <a:gd name="adj2" fmla="val 45860"/>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88" name="Text Box 57">
              <a:extLst>
                <a:ext uri="{FF2B5EF4-FFF2-40B4-BE49-F238E27FC236}">
                  <a16:creationId xmlns:a16="http://schemas.microsoft.com/office/drawing/2014/main" id="{18AF2730-2703-2A49-8B1B-CCB541608D5B}"/>
                </a:ext>
              </a:extLst>
            </p:cNvPr>
            <p:cNvSpPr txBox="1">
              <a:spLocks noChangeArrowheads="1"/>
            </p:cNvSpPr>
            <p:nvPr/>
          </p:nvSpPr>
          <p:spPr bwMode="auto">
            <a:xfrm>
              <a:off x="787" y="1568"/>
              <a:ext cx="1298"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dirty="0">
                  <a:solidFill>
                    <a:prstClr val="white"/>
                  </a:solidFill>
                </a:rPr>
                <a:t>buffered data</a:t>
              </a:r>
            </a:p>
          </p:txBody>
        </p:sp>
        <p:sp>
          <p:nvSpPr>
            <p:cNvPr id="89" name="Line 58">
              <a:extLst>
                <a:ext uri="{FF2B5EF4-FFF2-40B4-BE49-F238E27FC236}">
                  <a16:creationId xmlns:a16="http://schemas.microsoft.com/office/drawing/2014/main" id="{3E425F76-602D-884F-B462-CE3703890F46}"/>
                </a:ext>
              </a:extLst>
            </p:cNvPr>
            <p:cNvSpPr>
              <a:spLocks noChangeShapeType="1"/>
            </p:cNvSpPr>
            <p:nvPr/>
          </p:nvSpPr>
          <p:spPr bwMode="auto">
            <a:xfrm>
              <a:off x="522" y="1857"/>
              <a:ext cx="1878" cy="7"/>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90" name="Text Box 59">
              <a:extLst>
                <a:ext uri="{FF2B5EF4-FFF2-40B4-BE49-F238E27FC236}">
                  <a16:creationId xmlns:a16="http://schemas.microsoft.com/office/drawing/2014/main" id="{FAA57939-600A-5644-BD7E-58580D1D7997}"/>
                </a:ext>
              </a:extLst>
            </p:cNvPr>
            <p:cNvSpPr txBox="1">
              <a:spLocks noChangeArrowheads="1"/>
            </p:cNvSpPr>
            <p:nvPr/>
          </p:nvSpPr>
          <p:spPr bwMode="auto">
            <a:xfrm>
              <a:off x="624" y="2020"/>
              <a:ext cx="1587"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a:solidFill>
                    <a:srgbClr val="000000"/>
                  </a:solidFill>
                </a:rPr>
                <a:t>free buffer space</a:t>
              </a:r>
            </a:p>
          </p:txBody>
        </p:sp>
      </p:grpSp>
      <p:sp>
        <p:nvSpPr>
          <p:cNvPr id="95" name="Text Box 62">
            <a:extLst>
              <a:ext uri="{FF2B5EF4-FFF2-40B4-BE49-F238E27FC236}">
                <a16:creationId xmlns:a16="http://schemas.microsoft.com/office/drawing/2014/main" id="{AEFCE47F-E93D-AF44-B3F4-73BB671A7DAA}"/>
              </a:ext>
            </a:extLst>
          </p:cNvPr>
          <p:cNvSpPr txBox="1">
            <a:spLocks noChangeArrowheads="1"/>
          </p:cNvSpPr>
          <p:nvPr/>
        </p:nvSpPr>
        <p:spPr bwMode="auto">
          <a:xfrm>
            <a:off x="5419210" y="3479006"/>
            <a:ext cx="556563"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b="1">
                <a:solidFill>
                  <a:srgbClr val="000000"/>
                </a:solidFill>
                <a:latin typeface="Courier New" charset="0"/>
              </a:rPr>
              <a:t>rwnd</a:t>
            </a:r>
          </a:p>
        </p:txBody>
      </p:sp>
      <p:sp>
        <p:nvSpPr>
          <p:cNvPr id="96" name="Line 64">
            <a:extLst>
              <a:ext uri="{FF2B5EF4-FFF2-40B4-BE49-F238E27FC236}">
                <a16:creationId xmlns:a16="http://schemas.microsoft.com/office/drawing/2014/main" id="{16902A7E-A0A9-CA44-AA34-DA532E0008E8}"/>
              </a:ext>
            </a:extLst>
          </p:cNvPr>
          <p:cNvSpPr>
            <a:spLocks noChangeShapeType="1"/>
          </p:cNvSpPr>
          <p:nvPr/>
        </p:nvSpPr>
        <p:spPr bwMode="auto">
          <a:xfrm>
            <a:off x="5828459" y="3278981"/>
            <a:ext cx="0" cy="241697"/>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97" name="Line 65">
            <a:extLst>
              <a:ext uri="{FF2B5EF4-FFF2-40B4-BE49-F238E27FC236}">
                <a16:creationId xmlns:a16="http://schemas.microsoft.com/office/drawing/2014/main" id="{D648F6B1-0A50-8C4D-A7D2-3CF747C8BABF}"/>
              </a:ext>
            </a:extLst>
          </p:cNvPr>
          <p:cNvSpPr>
            <a:spLocks noChangeShapeType="1"/>
          </p:cNvSpPr>
          <p:nvPr/>
        </p:nvSpPr>
        <p:spPr bwMode="auto">
          <a:xfrm flipV="1">
            <a:off x="5828459" y="3673078"/>
            <a:ext cx="0" cy="241697"/>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98" name="Line 66">
            <a:extLst>
              <a:ext uri="{FF2B5EF4-FFF2-40B4-BE49-F238E27FC236}">
                <a16:creationId xmlns:a16="http://schemas.microsoft.com/office/drawing/2014/main" id="{6D1EA1AA-F1A0-E74F-8EB6-323F135BBE4A}"/>
              </a:ext>
            </a:extLst>
          </p:cNvPr>
          <p:cNvSpPr>
            <a:spLocks noChangeShapeType="1"/>
          </p:cNvSpPr>
          <p:nvPr/>
        </p:nvSpPr>
        <p:spPr bwMode="auto">
          <a:xfrm>
            <a:off x="5712969" y="3921918"/>
            <a:ext cx="3571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99" name="Line 67">
            <a:extLst>
              <a:ext uri="{FF2B5EF4-FFF2-40B4-BE49-F238E27FC236}">
                <a16:creationId xmlns:a16="http://schemas.microsoft.com/office/drawing/2014/main" id="{1C85352E-17C9-D549-A2BD-57A09913F048}"/>
              </a:ext>
            </a:extLst>
          </p:cNvPr>
          <p:cNvSpPr>
            <a:spLocks noChangeShapeType="1"/>
          </p:cNvSpPr>
          <p:nvPr/>
        </p:nvSpPr>
        <p:spPr bwMode="auto">
          <a:xfrm>
            <a:off x="5749878" y="3270647"/>
            <a:ext cx="14763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00" name="Line 68">
            <a:extLst>
              <a:ext uri="{FF2B5EF4-FFF2-40B4-BE49-F238E27FC236}">
                <a16:creationId xmlns:a16="http://schemas.microsoft.com/office/drawing/2014/main" id="{EBC9AE0D-2B04-2645-9476-0B3051DF9276}"/>
              </a:ext>
            </a:extLst>
          </p:cNvPr>
          <p:cNvSpPr>
            <a:spLocks noChangeShapeType="1"/>
          </p:cNvSpPr>
          <p:nvPr/>
        </p:nvSpPr>
        <p:spPr bwMode="auto">
          <a:xfrm>
            <a:off x="5729638" y="2876549"/>
            <a:ext cx="3571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01" name="Line 69">
            <a:extLst>
              <a:ext uri="{FF2B5EF4-FFF2-40B4-BE49-F238E27FC236}">
                <a16:creationId xmlns:a16="http://schemas.microsoft.com/office/drawing/2014/main" id="{C0332117-A4C3-844D-8A08-8B0B485AD2EA}"/>
              </a:ext>
            </a:extLst>
          </p:cNvPr>
          <p:cNvSpPr>
            <a:spLocks noChangeShapeType="1"/>
          </p:cNvSpPr>
          <p:nvPr/>
        </p:nvSpPr>
        <p:spPr bwMode="auto">
          <a:xfrm>
            <a:off x="6021341" y="2880122"/>
            <a:ext cx="0" cy="133350"/>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02" name="Line 70">
            <a:extLst>
              <a:ext uri="{FF2B5EF4-FFF2-40B4-BE49-F238E27FC236}">
                <a16:creationId xmlns:a16="http://schemas.microsoft.com/office/drawing/2014/main" id="{838B5881-D7D0-554D-93A9-E8D16418B8D3}"/>
              </a:ext>
            </a:extLst>
          </p:cNvPr>
          <p:cNvSpPr>
            <a:spLocks noChangeShapeType="1"/>
          </p:cNvSpPr>
          <p:nvPr/>
        </p:nvSpPr>
        <p:spPr bwMode="auto">
          <a:xfrm flipH="1">
            <a:off x="6020150" y="3198018"/>
            <a:ext cx="0" cy="715566"/>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03" name="Text Box 71">
            <a:extLst>
              <a:ext uri="{FF2B5EF4-FFF2-40B4-BE49-F238E27FC236}">
                <a16:creationId xmlns:a16="http://schemas.microsoft.com/office/drawing/2014/main" id="{76399630-36A1-DE42-B526-233291123DB6}"/>
              </a:ext>
            </a:extLst>
          </p:cNvPr>
          <p:cNvSpPr txBox="1">
            <a:spLocks noChangeArrowheads="1"/>
          </p:cNvSpPr>
          <p:nvPr/>
        </p:nvSpPr>
        <p:spPr bwMode="auto">
          <a:xfrm>
            <a:off x="5097538" y="3000375"/>
            <a:ext cx="1021434"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1200" b="1">
                <a:solidFill>
                  <a:srgbClr val="000000"/>
                </a:solidFill>
                <a:latin typeface="Courier New" charset="0"/>
              </a:rPr>
              <a:t>RcvBuffer</a:t>
            </a:r>
          </a:p>
        </p:txBody>
      </p:sp>
      <p:sp>
        <p:nvSpPr>
          <p:cNvPr id="104" name="Text Box 73">
            <a:extLst>
              <a:ext uri="{FF2B5EF4-FFF2-40B4-BE49-F238E27FC236}">
                <a16:creationId xmlns:a16="http://schemas.microsoft.com/office/drawing/2014/main" id="{B6E3B689-E8B2-BF4B-86DF-927AF5D4F690}"/>
              </a:ext>
            </a:extLst>
          </p:cNvPr>
          <p:cNvSpPr txBox="1">
            <a:spLocks noChangeArrowheads="1"/>
          </p:cNvSpPr>
          <p:nvPr/>
        </p:nvSpPr>
        <p:spPr bwMode="auto">
          <a:xfrm>
            <a:off x="6093779" y="4221956"/>
            <a:ext cx="1935145"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dirty="0">
                <a:solidFill>
                  <a:srgbClr val="000000"/>
                </a:solidFill>
                <a:latin typeface="Calibri" panose="020F0502020204030204"/>
              </a:rPr>
              <a:t>TCP segment payloads</a:t>
            </a:r>
          </a:p>
        </p:txBody>
      </p:sp>
      <p:sp>
        <p:nvSpPr>
          <p:cNvPr id="105" name="Text Box 74">
            <a:extLst>
              <a:ext uri="{FF2B5EF4-FFF2-40B4-BE49-F238E27FC236}">
                <a16:creationId xmlns:a16="http://schemas.microsoft.com/office/drawing/2014/main" id="{91F2C3EF-EE52-4542-BF6E-028621EA7670}"/>
              </a:ext>
            </a:extLst>
          </p:cNvPr>
          <p:cNvSpPr txBox="1">
            <a:spLocks noChangeArrowheads="1"/>
          </p:cNvSpPr>
          <p:nvPr/>
        </p:nvSpPr>
        <p:spPr bwMode="auto">
          <a:xfrm>
            <a:off x="6131447" y="2346722"/>
            <a:ext cx="1901483"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dirty="0">
                <a:solidFill>
                  <a:srgbClr val="000000"/>
                </a:solidFill>
                <a:latin typeface="Calibri" panose="020F0502020204030204"/>
              </a:rPr>
              <a:t>to application process</a:t>
            </a:r>
          </a:p>
        </p:txBody>
      </p:sp>
      <p:sp>
        <p:nvSpPr>
          <p:cNvPr id="106" name="Text Box 76">
            <a:extLst>
              <a:ext uri="{FF2B5EF4-FFF2-40B4-BE49-F238E27FC236}">
                <a16:creationId xmlns:a16="http://schemas.microsoft.com/office/drawing/2014/main" id="{0CF681A2-AC47-5344-AE94-24FC5FD82425}"/>
              </a:ext>
            </a:extLst>
          </p:cNvPr>
          <p:cNvSpPr txBox="1">
            <a:spLocks noChangeArrowheads="1"/>
          </p:cNvSpPr>
          <p:nvPr/>
        </p:nvSpPr>
        <p:spPr bwMode="auto">
          <a:xfrm>
            <a:off x="5642109" y="4711303"/>
            <a:ext cx="272061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800" kern="0" dirty="0">
                <a:solidFill>
                  <a:srgbClr val="000000"/>
                </a:solidFill>
                <a:latin typeface="Calibri" panose="020F0502020204030204"/>
              </a:rPr>
              <a:t>TCP receiver-side buffering</a:t>
            </a:r>
          </a:p>
        </p:txBody>
      </p:sp>
      <p:sp>
        <p:nvSpPr>
          <p:cNvPr id="30" name="Slide Number Placeholder 2">
            <a:extLst>
              <a:ext uri="{FF2B5EF4-FFF2-40B4-BE49-F238E27FC236}">
                <a16:creationId xmlns:a16="http://schemas.microsoft.com/office/drawing/2014/main" id="{FD800B74-F67D-AF4D-AABB-EE14B6FEBDCB}"/>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75</a:t>
            </a:fld>
            <a:endParaRPr lang="en-US" dirty="0">
              <a:solidFill>
                <a:prstClr val="white">
                  <a:lumMod val="50000"/>
                </a:prstClr>
              </a:solidFill>
            </a:endParaRPr>
          </a:p>
        </p:txBody>
      </p:sp>
    </p:spTree>
    <p:extLst>
      <p:ext uri="{BB962C8B-B14F-4D97-AF65-F5344CB8AC3E}">
        <p14:creationId xmlns:p14="http://schemas.microsoft.com/office/powerpoint/2010/main" val="788232703"/>
      </p:ext>
    </p:extLst>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flow control</a:t>
            </a:r>
            <a:endParaRPr lang="en-US" b="0" dirty="0"/>
          </a:p>
        </p:txBody>
      </p:sp>
      <p:sp>
        <p:nvSpPr>
          <p:cNvPr id="54" name="Rectangle 75">
            <a:extLst>
              <a:ext uri="{FF2B5EF4-FFF2-40B4-BE49-F238E27FC236}">
                <a16:creationId xmlns:a16="http://schemas.microsoft.com/office/drawing/2014/main" id="{78F7B284-6B74-F548-982C-C01C5F7D3D99}"/>
              </a:ext>
            </a:extLst>
          </p:cNvPr>
          <p:cNvSpPr txBox="1">
            <a:spLocks noChangeArrowheads="1"/>
          </p:cNvSpPr>
          <p:nvPr/>
        </p:nvSpPr>
        <p:spPr>
          <a:xfrm>
            <a:off x="501705" y="1971676"/>
            <a:ext cx="4369804" cy="3680222"/>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00000"/>
              </a:lnSpc>
              <a:spcAft>
                <a:spcPts val="0"/>
              </a:spcAft>
              <a:defRPr/>
            </a:pPr>
            <a:r>
              <a:rPr lang="en-US" altLang="en-US" sz="2100" dirty="0">
                <a:solidFill>
                  <a:prstClr val="black"/>
                </a:solidFill>
                <a:ea typeface="ＭＳ Ｐゴシック" panose="020B0600070205080204" pitchFamily="34" charset="-128"/>
              </a:rPr>
              <a:t>TCP receiver “</a:t>
            </a:r>
            <a:r>
              <a:rPr lang="en-US" altLang="ja-JP" sz="2100" dirty="0">
                <a:solidFill>
                  <a:prstClr val="black"/>
                </a:solidFill>
                <a:ea typeface="ＭＳ Ｐゴシック" panose="020B0600070205080204" pitchFamily="34" charset="-128"/>
              </a:rPr>
              <a:t>advertises” free buffer space in </a:t>
            </a:r>
            <a:r>
              <a:rPr lang="en-US" altLang="ja-JP" sz="2100" b="1" dirty="0" err="1">
                <a:solidFill>
                  <a:prstClr val="black"/>
                </a:solidFill>
                <a:latin typeface="Courier New" panose="02070309020205020404" pitchFamily="49" charset="0"/>
                <a:ea typeface="ＭＳ Ｐゴシック" panose="020B0600070205080204" pitchFamily="34" charset="-128"/>
              </a:rPr>
              <a:t>rwnd</a:t>
            </a:r>
            <a:r>
              <a:rPr lang="en-US" altLang="ja-JP" sz="2100" dirty="0">
                <a:solidFill>
                  <a:prstClr val="black"/>
                </a:solidFill>
                <a:ea typeface="ＭＳ Ｐゴシック" panose="020B0600070205080204" pitchFamily="34" charset="-128"/>
              </a:rPr>
              <a:t> field in TCP header</a:t>
            </a:r>
          </a:p>
          <a:p>
            <a:pPr lvl="1" fontAlgn="auto">
              <a:lnSpc>
                <a:spcPct val="100000"/>
              </a:lnSpc>
              <a:spcAft>
                <a:spcPts val="0"/>
              </a:spcAft>
              <a:defRPr/>
            </a:pPr>
            <a:r>
              <a:rPr lang="en-US" altLang="en-US" sz="1800" b="1" dirty="0" err="1">
                <a:solidFill>
                  <a:prstClr val="black"/>
                </a:solidFill>
                <a:latin typeface="Courier New" panose="02070309020205020404" pitchFamily="49" charset="0"/>
                <a:ea typeface="ＭＳ Ｐゴシック" panose="020B0600070205080204" pitchFamily="34" charset="-128"/>
              </a:rPr>
              <a:t>RcvBuffer</a:t>
            </a:r>
            <a:r>
              <a:rPr lang="en-US" altLang="en-US" sz="1800" b="1" dirty="0">
                <a:solidFill>
                  <a:prstClr val="black"/>
                </a:solidFill>
                <a:latin typeface="Courier New" panose="02070309020205020404" pitchFamily="49" charset="0"/>
                <a:ea typeface="ＭＳ Ｐゴシック" panose="020B0600070205080204" pitchFamily="34" charset="-128"/>
              </a:rPr>
              <a:t> </a:t>
            </a:r>
            <a:r>
              <a:rPr lang="en-US" altLang="en-US" sz="1800" dirty="0">
                <a:solidFill>
                  <a:prstClr val="black"/>
                </a:solidFill>
                <a:ea typeface="ＭＳ Ｐゴシック" panose="020B0600070205080204" pitchFamily="34" charset="-128"/>
              </a:rPr>
              <a:t>size set via socket options (typical default is 4096 bytes)</a:t>
            </a:r>
          </a:p>
          <a:p>
            <a:pPr lvl="1" fontAlgn="auto">
              <a:lnSpc>
                <a:spcPct val="100000"/>
              </a:lnSpc>
              <a:spcAft>
                <a:spcPts val="0"/>
              </a:spcAft>
              <a:defRPr/>
            </a:pPr>
            <a:r>
              <a:rPr lang="en-US" altLang="en-US" sz="1800" dirty="0">
                <a:solidFill>
                  <a:prstClr val="black"/>
                </a:solidFill>
                <a:ea typeface="ＭＳ Ｐゴシック" panose="020B0600070205080204" pitchFamily="34" charset="-128"/>
              </a:rPr>
              <a:t>many operating systems </a:t>
            </a:r>
            <a:r>
              <a:rPr lang="en-US" altLang="en-US" sz="1800" dirty="0" err="1">
                <a:solidFill>
                  <a:prstClr val="black"/>
                </a:solidFill>
                <a:ea typeface="ＭＳ Ｐゴシック" panose="020B0600070205080204" pitchFamily="34" charset="-128"/>
              </a:rPr>
              <a:t>autoadjust</a:t>
            </a:r>
            <a:r>
              <a:rPr lang="en-US" altLang="en-US" sz="1800" dirty="0">
                <a:solidFill>
                  <a:prstClr val="black"/>
                </a:solidFill>
                <a:ea typeface="ＭＳ Ｐゴシック" panose="020B0600070205080204" pitchFamily="34" charset="-128"/>
              </a:rPr>
              <a:t> </a:t>
            </a:r>
            <a:r>
              <a:rPr lang="en-US" altLang="en-US" sz="1800" b="1" dirty="0" err="1">
                <a:solidFill>
                  <a:prstClr val="black"/>
                </a:solidFill>
                <a:latin typeface="Courier New" panose="02070309020205020404" pitchFamily="49" charset="0"/>
                <a:ea typeface="ＭＳ Ｐゴシック" panose="020B0600070205080204" pitchFamily="34" charset="-128"/>
              </a:rPr>
              <a:t>RcvBuffer</a:t>
            </a:r>
            <a:endParaRPr lang="en-US" altLang="en-US" sz="1800" dirty="0">
              <a:solidFill>
                <a:prstClr val="black"/>
              </a:solidFill>
              <a:ea typeface="ＭＳ Ｐゴシック" panose="020B0600070205080204" pitchFamily="34" charset="-128"/>
            </a:endParaRPr>
          </a:p>
          <a:p>
            <a:pPr fontAlgn="auto">
              <a:lnSpc>
                <a:spcPct val="100000"/>
              </a:lnSpc>
              <a:spcAft>
                <a:spcPts val="0"/>
              </a:spcAft>
              <a:defRPr/>
            </a:pPr>
            <a:r>
              <a:rPr lang="en-US" altLang="en-US" sz="2100" dirty="0">
                <a:solidFill>
                  <a:prstClr val="black"/>
                </a:solidFill>
                <a:ea typeface="ＭＳ Ｐゴシック" panose="020B0600070205080204" pitchFamily="34" charset="-128"/>
              </a:rPr>
              <a:t>sender limits amount of </a:t>
            </a:r>
            <a:r>
              <a:rPr lang="en-US" altLang="en-US" sz="2100" dirty="0" err="1">
                <a:solidFill>
                  <a:prstClr val="black"/>
                </a:solidFill>
                <a:ea typeface="ＭＳ Ｐゴシック" panose="020B0600070205080204" pitchFamily="34" charset="-128"/>
              </a:rPr>
              <a:t>unACKed</a:t>
            </a:r>
            <a:r>
              <a:rPr lang="en-US" altLang="en-US" sz="2100" dirty="0">
                <a:solidFill>
                  <a:prstClr val="black"/>
                </a:solidFill>
                <a:ea typeface="ＭＳ Ｐゴシック" panose="020B0600070205080204" pitchFamily="34" charset="-128"/>
              </a:rPr>
              <a:t> (“</a:t>
            </a:r>
            <a:r>
              <a:rPr lang="en-US" altLang="ja-JP" sz="2100" dirty="0">
                <a:solidFill>
                  <a:prstClr val="black"/>
                </a:solidFill>
                <a:ea typeface="ＭＳ Ｐゴシック" panose="020B0600070205080204" pitchFamily="34" charset="-128"/>
              </a:rPr>
              <a:t>in-flight”) data to received </a:t>
            </a:r>
            <a:r>
              <a:rPr lang="en-US" altLang="ja-JP" sz="2100" b="1" dirty="0" err="1">
                <a:solidFill>
                  <a:prstClr val="black"/>
                </a:solidFill>
                <a:latin typeface="Courier New" panose="02070309020205020404" pitchFamily="49" charset="0"/>
                <a:ea typeface="ＭＳ Ｐゴシック" panose="020B0600070205080204" pitchFamily="34" charset="-128"/>
              </a:rPr>
              <a:t>rwnd</a:t>
            </a:r>
            <a:endParaRPr lang="en-US" altLang="ja-JP" sz="2100" b="1" dirty="0">
              <a:solidFill>
                <a:prstClr val="black"/>
              </a:solidFill>
              <a:latin typeface="Courier New" panose="02070309020205020404" pitchFamily="49" charset="0"/>
              <a:ea typeface="ＭＳ Ｐゴシック" panose="020B0600070205080204" pitchFamily="34" charset="-128"/>
            </a:endParaRPr>
          </a:p>
          <a:p>
            <a:pPr fontAlgn="auto">
              <a:lnSpc>
                <a:spcPct val="100000"/>
              </a:lnSpc>
              <a:spcAft>
                <a:spcPts val="0"/>
              </a:spcAft>
              <a:defRPr/>
            </a:pPr>
            <a:r>
              <a:rPr lang="en-US" altLang="en-US" sz="2100" dirty="0">
                <a:solidFill>
                  <a:prstClr val="black"/>
                </a:solidFill>
                <a:ea typeface="ＭＳ Ｐゴシック" panose="020B0600070205080204" pitchFamily="34" charset="-128"/>
              </a:rPr>
              <a:t>guarantees receive buffer will not overflow</a:t>
            </a:r>
          </a:p>
        </p:txBody>
      </p:sp>
      <p:grpSp>
        <p:nvGrpSpPr>
          <p:cNvPr id="4" name="Group 3">
            <a:extLst>
              <a:ext uri="{FF2B5EF4-FFF2-40B4-BE49-F238E27FC236}">
                <a16:creationId xmlns:a16="http://schemas.microsoft.com/office/drawing/2014/main" id="{65ED315A-00AA-7C4A-8164-7D6F6F0CAA0E}"/>
              </a:ext>
            </a:extLst>
          </p:cNvPr>
          <p:cNvGrpSpPr/>
          <p:nvPr/>
        </p:nvGrpSpPr>
        <p:grpSpPr>
          <a:xfrm>
            <a:off x="5522809" y="1658711"/>
            <a:ext cx="3261963" cy="3897447"/>
            <a:chOff x="7334716" y="821871"/>
            <a:chExt cx="4349284" cy="5196595"/>
          </a:xfrm>
        </p:grpSpPr>
        <p:sp>
          <p:nvSpPr>
            <p:cNvPr id="43" name="Text Box 49">
              <a:extLst>
                <a:ext uri="{FF2B5EF4-FFF2-40B4-BE49-F238E27FC236}">
                  <a16:creationId xmlns:a16="http://schemas.microsoft.com/office/drawing/2014/main" id="{4942189D-75C7-5146-A769-620DCCD5AD2C}"/>
                </a:ext>
              </a:extLst>
            </p:cNvPr>
            <p:cNvSpPr txBox="1">
              <a:spLocks noChangeArrowheads="1"/>
            </p:cNvSpPr>
            <p:nvPr/>
          </p:nvSpPr>
          <p:spPr bwMode="auto">
            <a:xfrm>
              <a:off x="7334716" y="821871"/>
              <a:ext cx="4349284" cy="3724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350" dirty="0">
                  <a:solidFill>
                    <a:srgbClr val="000000"/>
                  </a:solidFill>
                  <a:latin typeface="Calibri" panose="020F0502020204030204"/>
                </a:rPr>
                <a:t>flow control: </a:t>
              </a:r>
              <a:r>
                <a:rPr lang="en-US" sz="1200" dirty="0">
                  <a:solidFill>
                    <a:srgbClr val="000000"/>
                  </a:solidFill>
                  <a:latin typeface="Calibri" panose="020F0502020204030204"/>
                </a:rPr>
                <a:t># bytes receiver willing to accept</a:t>
              </a:r>
              <a:endParaRPr lang="en-US" sz="1350" dirty="0">
                <a:solidFill>
                  <a:srgbClr val="000000"/>
                </a:solidFill>
                <a:latin typeface="Calibri" panose="020F0502020204030204"/>
              </a:endParaRPr>
            </a:p>
          </p:txBody>
        </p:sp>
        <p:grpSp>
          <p:nvGrpSpPr>
            <p:cNvPr id="3" name="Group 2">
              <a:extLst>
                <a:ext uri="{FF2B5EF4-FFF2-40B4-BE49-F238E27FC236}">
                  <a16:creationId xmlns:a16="http://schemas.microsoft.com/office/drawing/2014/main" id="{013C6F91-8B0A-654D-A104-22DAAE940A5C}"/>
                </a:ext>
              </a:extLst>
            </p:cNvPr>
            <p:cNvGrpSpPr/>
            <p:nvPr/>
          </p:nvGrpSpPr>
          <p:grpSpPr>
            <a:xfrm>
              <a:off x="7490842" y="1445945"/>
              <a:ext cx="3173211" cy="4078555"/>
              <a:chOff x="7157014" y="1873079"/>
              <a:chExt cx="2251592" cy="2800562"/>
            </a:xfrm>
          </p:grpSpPr>
          <p:sp>
            <p:nvSpPr>
              <p:cNvPr id="31" name="Rectangle 4">
                <a:extLst>
                  <a:ext uri="{FF2B5EF4-FFF2-40B4-BE49-F238E27FC236}">
                    <a16:creationId xmlns:a16="http://schemas.microsoft.com/office/drawing/2014/main" id="{F26D3C4D-BBC1-F742-A1E0-D6E34A9B3149}"/>
                  </a:ext>
                </a:extLst>
              </p:cNvPr>
              <p:cNvSpPr>
                <a:spLocks noChangeArrowheads="1"/>
              </p:cNvSpPr>
              <p:nvPr/>
            </p:nvSpPr>
            <p:spPr bwMode="auto">
              <a:xfrm>
                <a:off x="7206558" y="1873079"/>
                <a:ext cx="2202048" cy="2745454"/>
              </a:xfrm>
              <a:prstGeom prst="rect">
                <a:avLst/>
              </a:prstGeom>
              <a:solidFill>
                <a:srgbClr val="000099"/>
              </a:soli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a:solidFill>
                    <a:srgbClr val="000000"/>
                  </a:solidFill>
                  <a:latin typeface="Tahoma" charset="0"/>
                  <a:ea typeface="ＭＳ Ｐゴシック" charset="0"/>
                </a:endParaRPr>
              </a:p>
            </p:txBody>
          </p:sp>
          <p:sp>
            <p:nvSpPr>
              <p:cNvPr id="32" name="Rectangle 5">
                <a:extLst>
                  <a:ext uri="{FF2B5EF4-FFF2-40B4-BE49-F238E27FC236}">
                    <a16:creationId xmlns:a16="http://schemas.microsoft.com/office/drawing/2014/main" id="{EDEADB29-BFA2-B047-B027-A9139A42EC40}"/>
                  </a:ext>
                </a:extLst>
              </p:cNvPr>
              <p:cNvSpPr>
                <a:spLocks noChangeArrowheads="1"/>
              </p:cNvSpPr>
              <p:nvPr/>
            </p:nvSpPr>
            <p:spPr bwMode="auto">
              <a:xfrm>
                <a:off x="7158783" y="1939027"/>
                <a:ext cx="2202048" cy="2734614"/>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050" kern="0">
                  <a:solidFill>
                    <a:srgbClr val="000000"/>
                  </a:solidFill>
                  <a:latin typeface="Arial" charset="0"/>
                  <a:ea typeface="ＭＳ Ｐゴシック" charset="0"/>
                </a:endParaRPr>
              </a:p>
            </p:txBody>
          </p:sp>
          <p:sp>
            <p:nvSpPr>
              <p:cNvPr id="33" name="Line 8">
                <a:extLst>
                  <a:ext uri="{FF2B5EF4-FFF2-40B4-BE49-F238E27FC236}">
                    <a16:creationId xmlns:a16="http://schemas.microsoft.com/office/drawing/2014/main" id="{D6DDC5BF-A1E6-C24B-9CE3-F65B498DEB30}"/>
                  </a:ext>
                </a:extLst>
              </p:cNvPr>
              <p:cNvSpPr>
                <a:spLocks noChangeShapeType="1"/>
              </p:cNvSpPr>
              <p:nvPr/>
            </p:nvSpPr>
            <p:spPr bwMode="auto">
              <a:xfrm>
                <a:off x="7160553" y="2152232"/>
                <a:ext cx="2199395" cy="2711"/>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34" name="Line 9">
                <a:extLst>
                  <a:ext uri="{FF2B5EF4-FFF2-40B4-BE49-F238E27FC236}">
                    <a16:creationId xmlns:a16="http://schemas.microsoft.com/office/drawing/2014/main" id="{D073AA58-CCB9-1143-BD54-AECB66E97A27}"/>
                  </a:ext>
                </a:extLst>
              </p:cNvPr>
              <p:cNvSpPr>
                <a:spLocks noChangeShapeType="1"/>
              </p:cNvSpPr>
              <p:nvPr/>
            </p:nvSpPr>
            <p:spPr bwMode="auto">
              <a:xfrm flipV="1">
                <a:off x="7157014" y="2368146"/>
                <a:ext cx="220204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35" name="Line 16">
                <a:extLst>
                  <a:ext uri="{FF2B5EF4-FFF2-40B4-BE49-F238E27FC236}">
                    <a16:creationId xmlns:a16="http://schemas.microsoft.com/office/drawing/2014/main" id="{3BCF6F65-DFAE-C544-BAEE-68B6416C49EB}"/>
                  </a:ext>
                </a:extLst>
              </p:cNvPr>
              <p:cNvSpPr>
                <a:spLocks noChangeShapeType="1"/>
              </p:cNvSpPr>
              <p:nvPr/>
            </p:nvSpPr>
            <p:spPr bwMode="auto">
              <a:xfrm flipV="1">
                <a:off x="7162322" y="2584964"/>
                <a:ext cx="220204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36" name="Line 18">
                <a:extLst>
                  <a:ext uri="{FF2B5EF4-FFF2-40B4-BE49-F238E27FC236}">
                    <a16:creationId xmlns:a16="http://schemas.microsoft.com/office/drawing/2014/main" id="{73D40423-B9BC-B445-A204-77B62C8A65F0}"/>
                  </a:ext>
                </a:extLst>
              </p:cNvPr>
              <p:cNvSpPr>
                <a:spLocks noChangeShapeType="1"/>
              </p:cNvSpPr>
              <p:nvPr/>
            </p:nvSpPr>
            <p:spPr bwMode="auto">
              <a:xfrm flipV="1">
                <a:off x="7159668" y="2809912"/>
                <a:ext cx="2202049"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37" name="Line 19">
                <a:extLst>
                  <a:ext uri="{FF2B5EF4-FFF2-40B4-BE49-F238E27FC236}">
                    <a16:creationId xmlns:a16="http://schemas.microsoft.com/office/drawing/2014/main" id="{9E50A3C5-1DEF-C346-9F9A-A93A3289A502}"/>
                  </a:ext>
                </a:extLst>
              </p:cNvPr>
              <p:cNvSpPr>
                <a:spLocks noChangeShapeType="1"/>
              </p:cNvSpPr>
              <p:nvPr/>
            </p:nvSpPr>
            <p:spPr bwMode="auto">
              <a:xfrm flipV="1">
                <a:off x="7157014" y="3032150"/>
                <a:ext cx="220204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38" name="Line 20">
                <a:extLst>
                  <a:ext uri="{FF2B5EF4-FFF2-40B4-BE49-F238E27FC236}">
                    <a16:creationId xmlns:a16="http://schemas.microsoft.com/office/drawing/2014/main" id="{548B775C-D85F-5847-B406-FA9F2CBD5940}"/>
                  </a:ext>
                </a:extLst>
              </p:cNvPr>
              <p:cNvSpPr>
                <a:spLocks noChangeShapeType="1"/>
              </p:cNvSpPr>
              <p:nvPr/>
            </p:nvSpPr>
            <p:spPr bwMode="auto">
              <a:xfrm flipV="1">
                <a:off x="7157014" y="3351956"/>
                <a:ext cx="220204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39" name="Line 21">
                <a:extLst>
                  <a:ext uri="{FF2B5EF4-FFF2-40B4-BE49-F238E27FC236}">
                    <a16:creationId xmlns:a16="http://schemas.microsoft.com/office/drawing/2014/main" id="{5295938A-7AD9-3A43-B065-16AE7DE46620}"/>
                  </a:ext>
                </a:extLst>
              </p:cNvPr>
              <p:cNvSpPr>
                <a:spLocks noChangeShapeType="1"/>
              </p:cNvSpPr>
              <p:nvPr/>
            </p:nvSpPr>
            <p:spPr bwMode="auto">
              <a:xfrm flipH="1" flipV="1">
                <a:off x="8249633" y="2586771"/>
                <a:ext cx="2654" cy="442669"/>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sp>
            <p:nvSpPr>
              <p:cNvPr id="42" name="Text Box 22">
                <a:extLst>
                  <a:ext uri="{FF2B5EF4-FFF2-40B4-BE49-F238E27FC236}">
                    <a16:creationId xmlns:a16="http://schemas.microsoft.com/office/drawing/2014/main" id="{DBAB1210-0C8C-574D-9755-E0E40D1D8E2B}"/>
                  </a:ext>
                </a:extLst>
              </p:cNvPr>
              <p:cNvSpPr txBox="1">
                <a:spLocks noChangeArrowheads="1"/>
              </p:cNvSpPr>
              <p:nvPr/>
            </p:nvSpPr>
            <p:spPr bwMode="auto">
              <a:xfrm>
                <a:off x="8200032" y="2572087"/>
                <a:ext cx="1165033" cy="25360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dirty="0">
                    <a:solidFill>
                      <a:srgbClr val="000000"/>
                    </a:solidFill>
                    <a:latin typeface="Arial" charset="0"/>
                  </a:rPr>
                  <a:t>receive window</a:t>
                </a:r>
              </a:p>
            </p:txBody>
          </p:sp>
          <p:sp>
            <p:nvSpPr>
              <p:cNvPr id="41" name="Line 10">
                <a:extLst>
                  <a:ext uri="{FF2B5EF4-FFF2-40B4-BE49-F238E27FC236}">
                    <a16:creationId xmlns:a16="http://schemas.microsoft.com/office/drawing/2014/main" id="{A5EAF221-945B-9044-8647-B161BDC6D143}"/>
                  </a:ext>
                </a:extLst>
              </p:cNvPr>
              <p:cNvSpPr>
                <a:spLocks noChangeShapeType="1"/>
              </p:cNvSpPr>
              <p:nvPr/>
            </p:nvSpPr>
            <p:spPr bwMode="auto">
              <a:xfrm flipH="1" flipV="1">
                <a:off x="8241671" y="1940977"/>
                <a:ext cx="981" cy="20781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kern="0">
                  <a:solidFill>
                    <a:srgbClr val="000000"/>
                  </a:solidFill>
                  <a:latin typeface="Tahoma" charset="0"/>
                  <a:ea typeface="ＭＳ Ｐゴシック" charset="0"/>
                </a:endParaRPr>
              </a:p>
            </p:txBody>
          </p:sp>
        </p:grpSp>
        <p:sp>
          <p:nvSpPr>
            <p:cNvPr id="44" name="Line 53">
              <a:extLst>
                <a:ext uri="{FF2B5EF4-FFF2-40B4-BE49-F238E27FC236}">
                  <a16:creationId xmlns:a16="http://schemas.microsoft.com/office/drawing/2014/main" id="{1BBBD060-CF26-F24A-BA7E-49EE7DADEE01}"/>
                </a:ext>
              </a:extLst>
            </p:cNvPr>
            <p:cNvSpPr>
              <a:spLocks noChangeShapeType="1"/>
            </p:cNvSpPr>
            <p:nvPr/>
          </p:nvSpPr>
          <p:spPr bwMode="auto">
            <a:xfrm flipH="1" flipV="1">
              <a:off x="7968285" y="1150408"/>
              <a:ext cx="1233771" cy="1404106"/>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788">
                <a:solidFill>
                  <a:srgbClr val="000000"/>
                </a:solidFill>
                <a:latin typeface="Tahoma" charset="0"/>
                <a:ea typeface="ＭＳ Ｐゴシック" charset="0"/>
              </a:endParaRPr>
            </a:p>
          </p:txBody>
        </p:sp>
        <p:sp>
          <p:nvSpPr>
            <p:cNvPr id="46" name="Text Box 49">
              <a:extLst>
                <a:ext uri="{FF2B5EF4-FFF2-40B4-BE49-F238E27FC236}">
                  <a16:creationId xmlns:a16="http://schemas.microsoft.com/office/drawing/2014/main" id="{FBFCD652-9EB9-FE4F-BB9F-A9277C4DE74F}"/>
                </a:ext>
              </a:extLst>
            </p:cNvPr>
            <p:cNvSpPr txBox="1">
              <a:spLocks noChangeArrowheads="1"/>
            </p:cNvSpPr>
            <p:nvPr/>
          </p:nvSpPr>
          <p:spPr bwMode="auto">
            <a:xfrm>
              <a:off x="8125744" y="5646057"/>
              <a:ext cx="2310027" cy="37240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350" dirty="0">
                  <a:solidFill>
                    <a:srgbClr val="000000"/>
                  </a:solidFill>
                  <a:latin typeface="Calibri" panose="020F0502020204030204"/>
                </a:rPr>
                <a:t>TCP segment format</a:t>
              </a:r>
            </a:p>
          </p:txBody>
        </p:sp>
      </p:grpSp>
      <p:sp>
        <p:nvSpPr>
          <p:cNvPr id="20" name="Slide Number Placeholder 2">
            <a:extLst>
              <a:ext uri="{FF2B5EF4-FFF2-40B4-BE49-F238E27FC236}">
                <a16:creationId xmlns:a16="http://schemas.microsoft.com/office/drawing/2014/main" id="{73A53F5E-537D-1E40-85EE-92D8692A70E6}"/>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76</a:t>
            </a:fld>
            <a:endParaRPr lang="en-US" dirty="0">
              <a:solidFill>
                <a:prstClr val="white">
                  <a:lumMod val="50000"/>
                </a:prstClr>
              </a:solidFill>
            </a:endParaRPr>
          </a:p>
        </p:txBody>
      </p:sp>
    </p:spTree>
    <p:extLst>
      <p:ext uri="{BB962C8B-B14F-4D97-AF65-F5344CB8AC3E}">
        <p14:creationId xmlns:p14="http://schemas.microsoft.com/office/powerpoint/2010/main" val="2138922487"/>
      </p:ext>
    </p:extLst>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TCP 3-way handshake</a:t>
            </a:r>
            <a:endParaRPr lang="en-US" b="0" dirty="0"/>
          </a:p>
        </p:txBody>
      </p:sp>
      <p:sp>
        <p:nvSpPr>
          <p:cNvPr id="215" name="Line 5">
            <a:extLst>
              <a:ext uri="{FF2B5EF4-FFF2-40B4-BE49-F238E27FC236}">
                <a16:creationId xmlns:a16="http://schemas.microsoft.com/office/drawing/2014/main" id="{977A2B4A-655D-5443-8A4F-92884511787E}"/>
              </a:ext>
            </a:extLst>
          </p:cNvPr>
          <p:cNvSpPr>
            <a:spLocks noChangeShapeType="1"/>
          </p:cNvSpPr>
          <p:nvPr/>
        </p:nvSpPr>
        <p:spPr bwMode="auto">
          <a:xfrm flipH="1">
            <a:off x="3597473" y="3166246"/>
            <a:ext cx="1191" cy="1852613"/>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nvGrpSpPr>
          <p:cNvPr id="216" name="Group 102">
            <a:extLst>
              <a:ext uri="{FF2B5EF4-FFF2-40B4-BE49-F238E27FC236}">
                <a16:creationId xmlns:a16="http://schemas.microsoft.com/office/drawing/2014/main" id="{1F3D6A6C-5FEE-8646-8A80-04AC9F3BFF74}"/>
              </a:ext>
            </a:extLst>
          </p:cNvPr>
          <p:cNvGrpSpPr>
            <a:grpSpLocks/>
          </p:cNvGrpSpPr>
          <p:nvPr/>
        </p:nvGrpSpPr>
        <p:grpSpPr bwMode="auto">
          <a:xfrm>
            <a:off x="2049662" y="3111478"/>
            <a:ext cx="3429000" cy="716756"/>
            <a:chOff x="761" y="1363"/>
            <a:chExt cx="2880" cy="602"/>
          </a:xfrm>
        </p:grpSpPr>
        <p:sp>
          <p:nvSpPr>
            <p:cNvPr id="217" name="Line 10">
              <a:extLst>
                <a:ext uri="{FF2B5EF4-FFF2-40B4-BE49-F238E27FC236}">
                  <a16:creationId xmlns:a16="http://schemas.microsoft.com/office/drawing/2014/main" id="{EE87312F-9111-3748-8D8C-BFB220C5EE37}"/>
                </a:ext>
              </a:extLst>
            </p:cNvPr>
            <p:cNvSpPr>
              <a:spLocks noChangeShapeType="1"/>
            </p:cNvSpPr>
            <p:nvPr/>
          </p:nvSpPr>
          <p:spPr bwMode="auto">
            <a:xfrm>
              <a:off x="2062" y="1502"/>
              <a:ext cx="1579" cy="46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18" name="Rectangle 12">
              <a:extLst>
                <a:ext uri="{FF2B5EF4-FFF2-40B4-BE49-F238E27FC236}">
                  <a16:creationId xmlns:a16="http://schemas.microsoft.com/office/drawing/2014/main" id="{F50F8FCD-3A00-574F-A159-92B207C593BD}"/>
                </a:ext>
              </a:extLst>
            </p:cNvPr>
            <p:cNvSpPr>
              <a:spLocks noChangeArrowheads="1"/>
            </p:cNvSpPr>
            <p:nvPr/>
          </p:nvSpPr>
          <p:spPr bwMode="auto">
            <a:xfrm>
              <a:off x="2518" y="1565"/>
              <a:ext cx="590" cy="27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19" name="Text Box 13">
              <a:extLst>
                <a:ext uri="{FF2B5EF4-FFF2-40B4-BE49-F238E27FC236}">
                  <a16:creationId xmlns:a16="http://schemas.microsoft.com/office/drawing/2014/main" id="{24E8EE1C-DBA9-8F4D-82EE-29CEECDFAAD7}"/>
                </a:ext>
              </a:extLst>
            </p:cNvPr>
            <p:cNvSpPr txBox="1">
              <a:spLocks noChangeArrowheads="1"/>
            </p:cNvSpPr>
            <p:nvPr/>
          </p:nvSpPr>
          <p:spPr bwMode="auto">
            <a:xfrm>
              <a:off x="2286" y="1624"/>
              <a:ext cx="1145"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SYNbit=1, Seq=x</a:t>
              </a:r>
            </a:p>
          </p:txBody>
        </p:sp>
        <p:sp>
          <p:nvSpPr>
            <p:cNvPr id="220" name="Text Box 21">
              <a:extLst>
                <a:ext uri="{FF2B5EF4-FFF2-40B4-BE49-F238E27FC236}">
                  <a16:creationId xmlns:a16="http://schemas.microsoft.com/office/drawing/2014/main" id="{8343DEBF-07A5-D746-BE48-88F38BD40754}"/>
                </a:ext>
              </a:extLst>
            </p:cNvPr>
            <p:cNvSpPr txBox="1">
              <a:spLocks noChangeArrowheads="1"/>
            </p:cNvSpPr>
            <p:nvPr/>
          </p:nvSpPr>
          <p:spPr bwMode="auto">
            <a:xfrm>
              <a:off x="761" y="1363"/>
              <a:ext cx="1279" cy="32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050" kern="0">
                  <a:solidFill>
                    <a:srgbClr val="000000"/>
                  </a:solidFill>
                </a:rPr>
                <a:t>choose init seq num, x</a:t>
              </a:r>
            </a:p>
            <a:p>
              <a:pPr algn="r">
                <a:lnSpc>
                  <a:spcPct val="90000"/>
                </a:lnSpc>
                <a:defRPr/>
              </a:pPr>
              <a:r>
                <a:rPr lang="en-US" sz="1050" kern="0">
                  <a:solidFill>
                    <a:srgbClr val="000000"/>
                  </a:solidFill>
                </a:rPr>
                <a:t>send TCP SYN msg</a:t>
              </a:r>
            </a:p>
          </p:txBody>
        </p:sp>
      </p:grpSp>
      <p:sp>
        <p:nvSpPr>
          <p:cNvPr id="221" name="Line 22">
            <a:extLst>
              <a:ext uri="{FF2B5EF4-FFF2-40B4-BE49-F238E27FC236}">
                <a16:creationId xmlns:a16="http://schemas.microsoft.com/office/drawing/2014/main" id="{2FC7049F-93A3-A84A-9D90-B3F4B6E3F6E9}"/>
              </a:ext>
            </a:extLst>
          </p:cNvPr>
          <p:cNvSpPr>
            <a:spLocks noChangeShapeType="1"/>
          </p:cNvSpPr>
          <p:nvPr/>
        </p:nvSpPr>
        <p:spPr bwMode="auto">
          <a:xfrm flipH="1">
            <a:off x="5539384" y="3218633"/>
            <a:ext cx="1190" cy="2563416"/>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222" name="Text Box 92">
            <a:extLst>
              <a:ext uri="{FF2B5EF4-FFF2-40B4-BE49-F238E27FC236}">
                <a16:creationId xmlns:a16="http://schemas.microsoft.com/office/drawing/2014/main" id="{8192AE36-3CEB-7940-A712-3437D9AE1C17}"/>
              </a:ext>
            </a:extLst>
          </p:cNvPr>
          <p:cNvSpPr txBox="1">
            <a:spLocks noChangeArrowheads="1"/>
          </p:cNvSpPr>
          <p:nvPr/>
        </p:nvSpPr>
        <p:spPr bwMode="auto">
          <a:xfrm>
            <a:off x="7153046" y="5347471"/>
            <a:ext cx="630301"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CC0000"/>
                </a:solidFill>
              </a:rPr>
              <a:t>ESTAB</a:t>
            </a:r>
          </a:p>
        </p:txBody>
      </p:sp>
      <p:grpSp>
        <p:nvGrpSpPr>
          <p:cNvPr id="223" name="Group 109">
            <a:extLst>
              <a:ext uri="{FF2B5EF4-FFF2-40B4-BE49-F238E27FC236}">
                <a16:creationId xmlns:a16="http://schemas.microsoft.com/office/drawing/2014/main" id="{9180F1A8-9EF0-3C49-80B2-6C9528088F36}"/>
              </a:ext>
            </a:extLst>
          </p:cNvPr>
          <p:cNvGrpSpPr>
            <a:grpSpLocks/>
          </p:cNvGrpSpPr>
          <p:nvPr/>
        </p:nvGrpSpPr>
        <p:grpSpPr bwMode="auto">
          <a:xfrm>
            <a:off x="3596283" y="3613921"/>
            <a:ext cx="3446859" cy="1069181"/>
            <a:chOff x="2060" y="1785"/>
            <a:chExt cx="2895" cy="898"/>
          </a:xfrm>
        </p:grpSpPr>
        <p:sp>
          <p:nvSpPr>
            <p:cNvPr id="224" name="Line 11">
              <a:extLst>
                <a:ext uri="{FF2B5EF4-FFF2-40B4-BE49-F238E27FC236}">
                  <a16:creationId xmlns:a16="http://schemas.microsoft.com/office/drawing/2014/main" id="{660BD729-B466-584F-9DAC-1C1358024968}"/>
                </a:ext>
              </a:extLst>
            </p:cNvPr>
            <p:cNvSpPr>
              <a:spLocks noChangeShapeType="1"/>
            </p:cNvSpPr>
            <p:nvPr/>
          </p:nvSpPr>
          <p:spPr bwMode="auto">
            <a:xfrm flipH="1">
              <a:off x="2060" y="2031"/>
              <a:ext cx="1580" cy="65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25" name="Rectangle 14">
              <a:extLst>
                <a:ext uri="{FF2B5EF4-FFF2-40B4-BE49-F238E27FC236}">
                  <a16:creationId xmlns:a16="http://schemas.microsoft.com/office/drawing/2014/main" id="{36832487-CAD9-A047-9D5F-96D1B02D3E65}"/>
                </a:ext>
              </a:extLst>
            </p:cNvPr>
            <p:cNvSpPr>
              <a:spLocks noChangeArrowheads="1"/>
            </p:cNvSpPr>
            <p:nvPr/>
          </p:nvSpPr>
          <p:spPr bwMode="auto">
            <a:xfrm>
              <a:off x="2381" y="2206"/>
              <a:ext cx="896" cy="32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26" name="Text Box 83">
              <a:extLst>
                <a:ext uri="{FF2B5EF4-FFF2-40B4-BE49-F238E27FC236}">
                  <a16:creationId xmlns:a16="http://schemas.microsoft.com/office/drawing/2014/main" id="{393E04DD-B089-D14F-BFBB-76E878EC5F6F}"/>
                </a:ext>
              </a:extLst>
            </p:cNvPr>
            <p:cNvSpPr txBox="1">
              <a:spLocks noChangeArrowheads="1"/>
            </p:cNvSpPr>
            <p:nvPr/>
          </p:nvSpPr>
          <p:spPr bwMode="auto">
            <a:xfrm>
              <a:off x="2131" y="2169"/>
              <a:ext cx="1590" cy="388"/>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SYNbit=1, Seq=y</a:t>
              </a:r>
            </a:p>
            <a:p>
              <a:pPr algn="ctr">
                <a:defRPr/>
              </a:pPr>
              <a:r>
                <a:rPr lang="en-US" sz="1200" kern="0">
                  <a:solidFill>
                    <a:srgbClr val="000000"/>
                  </a:solidFill>
                </a:rPr>
                <a:t>ACKbit=1; ACKnum=x+1</a:t>
              </a:r>
            </a:p>
          </p:txBody>
        </p:sp>
        <p:sp>
          <p:nvSpPr>
            <p:cNvPr id="227" name="Text Box 93">
              <a:extLst>
                <a:ext uri="{FF2B5EF4-FFF2-40B4-BE49-F238E27FC236}">
                  <a16:creationId xmlns:a16="http://schemas.microsoft.com/office/drawing/2014/main" id="{D2107B90-790F-D84D-8A95-4CD5BE8D772A}"/>
                </a:ext>
              </a:extLst>
            </p:cNvPr>
            <p:cNvSpPr txBox="1">
              <a:spLocks noChangeArrowheads="1"/>
            </p:cNvSpPr>
            <p:nvPr/>
          </p:nvSpPr>
          <p:spPr bwMode="auto">
            <a:xfrm>
              <a:off x="3676" y="1785"/>
              <a:ext cx="1279" cy="444"/>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050" kern="0">
                  <a:solidFill>
                    <a:srgbClr val="000000"/>
                  </a:solidFill>
                </a:rPr>
                <a:t>choose init seq num, y</a:t>
              </a:r>
            </a:p>
            <a:p>
              <a:pPr>
                <a:lnSpc>
                  <a:spcPct val="90000"/>
                </a:lnSpc>
                <a:defRPr/>
              </a:pPr>
              <a:r>
                <a:rPr lang="en-US" sz="1050" kern="0">
                  <a:solidFill>
                    <a:srgbClr val="000000"/>
                  </a:solidFill>
                </a:rPr>
                <a:t>send TCP SYNACK</a:t>
              </a:r>
            </a:p>
            <a:p>
              <a:pPr>
                <a:lnSpc>
                  <a:spcPct val="90000"/>
                </a:lnSpc>
                <a:defRPr/>
              </a:pPr>
              <a:r>
                <a:rPr lang="en-US" sz="1050" kern="0">
                  <a:solidFill>
                    <a:srgbClr val="000000"/>
                  </a:solidFill>
                </a:rPr>
                <a:t>msg, acking SYN</a:t>
              </a:r>
            </a:p>
          </p:txBody>
        </p:sp>
      </p:grpSp>
      <p:grpSp>
        <p:nvGrpSpPr>
          <p:cNvPr id="228" name="Group 110">
            <a:extLst>
              <a:ext uri="{FF2B5EF4-FFF2-40B4-BE49-F238E27FC236}">
                <a16:creationId xmlns:a16="http://schemas.microsoft.com/office/drawing/2014/main" id="{92A8D17F-88B5-E34B-ADF1-D1D5F4C6CACA}"/>
              </a:ext>
            </a:extLst>
          </p:cNvPr>
          <p:cNvGrpSpPr>
            <a:grpSpLocks/>
          </p:cNvGrpSpPr>
          <p:nvPr/>
        </p:nvGrpSpPr>
        <p:grpSpPr bwMode="auto">
          <a:xfrm>
            <a:off x="1823443" y="4437834"/>
            <a:ext cx="5083968" cy="1056085"/>
            <a:chOff x="571" y="2477"/>
            <a:chExt cx="4270" cy="887"/>
          </a:xfrm>
        </p:grpSpPr>
        <p:sp>
          <p:nvSpPr>
            <p:cNvPr id="229" name="Line 84">
              <a:extLst>
                <a:ext uri="{FF2B5EF4-FFF2-40B4-BE49-F238E27FC236}">
                  <a16:creationId xmlns:a16="http://schemas.microsoft.com/office/drawing/2014/main" id="{31D580AA-9CAF-1544-A3DB-06757FBBB395}"/>
                </a:ext>
              </a:extLst>
            </p:cNvPr>
            <p:cNvSpPr>
              <a:spLocks noChangeShapeType="1"/>
            </p:cNvSpPr>
            <p:nvPr/>
          </p:nvSpPr>
          <p:spPr bwMode="auto">
            <a:xfrm>
              <a:off x="2073" y="2728"/>
              <a:ext cx="1579" cy="46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30" name="Rectangle 89">
              <a:extLst>
                <a:ext uri="{FF2B5EF4-FFF2-40B4-BE49-F238E27FC236}">
                  <a16:creationId xmlns:a16="http://schemas.microsoft.com/office/drawing/2014/main" id="{60D16AD1-FAFA-6248-BB4D-76643C40A64C}"/>
                </a:ext>
              </a:extLst>
            </p:cNvPr>
            <p:cNvSpPr>
              <a:spLocks noChangeArrowheads="1"/>
            </p:cNvSpPr>
            <p:nvPr/>
          </p:nvSpPr>
          <p:spPr bwMode="auto">
            <a:xfrm>
              <a:off x="2486" y="2806"/>
              <a:ext cx="775" cy="27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31" name="Text Box 90">
              <a:extLst>
                <a:ext uri="{FF2B5EF4-FFF2-40B4-BE49-F238E27FC236}">
                  <a16:creationId xmlns:a16="http://schemas.microsoft.com/office/drawing/2014/main" id="{D8F9F960-0A9B-F045-8B04-6F4D63130318}"/>
                </a:ext>
              </a:extLst>
            </p:cNvPr>
            <p:cNvSpPr txBox="1">
              <a:spLocks noChangeArrowheads="1"/>
            </p:cNvSpPr>
            <p:nvPr/>
          </p:nvSpPr>
          <p:spPr bwMode="auto">
            <a:xfrm>
              <a:off x="2065" y="2852"/>
              <a:ext cx="1584"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ACKbit=1, ACKnum=y+1</a:t>
              </a:r>
            </a:p>
          </p:txBody>
        </p:sp>
        <p:sp>
          <p:nvSpPr>
            <p:cNvPr id="232" name="Text Box 94">
              <a:extLst>
                <a:ext uri="{FF2B5EF4-FFF2-40B4-BE49-F238E27FC236}">
                  <a16:creationId xmlns:a16="http://schemas.microsoft.com/office/drawing/2014/main" id="{B9046815-BDD2-9143-979C-D64169C26C55}"/>
                </a:ext>
              </a:extLst>
            </p:cNvPr>
            <p:cNvSpPr txBox="1">
              <a:spLocks noChangeArrowheads="1"/>
            </p:cNvSpPr>
            <p:nvPr/>
          </p:nvSpPr>
          <p:spPr bwMode="auto">
            <a:xfrm>
              <a:off x="571" y="2477"/>
              <a:ext cx="1473" cy="688"/>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050" kern="0" dirty="0">
                  <a:solidFill>
                    <a:srgbClr val="000000"/>
                  </a:solidFill>
                </a:rPr>
                <a:t>received SYNACK(x) </a:t>
              </a:r>
            </a:p>
            <a:p>
              <a:pPr algn="r">
                <a:lnSpc>
                  <a:spcPct val="90000"/>
                </a:lnSpc>
                <a:defRPr/>
              </a:pPr>
              <a:r>
                <a:rPr lang="en-US" sz="1050" kern="0" dirty="0">
                  <a:solidFill>
                    <a:srgbClr val="000000"/>
                  </a:solidFill>
                </a:rPr>
                <a:t>indicates server is live;</a:t>
              </a:r>
            </a:p>
            <a:p>
              <a:pPr algn="r">
                <a:lnSpc>
                  <a:spcPct val="90000"/>
                </a:lnSpc>
                <a:defRPr/>
              </a:pPr>
              <a:r>
                <a:rPr lang="en-US" sz="1050" kern="0" dirty="0">
                  <a:solidFill>
                    <a:srgbClr val="000000"/>
                  </a:solidFill>
                </a:rPr>
                <a:t>send ACK for SYNACK;</a:t>
              </a:r>
            </a:p>
            <a:p>
              <a:pPr algn="r">
                <a:lnSpc>
                  <a:spcPct val="90000"/>
                </a:lnSpc>
                <a:defRPr/>
              </a:pPr>
              <a:r>
                <a:rPr lang="en-US" sz="1050" kern="0" dirty="0">
                  <a:solidFill>
                    <a:srgbClr val="000000"/>
                  </a:solidFill>
                </a:rPr>
                <a:t>this segment may contain </a:t>
              </a:r>
            </a:p>
            <a:p>
              <a:pPr algn="r">
                <a:lnSpc>
                  <a:spcPct val="90000"/>
                </a:lnSpc>
                <a:defRPr/>
              </a:pPr>
              <a:r>
                <a:rPr lang="en-US" sz="1050" kern="0" dirty="0">
                  <a:solidFill>
                    <a:srgbClr val="000000"/>
                  </a:solidFill>
                </a:rPr>
                <a:t>client-to-server data</a:t>
              </a:r>
            </a:p>
          </p:txBody>
        </p:sp>
        <p:sp>
          <p:nvSpPr>
            <p:cNvPr id="233" name="Text Box 95">
              <a:extLst>
                <a:ext uri="{FF2B5EF4-FFF2-40B4-BE49-F238E27FC236}">
                  <a16:creationId xmlns:a16="http://schemas.microsoft.com/office/drawing/2014/main" id="{ADF0930B-F723-4446-8C5B-8996D59396E2}"/>
                </a:ext>
              </a:extLst>
            </p:cNvPr>
            <p:cNvSpPr txBox="1">
              <a:spLocks noChangeArrowheads="1"/>
            </p:cNvSpPr>
            <p:nvPr/>
          </p:nvSpPr>
          <p:spPr bwMode="auto">
            <a:xfrm>
              <a:off x="3640" y="3042"/>
              <a:ext cx="1201" cy="32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050" kern="0">
                  <a:solidFill>
                    <a:srgbClr val="000000"/>
                  </a:solidFill>
                </a:rPr>
                <a:t>received ACK(y) </a:t>
              </a:r>
            </a:p>
            <a:p>
              <a:pPr>
                <a:lnSpc>
                  <a:spcPct val="90000"/>
                </a:lnSpc>
                <a:defRPr/>
              </a:pPr>
              <a:r>
                <a:rPr lang="en-US" sz="1050" kern="0">
                  <a:solidFill>
                    <a:srgbClr val="000000"/>
                  </a:solidFill>
                </a:rPr>
                <a:t>indicates client is live</a:t>
              </a:r>
            </a:p>
          </p:txBody>
        </p:sp>
      </p:grpSp>
      <p:grpSp>
        <p:nvGrpSpPr>
          <p:cNvPr id="234" name="Group 105">
            <a:extLst>
              <a:ext uri="{FF2B5EF4-FFF2-40B4-BE49-F238E27FC236}">
                <a16:creationId xmlns:a16="http://schemas.microsoft.com/office/drawing/2014/main" id="{45AA77DF-71CD-2E48-9AEE-EC1E8FB1B1C5}"/>
              </a:ext>
            </a:extLst>
          </p:cNvPr>
          <p:cNvGrpSpPr>
            <a:grpSpLocks/>
          </p:cNvGrpSpPr>
          <p:nvPr/>
        </p:nvGrpSpPr>
        <p:grpSpPr bwMode="auto">
          <a:xfrm>
            <a:off x="1334096" y="3140053"/>
            <a:ext cx="823912" cy="550069"/>
            <a:chOff x="160" y="1387"/>
            <a:chExt cx="692" cy="462"/>
          </a:xfrm>
        </p:grpSpPr>
        <p:sp>
          <p:nvSpPr>
            <p:cNvPr id="235" name="Text Box 91">
              <a:extLst>
                <a:ext uri="{FF2B5EF4-FFF2-40B4-BE49-F238E27FC236}">
                  <a16:creationId xmlns:a16="http://schemas.microsoft.com/office/drawing/2014/main" id="{B93FA479-02A5-4C43-B059-3F1D0BB052E8}"/>
                </a:ext>
              </a:extLst>
            </p:cNvPr>
            <p:cNvSpPr txBox="1">
              <a:spLocks noChangeArrowheads="1"/>
            </p:cNvSpPr>
            <p:nvPr/>
          </p:nvSpPr>
          <p:spPr bwMode="auto">
            <a:xfrm>
              <a:off x="160" y="1616"/>
              <a:ext cx="692"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SYNSENT</a:t>
              </a:r>
            </a:p>
          </p:txBody>
        </p:sp>
        <p:sp>
          <p:nvSpPr>
            <p:cNvPr id="236" name="Line 103">
              <a:extLst>
                <a:ext uri="{FF2B5EF4-FFF2-40B4-BE49-F238E27FC236}">
                  <a16:creationId xmlns:a16="http://schemas.microsoft.com/office/drawing/2014/main" id="{C569F88B-55D7-1F45-9FD5-8D995E4C94A5}"/>
                </a:ext>
              </a:extLst>
            </p:cNvPr>
            <p:cNvSpPr>
              <a:spLocks noChangeShapeType="1"/>
            </p:cNvSpPr>
            <p:nvPr/>
          </p:nvSpPr>
          <p:spPr bwMode="auto">
            <a:xfrm>
              <a:off x="462" y="1387"/>
              <a:ext cx="0" cy="277"/>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nvGrpSpPr>
          <p:cNvPr id="237" name="Group 111">
            <a:extLst>
              <a:ext uri="{FF2B5EF4-FFF2-40B4-BE49-F238E27FC236}">
                <a16:creationId xmlns:a16="http://schemas.microsoft.com/office/drawing/2014/main" id="{FBD3641B-4567-B84B-B0A9-51F31757E64D}"/>
              </a:ext>
            </a:extLst>
          </p:cNvPr>
          <p:cNvGrpSpPr>
            <a:grpSpLocks/>
          </p:cNvGrpSpPr>
          <p:nvPr/>
        </p:nvGrpSpPr>
        <p:grpSpPr bwMode="auto">
          <a:xfrm>
            <a:off x="1335286" y="3635352"/>
            <a:ext cx="629842" cy="1241822"/>
            <a:chOff x="161" y="1803"/>
            <a:chExt cx="529" cy="1043"/>
          </a:xfrm>
        </p:grpSpPr>
        <p:sp>
          <p:nvSpPr>
            <p:cNvPr id="238" name="Text Box 16">
              <a:extLst>
                <a:ext uri="{FF2B5EF4-FFF2-40B4-BE49-F238E27FC236}">
                  <a16:creationId xmlns:a16="http://schemas.microsoft.com/office/drawing/2014/main" id="{46A42911-E4FA-6E45-98D3-9BA61AF39351}"/>
                </a:ext>
              </a:extLst>
            </p:cNvPr>
            <p:cNvSpPr txBox="1">
              <a:spLocks noChangeArrowheads="1"/>
            </p:cNvSpPr>
            <p:nvPr/>
          </p:nvSpPr>
          <p:spPr bwMode="auto">
            <a:xfrm>
              <a:off x="161" y="2613"/>
              <a:ext cx="529"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CC0000"/>
                  </a:solidFill>
                </a:rPr>
                <a:t>ESTAB</a:t>
              </a:r>
            </a:p>
          </p:txBody>
        </p:sp>
        <p:sp>
          <p:nvSpPr>
            <p:cNvPr id="239" name="Line 104">
              <a:extLst>
                <a:ext uri="{FF2B5EF4-FFF2-40B4-BE49-F238E27FC236}">
                  <a16:creationId xmlns:a16="http://schemas.microsoft.com/office/drawing/2014/main" id="{B764515C-528C-5B41-979E-CEB5F77FD9DC}"/>
                </a:ext>
              </a:extLst>
            </p:cNvPr>
            <p:cNvSpPr>
              <a:spLocks noChangeShapeType="1"/>
            </p:cNvSpPr>
            <p:nvPr/>
          </p:nvSpPr>
          <p:spPr bwMode="auto">
            <a:xfrm>
              <a:off x="465" y="1803"/>
              <a:ext cx="0" cy="797"/>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nvGrpSpPr>
          <p:cNvPr id="240" name="Group 108">
            <a:extLst>
              <a:ext uri="{FF2B5EF4-FFF2-40B4-BE49-F238E27FC236}">
                <a16:creationId xmlns:a16="http://schemas.microsoft.com/office/drawing/2014/main" id="{E9975853-CA29-F64E-9978-90818E85074F}"/>
              </a:ext>
            </a:extLst>
          </p:cNvPr>
          <p:cNvGrpSpPr>
            <a:grpSpLocks/>
          </p:cNvGrpSpPr>
          <p:nvPr/>
        </p:nvGrpSpPr>
        <p:grpSpPr bwMode="auto">
          <a:xfrm>
            <a:off x="6924080" y="3181725"/>
            <a:ext cx="892969" cy="919162"/>
            <a:chOff x="4855" y="1422"/>
            <a:chExt cx="750" cy="772"/>
          </a:xfrm>
        </p:grpSpPr>
        <p:sp>
          <p:nvSpPr>
            <p:cNvPr id="241" name="Text Box 99">
              <a:extLst>
                <a:ext uri="{FF2B5EF4-FFF2-40B4-BE49-F238E27FC236}">
                  <a16:creationId xmlns:a16="http://schemas.microsoft.com/office/drawing/2014/main" id="{8F08BD14-4FFB-B243-AC1A-68FE85BE4E11}"/>
                </a:ext>
              </a:extLst>
            </p:cNvPr>
            <p:cNvSpPr txBox="1">
              <a:spLocks noChangeArrowheads="1"/>
            </p:cNvSpPr>
            <p:nvPr/>
          </p:nvSpPr>
          <p:spPr bwMode="auto">
            <a:xfrm>
              <a:off x="4855" y="1961"/>
              <a:ext cx="750"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SYN RCVD</a:t>
              </a:r>
            </a:p>
          </p:txBody>
        </p:sp>
        <p:sp>
          <p:nvSpPr>
            <p:cNvPr id="242" name="Line 106">
              <a:extLst>
                <a:ext uri="{FF2B5EF4-FFF2-40B4-BE49-F238E27FC236}">
                  <a16:creationId xmlns:a16="http://schemas.microsoft.com/office/drawing/2014/main" id="{0D6BD76C-B84A-F940-AC88-70ACC69EC6F4}"/>
                </a:ext>
              </a:extLst>
            </p:cNvPr>
            <p:cNvSpPr>
              <a:spLocks noChangeShapeType="1"/>
            </p:cNvSpPr>
            <p:nvPr/>
          </p:nvSpPr>
          <p:spPr bwMode="auto">
            <a:xfrm>
              <a:off x="5339" y="1422"/>
              <a:ext cx="0" cy="569"/>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sp>
        <p:nvSpPr>
          <p:cNvPr id="243" name="Line 107">
            <a:extLst>
              <a:ext uri="{FF2B5EF4-FFF2-40B4-BE49-F238E27FC236}">
                <a16:creationId xmlns:a16="http://schemas.microsoft.com/office/drawing/2014/main" id="{28C3410E-FF26-2849-8647-5DA1E34B6C9E}"/>
              </a:ext>
            </a:extLst>
          </p:cNvPr>
          <p:cNvSpPr>
            <a:spLocks noChangeShapeType="1"/>
          </p:cNvSpPr>
          <p:nvPr/>
        </p:nvSpPr>
        <p:spPr bwMode="auto">
          <a:xfrm>
            <a:off x="7487246" y="4083028"/>
            <a:ext cx="0" cy="1278731"/>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245" name="Text Box 114">
            <a:extLst>
              <a:ext uri="{FF2B5EF4-FFF2-40B4-BE49-F238E27FC236}">
                <a16:creationId xmlns:a16="http://schemas.microsoft.com/office/drawing/2014/main" id="{A27DEC11-2958-674C-B587-49A38C649582}"/>
              </a:ext>
            </a:extLst>
          </p:cNvPr>
          <p:cNvSpPr txBox="1">
            <a:spLocks noChangeArrowheads="1"/>
          </p:cNvSpPr>
          <p:nvPr/>
        </p:nvSpPr>
        <p:spPr bwMode="auto">
          <a:xfrm>
            <a:off x="997009" y="2114061"/>
            <a:ext cx="1428661" cy="6001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2100" kern="0" dirty="0">
                <a:solidFill>
                  <a:srgbClr val="000099"/>
                </a:solidFill>
                <a:latin typeface="Calibri"/>
              </a:rPr>
              <a:t>C</a:t>
            </a:r>
            <a:r>
              <a:rPr lang="en-US" sz="2100" kern="0" dirty="0" err="1">
                <a:solidFill>
                  <a:srgbClr val="000099"/>
                </a:solidFill>
                <a:latin typeface="Calibri"/>
              </a:rPr>
              <a:t>lient</a:t>
            </a:r>
            <a:r>
              <a:rPr lang="en-US" sz="2100" kern="0" dirty="0">
                <a:solidFill>
                  <a:srgbClr val="000099"/>
                </a:solidFill>
                <a:latin typeface="Calibri"/>
              </a:rPr>
              <a:t> state</a:t>
            </a:r>
          </a:p>
          <a:p>
            <a:pPr algn="r">
              <a:defRPr/>
            </a:pPr>
            <a:endParaRPr lang="en-US" sz="1200" i="1" kern="0" dirty="0">
              <a:solidFill>
                <a:srgbClr val="000099"/>
              </a:solidFill>
            </a:endParaRPr>
          </a:p>
        </p:txBody>
      </p:sp>
      <p:sp>
        <p:nvSpPr>
          <p:cNvPr id="246" name="Text Box 115">
            <a:extLst>
              <a:ext uri="{FF2B5EF4-FFF2-40B4-BE49-F238E27FC236}">
                <a16:creationId xmlns:a16="http://schemas.microsoft.com/office/drawing/2014/main" id="{052EAC19-09BF-FD44-ADF4-7A708D2CC77C}"/>
              </a:ext>
            </a:extLst>
          </p:cNvPr>
          <p:cNvSpPr txBox="1">
            <a:spLocks noChangeArrowheads="1"/>
          </p:cNvSpPr>
          <p:nvPr/>
        </p:nvSpPr>
        <p:spPr bwMode="auto">
          <a:xfrm>
            <a:off x="1330037" y="2649467"/>
            <a:ext cx="683200"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dirty="0">
                <a:solidFill>
                  <a:srgbClr val="000000"/>
                </a:solidFill>
              </a:rPr>
              <a:t>LISTEN</a:t>
            </a:r>
          </a:p>
        </p:txBody>
      </p:sp>
      <p:sp>
        <p:nvSpPr>
          <p:cNvPr id="247" name="Text Box 116">
            <a:extLst>
              <a:ext uri="{FF2B5EF4-FFF2-40B4-BE49-F238E27FC236}">
                <a16:creationId xmlns:a16="http://schemas.microsoft.com/office/drawing/2014/main" id="{27C21C28-5638-8F4A-8A80-DBD146AD39D1}"/>
              </a:ext>
            </a:extLst>
          </p:cNvPr>
          <p:cNvSpPr txBox="1">
            <a:spLocks noChangeArrowheads="1"/>
          </p:cNvSpPr>
          <p:nvPr/>
        </p:nvSpPr>
        <p:spPr bwMode="auto">
          <a:xfrm>
            <a:off x="6629444" y="1668719"/>
            <a:ext cx="1497590" cy="6001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2100" kern="0" dirty="0">
                <a:solidFill>
                  <a:srgbClr val="000099"/>
                </a:solidFill>
                <a:latin typeface="Calibri"/>
              </a:rPr>
              <a:t>S</a:t>
            </a:r>
            <a:r>
              <a:rPr lang="en-US" sz="2100" kern="0" dirty="0" err="1">
                <a:solidFill>
                  <a:srgbClr val="000099"/>
                </a:solidFill>
                <a:latin typeface="Calibri"/>
              </a:rPr>
              <a:t>erver</a:t>
            </a:r>
            <a:r>
              <a:rPr lang="en-US" sz="2100" kern="0" dirty="0">
                <a:solidFill>
                  <a:srgbClr val="000099"/>
                </a:solidFill>
                <a:latin typeface="Calibri"/>
              </a:rPr>
              <a:t> state</a:t>
            </a:r>
          </a:p>
          <a:p>
            <a:pPr algn="r">
              <a:defRPr/>
            </a:pPr>
            <a:endParaRPr lang="en-US" sz="1200" i="1" kern="0" dirty="0">
              <a:solidFill>
                <a:srgbClr val="000099"/>
              </a:solidFill>
            </a:endParaRPr>
          </a:p>
        </p:txBody>
      </p:sp>
      <p:sp>
        <p:nvSpPr>
          <p:cNvPr id="248" name="Text Box 117">
            <a:extLst>
              <a:ext uri="{FF2B5EF4-FFF2-40B4-BE49-F238E27FC236}">
                <a16:creationId xmlns:a16="http://schemas.microsoft.com/office/drawing/2014/main" id="{2B920772-7698-6844-B114-A453A028C206}"/>
              </a:ext>
            </a:extLst>
          </p:cNvPr>
          <p:cNvSpPr txBox="1">
            <a:spLocks noChangeArrowheads="1"/>
          </p:cNvSpPr>
          <p:nvPr/>
        </p:nvSpPr>
        <p:spPr bwMode="auto">
          <a:xfrm>
            <a:off x="7108139" y="2831633"/>
            <a:ext cx="683200"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dirty="0">
                <a:solidFill>
                  <a:srgbClr val="000000"/>
                </a:solidFill>
              </a:rPr>
              <a:t>LISTEN</a:t>
            </a:r>
          </a:p>
        </p:txBody>
      </p:sp>
      <p:grpSp>
        <p:nvGrpSpPr>
          <p:cNvPr id="249" name="Group 118">
            <a:extLst>
              <a:ext uri="{FF2B5EF4-FFF2-40B4-BE49-F238E27FC236}">
                <a16:creationId xmlns:a16="http://schemas.microsoft.com/office/drawing/2014/main" id="{EE14688C-F1C2-7F41-8726-D165159240FD}"/>
              </a:ext>
            </a:extLst>
          </p:cNvPr>
          <p:cNvGrpSpPr>
            <a:grpSpLocks/>
          </p:cNvGrpSpPr>
          <p:nvPr/>
        </p:nvGrpSpPr>
        <p:grpSpPr bwMode="auto">
          <a:xfrm>
            <a:off x="3348355" y="2726857"/>
            <a:ext cx="482203" cy="450056"/>
            <a:chOff x="-44" y="1473"/>
            <a:chExt cx="981" cy="1105"/>
          </a:xfrm>
        </p:grpSpPr>
        <p:pic>
          <p:nvPicPr>
            <p:cNvPr id="424" name="Picture 119" descr="desktop_computer_stylized_medium">
              <a:extLst>
                <a:ext uri="{FF2B5EF4-FFF2-40B4-BE49-F238E27FC236}">
                  <a16:creationId xmlns:a16="http://schemas.microsoft.com/office/drawing/2014/main" id="{1C11CA15-FEC8-A341-80F1-CFA1FA9F14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5" name="Freeform 120">
              <a:extLst>
                <a:ext uri="{FF2B5EF4-FFF2-40B4-BE49-F238E27FC236}">
                  <a16:creationId xmlns:a16="http://schemas.microsoft.com/office/drawing/2014/main" id="{8CCBA09D-3C96-6544-9960-AA2F6CD2F41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250" name="Group 121">
            <a:extLst>
              <a:ext uri="{FF2B5EF4-FFF2-40B4-BE49-F238E27FC236}">
                <a16:creationId xmlns:a16="http://schemas.microsoft.com/office/drawing/2014/main" id="{DC61BD1A-A71F-CF4B-B53E-5ECC0609FEB5}"/>
              </a:ext>
            </a:extLst>
          </p:cNvPr>
          <p:cNvGrpSpPr>
            <a:grpSpLocks/>
          </p:cNvGrpSpPr>
          <p:nvPr/>
        </p:nvGrpSpPr>
        <p:grpSpPr bwMode="auto">
          <a:xfrm>
            <a:off x="5416357" y="2792341"/>
            <a:ext cx="252413" cy="384572"/>
            <a:chOff x="4140" y="429"/>
            <a:chExt cx="1425" cy="2396"/>
          </a:xfrm>
        </p:grpSpPr>
        <p:sp>
          <p:nvSpPr>
            <p:cNvPr id="251" name="Freeform 122">
              <a:extLst>
                <a:ext uri="{FF2B5EF4-FFF2-40B4-BE49-F238E27FC236}">
                  <a16:creationId xmlns:a16="http://schemas.microsoft.com/office/drawing/2014/main" id="{0CD95998-3FB2-FF44-94A2-CC491B71334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52" name="Rectangle 123">
              <a:extLst>
                <a:ext uri="{FF2B5EF4-FFF2-40B4-BE49-F238E27FC236}">
                  <a16:creationId xmlns:a16="http://schemas.microsoft.com/office/drawing/2014/main" id="{BF76EB82-B4E1-B149-BE06-EFCD582E8676}"/>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53" name="Freeform 124">
              <a:extLst>
                <a:ext uri="{FF2B5EF4-FFF2-40B4-BE49-F238E27FC236}">
                  <a16:creationId xmlns:a16="http://schemas.microsoft.com/office/drawing/2014/main" id="{338FE797-056A-6E48-9B03-4B0253D638F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54" name="Freeform 125">
              <a:extLst>
                <a:ext uri="{FF2B5EF4-FFF2-40B4-BE49-F238E27FC236}">
                  <a16:creationId xmlns:a16="http://schemas.microsoft.com/office/drawing/2014/main" id="{8D12AA45-CFED-084A-B74C-A299F8140712}"/>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55" name="Rectangle 126">
              <a:extLst>
                <a:ext uri="{FF2B5EF4-FFF2-40B4-BE49-F238E27FC236}">
                  <a16:creationId xmlns:a16="http://schemas.microsoft.com/office/drawing/2014/main" id="{56E176FE-7110-C043-AC64-4C5F3D2E4792}"/>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56" name="Group 127">
              <a:extLst>
                <a:ext uri="{FF2B5EF4-FFF2-40B4-BE49-F238E27FC236}">
                  <a16:creationId xmlns:a16="http://schemas.microsoft.com/office/drawing/2014/main" id="{A3707B54-2470-3A4A-B09A-A776F4E8539D}"/>
                </a:ext>
              </a:extLst>
            </p:cNvPr>
            <p:cNvGrpSpPr>
              <a:grpSpLocks/>
            </p:cNvGrpSpPr>
            <p:nvPr/>
          </p:nvGrpSpPr>
          <p:grpSpPr bwMode="auto">
            <a:xfrm>
              <a:off x="4749" y="668"/>
              <a:ext cx="581" cy="145"/>
              <a:chOff x="614" y="2568"/>
              <a:chExt cx="725" cy="139"/>
            </a:xfrm>
          </p:grpSpPr>
          <p:sp>
            <p:nvSpPr>
              <p:cNvPr id="422" name="AutoShape 128">
                <a:extLst>
                  <a:ext uri="{FF2B5EF4-FFF2-40B4-BE49-F238E27FC236}">
                    <a16:creationId xmlns:a16="http://schemas.microsoft.com/office/drawing/2014/main" id="{C32686E6-B534-4B48-85B4-322123C24741}"/>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423" name="AutoShape 129">
                <a:extLst>
                  <a:ext uri="{FF2B5EF4-FFF2-40B4-BE49-F238E27FC236}">
                    <a16:creationId xmlns:a16="http://schemas.microsoft.com/office/drawing/2014/main" id="{5846C4C5-19DD-E040-A465-B55F5E21A75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57" name="Rectangle 130">
              <a:extLst>
                <a:ext uri="{FF2B5EF4-FFF2-40B4-BE49-F238E27FC236}">
                  <a16:creationId xmlns:a16="http://schemas.microsoft.com/office/drawing/2014/main" id="{E24E2E97-8AA8-D94D-B792-C58D1DB2D334}"/>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58" name="Group 131">
              <a:extLst>
                <a:ext uri="{FF2B5EF4-FFF2-40B4-BE49-F238E27FC236}">
                  <a16:creationId xmlns:a16="http://schemas.microsoft.com/office/drawing/2014/main" id="{01958DE7-9158-5C4A-975E-7090A73BD88C}"/>
                </a:ext>
              </a:extLst>
            </p:cNvPr>
            <p:cNvGrpSpPr>
              <a:grpSpLocks/>
            </p:cNvGrpSpPr>
            <p:nvPr/>
          </p:nvGrpSpPr>
          <p:grpSpPr bwMode="auto">
            <a:xfrm>
              <a:off x="4747" y="994"/>
              <a:ext cx="581" cy="134"/>
              <a:chOff x="614" y="2568"/>
              <a:chExt cx="725" cy="139"/>
            </a:xfrm>
          </p:grpSpPr>
          <p:sp>
            <p:nvSpPr>
              <p:cNvPr id="420" name="AutoShape 132">
                <a:extLst>
                  <a:ext uri="{FF2B5EF4-FFF2-40B4-BE49-F238E27FC236}">
                    <a16:creationId xmlns:a16="http://schemas.microsoft.com/office/drawing/2014/main" id="{0097250A-579E-714A-BB43-1775F7C45B3C}"/>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421" name="AutoShape 133">
                <a:extLst>
                  <a:ext uri="{FF2B5EF4-FFF2-40B4-BE49-F238E27FC236}">
                    <a16:creationId xmlns:a16="http://schemas.microsoft.com/office/drawing/2014/main" id="{011ECBC9-4E9D-9949-BBD3-4E72A731A813}"/>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59" name="Rectangle 134">
              <a:extLst>
                <a:ext uri="{FF2B5EF4-FFF2-40B4-BE49-F238E27FC236}">
                  <a16:creationId xmlns:a16="http://schemas.microsoft.com/office/drawing/2014/main" id="{52385C15-71CF-0646-85DA-481C87C2251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60" name="Rectangle 135">
              <a:extLst>
                <a:ext uri="{FF2B5EF4-FFF2-40B4-BE49-F238E27FC236}">
                  <a16:creationId xmlns:a16="http://schemas.microsoft.com/office/drawing/2014/main" id="{E9AFAD7D-A0FD-3344-8D9C-D21DB7BED2D3}"/>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61" name="Group 136">
              <a:extLst>
                <a:ext uri="{FF2B5EF4-FFF2-40B4-BE49-F238E27FC236}">
                  <a16:creationId xmlns:a16="http://schemas.microsoft.com/office/drawing/2014/main" id="{36701E94-39B0-BB4E-B8F9-B11ED62531B0}"/>
                </a:ext>
              </a:extLst>
            </p:cNvPr>
            <p:cNvGrpSpPr>
              <a:grpSpLocks/>
            </p:cNvGrpSpPr>
            <p:nvPr/>
          </p:nvGrpSpPr>
          <p:grpSpPr bwMode="auto">
            <a:xfrm>
              <a:off x="4735" y="1627"/>
              <a:ext cx="582" cy="151"/>
              <a:chOff x="614" y="2568"/>
              <a:chExt cx="725" cy="139"/>
            </a:xfrm>
          </p:grpSpPr>
          <p:sp>
            <p:nvSpPr>
              <p:cNvPr id="277" name="AutoShape 137">
                <a:extLst>
                  <a:ext uri="{FF2B5EF4-FFF2-40B4-BE49-F238E27FC236}">
                    <a16:creationId xmlns:a16="http://schemas.microsoft.com/office/drawing/2014/main" id="{2535A487-3992-6B4F-9D85-E297BC39036D}"/>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419" name="AutoShape 138">
                <a:extLst>
                  <a:ext uri="{FF2B5EF4-FFF2-40B4-BE49-F238E27FC236}">
                    <a16:creationId xmlns:a16="http://schemas.microsoft.com/office/drawing/2014/main" id="{C55E1D44-7480-0442-A9DA-330FF7250538}"/>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62" name="Freeform 139">
              <a:extLst>
                <a:ext uri="{FF2B5EF4-FFF2-40B4-BE49-F238E27FC236}">
                  <a16:creationId xmlns:a16="http://schemas.microsoft.com/office/drawing/2014/main" id="{56DA20E3-D49F-444E-8D21-F715762F02D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grpSp>
          <p:nvGrpSpPr>
            <p:cNvPr id="263" name="Group 140">
              <a:extLst>
                <a:ext uri="{FF2B5EF4-FFF2-40B4-BE49-F238E27FC236}">
                  <a16:creationId xmlns:a16="http://schemas.microsoft.com/office/drawing/2014/main" id="{350DC23D-91BA-0F49-A121-0BB6DA6FFB97}"/>
                </a:ext>
              </a:extLst>
            </p:cNvPr>
            <p:cNvGrpSpPr>
              <a:grpSpLocks/>
            </p:cNvGrpSpPr>
            <p:nvPr/>
          </p:nvGrpSpPr>
          <p:grpSpPr bwMode="auto">
            <a:xfrm>
              <a:off x="4739" y="1327"/>
              <a:ext cx="582" cy="139"/>
              <a:chOff x="614" y="2568"/>
              <a:chExt cx="725" cy="139"/>
            </a:xfrm>
          </p:grpSpPr>
          <p:sp>
            <p:nvSpPr>
              <p:cNvPr id="275" name="AutoShape 141">
                <a:extLst>
                  <a:ext uri="{FF2B5EF4-FFF2-40B4-BE49-F238E27FC236}">
                    <a16:creationId xmlns:a16="http://schemas.microsoft.com/office/drawing/2014/main" id="{B6F4CD24-7945-E141-8AE5-B72F07D79D0A}"/>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6" name="AutoShape 142">
                <a:extLst>
                  <a:ext uri="{FF2B5EF4-FFF2-40B4-BE49-F238E27FC236}">
                    <a16:creationId xmlns:a16="http://schemas.microsoft.com/office/drawing/2014/main" id="{A13F2C2E-8E50-C242-BBFA-276B4503978A}"/>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64" name="Rectangle 143">
              <a:extLst>
                <a:ext uri="{FF2B5EF4-FFF2-40B4-BE49-F238E27FC236}">
                  <a16:creationId xmlns:a16="http://schemas.microsoft.com/office/drawing/2014/main" id="{C95C6BF7-C7DF-FB4E-BCA1-1C5F3CF4748B}"/>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65" name="Freeform 144">
              <a:extLst>
                <a:ext uri="{FF2B5EF4-FFF2-40B4-BE49-F238E27FC236}">
                  <a16:creationId xmlns:a16="http://schemas.microsoft.com/office/drawing/2014/main" id="{E716E123-C485-CC44-A743-C9D7E94AF6B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66" name="Freeform 145">
              <a:extLst>
                <a:ext uri="{FF2B5EF4-FFF2-40B4-BE49-F238E27FC236}">
                  <a16:creationId xmlns:a16="http://schemas.microsoft.com/office/drawing/2014/main" id="{8B36D081-D3B9-D34B-91B2-079B05D0914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67" name="Oval 146">
              <a:extLst>
                <a:ext uri="{FF2B5EF4-FFF2-40B4-BE49-F238E27FC236}">
                  <a16:creationId xmlns:a16="http://schemas.microsoft.com/office/drawing/2014/main" id="{B32C0505-6B5E-5B45-9C22-ABAD0452C43F}"/>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68" name="Freeform 147">
              <a:extLst>
                <a:ext uri="{FF2B5EF4-FFF2-40B4-BE49-F238E27FC236}">
                  <a16:creationId xmlns:a16="http://schemas.microsoft.com/office/drawing/2014/main" id="{30177E53-587A-9B45-9ECD-611B7CEB1E04}"/>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69" name="AutoShape 148">
              <a:extLst>
                <a:ext uri="{FF2B5EF4-FFF2-40B4-BE49-F238E27FC236}">
                  <a16:creationId xmlns:a16="http://schemas.microsoft.com/office/drawing/2014/main" id="{0DA2D2A9-124E-EB41-86B5-909A794DF763}"/>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0" name="AutoShape 149">
              <a:extLst>
                <a:ext uri="{FF2B5EF4-FFF2-40B4-BE49-F238E27FC236}">
                  <a16:creationId xmlns:a16="http://schemas.microsoft.com/office/drawing/2014/main" id="{CA5FFC73-D7D9-D240-94B8-900F51AC0C7D}"/>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1" name="Oval 150">
              <a:extLst>
                <a:ext uri="{FF2B5EF4-FFF2-40B4-BE49-F238E27FC236}">
                  <a16:creationId xmlns:a16="http://schemas.microsoft.com/office/drawing/2014/main" id="{EFC35150-3347-7042-80EB-A8781A361256}"/>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2" name="Oval 151">
              <a:extLst>
                <a:ext uri="{FF2B5EF4-FFF2-40B4-BE49-F238E27FC236}">
                  <a16:creationId xmlns:a16="http://schemas.microsoft.com/office/drawing/2014/main" id="{EA2EA724-2820-AE47-8D84-09E997A6DDAA}"/>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350" kern="0">
                <a:solidFill>
                  <a:srgbClr val="FF0000"/>
                </a:solidFill>
                <a:latin typeface="Arial" charset="0"/>
                <a:ea typeface="ＭＳ Ｐゴシック" charset="0"/>
                <a:cs typeface="Arial" charset="0"/>
              </a:endParaRPr>
            </a:p>
          </p:txBody>
        </p:sp>
        <p:sp>
          <p:nvSpPr>
            <p:cNvPr id="273" name="Oval 152">
              <a:extLst>
                <a:ext uri="{FF2B5EF4-FFF2-40B4-BE49-F238E27FC236}">
                  <a16:creationId xmlns:a16="http://schemas.microsoft.com/office/drawing/2014/main" id="{27B270D9-EE2B-924F-8F2A-27B9EB6ABE98}"/>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4" name="Rectangle 153">
              <a:extLst>
                <a:ext uri="{FF2B5EF4-FFF2-40B4-BE49-F238E27FC236}">
                  <a16:creationId xmlns:a16="http://schemas.microsoft.com/office/drawing/2014/main" id="{689F1C5E-1D85-0243-9E5E-0ABE340F97D1}"/>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74" name="Text Box 13">
            <a:extLst>
              <a:ext uri="{FF2B5EF4-FFF2-40B4-BE49-F238E27FC236}">
                <a16:creationId xmlns:a16="http://schemas.microsoft.com/office/drawing/2014/main" id="{5C657586-8C26-7645-A308-A162DA1C735B}"/>
              </a:ext>
            </a:extLst>
          </p:cNvPr>
          <p:cNvSpPr txBox="1">
            <a:spLocks noChangeArrowheads="1"/>
          </p:cNvSpPr>
          <p:nvPr/>
        </p:nvSpPr>
        <p:spPr bwMode="auto">
          <a:xfrm>
            <a:off x="280997" y="2482607"/>
            <a:ext cx="3157398" cy="21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lnSpc>
                <a:spcPct val="90000"/>
              </a:lnSpc>
              <a:spcBef>
                <a:spcPts val="0"/>
              </a:spcBef>
              <a:spcAft>
                <a:spcPts val="0"/>
              </a:spcAft>
              <a:defRPr/>
            </a:pPr>
            <a:r>
              <a:rPr lang="en-US" altLang="en-US" sz="900" dirty="0" err="1">
                <a:solidFill>
                  <a:prstClr val="black"/>
                </a:solidFill>
                <a:latin typeface="Courier Std" panose="02070409020205020404" pitchFamily="49" charset="77"/>
              </a:rPr>
              <a:t>clientSocket</a:t>
            </a:r>
            <a:r>
              <a:rPr lang="en-US" altLang="en-US" sz="900" dirty="0">
                <a:solidFill>
                  <a:prstClr val="black"/>
                </a:solidFill>
                <a:latin typeface="Courier Std" panose="02070409020205020404" pitchFamily="49" charset="77"/>
              </a:rPr>
              <a:t> = socket(AF_INET, SOCK_STREAM)</a:t>
            </a:r>
          </a:p>
        </p:txBody>
      </p:sp>
      <p:sp>
        <p:nvSpPr>
          <p:cNvPr id="75" name="Text Box 5">
            <a:extLst>
              <a:ext uri="{FF2B5EF4-FFF2-40B4-BE49-F238E27FC236}">
                <a16:creationId xmlns:a16="http://schemas.microsoft.com/office/drawing/2014/main" id="{1D57F3DF-BFA3-284D-8B9A-ADD3873D3BB3}"/>
              </a:ext>
            </a:extLst>
          </p:cNvPr>
          <p:cNvSpPr txBox="1">
            <a:spLocks noChangeArrowheads="1"/>
          </p:cNvSpPr>
          <p:nvPr/>
        </p:nvSpPr>
        <p:spPr bwMode="auto">
          <a:xfrm>
            <a:off x="5866423" y="2084088"/>
            <a:ext cx="3355406" cy="80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r>
              <a:rPr lang="en-US" altLang="en-US" sz="900" dirty="0" err="1">
                <a:solidFill>
                  <a:prstClr val="black"/>
                </a:solidFill>
                <a:latin typeface="Courier Std" panose="02070409020205020404" pitchFamily="49" charset="77"/>
              </a:rPr>
              <a:t>serverSocket</a:t>
            </a:r>
            <a:r>
              <a:rPr lang="en-US" altLang="en-US" sz="900" dirty="0">
                <a:solidFill>
                  <a:prstClr val="black"/>
                </a:solidFill>
                <a:latin typeface="Courier Std" panose="02070409020205020404" pitchFamily="49" charset="77"/>
              </a:rPr>
              <a:t> = socket(AF_INET,SOCK_STREAM)</a:t>
            </a:r>
          </a:p>
          <a:p>
            <a:pPr eaLnBrk="1" fontAlgn="auto" hangingPunct="1">
              <a:spcBef>
                <a:spcPts val="0"/>
              </a:spcBef>
              <a:spcAft>
                <a:spcPts val="0"/>
              </a:spcAft>
              <a:defRPr/>
            </a:pPr>
            <a:r>
              <a:rPr lang="en-US" altLang="en-US" sz="900" dirty="0" err="1">
                <a:solidFill>
                  <a:prstClr val="black"/>
                </a:solidFill>
                <a:latin typeface="Courier Std" panose="02070409020205020404" pitchFamily="49" charset="77"/>
              </a:rPr>
              <a:t>serverSocket.bind</a:t>
            </a:r>
            <a:r>
              <a:rPr lang="en-US" altLang="en-US" sz="900" dirty="0">
                <a:solidFill>
                  <a:prstClr val="black"/>
                </a:solidFill>
                <a:latin typeface="Courier Std" panose="02070409020205020404" pitchFamily="49" charset="77"/>
              </a:rPr>
              <a:t>((‘’,</a:t>
            </a:r>
            <a:r>
              <a:rPr lang="en-US" altLang="en-US" sz="900" dirty="0" err="1">
                <a:solidFill>
                  <a:prstClr val="black"/>
                </a:solidFill>
                <a:latin typeface="Courier Std" panose="02070409020205020404" pitchFamily="49" charset="77"/>
              </a:rPr>
              <a:t>serverPort</a:t>
            </a:r>
            <a:r>
              <a:rPr lang="en-US" altLang="en-US" sz="900" dirty="0">
                <a:solidFill>
                  <a:prstClr val="black"/>
                </a:solidFill>
                <a:latin typeface="Courier Std" panose="02070409020205020404" pitchFamily="49" charset="77"/>
              </a:rPr>
              <a:t>))</a:t>
            </a:r>
          </a:p>
          <a:p>
            <a:pPr eaLnBrk="1" fontAlgn="auto" hangingPunct="1">
              <a:spcBef>
                <a:spcPts val="0"/>
              </a:spcBef>
              <a:spcAft>
                <a:spcPts val="0"/>
              </a:spcAft>
              <a:defRPr/>
            </a:pPr>
            <a:r>
              <a:rPr lang="en-US" altLang="en-US" sz="900" dirty="0" err="1">
                <a:solidFill>
                  <a:prstClr val="black"/>
                </a:solidFill>
                <a:latin typeface="Courier Std" panose="02070409020205020404" pitchFamily="49" charset="77"/>
              </a:rPr>
              <a:t>serverSocket.listen</a:t>
            </a:r>
            <a:r>
              <a:rPr lang="en-US" altLang="en-US" sz="900" dirty="0">
                <a:solidFill>
                  <a:prstClr val="black"/>
                </a:solidFill>
                <a:latin typeface="Courier Std" panose="02070409020205020404" pitchFamily="49" charset="77"/>
              </a:rPr>
              <a:t>(1)</a:t>
            </a:r>
          </a:p>
          <a:p>
            <a:pPr eaLnBrk="1" fontAlgn="auto" hangingPunct="1">
              <a:spcBef>
                <a:spcPts val="0"/>
              </a:spcBef>
              <a:spcAft>
                <a:spcPts val="0"/>
              </a:spcAft>
              <a:defRPr/>
            </a:pPr>
            <a:r>
              <a:rPr lang="en-US" altLang="en-US" sz="900" dirty="0" err="1">
                <a:solidFill>
                  <a:prstClr val="black"/>
                </a:solidFill>
                <a:latin typeface="Courier Std" panose="02070409020205020404" pitchFamily="49" charset="77"/>
              </a:rPr>
              <a:t>connectionSocket</a:t>
            </a:r>
            <a:r>
              <a:rPr lang="en-US" altLang="en-US" sz="900" dirty="0">
                <a:solidFill>
                  <a:prstClr val="black"/>
                </a:solidFill>
                <a:latin typeface="Courier Std" panose="02070409020205020404" pitchFamily="49" charset="77"/>
              </a:rPr>
              <a:t>, </a:t>
            </a:r>
            <a:r>
              <a:rPr lang="en-US" altLang="en-US" sz="900" dirty="0" err="1">
                <a:solidFill>
                  <a:prstClr val="black"/>
                </a:solidFill>
                <a:latin typeface="Courier Std" panose="02070409020205020404" pitchFamily="49" charset="77"/>
              </a:rPr>
              <a:t>addr</a:t>
            </a:r>
            <a:r>
              <a:rPr lang="en-US" altLang="en-US" sz="900" dirty="0">
                <a:solidFill>
                  <a:prstClr val="black"/>
                </a:solidFill>
                <a:latin typeface="Courier Std" panose="02070409020205020404" pitchFamily="49" charset="77"/>
              </a:rPr>
              <a:t> = </a:t>
            </a:r>
            <a:r>
              <a:rPr lang="en-US" altLang="en-US" sz="900" dirty="0" err="1">
                <a:solidFill>
                  <a:prstClr val="black"/>
                </a:solidFill>
                <a:latin typeface="Courier Std" panose="02070409020205020404" pitchFamily="49" charset="77"/>
              </a:rPr>
              <a:t>serverSocket.accept</a:t>
            </a:r>
            <a:r>
              <a:rPr lang="en-US" altLang="en-US" sz="900" dirty="0">
                <a:solidFill>
                  <a:prstClr val="black"/>
                </a:solidFill>
                <a:latin typeface="Courier Std" panose="02070409020205020404" pitchFamily="49" charset="77"/>
              </a:rPr>
              <a:t>()</a:t>
            </a:r>
          </a:p>
          <a:p>
            <a:pPr eaLnBrk="1" fontAlgn="auto" hangingPunct="1">
              <a:spcBef>
                <a:spcPts val="0"/>
              </a:spcBef>
              <a:spcAft>
                <a:spcPts val="0"/>
              </a:spcAft>
              <a:defRPr/>
            </a:pPr>
            <a:endParaRPr lang="en-US" altLang="en-US" sz="1050" dirty="0">
              <a:solidFill>
                <a:prstClr val="black"/>
              </a:solidFill>
            </a:endParaRPr>
          </a:p>
        </p:txBody>
      </p:sp>
      <p:sp>
        <p:nvSpPr>
          <p:cNvPr id="77" name="Text Box 13">
            <a:extLst>
              <a:ext uri="{FF2B5EF4-FFF2-40B4-BE49-F238E27FC236}">
                <a16:creationId xmlns:a16="http://schemas.microsoft.com/office/drawing/2014/main" id="{85BB3488-0F19-2446-9F3D-0FF3F2E5F4DB}"/>
              </a:ext>
            </a:extLst>
          </p:cNvPr>
          <p:cNvSpPr txBox="1">
            <a:spLocks noChangeArrowheads="1"/>
          </p:cNvSpPr>
          <p:nvPr/>
        </p:nvSpPr>
        <p:spPr bwMode="auto">
          <a:xfrm>
            <a:off x="207407" y="2868564"/>
            <a:ext cx="3324933" cy="21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1" fontAlgn="auto" hangingPunct="1">
              <a:lnSpc>
                <a:spcPct val="90000"/>
              </a:lnSpc>
              <a:spcBef>
                <a:spcPts val="0"/>
              </a:spcBef>
              <a:spcAft>
                <a:spcPts val="0"/>
              </a:spcAft>
              <a:defRPr/>
            </a:pPr>
            <a:r>
              <a:rPr lang="en-US" altLang="en-US" sz="900" dirty="0" err="1">
                <a:solidFill>
                  <a:prstClr val="black"/>
                </a:solidFill>
                <a:latin typeface="Courier Std" panose="02070409020205020404" pitchFamily="49" charset="77"/>
              </a:rPr>
              <a:t>clientSocket.connect</a:t>
            </a:r>
            <a:r>
              <a:rPr lang="en-US" altLang="en-US" sz="900" dirty="0">
                <a:solidFill>
                  <a:prstClr val="black"/>
                </a:solidFill>
                <a:latin typeface="Courier Std" panose="02070409020205020404" pitchFamily="49" charset="77"/>
              </a:rPr>
              <a:t>((</a:t>
            </a:r>
            <a:r>
              <a:rPr lang="en-US" altLang="en-US" sz="900" dirty="0" err="1">
                <a:solidFill>
                  <a:prstClr val="black"/>
                </a:solidFill>
                <a:latin typeface="Courier Std" panose="02070409020205020404" pitchFamily="49" charset="77"/>
              </a:rPr>
              <a:t>serverName,serverPort</a:t>
            </a:r>
            <a:r>
              <a:rPr lang="en-US" altLang="en-US" sz="900" dirty="0">
                <a:solidFill>
                  <a:prstClr val="black"/>
                </a:solidFill>
                <a:latin typeface="Courier Std" panose="02070409020205020404" pitchFamily="49" charset="77"/>
              </a:rPr>
              <a:t>))</a:t>
            </a:r>
          </a:p>
        </p:txBody>
      </p:sp>
      <p:sp>
        <p:nvSpPr>
          <p:cNvPr id="76" name="Slide Number Placeholder 2">
            <a:extLst>
              <a:ext uri="{FF2B5EF4-FFF2-40B4-BE49-F238E27FC236}">
                <a16:creationId xmlns:a16="http://schemas.microsoft.com/office/drawing/2014/main" id="{86E89225-4B9A-C747-8672-752709ED8105}"/>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77</a:t>
            </a:fld>
            <a:endParaRPr lang="en-US" dirty="0">
              <a:solidFill>
                <a:prstClr val="white">
                  <a:lumMod val="50000"/>
                </a:prstClr>
              </a:solidFill>
            </a:endParaRPr>
          </a:p>
        </p:txBody>
      </p:sp>
    </p:spTree>
    <p:extLst>
      <p:ext uri="{BB962C8B-B14F-4D97-AF65-F5344CB8AC3E}">
        <p14:creationId xmlns:p14="http://schemas.microsoft.com/office/powerpoint/2010/main" val="360556135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wipe(left)">
                                      <p:cBhvr>
                                        <p:cTn id="7" dur="500"/>
                                        <p:tgtEl>
                                          <p:spTgt spid="216"/>
                                        </p:tgtEl>
                                      </p:cBhvr>
                                    </p:animEffect>
                                  </p:childTnLst>
                                </p:cTn>
                              </p:par>
                              <p:par>
                                <p:cTn id="8" presetID="22" presetClass="entr" presetSubtype="1" fill="hold" nodeType="withEffect">
                                  <p:stCondLst>
                                    <p:cond delay="0"/>
                                  </p:stCondLst>
                                  <p:childTnLst>
                                    <p:set>
                                      <p:cBhvr>
                                        <p:cTn id="9" dur="1" fill="hold">
                                          <p:stCondLst>
                                            <p:cond delay="0"/>
                                          </p:stCondLst>
                                        </p:cTn>
                                        <p:tgtEl>
                                          <p:spTgt spid="234"/>
                                        </p:tgtEl>
                                        <p:attrNameLst>
                                          <p:attrName>style.visibility</p:attrName>
                                        </p:attrNameLst>
                                      </p:cBhvr>
                                      <p:to>
                                        <p:strVal val="visible"/>
                                      </p:to>
                                    </p:set>
                                    <p:animEffect transition="in" filter="wipe(up)">
                                      <p:cBhvr>
                                        <p:cTn id="10" dur="500"/>
                                        <p:tgtEl>
                                          <p:spTgt spid="23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dissolve">
                                      <p:cBhvr>
                                        <p:cTn id="13" dur="500"/>
                                        <p:tgtEl>
                                          <p:spTgt spid="7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40"/>
                                        </p:tgtEl>
                                        <p:attrNameLst>
                                          <p:attrName>style.visibility</p:attrName>
                                        </p:attrNameLst>
                                      </p:cBhvr>
                                      <p:to>
                                        <p:strVal val="visible"/>
                                      </p:to>
                                    </p:set>
                                    <p:animEffect transition="in" filter="wipe(up)">
                                      <p:cBhvr>
                                        <p:cTn id="18" dur="500"/>
                                        <p:tgtEl>
                                          <p:spTgt spid="240"/>
                                        </p:tgtEl>
                                      </p:cBhvr>
                                    </p:animEffect>
                                  </p:childTnLst>
                                </p:cTn>
                              </p:par>
                              <p:par>
                                <p:cTn id="19" presetID="22" presetClass="entr" presetSubtype="2" fill="hold" nodeType="withEffect">
                                  <p:stCondLst>
                                    <p:cond delay="0"/>
                                  </p:stCondLst>
                                  <p:childTnLst>
                                    <p:set>
                                      <p:cBhvr>
                                        <p:cTn id="20" dur="1" fill="hold">
                                          <p:stCondLst>
                                            <p:cond delay="0"/>
                                          </p:stCondLst>
                                        </p:cTn>
                                        <p:tgtEl>
                                          <p:spTgt spid="223"/>
                                        </p:tgtEl>
                                        <p:attrNameLst>
                                          <p:attrName>style.visibility</p:attrName>
                                        </p:attrNameLst>
                                      </p:cBhvr>
                                      <p:to>
                                        <p:strVal val="visible"/>
                                      </p:to>
                                    </p:set>
                                    <p:animEffect transition="in" filter="wipe(right)">
                                      <p:cBhvr>
                                        <p:cTn id="21" dur="500"/>
                                        <p:tgtEl>
                                          <p:spTgt spid="22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28"/>
                                        </p:tgtEl>
                                        <p:attrNameLst>
                                          <p:attrName>style.visibility</p:attrName>
                                        </p:attrNameLst>
                                      </p:cBhvr>
                                      <p:to>
                                        <p:strVal val="visible"/>
                                      </p:to>
                                    </p:set>
                                    <p:animEffect transition="in" filter="wipe(left)">
                                      <p:cBhvr>
                                        <p:cTn id="26" dur="500"/>
                                        <p:tgtEl>
                                          <p:spTgt spid="228"/>
                                        </p:tgtEl>
                                      </p:cBhvr>
                                    </p:animEffect>
                                  </p:childTnLst>
                                </p:cTn>
                              </p:par>
                              <p:par>
                                <p:cTn id="27" presetID="22" presetClass="entr" presetSubtype="1" fill="hold" nodeType="withEffect">
                                  <p:stCondLst>
                                    <p:cond delay="0"/>
                                  </p:stCondLst>
                                  <p:childTnLst>
                                    <p:set>
                                      <p:cBhvr>
                                        <p:cTn id="28" dur="1" fill="hold">
                                          <p:stCondLst>
                                            <p:cond delay="0"/>
                                          </p:stCondLst>
                                        </p:cTn>
                                        <p:tgtEl>
                                          <p:spTgt spid="237"/>
                                        </p:tgtEl>
                                        <p:attrNameLst>
                                          <p:attrName>style.visibility</p:attrName>
                                        </p:attrNameLst>
                                      </p:cBhvr>
                                      <p:to>
                                        <p:strVal val="visible"/>
                                      </p:to>
                                    </p:set>
                                    <p:animEffect transition="in" filter="wipe(up)">
                                      <p:cBhvr>
                                        <p:cTn id="29" dur="500"/>
                                        <p:tgtEl>
                                          <p:spTgt spid="237"/>
                                        </p:tgtEl>
                                      </p:cBhvr>
                                    </p:animEffect>
                                  </p:childTnLst>
                                </p:cTn>
                              </p:par>
                            </p:childTnLst>
                          </p:cTn>
                        </p:par>
                        <p:par>
                          <p:cTn id="30" fill="hold">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222"/>
                                        </p:tgtEl>
                                        <p:attrNameLst>
                                          <p:attrName>style.visibility</p:attrName>
                                        </p:attrNameLst>
                                      </p:cBhvr>
                                      <p:to>
                                        <p:strVal val="visible"/>
                                      </p:to>
                                    </p:set>
                                    <p:animEffect transition="in" filter="wipe(up)">
                                      <p:cBhvr>
                                        <p:cTn id="33" dur="500"/>
                                        <p:tgtEl>
                                          <p:spTgt spid="222"/>
                                        </p:tgtEl>
                                      </p:cBhvr>
                                    </p:animEffect>
                                  </p:childTnLst>
                                </p:cTn>
                              </p:par>
                              <p:par>
                                <p:cTn id="34" presetID="22" presetClass="entr" presetSubtype="1" fill="hold" nodeType="withEffect">
                                  <p:stCondLst>
                                    <p:cond delay="0"/>
                                  </p:stCondLst>
                                  <p:childTnLst>
                                    <p:set>
                                      <p:cBhvr>
                                        <p:cTn id="35" dur="1" fill="hold">
                                          <p:stCondLst>
                                            <p:cond delay="0"/>
                                          </p:stCondLst>
                                        </p:cTn>
                                        <p:tgtEl>
                                          <p:spTgt spid="243"/>
                                        </p:tgtEl>
                                        <p:attrNameLst>
                                          <p:attrName>style.visibility</p:attrName>
                                        </p:attrNameLst>
                                      </p:cBhvr>
                                      <p:to>
                                        <p:strVal val="visible"/>
                                      </p:to>
                                    </p:set>
                                    <p:animEffect transition="in" filter="wipe(up)">
                                      <p:cBhvr>
                                        <p:cTn id="36"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 grpId="0"/>
      <p:bldP spid="7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7" y="1074244"/>
            <a:ext cx="8544983" cy="670967"/>
          </a:xfrm>
        </p:spPr>
        <p:txBody>
          <a:bodyPr>
            <a:normAutofit/>
          </a:bodyPr>
          <a:lstStyle/>
          <a:p>
            <a:r>
              <a:rPr lang="en-US" sz="3600" dirty="0"/>
              <a:t>Closing a TCP connection</a:t>
            </a:r>
            <a:endParaRPr lang="en-US" b="0" dirty="0"/>
          </a:p>
        </p:txBody>
      </p:sp>
      <p:sp>
        <p:nvSpPr>
          <p:cNvPr id="47" name="Rectangle 47">
            <a:extLst>
              <a:ext uri="{FF2B5EF4-FFF2-40B4-BE49-F238E27FC236}">
                <a16:creationId xmlns:a16="http://schemas.microsoft.com/office/drawing/2014/main" id="{B20BADCC-1032-9A48-BC43-B4E1275E4EDF}"/>
              </a:ext>
            </a:extLst>
          </p:cNvPr>
          <p:cNvSpPr txBox="1">
            <a:spLocks noChangeArrowheads="1"/>
          </p:cNvSpPr>
          <p:nvPr/>
        </p:nvSpPr>
        <p:spPr>
          <a:xfrm>
            <a:off x="599017" y="1938197"/>
            <a:ext cx="7273739" cy="3139679"/>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 typeface="Wingdings" charset="2"/>
              <a:buChar char="§"/>
              <a:defRPr/>
            </a:pPr>
            <a:r>
              <a:rPr lang="en-US" sz="2100" dirty="0">
                <a:solidFill>
                  <a:prstClr val="black"/>
                </a:solidFill>
              </a:rPr>
              <a:t>client, server each close their side of connection</a:t>
            </a:r>
          </a:p>
          <a:p>
            <a:pPr lvl="1" fontAlgn="auto">
              <a:spcAft>
                <a:spcPts val="0"/>
              </a:spcAft>
              <a:buFont typeface="Arial"/>
              <a:buChar char="•"/>
              <a:defRPr/>
            </a:pPr>
            <a:r>
              <a:rPr lang="en-US" sz="1800" dirty="0">
                <a:solidFill>
                  <a:prstClr val="black"/>
                </a:solidFill>
              </a:rPr>
              <a:t>send TCP segment with FIN bit = 1</a:t>
            </a:r>
          </a:p>
          <a:p>
            <a:pPr fontAlgn="auto">
              <a:spcAft>
                <a:spcPts val="0"/>
              </a:spcAft>
              <a:buFont typeface="Wingdings" charset="2"/>
              <a:buChar char="§"/>
              <a:defRPr/>
            </a:pPr>
            <a:r>
              <a:rPr lang="en-US" sz="2100" dirty="0">
                <a:solidFill>
                  <a:prstClr val="black"/>
                </a:solidFill>
              </a:rPr>
              <a:t>respond to received FIN with ACK</a:t>
            </a:r>
          </a:p>
          <a:p>
            <a:pPr lvl="1" fontAlgn="auto">
              <a:spcAft>
                <a:spcPts val="0"/>
              </a:spcAft>
              <a:buFont typeface="Arial"/>
              <a:buChar char="•"/>
              <a:defRPr/>
            </a:pPr>
            <a:r>
              <a:rPr lang="en-US" sz="1800" dirty="0">
                <a:solidFill>
                  <a:prstClr val="black"/>
                </a:solidFill>
              </a:rPr>
              <a:t>on receiving FIN, ACK can be combined with own FIN</a:t>
            </a:r>
          </a:p>
          <a:p>
            <a:pPr fontAlgn="auto">
              <a:spcAft>
                <a:spcPts val="0"/>
              </a:spcAft>
              <a:buFont typeface="Wingdings" charset="2"/>
              <a:buChar char="§"/>
              <a:defRPr/>
            </a:pPr>
            <a:r>
              <a:rPr lang="en-US" sz="2100" dirty="0">
                <a:solidFill>
                  <a:prstClr val="black"/>
                </a:solidFill>
              </a:rPr>
              <a:t>simultaneous FIN exchanges can be handled</a:t>
            </a:r>
          </a:p>
        </p:txBody>
      </p:sp>
      <p:sp>
        <p:nvSpPr>
          <p:cNvPr id="4" name="Slide Number Placeholder 2">
            <a:extLst>
              <a:ext uri="{FF2B5EF4-FFF2-40B4-BE49-F238E27FC236}">
                <a16:creationId xmlns:a16="http://schemas.microsoft.com/office/drawing/2014/main" id="{E5549B3B-271C-C14B-9302-4D2CE7B41051}"/>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78</a:t>
            </a:fld>
            <a:endParaRPr lang="en-US" dirty="0">
              <a:solidFill>
                <a:prstClr val="white">
                  <a:lumMod val="50000"/>
                </a:prstClr>
              </a:solidFill>
            </a:endParaRPr>
          </a:p>
        </p:txBody>
      </p:sp>
    </p:spTree>
    <p:extLst>
      <p:ext uri="{BB962C8B-B14F-4D97-AF65-F5344CB8AC3E}">
        <p14:creationId xmlns:p14="http://schemas.microsoft.com/office/powerpoint/2010/main" val="1550861291"/>
      </p:ext>
    </p:extLst>
  </p:cSld>
  <p:clrMapOvr>
    <a:masterClrMapping/>
  </p:clrMapOvr>
  <p:transition spd="med">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499F6A-4C1F-1146-A51E-D80D1CD65245}"/>
              </a:ext>
            </a:extLst>
          </p:cNvPr>
          <p:cNvSpPr>
            <a:spLocks noGrp="1"/>
          </p:cNvSpPr>
          <p:nvPr>
            <p:ph type="sldNum" sz="quarter" idx="4"/>
          </p:nvPr>
        </p:nvSpPr>
        <p:spPr/>
        <p:txBody>
          <a:bodyPr/>
          <a:lstStyle/>
          <a:p>
            <a:r>
              <a:rPr lang="en-US">
                <a:solidFill>
                  <a:prstClr val="white">
                    <a:lumMod val="50000"/>
                  </a:prstClr>
                </a:solidFill>
              </a:rPr>
              <a:t>Transport Layer: 3-</a:t>
            </a:r>
            <a:fld id="{C4204591-24BD-A542-B9D5-F8D8A88D2FEE}" type="slidenum">
              <a:rPr lang="en-US" smtClean="0">
                <a:solidFill>
                  <a:prstClr val="white">
                    <a:lumMod val="50000"/>
                  </a:prstClr>
                </a:solidFill>
              </a:rPr>
              <a:pPr/>
              <a:t>79</a:t>
            </a:fld>
            <a:endParaRPr lang="en-US" dirty="0">
              <a:solidFill>
                <a:prstClr val="white">
                  <a:lumMod val="50000"/>
                </a:prstClr>
              </a:solidFill>
            </a:endParaRPr>
          </a:p>
        </p:txBody>
      </p:sp>
      <p:sp>
        <p:nvSpPr>
          <p:cNvPr id="5" name="Title 4">
            <a:extLst>
              <a:ext uri="{FF2B5EF4-FFF2-40B4-BE49-F238E27FC236}">
                <a16:creationId xmlns:a16="http://schemas.microsoft.com/office/drawing/2014/main" id="{404E6585-2A18-1F4F-9394-FF8BABB0B265}"/>
              </a:ext>
            </a:extLst>
          </p:cNvPr>
          <p:cNvSpPr>
            <a:spLocks noGrp="1"/>
          </p:cNvSpPr>
          <p:nvPr>
            <p:ph type="title"/>
          </p:nvPr>
        </p:nvSpPr>
        <p:spPr/>
        <p:txBody>
          <a:bodyPr/>
          <a:lstStyle/>
          <a:p>
            <a:r>
              <a:rPr lang="en-US" dirty="0"/>
              <a:t>Closing a TCP connection</a:t>
            </a:r>
          </a:p>
        </p:txBody>
      </p:sp>
      <p:sp>
        <p:nvSpPr>
          <p:cNvPr id="95" name="Line 4">
            <a:extLst>
              <a:ext uri="{FF2B5EF4-FFF2-40B4-BE49-F238E27FC236}">
                <a16:creationId xmlns:a16="http://schemas.microsoft.com/office/drawing/2014/main" id="{ED3C9E53-E917-264F-9AE5-C80DF14340C5}"/>
              </a:ext>
            </a:extLst>
          </p:cNvPr>
          <p:cNvSpPr>
            <a:spLocks noChangeShapeType="1"/>
          </p:cNvSpPr>
          <p:nvPr/>
        </p:nvSpPr>
        <p:spPr bwMode="auto">
          <a:xfrm flipH="1">
            <a:off x="4005754" y="2401673"/>
            <a:ext cx="1190" cy="2961084"/>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96" name="Line 10">
            <a:extLst>
              <a:ext uri="{FF2B5EF4-FFF2-40B4-BE49-F238E27FC236}">
                <a16:creationId xmlns:a16="http://schemas.microsoft.com/office/drawing/2014/main" id="{B19F0AE6-F0E1-CF46-BE1E-BC4A7C0DE8E2}"/>
              </a:ext>
            </a:extLst>
          </p:cNvPr>
          <p:cNvSpPr>
            <a:spLocks noChangeShapeType="1"/>
          </p:cNvSpPr>
          <p:nvPr/>
        </p:nvSpPr>
        <p:spPr bwMode="auto">
          <a:xfrm flipH="1">
            <a:off x="5947662" y="2454061"/>
            <a:ext cx="1191" cy="2563415"/>
          </a:xfrm>
          <a:prstGeom prst="line">
            <a:avLst/>
          </a:prstGeom>
          <a:noFill/>
          <a:ln w="9525">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nvGrpSpPr>
          <p:cNvPr id="97" name="Group 74">
            <a:extLst>
              <a:ext uri="{FF2B5EF4-FFF2-40B4-BE49-F238E27FC236}">
                <a16:creationId xmlns:a16="http://schemas.microsoft.com/office/drawing/2014/main" id="{18F6BCAD-8E7F-C444-9307-8440033F1A57}"/>
              </a:ext>
            </a:extLst>
          </p:cNvPr>
          <p:cNvGrpSpPr>
            <a:grpSpLocks/>
          </p:cNvGrpSpPr>
          <p:nvPr/>
        </p:nvGrpSpPr>
        <p:grpSpPr bwMode="auto">
          <a:xfrm>
            <a:off x="1782857" y="2912451"/>
            <a:ext cx="1054893" cy="665560"/>
            <a:chOff x="320" y="1740"/>
            <a:chExt cx="886" cy="559"/>
          </a:xfrm>
        </p:grpSpPr>
        <p:sp>
          <p:nvSpPr>
            <p:cNvPr id="98" name="Text Box 34">
              <a:extLst>
                <a:ext uri="{FF2B5EF4-FFF2-40B4-BE49-F238E27FC236}">
                  <a16:creationId xmlns:a16="http://schemas.microsoft.com/office/drawing/2014/main" id="{63E607F0-3252-5F49-BC54-E2F33A2A93F7}"/>
                </a:ext>
              </a:extLst>
            </p:cNvPr>
            <p:cNvSpPr txBox="1">
              <a:spLocks noChangeArrowheads="1"/>
            </p:cNvSpPr>
            <p:nvPr/>
          </p:nvSpPr>
          <p:spPr bwMode="auto">
            <a:xfrm>
              <a:off x="320" y="2066"/>
              <a:ext cx="88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FIN_WAIT_2</a:t>
              </a:r>
            </a:p>
          </p:txBody>
        </p:sp>
        <p:sp>
          <p:nvSpPr>
            <p:cNvPr id="99" name="Line 35">
              <a:extLst>
                <a:ext uri="{FF2B5EF4-FFF2-40B4-BE49-F238E27FC236}">
                  <a16:creationId xmlns:a16="http://schemas.microsoft.com/office/drawing/2014/main" id="{856CD725-F171-5441-A0D7-4C298AFE6D62}"/>
                </a:ext>
              </a:extLst>
            </p:cNvPr>
            <p:cNvSpPr>
              <a:spLocks noChangeShapeType="1"/>
            </p:cNvSpPr>
            <p:nvPr/>
          </p:nvSpPr>
          <p:spPr bwMode="auto">
            <a:xfrm>
              <a:off x="634" y="1740"/>
              <a:ext cx="0" cy="356"/>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nvGrpSpPr>
          <p:cNvPr id="100" name="Group 73">
            <a:extLst>
              <a:ext uri="{FF2B5EF4-FFF2-40B4-BE49-F238E27FC236}">
                <a16:creationId xmlns:a16="http://schemas.microsoft.com/office/drawing/2014/main" id="{CA9AB373-D7FB-104F-823D-FB453AEBA6E0}"/>
              </a:ext>
            </a:extLst>
          </p:cNvPr>
          <p:cNvGrpSpPr>
            <a:grpSpLocks/>
          </p:cNvGrpSpPr>
          <p:nvPr/>
        </p:nvGrpSpPr>
        <p:grpSpPr bwMode="auto">
          <a:xfrm>
            <a:off x="6756098" y="2417151"/>
            <a:ext cx="1098948" cy="745332"/>
            <a:chOff x="4497" y="1324"/>
            <a:chExt cx="923" cy="626"/>
          </a:xfrm>
        </p:grpSpPr>
        <p:sp>
          <p:nvSpPr>
            <p:cNvPr id="101" name="Text Box 37">
              <a:extLst>
                <a:ext uri="{FF2B5EF4-FFF2-40B4-BE49-F238E27FC236}">
                  <a16:creationId xmlns:a16="http://schemas.microsoft.com/office/drawing/2014/main" id="{AFAA3F88-36B1-1C46-9B7D-4BDF57171354}"/>
                </a:ext>
              </a:extLst>
            </p:cNvPr>
            <p:cNvSpPr txBox="1">
              <a:spLocks noChangeArrowheads="1"/>
            </p:cNvSpPr>
            <p:nvPr/>
          </p:nvSpPr>
          <p:spPr bwMode="auto">
            <a:xfrm>
              <a:off x="4497" y="1717"/>
              <a:ext cx="923"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CLOSE_WAIT</a:t>
              </a:r>
            </a:p>
          </p:txBody>
        </p:sp>
        <p:sp>
          <p:nvSpPr>
            <p:cNvPr id="102" name="Line 38">
              <a:extLst>
                <a:ext uri="{FF2B5EF4-FFF2-40B4-BE49-F238E27FC236}">
                  <a16:creationId xmlns:a16="http://schemas.microsoft.com/office/drawing/2014/main" id="{CC0AE442-13D5-954F-9CCE-3D44EBC5B971}"/>
                </a:ext>
              </a:extLst>
            </p:cNvPr>
            <p:cNvSpPr>
              <a:spLocks noChangeShapeType="1"/>
            </p:cNvSpPr>
            <p:nvPr/>
          </p:nvSpPr>
          <p:spPr bwMode="auto">
            <a:xfrm>
              <a:off x="5171" y="1324"/>
              <a:ext cx="0" cy="415"/>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nvGrpSpPr>
          <p:cNvPr id="103" name="Group 75">
            <a:extLst>
              <a:ext uri="{FF2B5EF4-FFF2-40B4-BE49-F238E27FC236}">
                <a16:creationId xmlns:a16="http://schemas.microsoft.com/office/drawing/2014/main" id="{76946121-D548-F74C-A1D3-59BD06B7A682}"/>
              </a:ext>
            </a:extLst>
          </p:cNvPr>
          <p:cNvGrpSpPr>
            <a:grpSpLocks/>
          </p:cNvGrpSpPr>
          <p:nvPr/>
        </p:nvGrpSpPr>
        <p:grpSpPr bwMode="auto">
          <a:xfrm>
            <a:off x="4036709" y="3743507"/>
            <a:ext cx="1871663" cy="434579"/>
            <a:chOff x="2213" y="2438"/>
            <a:chExt cx="1572" cy="365"/>
          </a:xfrm>
        </p:grpSpPr>
        <p:sp>
          <p:nvSpPr>
            <p:cNvPr id="104" name="Line 41">
              <a:extLst>
                <a:ext uri="{FF2B5EF4-FFF2-40B4-BE49-F238E27FC236}">
                  <a16:creationId xmlns:a16="http://schemas.microsoft.com/office/drawing/2014/main" id="{98F4F276-7614-C14A-9C9D-EC8645AE6E58}"/>
                </a:ext>
              </a:extLst>
            </p:cNvPr>
            <p:cNvSpPr>
              <a:spLocks noChangeShapeType="1"/>
            </p:cNvSpPr>
            <p:nvPr/>
          </p:nvSpPr>
          <p:spPr bwMode="auto">
            <a:xfrm flipH="1">
              <a:off x="2213" y="2483"/>
              <a:ext cx="1572" cy="320"/>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05" name="Rectangle 42">
              <a:extLst>
                <a:ext uri="{FF2B5EF4-FFF2-40B4-BE49-F238E27FC236}">
                  <a16:creationId xmlns:a16="http://schemas.microsoft.com/office/drawing/2014/main" id="{2C2B84BB-C6E7-E945-988B-EF1EC7990CC5}"/>
                </a:ext>
              </a:extLst>
            </p:cNvPr>
            <p:cNvSpPr>
              <a:spLocks noChangeArrowheads="1"/>
            </p:cNvSpPr>
            <p:nvPr/>
          </p:nvSpPr>
          <p:spPr bwMode="auto">
            <a:xfrm>
              <a:off x="2669" y="2438"/>
              <a:ext cx="590" cy="36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06" name="Text Box 43">
              <a:extLst>
                <a:ext uri="{FF2B5EF4-FFF2-40B4-BE49-F238E27FC236}">
                  <a16:creationId xmlns:a16="http://schemas.microsoft.com/office/drawing/2014/main" id="{7660FDEF-659D-A144-BC1C-74CB0FE43F51}"/>
                </a:ext>
              </a:extLst>
            </p:cNvPr>
            <p:cNvSpPr txBox="1">
              <a:spLocks noChangeArrowheads="1"/>
            </p:cNvSpPr>
            <p:nvPr/>
          </p:nvSpPr>
          <p:spPr bwMode="auto">
            <a:xfrm>
              <a:off x="2430" y="2562"/>
              <a:ext cx="1102"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FINbit=1, seq=y</a:t>
              </a:r>
            </a:p>
          </p:txBody>
        </p:sp>
      </p:grpSp>
      <p:grpSp>
        <p:nvGrpSpPr>
          <p:cNvPr id="107" name="Group 80">
            <a:extLst>
              <a:ext uri="{FF2B5EF4-FFF2-40B4-BE49-F238E27FC236}">
                <a16:creationId xmlns:a16="http://schemas.microsoft.com/office/drawing/2014/main" id="{3C6E9517-228F-F646-BE97-B0F42F01CF2F}"/>
              </a:ext>
            </a:extLst>
          </p:cNvPr>
          <p:cNvGrpSpPr>
            <a:grpSpLocks/>
          </p:cNvGrpSpPr>
          <p:nvPr/>
        </p:nvGrpSpPr>
        <p:grpSpPr bwMode="auto">
          <a:xfrm>
            <a:off x="4042663" y="4274526"/>
            <a:ext cx="1897857" cy="436960"/>
            <a:chOff x="2218" y="2884"/>
            <a:chExt cx="1594" cy="367"/>
          </a:xfrm>
        </p:grpSpPr>
        <p:sp>
          <p:nvSpPr>
            <p:cNvPr id="108" name="Line 44">
              <a:extLst>
                <a:ext uri="{FF2B5EF4-FFF2-40B4-BE49-F238E27FC236}">
                  <a16:creationId xmlns:a16="http://schemas.microsoft.com/office/drawing/2014/main" id="{B2E325DC-266A-E04B-99CF-3336AA0B28DF}"/>
                </a:ext>
              </a:extLst>
            </p:cNvPr>
            <p:cNvSpPr>
              <a:spLocks noChangeShapeType="1"/>
            </p:cNvSpPr>
            <p:nvPr/>
          </p:nvSpPr>
          <p:spPr bwMode="auto">
            <a:xfrm>
              <a:off x="2232" y="2884"/>
              <a:ext cx="1580" cy="36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09" name="Rectangle 46">
              <a:extLst>
                <a:ext uri="{FF2B5EF4-FFF2-40B4-BE49-F238E27FC236}">
                  <a16:creationId xmlns:a16="http://schemas.microsoft.com/office/drawing/2014/main" id="{675FC7AA-5181-014C-8F25-2AA59FE9187C}"/>
                </a:ext>
              </a:extLst>
            </p:cNvPr>
            <p:cNvSpPr>
              <a:spLocks noChangeArrowheads="1"/>
            </p:cNvSpPr>
            <p:nvPr/>
          </p:nvSpPr>
          <p:spPr bwMode="auto">
            <a:xfrm>
              <a:off x="2553" y="2995"/>
              <a:ext cx="896" cy="20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0" name="Text Box 47">
              <a:extLst>
                <a:ext uri="{FF2B5EF4-FFF2-40B4-BE49-F238E27FC236}">
                  <a16:creationId xmlns:a16="http://schemas.microsoft.com/office/drawing/2014/main" id="{AF123A9D-4677-1E46-9BD3-FF95D1D7A9E2}"/>
                </a:ext>
              </a:extLst>
            </p:cNvPr>
            <p:cNvSpPr txBox="1">
              <a:spLocks noChangeArrowheads="1"/>
            </p:cNvSpPr>
            <p:nvPr/>
          </p:nvSpPr>
          <p:spPr bwMode="auto">
            <a:xfrm>
              <a:off x="2218" y="2958"/>
              <a:ext cx="1590"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ACKbit=1; ACKnum=y+1</a:t>
              </a:r>
            </a:p>
          </p:txBody>
        </p:sp>
      </p:grpSp>
      <p:grpSp>
        <p:nvGrpSpPr>
          <p:cNvPr id="111" name="Group 72">
            <a:extLst>
              <a:ext uri="{FF2B5EF4-FFF2-40B4-BE49-F238E27FC236}">
                <a16:creationId xmlns:a16="http://schemas.microsoft.com/office/drawing/2014/main" id="{F8C975AA-022F-9047-AE41-32435BEC092D}"/>
              </a:ext>
            </a:extLst>
          </p:cNvPr>
          <p:cNvGrpSpPr>
            <a:grpSpLocks/>
          </p:cNvGrpSpPr>
          <p:nvPr/>
        </p:nvGrpSpPr>
        <p:grpSpPr bwMode="auto">
          <a:xfrm>
            <a:off x="2918713" y="3017229"/>
            <a:ext cx="3798094" cy="666751"/>
            <a:chOff x="1274" y="1828"/>
            <a:chExt cx="3190" cy="560"/>
          </a:xfrm>
        </p:grpSpPr>
        <p:sp>
          <p:nvSpPr>
            <p:cNvPr id="112" name="Line 13">
              <a:extLst>
                <a:ext uri="{FF2B5EF4-FFF2-40B4-BE49-F238E27FC236}">
                  <a16:creationId xmlns:a16="http://schemas.microsoft.com/office/drawing/2014/main" id="{1134B78B-9B76-184C-B906-5A54448AE2F6}"/>
                </a:ext>
              </a:extLst>
            </p:cNvPr>
            <p:cNvSpPr>
              <a:spLocks noChangeShapeType="1"/>
            </p:cNvSpPr>
            <p:nvPr/>
          </p:nvSpPr>
          <p:spPr bwMode="auto">
            <a:xfrm flipH="1">
              <a:off x="2186" y="1828"/>
              <a:ext cx="1580" cy="36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13" name="Rectangle 14">
              <a:extLst>
                <a:ext uri="{FF2B5EF4-FFF2-40B4-BE49-F238E27FC236}">
                  <a16:creationId xmlns:a16="http://schemas.microsoft.com/office/drawing/2014/main" id="{18D2E5DB-705F-434F-8D6A-A975176465BB}"/>
                </a:ext>
              </a:extLst>
            </p:cNvPr>
            <p:cNvSpPr>
              <a:spLocks noChangeArrowheads="1"/>
            </p:cNvSpPr>
            <p:nvPr/>
          </p:nvSpPr>
          <p:spPr bwMode="auto">
            <a:xfrm>
              <a:off x="2507" y="1912"/>
              <a:ext cx="896" cy="20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14" name="Text Box 15">
              <a:extLst>
                <a:ext uri="{FF2B5EF4-FFF2-40B4-BE49-F238E27FC236}">
                  <a16:creationId xmlns:a16="http://schemas.microsoft.com/office/drawing/2014/main" id="{C5FC1E37-42AF-CC47-A252-1B970EBE90B6}"/>
                </a:ext>
              </a:extLst>
            </p:cNvPr>
            <p:cNvSpPr txBox="1">
              <a:spLocks noChangeArrowheads="1"/>
            </p:cNvSpPr>
            <p:nvPr/>
          </p:nvSpPr>
          <p:spPr bwMode="auto">
            <a:xfrm>
              <a:off x="2172" y="1875"/>
              <a:ext cx="1590"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ACKbit=1; ACKnum=x+1</a:t>
              </a:r>
            </a:p>
          </p:txBody>
        </p:sp>
        <p:sp>
          <p:nvSpPr>
            <p:cNvPr id="115" name="Text Box 21">
              <a:extLst>
                <a:ext uri="{FF2B5EF4-FFF2-40B4-BE49-F238E27FC236}">
                  <a16:creationId xmlns:a16="http://schemas.microsoft.com/office/drawing/2014/main" id="{4E1E3839-0226-DB4F-BA6B-2B28CD0433CC}"/>
                </a:ext>
              </a:extLst>
            </p:cNvPr>
            <p:cNvSpPr txBox="1">
              <a:spLocks noChangeArrowheads="1"/>
            </p:cNvSpPr>
            <p:nvPr/>
          </p:nvSpPr>
          <p:spPr bwMode="auto">
            <a:xfrm>
              <a:off x="1274" y="2066"/>
              <a:ext cx="910" cy="32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050" kern="0">
                  <a:solidFill>
                    <a:srgbClr val="000000"/>
                  </a:solidFill>
                </a:rPr>
                <a:t> wait for server</a:t>
              </a:r>
            </a:p>
            <a:p>
              <a:pPr algn="r">
                <a:lnSpc>
                  <a:spcPct val="90000"/>
                </a:lnSpc>
                <a:defRPr/>
              </a:pPr>
              <a:r>
                <a:rPr lang="en-US" sz="1050" kern="0">
                  <a:solidFill>
                    <a:srgbClr val="000000"/>
                  </a:solidFill>
                </a:rPr>
                <a:t>close</a:t>
              </a:r>
            </a:p>
          </p:txBody>
        </p:sp>
        <p:sp>
          <p:nvSpPr>
            <p:cNvPr id="116" name="Text Box 49">
              <a:extLst>
                <a:ext uri="{FF2B5EF4-FFF2-40B4-BE49-F238E27FC236}">
                  <a16:creationId xmlns:a16="http://schemas.microsoft.com/office/drawing/2014/main" id="{2C38B3FD-F2AD-DA41-8270-C22350C73FFB}"/>
                </a:ext>
              </a:extLst>
            </p:cNvPr>
            <p:cNvSpPr txBox="1">
              <a:spLocks noChangeArrowheads="1"/>
            </p:cNvSpPr>
            <p:nvPr/>
          </p:nvSpPr>
          <p:spPr bwMode="auto">
            <a:xfrm>
              <a:off x="3822" y="1979"/>
              <a:ext cx="642" cy="32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050" kern="0">
                  <a:solidFill>
                    <a:srgbClr val="000000"/>
                  </a:solidFill>
                </a:rPr>
                <a:t>can still</a:t>
              </a:r>
            </a:p>
            <a:p>
              <a:pPr>
                <a:lnSpc>
                  <a:spcPct val="90000"/>
                </a:lnSpc>
                <a:defRPr/>
              </a:pPr>
              <a:r>
                <a:rPr lang="en-US" sz="1050" kern="0">
                  <a:solidFill>
                    <a:srgbClr val="000000"/>
                  </a:solidFill>
                </a:rPr>
                <a:t>send data</a:t>
              </a:r>
            </a:p>
          </p:txBody>
        </p:sp>
      </p:grpSp>
      <p:grpSp>
        <p:nvGrpSpPr>
          <p:cNvPr id="117" name="Group 78">
            <a:extLst>
              <a:ext uri="{FF2B5EF4-FFF2-40B4-BE49-F238E27FC236}">
                <a16:creationId xmlns:a16="http://schemas.microsoft.com/office/drawing/2014/main" id="{C429420B-FA26-2A45-A360-CF2204C79D45}"/>
              </a:ext>
            </a:extLst>
          </p:cNvPr>
          <p:cNvGrpSpPr>
            <a:grpSpLocks/>
          </p:cNvGrpSpPr>
          <p:nvPr/>
        </p:nvGrpSpPr>
        <p:grpSpPr bwMode="auto">
          <a:xfrm>
            <a:off x="5946473" y="3114858"/>
            <a:ext cx="1902619" cy="1327547"/>
            <a:chOff x="3817" y="1910"/>
            <a:chExt cx="1598" cy="1115"/>
          </a:xfrm>
        </p:grpSpPr>
        <p:sp>
          <p:nvSpPr>
            <p:cNvPr id="118" name="Text Box 50">
              <a:extLst>
                <a:ext uri="{FF2B5EF4-FFF2-40B4-BE49-F238E27FC236}">
                  <a16:creationId xmlns:a16="http://schemas.microsoft.com/office/drawing/2014/main" id="{33070F1D-9B90-A144-ADA9-C922455212BE}"/>
                </a:ext>
              </a:extLst>
            </p:cNvPr>
            <p:cNvSpPr txBox="1">
              <a:spLocks noChangeArrowheads="1"/>
            </p:cNvSpPr>
            <p:nvPr/>
          </p:nvSpPr>
          <p:spPr bwMode="auto">
            <a:xfrm>
              <a:off x="3817" y="2703"/>
              <a:ext cx="838" cy="32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050" kern="0">
                  <a:solidFill>
                    <a:srgbClr val="000000"/>
                  </a:solidFill>
                </a:rPr>
                <a:t>can no longer</a:t>
              </a:r>
            </a:p>
            <a:p>
              <a:pPr>
                <a:lnSpc>
                  <a:spcPct val="90000"/>
                </a:lnSpc>
                <a:defRPr/>
              </a:pPr>
              <a:r>
                <a:rPr lang="en-US" sz="1050" kern="0">
                  <a:solidFill>
                    <a:srgbClr val="000000"/>
                  </a:solidFill>
                </a:rPr>
                <a:t>send data</a:t>
              </a:r>
            </a:p>
          </p:txBody>
        </p:sp>
        <p:grpSp>
          <p:nvGrpSpPr>
            <p:cNvPr id="119" name="Group 76">
              <a:extLst>
                <a:ext uri="{FF2B5EF4-FFF2-40B4-BE49-F238E27FC236}">
                  <a16:creationId xmlns:a16="http://schemas.microsoft.com/office/drawing/2014/main" id="{7CD8625C-1E94-DA47-B16D-490417EA4806}"/>
                </a:ext>
              </a:extLst>
            </p:cNvPr>
            <p:cNvGrpSpPr>
              <a:grpSpLocks/>
            </p:cNvGrpSpPr>
            <p:nvPr/>
          </p:nvGrpSpPr>
          <p:grpSpPr bwMode="auto">
            <a:xfrm>
              <a:off x="4669" y="1910"/>
              <a:ext cx="746" cy="744"/>
              <a:chOff x="4669" y="1910"/>
              <a:chExt cx="746" cy="744"/>
            </a:xfrm>
          </p:grpSpPr>
          <p:sp>
            <p:nvSpPr>
              <p:cNvPr id="120" name="Line 39">
                <a:extLst>
                  <a:ext uri="{FF2B5EF4-FFF2-40B4-BE49-F238E27FC236}">
                    <a16:creationId xmlns:a16="http://schemas.microsoft.com/office/drawing/2014/main" id="{3B72D76C-ECA7-8046-8DFA-EBE982AEBB76}"/>
                  </a:ext>
                </a:extLst>
              </p:cNvPr>
              <p:cNvSpPr>
                <a:spLocks noChangeShapeType="1"/>
              </p:cNvSpPr>
              <p:nvPr/>
            </p:nvSpPr>
            <p:spPr bwMode="auto">
              <a:xfrm>
                <a:off x="5167" y="1910"/>
                <a:ext cx="0" cy="562"/>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21" name="Text Box 55">
                <a:extLst>
                  <a:ext uri="{FF2B5EF4-FFF2-40B4-BE49-F238E27FC236}">
                    <a16:creationId xmlns:a16="http://schemas.microsoft.com/office/drawing/2014/main" id="{39D84C53-723C-A14C-A0EA-D38B2DEE863B}"/>
                  </a:ext>
                </a:extLst>
              </p:cNvPr>
              <p:cNvSpPr txBox="1">
                <a:spLocks noChangeArrowheads="1"/>
              </p:cNvSpPr>
              <p:nvPr/>
            </p:nvSpPr>
            <p:spPr bwMode="auto">
              <a:xfrm>
                <a:off x="4669" y="2421"/>
                <a:ext cx="74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LAST_ACK</a:t>
                </a:r>
              </a:p>
            </p:txBody>
          </p:sp>
        </p:grpSp>
      </p:grpSp>
      <p:grpSp>
        <p:nvGrpSpPr>
          <p:cNvPr id="122" name="Group 82">
            <a:extLst>
              <a:ext uri="{FF2B5EF4-FFF2-40B4-BE49-F238E27FC236}">
                <a16:creationId xmlns:a16="http://schemas.microsoft.com/office/drawing/2014/main" id="{98672237-A933-5840-AAEB-35E99A43D4FC}"/>
              </a:ext>
            </a:extLst>
          </p:cNvPr>
          <p:cNvGrpSpPr>
            <a:grpSpLocks/>
          </p:cNvGrpSpPr>
          <p:nvPr/>
        </p:nvGrpSpPr>
        <p:grpSpPr bwMode="auto">
          <a:xfrm>
            <a:off x="7108524" y="4000682"/>
            <a:ext cx="739378" cy="942976"/>
            <a:chOff x="4793" y="2654"/>
            <a:chExt cx="621" cy="792"/>
          </a:xfrm>
        </p:grpSpPr>
        <p:sp>
          <p:nvSpPr>
            <p:cNvPr id="123" name="Text Box 11">
              <a:extLst>
                <a:ext uri="{FF2B5EF4-FFF2-40B4-BE49-F238E27FC236}">
                  <a16:creationId xmlns:a16="http://schemas.microsoft.com/office/drawing/2014/main" id="{CC03DA72-98EF-4C40-AAF9-6404AAB41401}"/>
                </a:ext>
              </a:extLst>
            </p:cNvPr>
            <p:cNvSpPr txBox="1">
              <a:spLocks noChangeArrowheads="1"/>
            </p:cNvSpPr>
            <p:nvPr/>
          </p:nvSpPr>
          <p:spPr bwMode="auto">
            <a:xfrm>
              <a:off x="4793" y="3213"/>
              <a:ext cx="621"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CLOSED</a:t>
              </a:r>
            </a:p>
          </p:txBody>
        </p:sp>
        <p:sp>
          <p:nvSpPr>
            <p:cNvPr id="124" name="Line 57">
              <a:extLst>
                <a:ext uri="{FF2B5EF4-FFF2-40B4-BE49-F238E27FC236}">
                  <a16:creationId xmlns:a16="http://schemas.microsoft.com/office/drawing/2014/main" id="{2DAF6242-FCE3-CA4F-8E94-5C600901D79C}"/>
                </a:ext>
              </a:extLst>
            </p:cNvPr>
            <p:cNvSpPr>
              <a:spLocks noChangeShapeType="1"/>
            </p:cNvSpPr>
            <p:nvPr/>
          </p:nvSpPr>
          <p:spPr bwMode="auto">
            <a:xfrm>
              <a:off x="5173" y="2654"/>
              <a:ext cx="0" cy="576"/>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nvGrpSpPr>
          <p:cNvPr id="125" name="Group 77">
            <a:extLst>
              <a:ext uri="{FF2B5EF4-FFF2-40B4-BE49-F238E27FC236}">
                <a16:creationId xmlns:a16="http://schemas.microsoft.com/office/drawing/2014/main" id="{8716FBC7-F7B2-3E4B-A8DC-911681C33879}"/>
              </a:ext>
            </a:extLst>
          </p:cNvPr>
          <p:cNvGrpSpPr>
            <a:grpSpLocks/>
          </p:cNvGrpSpPr>
          <p:nvPr/>
        </p:nvGrpSpPr>
        <p:grpSpPr bwMode="auto">
          <a:xfrm>
            <a:off x="1813813" y="3544673"/>
            <a:ext cx="1104900" cy="808435"/>
            <a:chOff x="346" y="2271"/>
            <a:chExt cx="928" cy="679"/>
          </a:xfrm>
        </p:grpSpPr>
        <p:sp>
          <p:nvSpPr>
            <p:cNvPr id="126" name="Text Box 58">
              <a:extLst>
                <a:ext uri="{FF2B5EF4-FFF2-40B4-BE49-F238E27FC236}">
                  <a16:creationId xmlns:a16="http://schemas.microsoft.com/office/drawing/2014/main" id="{0370EE93-EE28-CB41-9A79-44CD5FCB09C6}"/>
                </a:ext>
              </a:extLst>
            </p:cNvPr>
            <p:cNvSpPr txBox="1">
              <a:spLocks noChangeArrowheads="1"/>
            </p:cNvSpPr>
            <p:nvPr/>
          </p:nvSpPr>
          <p:spPr bwMode="auto">
            <a:xfrm>
              <a:off x="346" y="2717"/>
              <a:ext cx="928"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TIMED_WAIT</a:t>
              </a:r>
            </a:p>
          </p:txBody>
        </p:sp>
        <p:sp>
          <p:nvSpPr>
            <p:cNvPr id="127" name="Line 60">
              <a:extLst>
                <a:ext uri="{FF2B5EF4-FFF2-40B4-BE49-F238E27FC236}">
                  <a16:creationId xmlns:a16="http://schemas.microsoft.com/office/drawing/2014/main" id="{3B48B9FB-9708-0540-92A3-506581BA5410}"/>
                </a:ext>
              </a:extLst>
            </p:cNvPr>
            <p:cNvSpPr>
              <a:spLocks noChangeShapeType="1"/>
            </p:cNvSpPr>
            <p:nvPr/>
          </p:nvSpPr>
          <p:spPr bwMode="auto">
            <a:xfrm>
              <a:off x="638" y="2271"/>
              <a:ext cx="0" cy="48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nvGrpSpPr>
          <p:cNvPr id="128" name="Group 81">
            <a:extLst>
              <a:ext uri="{FF2B5EF4-FFF2-40B4-BE49-F238E27FC236}">
                <a16:creationId xmlns:a16="http://schemas.microsoft.com/office/drawing/2014/main" id="{297F5A45-3767-914B-A848-9F3DBE9E8973}"/>
              </a:ext>
            </a:extLst>
          </p:cNvPr>
          <p:cNvGrpSpPr>
            <a:grpSpLocks/>
          </p:cNvGrpSpPr>
          <p:nvPr/>
        </p:nvGrpSpPr>
        <p:grpSpPr bwMode="auto">
          <a:xfrm>
            <a:off x="1882869" y="4205470"/>
            <a:ext cx="2082403" cy="1351360"/>
            <a:chOff x="404" y="2826"/>
            <a:chExt cx="1749" cy="1135"/>
          </a:xfrm>
        </p:grpSpPr>
        <p:sp>
          <p:nvSpPr>
            <p:cNvPr id="129" name="Line 52">
              <a:extLst>
                <a:ext uri="{FF2B5EF4-FFF2-40B4-BE49-F238E27FC236}">
                  <a16:creationId xmlns:a16="http://schemas.microsoft.com/office/drawing/2014/main" id="{1A425BE1-7027-F44C-9194-05C89CAF482F}"/>
                </a:ext>
              </a:extLst>
            </p:cNvPr>
            <p:cNvSpPr>
              <a:spLocks noChangeShapeType="1"/>
            </p:cNvSpPr>
            <p:nvPr/>
          </p:nvSpPr>
          <p:spPr bwMode="auto">
            <a:xfrm>
              <a:off x="1820" y="2833"/>
              <a:ext cx="7" cy="1059"/>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30" name="Text Box 51">
              <a:extLst>
                <a:ext uri="{FF2B5EF4-FFF2-40B4-BE49-F238E27FC236}">
                  <a16:creationId xmlns:a16="http://schemas.microsoft.com/office/drawing/2014/main" id="{B9DE3C9B-20ED-E544-82B3-6C57D83B7145}"/>
                </a:ext>
              </a:extLst>
            </p:cNvPr>
            <p:cNvSpPr txBox="1">
              <a:spLocks noChangeArrowheads="1"/>
            </p:cNvSpPr>
            <p:nvPr/>
          </p:nvSpPr>
          <p:spPr bwMode="auto">
            <a:xfrm>
              <a:off x="1171" y="3093"/>
              <a:ext cx="982" cy="44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050" kern="0">
                  <a:solidFill>
                    <a:srgbClr val="000000"/>
                  </a:solidFill>
                </a:rPr>
                <a:t> timed wait </a:t>
              </a:r>
            </a:p>
            <a:p>
              <a:pPr algn="r">
                <a:lnSpc>
                  <a:spcPct val="90000"/>
                </a:lnSpc>
                <a:defRPr/>
              </a:pPr>
              <a:r>
                <a:rPr lang="en-US" sz="1050" kern="0">
                  <a:solidFill>
                    <a:srgbClr val="000000"/>
                  </a:solidFill>
                </a:rPr>
                <a:t>for 2*max </a:t>
              </a:r>
            </a:p>
            <a:p>
              <a:pPr algn="r">
                <a:lnSpc>
                  <a:spcPct val="90000"/>
                </a:lnSpc>
                <a:defRPr/>
              </a:pPr>
              <a:r>
                <a:rPr lang="en-US" sz="1050" kern="0">
                  <a:solidFill>
                    <a:srgbClr val="000000"/>
                  </a:solidFill>
                </a:rPr>
                <a:t>segment lifetime</a:t>
              </a:r>
            </a:p>
          </p:txBody>
        </p:sp>
        <p:sp>
          <p:nvSpPr>
            <p:cNvPr id="131" name="Line 53">
              <a:extLst>
                <a:ext uri="{FF2B5EF4-FFF2-40B4-BE49-F238E27FC236}">
                  <a16:creationId xmlns:a16="http://schemas.microsoft.com/office/drawing/2014/main" id="{58D5E89D-DF4E-4A46-B48C-C5652B9EF31E}"/>
                </a:ext>
              </a:extLst>
            </p:cNvPr>
            <p:cNvSpPr>
              <a:spLocks noChangeShapeType="1"/>
            </p:cNvSpPr>
            <p:nvPr/>
          </p:nvSpPr>
          <p:spPr bwMode="auto">
            <a:xfrm>
              <a:off x="1742" y="2826"/>
              <a:ext cx="14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32" name="Line 54">
              <a:extLst>
                <a:ext uri="{FF2B5EF4-FFF2-40B4-BE49-F238E27FC236}">
                  <a16:creationId xmlns:a16="http://schemas.microsoft.com/office/drawing/2014/main" id="{686D6997-8DDA-0743-A8AD-E9968F7CA516}"/>
                </a:ext>
              </a:extLst>
            </p:cNvPr>
            <p:cNvSpPr>
              <a:spLocks noChangeShapeType="1"/>
            </p:cNvSpPr>
            <p:nvPr/>
          </p:nvSpPr>
          <p:spPr bwMode="auto">
            <a:xfrm>
              <a:off x="1759" y="3889"/>
              <a:ext cx="14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33" name="Text Box 59">
              <a:extLst>
                <a:ext uri="{FF2B5EF4-FFF2-40B4-BE49-F238E27FC236}">
                  <a16:creationId xmlns:a16="http://schemas.microsoft.com/office/drawing/2014/main" id="{7CE5D92F-DD8C-9F4B-8EAB-8C454B58999E}"/>
                </a:ext>
              </a:extLst>
            </p:cNvPr>
            <p:cNvSpPr txBox="1">
              <a:spLocks noChangeArrowheads="1"/>
            </p:cNvSpPr>
            <p:nvPr/>
          </p:nvSpPr>
          <p:spPr bwMode="auto">
            <a:xfrm>
              <a:off x="404" y="3728"/>
              <a:ext cx="621"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CLOSED</a:t>
              </a:r>
            </a:p>
          </p:txBody>
        </p:sp>
        <p:sp>
          <p:nvSpPr>
            <p:cNvPr id="134" name="Line 61">
              <a:extLst>
                <a:ext uri="{FF2B5EF4-FFF2-40B4-BE49-F238E27FC236}">
                  <a16:creationId xmlns:a16="http://schemas.microsoft.com/office/drawing/2014/main" id="{A6E76601-86C1-6B4E-986E-53F4D8B2F328}"/>
                </a:ext>
              </a:extLst>
            </p:cNvPr>
            <p:cNvSpPr>
              <a:spLocks noChangeShapeType="1"/>
            </p:cNvSpPr>
            <p:nvPr/>
          </p:nvSpPr>
          <p:spPr bwMode="auto">
            <a:xfrm>
              <a:off x="631" y="2918"/>
              <a:ext cx="0" cy="839"/>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nvGrpSpPr>
          <p:cNvPr id="135" name="Group 71">
            <a:extLst>
              <a:ext uri="{FF2B5EF4-FFF2-40B4-BE49-F238E27FC236}">
                <a16:creationId xmlns:a16="http://schemas.microsoft.com/office/drawing/2014/main" id="{856F911C-0662-FC4D-8D88-E4796EB8EB50}"/>
              </a:ext>
            </a:extLst>
          </p:cNvPr>
          <p:cNvGrpSpPr>
            <a:grpSpLocks/>
          </p:cNvGrpSpPr>
          <p:nvPr/>
        </p:nvGrpSpPr>
        <p:grpSpPr bwMode="auto">
          <a:xfrm>
            <a:off x="1787620" y="2375479"/>
            <a:ext cx="1054893" cy="550069"/>
            <a:chOff x="324" y="1289"/>
            <a:chExt cx="886" cy="462"/>
          </a:xfrm>
        </p:grpSpPr>
        <p:sp>
          <p:nvSpPr>
            <p:cNvPr id="136" name="Text Box 31">
              <a:extLst>
                <a:ext uri="{FF2B5EF4-FFF2-40B4-BE49-F238E27FC236}">
                  <a16:creationId xmlns:a16="http://schemas.microsoft.com/office/drawing/2014/main" id="{7C6B5CE0-27BC-EA41-AE44-47F87323EAB1}"/>
                </a:ext>
              </a:extLst>
            </p:cNvPr>
            <p:cNvSpPr txBox="1">
              <a:spLocks noChangeArrowheads="1"/>
            </p:cNvSpPr>
            <p:nvPr/>
          </p:nvSpPr>
          <p:spPr bwMode="auto">
            <a:xfrm>
              <a:off x="324" y="1518"/>
              <a:ext cx="88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FIN_WAIT_1</a:t>
              </a:r>
            </a:p>
          </p:txBody>
        </p:sp>
        <p:sp>
          <p:nvSpPr>
            <p:cNvPr id="137" name="Line 32">
              <a:extLst>
                <a:ext uri="{FF2B5EF4-FFF2-40B4-BE49-F238E27FC236}">
                  <a16:creationId xmlns:a16="http://schemas.microsoft.com/office/drawing/2014/main" id="{68F9AC03-ACD1-8148-B2AA-D99567B02208}"/>
                </a:ext>
              </a:extLst>
            </p:cNvPr>
            <p:cNvSpPr>
              <a:spLocks noChangeShapeType="1"/>
            </p:cNvSpPr>
            <p:nvPr/>
          </p:nvSpPr>
          <p:spPr bwMode="auto">
            <a:xfrm>
              <a:off x="630" y="1289"/>
              <a:ext cx="0" cy="277"/>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grpSp>
        <p:nvGrpSpPr>
          <p:cNvPr id="138" name="Group 70">
            <a:extLst>
              <a:ext uri="{FF2B5EF4-FFF2-40B4-BE49-F238E27FC236}">
                <a16:creationId xmlns:a16="http://schemas.microsoft.com/office/drawing/2014/main" id="{2AC3B819-5CDB-E34D-A991-B4A5AEE2742D}"/>
              </a:ext>
            </a:extLst>
          </p:cNvPr>
          <p:cNvGrpSpPr>
            <a:grpSpLocks/>
          </p:cNvGrpSpPr>
          <p:nvPr/>
        </p:nvGrpSpPr>
        <p:grpSpPr bwMode="auto">
          <a:xfrm>
            <a:off x="2278158" y="2415960"/>
            <a:ext cx="3608785" cy="788193"/>
            <a:chOff x="736" y="1323"/>
            <a:chExt cx="3031" cy="662"/>
          </a:xfrm>
        </p:grpSpPr>
        <p:sp>
          <p:nvSpPr>
            <p:cNvPr id="139" name="Line 6">
              <a:extLst>
                <a:ext uri="{FF2B5EF4-FFF2-40B4-BE49-F238E27FC236}">
                  <a16:creationId xmlns:a16="http://schemas.microsoft.com/office/drawing/2014/main" id="{8563C9BC-E8BF-4B4B-B9E5-BA16D70411A4}"/>
                </a:ext>
              </a:extLst>
            </p:cNvPr>
            <p:cNvSpPr>
              <a:spLocks noChangeShapeType="1"/>
            </p:cNvSpPr>
            <p:nvPr/>
          </p:nvSpPr>
          <p:spPr bwMode="auto">
            <a:xfrm>
              <a:off x="2195" y="1442"/>
              <a:ext cx="1572" cy="320"/>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sp>
          <p:nvSpPr>
            <p:cNvPr id="140" name="Rectangle 7">
              <a:extLst>
                <a:ext uri="{FF2B5EF4-FFF2-40B4-BE49-F238E27FC236}">
                  <a16:creationId xmlns:a16="http://schemas.microsoft.com/office/drawing/2014/main" id="{93164DA6-D19F-EC4A-8FED-DFEAF03BFCA4}"/>
                </a:ext>
              </a:extLst>
            </p:cNvPr>
            <p:cNvSpPr>
              <a:spLocks noChangeArrowheads="1"/>
            </p:cNvSpPr>
            <p:nvPr/>
          </p:nvSpPr>
          <p:spPr bwMode="auto">
            <a:xfrm>
              <a:off x="2644" y="1369"/>
              <a:ext cx="590" cy="36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41" name="Text Box 8">
              <a:extLst>
                <a:ext uri="{FF2B5EF4-FFF2-40B4-BE49-F238E27FC236}">
                  <a16:creationId xmlns:a16="http://schemas.microsoft.com/office/drawing/2014/main" id="{9FBC4446-D43E-8446-97FA-47F23591FA0D}"/>
                </a:ext>
              </a:extLst>
            </p:cNvPr>
            <p:cNvSpPr txBox="1">
              <a:spLocks noChangeArrowheads="1"/>
            </p:cNvSpPr>
            <p:nvPr/>
          </p:nvSpPr>
          <p:spPr bwMode="auto">
            <a:xfrm>
              <a:off x="2405" y="1493"/>
              <a:ext cx="1102" cy="23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FINbit=1, seq=x</a:t>
              </a:r>
            </a:p>
          </p:txBody>
        </p:sp>
        <p:sp>
          <p:nvSpPr>
            <p:cNvPr id="142" name="Text Box 9">
              <a:extLst>
                <a:ext uri="{FF2B5EF4-FFF2-40B4-BE49-F238E27FC236}">
                  <a16:creationId xmlns:a16="http://schemas.microsoft.com/office/drawing/2014/main" id="{2A7A1B57-CBE3-0F48-81AB-C0824B5F9ED6}"/>
                </a:ext>
              </a:extLst>
            </p:cNvPr>
            <p:cNvSpPr txBox="1">
              <a:spLocks noChangeArrowheads="1"/>
            </p:cNvSpPr>
            <p:nvPr/>
          </p:nvSpPr>
          <p:spPr bwMode="auto">
            <a:xfrm>
              <a:off x="1209" y="1541"/>
              <a:ext cx="913" cy="444"/>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90000"/>
                </a:lnSpc>
                <a:defRPr/>
              </a:pPr>
              <a:r>
                <a:rPr lang="en-US" sz="1050" kern="0">
                  <a:solidFill>
                    <a:srgbClr val="000000"/>
                  </a:solidFill>
                </a:rPr>
                <a:t>can no longer</a:t>
              </a:r>
            </a:p>
            <a:p>
              <a:pPr algn="r">
                <a:lnSpc>
                  <a:spcPct val="90000"/>
                </a:lnSpc>
                <a:defRPr/>
              </a:pPr>
              <a:r>
                <a:rPr lang="en-US" sz="1050" kern="0">
                  <a:solidFill>
                    <a:srgbClr val="000000"/>
                  </a:solidFill>
                </a:rPr>
                <a:t>send but can</a:t>
              </a:r>
            </a:p>
            <a:p>
              <a:pPr algn="r">
                <a:lnSpc>
                  <a:spcPct val="90000"/>
                </a:lnSpc>
                <a:defRPr/>
              </a:pPr>
              <a:r>
                <a:rPr lang="en-US" sz="1050" kern="0">
                  <a:solidFill>
                    <a:srgbClr val="000000"/>
                  </a:solidFill>
                </a:rPr>
                <a:t> receive data</a:t>
              </a:r>
            </a:p>
          </p:txBody>
        </p:sp>
        <p:sp>
          <p:nvSpPr>
            <p:cNvPr id="143" name="Text Box 67">
              <a:extLst>
                <a:ext uri="{FF2B5EF4-FFF2-40B4-BE49-F238E27FC236}">
                  <a16:creationId xmlns:a16="http://schemas.microsoft.com/office/drawing/2014/main" id="{D4F5F93C-0287-514F-885A-7080F2E25FBE}"/>
                </a:ext>
              </a:extLst>
            </p:cNvPr>
            <p:cNvSpPr txBox="1">
              <a:spLocks noChangeArrowheads="1"/>
            </p:cNvSpPr>
            <p:nvPr/>
          </p:nvSpPr>
          <p:spPr bwMode="auto">
            <a:xfrm>
              <a:off x="736" y="1323"/>
              <a:ext cx="1501"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kern="0">
                  <a:solidFill>
                    <a:srgbClr val="000000"/>
                  </a:solidFill>
                  <a:latin typeface="Courier New" charset="0"/>
                </a:rPr>
                <a:t>clientSocket.close()</a:t>
              </a:r>
            </a:p>
          </p:txBody>
        </p:sp>
      </p:grpSp>
      <p:sp>
        <p:nvSpPr>
          <p:cNvPr id="144" name="Text Box 84">
            <a:extLst>
              <a:ext uri="{FF2B5EF4-FFF2-40B4-BE49-F238E27FC236}">
                <a16:creationId xmlns:a16="http://schemas.microsoft.com/office/drawing/2014/main" id="{B621F2BC-8FED-FF42-89D9-83E23CEFDC40}"/>
              </a:ext>
            </a:extLst>
          </p:cNvPr>
          <p:cNvSpPr txBox="1">
            <a:spLocks noChangeArrowheads="1"/>
          </p:cNvSpPr>
          <p:nvPr/>
        </p:nvSpPr>
        <p:spPr bwMode="auto">
          <a:xfrm>
            <a:off x="1536397" y="1867083"/>
            <a:ext cx="1109663" cy="5078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1500" kern="0" dirty="0">
                <a:solidFill>
                  <a:srgbClr val="000099"/>
                </a:solidFill>
              </a:rPr>
              <a:t>client state</a:t>
            </a:r>
          </a:p>
          <a:p>
            <a:pPr algn="r">
              <a:defRPr/>
            </a:pPr>
            <a:endParaRPr lang="en-US" sz="1200" i="1" kern="0" dirty="0">
              <a:solidFill>
                <a:srgbClr val="000099"/>
              </a:solidFill>
            </a:endParaRPr>
          </a:p>
        </p:txBody>
      </p:sp>
      <p:sp>
        <p:nvSpPr>
          <p:cNvPr id="145" name="Text Box 85">
            <a:extLst>
              <a:ext uri="{FF2B5EF4-FFF2-40B4-BE49-F238E27FC236}">
                <a16:creationId xmlns:a16="http://schemas.microsoft.com/office/drawing/2014/main" id="{0843F073-CC98-6143-B1B4-660BDAFE9238}"/>
              </a:ext>
            </a:extLst>
          </p:cNvPr>
          <p:cNvSpPr txBox="1">
            <a:spLocks noChangeArrowheads="1"/>
          </p:cNvSpPr>
          <p:nvPr/>
        </p:nvSpPr>
        <p:spPr bwMode="auto">
          <a:xfrm>
            <a:off x="6660515" y="1880180"/>
            <a:ext cx="1185004" cy="5078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en-US" sz="1500" kern="0" dirty="0">
                <a:solidFill>
                  <a:srgbClr val="000099"/>
                </a:solidFill>
              </a:rPr>
              <a:t>server state</a:t>
            </a:r>
          </a:p>
          <a:p>
            <a:pPr algn="r">
              <a:defRPr/>
            </a:pPr>
            <a:endParaRPr lang="en-US" sz="1200" i="1" kern="0" dirty="0">
              <a:solidFill>
                <a:srgbClr val="000099"/>
              </a:solidFill>
            </a:endParaRPr>
          </a:p>
        </p:txBody>
      </p:sp>
      <p:sp>
        <p:nvSpPr>
          <p:cNvPr id="146" name="Text Box 86">
            <a:extLst>
              <a:ext uri="{FF2B5EF4-FFF2-40B4-BE49-F238E27FC236}">
                <a16:creationId xmlns:a16="http://schemas.microsoft.com/office/drawing/2014/main" id="{91EC5BFE-B9C5-4940-AAAB-3E540DBF7AB8}"/>
              </a:ext>
            </a:extLst>
          </p:cNvPr>
          <p:cNvSpPr txBox="1">
            <a:spLocks noChangeArrowheads="1"/>
          </p:cNvSpPr>
          <p:nvPr/>
        </p:nvSpPr>
        <p:spPr bwMode="auto">
          <a:xfrm>
            <a:off x="7202947" y="2167120"/>
            <a:ext cx="630301"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ESTAB</a:t>
            </a:r>
          </a:p>
        </p:txBody>
      </p:sp>
      <p:sp>
        <p:nvSpPr>
          <p:cNvPr id="147" name="Text Box 87">
            <a:extLst>
              <a:ext uri="{FF2B5EF4-FFF2-40B4-BE49-F238E27FC236}">
                <a16:creationId xmlns:a16="http://schemas.microsoft.com/office/drawing/2014/main" id="{6F88DE4C-F26E-1E42-AEF7-44D88A3978D1}"/>
              </a:ext>
            </a:extLst>
          </p:cNvPr>
          <p:cNvSpPr txBox="1">
            <a:spLocks noChangeArrowheads="1"/>
          </p:cNvSpPr>
          <p:nvPr/>
        </p:nvSpPr>
        <p:spPr bwMode="auto">
          <a:xfrm>
            <a:off x="1776078" y="2154024"/>
            <a:ext cx="630301"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kern="0">
                <a:solidFill>
                  <a:srgbClr val="000000"/>
                </a:solidFill>
              </a:rPr>
              <a:t>ESTAB</a:t>
            </a:r>
          </a:p>
        </p:txBody>
      </p:sp>
      <p:grpSp>
        <p:nvGrpSpPr>
          <p:cNvPr id="148" name="Group 88">
            <a:extLst>
              <a:ext uri="{FF2B5EF4-FFF2-40B4-BE49-F238E27FC236}">
                <a16:creationId xmlns:a16="http://schemas.microsoft.com/office/drawing/2014/main" id="{9F01B6CB-2602-AB4B-8407-E1DECA6D341A}"/>
              </a:ext>
            </a:extLst>
          </p:cNvPr>
          <p:cNvGrpSpPr>
            <a:grpSpLocks/>
          </p:cNvGrpSpPr>
          <p:nvPr/>
        </p:nvGrpSpPr>
        <p:grpSpPr bwMode="auto">
          <a:xfrm>
            <a:off x="3756912" y="1923043"/>
            <a:ext cx="482204" cy="450056"/>
            <a:chOff x="-44" y="1473"/>
            <a:chExt cx="981" cy="1105"/>
          </a:xfrm>
        </p:grpSpPr>
        <p:pic>
          <p:nvPicPr>
            <p:cNvPr id="149" name="Picture 89" descr="desktop_computer_stylized_medium">
              <a:extLst>
                <a:ext uri="{FF2B5EF4-FFF2-40B4-BE49-F238E27FC236}">
                  <a16:creationId xmlns:a16="http://schemas.microsoft.com/office/drawing/2014/main" id="{CB87D519-6188-8E48-BD3A-21D1B3CD163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Freeform 90">
              <a:extLst>
                <a:ext uri="{FF2B5EF4-FFF2-40B4-BE49-F238E27FC236}">
                  <a16:creationId xmlns:a16="http://schemas.microsoft.com/office/drawing/2014/main" id="{03222848-711E-FA45-B8D9-62F3C310430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151" name="Group 91">
            <a:extLst>
              <a:ext uri="{FF2B5EF4-FFF2-40B4-BE49-F238E27FC236}">
                <a16:creationId xmlns:a16="http://schemas.microsoft.com/office/drawing/2014/main" id="{BF9B722E-CD29-D14E-A50A-6EFE18D73FAA}"/>
              </a:ext>
            </a:extLst>
          </p:cNvPr>
          <p:cNvGrpSpPr>
            <a:grpSpLocks/>
          </p:cNvGrpSpPr>
          <p:nvPr/>
        </p:nvGrpSpPr>
        <p:grpSpPr bwMode="auto">
          <a:xfrm>
            <a:off x="5730968" y="1925423"/>
            <a:ext cx="252413" cy="384572"/>
            <a:chOff x="4140" y="429"/>
            <a:chExt cx="1425" cy="2396"/>
          </a:xfrm>
        </p:grpSpPr>
        <p:sp>
          <p:nvSpPr>
            <p:cNvPr id="152" name="Freeform 92">
              <a:extLst>
                <a:ext uri="{FF2B5EF4-FFF2-40B4-BE49-F238E27FC236}">
                  <a16:creationId xmlns:a16="http://schemas.microsoft.com/office/drawing/2014/main" id="{04FC7BF7-A2B2-C94B-9A70-9E4F05E4B203}"/>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53" name="Rectangle 93">
              <a:extLst>
                <a:ext uri="{FF2B5EF4-FFF2-40B4-BE49-F238E27FC236}">
                  <a16:creationId xmlns:a16="http://schemas.microsoft.com/office/drawing/2014/main" id="{BBF24070-7587-6240-82D0-9DA6BE7BB182}"/>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54" name="Freeform 94">
              <a:extLst>
                <a:ext uri="{FF2B5EF4-FFF2-40B4-BE49-F238E27FC236}">
                  <a16:creationId xmlns:a16="http://schemas.microsoft.com/office/drawing/2014/main" id="{C913A1C5-5EFA-DA46-95BE-855E56697F8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55" name="Freeform 95">
              <a:extLst>
                <a:ext uri="{FF2B5EF4-FFF2-40B4-BE49-F238E27FC236}">
                  <a16:creationId xmlns:a16="http://schemas.microsoft.com/office/drawing/2014/main" id="{30F7DF2C-5849-1D4B-8FD7-8CEB19A50FC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56" name="Rectangle 96">
              <a:extLst>
                <a:ext uri="{FF2B5EF4-FFF2-40B4-BE49-F238E27FC236}">
                  <a16:creationId xmlns:a16="http://schemas.microsoft.com/office/drawing/2014/main" id="{928B54EE-1D33-184C-8985-247C7BD59B8D}"/>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157" name="Group 97">
              <a:extLst>
                <a:ext uri="{FF2B5EF4-FFF2-40B4-BE49-F238E27FC236}">
                  <a16:creationId xmlns:a16="http://schemas.microsoft.com/office/drawing/2014/main" id="{F6DD7133-721F-BD41-8783-A9EAB109850D}"/>
                </a:ext>
              </a:extLst>
            </p:cNvPr>
            <p:cNvGrpSpPr>
              <a:grpSpLocks/>
            </p:cNvGrpSpPr>
            <p:nvPr/>
          </p:nvGrpSpPr>
          <p:grpSpPr bwMode="auto">
            <a:xfrm>
              <a:off x="4749" y="668"/>
              <a:ext cx="581" cy="145"/>
              <a:chOff x="614" y="2568"/>
              <a:chExt cx="725" cy="139"/>
            </a:xfrm>
          </p:grpSpPr>
          <p:sp>
            <p:nvSpPr>
              <p:cNvPr id="182" name="AutoShape 98">
                <a:extLst>
                  <a:ext uri="{FF2B5EF4-FFF2-40B4-BE49-F238E27FC236}">
                    <a16:creationId xmlns:a16="http://schemas.microsoft.com/office/drawing/2014/main" id="{46425D84-36DE-2C4E-AE70-5E0DC3CDD676}"/>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83" name="AutoShape 99">
                <a:extLst>
                  <a:ext uri="{FF2B5EF4-FFF2-40B4-BE49-F238E27FC236}">
                    <a16:creationId xmlns:a16="http://schemas.microsoft.com/office/drawing/2014/main" id="{CFFAEB71-14B6-FE46-9C1C-0896E120008D}"/>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58" name="Rectangle 100">
              <a:extLst>
                <a:ext uri="{FF2B5EF4-FFF2-40B4-BE49-F238E27FC236}">
                  <a16:creationId xmlns:a16="http://schemas.microsoft.com/office/drawing/2014/main" id="{85BA9E49-BCCD-AD46-90D6-0B2B10EE9CC5}"/>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159" name="Group 101">
              <a:extLst>
                <a:ext uri="{FF2B5EF4-FFF2-40B4-BE49-F238E27FC236}">
                  <a16:creationId xmlns:a16="http://schemas.microsoft.com/office/drawing/2014/main" id="{9EE85CC6-1160-464D-B373-66F588DA89DD}"/>
                </a:ext>
              </a:extLst>
            </p:cNvPr>
            <p:cNvGrpSpPr>
              <a:grpSpLocks/>
            </p:cNvGrpSpPr>
            <p:nvPr/>
          </p:nvGrpSpPr>
          <p:grpSpPr bwMode="auto">
            <a:xfrm>
              <a:off x="4747" y="994"/>
              <a:ext cx="581" cy="134"/>
              <a:chOff x="614" y="2568"/>
              <a:chExt cx="725" cy="139"/>
            </a:xfrm>
          </p:grpSpPr>
          <p:sp>
            <p:nvSpPr>
              <p:cNvPr id="180" name="AutoShape 102">
                <a:extLst>
                  <a:ext uri="{FF2B5EF4-FFF2-40B4-BE49-F238E27FC236}">
                    <a16:creationId xmlns:a16="http://schemas.microsoft.com/office/drawing/2014/main" id="{8A13BF1A-B268-2443-B220-C847E9ABB30F}"/>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81" name="AutoShape 103">
                <a:extLst>
                  <a:ext uri="{FF2B5EF4-FFF2-40B4-BE49-F238E27FC236}">
                    <a16:creationId xmlns:a16="http://schemas.microsoft.com/office/drawing/2014/main" id="{37F11CFE-1C0C-0E44-BDE7-87E93FDD4C4D}"/>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60" name="Rectangle 104">
              <a:extLst>
                <a:ext uri="{FF2B5EF4-FFF2-40B4-BE49-F238E27FC236}">
                  <a16:creationId xmlns:a16="http://schemas.microsoft.com/office/drawing/2014/main" id="{2E0AE940-5E21-AB42-A881-5E0E7C86B44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61" name="Rectangle 105">
              <a:extLst>
                <a:ext uri="{FF2B5EF4-FFF2-40B4-BE49-F238E27FC236}">
                  <a16:creationId xmlns:a16="http://schemas.microsoft.com/office/drawing/2014/main" id="{3B10FEB7-24A1-E940-B454-FEA4D9D81981}"/>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162" name="Group 106">
              <a:extLst>
                <a:ext uri="{FF2B5EF4-FFF2-40B4-BE49-F238E27FC236}">
                  <a16:creationId xmlns:a16="http://schemas.microsoft.com/office/drawing/2014/main" id="{E763CBF1-E022-4B43-827D-B2C0C13CF95C}"/>
                </a:ext>
              </a:extLst>
            </p:cNvPr>
            <p:cNvGrpSpPr>
              <a:grpSpLocks/>
            </p:cNvGrpSpPr>
            <p:nvPr/>
          </p:nvGrpSpPr>
          <p:grpSpPr bwMode="auto">
            <a:xfrm>
              <a:off x="4735" y="1627"/>
              <a:ext cx="582" cy="151"/>
              <a:chOff x="614" y="2568"/>
              <a:chExt cx="725" cy="139"/>
            </a:xfrm>
          </p:grpSpPr>
          <p:sp>
            <p:nvSpPr>
              <p:cNvPr id="178" name="AutoShape 107">
                <a:extLst>
                  <a:ext uri="{FF2B5EF4-FFF2-40B4-BE49-F238E27FC236}">
                    <a16:creationId xmlns:a16="http://schemas.microsoft.com/office/drawing/2014/main" id="{6A86ADF6-C912-6A4B-9D15-97DBB6D53B1B}"/>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79" name="AutoShape 108">
                <a:extLst>
                  <a:ext uri="{FF2B5EF4-FFF2-40B4-BE49-F238E27FC236}">
                    <a16:creationId xmlns:a16="http://schemas.microsoft.com/office/drawing/2014/main" id="{9F558EE2-1D9D-5644-8991-61EC538A21AC}"/>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63" name="Freeform 109">
              <a:extLst>
                <a:ext uri="{FF2B5EF4-FFF2-40B4-BE49-F238E27FC236}">
                  <a16:creationId xmlns:a16="http://schemas.microsoft.com/office/drawing/2014/main" id="{7EB03A64-481D-DE4A-A95E-29908EF86F6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grpSp>
          <p:nvGrpSpPr>
            <p:cNvPr id="164" name="Group 110">
              <a:extLst>
                <a:ext uri="{FF2B5EF4-FFF2-40B4-BE49-F238E27FC236}">
                  <a16:creationId xmlns:a16="http://schemas.microsoft.com/office/drawing/2014/main" id="{30F9ABF4-0850-ED4F-BB3C-A8016A36A617}"/>
                </a:ext>
              </a:extLst>
            </p:cNvPr>
            <p:cNvGrpSpPr>
              <a:grpSpLocks/>
            </p:cNvGrpSpPr>
            <p:nvPr/>
          </p:nvGrpSpPr>
          <p:grpSpPr bwMode="auto">
            <a:xfrm>
              <a:off x="4739" y="1327"/>
              <a:ext cx="582" cy="139"/>
              <a:chOff x="614" y="2568"/>
              <a:chExt cx="725" cy="139"/>
            </a:xfrm>
          </p:grpSpPr>
          <p:sp>
            <p:nvSpPr>
              <p:cNvPr id="176" name="AutoShape 111">
                <a:extLst>
                  <a:ext uri="{FF2B5EF4-FFF2-40B4-BE49-F238E27FC236}">
                    <a16:creationId xmlns:a16="http://schemas.microsoft.com/office/drawing/2014/main" id="{543C3183-8EC0-C848-8570-3BACB56BCF0F}"/>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77" name="AutoShape 112">
                <a:extLst>
                  <a:ext uri="{FF2B5EF4-FFF2-40B4-BE49-F238E27FC236}">
                    <a16:creationId xmlns:a16="http://schemas.microsoft.com/office/drawing/2014/main" id="{767EDCBA-5B46-F144-AB01-761AF5608809}"/>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65" name="Rectangle 113">
              <a:extLst>
                <a:ext uri="{FF2B5EF4-FFF2-40B4-BE49-F238E27FC236}">
                  <a16:creationId xmlns:a16="http://schemas.microsoft.com/office/drawing/2014/main" id="{130A4B81-B52B-E54C-8326-57BD5D6A4088}"/>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66" name="Freeform 114">
              <a:extLst>
                <a:ext uri="{FF2B5EF4-FFF2-40B4-BE49-F238E27FC236}">
                  <a16:creationId xmlns:a16="http://schemas.microsoft.com/office/drawing/2014/main" id="{68AA2015-E01C-BF4F-9978-89DD65919BB6}"/>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67" name="Freeform 115">
              <a:extLst>
                <a:ext uri="{FF2B5EF4-FFF2-40B4-BE49-F238E27FC236}">
                  <a16:creationId xmlns:a16="http://schemas.microsoft.com/office/drawing/2014/main" id="{3A8A7E70-AC93-6749-976E-82AF7C43984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68" name="Oval 116">
              <a:extLst>
                <a:ext uri="{FF2B5EF4-FFF2-40B4-BE49-F238E27FC236}">
                  <a16:creationId xmlns:a16="http://schemas.microsoft.com/office/drawing/2014/main" id="{76160967-D20F-2A4D-BA52-84E62E548A18}"/>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69" name="Freeform 117">
              <a:extLst>
                <a:ext uri="{FF2B5EF4-FFF2-40B4-BE49-F238E27FC236}">
                  <a16:creationId xmlns:a16="http://schemas.microsoft.com/office/drawing/2014/main" id="{3682C100-D7BB-DA44-8E1B-43E3CBCBDBF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70" name="AutoShape 118">
              <a:extLst>
                <a:ext uri="{FF2B5EF4-FFF2-40B4-BE49-F238E27FC236}">
                  <a16:creationId xmlns:a16="http://schemas.microsoft.com/office/drawing/2014/main" id="{F44F726E-6022-9A48-B676-C96461093E7D}"/>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71" name="AutoShape 119">
              <a:extLst>
                <a:ext uri="{FF2B5EF4-FFF2-40B4-BE49-F238E27FC236}">
                  <a16:creationId xmlns:a16="http://schemas.microsoft.com/office/drawing/2014/main" id="{F08529B7-AF84-334A-922B-D600D4D2650D}"/>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72" name="Oval 120">
              <a:extLst>
                <a:ext uri="{FF2B5EF4-FFF2-40B4-BE49-F238E27FC236}">
                  <a16:creationId xmlns:a16="http://schemas.microsoft.com/office/drawing/2014/main" id="{13555F12-BA78-474F-BFFC-2AF0C141024F}"/>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73" name="Oval 121">
              <a:extLst>
                <a:ext uri="{FF2B5EF4-FFF2-40B4-BE49-F238E27FC236}">
                  <a16:creationId xmlns:a16="http://schemas.microsoft.com/office/drawing/2014/main" id="{36F2967C-35DE-D340-AE31-7DAEDAFA023F}"/>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350" kern="0">
                <a:solidFill>
                  <a:srgbClr val="FF0000"/>
                </a:solidFill>
                <a:latin typeface="Arial" charset="0"/>
                <a:ea typeface="ＭＳ Ｐゴシック" charset="0"/>
                <a:cs typeface="Arial" charset="0"/>
              </a:endParaRPr>
            </a:p>
          </p:txBody>
        </p:sp>
        <p:sp>
          <p:nvSpPr>
            <p:cNvPr id="174" name="Oval 122">
              <a:extLst>
                <a:ext uri="{FF2B5EF4-FFF2-40B4-BE49-F238E27FC236}">
                  <a16:creationId xmlns:a16="http://schemas.microsoft.com/office/drawing/2014/main" id="{2A0ABCA8-E99B-D14D-80A1-B0810D7BF65B}"/>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75" name="Rectangle 123">
              <a:extLst>
                <a:ext uri="{FF2B5EF4-FFF2-40B4-BE49-F238E27FC236}">
                  <a16:creationId xmlns:a16="http://schemas.microsoft.com/office/drawing/2014/main" id="{AAA7624E-6F49-1844-930E-036F04A62483}"/>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Tree>
    <p:extLst>
      <p:ext uri="{BB962C8B-B14F-4D97-AF65-F5344CB8AC3E}">
        <p14:creationId xmlns:p14="http://schemas.microsoft.com/office/powerpoint/2010/main" val="572398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wipe(left)">
                                      <p:cBhvr>
                                        <p:cTn id="7" dur="500"/>
                                        <p:tgtEl>
                                          <p:spTgt spid="138"/>
                                        </p:tgtEl>
                                      </p:cBhvr>
                                    </p:animEffect>
                                  </p:childTnLst>
                                </p:cTn>
                              </p:par>
                              <p:par>
                                <p:cTn id="8" presetID="22" presetClass="entr" presetSubtype="1" fill="hold" nodeType="withEffect">
                                  <p:stCondLst>
                                    <p:cond delay="0"/>
                                  </p:stCondLst>
                                  <p:childTnLst>
                                    <p:set>
                                      <p:cBhvr>
                                        <p:cTn id="9" dur="1" fill="hold">
                                          <p:stCondLst>
                                            <p:cond delay="0"/>
                                          </p:stCondLst>
                                        </p:cTn>
                                        <p:tgtEl>
                                          <p:spTgt spid="135"/>
                                        </p:tgtEl>
                                        <p:attrNameLst>
                                          <p:attrName>style.visibility</p:attrName>
                                        </p:attrNameLst>
                                      </p:cBhvr>
                                      <p:to>
                                        <p:strVal val="visible"/>
                                      </p:to>
                                    </p:set>
                                    <p:animEffect transition="in" filter="wipe(up)">
                                      <p:cBhvr>
                                        <p:cTn id="10" dur="500"/>
                                        <p:tgtEl>
                                          <p:spTgt spid="13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wipe(up)">
                                      <p:cBhvr>
                                        <p:cTn id="15" dur="500"/>
                                        <p:tgtEl>
                                          <p:spTgt spid="111"/>
                                        </p:tgtEl>
                                      </p:cBhvr>
                                    </p:animEffect>
                                  </p:childTnLst>
                                </p:cTn>
                              </p:par>
                              <p:par>
                                <p:cTn id="16" presetID="22" presetClass="entr" presetSubtype="1" fill="hold" nodeType="withEffect">
                                  <p:stCondLst>
                                    <p:cond delay="0"/>
                                  </p:stCondLst>
                                  <p:childTnLst>
                                    <p:set>
                                      <p:cBhvr>
                                        <p:cTn id="17" dur="1" fill="hold">
                                          <p:stCondLst>
                                            <p:cond delay="0"/>
                                          </p:stCondLst>
                                        </p:cTn>
                                        <p:tgtEl>
                                          <p:spTgt spid="100"/>
                                        </p:tgtEl>
                                        <p:attrNameLst>
                                          <p:attrName>style.visibility</p:attrName>
                                        </p:attrNameLst>
                                      </p:cBhvr>
                                      <p:to>
                                        <p:strVal val="visible"/>
                                      </p:to>
                                    </p:set>
                                    <p:animEffect transition="in" filter="wipe(up)">
                                      <p:cBhvr>
                                        <p:cTn id="18" dur="500"/>
                                        <p:tgtEl>
                                          <p:spTgt spid="100"/>
                                        </p:tgtEl>
                                      </p:cBhvr>
                                    </p:animEffect>
                                  </p:childTnLst>
                                </p:cTn>
                              </p:par>
                              <p:par>
                                <p:cTn id="19" presetID="22" presetClass="entr" presetSubtype="1" fill="hold" nodeType="withEffect">
                                  <p:stCondLst>
                                    <p:cond delay="0"/>
                                  </p:stCondLst>
                                  <p:childTnLst>
                                    <p:set>
                                      <p:cBhvr>
                                        <p:cTn id="20" dur="1" fill="hold">
                                          <p:stCondLst>
                                            <p:cond delay="0"/>
                                          </p:stCondLst>
                                        </p:cTn>
                                        <p:tgtEl>
                                          <p:spTgt spid="97"/>
                                        </p:tgtEl>
                                        <p:attrNameLst>
                                          <p:attrName>style.visibility</p:attrName>
                                        </p:attrNameLst>
                                      </p:cBhvr>
                                      <p:to>
                                        <p:strVal val="visible"/>
                                      </p:to>
                                    </p:set>
                                    <p:animEffect transition="in" filter="wipe(up)">
                                      <p:cBhvr>
                                        <p:cTn id="21" dur="500"/>
                                        <p:tgtEl>
                                          <p:spTgt spid="9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03"/>
                                        </p:tgtEl>
                                        <p:attrNameLst>
                                          <p:attrName>style.visibility</p:attrName>
                                        </p:attrNameLst>
                                      </p:cBhvr>
                                      <p:to>
                                        <p:strVal val="visible"/>
                                      </p:to>
                                    </p:set>
                                    <p:animEffect transition="in" filter="wipe(right)">
                                      <p:cBhvr>
                                        <p:cTn id="26" dur="500"/>
                                        <p:tgtEl>
                                          <p:spTgt spid="103"/>
                                        </p:tgtEl>
                                      </p:cBhvr>
                                    </p:animEffect>
                                  </p:childTnLst>
                                </p:cTn>
                              </p:par>
                              <p:par>
                                <p:cTn id="27" presetID="22" presetClass="entr" presetSubtype="1" fill="hold" nodeType="withEffect">
                                  <p:stCondLst>
                                    <p:cond delay="0"/>
                                  </p:stCondLst>
                                  <p:childTnLst>
                                    <p:set>
                                      <p:cBhvr>
                                        <p:cTn id="28" dur="1" fill="hold">
                                          <p:stCondLst>
                                            <p:cond delay="0"/>
                                          </p:stCondLst>
                                        </p:cTn>
                                        <p:tgtEl>
                                          <p:spTgt spid="125"/>
                                        </p:tgtEl>
                                        <p:attrNameLst>
                                          <p:attrName>style.visibility</p:attrName>
                                        </p:attrNameLst>
                                      </p:cBhvr>
                                      <p:to>
                                        <p:strVal val="visible"/>
                                      </p:to>
                                    </p:set>
                                    <p:animEffect transition="in" filter="wipe(up)">
                                      <p:cBhvr>
                                        <p:cTn id="29" dur="500"/>
                                        <p:tgtEl>
                                          <p:spTgt spid="125"/>
                                        </p:tgtEl>
                                      </p:cBhvr>
                                    </p:animEffect>
                                  </p:childTnLst>
                                </p:cTn>
                              </p:par>
                              <p:par>
                                <p:cTn id="30" presetID="22" presetClass="entr" presetSubtype="1" fill="hold" nodeType="withEffect">
                                  <p:stCondLst>
                                    <p:cond delay="0"/>
                                  </p:stCondLst>
                                  <p:childTnLst>
                                    <p:set>
                                      <p:cBhvr>
                                        <p:cTn id="31" dur="1" fill="hold">
                                          <p:stCondLst>
                                            <p:cond delay="0"/>
                                          </p:stCondLst>
                                        </p:cTn>
                                        <p:tgtEl>
                                          <p:spTgt spid="117"/>
                                        </p:tgtEl>
                                        <p:attrNameLst>
                                          <p:attrName>style.visibility</p:attrName>
                                        </p:attrNameLst>
                                      </p:cBhvr>
                                      <p:to>
                                        <p:strVal val="visible"/>
                                      </p:to>
                                    </p:set>
                                    <p:animEffect transition="in" filter="wipe(up)">
                                      <p:cBhvr>
                                        <p:cTn id="32" dur="500"/>
                                        <p:tgtEl>
                                          <p:spTgt spid="1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wipe(left)">
                                      <p:cBhvr>
                                        <p:cTn id="37" dur="500"/>
                                        <p:tgtEl>
                                          <p:spTgt spid="107"/>
                                        </p:tgtEl>
                                      </p:cBhvr>
                                    </p:animEffect>
                                  </p:childTnLst>
                                </p:cTn>
                              </p:par>
                              <p:par>
                                <p:cTn id="38" presetID="22" presetClass="entr" presetSubtype="1" fill="hold" nodeType="withEffect">
                                  <p:stCondLst>
                                    <p:cond delay="0"/>
                                  </p:stCondLst>
                                  <p:childTnLst>
                                    <p:set>
                                      <p:cBhvr>
                                        <p:cTn id="39" dur="1" fill="hold">
                                          <p:stCondLst>
                                            <p:cond delay="0"/>
                                          </p:stCondLst>
                                        </p:cTn>
                                        <p:tgtEl>
                                          <p:spTgt spid="128"/>
                                        </p:tgtEl>
                                        <p:attrNameLst>
                                          <p:attrName>style.visibility</p:attrName>
                                        </p:attrNameLst>
                                      </p:cBhvr>
                                      <p:to>
                                        <p:strVal val="visible"/>
                                      </p:to>
                                    </p:set>
                                    <p:animEffect transition="in" filter="wipe(up)">
                                      <p:cBhvr>
                                        <p:cTn id="40" dur="500"/>
                                        <p:tgtEl>
                                          <p:spTgt spid="128"/>
                                        </p:tgtEl>
                                      </p:cBhvr>
                                    </p:animEffect>
                                  </p:childTnLst>
                                </p:cTn>
                              </p:par>
                              <p:par>
                                <p:cTn id="41" presetID="22" presetClass="entr" presetSubtype="1" fill="hold" nodeType="withEffect">
                                  <p:stCondLst>
                                    <p:cond delay="0"/>
                                  </p:stCondLst>
                                  <p:childTnLst>
                                    <p:set>
                                      <p:cBhvr>
                                        <p:cTn id="42" dur="1" fill="hold">
                                          <p:stCondLst>
                                            <p:cond delay="0"/>
                                          </p:stCondLst>
                                        </p:cTn>
                                        <p:tgtEl>
                                          <p:spTgt spid="122"/>
                                        </p:tgtEl>
                                        <p:attrNameLst>
                                          <p:attrName>style.visibility</p:attrName>
                                        </p:attrNameLst>
                                      </p:cBhvr>
                                      <p:to>
                                        <p:strVal val="visible"/>
                                      </p:to>
                                    </p:set>
                                    <p:animEffect transition="in" filter="wipe(up)">
                                      <p:cBhvr>
                                        <p:cTn id="43"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61C397FE-1DDC-5444-B79A-714CFC84F37C}"/>
              </a:ext>
            </a:extLst>
          </p:cNvPr>
          <p:cNvSpPr txBox="1">
            <a:spLocks noChangeArrowheads="1"/>
          </p:cNvSpPr>
          <p:nvPr/>
        </p:nvSpPr>
        <p:spPr>
          <a:xfrm>
            <a:off x="541245" y="1916206"/>
            <a:ext cx="8232962"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fontAlgn="auto">
              <a:spcAft>
                <a:spcPts val="0"/>
              </a:spcAft>
              <a:buNone/>
              <a:defRPr/>
            </a:pPr>
            <a:r>
              <a:rPr lang="en-US" altLang="en-US" sz="2400" dirty="0">
                <a:solidFill>
                  <a:srgbClr val="CC0000"/>
                </a:solidFill>
                <a:ea typeface="ＭＳ Ｐゴシック" panose="020B0600070205080204" pitchFamily="34" charset="-128"/>
              </a:rPr>
              <a:t>Congestion:</a:t>
            </a:r>
            <a:endParaRPr lang="en-US" altLang="en-US" sz="2100" dirty="0">
              <a:solidFill>
                <a:srgbClr val="CC0000"/>
              </a:solidFill>
              <a:ea typeface="ＭＳ Ｐゴシック" panose="020B0600070205080204" pitchFamily="34" charset="-128"/>
            </a:endParaRPr>
          </a:p>
          <a:p>
            <a:pPr fontAlgn="auto">
              <a:spcAft>
                <a:spcPts val="0"/>
              </a:spcAft>
              <a:defRPr/>
            </a:pPr>
            <a:r>
              <a:rPr lang="en-US" altLang="en-US" sz="2100" dirty="0">
                <a:solidFill>
                  <a:prstClr val="black"/>
                </a:solidFill>
                <a:ea typeface="ＭＳ Ｐゴシック" panose="020B0600070205080204" pitchFamily="34" charset="-128"/>
              </a:rPr>
              <a:t>informally: “</a:t>
            </a:r>
            <a:r>
              <a:rPr lang="en-US" altLang="ja-JP" sz="2100" dirty="0">
                <a:solidFill>
                  <a:prstClr val="black"/>
                </a:solidFill>
                <a:ea typeface="ＭＳ Ｐゴシック" panose="020B0600070205080204" pitchFamily="34" charset="-128"/>
              </a:rPr>
              <a:t>too many sources sending too much data too fast for </a:t>
            </a:r>
            <a:r>
              <a:rPr lang="en-US" altLang="ja-JP" sz="2100" i="1" dirty="0">
                <a:solidFill>
                  <a:srgbClr val="C00000"/>
                </a:solidFill>
                <a:ea typeface="ＭＳ Ｐゴシック" panose="020B0600070205080204" pitchFamily="34" charset="-128"/>
              </a:rPr>
              <a:t>network</a:t>
            </a:r>
            <a:r>
              <a:rPr lang="en-US" altLang="ja-JP" sz="2100" dirty="0">
                <a:solidFill>
                  <a:prstClr val="black"/>
                </a:solidFill>
                <a:ea typeface="ＭＳ Ｐゴシック" panose="020B0600070205080204" pitchFamily="34" charset="-128"/>
              </a:rPr>
              <a:t> to handle”</a:t>
            </a:r>
          </a:p>
          <a:p>
            <a:pPr fontAlgn="auto">
              <a:spcAft>
                <a:spcPts val="0"/>
              </a:spcAft>
              <a:defRPr/>
            </a:pPr>
            <a:r>
              <a:rPr lang="en-US" altLang="en-US" sz="2100" dirty="0">
                <a:solidFill>
                  <a:prstClr val="black"/>
                </a:solidFill>
                <a:ea typeface="ＭＳ Ｐゴシック" panose="020B0600070205080204" pitchFamily="34" charset="-128"/>
              </a:rPr>
              <a:t>manifestations:</a:t>
            </a:r>
          </a:p>
          <a:p>
            <a:pPr lvl="1" fontAlgn="auto">
              <a:spcAft>
                <a:spcPts val="0"/>
              </a:spcAft>
              <a:defRPr/>
            </a:pPr>
            <a:r>
              <a:rPr lang="en-US" altLang="en-US" sz="2100" dirty="0">
                <a:solidFill>
                  <a:prstClr val="black"/>
                </a:solidFill>
                <a:ea typeface="ＭＳ Ｐゴシック" panose="020B0600070205080204" pitchFamily="34" charset="-128"/>
              </a:rPr>
              <a:t>long delays (queueing in router buffers)</a:t>
            </a:r>
          </a:p>
          <a:p>
            <a:pPr lvl="1" fontAlgn="auto">
              <a:spcAft>
                <a:spcPts val="0"/>
              </a:spcAft>
              <a:defRPr/>
            </a:pPr>
            <a:r>
              <a:rPr lang="en-US" altLang="en-US" sz="2100" dirty="0">
                <a:solidFill>
                  <a:prstClr val="black"/>
                </a:solidFill>
                <a:ea typeface="ＭＳ Ｐゴシック" panose="020B0600070205080204" pitchFamily="34" charset="-128"/>
              </a:rPr>
              <a:t>p</a:t>
            </a:r>
            <a:r>
              <a:rPr lang="en-US" altLang="en-US" sz="2100" dirty="0" err="1">
                <a:solidFill>
                  <a:prstClr val="black"/>
                </a:solidFill>
                <a:ea typeface="ＭＳ Ｐゴシック" panose="020B0600070205080204" pitchFamily="34" charset="-128"/>
              </a:rPr>
              <a:t>acket</a:t>
            </a:r>
            <a:r>
              <a:rPr lang="en-US" altLang="en-US" sz="2100" dirty="0">
                <a:solidFill>
                  <a:prstClr val="black"/>
                </a:solidFill>
                <a:ea typeface="ＭＳ Ｐゴシック" panose="020B0600070205080204" pitchFamily="34" charset="-128"/>
              </a:rPr>
              <a:t> loss (buffer overflow at routers)</a:t>
            </a:r>
          </a:p>
          <a:p>
            <a:pPr fontAlgn="auto">
              <a:spcAft>
                <a:spcPts val="0"/>
              </a:spcAft>
              <a:defRPr/>
            </a:pPr>
            <a:endParaRPr lang="en-US" altLang="en-US" sz="1800" dirty="0">
              <a:solidFill>
                <a:prstClr val="black"/>
              </a:solidFill>
              <a:ea typeface="ＭＳ Ｐゴシック" panose="020B0600070205080204" pitchFamily="34" charset="-128"/>
            </a:endParaRPr>
          </a:p>
        </p:txBody>
      </p:sp>
      <p:sp>
        <p:nvSpPr>
          <p:cNvPr id="6" name="Rectangle 3">
            <a:extLst>
              <a:ext uri="{FF2B5EF4-FFF2-40B4-BE49-F238E27FC236}">
                <a16:creationId xmlns:a16="http://schemas.microsoft.com/office/drawing/2014/main" id="{ACFC6554-1CEB-8346-AF21-152FD0AE2BDD}"/>
              </a:ext>
            </a:extLst>
          </p:cNvPr>
          <p:cNvSpPr txBox="1">
            <a:spLocks noChangeArrowheads="1"/>
          </p:cNvSpPr>
          <p:nvPr/>
        </p:nvSpPr>
        <p:spPr>
          <a:xfrm>
            <a:off x="542004" y="3689700"/>
            <a:ext cx="8232962" cy="762470"/>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fontAlgn="auto">
              <a:spcAft>
                <a:spcPts val="0"/>
              </a:spcAft>
              <a:buNone/>
              <a:defRPr/>
            </a:pPr>
            <a:endParaRPr lang="en-US" altLang="en-US" sz="2100" dirty="0">
              <a:solidFill>
                <a:prstClr val="black"/>
              </a:solidFill>
              <a:ea typeface="ＭＳ Ｐゴシック" panose="020B0600070205080204" pitchFamily="34" charset="-128"/>
            </a:endParaRPr>
          </a:p>
          <a:p>
            <a:pPr fontAlgn="auto">
              <a:spcAft>
                <a:spcPts val="0"/>
              </a:spcAft>
              <a:defRPr/>
            </a:pPr>
            <a:r>
              <a:rPr lang="en-US" altLang="en-US" sz="2100" dirty="0">
                <a:solidFill>
                  <a:prstClr val="black"/>
                </a:solidFill>
                <a:ea typeface="ＭＳ Ｐゴシック" panose="020B0600070205080204" pitchFamily="34" charset="-128"/>
              </a:rPr>
              <a:t>different from flow control!</a:t>
            </a: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79967" y="1074244"/>
            <a:ext cx="8544983" cy="670967"/>
          </a:xfrm>
        </p:spPr>
        <p:txBody>
          <a:bodyPr>
            <a:normAutofit/>
          </a:bodyPr>
          <a:lstStyle/>
          <a:p>
            <a:r>
              <a:rPr lang="en-US" sz="3600" dirty="0"/>
              <a:t>Principles of congestion control</a:t>
            </a:r>
            <a:endParaRPr lang="en-US" b="0" dirty="0"/>
          </a:p>
        </p:txBody>
      </p:sp>
      <p:grpSp>
        <p:nvGrpSpPr>
          <p:cNvPr id="10" name="Group 9">
            <a:extLst>
              <a:ext uri="{FF2B5EF4-FFF2-40B4-BE49-F238E27FC236}">
                <a16:creationId xmlns:a16="http://schemas.microsoft.com/office/drawing/2014/main" id="{F801E622-8D2F-5C40-BD60-438B29523DDB}"/>
              </a:ext>
            </a:extLst>
          </p:cNvPr>
          <p:cNvGrpSpPr/>
          <p:nvPr/>
        </p:nvGrpSpPr>
        <p:grpSpPr>
          <a:xfrm>
            <a:off x="6515104" y="2910348"/>
            <a:ext cx="2079523" cy="2141492"/>
            <a:chOff x="8878529" y="2737463"/>
            <a:chExt cx="2772697" cy="2855323"/>
          </a:xfrm>
        </p:grpSpPr>
        <p:pic>
          <p:nvPicPr>
            <p:cNvPr id="1028" name="Picture 4" descr="Why traffic apps make congestion worse | Berkeley News">
              <a:extLst>
                <a:ext uri="{FF2B5EF4-FFF2-40B4-BE49-F238E27FC236}">
                  <a16:creationId xmlns:a16="http://schemas.microsoft.com/office/drawing/2014/main" id="{5A685C73-1A7D-7448-83D5-182E1DF289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78529" y="2737463"/>
              <a:ext cx="2595716" cy="17304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CEBCDC3-59AA-0043-9771-3FAB71AFCDB3}"/>
                </a:ext>
              </a:extLst>
            </p:cNvPr>
            <p:cNvSpPr txBox="1"/>
            <p:nvPr/>
          </p:nvSpPr>
          <p:spPr>
            <a:xfrm>
              <a:off x="9085008" y="4454013"/>
              <a:ext cx="2566218" cy="1138773"/>
            </a:xfrm>
            <a:prstGeom prst="rect">
              <a:avLst/>
            </a:prstGeom>
            <a:noFill/>
          </p:spPr>
          <p:txBody>
            <a:bodyPr wrap="square" rtlCol="0">
              <a:spAutoFit/>
            </a:bodyPr>
            <a:lstStyle/>
            <a:p>
              <a:pPr algn="r" eaLnBrk="1" fontAlgn="auto" hangingPunct="1">
                <a:spcBef>
                  <a:spcPts val="0"/>
                </a:spcBef>
                <a:spcAft>
                  <a:spcPts val="0"/>
                </a:spcAft>
                <a:defRPr/>
              </a:pPr>
              <a:r>
                <a:rPr lang="en-US" sz="1800" dirty="0">
                  <a:solidFill>
                    <a:srgbClr val="C00000"/>
                  </a:solidFill>
                  <a:latin typeface="Calibri"/>
                  <a:ea typeface="+mn-ea"/>
                </a:rPr>
                <a:t>congestion control: </a:t>
              </a:r>
              <a:r>
                <a:rPr lang="en-US" sz="1350" dirty="0">
                  <a:solidFill>
                    <a:prstClr val="black"/>
                  </a:solidFill>
                  <a:latin typeface="Calibri"/>
                  <a:ea typeface="+mn-ea"/>
                </a:rPr>
                <a:t>too many senders, sending too fast</a:t>
              </a:r>
            </a:p>
          </p:txBody>
        </p:sp>
      </p:grpSp>
      <p:grpSp>
        <p:nvGrpSpPr>
          <p:cNvPr id="13" name="Group 12">
            <a:extLst>
              <a:ext uri="{FF2B5EF4-FFF2-40B4-BE49-F238E27FC236}">
                <a16:creationId xmlns:a16="http://schemas.microsoft.com/office/drawing/2014/main" id="{440B5036-A83C-3D40-89CC-21D122E3DAA4}"/>
              </a:ext>
            </a:extLst>
          </p:cNvPr>
          <p:cNvGrpSpPr/>
          <p:nvPr/>
        </p:nvGrpSpPr>
        <p:grpSpPr>
          <a:xfrm>
            <a:off x="4302845" y="4175640"/>
            <a:ext cx="4395018" cy="1487793"/>
            <a:chOff x="5869858" y="4586748"/>
            <a:chExt cx="5860024" cy="1983725"/>
          </a:xfrm>
        </p:grpSpPr>
        <p:grpSp>
          <p:nvGrpSpPr>
            <p:cNvPr id="3" name="Group 2">
              <a:extLst>
                <a:ext uri="{FF2B5EF4-FFF2-40B4-BE49-F238E27FC236}">
                  <a16:creationId xmlns:a16="http://schemas.microsoft.com/office/drawing/2014/main" id="{460EE1F0-777A-5549-B373-8500229D882B}"/>
                </a:ext>
              </a:extLst>
            </p:cNvPr>
            <p:cNvGrpSpPr/>
            <p:nvPr/>
          </p:nvGrpSpPr>
          <p:grpSpPr>
            <a:xfrm>
              <a:off x="5869858" y="4586748"/>
              <a:ext cx="2882176" cy="1915023"/>
              <a:chOff x="6998772" y="3064248"/>
              <a:chExt cx="4393223" cy="2995072"/>
            </a:xfrm>
          </p:grpSpPr>
          <p:pic>
            <p:nvPicPr>
              <p:cNvPr id="7" name="Picture 2" descr="Drinking from the Firehose: How VividCortex Compresses its Metrics">
                <a:extLst>
                  <a:ext uri="{FF2B5EF4-FFF2-40B4-BE49-F238E27FC236}">
                    <a16:creationId xmlns:a16="http://schemas.microsoft.com/office/drawing/2014/main" id="{93C006A2-5EEC-1743-AF87-E45D3E90A07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73303" y="4248105"/>
                <a:ext cx="3018692" cy="181121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Drinking From the Information Firehose">
                <a:extLst>
                  <a:ext uri="{FF2B5EF4-FFF2-40B4-BE49-F238E27FC236}">
                    <a16:creationId xmlns:a16="http://schemas.microsoft.com/office/drawing/2014/main" id="{540A1142-4C15-BA4C-BA82-A4861EB7D4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98772" y="3064248"/>
                <a:ext cx="2699594" cy="1781732"/>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TextBox 10">
              <a:extLst>
                <a:ext uri="{FF2B5EF4-FFF2-40B4-BE49-F238E27FC236}">
                  <a16:creationId xmlns:a16="http://schemas.microsoft.com/office/drawing/2014/main" id="{DB5BA06D-3B74-5348-8D35-1DEBB37E8FA0}"/>
                </a:ext>
              </a:extLst>
            </p:cNvPr>
            <p:cNvSpPr txBox="1"/>
            <p:nvPr/>
          </p:nvSpPr>
          <p:spPr>
            <a:xfrm>
              <a:off x="8794953" y="5801032"/>
              <a:ext cx="2934929" cy="769441"/>
            </a:xfrm>
            <a:prstGeom prst="rect">
              <a:avLst/>
            </a:prstGeom>
            <a:noFill/>
          </p:spPr>
          <p:txBody>
            <a:bodyPr wrap="square" rtlCol="0">
              <a:spAutoFit/>
            </a:bodyPr>
            <a:lstStyle/>
            <a:p>
              <a:pPr eaLnBrk="1" fontAlgn="auto" hangingPunct="1">
                <a:spcBef>
                  <a:spcPts val="0"/>
                </a:spcBef>
                <a:spcAft>
                  <a:spcPts val="0"/>
                </a:spcAft>
                <a:defRPr/>
              </a:pPr>
              <a:r>
                <a:rPr lang="en-US" sz="1800" dirty="0">
                  <a:solidFill>
                    <a:srgbClr val="C00000"/>
                  </a:solidFill>
                  <a:latin typeface="Calibri"/>
                  <a:ea typeface="+mn-ea"/>
                </a:rPr>
                <a:t>flow control: </a:t>
              </a:r>
              <a:r>
                <a:rPr lang="en-US" sz="1350" dirty="0">
                  <a:solidFill>
                    <a:prstClr val="black"/>
                  </a:solidFill>
                  <a:latin typeface="Calibri"/>
                  <a:ea typeface="+mn-ea"/>
                </a:rPr>
                <a:t>one sender too fast for one receiver</a:t>
              </a:r>
            </a:p>
          </p:txBody>
        </p:sp>
      </p:grpSp>
      <p:sp>
        <p:nvSpPr>
          <p:cNvPr id="12" name="Rectangle 3">
            <a:extLst>
              <a:ext uri="{FF2B5EF4-FFF2-40B4-BE49-F238E27FC236}">
                <a16:creationId xmlns:a16="http://schemas.microsoft.com/office/drawing/2014/main" id="{EAFB275C-622F-0342-A28A-15D9EA67D3AB}"/>
              </a:ext>
            </a:extLst>
          </p:cNvPr>
          <p:cNvSpPr txBox="1">
            <a:spLocks noChangeArrowheads="1"/>
          </p:cNvSpPr>
          <p:nvPr/>
        </p:nvSpPr>
        <p:spPr>
          <a:xfrm>
            <a:off x="545691" y="4496414"/>
            <a:ext cx="3569109" cy="435077"/>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
                <a:srgbClr val="0013A3"/>
              </a:buClr>
              <a:defRPr/>
            </a:pPr>
            <a:r>
              <a:rPr lang="en-US" altLang="en-US" sz="2100" dirty="0">
                <a:solidFill>
                  <a:prstClr val="black"/>
                </a:solidFill>
                <a:ea typeface="ＭＳ Ｐゴシック" panose="020B0600070205080204" pitchFamily="34" charset="-128"/>
              </a:rPr>
              <a:t>a top-10 problem!</a:t>
            </a:r>
          </a:p>
          <a:p>
            <a:pPr fontAlgn="auto">
              <a:spcAft>
                <a:spcPts val="0"/>
              </a:spcAft>
              <a:defRPr/>
            </a:pPr>
            <a:endParaRPr lang="en-US" altLang="en-US" sz="1800" dirty="0">
              <a:solidFill>
                <a:prstClr val="black"/>
              </a:solidFill>
              <a:ea typeface="ＭＳ Ｐゴシック" panose="020B0600070205080204" pitchFamily="34" charset="-128"/>
            </a:endParaRPr>
          </a:p>
        </p:txBody>
      </p:sp>
      <p:sp>
        <p:nvSpPr>
          <p:cNvPr id="14" name="Slide Number Placeholder 2">
            <a:extLst>
              <a:ext uri="{FF2B5EF4-FFF2-40B4-BE49-F238E27FC236}">
                <a16:creationId xmlns:a16="http://schemas.microsoft.com/office/drawing/2014/main" id="{C3383268-A75C-1640-B637-852081D53854}"/>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80</a:t>
            </a:fld>
            <a:endParaRPr lang="en-US" dirty="0">
              <a:solidFill>
                <a:prstClr val="white">
                  <a:lumMod val="50000"/>
                </a:prstClr>
              </a:solidFill>
            </a:endParaRPr>
          </a:p>
        </p:txBody>
      </p:sp>
    </p:spTree>
    <p:extLst>
      <p:ext uri="{BB962C8B-B14F-4D97-AF65-F5344CB8AC3E}">
        <p14:creationId xmlns:p14="http://schemas.microsoft.com/office/powerpoint/2010/main" val="3842837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dissolv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7" name="Group 176">
            <a:extLst>
              <a:ext uri="{FF2B5EF4-FFF2-40B4-BE49-F238E27FC236}">
                <a16:creationId xmlns:a16="http://schemas.microsoft.com/office/drawing/2014/main" id="{06DD7C50-58C4-B34F-A819-0EADD89C2A37}"/>
              </a:ext>
            </a:extLst>
          </p:cNvPr>
          <p:cNvGrpSpPr/>
          <p:nvPr/>
        </p:nvGrpSpPr>
        <p:grpSpPr>
          <a:xfrm>
            <a:off x="7857686" y="2633741"/>
            <a:ext cx="538401" cy="865856"/>
            <a:chOff x="7664720" y="2795550"/>
            <a:chExt cx="717868" cy="1154474"/>
          </a:xfrm>
        </p:grpSpPr>
        <p:sp>
          <p:nvSpPr>
            <p:cNvPr id="178" name="Rectangle 177">
              <a:extLst>
                <a:ext uri="{FF2B5EF4-FFF2-40B4-BE49-F238E27FC236}">
                  <a16:creationId xmlns:a16="http://schemas.microsoft.com/office/drawing/2014/main" id="{F52B9B30-D973-4342-9353-3C55976BEB6A}"/>
                </a:ext>
              </a:extLst>
            </p:cNvPr>
            <p:cNvSpPr/>
            <p:nvPr/>
          </p:nvSpPr>
          <p:spPr>
            <a:xfrm>
              <a:off x="7671781" y="2795550"/>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cxnSp>
          <p:nvCxnSpPr>
            <p:cNvPr id="179" name="Straight Connector 178">
              <a:extLst>
                <a:ext uri="{FF2B5EF4-FFF2-40B4-BE49-F238E27FC236}">
                  <a16:creationId xmlns:a16="http://schemas.microsoft.com/office/drawing/2014/main" id="{224EADA8-9231-C54D-B660-93136571FE39}"/>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EB564AD7-6052-D74E-AFB8-443721B0BA8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BC030439-89A7-D141-93A0-55E98A03659C}"/>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A29CBFF5-3970-894F-B8C7-846B6CF65EF2}"/>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2" name="Freeform 270">
            <a:extLst>
              <a:ext uri="{FF2B5EF4-FFF2-40B4-BE49-F238E27FC236}">
                <a16:creationId xmlns:a16="http://schemas.microsoft.com/office/drawing/2014/main" id="{CE7C7371-97B5-C346-A95F-94B2CF95CEF8}"/>
              </a:ext>
            </a:extLst>
          </p:cNvPr>
          <p:cNvSpPr>
            <a:spLocks/>
          </p:cNvSpPr>
          <p:nvPr/>
        </p:nvSpPr>
        <p:spPr bwMode="auto">
          <a:xfrm flipH="1">
            <a:off x="5107550" y="2586037"/>
            <a:ext cx="188119" cy="901304"/>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grpSp>
        <p:nvGrpSpPr>
          <p:cNvPr id="134" name="Group 354">
            <a:extLst>
              <a:ext uri="{FF2B5EF4-FFF2-40B4-BE49-F238E27FC236}">
                <a16:creationId xmlns:a16="http://schemas.microsoft.com/office/drawing/2014/main" id="{1BCC2894-BF9B-8F46-AA42-B55DC303E1A8}"/>
              </a:ext>
            </a:extLst>
          </p:cNvPr>
          <p:cNvGrpSpPr>
            <a:grpSpLocks/>
          </p:cNvGrpSpPr>
          <p:nvPr/>
        </p:nvGrpSpPr>
        <p:grpSpPr bwMode="auto">
          <a:xfrm>
            <a:off x="4803940" y="3289698"/>
            <a:ext cx="394097" cy="326231"/>
            <a:chOff x="-44" y="1473"/>
            <a:chExt cx="981" cy="1105"/>
          </a:xfrm>
        </p:grpSpPr>
        <p:pic>
          <p:nvPicPr>
            <p:cNvPr id="135" name="Picture 355" descr="desktop_computer_stylized_medium">
              <a:extLst>
                <a:ext uri="{FF2B5EF4-FFF2-40B4-BE49-F238E27FC236}">
                  <a16:creationId xmlns:a16="http://schemas.microsoft.com/office/drawing/2014/main" id="{3E99589F-1E40-7C43-B8AA-5029A4A263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 name="Freeform 356">
              <a:extLst>
                <a:ext uri="{FF2B5EF4-FFF2-40B4-BE49-F238E27FC236}">
                  <a16:creationId xmlns:a16="http://schemas.microsoft.com/office/drawing/2014/main" id="{B3DD6BB4-576F-9148-8D11-578565B5887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137" name="Group 136">
            <a:extLst>
              <a:ext uri="{FF2B5EF4-FFF2-40B4-BE49-F238E27FC236}">
                <a16:creationId xmlns:a16="http://schemas.microsoft.com/office/drawing/2014/main" id="{147F56F3-1CFD-5745-9F94-FFAF782BC64A}"/>
              </a:ext>
            </a:extLst>
          </p:cNvPr>
          <p:cNvGrpSpPr/>
          <p:nvPr/>
        </p:nvGrpSpPr>
        <p:grpSpPr>
          <a:xfrm>
            <a:off x="5283965" y="2628808"/>
            <a:ext cx="538401" cy="865856"/>
            <a:chOff x="7664720" y="2799688"/>
            <a:chExt cx="717868" cy="1154474"/>
          </a:xfrm>
        </p:grpSpPr>
        <p:sp>
          <p:nvSpPr>
            <p:cNvPr id="138" name="Rectangle 137">
              <a:extLst>
                <a:ext uri="{FF2B5EF4-FFF2-40B4-BE49-F238E27FC236}">
                  <a16:creationId xmlns:a16="http://schemas.microsoft.com/office/drawing/2014/main" id="{12A18A2C-071A-724E-ABAB-EE121ADBCB05}"/>
                </a:ext>
              </a:extLst>
            </p:cNvPr>
            <p:cNvSpPr/>
            <p:nvPr/>
          </p:nvSpPr>
          <p:spPr>
            <a:xfrm>
              <a:off x="7671781" y="2799688"/>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cxnSp>
          <p:nvCxnSpPr>
            <p:cNvPr id="139" name="Straight Connector 138">
              <a:extLst>
                <a:ext uri="{FF2B5EF4-FFF2-40B4-BE49-F238E27FC236}">
                  <a16:creationId xmlns:a16="http://schemas.microsoft.com/office/drawing/2014/main" id="{5A246001-6FA7-F047-AECA-800C5A5F30CD}"/>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407FE2E-B4F8-E142-9856-65C553F4A8E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0F241007-617C-9B47-BDCF-F85615C450A7}"/>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2AB2A72B-F1C5-4049-8439-AABBF750CD86}"/>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289"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663677" y="2311735"/>
            <a:ext cx="4171950" cy="1902326"/>
          </a:xfrm>
        </p:spPr>
        <p:txBody>
          <a:bodyPr>
            <a:normAutofit lnSpcReduction="10000"/>
          </a:bodyPr>
          <a:lstStyle/>
          <a:p>
            <a:pPr>
              <a:buFont typeface="Wingdings" charset="0"/>
              <a:buNone/>
              <a:defRPr/>
            </a:pPr>
            <a:r>
              <a:rPr lang="en-US" sz="2400" dirty="0">
                <a:solidFill>
                  <a:srgbClr val="C00000"/>
                </a:solidFill>
              </a:rPr>
              <a:t>End-end congestion control:</a:t>
            </a:r>
          </a:p>
          <a:p>
            <a:pPr marL="350044" indent="-252413">
              <a:defRPr/>
            </a:pPr>
            <a:r>
              <a:rPr lang="en-US" sz="2400" dirty="0"/>
              <a:t>no explicit feedback from network</a:t>
            </a:r>
          </a:p>
          <a:p>
            <a:pPr marL="350044" indent="-252413">
              <a:defRPr/>
            </a:pPr>
            <a:r>
              <a:rPr lang="en-US" sz="2400" dirty="0"/>
              <a:t>congestion </a:t>
            </a:r>
            <a:r>
              <a:rPr lang="en-US" sz="2400" i="1" dirty="0">
                <a:solidFill>
                  <a:srgbClr val="C00000"/>
                </a:solidFill>
              </a:rPr>
              <a:t>inferred</a:t>
            </a:r>
            <a:r>
              <a:rPr lang="en-US" sz="2400" dirty="0"/>
              <a:t> from observed loss, delay</a:t>
            </a:r>
          </a:p>
        </p:txBody>
      </p:sp>
      <p:sp>
        <p:nvSpPr>
          <p:cNvPr id="97284"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p:txBody>
          <a:bodyPr>
            <a:normAutofit/>
          </a:bodyPr>
          <a:lstStyle/>
          <a:p>
            <a:pPr>
              <a:defRPr/>
            </a:pPr>
            <a:r>
              <a:rPr lang="en-US" sz="3600" dirty="0"/>
              <a:t>Approaches towards congestion control</a:t>
            </a:r>
            <a:endParaRPr lang="en-US" sz="4050" dirty="0"/>
          </a:p>
        </p:txBody>
      </p:sp>
      <p:sp>
        <p:nvSpPr>
          <p:cNvPr id="15" name="Freeform 2">
            <a:extLst>
              <a:ext uri="{FF2B5EF4-FFF2-40B4-BE49-F238E27FC236}">
                <a16:creationId xmlns:a16="http://schemas.microsoft.com/office/drawing/2014/main" id="{152A9AF6-236E-E947-A90D-95476DF178A8}"/>
              </a:ext>
            </a:extLst>
          </p:cNvPr>
          <p:cNvSpPr>
            <a:spLocks/>
          </p:cNvSpPr>
          <p:nvPr/>
        </p:nvSpPr>
        <p:spPr bwMode="auto">
          <a:xfrm>
            <a:off x="5756939" y="3451549"/>
            <a:ext cx="2136653" cy="1110680"/>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defRPr/>
            </a:pPr>
            <a:endParaRPr lang="en-US" sz="1800" kern="0">
              <a:solidFill>
                <a:srgbClr val="000000"/>
              </a:solidFill>
              <a:cs typeface="Arial"/>
            </a:endParaRPr>
          </a:p>
        </p:txBody>
      </p:sp>
      <p:sp>
        <p:nvSpPr>
          <p:cNvPr id="16" name="Freeform 6">
            <a:extLst>
              <a:ext uri="{FF2B5EF4-FFF2-40B4-BE49-F238E27FC236}">
                <a16:creationId xmlns:a16="http://schemas.microsoft.com/office/drawing/2014/main" id="{57E9EEA9-F362-5541-9FCC-5483A233137E}"/>
              </a:ext>
            </a:extLst>
          </p:cNvPr>
          <p:cNvSpPr>
            <a:spLocks/>
          </p:cNvSpPr>
          <p:nvPr/>
        </p:nvSpPr>
        <p:spPr bwMode="auto">
          <a:xfrm>
            <a:off x="6235720" y="3678924"/>
            <a:ext cx="407322" cy="221422"/>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17" name="Freeform 91">
            <a:extLst>
              <a:ext uri="{FF2B5EF4-FFF2-40B4-BE49-F238E27FC236}">
                <a16:creationId xmlns:a16="http://schemas.microsoft.com/office/drawing/2014/main" id="{E427D45F-306D-1B44-BF5E-891FCB01E246}"/>
              </a:ext>
            </a:extLst>
          </p:cNvPr>
          <p:cNvSpPr>
            <a:spLocks/>
          </p:cNvSpPr>
          <p:nvPr/>
        </p:nvSpPr>
        <p:spPr bwMode="auto">
          <a:xfrm>
            <a:off x="7017016" y="3674162"/>
            <a:ext cx="378738" cy="23094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18" name="Freeform 92">
            <a:extLst>
              <a:ext uri="{FF2B5EF4-FFF2-40B4-BE49-F238E27FC236}">
                <a16:creationId xmlns:a16="http://schemas.microsoft.com/office/drawing/2014/main" id="{F209776F-AA9D-E941-ADBB-CB44422BD081}"/>
              </a:ext>
            </a:extLst>
          </p:cNvPr>
          <p:cNvSpPr>
            <a:spLocks/>
          </p:cNvSpPr>
          <p:nvPr/>
        </p:nvSpPr>
        <p:spPr bwMode="auto">
          <a:xfrm>
            <a:off x="6217855" y="3968200"/>
            <a:ext cx="360873" cy="178566"/>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19" name="Freeform 93">
            <a:extLst>
              <a:ext uri="{FF2B5EF4-FFF2-40B4-BE49-F238E27FC236}">
                <a16:creationId xmlns:a16="http://schemas.microsoft.com/office/drawing/2014/main" id="{8B9D5253-F5A6-2746-81DB-996216E1FB97}"/>
              </a:ext>
            </a:extLst>
          </p:cNvPr>
          <p:cNvSpPr>
            <a:spLocks/>
          </p:cNvSpPr>
          <p:nvPr/>
        </p:nvSpPr>
        <p:spPr bwMode="auto">
          <a:xfrm>
            <a:off x="6928882" y="3950344"/>
            <a:ext cx="471636" cy="185708"/>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20" name="Freeform 94">
            <a:extLst>
              <a:ext uri="{FF2B5EF4-FFF2-40B4-BE49-F238E27FC236}">
                <a16:creationId xmlns:a16="http://schemas.microsoft.com/office/drawing/2014/main" id="{61F0A20F-097C-EA42-809A-3298AB6693B1}"/>
              </a:ext>
            </a:extLst>
          </p:cNvPr>
          <p:cNvSpPr>
            <a:spLocks/>
          </p:cNvSpPr>
          <p:nvPr/>
        </p:nvSpPr>
        <p:spPr bwMode="auto">
          <a:xfrm>
            <a:off x="7429102" y="3990818"/>
            <a:ext cx="154830" cy="38094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21" name="Freeform 95">
            <a:extLst>
              <a:ext uri="{FF2B5EF4-FFF2-40B4-BE49-F238E27FC236}">
                <a16:creationId xmlns:a16="http://schemas.microsoft.com/office/drawing/2014/main" id="{424EA790-DC83-AE41-B59F-CDBDBE0981CB}"/>
              </a:ext>
            </a:extLst>
          </p:cNvPr>
          <p:cNvSpPr>
            <a:spLocks/>
          </p:cNvSpPr>
          <p:nvPr/>
        </p:nvSpPr>
        <p:spPr bwMode="auto">
          <a:xfrm>
            <a:off x="6502504" y="4390806"/>
            <a:ext cx="552624" cy="55951"/>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22" name="Freeform 96">
            <a:extLst>
              <a:ext uri="{FF2B5EF4-FFF2-40B4-BE49-F238E27FC236}">
                <a16:creationId xmlns:a16="http://schemas.microsoft.com/office/drawing/2014/main" id="{72EB3BD6-9F21-2342-8AED-3E9F67894AD9}"/>
              </a:ext>
            </a:extLst>
          </p:cNvPr>
          <p:cNvSpPr>
            <a:spLocks/>
          </p:cNvSpPr>
          <p:nvPr/>
        </p:nvSpPr>
        <p:spPr bwMode="auto">
          <a:xfrm>
            <a:off x="6099946" y="3986057"/>
            <a:ext cx="145302" cy="319037"/>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grpSp>
        <p:nvGrpSpPr>
          <p:cNvPr id="71" name="Group 70">
            <a:extLst>
              <a:ext uri="{FF2B5EF4-FFF2-40B4-BE49-F238E27FC236}">
                <a16:creationId xmlns:a16="http://schemas.microsoft.com/office/drawing/2014/main" id="{475DCF5F-4092-2C43-896B-19822B08E6B5}"/>
              </a:ext>
            </a:extLst>
          </p:cNvPr>
          <p:cNvGrpSpPr/>
          <p:nvPr/>
        </p:nvGrpSpPr>
        <p:grpSpPr>
          <a:xfrm>
            <a:off x="7289801" y="3817014"/>
            <a:ext cx="433524" cy="214280"/>
            <a:chOff x="7493876" y="2774731"/>
            <a:chExt cx="1481958" cy="894622"/>
          </a:xfrm>
        </p:grpSpPr>
        <p:sp>
          <p:nvSpPr>
            <p:cNvPr id="72" name="Freeform 71">
              <a:extLst>
                <a:ext uri="{FF2B5EF4-FFF2-40B4-BE49-F238E27FC236}">
                  <a16:creationId xmlns:a16="http://schemas.microsoft.com/office/drawing/2014/main" id="{318160F9-6FEC-9A43-8802-7C6CC98A3EE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73" name="Oval 72">
              <a:extLst>
                <a:ext uri="{FF2B5EF4-FFF2-40B4-BE49-F238E27FC236}">
                  <a16:creationId xmlns:a16="http://schemas.microsoft.com/office/drawing/2014/main" id="{5375EF01-0290-9B47-8E36-E43DE1108F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74" name="Group 73">
              <a:extLst>
                <a:ext uri="{FF2B5EF4-FFF2-40B4-BE49-F238E27FC236}">
                  <a16:creationId xmlns:a16="http://schemas.microsoft.com/office/drawing/2014/main" id="{9B178D65-D230-EE4E-A397-C7BE84BE7B28}"/>
                </a:ext>
              </a:extLst>
            </p:cNvPr>
            <p:cNvGrpSpPr/>
            <p:nvPr/>
          </p:nvGrpSpPr>
          <p:grpSpPr>
            <a:xfrm>
              <a:off x="7713663" y="2848339"/>
              <a:ext cx="1042107" cy="425543"/>
              <a:chOff x="7786941" y="2884917"/>
              <a:chExt cx="897649" cy="353919"/>
            </a:xfrm>
          </p:grpSpPr>
          <p:sp>
            <p:nvSpPr>
              <p:cNvPr id="75" name="Freeform 74">
                <a:extLst>
                  <a:ext uri="{FF2B5EF4-FFF2-40B4-BE49-F238E27FC236}">
                    <a16:creationId xmlns:a16="http://schemas.microsoft.com/office/drawing/2014/main" id="{F6706B47-A3DA-2948-AE76-ECB82CD2119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76" name="Freeform 75">
                <a:extLst>
                  <a:ext uri="{FF2B5EF4-FFF2-40B4-BE49-F238E27FC236}">
                    <a16:creationId xmlns:a16="http://schemas.microsoft.com/office/drawing/2014/main" id="{6997E8A2-E352-944A-9B99-BDEBAA2024A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77" name="Freeform 76">
                <a:extLst>
                  <a:ext uri="{FF2B5EF4-FFF2-40B4-BE49-F238E27FC236}">
                    <a16:creationId xmlns:a16="http://schemas.microsoft.com/office/drawing/2014/main" id="{C5522D15-A640-D544-8C5A-740AB151741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78" name="Freeform 77">
                <a:extLst>
                  <a:ext uri="{FF2B5EF4-FFF2-40B4-BE49-F238E27FC236}">
                    <a16:creationId xmlns:a16="http://schemas.microsoft.com/office/drawing/2014/main" id="{0A657C9E-78AA-054A-8253-7E707F297A7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79" name="Group 78">
            <a:extLst>
              <a:ext uri="{FF2B5EF4-FFF2-40B4-BE49-F238E27FC236}">
                <a16:creationId xmlns:a16="http://schemas.microsoft.com/office/drawing/2014/main" id="{0703BE46-EF6B-8F4F-8103-DB506FA237F8}"/>
              </a:ext>
            </a:extLst>
          </p:cNvPr>
          <p:cNvGrpSpPr/>
          <p:nvPr/>
        </p:nvGrpSpPr>
        <p:grpSpPr>
          <a:xfrm>
            <a:off x="7013705" y="4307334"/>
            <a:ext cx="433524" cy="214280"/>
            <a:chOff x="7493876" y="2774731"/>
            <a:chExt cx="1481958" cy="894622"/>
          </a:xfrm>
        </p:grpSpPr>
        <p:sp>
          <p:nvSpPr>
            <p:cNvPr id="80" name="Freeform 79">
              <a:extLst>
                <a:ext uri="{FF2B5EF4-FFF2-40B4-BE49-F238E27FC236}">
                  <a16:creationId xmlns:a16="http://schemas.microsoft.com/office/drawing/2014/main" id="{C93DB37A-DC30-7049-A906-DE4299FCFE9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81" name="Oval 80">
              <a:extLst>
                <a:ext uri="{FF2B5EF4-FFF2-40B4-BE49-F238E27FC236}">
                  <a16:creationId xmlns:a16="http://schemas.microsoft.com/office/drawing/2014/main" id="{4D540D06-51B9-D24C-A5F5-D49982A0863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82" name="Group 81">
              <a:extLst>
                <a:ext uri="{FF2B5EF4-FFF2-40B4-BE49-F238E27FC236}">
                  <a16:creationId xmlns:a16="http://schemas.microsoft.com/office/drawing/2014/main" id="{50B97449-7EBF-F346-9FFA-F3CB1C97A6B6}"/>
                </a:ext>
              </a:extLst>
            </p:cNvPr>
            <p:cNvGrpSpPr/>
            <p:nvPr/>
          </p:nvGrpSpPr>
          <p:grpSpPr>
            <a:xfrm>
              <a:off x="7713663" y="2848339"/>
              <a:ext cx="1042107" cy="425543"/>
              <a:chOff x="7786941" y="2884917"/>
              <a:chExt cx="897649" cy="353919"/>
            </a:xfrm>
          </p:grpSpPr>
          <p:sp>
            <p:nvSpPr>
              <p:cNvPr id="83" name="Freeform 82">
                <a:extLst>
                  <a:ext uri="{FF2B5EF4-FFF2-40B4-BE49-F238E27FC236}">
                    <a16:creationId xmlns:a16="http://schemas.microsoft.com/office/drawing/2014/main" id="{1A098066-DD0C-0547-8ABC-8D18EA23F16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84" name="Freeform 83">
                <a:extLst>
                  <a:ext uri="{FF2B5EF4-FFF2-40B4-BE49-F238E27FC236}">
                    <a16:creationId xmlns:a16="http://schemas.microsoft.com/office/drawing/2014/main" id="{54B9AE5D-1C6E-8747-BA6A-CE53FF8E918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85" name="Freeform 84">
                <a:extLst>
                  <a:ext uri="{FF2B5EF4-FFF2-40B4-BE49-F238E27FC236}">
                    <a16:creationId xmlns:a16="http://schemas.microsoft.com/office/drawing/2014/main" id="{D4A0CA9E-BE5A-D743-94BD-A9A3807788B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86" name="Freeform 85">
                <a:extLst>
                  <a:ext uri="{FF2B5EF4-FFF2-40B4-BE49-F238E27FC236}">
                    <a16:creationId xmlns:a16="http://schemas.microsoft.com/office/drawing/2014/main" id="{208F4AD6-8E7A-EC46-8054-65F26912355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87" name="Group 86">
            <a:extLst>
              <a:ext uri="{FF2B5EF4-FFF2-40B4-BE49-F238E27FC236}">
                <a16:creationId xmlns:a16="http://schemas.microsoft.com/office/drawing/2014/main" id="{2174B89A-A569-2044-B74A-55933EDB42EC}"/>
              </a:ext>
            </a:extLst>
          </p:cNvPr>
          <p:cNvGrpSpPr/>
          <p:nvPr/>
        </p:nvGrpSpPr>
        <p:grpSpPr>
          <a:xfrm>
            <a:off x="6146349" y="4270832"/>
            <a:ext cx="433524" cy="214280"/>
            <a:chOff x="7493876" y="2774731"/>
            <a:chExt cx="1481958" cy="894622"/>
          </a:xfrm>
        </p:grpSpPr>
        <p:sp>
          <p:nvSpPr>
            <p:cNvPr id="88" name="Freeform 87">
              <a:extLst>
                <a:ext uri="{FF2B5EF4-FFF2-40B4-BE49-F238E27FC236}">
                  <a16:creationId xmlns:a16="http://schemas.microsoft.com/office/drawing/2014/main" id="{5E0F2D6A-4975-2240-9DBA-9752CDABCD3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89" name="Oval 88">
              <a:extLst>
                <a:ext uri="{FF2B5EF4-FFF2-40B4-BE49-F238E27FC236}">
                  <a16:creationId xmlns:a16="http://schemas.microsoft.com/office/drawing/2014/main" id="{7671BCEE-CA54-2A42-97FC-01FA73F51C9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90" name="Group 89">
              <a:extLst>
                <a:ext uri="{FF2B5EF4-FFF2-40B4-BE49-F238E27FC236}">
                  <a16:creationId xmlns:a16="http://schemas.microsoft.com/office/drawing/2014/main" id="{BB74E383-7E77-2E4D-BBB3-C0CB1C080B5D}"/>
                </a:ext>
              </a:extLst>
            </p:cNvPr>
            <p:cNvGrpSpPr/>
            <p:nvPr/>
          </p:nvGrpSpPr>
          <p:grpSpPr>
            <a:xfrm>
              <a:off x="7713663" y="2848339"/>
              <a:ext cx="1042107" cy="425543"/>
              <a:chOff x="7786941" y="2884917"/>
              <a:chExt cx="897649" cy="353919"/>
            </a:xfrm>
          </p:grpSpPr>
          <p:sp>
            <p:nvSpPr>
              <p:cNvPr id="91" name="Freeform 90">
                <a:extLst>
                  <a:ext uri="{FF2B5EF4-FFF2-40B4-BE49-F238E27FC236}">
                    <a16:creationId xmlns:a16="http://schemas.microsoft.com/office/drawing/2014/main" id="{23C2C74B-BD87-0F41-9E97-2D6D70231DE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92" name="Freeform 91">
                <a:extLst>
                  <a:ext uri="{FF2B5EF4-FFF2-40B4-BE49-F238E27FC236}">
                    <a16:creationId xmlns:a16="http://schemas.microsoft.com/office/drawing/2014/main" id="{F9A726BB-74B1-444A-9200-225EE583E8C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93" name="Freeform 92">
                <a:extLst>
                  <a:ext uri="{FF2B5EF4-FFF2-40B4-BE49-F238E27FC236}">
                    <a16:creationId xmlns:a16="http://schemas.microsoft.com/office/drawing/2014/main" id="{480EBF5E-6B8D-F547-BD3C-56A7E685D38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94" name="Freeform 93">
                <a:extLst>
                  <a:ext uri="{FF2B5EF4-FFF2-40B4-BE49-F238E27FC236}">
                    <a16:creationId xmlns:a16="http://schemas.microsoft.com/office/drawing/2014/main" id="{BD8743C8-69EE-7C4B-AAD2-C758A3F1F90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95" name="Group 94">
            <a:extLst>
              <a:ext uri="{FF2B5EF4-FFF2-40B4-BE49-F238E27FC236}">
                <a16:creationId xmlns:a16="http://schemas.microsoft.com/office/drawing/2014/main" id="{5E3371FA-1B37-E043-BBA9-FBAEC0EF06BB}"/>
              </a:ext>
            </a:extLst>
          </p:cNvPr>
          <p:cNvGrpSpPr/>
          <p:nvPr/>
        </p:nvGrpSpPr>
        <p:grpSpPr>
          <a:xfrm>
            <a:off x="6600474" y="3584283"/>
            <a:ext cx="433524" cy="214280"/>
            <a:chOff x="7493876" y="2774731"/>
            <a:chExt cx="1481958" cy="894622"/>
          </a:xfrm>
        </p:grpSpPr>
        <p:sp>
          <p:nvSpPr>
            <p:cNvPr id="96" name="Freeform 95">
              <a:extLst>
                <a:ext uri="{FF2B5EF4-FFF2-40B4-BE49-F238E27FC236}">
                  <a16:creationId xmlns:a16="http://schemas.microsoft.com/office/drawing/2014/main" id="{D3C4E5C9-0C6C-FE44-8E48-3AEAB312320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97" name="Oval 96">
              <a:extLst>
                <a:ext uri="{FF2B5EF4-FFF2-40B4-BE49-F238E27FC236}">
                  <a16:creationId xmlns:a16="http://schemas.microsoft.com/office/drawing/2014/main" id="{00F2B9E3-1FE0-3341-9F1D-E60AC91CF4F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98" name="Group 97">
              <a:extLst>
                <a:ext uri="{FF2B5EF4-FFF2-40B4-BE49-F238E27FC236}">
                  <a16:creationId xmlns:a16="http://schemas.microsoft.com/office/drawing/2014/main" id="{D9A4FE6E-757F-104A-A301-53D57A115B9D}"/>
                </a:ext>
              </a:extLst>
            </p:cNvPr>
            <p:cNvGrpSpPr/>
            <p:nvPr/>
          </p:nvGrpSpPr>
          <p:grpSpPr>
            <a:xfrm>
              <a:off x="7713663" y="2848339"/>
              <a:ext cx="1042107" cy="425543"/>
              <a:chOff x="7786941" y="2884917"/>
              <a:chExt cx="897649" cy="353919"/>
            </a:xfrm>
          </p:grpSpPr>
          <p:sp>
            <p:nvSpPr>
              <p:cNvPr id="99" name="Freeform 98">
                <a:extLst>
                  <a:ext uri="{FF2B5EF4-FFF2-40B4-BE49-F238E27FC236}">
                    <a16:creationId xmlns:a16="http://schemas.microsoft.com/office/drawing/2014/main" id="{D1C4D832-AA7B-2F44-88F3-867F1C5C739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0" name="Freeform 99">
                <a:extLst>
                  <a:ext uri="{FF2B5EF4-FFF2-40B4-BE49-F238E27FC236}">
                    <a16:creationId xmlns:a16="http://schemas.microsoft.com/office/drawing/2014/main" id="{17B4F7C5-8F07-6444-9C56-5CCC6DAD801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1" name="Freeform 100">
                <a:extLst>
                  <a:ext uri="{FF2B5EF4-FFF2-40B4-BE49-F238E27FC236}">
                    <a16:creationId xmlns:a16="http://schemas.microsoft.com/office/drawing/2014/main" id="{A4D1016A-A633-4F47-AD16-9F5C4A1B4BB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2" name="Freeform 101">
                <a:extLst>
                  <a:ext uri="{FF2B5EF4-FFF2-40B4-BE49-F238E27FC236}">
                    <a16:creationId xmlns:a16="http://schemas.microsoft.com/office/drawing/2014/main" id="{4E90D1C0-25CA-D549-8BEC-F6FC08E9AF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03" name="Group 102">
            <a:extLst>
              <a:ext uri="{FF2B5EF4-FFF2-40B4-BE49-F238E27FC236}">
                <a16:creationId xmlns:a16="http://schemas.microsoft.com/office/drawing/2014/main" id="{5E0A555A-7D83-9C41-BC45-9CE34B97A2A0}"/>
              </a:ext>
            </a:extLst>
          </p:cNvPr>
          <p:cNvGrpSpPr/>
          <p:nvPr/>
        </p:nvGrpSpPr>
        <p:grpSpPr>
          <a:xfrm>
            <a:off x="6533470" y="4032662"/>
            <a:ext cx="433524" cy="214280"/>
            <a:chOff x="7493876" y="2774731"/>
            <a:chExt cx="1481958" cy="894622"/>
          </a:xfrm>
        </p:grpSpPr>
        <p:sp>
          <p:nvSpPr>
            <p:cNvPr id="104" name="Freeform 103">
              <a:extLst>
                <a:ext uri="{FF2B5EF4-FFF2-40B4-BE49-F238E27FC236}">
                  <a16:creationId xmlns:a16="http://schemas.microsoft.com/office/drawing/2014/main" id="{0CEF8A07-20B9-AE45-8F1F-7A43CAB1D71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05" name="Oval 104">
              <a:extLst>
                <a:ext uri="{FF2B5EF4-FFF2-40B4-BE49-F238E27FC236}">
                  <a16:creationId xmlns:a16="http://schemas.microsoft.com/office/drawing/2014/main" id="{EA79D59C-1529-9C45-BD77-6FFDD5DEAA4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06" name="Group 105">
              <a:extLst>
                <a:ext uri="{FF2B5EF4-FFF2-40B4-BE49-F238E27FC236}">
                  <a16:creationId xmlns:a16="http://schemas.microsoft.com/office/drawing/2014/main" id="{E973AF34-BA3E-0A49-9E54-BD6B223BA524}"/>
                </a:ext>
              </a:extLst>
            </p:cNvPr>
            <p:cNvGrpSpPr/>
            <p:nvPr/>
          </p:nvGrpSpPr>
          <p:grpSpPr>
            <a:xfrm>
              <a:off x="7713663" y="2848339"/>
              <a:ext cx="1042107" cy="425543"/>
              <a:chOff x="7786941" y="2884917"/>
              <a:chExt cx="897649" cy="353919"/>
            </a:xfrm>
          </p:grpSpPr>
          <p:sp>
            <p:nvSpPr>
              <p:cNvPr id="107" name="Freeform 106">
                <a:extLst>
                  <a:ext uri="{FF2B5EF4-FFF2-40B4-BE49-F238E27FC236}">
                    <a16:creationId xmlns:a16="http://schemas.microsoft.com/office/drawing/2014/main" id="{C47C43C3-8FCB-5847-9007-9FF04DAF74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8" name="Freeform 107">
                <a:extLst>
                  <a:ext uri="{FF2B5EF4-FFF2-40B4-BE49-F238E27FC236}">
                    <a16:creationId xmlns:a16="http://schemas.microsoft.com/office/drawing/2014/main" id="{09F2051C-9B20-EE45-9CE2-4D3C79652D1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9" name="Freeform 108">
                <a:extLst>
                  <a:ext uri="{FF2B5EF4-FFF2-40B4-BE49-F238E27FC236}">
                    <a16:creationId xmlns:a16="http://schemas.microsoft.com/office/drawing/2014/main" id="{79216339-F1AE-4C4A-9C17-5BCC324EB3E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0" name="Freeform 109">
                <a:extLst>
                  <a:ext uri="{FF2B5EF4-FFF2-40B4-BE49-F238E27FC236}">
                    <a16:creationId xmlns:a16="http://schemas.microsoft.com/office/drawing/2014/main" id="{161D2AE2-963A-F744-92D8-01315F74683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11" name="Group 110">
            <a:extLst>
              <a:ext uri="{FF2B5EF4-FFF2-40B4-BE49-F238E27FC236}">
                <a16:creationId xmlns:a16="http://schemas.microsoft.com/office/drawing/2014/main" id="{EFB94137-26B4-A84C-B882-BC754696ADF8}"/>
              </a:ext>
            </a:extLst>
          </p:cNvPr>
          <p:cNvGrpSpPr/>
          <p:nvPr/>
        </p:nvGrpSpPr>
        <p:grpSpPr>
          <a:xfrm>
            <a:off x="5823461" y="3815385"/>
            <a:ext cx="433524" cy="214280"/>
            <a:chOff x="7493876" y="2774731"/>
            <a:chExt cx="1481958" cy="894622"/>
          </a:xfrm>
        </p:grpSpPr>
        <p:sp>
          <p:nvSpPr>
            <p:cNvPr id="112" name="Freeform 111">
              <a:extLst>
                <a:ext uri="{FF2B5EF4-FFF2-40B4-BE49-F238E27FC236}">
                  <a16:creationId xmlns:a16="http://schemas.microsoft.com/office/drawing/2014/main" id="{56959650-8F47-BD44-967D-3B54247086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113" name="Oval 112">
              <a:extLst>
                <a:ext uri="{FF2B5EF4-FFF2-40B4-BE49-F238E27FC236}">
                  <a16:creationId xmlns:a16="http://schemas.microsoft.com/office/drawing/2014/main" id="{D4F846E9-5E5D-9246-A16E-A37E1F2DB7E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114" name="Group 113">
              <a:extLst>
                <a:ext uri="{FF2B5EF4-FFF2-40B4-BE49-F238E27FC236}">
                  <a16:creationId xmlns:a16="http://schemas.microsoft.com/office/drawing/2014/main" id="{6C080F1D-CE13-8A4D-AE86-A9987401AEFE}"/>
                </a:ext>
              </a:extLst>
            </p:cNvPr>
            <p:cNvGrpSpPr/>
            <p:nvPr/>
          </p:nvGrpSpPr>
          <p:grpSpPr>
            <a:xfrm>
              <a:off x="7713663" y="2848339"/>
              <a:ext cx="1042107" cy="425543"/>
              <a:chOff x="7786941" y="2884917"/>
              <a:chExt cx="897649" cy="353919"/>
            </a:xfrm>
          </p:grpSpPr>
          <p:sp>
            <p:nvSpPr>
              <p:cNvPr id="115" name="Freeform 114">
                <a:extLst>
                  <a:ext uri="{FF2B5EF4-FFF2-40B4-BE49-F238E27FC236}">
                    <a16:creationId xmlns:a16="http://schemas.microsoft.com/office/drawing/2014/main" id="{C92B06F2-78EF-804D-8E0C-DCE71C44A56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6" name="Freeform 115">
                <a:extLst>
                  <a:ext uri="{FF2B5EF4-FFF2-40B4-BE49-F238E27FC236}">
                    <a16:creationId xmlns:a16="http://schemas.microsoft.com/office/drawing/2014/main" id="{C074DBD1-927C-2B4D-B10B-DD852445FB2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7" name="Freeform 116">
                <a:extLst>
                  <a:ext uri="{FF2B5EF4-FFF2-40B4-BE49-F238E27FC236}">
                    <a16:creationId xmlns:a16="http://schemas.microsoft.com/office/drawing/2014/main" id="{BC9D84BC-889B-C849-9229-D2795054B39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8" name="Freeform 117">
                <a:extLst>
                  <a:ext uri="{FF2B5EF4-FFF2-40B4-BE49-F238E27FC236}">
                    <a16:creationId xmlns:a16="http://schemas.microsoft.com/office/drawing/2014/main" id="{9073BE05-706B-1446-BB36-AB53194859C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3" name="Group 2">
            <a:extLst>
              <a:ext uri="{FF2B5EF4-FFF2-40B4-BE49-F238E27FC236}">
                <a16:creationId xmlns:a16="http://schemas.microsoft.com/office/drawing/2014/main" id="{C584E5A3-CC37-804B-8E37-84F25E87BC63}"/>
              </a:ext>
            </a:extLst>
          </p:cNvPr>
          <p:cNvGrpSpPr/>
          <p:nvPr/>
        </p:nvGrpSpPr>
        <p:grpSpPr>
          <a:xfrm>
            <a:off x="6650874" y="4041421"/>
            <a:ext cx="342526" cy="169911"/>
            <a:chOff x="6859123" y="5156933"/>
            <a:chExt cx="456701" cy="226548"/>
          </a:xfrm>
        </p:grpSpPr>
        <p:sp>
          <p:nvSpPr>
            <p:cNvPr id="9" name="Rectangle 8">
              <a:extLst>
                <a:ext uri="{FF2B5EF4-FFF2-40B4-BE49-F238E27FC236}">
                  <a16:creationId xmlns:a16="http://schemas.microsoft.com/office/drawing/2014/main" id="{C093256C-E351-F04F-8F57-8CBAADAD32D9}"/>
                </a:ext>
              </a:extLst>
            </p:cNvPr>
            <p:cNvSpPr/>
            <p:nvPr/>
          </p:nvSpPr>
          <p:spPr>
            <a:xfrm>
              <a:off x="6859123" y="5156933"/>
              <a:ext cx="456701" cy="226548"/>
            </a:xfrm>
            <a:prstGeom prst="rect">
              <a:avLst/>
            </a:prstGeom>
            <a:solidFill>
              <a:srgbClr val="F989B2"/>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cxnSp>
          <p:nvCxnSpPr>
            <p:cNvPr id="11" name="Straight Connector 10">
              <a:extLst>
                <a:ext uri="{FF2B5EF4-FFF2-40B4-BE49-F238E27FC236}">
                  <a16:creationId xmlns:a16="http://schemas.microsoft.com/office/drawing/2014/main" id="{0C154E25-F682-744F-8785-AB5EDB9A5A5F}"/>
                </a:ext>
              </a:extLst>
            </p:cNvPr>
            <p:cNvCxnSpPr/>
            <p:nvPr/>
          </p:nvCxnSpPr>
          <p:spPr>
            <a:xfrm flipV="1">
              <a:off x="724911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E29C5F0A-310C-1443-A4BF-D9B6A1F9EDB9}"/>
                </a:ext>
              </a:extLst>
            </p:cNvPr>
            <p:cNvCxnSpPr/>
            <p:nvPr/>
          </p:nvCxnSpPr>
          <p:spPr>
            <a:xfrm flipV="1">
              <a:off x="7197800"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B65FCB07-1990-1F40-B6A0-2DC9A68091B3}"/>
                </a:ext>
              </a:extLst>
            </p:cNvPr>
            <p:cNvCxnSpPr/>
            <p:nvPr/>
          </p:nvCxnSpPr>
          <p:spPr>
            <a:xfrm flipV="1">
              <a:off x="714648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E0B89AD6-5E3A-1642-BCCA-337C835BC035}"/>
                </a:ext>
              </a:extLst>
            </p:cNvPr>
            <p:cNvCxnSpPr/>
            <p:nvPr/>
          </p:nvCxnSpPr>
          <p:spPr>
            <a:xfrm flipV="1">
              <a:off x="709517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35A1AE44-6AB7-1949-9184-889F736756EC}"/>
                </a:ext>
              </a:extLst>
            </p:cNvPr>
            <p:cNvCxnSpPr/>
            <p:nvPr/>
          </p:nvCxnSpPr>
          <p:spPr>
            <a:xfrm flipV="1">
              <a:off x="7043856"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C564862D-347A-7E41-8F9D-0ADF80768A2B}"/>
                </a:ext>
              </a:extLst>
            </p:cNvPr>
            <p:cNvCxnSpPr/>
            <p:nvPr/>
          </p:nvCxnSpPr>
          <p:spPr>
            <a:xfrm flipV="1">
              <a:off x="699254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AC855F5F-C9C2-4744-9B1E-696B4F0DB89C}"/>
                </a:ext>
              </a:extLst>
            </p:cNvPr>
            <p:cNvCxnSpPr/>
            <p:nvPr/>
          </p:nvCxnSpPr>
          <p:spPr>
            <a:xfrm flipV="1">
              <a:off x="6941227"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2D3DD9EA-3345-8345-9221-C06D0834BC89}"/>
              </a:ext>
            </a:extLst>
          </p:cNvPr>
          <p:cNvGrpSpPr/>
          <p:nvPr/>
        </p:nvGrpSpPr>
        <p:grpSpPr>
          <a:xfrm>
            <a:off x="5571432" y="2865237"/>
            <a:ext cx="2563742" cy="1278763"/>
            <a:chOff x="7428575" y="2677315"/>
            <a:chExt cx="3418322" cy="1705017"/>
          </a:xfrm>
        </p:grpSpPr>
        <p:sp>
          <p:nvSpPr>
            <p:cNvPr id="13" name="Freeform 12">
              <a:extLst>
                <a:ext uri="{FF2B5EF4-FFF2-40B4-BE49-F238E27FC236}">
                  <a16:creationId xmlns:a16="http://schemas.microsoft.com/office/drawing/2014/main" id="{F7906425-B196-CC44-BB40-5ACEF23B0A29}"/>
                </a:ext>
              </a:extLst>
            </p:cNvPr>
            <p:cNvSpPr/>
            <p:nvPr/>
          </p:nvSpPr>
          <p:spPr>
            <a:xfrm>
              <a:off x="9335149" y="2701273"/>
              <a:ext cx="1406838" cy="168105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Lst>
              <a:ahLst/>
              <a:cxnLst>
                <a:cxn ang="0">
                  <a:pos x="connsiteX0" y="connsiteY0"/>
                </a:cxn>
                <a:cxn ang="0">
                  <a:pos x="connsiteX1" y="connsiteY1"/>
                </a:cxn>
                <a:cxn ang="0">
                  <a:pos x="connsiteX2" y="connsiteY2"/>
                </a:cxn>
                <a:cxn ang="0">
                  <a:pos x="connsiteX3" y="connsiteY3"/>
                </a:cxn>
              </a:cxnLst>
              <a:rect l="l" t="t" r="r" b="b"/>
              <a:pathLst>
                <a:path w="1541303" h="1681059">
                  <a:moveTo>
                    <a:pt x="0" y="1681059"/>
                  </a:moveTo>
                  <a:lnTo>
                    <a:pt x="539056" y="1465436"/>
                  </a:lnTo>
                  <a:lnTo>
                    <a:pt x="1541303" y="1445471"/>
                  </a:lnTo>
                  <a:lnTo>
                    <a:pt x="1525331" y="0"/>
                  </a:lnTo>
                </a:path>
              </a:pathLst>
            </a:custGeom>
            <a:noFill/>
            <a:ln w="4445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14689" name="Freeform 114688">
              <a:extLst>
                <a:ext uri="{FF2B5EF4-FFF2-40B4-BE49-F238E27FC236}">
                  <a16:creationId xmlns:a16="http://schemas.microsoft.com/office/drawing/2014/main" id="{F4B58868-99E6-0645-9773-CB66EC208FBD}"/>
                </a:ext>
              </a:extLst>
            </p:cNvPr>
            <p:cNvSpPr/>
            <p:nvPr/>
          </p:nvSpPr>
          <p:spPr>
            <a:xfrm>
              <a:off x="7473006" y="2677315"/>
              <a:ext cx="1446868" cy="1701024"/>
            </a:xfrm>
            <a:custGeom>
              <a:avLst/>
              <a:gdLst>
                <a:gd name="connsiteX0" fmla="*/ 0 w 1549289"/>
                <a:gd name="connsiteY0" fmla="*/ 0 h 1701024"/>
                <a:gd name="connsiteX1" fmla="*/ 0 w 1549289"/>
                <a:gd name="connsiteY1" fmla="*/ 1485401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85401 h 1701024"/>
                <a:gd name="connsiteX3" fmla="*/ 1549289 w 1549289"/>
                <a:gd name="connsiteY3" fmla="*/ 1701024 h 1701024"/>
              </a:gdLst>
              <a:ahLst/>
              <a:cxnLst>
                <a:cxn ang="0">
                  <a:pos x="connsiteX0" y="connsiteY0"/>
                </a:cxn>
                <a:cxn ang="0">
                  <a:pos x="connsiteX1" y="connsiteY1"/>
                </a:cxn>
                <a:cxn ang="0">
                  <a:pos x="connsiteX2" y="connsiteY2"/>
                </a:cxn>
                <a:cxn ang="0">
                  <a:pos x="connsiteX3" y="connsiteY3"/>
                </a:cxn>
              </a:cxnLst>
              <a:rect l="l" t="t" r="r" b="b"/>
              <a:pathLst>
                <a:path w="1549289" h="1701024">
                  <a:moveTo>
                    <a:pt x="0" y="0"/>
                  </a:moveTo>
                  <a:lnTo>
                    <a:pt x="7986" y="1481408"/>
                  </a:lnTo>
                  <a:lnTo>
                    <a:pt x="1030198" y="1485401"/>
                  </a:lnTo>
                  <a:lnTo>
                    <a:pt x="1549289" y="1701024"/>
                  </a:lnTo>
                </a:path>
              </a:pathLst>
            </a:custGeom>
            <a:noFill/>
            <a:ln w="3810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8" name="TextBox 7">
              <a:extLst>
                <a:ext uri="{FF2B5EF4-FFF2-40B4-BE49-F238E27FC236}">
                  <a16:creationId xmlns:a16="http://schemas.microsoft.com/office/drawing/2014/main" id="{431762DD-608F-AC4F-8D36-9BC825C14FB4}"/>
                </a:ext>
              </a:extLst>
            </p:cNvPr>
            <p:cNvSpPr txBox="1"/>
            <p:nvPr/>
          </p:nvSpPr>
          <p:spPr>
            <a:xfrm>
              <a:off x="10184578" y="3556613"/>
              <a:ext cx="662319" cy="400109"/>
            </a:xfrm>
            <a:prstGeom prst="rect">
              <a:avLst/>
            </a:prstGeom>
            <a:noFill/>
          </p:spPr>
          <p:txBody>
            <a:bodyPr wrap="none" rtlCol="0">
              <a:spAutoFit/>
            </a:bodyPr>
            <a:lstStyle/>
            <a:p>
              <a:pPr eaLnBrk="1" fontAlgn="auto" hangingPunct="1">
                <a:spcBef>
                  <a:spcPts val="0"/>
                </a:spcBef>
                <a:spcAft>
                  <a:spcPts val="0"/>
                </a:spcAft>
                <a:defRPr/>
              </a:pPr>
              <a:r>
                <a:rPr lang="en-US" sz="1350" dirty="0">
                  <a:solidFill>
                    <a:srgbClr val="5B9BD5">
                      <a:lumMod val="75000"/>
                    </a:srgbClr>
                  </a:solidFill>
                  <a:latin typeface="Calibri"/>
                  <a:ea typeface="+mn-ea"/>
                </a:rPr>
                <a:t>data</a:t>
              </a:r>
            </a:p>
          </p:txBody>
        </p:sp>
        <p:sp>
          <p:nvSpPr>
            <p:cNvPr id="129" name="TextBox 128">
              <a:extLst>
                <a:ext uri="{FF2B5EF4-FFF2-40B4-BE49-F238E27FC236}">
                  <a16:creationId xmlns:a16="http://schemas.microsoft.com/office/drawing/2014/main" id="{38081CC2-E66E-0845-8CCA-2D10C6BE30EA}"/>
                </a:ext>
              </a:extLst>
            </p:cNvPr>
            <p:cNvSpPr txBox="1"/>
            <p:nvPr/>
          </p:nvSpPr>
          <p:spPr>
            <a:xfrm>
              <a:off x="7428575" y="3517694"/>
              <a:ext cx="662319" cy="400109"/>
            </a:xfrm>
            <a:prstGeom prst="rect">
              <a:avLst/>
            </a:prstGeom>
            <a:noFill/>
          </p:spPr>
          <p:txBody>
            <a:bodyPr wrap="none" rtlCol="0">
              <a:spAutoFit/>
            </a:bodyPr>
            <a:lstStyle/>
            <a:p>
              <a:pPr eaLnBrk="1" fontAlgn="auto" hangingPunct="1">
                <a:spcBef>
                  <a:spcPts val="0"/>
                </a:spcBef>
                <a:spcAft>
                  <a:spcPts val="0"/>
                </a:spcAft>
                <a:defRPr/>
              </a:pPr>
              <a:r>
                <a:rPr lang="en-US" sz="1350" dirty="0">
                  <a:solidFill>
                    <a:srgbClr val="5B9BD5">
                      <a:lumMod val="75000"/>
                    </a:srgbClr>
                  </a:solidFill>
                  <a:latin typeface="Calibri"/>
                  <a:ea typeface="+mn-ea"/>
                </a:rPr>
                <a:t>data</a:t>
              </a:r>
            </a:p>
          </p:txBody>
        </p:sp>
      </p:grpSp>
      <p:grpSp>
        <p:nvGrpSpPr>
          <p:cNvPr id="10" name="Group 9">
            <a:extLst>
              <a:ext uri="{FF2B5EF4-FFF2-40B4-BE49-F238E27FC236}">
                <a16:creationId xmlns:a16="http://schemas.microsoft.com/office/drawing/2014/main" id="{57CD35EA-0731-A641-906C-8974E60D529B}"/>
              </a:ext>
            </a:extLst>
          </p:cNvPr>
          <p:cNvGrpSpPr/>
          <p:nvPr/>
        </p:nvGrpSpPr>
        <p:grpSpPr>
          <a:xfrm>
            <a:off x="5099714" y="2875683"/>
            <a:ext cx="3538638" cy="1370632"/>
            <a:chOff x="6799618" y="2691243"/>
            <a:chExt cx="4718184" cy="1827509"/>
          </a:xfrm>
        </p:grpSpPr>
        <p:sp>
          <p:nvSpPr>
            <p:cNvPr id="124" name="Freeform 123">
              <a:extLst>
                <a:ext uri="{FF2B5EF4-FFF2-40B4-BE49-F238E27FC236}">
                  <a16:creationId xmlns:a16="http://schemas.microsoft.com/office/drawing/2014/main" id="{809FCE5A-94F2-AB43-A427-15DC48978945}"/>
                </a:ext>
              </a:extLst>
            </p:cNvPr>
            <p:cNvSpPr/>
            <p:nvPr/>
          </p:nvSpPr>
          <p:spPr>
            <a:xfrm>
              <a:off x="7353946" y="2691243"/>
              <a:ext cx="3498244" cy="182750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 name="connsiteX0" fmla="*/ 0 w 1541303"/>
                <a:gd name="connsiteY0" fmla="*/ 1681059 h 1681059"/>
                <a:gd name="connsiteX1" fmla="*/ 539056 w 1541303"/>
                <a:gd name="connsiteY1" fmla="*/ 1465436 h 1681059"/>
                <a:gd name="connsiteX2" fmla="*/ 920408 w 1541303"/>
                <a:gd name="connsiteY2" fmla="*/ 1455758 h 1681059"/>
                <a:gd name="connsiteX3" fmla="*/ 1541303 w 1541303"/>
                <a:gd name="connsiteY3" fmla="*/ 1445471 h 1681059"/>
                <a:gd name="connsiteX4" fmla="*/ 1525331 w 1541303"/>
                <a:gd name="connsiteY4" fmla="*/ 0 h 1681059"/>
                <a:gd name="connsiteX0" fmla="*/ 0 w 1541303"/>
                <a:gd name="connsiteY0" fmla="*/ 1681059 h 1681059"/>
                <a:gd name="connsiteX1" fmla="*/ 373242 w 1541303"/>
                <a:gd name="connsiteY1" fmla="*/ 1536549 h 1681059"/>
                <a:gd name="connsiteX2" fmla="*/ 539056 w 1541303"/>
                <a:gd name="connsiteY2" fmla="*/ 1465436 h 1681059"/>
                <a:gd name="connsiteX3" fmla="*/ 920408 w 1541303"/>
                <a:gd name="connsiteY3" fmla="*/ 1455758 h 1681059"/>
                <a:gd name="connsiteX4" fmla="*/ 1541303 w 1541303"/>
                <a:gd name="connsiteY4" fmla="*/ 1445471 h 1681059"/>
                <a:gd name="connsiteX5" fmla="*/ 1525331 w 1541303"/>
                <a:gd name="connsiteY5" fmla="*/ 0 h 1681059"/>
                <a:gd name="connsiteX0" fmla="*/ 0 w 1541303"/>
                <a:gd name="connsiteY0" fmla="*/ 1681059 h 1681059"/>
                <a:gd name="connsiteX1" fmla="*/ 373242 w 1541303"/>
                <a:gd name="connsiteY1" fmla="*/ 1536549 h 1681059"/>
                <a:gd name="connsiteX2" fmla="*/ 232427 w 1541303"/>
                <a:gd name="connsiteY2" fmla="*/ 1591633 h 1681059"/>
                <a:gd name="connsiteX3" fmla="*/ 539056 w 1541303"/>
                <a:gd name="connsiteY3" fmla="*/ 1465436 h 1681059"/>
                <a:gd name="connsiteX4" fmla="*/ 920408 w 1541303"/>
                <a:gd name="connsiteY4" fmla="*/ 1455758 h 1681059"/>
                <a:gd name="connsiteX5" fmla="*/ 1541303 w 1541303"/>
                <a:gd name="connsiteY5" fmla="*/ 1445471 h 1681059"/>
                <a:gd name="connsiteX6" fmla="*/ 1525331 w 1541303"/>
                <a:gd name="connsiteY6" fmla="*/ 0 h 1681059"/>
                <a:gd name="connsiteX0" fmla="*/ 0 w 3882856"/>
                <a:gd name="connsiteY0" fmla="*/ 142370 h 1591633"/>
                <a:gd name="connsiteX1" fmla="*/ 2714795 w 3882856"/>
                <a:gd name="connsiteY1" fmla="*/ 1536549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0 w 3882856"/>
                <a:gd name="connsiteY0" fmla="*/ 142370 h 1591633"/>
                <a:gd name="connsiteX1" fmla="*/ 2163604 w 3882856"/>
                <a:gd name="connsiteY1" fmla="*/ 1510843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33110 w 3915966"/>
                <a:gd name="connsiteY0" fmla="*/ 142370 h 1591633"/>
                <a:gd name="connsiteX1" fmla="*/ 0 w 3915966"/>
                <a:gd name="connsiteY1" fmla="*/ 1510843 h 1591633"/>
                <a:gd name="connsiteX2" fmla="*/ 2607090 w 3915966"/>
                <a:gd name="connsiteY2" fmla="*/ 1591633 h 1591633"/>
                <a:gd name="connsiteX3" fmla="*/ 2913719 w 3915966"/>
                <a:gd name="connsiteY3" fmla="*/ 1465436 h 1591633"/>
                <a:gd name="connsiteX4" fmla="*/ 3295071 w 3915966"/>
                <a:gd name="connsiteY4" fmla="*/ 1455758 h 1591633"/>
                <a:gd name="connsiteX5" fmla="*/ 3915966 w 3915966"/>
                <a:gd name="connsiteY5" fmla="*/ 1445471 h 1591633"/>
                <a:gd name="connsiteX6" fmla="*/ 3899994 w 3915966"/>
                <a:gd name="connsiteY6" fmla="*/ 0 h 1591633"/>
                <a:gd name="connsiteX0" fmla="*/ 33110 w 3915966"/>
                <a:gd name="connsiteY0" fmla="*/ 142370 h 1510843"/>
                <a:gd name="connsiteX1" fmla="*/ 0 w 3915966"/>
                <a:gd name="connsiteY1" fmla="*/ 1510843 h 1510843"/>
                <a:gd name="connsiteX2" fmla="*/ 1263312 w 3915966"/>
                <a:gd name="connsiteY2" fmla="*/ 1477792 h 1510843"/>
                <a:gd name="connsiteX3" fmla="*/ 2913719 w 3915966"/>
                <a:gd name="connsiteY3" fmla="*/ 1465436 h 1510843"/>
                <a:gd name="connsiteX4" fmla="*/ 3295071 w 3915966"/>
                <a:gd name="connsiteY4" fmla="*/ 1455758 h 1510843"/>
                <a:gd name="connsiteX5" fmla="*/ 3915966 w 3915966"/>
                <a:gd name="connsiteY5" fmla="*/ 1445471 h 1510843"/>
                <a:gd name="connsiteX6" fmla="*/ 3899994 w 3915966"/>
                <a:gd name="connsiteY6" fmla="*/ 0 h 1510843"/>
                <a:gd name="connsiteX0" fmla="*/ 33110 w 3915966"/>
                <a:gd name="connsiteY0" fmla="*/ 142370 h 1510843"/>
                <a:gd name="connsiteX1" fmla="*/ 0 w 3915966"/>
                <a:gd name="connsiteY1" fmla="*/ 1510843 h 1510843"/>
                <a:gd name="connsiteX2" fmla="*/ 1263312 w 3915966"/>
                <a:gd name="connsiteY2" fmla="*/ 1477792 h 1510843"/>
                <a:gd name="connsiteX3" fmla="*/ 2373740 w 3915966"/>
                <a:gd name="connsiteY3" fmla="*/ 1470447 h 1510843"/>
                <a:gd name="connsiteX4" fmla="*/ 2913719 w 3915966"/>
                <a:gd name="connsiteY4" fmla="*/ 1465436 h 1510843"/>
                <a:gd name="connsiteX5" fmla="*/ 3295071 w 3915966"/>
                <a:gd name="connsiteY5" fmla="*/ 1455758 h 1510843"/>
                <a:gd name="connsiteX6" fmla="*/ 3915966 w 3915966"/>
                <a:gd name="connsiteY6" fmla="*/ 1445471 h 1510843"/>
                <a:gd name="connsiteX7" fmla="*/ 3899994 w 3915966"/>
                <a:gd name="connsiteY7" fmla="*/ 0 h 1510843"/>
                <a:gd name="connsiteX0" fmla="*/ 33110 w 3915966"/>
                <a:gd name="connsiteY0" fmla="*/ 142370 h 1676095"/>
                <a:gd name="connsiteX1" fmla="*/ 0 w 3915966"/>
                <a:gd name="connsiteY1" fmla="*/ 1510843 h 1676095"/>
                <a:gd name="connsiteX2" fmla="*/ 1263312 w 3915966"/>
                <a:gd name="connsiteY2" fmla="*/ 1477792 h 1676095"/>
                <a:gd name="connsiteX3" fmla="*/ 2192692 w 3915966"/>
                <a:gd name="connsiteY3" fmla="*/ 1676095 h 1676095"/>
                <a:gd name="connsiteX4" fmla="*/ 2913719 w 3915966"/>
                <a:gd name="connsiteY4" fmla="*/ 1465436 h 1676095"/>
                <a:gd name="connsiteX5" fmla="*/ 3295071 w 3915966"/>
                <a:gd name="connsiteY5" fmla="*/ 1455758 h 1676095"/>
                <a:gd name="connsiteX6" fmla="*/ 3915966 w 3915966"/>
                <a:gd name="connsiteY6" fmla="*/ 1445471 h 1676095"/>
                <a:gd name="connsiteX7" fmla="*/ 3899994 w 3915966"/>
                <a:gd name="connsiteY7"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609316 w 3915966"/>
                <a:gd name="connsiteY3" fmla="*/ 1551238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589200 w 3915966"/>
                <a:gd name="connsiteY3" fmla="*/ 1661407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17017 w 3915966"/>
                <a:gd name="connsiteY0" fmla="*/ 0 h 1838525"/>
                <a:gd name="connsiteX1" fmla="*/ 0 w 3915966"/>
                <a:gd name="connsiteY1" fmla="*/ 1673273 h 1838525"/>
                <a:gd name="connsiteX2" fmla="*/ 1263312 w 3915966"/>
                <a:gd name="connsiteY2" fmla="*/ 1640222 h 1838525"/>
                <a:gd name="connsiteX3" fmla="*/ 1589200 w 3915966"/>
                <a:gd name="connsiteY3" fmla="*/ 1823837 h 1838525"/>
                <a:gd name="connsiteX4" fmla="*/ 2192692 w 3915966"/>
                <a:gd name="connsiteY4" fmla="*/ 1838525 h 1838525"/>
                <a:gd name="connsiteX5" fmla="*/ 2913719 w 3915966"/>
                <a:gd name="connsiteY5" fmla="*/ 1627866 h 1838525"/>
                <a:gd name="connsiteX6" fmla="*/ 3295071 w 3915966"/>
                <a:gd name="connsiteY6" fmla="*/ 1618188 h 1838525"/>
                <a:gd name="connsiteX7" fmla="*/ 3915966 w 3915966"/>
                <a:gd name="connsiteY7" fmla="*/ 1607901 h 1838525"/>
                <a:gd name="connsiteX8" fmla="*/ 3899994 w 3915966"/>
                <a:gd name="connsiteY8" fmla="*/ 162430 h 1838525"/>
                <a:gd name="connsiteX0" fmla="*/ 0 w 3898949"/>
                <a:gd name="connsiteY0" fmla="*/ 0 h 1838525"/>
                <a:gd name="connsiteX1" fmla="*/ 19193 w 3898949"/>
                <a:gd name="connsiteY1" fmla="*/ 1581465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5137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9969 w 3898949"/>
                <a:gd name="connsiteY2" fmla="*/ 1566776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81465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9248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896702 w 3898949"/>
                <a:gd name="connsiteY5" fmla="*/ 1627866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69708 w 3898949"/>
                <a:gd name="connsiteY8" fmla="*/ 113985 h 1827509"/>
                <a:gd name="connsiteX0" fmla="*/ 0 w 3869708"/>
                <a:gd name="connsiteY0" fmla="*/ 0 h 1827509"/>
                <a:gd name="connsiteX1" fmla="*/ 15169 w 3869708"/>
                <a:gd name="connsiteY1" fmla="*/ 1588809 h 1827509"/>
                <a:gd name="connsiteX2" fmla="*/ 1185946 w 3869708"/>
                <a:gd name="connsiteY2" fmla="*/ 1592482 h 1827509"/>
                <a:gd name="connsiteX3" fmla="*/ 1572183 w 3869708"/>
                <a:gd name="connsiteY3" fmla="*/ 1823837 h 1827509"/>
                <a:gd name="connsiteX4" fmla="*/ 2147513 w 3869708"/>
                <a:gd name="connsiteY4" fmla="*/ 1827509 h 1827509"/>
                <a:gd name="connsiteX5" fmla="*/ 2727724 w 3869708"/>
                <a:gd name="connsiteY5" fmla="*/ 1591143 h 1827509"/>
                <a:gd name="connsiteX6" fmla="*/ 3278054 w 3869708"/>
                <a:gd name="connsiteY6" fmla="*/ 1618188 h 1827509"/>
                <a:gd name="connsiteX7" fmla="*/ 3839239 w 3869708"/>
                <a:gd name="connsiteY7" fmla="*/ 1565511 h 1827509"/>
                <a:gd name="connsiteX8" fmla="*/ 3869708 w 3869708"/>
                <a:gd name="connsiteY8" fmla="*/ 113985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278054 w 3839239"/>
                <a:gd name="connsiteY6" fmla="*/ 1618188 h 1827509"/>
                <a:gd name="connsiteX7" fmla="*/ 3839239 w 3839239"/>
                <a:gd name="connsiteY7" fmla="*/ 1565511 h 1827509"/>
                <a:gd name="connsiteX8" fmla="*/ 3829902 w 3839239"/>
                <a:gd name="connsiteY8" fmla="*/ 126097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839239 w 3839239"/>
                <a:gd name="connsiteY6" fmla="*/ 1565511 h 1827509"/>
                <a:gd name="connsiteX7" fmla="*/ 3829902 w 3839239"/>
                <a:gd name="connsiteY7" fmla="*/ 126097 h 1827509"/>
                <a:gd name="connsiteX0" fmla="*/ 0 w 3832605"/>
                <a:gd name="connsiteY0" fmla="*/ 0 h 1827509"/>
                <a:gd name="connsiteX1" fmla="*/ 15169 w 3832605"/>
                <a:gd name="connsiteY1" fmla="*/ 1588809 h 1827509"/>
                <a:gd name="connsiteX2" fmla="*/ 1185946 w 3832605"/>
                <a:gd name="connsiteY2" fmla="*/ 1592482 h 1827509"/>
                <a:gd name="connsiteX3" fmla="*/ 1572183 w 3832605"/>
                <a:gd name="connsiteY3" fmla="*/ 1823837 h 1827509"/>
                <a:gd name="connsiteX4" fmla="*/ 2147513 w 3832605"/>
                <a:gd name="connsiteY4" fmla="*/ 1827509 h 1827509"/>
                <a:gd name="connsiteX5" fmla="*/ 2727724 w 3832605"/>
                <a:gd name="connsiteY5" fmla="*/ 1591143 h 1827509"/>
                <a:gd name="connsiteX6" fmla="*/ 3832605 w 3832605"/>
                <a:gd name="connsiteY6" fmla="*/ 1589734 h 1827509"/>
                <a:gd name="connsiteX7" fmla="*/ 3829902 w 3832605"/>
                <a:gd name="connsiteY7" fmla="*/ 126097 h 182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605" h="1827509">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w="25400">
              <a:solidFill>
                <a:srgbClr val="00B05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30" name="TextBox 129">
              <a:extLst>
                <a:ext uri="{FF2B5EF4-FFF2-40B4-BE49-F238E27FC236}">
                  <a16:creationId xmlns:a16="http://schemas.microsoft.com/office/drawing/2014/main" id="{AC21E889-4F82-8649-829E-554EB51D7E5D}"/>
                </a:ext>
              </a:extLst>
            </p:cNvPr>
            <p:cNvSpPr txBox="1"/>
            <p:nvPr/>
          </p:nvSpPr>
          <p:spPr>
            <a:xfrm>
              <a:off x="6799618" y="3650736"/>
              <a:ext cx="708399" cy="400109"/>
            </a:xfrm>
            <a:prstGeom prst="rect">
              <a:avLst/>
            </a:prstGeom>
            <a:noFill/>
          </p:spPr>
          <p:txBody>
            <a:bodyPr wrap="none" rtlCol="0">
              <a:spAutoFit/>
            </a:bodyPr>
            <a:lstStyle/>
            <a:p>
              <a:pPr eaLnBrk="1" fontAlgn="auto" hangingPunct="1">
                <a:spcBef>
                  <a:spcPts val="0"/>
                </a:spcBef>
                <a:spcAft>
                  <a:spcPts val="0"/>
                </a:spcAft>
                <a:defRPr/>
              </a:pPr>
              <a:r>
                <a:rPr lang="en-US" sz="1350" dirty="0">
                  <a:solidFill>
                    <a:srgbClr val="00B050"/>
                  </a:solidFill>
                  <a:latin typeface="Calibri"/>
                  <a:ea typeface="+mn-ea"/>
                </a:rPr>
                <a:t>ACKs</a:t>
              </a:r>
            </a:p>
          </p:txBody>
        </p:sp>
        <p:sp>
          <p:nvSpPr>
            <p:cNvPr id="131" name="TextBox 130">
              <a:extLst>
                <a:ext uri="{FF2B5EF4-FFF2-40B4-BE49-F238E27FC236}">
                  <a16:creationId xmlns:a16="http://schemas.microsoft.com/office/drawing/2014/main" id="{4D544F8A-E5C9-4C42-B077-C996AF3E7BF7}"/>
                </a:ext>
              </a:extLst>
            </p:cNvPr>
            <p:cNvSpPr txBox="1"/>
            <p:nvPr/>
          </p:nvSpPr>
          <p:spPr>
            <a:xfrm>
              <a:off x="10809403" y="3772400"/>
              <a:ext cx="708399" cy="400109"/>
            </a:xfrm>
            <a:prstGeom prst="rect">
              <a:avLst/>
            </a:prstGeom>
            <a:noFill/>
          </p:spPr>
          <p:txBody>
            <a:bodyPr wrap="none" rtlCol="0">
              <a:spAutoFit/>
            </a:bodyPr>
            <a:lstStyle/>
            <a:p>
              <a:pPr eaLnBrk="1" fontAlgn="auto" hangingPunct="1">
                <a:spcBef>
                  <a:spcPts val="0"/>
                </a:spcBef>
                <a:spcAft>
                  <a:spcPts val="0"/>
                </a:spcAft>
                <a:defRPr/>
              </a:pPr>
              <a:r>
                <a:rPr lang="en-US" sz="1350" dirty="0">
                  <a:solidFill>
                    <a:srgbClr val="00B050"/>
                  </a:solidFill>
                  <a:latin typeface="Calibri"/>
                  <a:ea typeface="+mn-ea"/>
                </a:rPr>
                <a:t>ACKs</a:t>
              </a:r>
            </a:p>
          </p:txBody>
        </p:sp>
      </p:grpSp>
      <p:sp>
        <p:nvSpPr>
          <p:cNvPr id="176" name="Freeform 254">
            <a:extLst>
              <a:ext uri="{FF2B5EF4-FFF2-40B4-BE49-F238E27FC236}">
                <a16:creationId xmlns:a16="http://schemas.microsoft.com/office/drawing/2014/main" id="{098028B6-BF7C-6A40-A6E7-BD363548A403}"/>
              </a:ext>
            </a:extLst>
          </p:cNvPr>
          <p:cNvSpPr>
            <a:spLocks/>
          </p:cNvSpPr>
          <p:nvPr/>
        </p:nvSpPr>
        <p:spPr bwMode="auto">
          <a:xfrm>
            <a:off x="8384150" y="2630012"/>
            <a:ext cx="188119" cy="9096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grpSp>
        <p:nvGrpSpPr>
          <p:cNvPr id="184" name="Group 289">
            <a:extLst>
              <a:ext uri="{FF2B5EF4-FFF2-40B4-BE49-F238E27FC236}">
                <a16:creationId xmlns:a16="http://schemas.microsoft.com/office/drawing/2014/main" id="{36A89038-0233-574C-A16F-E12F82E32856}"/>
              </a:ext>
            </a:extLst>
          </p:cNvPr>
          <p:cNvGrpSpPr>
            <a:grpSpLocks/>
          </p:cNvGrpSpPr>
          <p:nvPr/>
        </p:nvGrpSpPr>
        <p:grpSpPr bwMode="auto">
          <a:xfrm>
            <a:off x="8516310" y="3302715"/>
            <a:ext cx="173831" cy="330994"/>
            <a:chOff x="4140" y="429"/>
            <a:chExt cx="1425" cy="2396"/>
          </a:xfrm>
        </p:grpSpPr>
        <p:sp>
          <p:nvSpPr>
            <p:cNvPr id="188" name="Freeform 290">
              <a:extLst>
                <a:ext uri="{FF2B5EF4-FFF2-40B4-BE49-F238E27FC236}">
                  <a16:creationId xmlns:a16="http://schemas.microsoft.com/office/drawing/2014/main" id="{9264264F-C8FF-E941-B8DB-F2A13E30F566}"/>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89" name="Rectangle 291">
              <a:extLst>
                <a:ext uri="{FF2B5EF4-FFF2-40B4-BE49-F238E27FC236}">
                  <a16:creationId xmlns:a16="http://schemas.microsoft.com/office/drawing/2014/main" id="{5580AF65-ED2C-7F4A-90B9-25AFA8C927C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90" name="Freeform 292">
              <a:extLst>
                <a:ext uri="{FF2B5EF4-FFF2-40B4-BE49-F238E27FC236}">
                  <a16:creationId xmlns:a16="http://schemas.microsoft.com/office/drawing/2014/main" id="{BC0C9A2A-A362-5D48-A13D-A730292A1B6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91" name="Freeform 293">
              <a:extLst>
                <a:ext uri="{FF2B5EF4-FFF2-40B4-BE49-F238E27FC236}">
                  <a16:creationId xmlns:a16="http://schemas.microsoft.com/office/drawing/2014/main" id="{741E5815-F201-3946-BA11-1961624585E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195" name="Rectangle 294">
              <a:extLst>
                <a:ext uri="{FF2B5EF4-FFF2-40B4-BE49-F238E27FC236}">
                  <a16:creationId xmlns:a16="http://schemas.microsoft.com/office/drawing/2014/main" id="{16834F46-BEA1-E54A-99D2-06A1D9E4EFA1}"/>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02" name="Group 295">
              <a:extLst>
                <a:ext uri="{FF2B5EF4-FFF2-40B4-BE49-F238E27FC236}">
                  <a16:creationId xmlns:a16="http://schemas.microsoft.com/office/drawing/2014/main" id="{EFE1DB65-55C6-A040-8489-E8E7A5072621}"/>
                </a:ext>
              </a:extLst>
            </p:cNvPr>
            <p:cNvGrpSpPr>
              <a:grpSpLocks/>
            </p:cNvGrpSpPr>
            <p:nvPr/>
          </p:nvGrpSpPr>
          <p:grpSpPr bwMode="auto">
            <a:xfrm>
              <a:off x="4749" y="668"/>
              <a:ext cx="581" cy="145"/>
              <a:chOff x="614" y="2568"/>
              <a:chExt cx="725" cy="139"/>
            </a:xfrm>
          </p:grpSpPr>
          <p:sp>
            <p:nvSpPr>
              <p:cNvPr id="233" name="AutoShape 296">
                <a:extLst>
                  <a:ext uri="{FF2B5EF4-FFF2-40B4-BE49-F238E27FC236}">
                    <a16:creationId xmlns:a16="http://schemas.microsoft.com/office/drawing/2014/main" id="{60C873E6-EA5F-E546-9871-6CD69A03054C}"/>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34" name="AutoShape 297">
                <a:extLst>
                  <a:ext uri="{FF2B5EF4-FFF2-40B4-BE49-F238E27FC236}">
                    <a16:creationId xmlns:a16="http://schemas.microsoft.com/office/drawing/2014/main" id="{AE94AAEC-480B-8047-91E5-519724D0625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03" name="Rectangle 298">
              <a:extLst>
                <a:ext uri="{FF2B5EF4-FFF2-40B4-BE49-F238E27FC236}">
                  <a16:creationId xmlns:a16="http://schemas.microsoft.com/office/drawing/2014/main" id="{66AA352A-88C1-474E-8553-BFDBC71D6A7F}"/>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04" name="Group 299">
              <a:extLst>
                <a:ext uri="{FF2B5EF4-FFF2-40B4-BE49-F238E27FC236}">
                  <a16:creationId xmlns:a16="http://schemas.microsoft.com/office/drawing/2014/main" id="{063BD826-F329-CE4F-8A05-BAE407197A8D}"/>
                </a:ext>
              </a:extLst>
            </p:cNvPr>
            <p:cNvGrpSpPr>
              <a:grpSpLocks/>
            </p:cNvGrpSpPr>
            <p:nvPr/>
          </p:nvGrpSpPr>
          <p:grpSpPr bwMode="auto">
            <a:xfrm>
              <a:off x="4747" y="994"/>
              <a:ext cx="581" cy="134"/>
              <a:chOff x="614" y="2568"/>
              <a:chExt cx="725" cy="139"/>
            </a:xfrm>
          </p:grpSpPr>
          <p:sp>
            <p:nvSpPr>
              <p:cNvPr id="231" name="AutoShape 300">
                <a:extLst>
                  <a:ext uri="{FF2B5EF4-FFF2-40B4-BE49-F238E27FC236}">
                    <a16:creationId xmlns:a16="http://schemas.microsoft.com/office/drawing/2014/main" id="{502F9F8E-D733-304B-8917-5387C94462A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32" name="AutoShape 301">
                <a:extLst>
                  <a:ext uri="{FF2B5EF4-FFF2-40B4-BE49-F238E27FC236}">
                    <a16:creationId xmlns:a16="http://schemas.microsoft.com/office/drawing/2014/main" id="{8FA48F3E-A09B-9947-AC4E-53AB08CAC06B}"/>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05" name="Rectangle 302">
              <a:extLst>
                <a:ext uri="{FF2B5EF4-FFF2-40B4-BE49-F238E27FC236}">
                  <a16:creationId xmlns:a16="http://schemas.microsoft.com/office/drawing/2014/main" id="{7E665F5D-879D-9E40-84B5-66D85E68A508}"/>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06" name="Rectangle 303">
              <a:extLst>
                <a:ext uri="{FF2B5EF4-FFF2-40B4-BE49-F238E27FC236}">
                  <a16:creationId xmlns:a16="http://schemas.microsoft.com/office/drawing/2014/main" id="{7647528B-9EF0-E54D-974E-7DFC94037620}"/>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07" name="Group 304">
              <a:extLst>
                <a:ext uri="{FF2B5EF4-FFF2-40B4-BE49-F238E27FC236}">
                  <a16:creationId xmlns:a16="http://schemas.microsoft.com/office/drawing/2014/main" id="{467A70C4-7121-374D-AFDB-661BA82AC2A8}"/>
                </a:ext>
              </a:extLst>
            </p:cNvPr>
            <p:cNvGrpSpPr>
              <a:grpSpLocks/>
            </p:cNvGrpSpPr>
            <p:nvPr/>
          </p:nvGrpSpPr>
          <p:grpSpPr bwMode="auto">
            <a:xfrm>
              <a:off x="4735" y="1627"/>
              <a:ext cx="582" cy="151"/>
              <a:chOff x="614" y="2568"/>
              <a:chExt cx="725" cy="139"/>
            </a:xfrm>
          </p:grpSpPr>
          <p:sp>
            <p:nvSpPr>
              <p:cNvPr id="229" name="AutoShape 305">
                <a:extLst>
                  <a:ext uri="{FF2B5EF4-FFF2-40B4-BE49-F238E27FC236}">
                    <a16:creationId xmlns:a16="http://schemas.microsoft.com/office/drawing/2014/main" id="{C5AF588B-0651-0545-9142-FD07BC876383}"/>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30" name="AutoShape 306">
                <a:extLst>
                  <a:ext uri="{FF2B5EF4-FFF2-40B4-BE49-F238E27FC236}">
                    <a16:creationId xmlns:a16="http://schemas.microsoft.com/office/drawing/2014/main" id="{9BEB1652-4112-004D-B7AC-1F3734A3C049}"/>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08" name="Freeform 307">
              <a:extLst>
                <a:ext uri="{FF2B5EF4-FFF2-40B4-BE49-F238E27FC236}">
                  <a16:creationId xmlns:a16="http://schemas.microsoft.com/office/drawing/2014/main" id="{D7A79ECE-B70D-2548-A773-6DCE4F281A8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grpSp>
          <p:nvGrpSpPr>
            <p:cNvPr id="209" name="Group 308">
              <a:extLst>
                <a:ext uri="{FF2B5EF4-FFF2-40B4-BE49-F238E27FC236}">
                  <a16:creationId xmlns:a16="http://schemas.microsoft.com/office/drawing/2014/main" id="{1ECF4553-693A-DD4D-A0E2-8AA0E2504F64}"/>
                </a:ext>
              </a:extLst>
            </p:cNvPr>
            <p:cNvGrpSpPr>
              <a:grpSpLocks/>
            </p:cNvGrpSpPr>
            <p:nvPr/>
          </p:nvGrpSpPr>
          <p:grpSpPr bwMode="auto">
            <a:xfrm>
              <a:off x="4739" y="1327"/>
              <a:ext cx="582" cy="139"/>
              <a:chOff x="614" y="2568"/>
              <a:chExt cx="725" cy="139"/>
            </a:xfrm>
          </p:grpSpPr>
          <p:sp>
            <p:nvSpPr>
              <p:cNvPr id="227" name="AutoShape 309">
                <a:extLst>
                  <a:ext uri="{FF2B5EF4-FFF2-40B4-BE49-F238E27FC236}">
                    <a16:creationId xmlns:a16="http://schemas.microsoft.com/office/drawing/2014/main" id="{9C16F586-202A-6C49-BECE-8D7B0011EBAC}"/>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28" name="AutoShape 310">
                <a:extLst>
                  <a:ext uri="{FF2B5EF4-FFF2-40B4-BE49-F238E27FC236}">
                    <a16:creationId xmlns:a16="http://schemas.microsoft.com/office/drawing/2014/main" id="{C758F7C7-9330-BE46-A86A-D42B5637C8E5}"/>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10" name="Rectangle 311">
              <a:extLst>
                <a:ext uri="{FF2B5EF4-FFF2-40B4-BE49-F238E27FC236}">
                  <a16:creationId xmlns:a16="http://schemas.microsoft.com/office/drawing/2014/main" id="{533FE805-6D97-3D40-A722-65F7EC32A1D2}"/>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11" name="Freeform 312">
              <a:extLst>
                <a:ext uri="{FF2B5EF4-FFF2-40B4-BE49-F238E27FC236}">
                  <a16:creationId xmlns:a16="http://schemas.microsoft.com/office/drawing/2014/main" id="{620834FD-6B76-EA4B-A18C-65A47D402B0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12" name="Freeform 313">
              <a:extLst>
                <a:ext uri="{FF2B5EF4-FFF2-40B4-BE49-F238E27FC236}">
                  <a16:creationId xmlns:a16="http://schemas.microsoft.com/office/drawing/2014/main" id="{C5A12F9D-49AB-5145-AA15-D382AA5D35C0}"/>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13" name="Oval 314">
              <a:extLst>
                <a:ext uri="{FF2B5EF4-FFF2-40B4-BE49-F238E27FC236}">
                  <a16:creationId xmlns:a16="http://schemas.microsoft.com/office/drawing/2014/main" id="{80DD1625-6CB9-AC4C-88B8-9DC831FCEE6E}"/>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20" name="Freeform 315">
              <a:extLst>
                <a:ext uri="{FF2B5EF4-FFF2-40B4-BE49-F238E27FC236}">
                  <a16:creationId xmlns:a16="http://schemas.microsoft.com/office/drawing/2014/main" id="{A65F0511-3C28-C743-A21D-6264A211846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21" name="AutoShape 316">
              <a:extLst>
                <a:ext uri="{FF2B5EF4-FFF2-40B4-BE49-F238E27FC236}">
                  <a16:creationId xmlns:a16="http://schemas.microsoft.com/office/drawing/2014/main" id="{FADC981B-C983-6D40-AEA7-04B355ECAD3A}"/>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22" name="AutoShape 317">
              <a:extLst>
                <a:ext uri="{FF2B5EF4-FFF2-40B4-BE49-F238E27FC236}">
                  <a16:creationId xmlns:a16="http://schemas.microsoft.com/office/drawing/2014/main" id="{708D79ED-DBE2-644C-B85E-DB3961F564FD}"/>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23" name="Oval 318">
              <a:extLst>
                <a:ext uri="{FF2B5EF4-FFF2-40B4-BE49-F238E27FC236}">
                  <a16:creationId xmlns:a16="http://schemas.microsoft.com/office/drawing/2014/main" id="{87AF5859-5E53-EE4C-954A-8D2D2B20071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24" name="Oval 319">
              <a:extLst>
                <a:ext uri="{FF2B5EF4-FFF2-40B4-BE49-F238E27FC236}">
                  <a16:creationId xmlns:a16="http://schemas.microsoft.com/office/drawing/2014/main" id="{43616DFE-DE4C-D94C-B77F-413A270CAAE8}"/>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350" kern="0">
                <a:solidFill>
                  <a:srgbClr val="FF0000"/>
                </a:solidFill>
                <a:latin typeface="Arial" charset="0"/>
                <a:ea typeface="ＭＳ Ｐゴシック" charset="0"/>
                <a:cs typeface="Arial" charset="0"/>
              </a:endParaRPr>
            </a:p>
          </p:txBody>
        </p:sp>
        <p:sp>
          <p:nvSpPr>
            <p:cNvPr id="225" name="Oval 320">
              <a:extLst>
                <a:ext uri="{FF2B5EF4-FFF2-40B4-BE49-F238E27FC236}">
                  <a16:creationId xmlns:a16="http://schemas.microsoft.com/office/drawing/2014/main" id="{63CB7C6A-7959-294B-919F-406DF43820E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26" name="Rectangle 321">
              <a:extLst>
                <a:ext uri="{FF2B5EF4-FFF2-40B4-BE49-F238E27FC236}">
                  <a16:creationId xmlns:a16="http://schemas.microsoft.com/office/drawing/2014/main" id="{3ED5D38A-C2F0-8444-B700-8ED29C8B7FB9}"/>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28" name="Rectangle 3">
            <a:extLst>
              <a:ext uri="{FF2B5EF4-FFF2-40B4-BE49-F238E27FC236}">
                <a16:creationId xmlns:a16="http://schemas.microsoft.com/office/drawing/2014/main" id="{4AEA1865-8C28-134C-8B6C-07E3981D0325}"/>
              </a:ext>
            </a:extLst>
          </p:cNvPr>
          <p:cNvSpPr txBox="1">
            <a:spLocks noChangeArrowheads="1"/>
          </p:cNvSpPr>
          <p:nvPr/>
        </p:nvSpPr>
        <p:spPr>
          <a:xfrm>
            <a:off x="691350" y="4050299"/>
            <a:ext cx="4171950" cy="474177"/>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0044" indent="-252413" fontAlgn="auto">
              <a:spcAft>
                <a:spcPts val="0"/>
              </a:spcAft>
              <a:defRPr/>
            </a:pPr>
            <a:r>
              <a:rPr lang="en-US" sz="2400" dirty="0">
                <a:solidFill>
                  <a:prstClr val="black"/>
                </a:solidFill>
              </a:rPr>
              <a:t>approach taken by TCP</a:t>
            </a:r>
            <a:endParaRPr lang="en-US" sz="2700" dirty="0">
              <a:solidFill>
                <a:prstClr val="black"/>
              </a:solidFill>
            </a:endParaRPr>
          </a:p>
        </p:txBody>
      </p:sp>
      <p:sp>
        <p:nvSpPr>
          <p:cNvPr id="133" name="Slide Number Placeholder 2">
            <a:extLst>
              <a:ext uri="{FF2B5EF4-FFF2-40B4-BE49-F238E27FC236}">
                <a16:creationId xmlns:a16="http://schemas.microsoft.com/office/drawing/2014/main" id="{80FEFCD4-E64A-AA4F-ACAB-74CB4ECDD26A}"/>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81</a:t>
            </a:fld>
            <a:endParaRPr lang="en-US" dirty="0">
              <a:solidFill>
                <a:prstClr val="white">
                  <a:lumMod val="50000"/>
                </a:prstClr>
              </a:solidFill>
            </a:endParaRPr>
          </a:p>
        </p:txBody>
      </p:sp>
    </p:spTree>
    <p:extLst>
      <p:ext uri="{BB962C8B-B14F-4D97-AF65-F5344CB8AC3E}">
        <p14:creationId xmlns:p14="http://schemas.microsoft.com/office/powerpoint/2010/main" val="2183871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8"/>
                                        </p:tgtEl>
                                        <p:attrNameLst>
                                          <p:attrName>style.visibility</p:attrName>
                                        </p:attrNameLst>
                                      </p:cBhvr>
                                      <p:to>
                                        <p:strVal val="visible"/>
                                      </p:to>
                                    </p:set>
                                    <p:animEffect transition="in" filter="dissolve">
                                      <p:cBhvr>
                                        <p:cTn id="16"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9"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539209" y="5087553"/>
            <a:ext cx="4336026" cy="552250"/>
          </a:xfrm>
        </p:spPr>
        <p:txBody>
          <a:bodyPr>
            <a:normAutofit/>
          </a:bodyPr>
          <a:lstStyle/>
          <a:p>
            <a:pPr marL="305991" indent="-208360">
              <a:defRPr/>
            </a:pPr>
            <a:r>
              <a:rPr lang="en-US" sz="2250" dirty="0"/>
              <a:t>TCP ECN, ATM, </a:t>
            </a:r>
            <a:r>
              <a:rPr lang="en-US" sz="2250" dirty="0" err="1"/>
              <a:t>DECbit</a:t>
            </a:r>
            <a:r>
              <a:rPr lang="en-US" sz="2250" dirty="0"/>
              <a:t> protocols</a:t>
            </a:r>
            <a:endParaRPr lang="en-US" sz="2625" dirty="0"/>
          </a:p>
        </p:txBody>
      </p:sp>
      <p:sp>
        <p:nvSpPr>
          <p:cNvPr id="97284"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p:txBody>
          <a:bodyPr>
            <a:normAutofit/>
          </a:bodyPr>
          <a:lstStyle/>
          <a:p>
            <a:pPr>
              <a:defRPr/>
            </a:pPr>
            <a:r>
              <a:rPr lang="en-US" sz="3600" dirty="0"/>
              <a:t>Approaches towards congestion control</a:t>
            </a:r>
            <a:endParaRPr lang="en-US" sz="4050" dirty="0"/>
          </a:p>
        </p:txBody>
      </p:sp>
      <p:sp>
        <p:nvSpPr>
          <p:cNvPr id="128" name="Freeform 2">
            <a:extLst>
              <a:ext uri="{FF2B5EF4-FFF2-40B4-BE49-F238E27FC236}">
                <a16:creationId xmlns:a16="http://schemas.microsoft.com/office/drawing/2014/main" id="{366E9ABE-54D6-794A-BFDC-C271FA98FBA8}"/>
              </a:ext>
            </a:extLst>
          </p:cNvPr>
          <p:cNvSpPr>
            <a:spLocks/>
          </p:cNvSpPr>
          <p:nvPr/>
        </p:nvSpPr>
        <p:spPr bwMode="auto">
          <a:xfrm>
            <a:off x="5756939" y="3451549"/>
            <a:ext cx="2136653" cy="1110680"/>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defRPr/>
            </a:pPr>
            <a:endParaRPr lang="en-US" sz="1800" kern="0">
              <a:solidFill>
                <a:srgbClr val="000000"/>
              </a:solidFill>
              <a:cs typeface="Arial"/>
            </a:endParaRPr>
          </a:p>
        </p:txBody>
      </p:sp>
      <p:sp>
        <p:nvSpPr>
          <p:cNvPr id="132" name="Freeform 6">
            <a:extLst>
              <a:ext uri="{FF2B5EF4-FFF2-40B4-BE49-F238E27FC236}">
                <a16:creationId xmlns:a16="http://schemas.microsoft.com/office/drawing/2014/main" id="{FFF13A6F-0F53-424B-A39A-76E877F099A6}"/>
              </a:ext>
            </a:extLst>
          </p:cNvPr>
          <p:cNvSpPr>
            <a:spLocks/>
          </p:cNvSpPr>
          <p:nvPr/>
        </p:nvSpPr>
        <p:spPr bwMode="auto">
          <a:xfrm>
            <a:off x="6235720" y="3678924"/>
            <a:ext cx="407322" cy="221422"/>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134" name="Freeform 91">
            <a:extLst>
              <a:ext uri="{FF2B5EF4-FFF2-40B4-BE49-F238E27FC236}">
                <a16:creationId xmlns:a16="http://schemas.microsoft.com/office/drawing/2014/main" id="{0468E56B-A027-0D44-AEB8-704F79D68813}"/>
              </a:ext>
            </a:extLst>
          </p:cNvPr>
          <p:cNvSpPr>
            <a:spLocks/>
          </p:cNvSpPr>
          <p:nvPr/>
        </p:nvSpPr>
        <p:spPr bwMode="auto">
          <a:xfrm>
            <a:off x="7017016" y="3674162"/>
            <a:ext cx="378738" cy="23094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135" name="Freeform 92">
            <a:extLst>
              <a:ext uri="{FF2B5EF4-FFF2-40B4-BE49-F238E27FC236}">
                <a16:creationId xmlns:a16="http://schemas.microsoft.com/office/drawing/2014/main" id="{054FFAAB-E9BC-3E4C-8FB9-3EA2FFF0707B}"/>
              </a:ext>
            </a:extLst>
          </p:cNvPr>
          <p:cNvSpPr>
            <a:spLocks/>
          </p:cNvSpPr>
          <p:nvPr/>
        </p:nvSpPr>
        <p:spPr bwMode="auto">
          <a:xfrm>
            <a:off x="6217855" y="3968200"/>
            <a:ext cx="360873" cy="178566"/>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136" name="Freeform 93">
            <a:extLst>
              <a:ext uri="{FF2B5EF4-FFF2-40B4-BE49-F238E27FC236}">
                <a16:creationId xmlns:a16="http://schemas.microsoft.com/office/drawing/2014/main" id="{1504AC5D-D6C1-D049-A591-6F0963B988CC}"/>
              </a:ext>
            </a:extLst>
          </p:cNvPr>
          <p:cNvSpPr>
            <a:spLocks/>
          </p:cNvSpPr>
          <p:nvPr/>
        </p:nvSpPr>
        <p:spPr bwMode="auto">
          <a:xfrm>
            <a:off x="6928882" y="3950344"/>
            <a:ext cx="471636" cy="185708"/>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137" name="Freeform 94">
            <a:extLst>
              <a:ext uri="{FF2B5EF4-FFF2-40B4-BE49-F238E27FC236}">
                <a16:creationId xmlns:a16="http://schemas.microsoft.com/office/drawing/2014/main" id="{49EE5ACA-6705-2D4D-9A89-77A1C64919B5}"/>
              </a:ext>
            </a:extLst>
          </p:cNvPr>
          <p:cNvSpPr>
            <a:spLocks/>
          </p:cNvSpPr>
          <p:nvPr/>
        </p:nvSpPr>
        <p:spPr bwMode="auto">
          <a:xfrm>
            <a:off x="7429102" y="3990818"/>
            <a:ext cx="154830" cy="38094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138" name="Freeform 95">
            <a:extLst>
              <a:ext uri="{FF2B5EF4-FFF2-40B4-BE49-F238E27FC236}">
                <a16:creationId xmlns:a16="http://schemas.microsoft.com/office/drawing/2014/main" id="{C75D3801-AA9A-394F-B133-0C907B494EA8}"/>
              </a:ext>
            </a:extLst>
          </p:cNvPr>
          <p:cNvSpPr>
            <a:spLocks/>
          </p:cNvSpPr>
          <p:nvPr/>
        </p:nvSpPr>
        <p:spPr bwMode="auto">
          <a:xfrm>
            <a:off x="6502504" y="4390806"/>
            <a:ext cx="552624" cy="55951"/>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sp>
        <p:nvSpPr>
          <p:cNvPr id="139" name="Freeform 96">
            <a:extLst>
              <a:ext uri="{FF2B5EF4-FFF2-40B4-BE49-F238E27FC236}">
                <a16:creationId xmlns:a16="http://schemas.microsoft.com/office/drawing/2014/main" id="{22DFD150-DCC3-9C4E-B2A1-9978ADFC2D32}"/>
              </a:ext>
            </a:extLst>
          </p:cNvPr>
          <p:cNvSpPr>
            <a:spLocks/>
          </p:cNvSpPr>
          <p:nvPr/>
        </p:nvSpPr>
        <p:spPr bwMode="auto">
          <a:xfrm>
            <a:off x="6099946" y="3986057"/>
            <a:ext cx="145302" cy="319037"/>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sz="1800" kern="0">
              <a:solidFill>
                <a:srgbClr val="000000"/>
              </a:solidFill>
              <a:cs typeface="Arial"/>
            </a:endParaRPr>
          </a:p>
        </p:txBody>
      </p:sp>
      <p:grpSp>
        <p:nvGrpSpPr>
          <p:cNvPr id="140" name="Group 139">
            <a:extLst>
              <a:ext uri="{FF2B5EF4-FFF2-40B4-BE49-F238E27FC236}">
                <a16:creationId xmlns:a16="http://schemas.microsoft.com/office/drawing/2014/main" id="{FE2A56FD-5BF2-8A47-B917-EC5BDAE7B6D9}"/>
              </a:ext>
            </a:extLst>
          </p:cNvPr>
          <p:cNvGrpSpPr/>
          <p:nvPr/>
        </p:nvGrpSpPr>
        <p:grpSpPr>
          <a:xfrm>
            <a:off x="7289801" y="3817014"/>
            <a:ext cx="433524" cy="214280"/>
            <a:chOff x="7493876" y="2774731"/>
            <a:chExt cx="1481958" cy="894622"/>
          </a:xfrm>
        </p:grpSpPr>
        <p:sp>
          <p:nvSpPr>
            <p:cNvPr id="295" name="Freeform 294">
              <a:extLst>
                <a:ext uri="{FF2B5EF4-FFF2-40B4-BE49-F238E27FC236}">
                  <a16:creationId xmlns:a16="http://schemas.microsoft.com/office/drawing/2014/main" id="{A22F5E6C-8071-584B-A45A-61580F1DF3A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96" name="Oval 295">
              <a:extLst>
                <a:ext uri="{FF2B5EF4-FFF2-40B4-BE49-F238E27FC236}">
                  <a16:creationId xmlns:a16="http://schemas.microsoft.com/office/drawing/2014/main" id="{19D9D590-1C6D-B940-8236-FB7A7C7C3E1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97" name="Group 296">
              <a:extLst>
                <a:ext uri="{FF2B5EF4-FFF2-40B4-BE49-F238E27FC236}">
                  <a16:creationId xmlns:a16="http://schemas.microsoft.com/office/drawing/2014/main" id="{55AD85DE-1093-294C-A79D-C39AACCD04DE}"/>
                </a:ext>
              </a:extLst>
            </p:cNvPr>
            <p:cNvGrpSpPr/>
            <p:nvPr/>
          </p:nvGrpSpPr>
          <p:grpSpPr>
            <a:xfrm>
              <a:off x="7713663" y="2848339"/>
              <a:ext cx="1042107" cy="425543"/>
              <a:chOff x="7786941" y="2884917"/>
              <a:chExt cx="897649" cy="353919"/>
            </a:xfrm>
          </p:grpSpPr>
          <p:sp>
            <p:nvSpPr>
              <p:cNvPr id="298" name="Freeform 297">
                <a:extLst>
                  <a:ext uri="{FF2B5EF4-FFF2-40B4-BE49-F238E27FC236}">
                    <a16:creationId xmlns:a16="http://schemas.microsoft.com/office/drawing/2014/main" id="{74555870-3136-5F47-A50A-B9C84ADD9B5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99" name="Freeform 298">
                <a:extLst>
                  <a:ext uri="{FF2B5EF4-FFF2-40B4-BE49-F238E27FC236}">
                    <a16:creationId xmlns:a16="http://schemas.microsoft.com/office/drawing/2014/main" id="{4C89C07A-54CC-1F4B-8662-219BDC60226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300" name="Freeform 299">
                <a:extLst>
                  <a:ext uri="{FF2B5EF4-FFF2-40B4-BE49-F238E27FC236}">
                    <a16:creationId xmlns:a16="http://schemas.microsoft.com/office/drawing/2014/main" id="{AD074A1D-33A9-FD4E-9502-6E1A7B8749F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301" name="Freeform 300">
                <a:extLst>
                  <a:ext uri="{FF2B5EF4-FFF2-40B4-BE49-F238E27FC236}">
                    <a16:creationId xmlns:a16="http://schemas.microsoft.com/office/drawing/2014/main" id="{CCD24AC6-75BD-7240-ACA1-858F993F76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41" name="Group 140">
            <a:extLst>
              <a:ext uri="{FF2B5EF4-FFF2-40B4-BE49-F238E27FC236}">
                <a16:creationId xmlns:a16="http://schemas.microsoft.com/office/drawing/2014/main" id="{87D364BE-067C-ED48-9F93-CCBD43D1F1FD}"/>
              </a:ext>
            </a:extLst>
          </p:cNvPr>
          <p:cNvGrpSpPr/>
          <p:nvPr/>
        </p:nvGrpSpPr>
        <p:grpSpPr>
          <a:xfrm>
            <a:off x="7013705" y="4307334"/>
            <a:ext cx="433524" cy="214280"/>
            <a:chOff x="7493876" y="2774731"/>
            <a:chExt cx="1481958" cy="894622"/>
          </a:xfrm>
        </p:grpSpPr>
        <p:sp>
          <p:nvSpPr>
            <p:cNvPr id="288" name="Freeform 287">
              <a:extLst>
                <a:ext uri="{FF2B5EF4-FFF2-40B4-BE49-F238E27FC236}">
                  <a16:creationId xmlns:a16="http://schemas.microsoft.com/office/drawing/2014/main" id="{56103B33-85E9-6646-AD36-73F16468B3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89" name="Oval 288">
              <a:extLst>
                <a:ext uri="{FF2B5EF4-FFF2-40B4-BE49-F238E27FC236}">
                  <a16:creationId xmlns:a16="http://schemas.microsoft.com/office/drawing/2014/main" id="{A249CC8A-2DD9-A540-96D6-72B9DFE29F2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90" name="Group 289">
              <a:extLst>
                <a:ext uri="{FF2B5EF4-FFF2-40B4-BE49-F238E27FC236}">
                  <a16:creationId xmlns:a16="http://schemas.microsoft.com/office/drawing/2014/main" id="{BB9841D9-85A4-6641-AFC4-673E96A51A94}"/>
                </a:ext>
              </a:extLst>
            </p:cNvPr>
            <p:cNvGrpSpPr/>
            <p:nvPr/>
          </p:nvGrpSpPr>
          <p:grpSpPr>
            <a:xfrm>
              <a:off x="7713663" y="2848339"/>
              <a:ext cx="1042107" cy="425543"/>
              <a:chOff x="7786941" y="2884917"/>
              <a:chExt cx="897649" cy="353919"/>
            </a:xfrm>
          </p:grpSpPr>
          <p:sp>
            <p:nvSpPr>
              <p:cNvPr id="291" name="Freeform 290">
                <a:extLst>
                  <a:ext uri="{FF2B5EF4-FFF2-40B4-BE49-F238E27FC236}">
                    <a16:creationId xmlns:a16="http://schemas.microsoft.com/office/drawing/2014/main" id="{1F8ACD1E-2A08-8148-97FE-2327BF094A0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92" name="Freeform 291">
                <a:extLst>
                  <a:ext uri="{FF2B5EF4-FFF2-40B4-BE49-F238E27FC236}">
                    <a16:creationId xmlns:a16="http://schemas.microsoft.com/office/drawing/2014/main" id="{4E9748D8-5A01-D746-848B-32926B95C5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93" name="Freeform 292">
                <a:extLst>
                  <a:ext uri="{FF2B5EF4-FFF2-40B4-BE49-F238E27FC236}">
                    <a16:creationId xmlns:a16="http://schemas.microsoft.com/office/drawing/2014/main" id="{FD69F9EC-EC8E-3148-A0CF-68ADE091607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94" name="Freeform 293">
                <a:extLst>
                  <a:ext uri="{FF2B5EF4-FFF2-40B4-BE49-F238E27FC236}">
                    <a16:creationId xmlns:a16="http://schemas.microsoft.com/office/drawing/2014/main" id="{0C246818-5046-3547-9748-C8A5F8D31AA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75" name="Group 174">
            <a:extLst>
              <a:ext uri="{FF2B5EF4-FFF2-40B4-BE49-F238E27FC236}">
                <a16:creationId xmlns:a16="http://schemas.microsoft.com/office/drawing/2014/main" id="{4D4971E8-AD3B-214C-97F6-17EC02BCA29D}"/>
              </a:ext>
            </a:extLst>
          </p:cNvPr>
          <p:cNvGrpSpPr/>
          <p:nvPr/>
        </p:nvGrpSpPr>
        <p:grpSpPr>
          <a:xfrm>
            <a:off x="6146349" y="4270832"/>
            <a:ext cx="433524" cy="214280"/>
            <a:chOff x="7493876" y="2774731"/>
            <a:chExt cx="1481958" cy="894622"/>
          </a:xfrm>
        </p:grpSpPr>
        <p:sp>
          <p:nvSpPr>
            <p:cNvPr id="281" name="Freeform 280">
              <a:extLst>
                <a:ext uri="{FF2B5EF4-FFF2-40B4-BE49-F238E27FC236}">
                  <a16:creationId xmlns:a16="http://schemas.microsoft.com/office/drawing/2014/main" id="{9739AEF0-B1B8-F540-9C41-AE1C85694CA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82" name="Oval 281">
              <a:extLst>
                <a:ext uri="{FF2B5EF4-FFF2-40B4-BE49-F238E27FC236}">
                  <a16:creationId xmlns:a16="http://schemas.microsoft.com/office/drawing/2014/main" id="{9A8C264F-EE1E-AE42-AD54-26038D64E2D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83" name="Group 282">
              <a:extLst>
                <a:ext uri="{FF2B5EF4-FFF2-40B4-BE49-F238E27FC236}">
                  <a16:creationId xmlns:a16="http://schemas.microsoft.com/office/drawing/2014/main" id="{C4315C5D-BBB1-1548-A740-5E5B96BEB874}"/>
                </a:ext>
              </a:extLst>
            </p:cNvPr>
            <p:cNvGrpSpPr/>
            <p:nvPr/>
          </p:nvGrpSpPr>
          <p:grpSpPr>
            <a:xfrm>
              <a:off x="7713663" y="2848339"/>
              <a:ext cx="1042107" cy="425543"/>
              <a:chOff x="7786941" y="2884917"/>
              <a:chExt cx="897649" cy="353919"/>
            </a:xfrm>
          </p:grpSpPr>
          <p:sp>
            <p:nvSpPr>
              <p:cNvPr id="284" name="Freeform 283">
                <a:extLst>
                  <a:ext uri="{FF2B5EF4-FFF2-40B4-BE49-F238E27FC236}">
                    <a16:creationId xmlns:a16="http://schemas.microsoft.com/office/drawing/2014/main" id="{895B76F4-731F-1A42-B1DA-2147C72110E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85" name="Freeform 284">
                <a:extLst>
                  <a:ext uri="{FF2B5EF4-FFF2-40B4-BE49-F238E27FC236}">
                    <a16:creationId xmlns:a16="http://schemas.microsoft.com/office/drawing/2014/main" id="{0DD88259-DBF1-C849-9347-E21FCDE91C2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86" name="Freeform 285">
                <a:extLst>
                  <a:ext uri="{FF2B5EF4-FFF2-40B4-BE49-F238E27FC236}">
                    <a16:creationId xmlns:a16="http://schemas.microsoft.com/office/drawing/2014/main" id="{7F83BAF8-E480-3243-8D32-1B36CF28B4D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87" name="Freeform 286">
                <a:extLst>
                  <a:ext uri="{FF2B5EF4-FFF2-40B4-BE49-F238E27FC236}">
                    <a16:creationId xmlns:a16="http://schemas.microsoft.com/office/drawing/2014/main" id="{05F54ED9-26EA-304E-B1C7-6F58A4EB53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76" name="Group 175">
            <a:extLst>
              <a:ext uri="{FF2B5EF4-FFF2-40B4-BE49-F238E27FC236}">
                <a16:creationId xmlns:a16="http://schemas.microsoft.com/office/drawing/2014/main" id="{73201F79-4BE9-2E4A-9B0C-FB48F9222B08}"/>
              </a:ext>
            </a:extLst>
          </p:cNvPr>
          <p:cNvGrpSpPr/>
          <p:nvPr/>
        </p:nvGrpSpPr>
        <p:grpSpPr>
          <a:xfrm>
            <a:off x="6600474" y="3584283"/>
            <a:ext cx="433524" cy="214280"/>
            <a:chOff x="7493876" y="2774731"/>
            <a:chExt cx="1481958" cy="894622"/>
          </a:xfrm>
        </p:grpSpPr>
        <p:sp>
          <p:nvSpPr>
            <p:cNvPr id="274" name="Freeform 273">
              <a:extLst>
                <a:ext uri="{FF2B5EF4-FFF2-40B4-BE49-F238E27FC236}">
                  <a16:creationId xmlns:a16="http://schemas.microsoft.com/office/drawing/2014/main" id="{B69ED55D-3ADE-7541-A833-BAED4178F4E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75" name="Oval 274">
              <a:extLst>
                <a:ext uri="{FF2B5EF4-FFF2-40B4-BE49-F238E27FC236}">
                  <a16:creationId xmlns:a16="http://schemas.microsoft.com/office/drawing/2014/main" id="{475EA0AA-3E1E-A848-A884-768A31DBCF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76" name="Group 275">
              <a:extLst>
                <a:ext uri="{FF2B5EF4-FFF2-40B4-BE49-F238E27FC236}">
                  <a16:creationId xmlns:a16="http://schemas.microsoft.com/office/drawing/2014/main" id="{33E36C01-9187-3C43-B7AF-0C810E75817D}"/>
                </a:ext>
              </a:extLst>
            </p:cNvPr>
            <p:cNvGrpSpPr/>
            <p:nvPr/>
          </p:nvGrpSpPr>
          <p:grpSpPr>
            <a:xfrm>
              <a:off x="7713663" y="2848339"/>
              <a:ext cx="1042107" cy="425543"/>
              <a:chOff x="7786941" y="2884917"/>
              <a:chExt cx="897649" cy="353919"/>
            </a:xfrm>
          </p:grpSpPr>
          <p:sp>
            <p:nvSpPr>
              <p:cNvPr id="277" name="Freeform 276">
                <a:extLst>
                  <a:ext uri="{FF2B5EF4-FFF2-40B4-BE49-F238E27FC236}">
                    <a16:creationId xmlns:a16="http://schemas.microsoft.com/office/drawing/2014/main" id="{7E1D2CF9-8553-254D-99D3-498E60EF92F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78" name="Freeform 277">
                <a:extLst>
                  <a:ext uri="{FF2B5EF4-FFF2-40B4-BE49-F238E27FC236}">
                    <a16:creationId xmlns:a16="http://schemas.microsoft.com/office/drawing/2014/main" id="{10BB4142-3B92-B24F-AF76-70C8728A34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79" name="Freeform 278">
                <a:extLst>
                  <a:ext uri="{FF2B5EF4-FFF2-40B4-BE49-F238E27FC236}">
                    <a16:creationId xmlns:a16="http://schemas.microsoft.com/office/drawing/2014/main" id="{A8740BCE-7F97-7642-B163-168373E22B1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80" name="Freeform 279">
                <a:extLst>
                  <a:ext uri="{FF2B5EF4-FFF2-40B4-BE49-F238E27FC236}">
                    <a16:creationId xmlns:a16="http://schemas.microsoft.com/office/drawing/2014/main" id="{9B5C1122-8A18-FC4A-A85F-6F1A1A2BF15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77" name="Group 176">
            <a:extLst>
              <a:ext uri="{FF2B5EF4-FFF2-40B4-BE49-F238E27FC236}">
                <a16:creationId xmlns:a16="http://schemas.microsoft.com/office/drawing/2014/main" id="{2CAF0E6F-60BF-1240-A259-C66B643E89AC}"/>
              </a:ext>
            </a:extLst>
          </p:cNvPr>
          <p:cNvGrpSpPr/>
          <p:nvPr/>
        </p:nvGrpSpPr>
        <p:grpSpPr>
          <a:xfrm>
            <a:off x="6533470" y="4032662"/>
            <a:ext cx="433524" cy="214280"/>
            <a:chOff x="7493876" y="2774731"/>
            <a:chExt cx="1481958" cy="894622"/>
          </a:xfrm>
        </p:grpSpPr>
        <p:sp>
          <p:nvSpPr>
            <p:cNvPr id="267" name="Freeform 266">
              <a:extLst>
                <a:ext uri="{FF2B5EF4-FFF2-40B4-BE49-F238E27FC236}">
                  <a16:creationId xmlns:a16="http://schemas.microsoft.com/office/drawing/2014/main" id="{4E5B85EA-9E84-A242-B1CC-71F987F7E59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68" name="Oval 267">
              <a:extLst>
                <a:ext uri="{FF2B5EF4-FFF2-40B4-BE49-F238E27FC236}">
                  <a16:creationId xmlns:a16="http://schemas.microsoft.com/office/drawing/2014/main" id="{C034AB19-CDAE-D044-BA78-A52EC726959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69" name="Group 268">
              <a:extLst>
                <a:ext uri="{FF2B5EF4-FFF2-40B4-BE49-F238E27FC236}">
                  <a16:creationId xmlns:a16="http://schemas.microsoft.com/office/drawing/2014/main" id="{9E108296-06B4-4949-A9AD-3C1FA5DCEA06}"/>
                </a:ext>
              </a:extLst>
            </p:cNvPr>
            <p:cNvGrpSpPr/>
            <p:nvPr/>
          </p:nvGrpSpPr>
          <p:grpSpPr>
            <a:xfrm>
              <a:off x="7713663" y="2848339"/>
              <a:ext cx="1042107" cy="425543"/>
              <a:chOff x="7786941" y="2884917"/>
              <a:chExt cx="897649" cy="353919"/>
            </a:xfrm>
          </p:grpSpPr>
          <p:sp>
            <p:nvSpPr>
              <p:cNvPr id="270" name="Freeform 269">
                <a:extLst>
                  <a:ext uri="{FF2B5EF4-FFF2-40B4-BE49-F238E27FC236}">
                    <a16:creationId xmlns:a16="http://schemas.microsoft.com/office/drawing/2014/main" id="{8530AB93-30E4-7A4B-88C4-61542A5A0AC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71" name="Freeform 270">
                <a:extLst>
                  <a:ext uri="{FF2B5EF4-FFF2-40B4-BE49-F238E27FC236}">
                    <a16:creationId xmlns:a16="http://schemas.microsoft.com/office/drawing/2014/main" id="{D239BC1C-F100-2448-A44B-0B1C3E017E2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72" name="Freeform 271">
                <a:extLst>
                  <a:ext uri="{FF2B5EF4-FFF2-40B4-BE49-F238E27FC236}">
                    <a16:creationId xmlns:a16="http://schemas.microsoft.com/office/drawing/2014/main" id="{7FCAA9D2-9640-064E-9D9B-F975C49ECB6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73" name="Freeform 272">
                <a:extLst>
                  <a:ext uri="{FF2B5EF4-FFF2-40B4-BE49-F238E27FC236}">
                    <a16:creationId xmlns:a16="http://schemas.microsoft.com/office/drawing/2014/main" id="{645CEC1F-F8DD-F048-9976-7ECD558712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grpSp>
        <p:nvGrpSpPr>
          <p:cNvPr id="178" name="Group 177">
            <a:extLst>
              <a:ext uri="{FF2B5EF4-FFF2-40B4-BE49-F238E27FC236}">
                <a16:creationId xmlns:a16="http://schemas.microsoft.com/office/drawing/2014/main" id="{B80B3CBF-96BC-A640-867D-5DE8C38FCAA4}"/>
              </a:ext>
            </a:extLst>
          </p:cNvPr>
          <p:cNvGrpSpPr/>
          <p:nvPr/>
        </p:nvGrpSpPr>
        <p:grpSpPr>
          <a:xfrm>
            <a:off x="5823461" y="3815385"/>
            <a:ext cx="433524" cy="214280"/>
            <a:chOff x="7493876" y="2774731"/>
            <a:chExt cx="1481958" cy="894622"/>
          </a:xfrm>
        </p:grpSpPr>
        <p:sp>
          <p:nvSpPr>
            <p:cNvPr id="260" name="Freeform 259">
              <a:extLst>
                <a:ext uri="{FF2B5EF4-FFF2-40B4-BE49-F238E27FC236}">
                  <a16:creationId xmlns:a16="http://schemas.microsoft.com/office/drawing/2014/main" id="{E2DEA29E-E539-DD4A-8E78-F10B0CB91D3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sp>
          <p:nvSpPr>
            <p:cNvPr id="261" name="Oval 260">
              <a:extLst>
                <a:ext uri="{FF2B5EF4-FFF2-40B4-BE49-F238E27FC236}">
                  <a16:creationId xmlns:a16="http://schemas.microsoft.com/office/drawing/2014/main" id="{B75DAF39-296E-174B-9017-65859A66C61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r>
                <a:rPr lang="en-US" sz="1350" dirty="0">
                  <a:solidFill>
                    <a:prstClr val="white"/>
                  </a:solidFill>
                </a:rPr>
                <a:t>              </a:t>
              </a:r>
            </a:p>
          </p:txBody>
        </p:sp>
        <p:grpSp>
          <p:nvGrpSpPr>
            <p:cNvPr id="262" name="Group 261">
              <a:extLst>
                <a:ext uri="{FF2B5EF4-FFF2-40B4-BE49-F238E27FC236}">
                  <a16:creationId xmlns:a16="http://schemas.microsoft.com/office/drawing/2014/main" id="{F88F2AE9-EF9D-9349-9FB8-E52CAD986B93}"/>
                </a:ext>
              </a:extLst>
            </p:cNvPr>
            <p:cNvGrpSpPr/>
            <p:nvPr/>
          </p:nvGrpSpPr>
          <p:grpSpPr>
            <a:xfrm>
              <a:off x="7713663" y="2848339"/>
              <a:ext cx="1042107" cy="425543"/>
              <a:chOff x="7786941" y="2884917"/>
              <a:chExt cx="897649" cy="353919"/>
            </a:xfrm>
          </p:grpSpPr>
          <p:sp>
            <p:nvSpPr>
              <p:cNvPr id="263" name="Freeform 262">
                <a:extLst>
                  <a:ext uri="{FF2B5EF4-FFF2-40B4-BE49-F238E27FC236}">
                    <a16:creationId xmlns:a16="http://schemas.microsoft.com/office/drawing/2014/main" id="{FB60E484-FF23-D44E-87D8-BB30525A1A1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64" name="Freeform 263">
                <a:extLst>
                  <a:ext uri="{FF2B5EF4-FFF2-40B4-BE49-F238E27FC236}">
                    <a16:creationId xmlns:a16="http://schemas.microsoft.com/office/drawing/2014/main" id="{B0FF7CDC-AB3A-6C44-8273-6FEA8A00EF4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65" name="Freeform 264">
                <a:extLst>
                  <a:ext uri="{FF2B5EF4-FFF2-40B4-BE49-F238E27FC236}">
                    <a16:creationId xmlns:a16="http://schemas.microsoft.com/office/drawing/2014/main" id="{D102FF9A-7D62-CC4B-8939-37FC1A1E61D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266" name="Freeform 265">
                <a:extLst>
                  <a:ext uri="{FF2B5EF4-FFF2-40B4-BE49-F238E27FC236}">
                    <a16:creationId xmlns:a16="http://schemas.microsoft.com/office/drawing/2014/main" id="{928B49DE-7679-8C46-A671-A7856D8F840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sp>
        <p:nvSpPr>
          <p:cNvPr id="179" name="Freeform 254">
            <a:extLst>
              <a:ext uri="{FF2B5EF4-FFF2-40B4-BE49-F238E27FC236}">
                <a16:creationId xmlns:a16="http://schemas.microsoft.com/office/drawing/2014/main" id="{4BD65FCE-B086-1C41-89A5-8DAF6BA0013D}"/>
              </a:ext>
            </a:extLst>
          </p:cNvPr>
          <p:cNvSpPr>
            <a:spLocks/>
          </p:cNvSpPr>
          <p:nvPr/>
        </p:nvSpPr>
        <p:spPr bwMode="auto">
          <a:xfrm>
            <a:off x="8384150" y="2630012"/>
            <a:ext cx="188119" cy="9096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grpSp>
        <p:nvGrpSpPr>
          <p:cNvPr id="180" name="Group 289">
            <a:extLst>
              <a:ext uri="{FF2B5EF4-FFF2-40B4-BE49-F238E27FC236}">
                <a16:creationId xmlns:a16="http://schemas.microsoft.com/office/drawing/2014/main" id="{282CC52C-6D00-A04B-884E-AF704D4FD9CC}"/>
              </a:ext>
            </a:extLst>
          </p:cNvPr>
          <p:cNvGrpSpPr>
            <a:grpSpLocks/>
          </p:cNvGrpSpPr>
          <p:nvPr/>
        </p:nvGrpSpPr>
        <p:grpSpPr bwMode="auto">
          <a:xfrm>
            <a:off x="8516310" y="3302715"/>
            <a:ext cx="173831" cy="330994"/>
            <a:chOff x="4140" y="429"/>
            <a:chExt cx="1425" cy="2396"/>
          </a:xfrm>
        </p:grpSpPr>
        <p:sp>
          <p:nvSpPr>
            <p:cNvPr id="228" name="Freeform 290">
              <a:extLst>
                <a:ext uri="{FF2B5EF4-FFF2-40B4-BE49-F238E27FC236}">
                  <a16:creationId xmlns:a16="http://schemas.microsoft.com/office/drawing/2014/main" id="{DD58842D-C583-744E-BFD5-323B2ED543E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29" name="Rectangle 291">
              <a:extLst>
                <a:ext uri="{FF2B5EF4-FFF2-40B4-BE49-F238E27FC236}">
                  <a16:creationId xmlns:a16="http://schemas.microsoft.com/office/drawing/2014/main" id="{7A587CA9-D508-B244-898D-908A8BD8F72A}"/>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30" name="Freeform 292">
              <a:extLst>
                <a:ext uri="{FF2B5EF4-FFF2-40B4-BE49-F238E27FC236}">
                  <a16:creationId xmlns:a16="http://schemas.microsoft.com/office/drawing/2014/main" id="{15485B65-6A91-A741-B71C-C9054384FF1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31" name="Freeform 293">
              <a:extLst>
                <a:ext uri="{FF2B5EF4-FFF2-40B4-BE49-F238E27FC236}">
                  <a16:creationId xmlns:a16="http://schemas.microsoft.com/office/drawing/2014/main" id="{9FD462AB-E254-4B44-ACEE-57DF3FEA3E4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32" name="Rectangle 294">
              <a:extLst>
                <a:ext uri="{FF2B5EF4-FFF2-40B4-BE49-F238E27FC236}">
                  <a16:creationId xmlns:a16="http://schemas.microsoft.com/office/drawing/2014/main" id="{8B02D026-F14D-2740-A4A5-53851F0B2463}"/>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33" name="Group 295">
              <a:extLst>
                <a:ext uri="{FF2B5EF4-FFF2-40B4-BE49-F238E27FC236}">
                  <a16:creationId xmlns:a16="http://schemas.microsoft.com/office/drawing/2014/main" id="{B0C25286-A814-9143-B593-142AD05ACA72}"/>
                </a:ext>
              </a:extLst>
            </p:cNvPr>
            <p:cNvGrpSpPr>
              <a:grpSpLocks/>
            </p:cNvGrpSpPr>
            <p:nvPr/>
          </p:nvGrpSpPr>
          <p:grpSpPr bwMode="auto">
            <a:xfrm>
              <a:off x="4749" y="668"/>
              <a:ext cx="581" cy="145"/>
              <a:chOff x="614" y="2568"/>
              <a:chExt cx="725" cy="139"/>
            </a:xfrm>
          </p:grpSpPr>
          <p:sp>
            <p:nvSpPr>
              <p:cNvPr id="258" name="AutoShape 296">
                <a:extLst>
                  <a:ext uri="{FF2B5EF4-FFF2-40B4-BE49-F238E27FC236}">
                    <a16:creationId xmlns:a16="http://schemas.microsoft.com/office/drawing/2014/main" id="{2F585279-173F-3044-B252-4EED42C34D71}"/>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59" name="AutoShape 297">
                <a:extLst>
                  <a:ext uri="{FF2B5EF4-FFF2-40B4-BE49-F238E27FC236}">
                    <a16:creationId xmlns:a16="http://schemas.microsoft.com/office/drawing/2014/main" id="{C0B63C95-0F44-8E4E-AEF1-8EEACAC76CD1}"/>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34" name="Rectangle 298">
              <a:extLst>
                <a:ext uri="{FF2B5EF4-FFF2-40B4-BE49-F238E27FC236}">
                  <a16:creationId xmlns:a16="http://schemas.microsoft.com/office/drawing/2014/main" id="{640C9C7A-DAFB-DB46-B834-AEAC566FA64C}"/>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35" name="Group 299">
              <a:extLst>
                <a:ext uri="{FF2B5EF4-FFF2-40B4-BE49-F238E27FC236}">
                  <a16:creationId xmlns:a16="http://schemas.microsoft.com/office/drawing/2014/main" id="{23F48019-DD1C-564E-B574-A8D1DB03F640}"/>
                </a:ext>
              </a:extLst>
            </p:cNvPr>
            <p:cNvGrpSpPr>
              <a:grpSpLocks/>
            </p:cNvGrpSpPr>
            <p:nvPr/>
          </p:nvGrpSpPr>
          <p:grpSpPr bwMode="auto">
            <a:xfrm>
              <a:off x="4747" y="994"/>
              <a:ext cx="581" cy="134"/>
              <a:chOff x="614" y="2568"/>
              <a:chExt cx="725" cy="139"/>
            </a:xfrm>
          </p:grpSpPr>
          <p:sp>
            <p:nvSpPr>
              <p:cNvPr id="256" name="AutoShape 300">
                <a:extLst>
                  <a:ext uri="{FF2B5EF4-FFF2-40B4-BE49-F238E27FC236}">
                    <a16:creationId xmlns:a16="http://schemas.microsoft.com/office/drawing/2014/main" id="{E4024405-5028-0C46-8622-FC0B3C82022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57" name="AutoShape 301">
                <a:extLst>
                  <a:ext uri="{FF2B5EF4-FFF2-40B4-BE49-F238E27FC236}">
                    <a16:creationId xmlns:a16="http://schemas.microsoft.com/office/drawing/2014/main" id="{A5F943AE-9009-0944-89F8-AA45045404E6}"/>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36" name="Rectangle 302">
              <a:extLst>
                <a:ext uri="{FF2B5EF4-FFF2-40B4-BE49-F238E27FC236}">
                  <a16:creationId xmlns:a16="http://schemas.microsoft.com/office/drawing/2014/main" id="{1D7CBC12-6E8F-5743-B297-791903B3F602}"/>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37" name="Rectangle 303">
              <a:extLst>
                <a:ext uri="{FF2B5EF4-FFF2-40B4-BE49-F238E27FC236}">
                  <a16:creationId xmlns:a16="http://schemas.microsoft.com/office/drawing/2014/main" id="{C3850711-AC6C-D149-8913-D8083044DE49}"/>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38" name="Group 304">
              <a:extLst>
                <a:ext uri="{FF2B5EF4-FFF2-40B4-BE49-F238E27FC236}">
                  <a16:creationId xmlns:a16="http://schemas.microsoft.com/office/drawing/2014/main" id="{9D49FEB6-488F-2048-A11B-E06E76DBE7A4}"/>
                </a:ext>
              </a:extLst>
            </p:cNvPr>
            <p:cNvGrpSpPr>
              <a:grpSpLocks/>
            </p:cNvGrpSpPr>
            <p:nvPr/>
          </p:nvGrpSpPr>
          <p:grpSpPr bwMode="auto">
            <a:xfrm>
              <a:off x="4735" y="1627"/>
              <a:ext cx="582" cy="151"/>
              <a:chOff x="614" y="2568"/>
              <a:chExt cx="725" cy="139"/>
            </a:xfrm>
          </p:grpSpPr>
          <p:sp>
            <p:nvSpPr>
              <p:cNvPr id="254" name="AutoShape 305">
                <a:extLst>
                  <a:ext uri="{FF2B5EF4-FFF2-40B4-BE49-F238E27FC236}">
                    <a16:creationId xmlns:a16="http://schemas.microsoft.com/office/drawing/2014/main" id="{0B25DD4D-3C90-584F-8831-6C80F4C7A987}"/>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55" name="AutoShape 306">
                <a:extLst>
                  <a:ext uri="{FF2B5EF4-FFF2-40B4-BE49-F238E27FC236}">
                    <a16:creationId xmlns:a16="http://schemas.microsoft.com/office/drawing/2014/main" id="{B7F3D7FB-8973-D44C-AD5E-E00A87134B2B}"/>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39" name="Freeform 307">
              <a:extLst>
                <a:ext uri="{FF2B5EF4-FFF2-40B4-BE49-F238E27FC236}">
                  <a16:creationId xmlns:a16="http://schemas.microsoft.com/office/drawing/2014/main" id="{43DC40CF-325A-0047-882C-F0B88908FD2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grpSp>
          <p:nvGrpSpPr>
            <p:cNvPr id="240" name="Group 308">
              <a:extLst>
                <a:ext uri="{FF2B5EF4-FFF2-40B4-BE49-F238E27FC236}">
                  <a16:creationId xmlns:a16="http://schemas.microsoft.com/office/drawing/2014/main" id="{F5FBB7ED-0006-594A-8F05-82D90CE6725A}"/>
                </a:ext>
              </a:extLst>
            </p:cNvPr>
            <p:cNvGrpSpPr>
              <a:grpSpLocks/>
            </p:cNvGrpSpPr>
            <p:nvPr/>
          </p:nvGrpSpPr>
          <p:grpSpPr bwMode="auto">
            <a:xfrm>
              <a:off x="4739" y="1327"/>
              <a:ext cx="582" cy="139"/>
              <a:chOff x="614" y="2568"/>
              <a:chExt cx="725" cy="139"/>
            </a:xfrm>
          </p:grpSpPr>
          <p:sp>
            <p:nvSpPr>
              <p:cNvPr id="252" name="AutoShape 309">
                <a:extLst>
                  <a:ext uri="{FF2B5EF4-FFF2-40B4-BE49-F238E27FC236}">
                    <a16:creationId xmlns:a16="http://schemas.microsoft.com/office/drawing/2014/main" id="{1A4A3E68-C445-A84F-A76F-8ADDE253BDDE}"/>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53" name="AutoShape 310">
                <a:extLst>
                  <a:ext uri="{FF2B5EF4-FFF2-40B4-BE49-F238E27FC236}">
                    <a16:creationId xmlns:a16="http://schemas.microsoft.com/office/drawing/2014/main" id="{A0077764-7657-B447-9665-316638C75160}"/>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41" name="Rectangle 311">
              <a:extLst>
                <a:ext uri="{FF2B5EF4-FFF2-40B4-BE49-F238E27FC236}">
                  <a16:creationId xmlns:a16="http://schemas.microsoft.com/office/drawing/2014/main" id="{8B482C5C-EFF7-D349-8CCD-0F43172E89C7}"/>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42" name="Freeform 312">
              <a:extLst>
                <a:ext uri="{FF2B5EF4-FFF2-40B4-BE49-F238E27FC236}">
                  <a16:creationId xmlns:a16="http://schemas.microsoft.com/office/drawing/2014/main" id="{4021586C-DA67-AA41-BA88-7AEAD6F261B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43" name="Freeform 313">
              <a:extLst>
                <a:ext uri="{FF2B5EF4-FFF2-40B4-BE49-F238E27FC236}">
                  <a16:creationId xmlns:a16="http://schemas.microsoft.com/office/drawing/2014/main" id="{3D9F60F4-9173-9246-8E1F-2C2859D17EA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44" name="Oval 314">
              <a:extLst>
                <a:ext uri="{FF2B5EF4-FFF2-40B4-BE49-F238E27FC236}">
                  <a16:creationId xmlns:a16="http://schemas.microsoft.com/office/drawing/2014/main" id="{8765AD34-763D-1F46-AA79-FB63EC3993FF}"/>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45" name="Freeform 315">
              <a:extLst>
                <a:ext uri="{FF2B5EF4-FFF2-40B4-BE49-F238E27FC236}">
                  <a16:creationId xmlns:a16="http://schemas.microsoft.com/office/drawing/2014/main" id="{E10BDF5D-EA0F-F042-BD9B-6E36BFF56F07}"/>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46" name="AutoShape 316">
              <a:extLst>
                <a:ext uri="{FF2B5EF4-FFF2-40B4-BE49-F238E27FC236}">
                  <a16:creationId xmlns:a16="http://schemas.microsoft.com/office/drawing/2014/main" id="{6C729113-6D55-C84E-BE58-123F8F053546}"/>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47" name="AutoShape 317">
              <a:extLst>
                <a:ext uri="{FF2B5EF4-FFF2-40B4-BE49-F238E27FC236}">
                  <a16:creationId xmlns:a16="http://schemas.microsoft.com/office/drawing/2014/main" id="{81EA52A6-99B7-3846-9B34-7CB52FA093B6}"/>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48" name="Oval 318">
              <a:extLst>
                <a:ext uri="{FF2B5EF4-FFF2-40B4-BE49-F238E27FC236}">
                  <a16:creationId xmlns:a16="http://schemas.microsoft.com/office/drawing/2014/main" id="{D941D592-57DE-E849-8C9C-58F0B9615263}"/>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49" name="Oval 319">
              <a:extLst>
                <a:ext uri="{FF2B5EF4-FFF2-40B4-BE49-F238E27FC236}">
                  <a16:creationId xmlns:a16="http://schemas.microsoft.com/office/drawing/2014/main" id="{BE056CB0-2EDD-6D4A-957A-3CCB3F3B3C6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350" kern="0">
                <a:solidFill>
                  <a:srgbClr val="FF0000"/>
                </a:solidFill>
                <a:latin typeface="Arial" charset="0"/>
                <a:ea typeface="ＭＳ Ｐゴシック" charset="0"/>
                <a:cs typeface="Arial" charset="0"/>
              </a:endParaRPr>
            </a:p>
          </p:txBody>
        </p:sp>
        <p:sp>
          <p:nvSpPr>
            <p:cNvPr id="250" name="Oval 320">
              <a:extLst>
                <a:ext uri="{FF2B5EF4-FFF2-40B4-BE49-F238E27FC236}">
                  <a16:creationId xmlns:a16="http://schemas.microsoft.com/office/drawing/2014/main" id="{0996AC45-D45C-6E49-8EA2-6B239FB493B4}"/>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51" name="Rectangle 321">
              <a:extLst>
                <a:ext uri="{FF2B5EF4-FFF2-40B4-BE49-F238E27FC236}">
                  <a16:creationId xmlns:a16="http://schemas.microsoft.com/office/drawing/2014/main" id="{4AD2A6FD-B1C1-2846-85C2-F6D452B32A9A}"/>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181" name="Freeform 270">
            <a:extLst>
              <a:ext uri="{FF2B5EF4-FFF2-40B4-BE49-F238E27FC236}">
                <a16:creationId xmlns:a16="http://schemas.microsoft.com/office/drawing/2014/main" id="{327C52FA-DE4A-E94F-8911-ABEE881AA22F}"/>
              </a:ext>
            </a:extLst>
          </p:cNvPr>
          <p:cNvSpPr>
            <a:spLocks/>
          </p:cNvSpPr>
          <p:nvPr/>
        </p:nvSpPr>
        <p:spPr bwMode="auto">
          <a:xfrm flipH="1">
            <a:off x="5107550" y="2586037"/>
            <a:ext cx="188119" cy="901304"/>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grpSp>
        <p:nvGrpSpPr>
          <p:cNvPr id="182" name="Group 354">
            <a:extLst>
              <a:ext uri="{FF2B5EF4-FFF2-40B4-BE49-F238E27FC236}">
                <a16:creationId xmlns:a16="http://schemas.microsoft.com/office/drawing/2014/main" id="{249020EA-8359-DA4E-A6BD-01714A19478B}"/>
              </a:ext>
            </a:extLst>
          </p:cNvPr>
          <p:cNvGrpSpPr>
            <a:grpSpLocks/>
          </p:cNvGrpSpPr>
          <p:nvPr/>
        </p:nvGrpSpPr>
        <p:grpSpPr bwMode="auto">
          <a:xfrm>
            <a:off x="4803940" y="3289698"/>
            <a:ext cx="394097" cy="326231"/>
            <a:chOff x="-44" y="1473"/>
            <a:chExt cx="981" cy="1105"/>
          </a:xfrm>
        </p:grpSpPr>
        <p:pic>
          <p:nvPicPr>
            <p:cNvPr id="226" name="Picture 355" descr="desktop_computer_stylized_medium">
              <a:extLst>
                <a:ext uri="{FF2B5EF4-FFF2-40B4-BE49-F238E27FC236}">
                  <a16:creationId xmlns:a16="http://schemas.microsoft.com/office/drawing/2014/main" id="{F5E082B2-BADD-164A-983C-4F21EE8545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 name="Freeform 356">
              <a:extLst>
                <a:ext uri="{FF2B5EF4-FFF2-40B4-BE49-F238E27FC236}">
                  <a16:creationId xmlns:a16="http://schemas.microsoft.com/office/drawing/2014/main" id="{079D48B4-8397-C148-BF34-3B142B76223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184" name="Group 183">
            <a:extLst>
              <a:ext uri="{FF2B5EF4-FFF2-40B4-BE49-F238E27FC236}">
                <a16:creationId xmlns:a16="http://schemas.microsoft.com/office/drawing/2014/main" id="{B24BA112-55AD-AC41-BD94-9D9DBD9F7E9A}"/>
              </a:ext>
            </a:extLst>
          </p:cNvPr>
          <p:cNvGrpSpPr/>
          <p:nvPr/>
        </p:nvGrpSpPr>
        <p:grpSpPr>
          <a:xfrm>
            <a:off x="5283965" y="2628808"/>
            <a:ext cx="538401" cy="865856"/>
            <a:chOff x="7664720" y="2799688"/>
            <a:chExt cx="717868" cy="1154474"/>
          </a:xfrm>
        </p:grpSpPr>
        <p:sp>
          <p:nvSpPr>
            <p:cNvPr id="221" name="Rectangle 220">
              <a:extLst>
                <a:ext uri="{FF2B5EF4-FFF2-40B4-BE49-F238E27FC236}">
                  <a16:creationId xmlns:a16="http://schemas.microsoft.com/office/drawing/2014/main" id="{1D5C8C48-4AA2-D144-9071-4FC46876C0CD}"/>
                </a:ext>
              </a:extLst>
            </p:cNvPr>
            <p:cNvSpPr/>
            <p:nvPr/>
          </p:nvSpPr>
          <p:spPr>
            <a:xfrm>
              <a:off x="7671781" y="2799688"/>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cxnSp>
          <p:nvCxnSpPr>
            <p:cNvPr id="222" name="Straight Connector 221">
              <a:extLst>
                <a:ext uri="{FF2B5EF4-FFF2-40B4-BE49-F238E27FC236}">
                  <a16:creationId xmlns:a16="http://schemas.microsoft.com/office/drawing/2014/main" id="{C9115613-D043-F746-9E95-BE91F6C8BCC9}"/>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74476B4D-7B72-FD42-B168-C58F9397FB9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893A87B8-2634-E14A-80D8-9E6D65DFA444}"/>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84DDD5A1-E55B-8D44-8F53-EA448F2F5AB7}"/>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8" name="Group 187">
            <a:extLst>
              <a:ext uri="{FF2B5EF4-FFF2-40B4-BE49-F238E27FC236}">
                <a16:creationId xmlns:a16="http://schemas.microsoft.com/office/drawing/2014/main" id="{D946DB51-76AF-794B-896C-CE798C356CDC}"/>
              </a:ext>
            </a:extLst>
          </p:cNvPr>
          <p:cNvGrpSpPr/>
          <p:nvPr/>
        </p:nvGrpSpPr>
        <p:grpSpPr>
          <a:xfrm>
            <a:off x="7857686" y="2633741"/>
            <a:ext cx="538401" cy="865856"/>
            <a:chOff x="7664720" y="2795550"/>
            <a:chExt cx="717868" cy="1154474"/>
          </a:xfrm>
        </p:grpSpPr>
        <p:sp>
          <p:nvSpPr>
            <p:cNvPr id="210" name="Rectangle 209">
              <a:extLst>
                <a:ext uri="{FF2B5EF4-FFF2-40B4-BE49-F238E27FC236}">
                  <a16:creationId xmlns:a16="http://schemas.microsoft.com/office/drawing/2014/main" id="{2945C805-FB4D-1F41-B9DC-8E71DE43D0DF}"/>
                </a:ext>
              </a:extLst>
            </p:cNvPr>
            <p:cNvSpPr/>
            <p:nvPr/>
          </p:nvSpPr>
          <p:spPr>
            <a:xfrm>
              <a:off x="7671781" y="2795550"/>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cxnSp>
          <p:nvCxnSpPr>
            <p:cNvPr id="211" name="Straight Connector 210">
              <a:extLst>
                <a:ext uri="{FF2B5EF4-FFF2-40B4-BE49-F238E27FC236}">
                  <a16:creationId xmlns:a16="http://schemas.microsoft.com/office/drawing/2014/main" id="{5C0CB443-CBC2-9E45-9CB6-C744CDA9BFD1}"/>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804DF73C-F88C-FA4D-8328-09984DEA993E}"/>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F977C676-85FB-0F40-8B20-289C82EC6C10}"/>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D0AB40D6-D3E3-F644-A0B4-C65086440100}"/>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9" name="Group 188">
            <a:extLst>
              <a:ext uri="{FF2B5EF4-FFF2-40B4-BE49-F238E27FC236}">
                <a16:creationId xmlns:a16="http://schemas.microsoft.com/office/drawing/2014/main" id="{CD01A017-DD54-D843-8EFE-4E068B32A548}"/>
              </a:ext>
            </a:extLst>
          </p:cNvPr>
          <p:cNvGrpSpPr/>
          <p:nvPr/>
        </p:nvGrpSpPr>
        <p:grpSpPr>
          <a:xfrm>
            <a:off x="6650874" y="4041421"/>
            <a:ext cx="342526" cy="169911"/>
            <a:chOff x="6859123" y="5156933"/>
            <a:chExt cx="456701" cy="226548"/>
          </a:xfrm>
        </p:grpSpPr>
        <p:sp>
          <p:nvSpPr>
            <p:cNvPr id="202" name="Rectangle 201">
              <a:extLst>
                <a:ext uri="{FF2B5EF4-FFF2-40B4-BE49-F238E27FC236}">
                  <a16:creationId xmlns:a16="http://schemas.microsoft.com/office/drawing/2014/main" id="{A9C46B58-EB58-CD4B-901C-36557A6BBB8A}"/>
                </a:ext>
              </a:extLst>
            </p:cNvPr>
            <p:cNvSpPr/>
            <p:nvPr/>
          </p:nvSpPr>
          <p:spPr>
            <a:xfrm>
              <a:off x="6859123" y="5156933"/>
              <a:ext cx="456701" cy="226548"/>
            </a:xfrm>
            <a:prstGeom prst="rect">
              <a:avLst/>
            </a:prstGeom>
            <a:solidFill>
              <a:srgbClr val="F989B2"/>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cxnSp>
          <p:nvCxnSpPr>
            <p:cNvPr id="203" name="Straight Connector 202">
              <a:extLst>
                <a:ext uri="{FF2B5EF4-FFF2-40B4-BE49-F238E27FC236}">
                  <a16:creationId xmlns:a16="http://schemas.microsoft.com/office/drawing/2014/main" id="{F310AA80-E5E5-9D45-B059-DBF356B23652}"/>
                </a:ext>
              </a:extLst>
            </p:cNvPr>
            <p:cNvCxnSpPr/>
            <p:nvPr/>
          </p:nvCxnSpPr>
          <p:spPr>
            <a:xfrm flipV="1">
              <a:off x="724911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2B504DA0-0830-A247-BFB2-5B08B92F485C}"/>
                </a:ext>
              </a:extLst>
            </p:cNvPr>
            <p:cNvCxnSpPr/>
            <p:nvPr/>
          </p:nvCxnSpPr>
          <p:spPr>
            <a:xfrm flipV="1">
              <a:off x="7197800"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89AA1B6E-8009-4F41-B5BE-F62AE9B4630F}"/>
                </a:ext>
              </a:extLst>
            </p:cNvPr>
            <p:cNvCxnSpPr/>
            <p:nvPr/>
          </p:nvCxnSpPr>
          <p:spPr>
            <a:xfrm flipV="1">
              <a:off x="714648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69984DBE-4678-3045-8619-E36B03BB624E}"/>
                </a:ext>
              </a:extLst>
            </p:cNvPr>
            <p:cNvCxnSpPr/>
            <p:nvPr/>
          </p:nvCxnSpPr>
          <p:spPr>
            <a:xfrm flipV="1">
              <a:off x="709517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334E391C-886C-FD40-90C5-307C327A8D88}"/>
                </a:ext>
              </a:extLst>
            </p:cNvPr>
            <p:cNvCxnSpPr/>
            <p:nvPr/>
          </p:nvCxnSpPr>
          <p:spPr>
            <a:xfrm flipV="1">
              <a:off x="7043856"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8740E756-940A-C245-BFC2-46F263F13E78}"/>
                </a:ext>
              </a:extLst>
            </p:cNvPr>
            <p:cNvCxnSpPr/>
            <p:nvPr/>
          </p:nvCxnSpPr>
          <p:spPr>
            <a:xfrm flipV="1">
              <a:off x="699254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3646C395-21B6-0B4A-B835-DCBA9C58427F}"/>
                </a:ext>
              </a:extLst>
            </p:cNvPr>
            <p:cNvCxnSpPr/>
            <p:nvPr/>
          </p:nvCxnSpPr>
          <p:spPr>
            <a:xfrm flipV="1">
              <a:off x="6941227"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E87911E2-4676-1041-AC82-896E82DBBF94}"/>
              </a:ext>
            </a:extLst>
          </p:cNvPr>
          <p:cNvGrpSpPr/>
          <p:nvPr/>
        </p:nvGrpSpPr>
        <p:grpSpPr>
          <a:xfrm>
            <a:off x="5664299" y="2928882"/>
            <a:ext cx="2296261" cy="1074980"/>
            <a:chOff x="7552398" y="2762175"/>
            <a:chExt cx="3061681" cy="1433307"/>
          </a:xfrm>
        </p:grpSpPr>
        <p:sp>
          <p:nvSpPr>
            <p:cNvPr id="306" name="Freeform 305">
              <a:extLst>
                <a:ext uri="{FF2B5EF4-FFF2-40B4-BE49-F238E27FC236}">
                  <a16:creationId xmlns:a16="http://schemas.microsoft.com/office/drawing/2014/main" id="{A047DABE-6D91-2B46-B457-9C4D910EAC34}"/>
                </a:ext>
              </a:extLst>
            </p:cNvPr>
            <p:cNvSpPr/>
            <p:nvPr/>
          </p:nvSpPr>
          <p:spPr>
            <a:xfrm flipH="1">
              <a:off x="9104671" y="2771139"/>
              <a:ext cx="1509408" cy="1424343"/>
            </a:xfrm>
            <a:custGeom>
              <a:avLst/>
              <a:gdLst>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Lst>
              <a:ahLst/>
              <a:cxnLst>
                <a:cxn ang="0">
                  <a:pos x="connsiteX0" y="connsiteY0"/>
                </a:cxn>
                <a:cxn ang="0">
                  <a:pos x="connsiteX1" y="connsiteY1"/>
                </a:cxn>
              </a:cxnLst>
              <a:rect l="l" t="t" r="r" b="b"/>
              <a:pathLst>
                <a:path w="1509408" h="1378340">
                  <a:moveTo>
                    <a:pt x="1509408" y="1378340"/>
                  </a:moveTo>
                  <a:cubicBezTo>
                    <a:pt x="1268229" y="509348"/>
                    <a:pt x="882368" y="54174"/>
                    <a:pt x="0"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307" name="Freeform 306">
              <a:extLst>
                <a:ext uri="{FF2B5EF4-FFF2-40B4-BE49-F238E27FC236}">
                  <a16:creationId xmlns:a16="http://schemas.microsoft.com/office/drawing/2014/main" id="{268EAC65-5523-F449-A3E7-F1059BFF90A8}"/>
                </a:ext>
              </a:extLst>
            </p:cNvPr>
            <p:cNvSpPr/>
            <p:nvPr/>
          </p:nvSpPr>
          <p:spPr>
            <a:xfrm>
              <a:off x="7552398" y="2762175"/>
              <a:ext cx="1509408" cy="1424343"/>
            </a:xfrm>
            <a:custGeom>
              <a:avLst/>
              <a:gdLst>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Lst>
              <a:ahLst/>
              <a:cxnLst>
                <a:cxn ang="0">
                  <a:pos x="connsiteX0" y="connsiteY0"/>
                </a:cxn>
                <a:cxn ang="0">
                  <a:pos x="connsiteX1" y="connsiteY1"/>
                </a:cxn>
              </a:cxnLst>
              <a:rect l="l" t="t" r="r" b="b"/>
              <a:pathLst>
                <a:path w="1509408" h="1378340">
                  <a:moveTo>
                    <a:pt x="1509408" y="1378340"/>
                  </a:moveTo>
                  <a:cubicBezTo>
                    <a:pt x="1268229" y="509348"/>
                    <a:pt x="882368" y="54174"/>
                    <a:pt x="0"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grpSp>
        <p:nvGrpSpPr>
          <p:cNvPr id="308" name="Group 307">
            <a:extLst>
              <a:ext uri="{FF2B5EF4-FFF2-40B4-BE49-F238E27FC236}">
                <a16:creationId xmlns:a16="http://schemas.microsoft.com/office/drawing/2014/main" id="{CDE6A3E2-3661-2F4D-A6C8-724B4A3D05ED}"/>
              </a:ext>
            </a:extLst>
          </p:cNvPr>
          <p:cNvGrpSpPr/>
          <p:nvPr/>
        </p:nvGrpSpPr>
        <p:grpSpPr>
          <a:xfrm>
            <a:off x="5571432" y="2865237"/>
            <a:ext cx="2563742" cy="1278763"/>
            <a:chOff x="7428575" y="2677315"/>
            <a:chExt cx="3418322" cy="1705017"/>
          </a:xfrm>
        </p:grpSpPr>
        <p:sp>
          <p:nvSpPr>
            <p:cNvPr id="309" name="Freeform 308">
              <a:extLst>
                <a:ext uri="{FF2B5EF4-FFF2-40B4-BE49-F238E27FC236}">
                  <a16:creationId xmlns:a16="http://schemas.microsoft.com/office/drawing/2014/main" id="{B47BEEA4-E4B8-A64E-885F-14003C8F5A1B}"/>
                </a:ext>
              </a:extLst>
            </p:cNvPr>
            <p:cNvSpPr/>
            <p:nvPr/>
          </p:nvSpPr>
          <p:spPr>
            <a:xfrm>
              <a:off x="9335149" y="2701273"/>
              <a:ext cx="1406838" cy="168105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Lst>
              <a:ahLst/>
              <a:cxnLst>
                <a:cxn ang="0">
                  <a:pos x="connsiteX0" y="connsiteY0"/>
                </a:cxn>
                <a:cxn ang="0">
                  <a:pos x="connsiteX1" y="connsiteY1"/>
                </a:cxn>
                <a:cxn ang="0">
                  <a:pos x="connsiteX2" y="connsiteY2"/>
                </a:cxn>
                <a:cxn ang="0">
                  <a:pos x="connsiteX3" y="connsiteY3"/>
                </a:cxn>
              </a:cxnLst>
              <a:rect l="l" t="t" r="r" b="b"/>
              <a:pathLst>
                <a:path w="1541303" h="1681059">
                  <a:moveTo>
                    <a:pt x="0" y="1681059"/>
                  </a:moveTo>
                  <a:lnTo>
                    <a:pt x="539056" y="1465436"/>
                  </a:lnTo>
                  <a:lnTo>
                    <a:pt x="1541303" y="1445471"/>
                  </a:lnTo>
                  <a:lnTo>
                    <a:pt x="1525331" y="0"/>
                  </a:lnTo>
                </a:path>
              </a:pathLst>
            </a:custGeom>
            <a:noFill/>
            <a:ln w="4445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310" name="Freeform 309">
              <a:extLst>
                <a:ext uri="{FF2B5EF4-FFF2-40B4-BE49-F238E27FC236}">
                  <a16:creationId xmlns:a16="http://schemas.microsoft.com/office/drawing/2014/main" id="{304AE042-2E8A-D141-BC94-ED99460E627E}"/>
                </a:ext>
              </a:extLst>
            </p:cNvPr>
            <p:cNvSpPr/>
            <p:nvPr/>
          </p:nvSpPr>
          <p:spPr>
            <a:xfrm>
              <a:off x="7473006" y="2677315"/>
              <a:ext cx="1446868" cy="1701024"/>
            </a:xfrm>
            <a:custGeom>
              <a:avLst/>
              <a:gdLst>
                <a:gd name="connsiteX0" fmla="*/ 0 w 1549289"/>
                <a:gd name="connsiteY0" fmla="*/ 0 h 1701024"/>
                <a:gd name="connsiteX1" fmla="*/ 0 w 1549289"/>
                <a:gd name="connsiteY1" fmla="*/ 1485401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85401 h 1701024"/>
                <a:gd name="connsiteX3" fmla="*/ 1549289 w 1549289"/>
                <a:gd name="connsiteY3" fmla="*/ 1701024 h 1701024"/>
              </a:gdLst>
              <a:ahLst/>
              <a:cxnLst>
                <a:cxn ang="0">
                  <a:pos x="connsiteX0" y="connsiteY0"/>
                </a:cxn>
                <a:cxn ang="0">
                  <a:pos x="connsiteX1" y="connsiteY1"/>
                </a:cxn>
                <a:cxn ang="0">
                  <a:pos x="connsiteX2" y="connsiteY2"/>
                </a:cxn>
                <a:cxn ang="0">
                  <a:pos x="connsiteX3" y="connsiteY3"/>
                </a:cxn>
              </a:cxnLst>
              <a:rect l="l" t="t" r="r" b="b"/>
              <a:pathLst>
                <a:path w="1549289" h="1701024">
                  <a:moveTo>
                    <a:pt x="0" y="0"/>
                  </a:moveTo>
                  <a:lnTo>
                    <a:pt x="7986" y="1481408"/>
                  </a:lnTo>
                  <a:lnTo>
                    <a:pt x="1030198" y="1485401"/>
                  </a:lnTo>
                  <a:lnTo>
                    <a:pt x="1549289" y="1701024"/>
                  </a:lnTo>
                </a:path>
              </a:pathLst>
            </a:custGeom>
            <a:noFill/>
            <a:ln w="3810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311" name="TextBox 310">
              <a:extLst>
                <a:ext uri="{FF2B5EF4-FFF2-40B4-BE49-F238E27FC236}">
                  <a16:creationId xmlns:a16="http://schemas.microsoft.com/office/drawing/2014/main" id="{272D3047-A7CC-1745-B040-00D1E25997AF}"/>
                </a:ext>
              </a:extLst>
            </p:cNvPr>
            <p:cNvSpPr txBox="1"/>
            <p:nvPr/>
          </p:nvSpPr>
          <p:spPr>
            <a:xfrm>
              <a:off x="10184578" y="3556613"/>
              <a:ext cx="662319" cy="400109"/>
            </a:xfrm>
            <a:prstGeom prst="rect">
              <a:avLst/>
            </a:prstGeom>
            <a:noFill/>
          </p:spPr>
          <p:txBody>
            <a:bodyPr wrap="none" rtlCol="0">
              <a:spAutoFit/>
            </a:bodyPr>
            <a:lstStyle/>
            <a:p>
              <a:pPr eaLnBrk="1" fontAlgn="auto" hangingPunct="1">
                <a:spcBef>
                  <a:spcPts val="0"/>
                </a:spcBef>
                <a:spcAft>
                  <a:spcPts val="0"/>
                </a:spcAft>
                <a:defRPr/>
              </a:pPr>
              <a:r>
                <a:rPr lang="en-US" sz="1350" dirty="0">
                  <a:solidFill>
                    <a:srgbClr val="5B9BD5">
                      <a:lumMod val="75000"/>
                    </a:srgbClr>
                  </a:solidFill>
                  <a:latin typeface="Calibri"/>
                  <a:ea typeface="+mn-ea"/>
                </a:rPr>
                <a:t>data</a:t>
              </a:r>
            </a:p>
          </p:txBody>
        </p:sp>
        <p:sp>
          <p:nvSpPr>
            <p:cNvPr id="312" name="TextBox 311">
              <a:extLst>
                <a:ext uri="{FF2B5EF4-FFF2-40B4-BE49-F238E27FC236}">
                  <a16:creationId xmlns:a16="http://schemas.microsoft.com/office/drawing/2014/main" id="{BBCAFBB0-6D98-9742-AB87-26B3EE90BCAB}"/>
                </a:ext>
              </a:extLst>
            </p:cNvPr>
            <p:cNvSpPr txBox="1"/>
            <p:nvPr/>
          </p:nvSpPr>
          <p:spPr>
            <a:xfrm>
              <a:off x="7428575" y="3517694"/>
              <a:ext cx="662319" cy="400109"/>
            </a:xfrm>
            <a:prstGeom prst="rect">
              <a:avLst/>
            </a:prstGeom>
            <a:noFill/>
          </p:spPr>
          <p:txBody>
            <a:bodyPr wrap="none" rtlCol="0">
              <a:spAutoFit/>
            </a:bodyPr>
            <a:lstStyle/>
            <a:p>
              <a:pPr eaLnBrk="1" fontAlgn="auto" hangingPunct="1">
                <a:spcBef>
                  <a:spcPts val="0"/>
                </a:spcBef>
                <a:spcAft>
                  <a:spcPts val="0"/>
                </a:spcAft>
                <a:defRPr/>
              </a:pPr>
              <a:r>
                <a:rPr lang="en-US" sz="1350" dirty="0">
                  <a:solidFill>
                    <a:srgbClr val="5B9BD5">
                      <a:lumMod val="75000"/>
                    </a:srgbClr>
                  </a:solidFill>
                  <a:latin typeface="Calibri"/>
                  <a:ea typeface="+mn-ea"/>
                </a:rPr>
                <a:t>data</a:t>
              </a:r>
            </a:p>
          </p:txBody>
        </p:sp>
      </p:grpSp>
      <p:grpSp>
        <p:nvGrpSpPr>
          <p:cNvPr id="313" name="Group 312">
            <a:extLst>
              <a:ext uri="{FF2B5EF4-FFF2-40B4-BE49-F238E27FC236}">
                <a16:creationId xmlns:a16="http://schemas.microsoft.com/office/drawing/2014/main" id="{5DFB8599-7DDC-8447-ADE3-2DAD2C0402AB}"/>
              </a:ext>
            </a:extLst>
          </p:cNvPr>
          <p:cNvGrpSpPr/>
          <p:nvPr/>
        </p:nvGrpSpPr>
        <p:grpSpPr>
          <a:xfrm>
            <a:off x="5099714" y="2875683"/>
            <a:ext cx="3538638" cy="1370632"/>
            <a:chOff x="6799618" y="2691243"/>
            <a:chExt cx="4718184" cy="1827509"/>
          </a:xfrm>
        </p:grpSpPr>
        <p:sp>
          <p:nvSpPr>
            <p:cNvPr id="314" name="Freeform 313">
              <a:extLst>
                <a:ext uri="{FF2B5EF4-FFF2-40B4-BE49-F238E27FC236}">
                  <a16:creationId xmlns:a16="http://schemas.microsoft.com/office/drawing/2014/main" id="{67AC42C5-3F9E-0D4E-B80B-DB0208D256F0}"/>
                </a:ext>
              </a:extLst>
            </p:cNvPr>
            <p:cNvSpPr/>
            <p:nvPr/>
          </p:nvSpPr>
          <p:spPr>
            <a:xfrm>
              <a:off x="7353946" y="2691243"/>
              <a:ext cx="3498244" cy="182750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 name="connsiteX0" fmla="*/ 0 w 1541303"/>
                <a:gd name="connsiteY0" fmla="*/ 1681059 h 1681059"/>
                <a:gd name="connsiteX1" fmla="*/ 539056 w 1541303"/>
                <a:gd name="connsiteY1" fmla="*/ 1465436 h 1681059"/>
                <a:gd name="connsiteX2" fmla="*/ 920408 w 1541303"/>
                <a:gd name="connsiteY2" fmla="*/ 1455758 h 1681059"/>
                <a:gd name="connsiteX3" fmla="*/ 1541303 w 1541303"/>
                <a:gd name="connsiteY3" fmla="*/ 1445471 h 1681059"/>
                <a:gd name="connsiteX4" fmla="*/ 1525331 w 1541303"/>
                <a:gd name="connsiteY4" fmla="*/ 0 h 1681059"/>
                <a:gd name="connsiteX0" fmla="*/ 0 w 1541303"/>
                <a:gd name="connsiteY0" fmla="*/ 1681059 h 1681059"/>
                <a:gd name="connsiteX1" fmla="*/ 373242 w 1541303"/>
                <a:gd name="connsiteY1" fmla="*/ 1536549 h 1681059"/>
                <a:gd name="connsiteX2" fmla="*/ 539056 w 1541303"/>
                <a:gd name="connsiteY2" fmla="*/ 1465436 h 1681059"/>
                <a:gd name="connsiteX3" fmla="*/ 920408 w 1541303"/>
                <a:gd name="connsiteY3" fmla="*/ 1455758 h 1681059"/>
                <a:gd name="connsiteX4" fmla="*/ 1541303 w 1541303"/>
                <a:gd name="connsiteY4" fmla="*/ 1445471 h 1681059"/>
                <a:gd name="connsiteX5" fmla="*/ 1525331 w 1541303"/>
                <a:gd name="connsiteY5" fmla="*/ 0 h 1681059"/>
                <a:gd name="connsiteX0" fmla="*/ 0 w 1541303"/>
                <a:gd name="connsiteY0" fmla="*/ 1681059 h 1681059"/>
                <a:gd name="connsiteX1" fmla="*/ 373242 w 1541303"/>
                <a:gd name="connsiteY1" fmla="*/ 1536549 h 1681059"/>
                <a:gd name="connsiteX2" fmla="*/ 232427 w 1541303"/>
                <a:gd name="connsiteY2" fmla="*/ 1591633 h 1681059"/>
                <a:gd name="connsiteX3" fmla="*/ 539056 w 1541303"/>
                <a:gd name="connsiteY3" fmla="*/ 1465436 h 1681059"/>
                <a:gd name="connsiteX4" fmla="*/ 920408 w 1541303"/>
                <a:gd name="connsiteY4" fmla="*/ 1455758 h 1681059"/>
                <a:gd name="connsiteX5" fmla="*/ 1541303 w 1541303"/>
                <a:gd name="connsiteY5" fmla="*/ 1445471 h 1681059"/>
                <a:gd name="connsiteX6" fmla="*/ 1525331 w 1541303"/>
                <a:gd name="connsiteY6" fmla="*/ 0 h 1681059"/>
                <a:gd name="connsiteX0" fmla="*/ 0 w 3882856"/>
                <a:gd name="connsiteY0" fmla="*/ 142370 h 1591633"/>
                <a:gd name="connsiteX1" fmla="*/ 2714795 w 3882856"/>
                <a:gd name="connsiteY1" fmla="*/ 1536549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0 w 3882856"/>
                <a:gd name="connsiteY0" fmla="*/ 142370 h 1591633"/>
                <a:gd name="connsiteX1" fmla="*/ 2163604 w 3882856"/>
                <a:gd name="connsiteY1" fmla="*/ 1510843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33110 w 3915966"/>
                <a:gd name="connsiteY0" fmla="*/ 142370 h 1591633"/>
                <a:gd name="connsiteX1" fmla="*/ 0 w 3915966"/>
                <a:gd name="connsiteY1" fmla="*/ 1510843 h 1591633"/>
                <a:gd name="connsiteX2" fmla="*/ 2607090 w 3915966"/>
                <a:gd name="connsiteY2" fmla="*/ 1591633 h 1591633"/>
                <a:gd name="connsiteX3" fmla="*/ 2913719 w 3915966"/>
                <a:gd name="connsiteY3" fmla="*/ 1465436 h 1591633"/>
                <a:gd name="connsiteX4" fmla="*/ 3295071 w 3915966"/>
                <a:gd name="connsiteY4" fmla="*/ 1455758 h 1591633"/>
                <a:gd name="connsiteX5" fmla="*/ 3915966 w 3915966"/>
                <a:gd name="connsiteY5" fmla="*/ 1445471 h 1591633"/>
                <a:gd name="connsiteX6" fmla="*/ 3899994 w 3915966"/>
                <a:gd name="connsiteY6" fmla="*/ 0 h 1591633"/>
                <a:gd name="connsiteX0" fmla="*/ 33110 w 3915966"/>
                <a:gd name="connsiteY0" fmla="*/ 142370 h 1510843"/>
                <a:gd name="connsiteX1" fmla="*/ 0 w 3915966"/>
                <a:gd name="connsiteY1" fmla="*/ 1510843 h 1510843"/>
                <a:gd name="connsiteX2" fmla="*/ 1263312 w 3915966"/>
                <a:gd name="connsiteY2" fmla="*/ 1477792 h 1510843"/>
                <a:gd name="connsiteX3" fmla="*/ 2913719 w 3915966"/>
                <a:gd name="connsiteY3" fmla="*/ 1465436 h 1510843"/>
                <a:gd name="connsiteX4" fmla="*/ 3295071 w 3915966"/>
                <a:gd name="connsiteY4" fmla="*/ 1455758 h 1510843"/>
                <a:gd name="connsiteX5" fmla="*/ 3915966 w 3915966"/>
                <a:gd name="connsiteY5" fmla="*/ 1445471 h 1510843"/>
                <a:gd name="connsiteX6" fmla="*/ 3899994 w 3915966"/>
                <a:gd name="connsiteY6" fmla="*/ 0 h 1510843"/>
                <a:gd name="connsiteX0" fmla="*/ 33110 w 3915966"/>
                <a:gd name="connsiteY0" fmla="*/ 142370 h 1510843"/>
                <a:gd name="connsiteX1" fmla="*/ 0 w 3915966"/>
                <a:gd name="connsiteY1" fmla="*/ 1510843 h 1510843"/>
                <a:gd name="connsiteX2" fmla="*/ 1263312 w 3915966"/>
                <a:gd name="connsiteY2" fmla="*/ 1477792 h 1510843"/>
                <a:gd name="connsiteX3" fmla="*/ 2373740 w 3915966"/>
                <a:gd name="connsiteY3" fmla="*/ 1470447 h 1510843"/>
                <a:gd name="connsiteX4" fmla="*/ 2913719 w 3915966"/>
                <a:gd name="connsiteY4" fmla="*/ 1465436 h 1510843"/>
                <a:gd name="connsiteX5" fmla="*/ 3295071 w 3915966"/>
                <a:gd name="connsiteY5" fmla="*/ 1455758 h 1510843"/>
                <a:gd name="connsiteX6" fmla="*/ 3915966 w 3915966"/>
                <a:gd name="connsiteY6" fmla="*/ 1445471 h 1510843"/>
                <a:gd name="connsiteX7" fmla="*/ 3899994 w 3915966"/>
                <a:gd name="connsiteY7" fmla="*/ 0 h 1510843"/>
                <a:gd name="connsiteX0" fmla="*/ 33110 w 3915966"/>
                <a:gd name="connsiteY0" fmla="*/ 142370 h 1676095"/>
                <a:gd name="connsiteX1" fmla="*/ 0 w 3915966"/>
                <a:gd name="connsiteY1" fmla="*/ 1510843 h 1676095"/>
                <a:gd name="connsiteX2" fmla="*/ 1263312 w 3915966"/>
                <a:gd name="connsiteY2" fmla="*/ 1477792 h 1676095"/>
                <a:gd name="connsiteX3" fmla="*/ 2192692 w 3915966"/>
                <a:gd name="connsiteY3" fmla="*/ 1676095 h 1676095"/>
                <a:gd name="connsiteX4" fmla="*/ 2913719 w 3915966"/>
                <a:gd name="connsiteY4" fmla="*/ 1465436 h 1676095"/>
                <a:gd name="connsiteX5" fmla="*/ 3295071 w 3915966"/>
                <a:gd name="connsiteY5" fmla="*/ 1455758 h 1676095"/>
                <a:gd name="connsiteX6" fmla="*/ 3915966 w 3915966"/>
                <a:gd name="connsiteY6" fmla="*/ 1445471 h 1676095"/>
                <a:gd name="connsiteX7" fmla="*/ 3899994 w 3915966"/>
                <a:gd name="connsiteY7"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609316 w 3915966"/>
                <a:gd name="connsiteY3" fmla="*/ 1551238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589200 w 3915966"/>
                <a:gd name="connsiteY3" fmla="*/ 1661407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17017 w 3915966"/>
                <a:gd name="connsiteY0" fmla="*/ 0 h 1838525"/>
                <a:gd name="connsiteX1" fmla="*/ 0 w 3915966"/>
                <a:gd name="connsiteY1" fmla="*/ 1673273 h 1838525"/>
                <a:gd name="connsiteX2" fmla="*/ 1263312 w 3915966"/>
                <a:gd name="connsiteY2" fmla="*/ 1640222 h 1838525"/>
                <a:gd name="connsiteX3" fmla="*/ 1589200 w 3915966"/>
                <a:gd name="connsiteY3" fmla="*/ 1823837 h 1838525"/>
                <a:gd name="connsiteX4" fmla="*/ 2192692 w 3915966"/>
                <a:gd name="connsiteY4" fmla="*/ 1838525 h 1838525"/>
                <a:gd name="connsiteX5" fmla="*/ 2913719 w 3915966"/>
                <a:gd name="connsiteY5" fmla="*/ 1627866 h 1838525"/>
                <a:gd name="connsiteX6" fmla="*/ 3295071 w 3915966"/>
                <a:gd name="connsiteY6" fmla="*/ 1618188 h 1838525"/>
                <a:gd name="connsiteX7" fmla="*/ 3915966 w 3915966"/>
                <a:gd name="connsiteY7" fmla="*/ 1607901 h 1838525"/>
                <a:gd name="connsiteX8" fmla="*/ 3899994 w 3915966"/>
                <a:gd name="connsiteY8" fmla="*/ 162430 h 1838525"/>
                <a:gd name="connsiteX0" fmla="*/ 0 w 3898949"/>
                <a:gd name="connsiteY0" fmla="*/ 0 h 1838525"/>
                <a:gd name="connsiteX1" fmla="*/ 19193 w 3898949"/>
                <a:gd name="connsiteY1" fmla="*/ 1581465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5137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9969 w 3898949"/>
                <a:gd name="connsiteY2" fmla="*/ 1566776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81465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9248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896702 w 3898949"/>
                <a:gd name="connsiteY5" fmla="*/ 1627866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69708 w 3898949"/>
                <a:gd name="connsiteY8" fmla="*/ 113985 h 1827509"/>
                <a:gd name="connsiteX0" fmla="*/ 0 w 3869708"/>
                <a:gd name="connsiteY0" fmla="*/ 0 h 1827509"/>
                <a:gd name="connsiteX1" fmla="*/ 15169 w 3869708"/>
                <a:gd name="connsiteY1" fmla="*/ 1588809 h 1827509"/>
                <a:gd name="connsiteX2" fmla="*/ 1185946 w 3869708"/>
                <a:gd name="connsiteY2" fmla="*/ 1592482 h 1827509"/>
                <a:gd name="connsiteX3" fmla="*/ 1572183 w 3869708"/>
                <a:gd name="connsiteY3" fmla="*/ 1823837 h 1827509"/>
                <a:gd name="connsiteX4" fmla="*/ 2147513 w 3869708"/>
                <a:gd name="connsiteY4" fmla="*/ 1827509 h 1827509"/>
                <a:gd name="connsiteX5" fmla="*/ 2727724 w 3869708"/>
                <a:gd name="connsiteY5" fmla="*/ 1591143 h 1827509"/>
                <a:gd name="connsiteX6" fmla="*/ 3278054 w 3869708"/>
                <a:gd name="connsiteY6" fmla="*/ 1618188 h 1827509"/>
                <a:gd name="connsiteX7" fmla="*/ 3839239 w 3869708"/>
                <a:gd name="connsiteY7" fmla="*/ 1565511 h 1827509"/>
                <a:gd name="connsiteX8" fmla="*/ 3869708 w 3869708"/>
                <a:gd name="connsiteY8" fmla="*/ 113985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278054 w 3839239"/>
                <a:gd name="connsiteY6" fmla="*/ 1618188 h 1827509"/>
                <a:gd name="connsiteX7" fmla="*/ 3839239 w 3839239"/>
                <a:gd name="connsiteY7" fmla="*/ 1565511 h 1827509"/>
                <a:gd name="connsiteX8" fmla="*/ 3829902 w 3839239"/>
                <a:gd name="connsiteY8" fmla="*/ 126097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839239 w 3839239"/>
                <a:gd name="connsiteY6" fmla="*/ 1565511 h 1827509"/>
                <a:gd name="connsiteX7" fmla="*/ 3829902 w 3839239"/>
                <a:gd name="connsiteY7" fmla="*/ 126097 h 1827509"/>
                <a:gd name="connsiteX0" fmla="*/ 0 w 3832605"/>
                <a:gd name="connsiteY0" fmla="*/ 0 h 1827509"/>
                <a:gd name="connsiteX1" fmla="*/ 15169 w 3832605"/>
                <a:gd name="connsiteY1" fmla="*/ 1588809 h 1827509"/>
                <a:gd name="connsiteX2" fmla="*/ 1185946 w 3832605"/>
                <a:gd name="connsiteY2" fmla="*/ 1592482 h 1827509"/>
                <a:gd name="connsiteX3" fmla="*/ 1572183 w 3832605"/>
                <a:gd name="connsiteY3" fmla="*/ 1823837 h 1827509"/>
                <a:gd name="connsiteX4" fmla="*/ 2147513 w 3832605"/>
                <a:gd name="connsiteY4" fmla="*/ 1827509 h 1827509"/>
                <a:gd name="connsiteX5" fmla="*/ 2727724 w 3832605"/>
                <a:gd name="connsiteY5" fmla="*/ 1591143 h 1827509"/>
                <a:gd name="connsiteX6" fmla="*/ 3832605 w 3832605"/>
                <a:gd name="connsiteY6" fmla="*/ 1589734 h 1827509"/>
                <a:gd name="connsiteX7" fmla="*/ 3829902 w 3832605"/>
                <a:gd name="connsiteY7" fmla="*/ 126097 h 182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605" h="1827509">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w="25400">
              <a:solidFill>
                <a:srgbClr val="00B05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315" name="TextBox 314">
              <a:extLst>
                <a:ext uri="{FF2B5EF4-FFF2-40B4-BE49-F238E27FC236}">
                  <a16:creationId xmlns:a16="http://schemas.microsoft.com/office/drawing/2014/main" id="{4B1BE921-31E4-C342-B3CD-DD49B4829966}"/>
                </a:ext>
              </a:extLst>
            </p:cNvPr>
            <p:cNvSpPr txBox="1"/>
            <p:nvPr/>
          </p:nvSpPr>
          <p:spPr>
            <a:xfrm>
              <a:off x="6799618" y="3650736"/>
              <a:ext cx="708399" cy="400109"/>
            </a:xfrm>
            <a:prstGeom prst="rect">
              <a:avLst/>
            </a:prstGeom>
            <a:noFill/>
          </p:spPr>
          <p:txBody>
            <a:bodyPr wrap="none" rtlCol="0">
              <a:spAutoFit/>
            </a:bodyPr>
            <a:lstStyle/>
            <a:p>
              <a:pPr eaLnBrk="1" fontAlgn="auto" hangingPunct="1">
                <a:spcBef>
                  <a:spcPts val="0"/>
                </a:spcBef>
                <a:spcAft>
                  <a:spcPts val="0"/>
                </a:spcAft>
                <a:defRPr/>
              </a:pPr>
              <a:r>
                <a:rPr lang="en-US" sz="1350" dirty="0">
                  <a:solidFill>
                    <a:srgbClr val="00B050"/>
                  </a:solidFill>
                  <a:latin typeface="Calibri"/>
                  <a:ea typeface="+mn-ea"/>
                </a:rPr>
                <a:t>ACKs</a:t>
              </a:r>
            </a:p>
          </p:txBody>
        </p:sp>
        <p:sp>
          <p:nvSpPr>
            <p:cNvPr id="316" name="TextBox 315">
              <a:extLst>
                <a:ext uri="{FF2B5EF4-FFF2-40B4-BE49-F238E27FC236}">
                  <a16:creationId xmlns:a16="http://schemas.microsoft.com/office/drawing/2014/main" id="{E8B4DCFA-3A87-864C-A054-ED417A34E19F}"/>
                </a:ext>
              </a:extLst>
            </p:cNvPr>
            <p:cNvSpPr txBox="1"/>
            <p:nvPr/>
          </p:nvSpPr>
          <p:spPr>
            <a:xfrm>
              <a:off x="10809403" y="3772400"/>
              <a:ext cx="708399" cy="400109"/>
            </a:xfrm>
            <a:prstGeom prst="rect">
              <a:avLst/>
            </a:prstGeom>
            <a:noFill/>
          </p:spPr>
          <p:txBody>
            <a:bodyPr wrap="none" rtlCol="0">
              <a:spAutoFit/>
            </a:bodyPr>
            <a:lstStyle/>
            <a:p>
              <a:pPr eaLnBrk="1" fontAlgn="auto" hangingPunct="1">
                <a:spcBef>
                  <a:spcPts val="0"/>
                </a:spcBef>
                <a:spcAft>
                  <a:spcPts val="0"/>
                </a:spcAft>
                <a:defRPr/>
              </a:pPr>
              <a:r>
                <a:rPr lang="en-US" sz="1350" dirty="0">
                  <a:solidFill>
                    <a:srgbClr val="00B050"/>
                  </a:solidFill>
                  <a:latin typeface="Calibri"/>
                  <a:ea typeface="+mn-ea"/>
                </a:rPr>
                <a:t>ACKs</a:t>
              </a:r>
            </a:p>
          </p:txBody>
        </p:sp>
      </p:grpSp>
      <p:sp>
        <p:nvSpPr>
          <p:cNvPr id="2" name="TextBox 1">
            <a:extLst>
              <a:ext uri="{FF2B5EF4-FFF2-40B4-BE49-F238E27FC236}">
                <a16:creationId xmlns:a16="http://schemas.microsoft.com/office/drawing/2014/main" id="{CFA18EA5-E5A9-6043-B7D4-AA1698F72E02}"/>
              </a:ext>
            </a:extLst>
          </p:cNvPr>
          <p:cNvSpPr txBox="1"/>
          <p:nvPr/>
        </p:nvSpPr>
        <p:spPr>
          <a:xfrm>
            <a:off x="6045916" y="2824318"/>
            <a:ext cx="1621470" cy="276999"/>
          </a:xfrm>
          <a:prstGeom prst="rect">
            <a:avLst/>
          </a:prstGeom>
          <a:noFill/>
        </p:spPr>
        <p:txBody>
          <a:bodyPr wrap="none" rtlCol="0">
            <a:spAutoFit/>
          </a:bodyPr>
          <a:lstStyle/>
          <a:p>
            <a:pPr eaLnBrk="1" fontAlgn="auto" hangingPunct="1">
              <a:spcBef>
                <a:spcPts val="0"/>
              </a:spcBef>
              <a:spcAft>
                <a:spcPts val="0"/>
              </a:spcAft>
              <a:defRPr/>
            </a:pPr>
            <a:r>
              <a:rPr lang="en-US" sz="1200" dirty="0">
                <a:solidFill>
                  <a:srgbClr val="C00000"/>
                </a:solidFill>
                <a:latin typeface="Calibri"/>
                <a:ea typeface="+mn-ea"/>
              </a:rPr>
              <a:t>explicit congestion info</a:t>
            </a:r>
          </a:p>
        </p:txBody>
      </p:sp>
      <p:sp>
        <p:nvSpPr>
          <p:cNvPr id="133" name="Rectangle 3">
            <a:extLst>
              <a:ext uri="{FF2B5EF4-FFF2-40B4-BE49-F238E27FC236}">
                <a16:creationId xmlns:a16="http://schemas.microsoft.com/office/drawing/2014/main" id="{5D568CC7-EA67-7743-9944-2BC5136F529F}"/>
              </a:ext>
            </a:extLst>
          </p:cNvPr>
          <p:cNvSpPr txBox="1">
            <a:spLocks noChangeArrowheads="1"/>
          </p:cNvSpPr>
          <p:nvPr/>
        </p:nvSpPr>
        <p:spPr>
          <a:xfrm>
            <a:off x="523568" y="2221476"/>
            <a:ext cx="4336026" cy="2866078"/>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None/>
              <a:defRPr/>
            </a:pPr>
            <a:r>
              <a:rPr lang="en-US" sz="2625" dirty="0">
                <a:solidFill>
                  <a:srgbClr val="C00000"/>
                </a:solidFill>
              </a:rPr>
              <a:t>Network-assisted congestion control:</a:t>
            </a:r>
          </a:p>
          <a:p>
            <a:pPr marL="305991" indent="-208360" fontAlgn="auto">
              <a:spcAft>
                <a:spcPts val="0"/>
              </a:spcAft>
              <a:defRPr/>
            </a:pPr>
            <a:r>
              <a:rPr lang="en-US" sz="2250" dirty="0">
                <a:solidFill>
                  <a:prstClr val="black"/>
                </a:solidFill>
              </a:rPr>
              <a:t>routers provide </a:t>
            </a:r>
            <a:r>
              <a:rPr lang="en-US" sz="2250" i="1" dirty="0">
                <a:solidFill>
                  <a:srgbClr val="C00000"/>
                </a:solidFill>
              </a:rPr>
              <a:t>direct</a:t>
            </a:r>
            <a:r>
              <a:rPr lang="en-US" sz="2250" dirty="0">
                <a:solidFill>
                  <a:prstClr val="black"/>
                </a:solidFill>
              </a:rPr>
              <a:t> feedback to sending/receiving hosts with flows passing through congested router</a:t>
            </a:r>
          </a:p>
          <a:p>
            <a:pPr marL="305991" indent="-208360" fontAlgn="auto">
              <a:spcAft>
                <a:spcPts val="0"/>
              </a:spcAft>
              <a:defRPr/>
            </a:pPr>
            <a:r>
              <a:rPr lang="en-US" sz="2250" dirty="0">
                <a:solidFill>
                  <a:prstClr val="black"/>
                </a:solidFill>
              </a:rPr>
              <a:t>may indicate congestion level or explicitly set sending rate</a:t>
            </a:r>
          </a:p>
        </p:txBody>
      </p:sp>
      <p:sp>
        <p:nvSpPr>
          <p:cNvPr id="142" name="Slide Number Placeholder 2">
            <a:extLst>
              <a:ext uri="{FF2B5EF4-FFF2-40B4-BE49-F238E27FC236}">
                <a16:creationId xmlns:a16="http://schemas.microsoft.com/office/drawing/2014/main" id="{2CD52159-2B0E-9F4A-977B-27EEC203D783}"/>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82</a:t>
            </a:fld>
            <a:endParaRPr lang="en-US" dirty="0">
              <a:solidFill>
                <a:prstClr val="white">
                  <a:lumMod val="50000"/>
                </a:prstClr>
              </a:solidFill>
            </a:endParaRPr>
          </a:p>
        </p:txBody>
      </p:sp>
    </p:spTree>
    <p:extLst>
      <p:ext uri="{BB962C8B-B14F-4D97-AF65-F5344CB8AC3E}">
        <p14:creationId xmlns:p14="http://schemas.microsoft.com/office/powerpoint/2010/main" val="1357677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8"/>
                                        </p:tgtEl>
                                        <p:attrNameLst>
                                          <p:attrName>style.visibility</p:attrName>
                                        </p:attrNameLst>
                                      </p:cBhvr>
                                      <p:to>
                                        <p:strVal val="visible"/>
                                      </p:to>
                                    </p:set>
                                    <p:animEffect transition="in" filter="wipe(left)">
                                      <p:cBhvr>
                                        <p:cTn id="7" dur="1000"/>
                                        <p:tgtEl>
                                          <p:spTgt spid="308"/>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313"/>
                                        </p:tgtEl>
                                        <p:attrNameLst>
                                          <p:attrName>style.visibility</p:attrName>
                                        </p:attrNameLst>
                                      </p:cBhvr>
                                      <p:to>
                                        <p:strVal val="visible"/>
                                      </p:to>
                                    </p:set>
                                    <p:animEffect transition="in" filter="wipe(right)">
                                      <p:cBhvr>
                                        <p:cTn id="11" dur="1000"/>
                                        <p:tgtEl>
                                          <p:spTgt spid="3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97289">
                                            <p:txEl>
                                              <p:pRg st="0" end="0"/>
                                            </p:txEl>
                                          </p:spTgt>
                                        </p:tgtEl>
                                        <p:attrNameLst>
                                          <p:attrName>style.visibility</p:attrName>
                                        </p:attrNameLst>
                                      </p:cBhvr>
                                      <p:to>
                                        <p:strVal val="visible"/>
                                      </p:to>
                                    </p:set>
                                    <p:animEffect transition="in" filter="dissolve">
                                      <p:cBhvr>
                                        <p:cTn id="25" dur="500"/>
                                        <p:tgtEl>
                                          <p:spTgt spid="9728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9" grpId="0" build="p"/>
      <p:bldP spid="2"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08542" y="1050865"/>
            <a:ext cx="8544983" cy="670967"/>
          </a:xfrm>
        </p:spPr>
        <p:txBody>
          <a:bodyPr>
            <a:normAutofit/>
          </a:bodyPr>
          <a:lstStyle/>
          <a:p>
            <a:r>
              <a:rPr lang="en-US" sz="3600" dirty="0"/>
              <a:t>TCP congestion control: AIMD</a:t>
            </a:r>
            <a:endParaRPr lang="en-US" b="0" dirty="0"/>
          </a:p>
        </p:txBody>
      </p:sp>
      <p:sp>
        <p:nvSpPr>
          <p:cNvPr id="135" name="Rectangle 8">
            <a:extLst>
              <a:ext uri="{FF2B5EF4-FFF2-40B4-BE49-F238E27FC236}">
                <a16:creationId xmlns:a16="http://schemas.microsoft.com/office/drawing/2014/main" id="{C755821F-F513-514B-9B5B-FF9A16FD83AB}"/>
              </a:ext>
            </a:extLst>
          </p:cNvPr>
          <p:cNvSpPr>
            <a:spLocks noChangeArrowheads="1"/>
          </p:cNvSpPr>
          <p:nvPr/>
        </p:nvSpPr>
        <p:spPr bwMode="auto">
          <a:xfrm>
            <a:off x="676275" y="1733550"/>
            <a:ext cx="7705725" cy="10858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19075" indent="-219075" eaLnBrk="1" fontAlgn="auto" hangingPunct="1">
              <a:lnSpc>
                <a:spcPct val="85000"/>
              </a:lnSpc>
              <a:spcBef>
                <a:spcPct val="20000"/>
              </a:spcBef>
              <a:spcAft>
                <a:spcPts val="0"/>
              </a:spcAft>
              <a:buClr>
                <a:srgbClr val="000099"/>
              </a:buClr>
              <a:buSzPct val="100000"/>
              <a:buFont typeface="Wingdings" charset="2"/>
              <a:buChar char="§"/>
              <a:defRPr/>
            </a:pPr>
            <a:r>
              <a:rPr lang="en-US" sz="2100" i="1" dirty="0">
                <a:solidFill>
                  <a:srgbClr val="C00000"/>
                </a:solidFill>
                <a:latin typeface="Calibri" panose="020F0502020204030204"/>
                <a:ea typeface="ＭＳ Ｐゴシック" charset="0"/>
              </a:rPr>
              <a:t>approach: </a:t>
            </a:r>
            <a:r>
              <a:rPr lang="en-US" sz="2100" dirty="0">
                <a:solidFill>
                  <a:prstClr val="black"/>
                </a:solidFill>
                <a:latin typeface="Calibri" panose="020F0502020204030204"/>
                <a:ea typeface="ＭＳ Ｐゴシック" charset="0"/>
              </a:rPr>
              <a:t>senders can</a:t>
            </a:r>
            <a:r>
              <a:rPr lang="en-US" sz="2100" i="1" dirty="0">
                <a:solidFill>
                  <a:srgbClr val="FF0000"/>
                </a:solidFill>
                <a:latin typeface="Calibri" panose="020F0502020204030204"/>
                <a:ea typeface="ＭＳ Ｐゴシック" charset="0"/>
              </a:rPr>
              <a:t> </a:t>
            </a:r>
            <a:r>
              <a:rPr lang="en-US" sz="2100" dirty="0">
                <a:solidFill>
                  <a:prstClr val="black"/>
                </a:solidFill>
                <a:latin typeface="Calibri" panose="020F0502020204030204"/>
                <a:ea typeface="ＭＳ Ｐゴシック" charset="0"/>
              </a:rPr>
              <a:t>increase sending rate until packet loss (congestion) occurs, then decrease sending rate on loss event</a:t>
            </a:r>
            <a:endParaRPr lang="en-US" sz="2100" dirty="0">
              <a:solidFill>
                <a:prstClr val="black"/>
              </a:solidFill>
              <a:latin typeface="Gill Sans MT" charset="0"/>
              <a:ea typeface="ＭＳ Ｐゴシック" charset="0"/>
            </a:endParaRPr>
          </a:p>
        </p:txBody>
      </p:sp>
      <p:sp>
        <p:nvSpPr>
          <p:cNvPr id="141" name="Text Box 13">
            <a:extLst>
              <a:ext uri="{FF2B5EF4-FFF2-40B4-BE49-F238E27FC236}">
                <a16:creationId xmlns:a16="http://schemas.microsoft.com/office/drawing/2014/main" id="{2FD36304-869C-CE42-8550-F12B5FFE2394}"/>
              </a:ext>
            </a:extLst>
          </p:cNvPr>
          <p:cNvSpPr txBox="1">
            <a:spLocks noChangeArrowheads="1"/>
          </p:cNvSpPr>
          <p:nvPr/>
        </p:nvSpPr>
        <p:spPr bwMode="auto">
          <a:xfrm>
            <a:off x="6468778" y="4142854"/>
            <a:ext cx="2124621" cy="11541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eaLnBrk="1" fontAlgn="auto" hangingPunct="1">
              <a:spcBef>
                <a:spcPts val="0"/>
              </a:spcBef>
              <a:spcAft>
                <a:spcPts val="0"/>
              </a:spcAft>
              <a:defRPr/>
            </a:pPr>
            <a:r>
              <a:rPr lang="en-US" sz="2700" b="1" dirty="0">
                <a:solidFill>
                  <a:srgbClr val="0013A3"/>
                </a:solidFill>
                <a:latin typeface="Calibri" panose="020F0502020204030204"/>
              </a:rPr>
              <a:t>AIMD</a:t>
            </a:r>
            <a:r>
              <a:rPr lang="en-US" sz="2100" dirty="0">
                <a:solidFill>
                  <a:prstClr val="black"/>
                </a:solidFill>
                <a:latin typeface="Calibri" panose="020F0502020204030204"/>
              </a:rPr>
              <a:t> sawtooth</a:t>
            </a:r>
          </a:p>
          <a:p>
            <a:pPr algn="r" eaLnBrk="1" fontAlgn="auto" hangingPunct="1">
              <a:spcBef>
                <a:spcPts val="0"/>
              </a:spcBef>
              <a:spcAft>
                <a:spcPts val="0"/>
              </a:spcAft>
              <a:defRPr/>
            </a:pPr>
            <a:r>
              <a:rPr lang="en-US" sz="2100" dirty="0">
                <a:solidFill>
                  <a:prstClr val="black"/>
                </a:solidFill>
                <a:latin typeface="Calibri" panose="020F0502020204030204"/>
              </a:rPr>
              <a:t>behavior: </a:t>
            </a:r>
            <a:r>
              <a:rPr lang="en-US" sz="2100" i="1" dirty="0">
                <a:solidFill>
                  <a:srgbClr val="0013A3"/>
                </a:solidFill>
                <a:latin typeface="Calibri" panose="020F0502020204030204"/>
              </a:rPr>
              <a:t>probing</a:t>
            </a:r>
          </a:p>
          <a:p>
            <a:pPr algn="r" eaLnBrk="1" fontAlgn="auto" hangingPunct="1">
              <a:spcBef>
                <a:spcPts val="0"/>
              </a:spcBef>
              <a:spcAft>
                <a:spcPts val="0"/>
              </a:spcAft>
              <a:defRPr/>
            </a:pPr>
            <a:r>
              <a:rPr lang="en-US" sz="2100" dirty="0">
                <a:solidFill>
                  <a:prstClr val="black"/>
                </a:solidFill>
                <a:latin typeface="Calibri" panose="020F0502020204030204"/>
              </a:rPr>
              <a:t>for bandwidth</a:t>
            </a:r>
          </a:p>
        </p:txBody>
      </p:sp>
      <p:sp>
        <p:nvSpPr>
          <p:cNvPr id="35" name="Rectangle 11">
            <a:extLst>
              <a:ext uri="{FF2B5EF4-FFF2-40B4-BE49-F238E27FC236}">
                <a16:creationId xmlns:a16="http://schemas.microsoft.com/office/drawing/2014/main" id="{F39215FA-39B5-484D-8395-F0F1A1C5D622}"/>
              </a:ext>
            </a:extLst>
          </p:cNvPr>
          <p:cNvSpPr>
            <a:spLocks noChangeArrowheads="1"/>
          </p:cNvSpPr>
          <p:nvPr/>
        </p:nvSpPr>
        <p:spPr bwMode="auto">
          <a:xfrm>
            <a:off x="3538004" y="3688091"/>
            <a:ext cx="514350" cy="2286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36" name="Line 19">
            <a:extLst>
              <a:ext uri="{FF2B5EF4-FFF2-40B4-BE49-F238E27FC236}">
                <a16:creationId xmlns:a16="http://schemas.microsoft.com/office/drawing/2014/main" id="{D3F6ABF2-92A9-2C40-8D08-91E54606260B}"/>
              </a:ext>
            </a:extLst>
          </p:cNvPr>
          <p:cNvSpPr>
            <a:spLocks noChangeShapeType="1"/>
          </p:cNvSpPr>
          <p:nvPr/>
        </p:nvSpPr>
        <p:spPr bwMode="auto">
          <a:xfrm flipV="1">
            <a:off x="2923642" y="4754890"/>
            <a:ext cx="127397" cy="127397"/>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37" name="Line 20">
            <a:extLst>
              <a:ext uri="{FF2B5EF4-FFF2-40B4-BE49-F238E27FC236}">
                <a16:creationId xmlns:a16="http://schemas.microsoft.com/office/drawing/2014/main" id="{38434DE2-13CB-044F-991F-ED186F200404}"/>
              </a:ext>
            </a:extLst>
          </p:cNvPr>
          <p:cNvSpPr>
            <a:spLocks noChangeShapeType="1"/>
          </p:cNvSpPr>
          <p:nvPr/>
        </p:nvSpPr>
        <p:spPr bwMode="auto">
          <a:xfrm>
            <a:off x="3059373" y="4746556"/>
            <a:ext cx="0" cy="48220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38" name="Line 21">
            <a:extLst>
              <a:ext uri="{FF2B5EF4-FFF2-40B4-BE49-F238E27FC236}">
                <a16:creationId xmlns:a16="http://schemas.microsoft.com/office/drawing/2014/main" id="{1937BB13-75B0-4947-8F7E-C69526352422}"/>
              </a:ext>
            </a:extLst>
          </p:cNvPr>
          <p:cNvSpPr>
            <a:spLocks noChangeShapeType="1"/>
          </p:cNvSpPr>
          <p:nvPr/>
        </p:nvSpPr>
        <p:spPr bwMode="auto">
          <a:xfrm flipV="1">
            <a:off x="3051039" y="4509622"/>
            <a:ext cx="736997" cy="73580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39" name="Line 22">
            <a:extLst>
              <a:ext uri="{FF2B5EF4-FFF2-40B4-BE49-F238E27FC236}">
                <a16:creationId xmlns:a16="http://schemas.microsoft.com/office/drawing/2014/main" id="{D3110501-FE57-9545-B9AC-7B103AF98E40}"/>
              </a:ext>
            </a:extLst>
          </p:cNvPr>
          <p:cNvSpPr>
            <a:spLocks noChangeShapeType="1"/>
          </p:cNvSpPr>
          <p:nvPr/>
        </p:nvSpPr>
        <p:spPr bwMode="auto">
          <a:xfrm>
            <a:off x="3779702" y="4510812"/>
            <a:ext cx="0" cy="60126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41" name="Line 23">
            <a:extLst>
              <a:ext uri="{FF2B5EF4-FFF2-40B4-BE49-F238E27FC236}">
                <a16:creationId xmlns:a16="http://schemas.microsoft.com/office/drawing/2014/main" id="{AAAA55BA-D404-204C-AECA-45F566AECF40}"/>
              </a:ext>
            </a:extLst>
          </p:cNvPr>
          <p:cNvSpPr>
            <a:spLocks noChangeShapeType="1"/>
          </p:cNvSpPr>
          <p:nvPr/>
        </p:nvSpPr>
        <p:spPr bwMode="auto">
          <a:xfrm flipV="1">
            <a:off x="3773749" y="4733460"/>
            <a:ext cx="394097" cy="39290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43" name="Line 24">
            <a:extLst>
              <a:ext uri="{FF2B5EF4-FFF2-40B4-BE49-F238E27FC236}">
                <a16:creationId xmlns:a16="http://schemas.microsoft.com/office/drawing/2014/main" id="{43AEBE7F-F2BB-5943-A7EA-ACC4591C9E55}"/>
              </a:ext>
            </a:extLst>
          </p:cNvPr>
          <p:cNvSpPr>
            <a:spLocks noChangeShapeType="1"/>
          </p:cNvSpPr>
          <p:nvPr/>
        </p:nvSpPr>
        <p:spPr bwMode="auto">
          <a:xfrm>
            <a:off x="4167845" y="4729888"/>
            <a:ext cx="0" cy="516731"/>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44" name="Line 25">
            <a:extLst>
              <a:ext uri="{FF2B5EF4-FFF2-40B4-BE49-F238E27FC236}">
                <a16:creationId xmlns:a16="http://schemas.microsoft.com/office/drawing/2014/main" id="{6F7F0A4B-818C-8448-8543-A37DAD19EABE}"/>
              </a:ext>
            </a:extLst>
          </p:cNvPr>
          <p:cNvSpPr>
            <a:spLocks noChangeShapeType="1"/>
          </p:cNvSpPr>
          <p:nvPr/>
        </p:nvSpPr>
        <p:spPr bwMode="auto">
          <a:xfrm flipV="1">
            <a:off x="4176181" y="4494144"/>
            <a:ext cx="727472" cy="73580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45" name="Line 26">
            <a:extLst>
              <a:ext uri="{FF2B5EF4-FFF2-40B4-BE49-F238E27FC236}">
                <a16:creationId xmlns:a16="http://schemas.microsoft.com/office/drawing/2014/main" id="{19538173-60A5-BC46-A9E4-749776021102}"/>
              </a:ext>
            </a:extLst>
          </p:cNvPr>
          <p:cNvSpPr>
            <a:spLocks noChangeShapeType="1"/>
          </p:cNvSpPr>
          <p:nvPr/>
        </p:nvSpPr>
        <p:spPr bwMode="auto">
          <a:xfrm>
            <a:off x="4900080" y="4494144"/>
            <a:ext cx="8335" cy="626269"/>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46" name="Line 29">
            <a:extLst>
              <a:ext uri="{FF2B5EF4-FFF2-40B4-BE49-F238E27FC236}">
                <a16:creationId xmlns:a16="http://schemas.microsoft.com/office/drawing/2014/main" id="{30FAE305-421D-C042-8E51-7C7D81EEF5FE}"/>
              </a:ext>
            </a:extLst>
          </p:cNvPr>
          <p:cNvSpPr>
            <a:spLocks noChangeShapeType="1"/>
          </p:cNvSpPr>
          <p:nvPr/>
        </p:nvSpPr>
        <p:spPr bwMode="auto">
          <a:xfrm flipV="1">
            <a:off x="4903651" y="4616778"/>
            <a:ext cx="500063" cy="500063"/>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47" name="Line 30">
            <a:extLst>
              <a:ext uri="{FF2B5EF4-FFF2-40B4-BE49-F238E27FC236}">
                <a16:creationId xmlns:a16="http://schemas.microsoft.com/office/drawing/2014/main" id="{031213C2-BAEE-5346-905B-3F89E1716013}"/>
              </a:ext>
            </a:extLst>
          </p:cNvPr>
          <p:cNvSpPr>
            <a:spLocks noChangeShapeType="1"/>
          </p:cNvSpPr>
          <p:nvPr/>
        </p:nvSpPr>
        <p:spPr bwMode="auto">
          <a:xfrm>
            <a:off x="5403714" y="4606062"/>
            <a:ext cx="0" cy="5607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48" name="Line 31">
            <a:extLst>
              <a:ext uri="{FF2B5EF4-FFF2-40B4-BE49-F238E27FC236}">
                <a16:creationId xmlns:a16="http://schemas.microsoft.com/office/drawing/2014/main" id="{AEA390E0-709D-FA45-91DE-52C0460D608A}"/>
              </a:ext>
            </a:extLst>
          </p:cNvPr>
          <p:cNvSpPr>
            <a:spLocks noChangeShapeType="1"/>
          </p:cNvSpPr>
          <p:nvPr/>
        </p:nvSpPr>
        <p:spPr bwMode="auto">
          <a:xfrm flipV="1">
            <a:off x="5396570" y="4416753"/>
            <a:ext cx="657225" cy="760809"/>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grpSp>
        <p:nvGrpSpPr>
          <p:cNvPr id="53" name="Group 52">
            <a:extLst>
              <a:ext uri="{FF2B5EF4-FFF2-40B4-BE49-F238E27FC236}">
                <a16:creationId xmlns:a16="http://schemas.microsoft.com/office/drawing/2014/main" id="{82C492E2-E058-BD40-8FFC-FCED8F0093C0}"/>
              </a:ext>
            </a:extLst>
          </p:cNvPr>
          <p:cNvGrpSpPr/>
          <p:nvPr/>
        </p:nvGrpSpPr>
        <p:grpSpPr>
          <a:xfrm>
            <a:off x="2487294" y="4048124"/>
            <a:ext cx="3543879" cy="1949361"/>
            <a:chOff x="3976793" y="3937000"/>
            <a:chExt cx="4725171" cy="2599148"/>
          </a:xfrm>
        </p:grpSpPr>
        <p:sp>
          <p:nvSpPr>
            <p:cNvPr id="54" name="Text Box 12">
              <a:extLst>
                <a:ext uri="{FF2B5EF4-FFF2-40B4-BE49-F238E27FC236}">
                  <a16:creationId xmlns:a16="http://schemas.microsoft.com/office/drawing/2014/main" id="{18CC901F-184A-1147-B991-15E650618DC6}"/>
                </a:ext>
              </a:extLst>
            </p:cNvPr>
            <p:cNvSpPr txBox="1">
              <a:spLocks noChangeArrowheads="1"/>
            </p:cNvSpPr>
            <p:nvPr/>
          </p:nvSpPr>
          <p:spPr bwMode="auto">
            <a:xfrm rot="16200000">
              <a:off x="3117142" y="4796651"/>
              <a:ext cx="2273300" cy="553997"/>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fontAlgn="auto" hangingPunct="1">
                <a:spcBef>
                  <a:spcPts val="0"/>
                </a:spcBef>
                <a:spcAft>
                  <a:spcPts val="0"/>
                </a:spcAft>
                <a:defRPr/>
              </a:pPr>
              <a:r>
                <a:rPr lang="en-US" sz="1050" dirty="0">
                  <a:solidFill>
                    <a:prstClr val="black"/>
                  </a:solidFill>
                  <a:latin typeface="Arial" charset="0"/>
                </a:rPr>
                <a:t>TCP sender  Sending rate</a:t>
              </a:r>
            </a:p>
          </p:txBody>
        </p:sp>
        <p:sp>
          <p:nvSpPr>
            <p:cNvPr id="55" name="Line 17">
              <a:extLst>
                <a:ext uri="{FF2B5EF4-FFF2-40B4-BE49-F238E27FC236}">
                  <a16:creationId xmlns:a16="http://schemas.microsoft.com/office/drawing/2014/main" id="{EF2F6AD0-B3EF-0B4C-88EA-BCCC113FD5FC}"/>
                </a:ext>
              </a:extLst>
            </p:cNvPr>
            <p:cNvSpPr>
              <a:spLocks noChangeShapeType="1"/>
            </p:cNvSpPr>
            <p:nvPr/>
          </p:nvSpPr>
          <p:spPr bwMode="auto">
            <a:xfrm>
              <a:off x="4558589" y="6176341"/>
              <a:ext cx="4143375" cy="0"/>
            </a:xfrm>
            <a:prstGeom prst="line">
              <a:avLst/>
            </a:prstGeom>
            <a:noFill/>
            <a:ln w="2857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a:solidFill>
                  <a:prstClr val="black"/>
                </a:solidFill>
                <a:latin typeface="Tahoma" charset="0"/>
                <a:ea typeface="ＭＳ Ｐゴシック" charset="0"/>
              </a:endParaRPr>
            </a:p>
          </p:txBody>
        </p:sp>
        <p:sp>
          <p:nvSpPr>
            <p:cNvPr id="56" name="Line 18">
              <a:extLst>
                <a:ext uri="{FF2B5EF4-FFF2-40B4-BE49-F238E27FC236}">
                  <a16:creationId xmlns:a16="http://schemas.microsoft.com/office/drawing/2014/main" id="{11B2DFEF-102F-D74F-9B47-304A5DF4E68F}"/>
                </a:ext>
              </a:extLst>
            </p:cNvPr>
            <p:cNvSpPr>
              <a:spLocks noChangeShapeType="1"/>
            </p:cNvSpPr>
            <p:nvPr/>
          </p:nvSpPr>
          <p:spPr bwMode="auto">
            <a:xfrm>
              <a:off x="4546600" y="4203700"/>
              <a:ext cx="877" cy="1974229"/>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1" fontAlgn="auto" hangingPunct="1">
                <a:spcBef>
                  <a:spcPts val="0"/>
                </a:spcBef>
                <a:spcAft>
                  <a:spcPts val="0"/>
                </a:spcAft>
                <a:defRPr/>
              </a:pPr>
              <a:endParaRPr lang="en-US" sz="1350" dirty="0">
                <a:solidFill>
                  <a:prstClr val="black"/>
                </a:solidFill>
                <a:latin typeface="Tahoma" charset="0"/>
                <a:ea typeface="ＭＳ Ｐゴシック" charset="0"/>
              </a:endParaRPr>
            </a:p>
          </p:txBody>
        </p:sp>
        <p:sp>
          <p:nvSpPr>
            <p:cNvPr id="58" name="Text Box 40">
              <a:extLst>
                <a:ext uri="{FF2B5EF4-FFF2-40B4-BE49-F238E27FC236}">
                  <a16:creationId xmlns:a16="http://schemas.microsoft.com/office/drawing/2014/main" id="{27E5BB5F-DA02-D949-9477-C50B724C7125}"/>
                </a:ext>
              </a:extLst>
            </p:cNvPr>
            <p:cNvSpPr txBox="1">
              <a:spLocks noChangeArrowheads="1"/>
            </p:cNvSpPr>
            <p:nvPr/>
          </p:nvSpPr>
          <p:spPr bwMode="auto">
            <a:xfrm>
              <a:off x="6125453" y="6166816"/>
              <a:ext cx="643765"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fontAlgn="auto" hangingPunct="1">
                <a:spcBef>
                  <a:spcPts val="0"/>
                </a:spcBef>
                <a:spcAft>
                  <a:spcPts val="0"/>
                </a:spcAft>
                <a:defRPr/>
              </a:pPr>
              <a:r>
                <a:rPr lang="en-US" sz="1200">
                  <a:solidFill>
                    <a:prstClr val="black"/>
                  </a:solidFill>
                </a:rPr>
                <a:t>time</a:t>
              </a:r>
            </a:p>
          </p:txBody>
        </p:sp>
      </p:grpSp>
      <p:grpSp>
        <p:nvGrpSpPr>
          <p:cNvPr id="9" name="Group 8">
            <a:extLst>
              <a:ext uri="{FF2B5EF4-FFF2-40B4-BE49-F238E27FC236}">
                <a16:creationId xmlns:a16="http://schemas.microsoft.com/office/drawing/2014/main" id="{CE38AC8E-A4ED-7042-8221-EEFB417FF7BA}"/>
              </a:ext>
            </a:extLst>
          </p:cNvPr>
          <p:cNvGrpSpPr/>
          <p:nvPr/>
        </p:nvGrpSpPr>
        <p:grpSpPr>
          <a:xfrm>
            <a:off x="723900" y="2466975"/>
            <a:ext cx="3790950" cy="1428750"/>
            <a:chOff x="0" y="4533900"/>
            <a:chExt cx="4762500" cy="1905000"/>
          </a:xfrm>
        </p:grpSpPr>
        <p:sp>
          <p:nvSpPr>
            <p:cNvPr id="3" name="Rectangle 2">
              <a:extLst>
                <a:ext uri="{FF2B5EF4-FFF2-40B4-BE49-F238E27FC236}">
                  <a16:creationId xmlns:a16="http://schemas.microsoft.com/office/drawing/2014/main" id="{EA9A0FF2-0607-BD44-8404-E086F64972BE}"/>
                </a:ext>
              </a:extLst>
            </p:cNvPr>
            <p:cNvSpPr/>
            <p:nvPr/>
          </p:nvSpPr>
          <p:spPr>
            <a:xfrm>
              <a:off x="406846" y="4737100"/>
              <a:ext cx="4334880" cy="1435100"/>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60" name="Rectangle 8">
              <a:extLst>
                <a:ext uri="{FF2B5EF4-FFF2-40B4-BE49-F238E27FC236}">
                  <a16:creationId xmlns:a16="http://schemas.microsoft.com/office/drawing/2014/main" id="{83C5ED77-5FA7-AC4C-AB2A-245D62DB4EB6}"/>
                </a:ext>
              </a:extLst>
            </p:cNvPr>
            <p:cNvSpPr>
              <a:spLocks noChangeArrowheads="1"/>
            </p:cNvSpPr>
            <p:nvPr/>
          </p:nvSpPr>
          <p:spPr bwMode="auto">
            <a:xfrm>
              <a:off x="0" y="4991100"/>
              <a:ext cx="4762500" cy="1447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lvl="1" eaLnBrk="1" fontAlgn="auto" hangingPunct="1">
                <a:lnSpc>
                  <a:spcPct val="85000"/>
                </a:lnSpc>
                <a:spcBef>
                  <a:spcPct val="20000"/>
                </a:spcBef>
                <a:spcAft>
                  <a:spcPts val="0"/>
                </a:spcAft>
                <a:buClr>
                  <a:srgbClr val="000099"/>
                </a:buClr>
                <a:defRPr/>
              </a:pPr>
              <a:r>
                <a:rPr lang="en-US" sz="1950" dirty="0">
                  <a:solidFill>
                    <a:prstClr val="black"/>
                  </a:solidFill>
                  <a:latin typeface="Calibri"/>
                  <a:ea typeface="ＭＳ Ｐゴシック" charset="0"/>
                </a:rPr>
                <a:t>increase sending rate </a:t>
              </a:r>
              <a:r>
                <a:rPr lang="en-US" sz="1950" dirty="0">
                  <a:solidFill>
                    <a:prstClr val="black"/>
                  </a:solidFill>
                  <a:latin typeface="Gill Sans MT" charset="0"/>
                  <a:ea typeface="ＭＳ Ｐゴシック" charset="0"/>
                </a:rPr>
                <a:t>by </a:t>
              </a:r>
              <a:r>
                <a:rPr lang="en-US" sz="1950" dirty="0">
                  <a:solidFill>
                    <a:prstClr val="black"/>
                  </a:solidFill>
                  <a:latin typeface="Calibri"/>
                  <a:ea typeface="ＭＳ Ｐゴシック" charset="0"/>
                </a:rPr>
                <a:t>1 maximum segment size every RTT until loss detected</a:t>
              </a:r>
              <a:endParaRPr lang="en-US" sz="1950" i="1" dirty="0">
                <a:solidFill>
                  <a:prstClr val="black"/>
                </a:solidFill>
                <a:latin typeface="Calibri" panose="020F0502020204030204"/>
                <a:ea typeface="ＭＳ Ｐゴシック" charset="0"/>
              </a:endParaRPr>
            </a:p>
          </p:txBody>
        </p:sp>
        <p:sp>
          <p:nvSpPr>
            <p:cNvPr id="136" name="Rectangle 8">
              <a:extLst>
                <a:ext uri="{FF2B5EF4-FFF2-40B4-BE49-F238E27FC236}">
                  <a16:creationId xmlns:a16="http://schemas.microsoft.com/office/drawing/2014/main" id="{91ECB6E6-4418-7243-B13D-E7E4DAE72D34}"/>
                </a:ext>
              </a:extLst>
            </p:cNvPr>
            <p:cNvSpPr>
              <a:spLocks noChangeArrowheads="1"/>
            </p:cNvSpPr>
            <p:nvPr/>
          </p:nvSpPr>
          <p:spPr bwMode="auto">
            <a:xfrm>
              <a:off x="508000" y="4533900"/>
              <a:ext cx="2667000" cy="444500"/>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fontAlgn="auto" hangingPunct="1">
                <a:lnSpc>
                  <a:spcPct val="85000"/>
                </a:lnSpc>
                <a:spcBef>
                  <a:spcPct val="20000"/>
                </a:spcBef>
                <a:spcAft>
                  <a:spcPts val="0"/>
                </a:spcAft>
                <a:buClr>
                  <a:srgbClr val="000099"/>
                </a:buClr>
                <a:defRPr/>
              </a:pPr>
              <a:r>
                <a:rPr lang="en-US" sz="2100" i="1" u="sng" dirty="0">
                  <a:solidFill>
                    <a:srgbClr val="00B050"/>
                  </a:solidFill>
                  <a:latin typeface="Calibri" panose="020F0502020204030204"/>
                  <a:ea typeface="ＭＳ Ｐゴシック" charset="0"/>
                </a:rPr>
                <a:t>A</a:t>
              </a:r>
              <a:r>
                <a:rPr lang="en-US" sz="2100" i="1" dirty="0">
                  <a:solidFill>
                    <a:srgbClr val="00B050"/>
                  </a:solidFill>
                  <a:latin typeface="Calibri" panose="020F0502020204030204"/>
                  <a:ea typeface="ＭＳ Ｐゴシック" charset="0"/>
                </a:rPr>
                <a:t>dditive </a:t>
              </a:r>
              <a:r>
                <a:rPr lang="en-US" sz="2100" i="1" u="sng" dirty="0">
                  <a:solidFill>
                    <a:srgbClr val="00B050"/>
                  </a:solidFill>
                  <a:latin typeface="Calibri" panose="020F0502020204030204"/>
                  <a:ea typeface="ＭＳ Ｐゴシック" charset="0"/>
                </a:rPr>
                <a:t>I</a:t>
              </a:r>
              <a:r>
                <a:rPr lang="en-US" sz="2100" i="1" dirty="0">
                  <a:solidFill>
                    <a:srgbClr val="00B050"/>
                  </a:solidFill>
                  <a:latin typeface="Calibri" panose="020F0502020204030204"/>
                  <a:ea typeface="ＭＳ Ｐゴシック" charset="0"/>
                </a:rPr>
                <a:t>ncrease</a:t>
              </a:r>
              <a:endParaRPr lang="en-US" sz="2100" dirty="0">
                <a:solidFill>
                  <a:srgbClr val="00B050"/>
                </a:solidFill>
                <a:latin typeface="Gill Sans MT" charset="0"/>
                <a:ea typeface="ＭＳ Ｐゴシック" charset="0"/>
              </a:endParaRPr>
            </a:p>
          </p:txBody>
        </p:sp>
      </p:grpSp>
      <p:grpSp>
        <p:nvGrpSpPr>
          <p:cNvPr id="63" name="Group 62">
            <a:extLst>
              <a:ext uri="{FF2B5EF4-FFF2-40B4-BE49-F238E27FC236}">
                <a16:creationId xmlns:a16="http://schemas.microsoft.com/office/drawing/2014/main" id="{29F4C833-80E3-E14A-98F5-D02EBF4C0AC6}"/>
              </a:ext>
            </a:extLst>
          </p:cNvPr>
          <p:cNvGrpSpPr/>
          <p:nvPr/>
        </p:nvGrpSpPr>
        <p:grpSpPr>
          <a:xfrm>
            <a:off x="4505325" y="2505075"/>
            <a:ext cx="3562350" cy="1066800"/>
            <a:chOff x="38100" y="4533900"/>
            <a:chExt cx="4749800" cy="1422400"/>
          </a:xfrm>
        </p:grpSpPr>
        <p:sp>
          <p:nvSpPr>
            <p:cNvPr id="64" name="Rectangle 63">
              <a:extLst>
                <a:ext uri="{FF2B5EF4-FFF2-40B4-BE49-F238E27FC236}">
                  <a16:creationId xmlns:a16="http://schemas.microsoft.com/office/drawing/2014/main" id="{7ED9889A-D576-6948-99EB-B6AAAAF94FF1}"/>
                </a:ext>
              </a:extLst>
            </p:cNvPr>
            <p:cNvSpPr/>
            <p:nvPr/>
          </p:nvSpPr>
          <p:spPr>
            <a:xfrm>
              <a:off x="342900" y="4686300"/>
              <a:ext cx="4267200" cy="12700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65" name="Rectangle 8">
              <a:extLst>
                <a:ext uri="{FF2B5EF4-FFF2-40B4-BE49-F238E27FC236}">
                  <a16:creationId xmlns:a16="http://schemas.microsoft.com/office/drawing/2014/main" id="{12492D08-6387-3C44-BE8F-DFB7A535E296}"/>
                </a:ext>
              </a:extLst>
            </p:cNvPr>
            <p:cNvSpPr>
              <a:spLocks noChangeArrowheads="1"/>
            </p:cNvSpPr>
            <p:nvPr/>
          </p:nvSpPr>
          <p:spPr bwMode="auto">
            <a:xfrm>
              <a:off x="38100" y="4991100"/>
              <a:ext cx="4749800" cy="825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lvl="1" eaLnBrk="1" fontAlgn="auto" hangingPunct="1">
                <a:lnSpc>
                  <a:spcPct val="85000"/>
                </a:lnSpc>
                <a:spcBef>
                  <a:spcPct val="20000"/>
                </a:spcBef>
                <a:spcAft>
                  <a:spcPts val="0"/>
                </a:spcAft>
                <a:buClr>
                  <a:srgbClr val="000099"/>
                </a:buClr>
                <a:defRPr/>
              </a:pPr>
              <a:r>
                <a:rPr lang="en-US" sz="1950" dirty="0">
                  <a:solidFill>
                    <a:prstClr val="black"/>
                  </a:solidFill>
                  <a:latin typeface="Calibri" panose="020F0502020204030204"/>
                  <a:ea typeface="ＭＳ Ｐゴシック" charset="0"/>
                </a:rPr>
                <a:t>cut sending rate in half at each loss event</a:t>
              </a:r>
              <a:endParaRPr lang="en-US" sz="1950" i="1" dirty="0">
                <a:solidFill>
                  <a:prstClr val="black"/>
                </a:solidFill>
                <a:latin typeface="Calibri"/>
                <a:ea typeface="ＭＳ Ｐゴシック" charset="0"/>
              </a:endParaRPr>
            </a:p>
            <a:p>
              <a:pPr marL="257175" indent="-257175" eaLnBrk="1" fontAlgn="auto" hangingPunct="1">
                <a:lnSpc>
                  <a:spcPct val="85000"/>
                </a:lnSpc>
                <a:spcBef>
                  <a:spcPct val="20000"/>
                </a:spcBef>
                <a:spcAft>
                  <a:spcPts val="0"/>
                </a:spcAft>
                <a:buClr>
                  <a:srgbClr val="000099"/>
                </a:buClr>
                <a:buSzPct val="65000"/>
                <a:buFont typeface="Wingdings" charset="0"/>
                <a:buChar char="v"/>
                <a:defRPr/>
              </a:pPr>
              <a:endParaRPr lang="en-US" sz="2100" dirty="0">
                <a:solidFill>
                  <a:prstClr val="black"/>
                </a:solidFill>
                <a:latin typeface="Gill Sans MT" charset="0"/>
                <a:ea typeface="ＭＳ Ｐゴシック" charset="0"/>
              </a:endParaRPr>
            </a:p>
          </p:txBody>
        </p:sp>
        <p:sp>
          <p:nvSpPr>
            <p:cNvPr id="66" name="Rectangle 8">
              <a:extLst>
                <a:ext uri="{FF2B5EF4-FFF2-40B4-BE49-F238E27FC236}">
                  <a16:creationId xmlns:a16="http://schemas.microsoft.com/office/drawing/2014/main" id="{4FA342B4-82DA-FE44-A283-F18BBA2F6E1B}"/>
                </a:ext>
              </a:extLst>
            </p:cNvPr>
            <p:cNvSpPr>
              <a:spLocks noChangeArrowheads="1"/>
            </p:cNvSpPr>
            <p:nvPr/>
          </p:nvSpPr>
          <p:spPr bwMode="auto">
            <a:xfrm>
              <a:off x="508000" y="4533900"/>
              <a:ext cx="3746500" cy="444500"/>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fontAlgn="auto" hangingPunct="1">
                <a:lnSpc>
                  <a:spcPct val="85000"/>
                </a:lnSpc>
                <a:spcBef>
                  <a:spcPct val="20000"/>
                </a:spcBef>
                <a:spcAft>
                  <a:spcPts val="0"/>
                </a:spcAft>
                <a:buClr>
                  <a:srgbClr val="000099"/>
                </a:buClr>
                <a:defRPr/>
              </a:pPr>
              <a:r>
                <a:rPr lang="en-US" sz="2100" i="1" u="sng" dirty="0">
                  <a:solidFill>
                    <a:srgbClr val="C00000"/>
                  </a:solidFill>
                  <a:latin typeface="Calibri" panose="020F0502020204030204"/>
                  <a:ea typeface="ＭＳ Ｐゴシック" charset="0"/>
                </a:rPr>
                <a:t>M</a:t>
              </a:r>
              <a:r>
                <a:rPr lang="en-US" sz="2100" i="1" dirty="0">
                  <a:solidFill>
                    <a:srgbClr val="C00000"/>
                  </a:solidFill>
                  <a:latin typeface="Calibri" panose="020F0502020204030204"/>
                  <a:ea typeface="ＭＳ Ｐゴシック" charset="0"/>
                </a:rPr>
                <a:t>ultiplicative </a:t>
              </a:r>
              <a:r>
                <a:rPr lang="en-US" sz="2100" i="1" u="sng" dirty="0">
                  <a:solidFill>
                    <a:srgbClr val="C00000"/>
                  </a:solidFill>
                  <a:latin typeface="Calibri" panose="020F0502020204030204"/>
                  <a:ea typeface="ＭＳ Ｐゴシック" charset="0"/>
                </a:rPr>
                <a:t>D</a:t>
              </a:r>
              <a:r>
                <a:rPr lang="en-US" sz="2100" i="1" dirty="0">
                  <a:solidFill>
                    <a:srgbClr val="C00000"/>
                  </a:solidFill>
                  <a:latin typeface="Calibri" panose="020F0502020204030204"/>
                  <a:ea typeface="ＭＳ Ｐゴシック" charset="0"/>
                </a:rPr>
                <a:t>ecrease</a:t>
              </a:r>
              <a:endParaRPr lang="en-US" sz="2100" dirty="0">
                <a:solidFill>
                  <a:srgbClr val="C00000"/>
                </a:solidFill>
                <a:latin typeface="Gill Sans MT" charset="0"/>
                <a:ea typeface="ＭＳ Ｐゴシック" charset="0"/>
              </a:endParaRPr>
            </a:p>
          </p:txBody>
        </p:sp>
      </p:grpSp>
      <p:grpSp>
        <p:nvGrpSpPr>
          <p:cNvPr id="33" name="Group 32">
            <a:extLst>
              <a:ext uri="{FF2B5EF4-FFF2-40B4-BE49-F238E27FC236}">
                <a16:creationId xmlns:a16="http://schemas.microsoft.com/office/drawing/2014/main" id="{08B9E571-5EFE-DF45-ABEE-F217088B731C}"/>
              </a:ext>
            </a:extLst>
          </p:cNvPr>
          <p:cNvGrpSpPr/>
          <p:nvPr/>
        </p:nvGrpSpPr>
        <p:grpSpPr>
          <a:xfrm>
            <a:off x="2964707" y="3695701"/>
            <a:ext cx="2699426" cy="1193462"/>
            <a:chOff x="3965643" y="3797300"/>
            <a:chExt cx="3599234" cy="1591283"/>
          </a:xfrm>
        </p:grpSpPr>
        <p:grpSp>
          <p:nvGrpSpPr>
            <p:cNvPr id="32" name="Group 31">
              <a:extLst>
                <a:ext uri="{FF2B5EF4-FFF2-40B4-BE49-F238E27FC236}">
                  <a16:creationId xmlns:a16="http://schemas.microsoft.com/office/drawing/2014/main" id="{B98081F5-35B5-A849-A6DC-D92ECEF0752A}"/>
                </a:ext>
              </a:extLst>
            </p:cNvPr>
            <p:cNvGrpSpPr/>
            <p:nvPr/>
          </p:nvGrpSpPr>
          <p:grpSpPr>
            <a:xfrm>
              <a:off x="3965643" y="4159386"/>
              <a:ext cx="3599234" cy="1229197"/>
              <a:chOff x="3965643" y="4159386"/>
              <a:chExt cx="3599234" cy="1229197"/>
            </a:xfrm>
          </p:grpSpPr>
          <p:cxnSp>
            <p:nvCxnSpPr>
              <p:cNvPr id="11" name="Straight Arrow Connector 10">
                <a:extLst>
                  <a:ext uri="{FF2B5EF4-FFF2-40B4-BE49-F238E27FC236}">
                    <a16:creationId xmlns:a16="http://schemas.microsoft.com/office/drawing/2014/main" id="{01079667-0DAA-D94E-A312-DB3C9977FD14}"/>
                  </a:ext>
                </a:extLst>
              </p:cNvPr>
              <p:cNvCxnSpPr>
                <a:cxnSpLocks/>
              </p:cNvCxnSpPr>
              <p:nvPr/>
            </p:nvCxnSpPr>
            <p:spPr>
              <a:xfrm>
                <a:off x="3972128" y="4163438"/>
                <a:ext cx="0" cy="10562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4E7717F-1A0D-FF4E-812D-3FD618E53878}"/>
                  </a:ext>
                </a:extLst>
              </p:cNvPr>
              <p:cNvCxnSpPr>
                <a:cxnSpLocks/>
              </p:cNvCxnSpPr>
              <p:nvPr/>
            </p:nvCxnSpPr>
            <p:spPr>
              <a:xfrm>
                <a:off x="4480128" y="4163438"/>
                <a:ext cx="0" cy="12213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D125F63-AD27-6B45-AE19-4ABD9BFAAB03}"/>
                  </a:ext>
                </a:extLst>
              </p:cNvPr>
              <p:cNvCxnSpPr>
                <a:cxnSpLocks/>
              </p:cNvCxnSpPr>
              <p:nvPr/>
            </p:nvCxnSpPr>
            <p:spPr>
              <a:xfrm>
                <a:off x="5295630" y="4163438"/>
                <a:ext cx="0" cy="1225145"/>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72EFC86-C803-E843-B374-808FCECBC349}"/>
                  </a:ext>
                </a:extLst>
              </p:cNvPr>
              <p:cNvCxnSpPr>
                <a:cxnSpLocks/>
              </p:cNvCxnSpPr>
              <p:nvPr/>
            </p:nvCxnSpPr>
            <p:spPr>
              <a:xfrm>
                <a:off x="5964941" y="4171542"/>
                <a:ext cx="0" cy="1204339"/>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19D5D13-5D07-4C47-B49B-8AC41BCDCFBB}"/>
                  </a:ext>
                </a:extLst>
              </p:cNvPr>
              <p:cNvCxnSpPr>
                <a:cxnSpLocks/>
              </p:cNvCxnSpPr>
              <p:nvPr/>
            </p:nvCxnSpPr>
            <p:spPr>
              <a:xfrm>
                <a:off x="6794500" y="4165056"/>
                <a:ext cx="0" cy="11938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449C30FB-E09A-8645-AF59-0F93ED23D5ED}"/>
                  </a:ext>
                </a:extLst>
              </p:cNvPr>
              <p:cNvCxnSpPr>
                <a:cxnSpLocks/>
              </p:cNvCxnSpPr>
              <p:nvPr/>
            </p:nvCxnSpPr>
            <p:spPr>
              <a:xfrm>
                <a:off x="7559743" y="4159386"/>
                <a:ext cx="0" cy="110652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CE80244-8AE8-9244-8BD7-F7A494EF70AA}"/>
                  </a:ext>
                </a:extLst>
              </p:cNvPr>
              <p:cNvCxnSpPr>
                <a:cxnSpLocks/>
              </p:cNvCxnSpPr>
              <p:nvPr/>
            </p:nvCxnSpPr>
            <p:spPr>
              <a:xfrm>
                <a:off x="3965643" y="4162357"/>
                <a:ext cx="3599234" cy="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id="{CA3311EB-6DA1-BE40-8300-E0A7E76CCC9C}"/>
                </a:ext>
              </a:extLst>
            </p:cNvPr>
            <p:cNvCxnSpPr/>
            <p:nvPr/>
          </p:nvCxnSpPr>
          <p:spPr>
            <a:xfrm>
              <a:off x="5651500" y="3797300"/>
              <a:ext cx="0" cy="3810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46745885-D0C9-5C4A-8189-6C1C08532D61}"/>
              </a:ext>
            </a:extLst>
          </p:cNvPr>
          <p:cNvGrpSpPr/>
          <p:nvPr/>
        </p:nvGrpSpPr>
        <p:grpSpPr>
          <a:xfrm>
            <a:off x="3081337" y="3574256"/>
            <a:ext cx="2864645" cy="1271588"/>
            <a:chOff x="4108450" y="3622675"/>
            <a:chExt cx="3819526" cy="1695450"/>
          </a:xfrm>
        </p:grpSpPr>
        <p:grpSp>
          <p:nvGrpSpPr>
            <p:cNvPr id="85" name="Group 84">
              <a:extLst>
                <a:ext uri="{FF2B5EF4-FFF2-40B4-BE49-F238E27FC236}">
                  <a16:creationId xmlns:a16="http://schemas.microsoft.com/office/drawing/2014/main" id="{CE8174FE-3375-6647-833E-1BBA1779B8E0}"/>
                </a:ext>
              </a:extLst>
            </p:cNvPr>
            <p:cNvGrpSpPr/>
            <p:nvPr/>
          </p:nvGrpSpPr>
          <p:grpSpPr>
            <a:xfrm>
              <a:off x="4108450" y="3975100"/>
              <a:ext cx="3819526" cy="1343025"/>
              <a:chOff x="4108450" y="3975100"/>
              <a:chExt cx="3819526" cy="1343025"/>
            </a:xfrm>
          </p:grpSpPr>
          <p:cxnSp>
            <p:nvCxnSpPr>
              <p:cNvPr id="61" name="Straight Arrow Connector 60">
                <a:extLst>
                  <a:ext uri="{FF2B5EF4-FFF2-40B4-BE49-F238E27FC236}">
                    <a16:creationId xmlns:a16="http://schemas.microsoft.com/office/drawing/2014/main" id="{D9182BCB-9C63-4F4E-9BFE-C6ED53E7206A}"/>
                  </a:ext>
                </a:extLst>
              </p:cNvPr>
              <p:cNvCxnSpPr>
                <a:cxnSpLocks/>
              </p:cNvCxnSpPr>
              <p:nvPr/>
            </p:nvCxnSpPr>
            <p:spPr>
              <a:xfrm flipH="1">
                <a:off x="7245350" y="3981450"/>
                <a:ext cx="679450" cy="125412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3A530988-F896-F240-A4FD-4D4D80C11F42}"/>
                  </a:ext>
                </a:extLst>
              </p:cNvPr>
              <p:cNvCxnSpPr>
                <a:cxnSpLocks/>
              </p:cNvCxnSpPr>
              <p:nvPr/>
            </p:nvCxnSpPr>
            <p:spPr>
              <a:xfrm flipH="1">
                <a:off x="4108450" y="3975100"/>
                <a:ext cx="3816350" cy="133985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6D2A9933-F916-0E46-A509-25FD8F001806}"/>
                  </a:ext>
                </a:extLst>
              </p:cNvPr>
              <p:cNvCxnSpPr>
                <a:cxnSpLocks/>
              </p:cNvCxnSpPr>
              <p:nvPr/>
            </p:nvCxnSpPr>
            <p:spPr>
              <a:xfrm flipH="1">
                <a:off x="5070475" y="3978275"/>
                <a:ext cx="2854325" cy="129857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BDE4AE1E-DD47-A648-8E75-B628D3E56B38}"/>
                  </a:ext>
                </a:extLst>
              </p:cNvPr>
              <p:cNvCxnSpPr>
                <a:cxnSpLocks/>
              </p:cNvCxnSpPr>
              <p:nvPr/>
            </p:nvCxnSpPr>
            <p:spPr>
              <a:xfrm flipH="1">
                <a:off x="5607050" y="3984625"/>
                <a:ext cx="2320926" cy="13335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2C801921-8F99-4345-AADF-C79B5379ABCC}"/>
                  </a:ext>
                </a:extLst>
              </p:cNvPr>
              <p:cNvCxnSpPr>
                <a:cxnSpLocks/>
              </p:cNvCxnSpPr>
              <p:nvPr/>
            </p:nvCxnSpPr>
            <p:spPr>
              <a:xfrm flipH="1">
                <a:off x="6565900" y="3984625"/>
                <a:ext cx="1358900" cy="11938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Straight Connector 86">
              <a:extLst>
                <a:ext uri="{FF2B5EF4-FFF2-40B4-BE49-F238E27FC236}">
                  <a16:creationId xmlns:a16="http://schemas.microsoft.com/office/drawing/2014/main" id="{E7A7E738-8F7C-B641-98A4-26125EAB1AA9}"/>
                </a:ext>
              </a:extLst>
            </p:cNvPr>
            <p:cNvCxnSpPr/>
            <p:nvPr/>
          </p:nvCxnSpPr>
          <p:spPr>
            <a:xfrm flipV="1">
              <a:off x="7921625" y="3622675"/>
              <a:ext cx="0" cy="358775"/>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9" name="Slide Number Placeholder 2">
            <a:extLst>
              <a:ext uri="{FF2B5EF4-FFF2-40B4-BE49-F238E27FC236}">
                <a16:creationId xmlns:a16="http://schemas.microsoft.com/office/drawing/2014/main" id="{F67FBF66-1006-C849-9ABA-320AB4C17D74}"/>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83</a:t>
            </a:fld>
            <a:endParaRPr lang="en-US" dirty="0">
              <a:solidFill>
                <a:prstClr val="white">
                  <a:lumMod val="50000"/>
                </a:prstClr>
              </a:solidFill>
            </a:endParaRPr>
          </a:p>
        </p:txBody>
      </p:sp>
    </p:spTree>
    <p:extLst>
      <p:ext uri="{BB962C8B-B14F-4D97-AF65-F5344CB8AC3E}">
        <p14:creationId xmlns:p14="http://schemas.microsoft.com/office/powerpoint/2010/main" val="2281600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dissolv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up)">
                                      <p:cBhvr>
                                        <p:cTn id="16" dur="500"/>
                                        <p:tgtEl>
                                          <p:spTgt spid="3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500"/>
                                        <p:tgtEl>
                                          <p:spTgt spid="38"/>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up)">
                                      <p:cBhvr>
                                        <p:cTn id="24" dur="500"/>
                                        <p:tgtEl>
                                          <p:spTgt spid="39"/>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left)">
                                      <p:cBhvr>
                                        <p:cTn id="28" dur="500"/>
                                        <p:tgtEl>
                                          <p:spTgt spid="41"/>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up)">
                                      <p:cBhvr>
                                        <p:cTn id="32" dur="500"/>
                                        <p:tgtEl>
                                          <p:spTgt spid="43"/>
                                        </p:tgtEl>
                                      </p:cBhvr>
                                    </p:animEffect>
                                  </p:childTnLst>
                                </p:cTn>
                              </p:par>
                            </p:childTnLst>
                          </p:cTn>
                        </p:par>
                        <p:par>
                          <p:cTn id="33" fill="hold">
                            <p:stCondLst>
                              <p:cond delay="3000"/>
                            </p:stCondLst>
                            <p:childTnLst>
                              <p:par>
                                <p:cTn id="34" presetID="22" presetClass="entr" presetSubtype="4" fill="hold" grpId="0"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wipe(down)">
                                      <p:cBhvr>
                                        <p:cTn id="36" dur="500"/>
                                        <p:tgtEl>
                                          <p:spTgt spid="44"/>
                                        </p:tgtEl>
                                      </p:cBhvr>
                                    </p:animEffect>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up)">
                                      <p:cBhvr>
                                        <p:cTn id="40" dur="500"/>
                                        <p:tgtEl>
                                          <p:spTgt spid="45"/>
                                        </p:tgtEl>
                                      </p:cBhvr>
                                    </p:animEffect>
                                  </p:childTnLst>
                                </p:cTn>
                              </p:par>
                            </p:childTnLst>
                          </p:cTn>
                        </p:par>
                        <p:par>
                          <p:cTn id="41" fill="hold">
                            <p:stCondLst>
                              <p:cond delay="4000"/>
                            </p:stCondLst>
                            <p:childTnLst>
                              <p:par>
                                <p:cTn id="42" presetID="22" presetClass="entr" presetSubtype="4" fill="hold" grpId="0" nodeType="after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down)">
                                      <p:cBhvr>
                                        <p:cTn id="44" dur="500"/>
                                        <p:tgtEl>
                                          <p:spTgt spid="46"/>
                                        </p:tgtEl>
                                      </p:cBhvr>
                                    </p:animEffect>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up)">
                                      <p:cBhvr>
                                        <p:cTn id="48" dur="500"/>
                                        <p:tgtEl>
                                          <p:spTgt spid="47"/>
                                        </p:tgtEl>
                                      </p:cBhvr>
                                    </p:animEffect>
                                  </p:childTnLst>
                                </p:cTn>
                              </p:par>
                            </p:childTnLst>
                          </p:cTn>
                        </p:par>
                        <p:par>
                          <p:cTn id="49" fill="hold">
                            <p:stCondLst>
                              <p:cond delay="5000"/>
                            </p:stCondLst>
                            <p:childTnLst>
                              <p:par>
                                <p:cTn id="50" presetID="22" presetClass="entr" presetSubtype="4" fill="hold" grpId="0" nodeType="after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wipe(down)">
                                      <p:cBhvr>
                                        <p:cTn id="52" dur="500"/>
                                        <p:tgtEl>
                                          <p:spTgt spid="48"/>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dissolve">
                                      <p:cBhvr>
                                        <p:cTn id="57" dur="500"/>
                                        <p:tgtEl>
                                          <p:spTgt spid="9"/>
                                        </p:tgtEl>
                                      </p:cBhvr>
                                    </p:animEffect>
                                  </p:childTnLst>
                                </p:cTn>
                              </p:par>
                            </p:childTnLst>
                          </p:cTn>
                        </p:par>
                        <p:par>
                          <p:cTn id="58" fill="hold">
                            <p:stCondLst>
                              <p:cond delay="500"/>
                            </p:stCondLst>
                            <p:childTnLst>
                              <p:par>
                                <p:cTn id="59" presetID="22" presetClass="entr" presetSubtype="1" fill="hold" nodeType="afterEffect">
                                  <p:stCondLst>
                                    <p:cond delay="1000"/>
                                  </p:stCondLst>
                                  <p:childTnLst>
                                    <p:set>
                                      <p:cBhvr>
                                        <p:cTn id="60" dur="1" fill="hold">
                                          <p:stCondLst>
                                            <p:cond delay="0"/>
                                          </p:stCondLst>
                                        </p:cTn>
                                        <p:tgtEl>
                                          <p:spTgt spid="33"/>
                                        </p:tgtEl>
                                        <p:attrNameLst>
                                          <p:attrName>style.visibility</p:attrName>
                                        </p:attrNameLst>
                                      </p:cBhvr>
                                      <p:to>
                                        <p:strVal val="visible"/>
                                      </p:to>
                                    </p:set>
                                    <p:animEffect transition="in" filter="wipe(up)">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dissolve">
                                      <p:cBhvr>
                                        <p:cTn id="66" dur="500"/>
                                        <p:tgtEl>
                                          <p:spTgt spid="63"/>
                                        </p:tgtEl>
                                      </p:cBhvr>
                                    </p:animEffect>
                                  </p:childTnLst>
                                </p:cTn>
                              </p:par>
                              <p:par>
                                <p:cTn id="67" presetID="9" presetClass="exit" presetSubtype="0" fill="hold" nodeType="withEffect">
                                  <p:stCondLst>
                                    <p:cond delay="0"/>
                                  </p:stCondLst>
                                  <p:childTnLst>
                                    <p:animEffect transition="out" filter="dissolve">
                                      <p:cBhvr>
                                        <p:cTn id="68" dur="500"/>
                                        <p:tgtEl>
                                          <p:spTgt spid="33"/>
                                        </p:tgtEl>
                                      </p:cBhvr>
                                    </p:animEffect>
                                    <p:set>
                                      <p:cBhvr>
                                        <p:cTn id="69" dur="1" fill="hold">
                                          <p:stCondLst>
                                            <p:cond delay="499"/>
                                          </p:stCondLst>
                                        </p:cTn>
                                        <p:tgtEl>
                                          <p:spTgt spid="33"/>
                                        </p:tgtEl>
                                        <p:attrNameLst>
                                          <p:attrName>style.visibility</p:attrName>
                                        </p:attrNameLst>
                                      </p:cBhvr>
                                      <p:to>
                                        <p:strVal val="hidden"/>
                                      </p:to>
                                    </p:set>
                                  </p:childTnLst>
                                </p:cTn>
                              </p:par>
                            </p:childTnLst>
                          </p:cTn>
                        </p:par>
                        <p:par>
                          <p:cTn id="70" fill="hold">
                            <p:stCondLst>
                              <p:cond delay="500"/>
                            </p:stCondLst>
                            <p:childTnLst>
                              <p:par>
                                <p:cTn id="71" presetID="22" presetClass="entr" presetSubtype="1" fill="hold" nodeType="afterEffect">
                                  <p:stCondLst>
                                    <p:cond delay="1000"/>
                                  </p:stCondLst>
                                  <p:childTnLst>
                                    <p:set>
                                      <p:cBhvr>
                                        <p:cTn id="72" dur="1" fill="hold">
                                          <p:stCondLst>
                                            <p:cond delay="0"/>
                                          </p:stCondLst>
                                        </p:cTn>
                                        <p:tgtEl>
                                          <p:spTgt spid="88"/>
                                        </p:tgtEl>
                                        <p:attrNameLst>
                                          <p:attrName>style.visibility</p:attrName>
                                        </p:attrNameLst>
                                      </p:cBhvr>
                                      <p:to>
                                        <p:strVal val="visible"/>
                                      </p:to>
                                    </p:set>
                                    <p:animEffect transition="in" filter="wipe(up)">
                                      <p:cBhvr>
                                        <p:cTn id="73" dur="500"/>
                                        <p:tgtEl>
                                          <p:spTgt spid="88"/>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141"/>
                                        </p:tgtEl>
                                        <p:attrNameLst>
                                          <p:attrName>style.visibility</p:attrName>
                                        </p:attrNameLst>
                                      </p:cBhvr>
                                      <p:to>
                                        <p:strVal val="visible"/>
                                      </p:to>
                                    </p:set>
                                    <p:animEffect transition="in" filter="dissolve">
                                      <p:cBhvr>
                                        <p:cTn id="78" dur="500"/>
                                        <p:tgtEl>
                                          <p:spTgt spid="141"/>
                                        </p:tgtEl>
                                      </p:cBhvr>
                                    </p:animEffect>
                                  </p:childTnLst>
                                </p:cTn>
                              </p:par>
                              <p:par>
                                <p:cTn id="79" presetID="9" presetClass="exit" presetSubtype="0" fill="hold" nodeType="withEffect">
                                  <p:stCondLst>
                                    <p:cond delay="0"/>
                                  </p:stCondLst>
                                  <p:childTnLst>
                                    <p:animEffect transition="out" filter="dissolve">
                                      <p:cBhvr>
                                        <p:cTn id="80" dur="500"/>
                                        <p:tgtEl>
                                          <p:spTgt spid="88"/>
                                        </p:tgtEl>
                                      </p:cBhvr>
                                    </p:animEffect>
                                    <p:set>
                                      <p:cBhvr>
                                        <p:cTn id="81" dur="1" fill="hold">
                                          <p:stCondLst>
                                            <p:cond delay="499"/>
                                          </p:stCondLst>
                                        </p:cTn>
                                        <p:tgtEl>
                                          <p:spTgt spid="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36" grpId="0" animBg="1"/>
      <p:bldP spid="37" grpId="0" animBg="1"/>
      <p:bldP spid="38" grpId="0" animBg="1"/>
      <p:bldP spid="39" grpId="0" animBg="1"/>
      <p:bldP spid="41" grpId="0" animBg="1"/>
      <p:bldP spid="43" grpId="0" animBg="1"/>
      <p:bldP spid="44" grpId="0" animBg="1"/>
      <p:bldP spid="45" grpId="0" animBg="1"/>
      <p:bldP spid="46" grpId="0" animBg="1"/>
      <p:bldP spid="47" grpId="0" animBg="1"/>
      <p:bldP spid="48"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09600" y="1051832"/>
            <a:ext cx="8544983" cy="670967"/>
          </a:xfrm>
        </p:spPr>
        <p:txBody>
          <a:bodyPr>
            <a:normAutofit/>
          </a:bodyPr>
          <a:lstStyle/>
          <a:p>
            <a:r>
              <a:rPr lang="en-US" sz="3600" dirty="0"/>
              <a:t>TCP congestion control: details</a:t>
            </a:r>
            <a:endParaRPr lang="en-US" b="0" dirty="0"/>
          </a:p>
        </p:txBody>
      </p:sp>
      <p:grpSp>
        <p:nvGrpSpPr>
          <p:cNvPr id="6" name="Group 5">
            <a:extLst>
              <a:ext uri="{FF2B5EF4-FFF2-40B4-BE49-F238E27FC236}">
                <a16:creationId xmlns:a16="http://schemas.microsoft.com/office/drawing/2014/main" id="{E52FB642-7743-D04C-959D-0819117703FA}"/>
              </a:ext>
            </a:extLst>
          </p:cNvPr>
          <p:cNvGrpSpPr/>
          <p:nvPr/>
        </p:nvGrpSpPr>
        <p:grpSpPr>
          <a:xfrm>
            <a:off x="837367" y="4485846"/>
            <a:ext cx="7525583" cy="1271588"/>
            <a:chOff x="1116489" y="4838128"/>
            <a:chExt cx="10034111" cy="1695450"/>
          </a:xfrm>
        </p:grpSpPr>
        <p:sp>
          <p:nvSpPr>
            <p:cNvPr id="17" name="Rectangle 16">
              <a:extLst>
                <a:ext uri="{FF2B5EF4-FFF2-40B4-BE49-F238E27FC236}">
                  <a16:creationId xmlns:a16="http://schemas.microsoft.com/office/drawing/2014/main" id="{0C3AD1E1-01ED-504A-8B9E-72DE11AF70D1}"/>
                </a:ext>
              </a:extLst>
            </p:cNvPr>
            <p:cNvSpPr/>
            <p:nvPr/>
          </p:nvSpPr>
          <p:spPr>
            <a:xfrm>
              <a:off x="5989208" y="4895568"/>
              <a:ext cx="5161392" cy="3651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02" name="Rectangle 3">
              <a:extLst>
                <a:ext uri="{FF2B5EF4-FFF2-40B4-BE49-F238E27FC236}">
                  <a16:creationId xmlns:a16="http://schemas.microsoft.com/office/drawing/2014/main" id="{A0DE5D89-38AB-C14E-891D-428C6A0ADF69}"/>
                </a:ext>
              </a:extLst>
            </p:cNvPr>
            <p:cNvSpPr txBox="1">
              <a:spLocks noChangeArrowheads="1"/>
            </p:cNvSpPr>
            <p:nvPr/>
          </p:nvSpPr>
          <p:spPr bwMode="auto">
            <a:xfrm>
              <a:off x="1116489" y="4838128"/>
              <a:ext cx="9628822" cy="1695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a:lnSpc>
                  <a:spcPct val="90000"/>
                </a:lnSpc>
                <a:buFont typeface="Wingdings" charset="2"/>
                <a:buChar char="§"/>
                <a:defRPr/>
              </a:pPr>
              <a:r>
                <a:rPr lang="en-US" sz="2100" kern="0" dirty="0">
                  <a:solidFill>
                    <a:srgbClr val="000000"/>
                  </a:solidFill>
                  <a:cs typeface="+mn-cs"/>
                </a:rPr>
                <a:t>TCP sender limits transmission:</a:t>
              </a:r>
            </a:p>
            <a:p>
              <a:pPr>
                <a:lnSpc>
                  <a:spcPct val="90000"/>
                </a:lnSpc>
                <a:buFont typeface="Wingdings" charset="2"/>
                <a:buChar char="§"/>
                <a:defRPr/>
              </a:pPr>
              <a:r>
                <a:rPr lang="en-US" sz="2100" kern="0" dirty="0" err="1">
                  <a:solidFill>
                    <a:srgbClr val="000000"/>
                  </a:solidFill>
                  <a:latin typeface="Courier" pitchFamily="2" charset="0"/>
                  <a:cs typeface="+mn-cs"/>
                </a:rPr>
                <a:t>cwnd</a:t>
              </a:r>
              <a:r>
                <a:rPr lang="en-US" sz="2100" kern="0" dirty="0">
                  <a:solidFill>
                    <a:srgbClr val="000000"/>
                  </a:solidFill>
                  <a:latin typeface="Courier" pitchFamily="2" charset="0"/>
                  <a:cs typeface="+mn-cs"/>
                </a:rPr>
                <a:t> </a:t>
              </a:r>
              <a:r>
                <a:rPr lang="en-US" sz="2100" kern="0" dirty="0">
                  <a:solidFill>
                    <a:srgbClr val="000000"/>
                  </a:solidFill>
                  <a:cs typeface="+mn-cs"/>
                </a:rPr>
                <a:t>is dynamically adjusted in response to observed network congestion (implementing TCP congestion control)</a:t>
              </a:r>
            </a:p>
            <a:p>
              <a:pPr>
                <a:buFont typeface="Wingdings" charset="2"/>
                <a:buChar char="§"/>
                <a:defRPr/>
              </a:pPr>
              <a:endParaRPr lang="en-US" sz="2100" kern="0" dirty="0">
                <a:solidFill>
                  <a:srgbClr val="000000"/>
                </a:solidFill>
                <a:latin typeface="Gill Sans MT"/>
                <a:cs typeface="+mn-cs"/>
              </a:endParaRPr>
            </a:p>
          </p:txBody>
        </p:sp>
        <p:grpSp>
          <p:nvGrpSpPr>
            <p:cNvPr id="16" name="Group 15">
              <a:extLst>
                <a:ext uri="{FF2B5EF4-FFF2-40B4-BE49-F238E27FC236}">
                  <a16:creationId xmlns:a16="http://schemas.microsoft.com/office/drawing/2014/main" id="{33A34342-F85F-A641-8C18-F113159FACD0}"/>
                </a:ext>
              </a:extLst>
            </p:cNvPr>
            <p:cNvGrpSpPr/>
            <p:nvPr/>
          </p:nvGrpSpPr>
          <p:grpSpPr>
            <a:xfrm>
              <a:off x="6040008" y="4887177"/>
              <a:ext cx="4923962" cy="417535"/>
              <a:chOff x="5614194" y="4809655"/>
              <a:chExt cx="4923962" cy="417535"/>
            </a:xfrm>
          </p:grpSpPr>
          <p:sp>
            <p:nvSpPr>
              <p:cNvPr id="181" name="Text Box 71">
                <a:extLst>
                  <a:ext uri="{FF2B5EF4-FFF2-40B4-BE49-F238E27FC236}">
                    <a16:creationId xmlns:a16="http://schemas.microsoft.com/office/drawing/2014/main" id="{77C08B5B-9AE1-D240-830E-26ECD6D1665B}"/>
                  </a:ext>
                </a:extLst>
              </p:cNvPr>
              <p:cNvSpPr txBox="1">
                <a:spLocks noChangeArrowheads="1"/>
              </p:cNvSpPr>
              <p:nvPr/>
            </p:nvSpPr>
            <p:spPr bwMode="auto">
              <a:xfrm>
                <a:off x="5614194" y="4868630"/>
                <a:ext cx="4395788" cy="3585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25425" indent="-22542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5000"/>
                  </a:lnSpc>
                  <a:spcBef>
                    <a:spcPct val="20000"/>
                  </a:spcBef>
                  <a:buClr>
                    <a:srgbClr val="000099"/>
                  </a:buClr>
                  <a:buSzPct val="65000"/>
                  <a:buFont typeface="Wingdings" charset="0"/>
                  <a:buNone/>
                  <a:defRPr/>
                </a:pPr>
                <a:r>
                  <a:rPr lang="en-US" sz="1350" b="1" dirty="0" err="1">
                    <a:solidFill>
                      <a:srgbClr val="000000"/>
                    </a:solidFill>
                    <a:latin typeface="Courier New" charset="0"/>
                  </a:rPr>
                  <a:t>LastByteSent</a:t>
                </a:r>
                <a:r>
                  <a:rPr lang="en-US" sz="1350" b="1" dirty="0">
                    <a:solidFill>
                      <a:srgbClr val="000000"/>
                    </a:solidFill>
                    <a:latin typeface="Courier New" charset="0"/>
                  </a:rPr>
                  <a:t>- </a:t>
                </a:r>
                <a:r>
                  <a:rPr lang="en-US" sz="1350" b="1" dirty="0" err="1">
                    <a:solidFill>
                      <a:srgbClr val="000000"/>
                    </a:solidFill>
                    <a:latin typeface="Courier New" charset="0"/>
                  </a:rPr>
                  <a:t>LastByteAcked</a:t>
                </a:r>
                <a:endParaRPr lang="en-US" sz="1350" dirty="0">
                  <a:solidFill>
                    <a:srgbClr val="000000"/>
                  </a:solidFill>
                  <a:latin typeface="Courier New" charset="0"/>
                </a:endParaRPr>
              </a:p>
            </p:txBody>
          </p:sp>
          <p:grpSp>
            <p:nvGrpSpPr>
              <p:cNvPr id="15" name="Group 14">
                <a:extLst>
                  <a:ext uri="{FF2B5EF4-FFF2-40B4-BE49-F238E27FC236}">
                    <a16:creationId xmlns:a16="http://schemas.microsoft.com/office/drawing/2014/main" id="{FED586FE-6CBA-AA48-85C7-A1A11BDABF7D}"/>
                  </a:ext>
                </a:extLst>
              </p:cNvPr>
              <p:cNvGrpSpPr/>
              <p:nvPr/>
            </p:nvGrpSpPr>
            <p:grpSpPr>
              <a:xfrm>
                <a:off x="9383138" y="4809655"/>
                <a:ext cx="1155018" cy="400110"/>
                <a:chOff x="7675859" y="4768381"/>
                <a:chExt cx="1155018" cy="400110"/>
              </a:xfrm>
            </p:grpSpPr>
            <p:grpSp>
              <p:nvGrpSpPr>
                <p:cNvPr id="182" name="Group 74">
                  <a:extLst>
                    <a:ext uri="{FF2B5EF4-FFF2-40B4-BE49-F238E27FC236}">
                      <a16:creationId xmlns:a16="http://schemas.microsoft.com/office/drawing/2014/main" id="{059D1AF2-00E8-024F-B782-BBF97100FEB7}"/>
                    </a:ext>
                  </a:extLst>
                </p:cNvPr>
                <p:cNvGrpSpPr>
                  <a:grpSpLocks/>
                </p:cNvGrpSpPr>
                <p:nvPr/>
              </p:nvGrpSpPr>
              <p:grpSpPr bwMode="auto">
                <a:xfrm>
                  <a:off x="7675859" y="4789024"/>
                  <a:ext cx="414338" cy="369888"/>
                  <a:chOff x="2038" y="2097"/>
                  <a:chExt cx="261" cy="233"/>
                </a:xfrm>
              </p:grpSpPr>
              <p:sp>
                <p:nvSpPr>
                  <p:cNvPr id="183" name="Text Box 72">
                    <a:extLst>
                      <a:ext uri="{FF2B5EF4-FFF2-40B4-BE49-F238E27FC236}">
                        <a16:creationId xmlns:a16="http://schemas.microsoft.com/office/drawing/2014/main" id="{50EA1644-3183-7A41-97FA-03AEA0F526B2}"/>
                      </a:ext>
                    </a:extLst>
                  </p:cNvPr>
                  <p:cNvSpPr txBox="1">
                    <a:spLocks noChangeArrowheads="1"/>
                  </p:cNvSpPr>
                  <p:nvPr/>
                </p:nvSpPr>
                <p:spPr bwMode="auto">
                  <a:xfrm>
                    <a:off x="2038" y="2097"/>
                    <a:ext cx="261"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200" b="1" kern="0">
                        <a:solidFill>
                          <a:srgbClr val="000000"/>
                        </a:solidFill>
                      </a:rPr>
                      <a:t>&lt;</a:t>
                    </a:r>
                  </a:p>
                </p:txBody>
              </p:sp>
              <p:sp>
                <p:nvSpPr>
                  <p:cNvPr id="184" name="Line 73">
                    <a:extLst>
                      <a:ext uri="{FF2B5EF4-FFF2-40B4-BE49-F238E27FC236}">
                        <a16:creationId xmlns:a16="http://schemas.microsoft.com/office/drawing/2014/main" id="{B966005D-C4C4-C547-86E3-65FDA3A33E10}"/>
                      </a:ext>
                    </a:extLst>
                  </p:cNvPr>
                  <p:cNvSpPr>
                    <a:spLocks noChangeShapeType="1"/>
                  </p:cNvSpPr>
                  <p:nvPr/>
                </p:nvSpPr>
                <p:spPr bwMode="auto">
                  <a:xfrm>
                    <a:off x="2133" y="2269"/>
                    <a:ext cx="8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kern="0">
                      <a:solidFill>
                        <a:srgbClr val="000000"/>
                      </a:solidFill>
                      <a:latin typeface="Tahoma" charset="0"/>
                      <a:ea typeface="ＭＳ Ｐゴシック" charset="0"/>
                    </a:endParaRPr>
                  </a:p>
                </p:txBody>
              </p:sp>
            </p:grpSp>
            <p:sp>
              <p:nvSpPr>
                <p:cNvPr id="185" name="Text Box 75">
                  <a:extLst>
                    <a:ext uri="{FF2B5EF4-FFF2-40B4-BE49-F238E27FC236}">
                      <a16:creationId xmlns:a16="http://schemas.microsoft.com/office/drawing/2014/main" id="{4F80A37A-B578-A447-95BD-D5D7AC31E664}"/>
                    </a:ext>
                  </a:extLst>
                </p:cNvPr>
                <p:cNvSpPr txBox="1">
                  <a:spLocks noChangeArrowheads="1"/>
                </p:cNvSpPr>
                <p:nvPr/>
              </p:nvSpPr>
              <p:spPr bwMode="auto">
                <a:xfrm>
                  <a:off x="8028948" y="4768381"/>
                  <a:ext cx="801929"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b="1" dirty="0" err="1">
                      <a:solidFill>
                        <a:srgbClr val="000000"/>
                      </a:solidFill>
                      <a:latin typeface="Courier New" charset="0"/>
                    </a:rPr>
                    <a:t>cwnd</a:t>
                  </a:r>
                  <a:endParaRPr lang="en-US" sz="1350" b="1" dirty="0">
                    <a:solidFill>
                      <a:srgbClr val="000000"/>
                    </a:solidFill>
                    <a:latin typeface="Courier New" charset="0"/>
                  </a:endParaRPr>
                </a:p>
              </p:txBody>
            </p:sp>
          </p:grpSp>
        </p:grpSp>
      </p:grpSp>
      <p:sp>
        <p:nvSpPr>
          <p:cNvPr id="165" name="Rectangle 47">
            <a:extLst>
              <a:ext uri="{FF2B5EF4-FFF2-40B4-BE49-F238E27FC236}">
                <a16:creationId xmlns:a16="http://schemas.microsoft.com/office/drawing/2014/main" id="{DE6B816E-28FD-F042-BAC6-6005321F7326}"/>
              </a:ext>
            </a:extLst>
          </p:cNvPr>
          <p:cNvSpPr>
            <a:spLocks noChangeArrowheads="1"/>
          </p:cNvSpPr>
          <p:nvPr/>
        </p:nvSpPr>
        <p:spPr bwMode="auto">
          <a:xfrm>
            <a:off x="985666" y="3053080"/>
            <a:ext cx="3377559" cy="8065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11" name="Group 10">
            <a:extLst>
              <a:ext uri="{FF2B5EF4-FFF2-40B4-BE49-F238E27FC236}">
                <a16:creationId xmlns:a16="http://schemas.microsoft.com/office/drawing/2014/main" id="{C2EB66EB-894C-A043-A360-C60A865F68A4}"/>
              </a:ext>
            </a:extLst>
          </p:cNvPr>
          <p:cNvGrpSpPr/>
          <p:nvPr/>
        </p:nvGrpSpPr>
        <p:grpSpPr>
          <a:xfrm>
            <a:off x="966789" y="2994029"/>
            <a:ext cx="950851" cy="669361"/>
            <a:chOff x="1289051" y="2849038"/>
            <a:chExt cx="1267801" cy="892480"/>
          </a:xfrm>
        </p:grpSpPr>
        <p:sp>
          <p:nvSpPr>
            <p:cNvPr id="168" name="Freeform 53">
              <a:extLst>
                <a:ext uri="{FF2B5EF4-FFF2-40B4-BE49-F238E27FC236}">
                  <a16:creationId xmlns:a16="http://schemas.microsoft.com/office/drawing/2014/main" id="{E3EEFD92-7050-9249-80C1-240C22D52535}"/>
                </a:ext>
              </a:extLst>
            </p:cNvPr>
            <p:cNvSpPr>
              <a:spLocks/>
            </p:cNvSpPr>
            <p:nvPr/>
          </p:nvSpPr>
          <p:spPr bwMode="auto">
            <a:xfrm>
              <a:off x="2369283" y="2849038"/>
              <a:ext cx="187569" cy="464732"/>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Lst>
              <a:ahLst/>
              <a:cxnLst>
                <a:cxn ang="T6">
                  <a:pos x="T0" y="T1"/>
                </a:cxn>
                <a:cxn ang="T7">
                  <a:pos x="T2" y="T3"/>
                </a:cxn>
                <a:cxn ang="T8">
                  <a:pos x="T4" y="T5"/>
                </a:cxn>
              </a:cxnLst>
              <a:rect l="0" t="0" r="r" b="b"/>
              <a:pathLst>
                <a:path w="91" h="242">
                  <a:moveTo>
                    <a:pt x="91" y="0"/>
                  </a:moveTo>
                  <a:lnTo>
                    <a:pt x="88" y="242"/>
                  </a:lnTo>
                  <a:lnTo>
                    <a:pt x="0" y="242"/>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a:solidFill>
                  <a:srgbClr val="000000"/>
                </a:solidFill>
                <a:latin typeface="Tahoma" panose="020B0604030504040204" pitchFamily="34" charset="0"/>
              </a:endParaRPr>
            </a:p>
          </p:txBody>
        </p:sp>
        <p:sp>
          <p:nvSpPr>
            <p:cNvPr id="170" name="Text Box 57">
              <a:extLst>
                <a:ext uri="{FF2B5EF4-FFF2-40B4-BE49-F238E27FC236}">
                  <a16:creationId xmlns:a16="http://schemas.microsoft.com/office/drawing/2014/main" id="{4DCFBA68-55DB-2E45-83BC-59D80627D5D3}"/>
                </a:ext>
              </a:extLst>
            </p:cNvPr>
            <p:cNvSpPr txBox="1">
              <a:spLocks noChangeArrowheads="1"/>
            </p:cNvSpPr>
            <p:nvPr/>
          </p:nvSpPr>
          <p:spPr bwMode="auto">
            <a:xfrm>
              <a:off x="1289051" y="3119811"/>
              <a:ext cx="1047724" cy="6217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350" kern="0" dirty="0">
                  <a:solidFill>
                    <a:srgbClr val="000000"/>
                  </a:solidFill>
                  <a:latin typeface="Calibri" panose="020F0502020204030204"/>
                </a:rPr>
                <a:t>last byte</a:t>
              </a:r>
            </a:p>
            <a:p>
              <a:pPr>
                <a:lnSpc>
                  <a:spcPct val="90000"/>
                </a:lnSpc>
                <a:defRPr/>
              </a:pPr>
              <a:r>
                <a:rPr lang="en-US" sz="1350" kern="0" dirty="0" err="1">
                  <a:solidFill>
                    <a:srgbClr val="000000"/>
                  </a:solidFill>
                  <a:latin typeface="Calibri" panose="020F0502020204030204"/>
                </a:rPr>
                <a:t>ACKed</a:t>
              </a:r>
              <a:endParaRPr lang="en-US" sz="1350" kern="0" dirty="0">
                <a:solidFill>
                  <a:srgbClr val="000000"/>
                </a:solidFill>
                <a:latin typeface="Calibri" panose="020F0502020204030204"/>
              </a:endParaRPr>
            </a:p>
          </p:txBody>
        </p:sp>
      </p:grpSp>
      <p:grpSp>
        <p:nvGrpSpPr>
          <p:cNvPr id="13" name="Group 12">
            <a:extLst>
              <a:ext uri="{FF2B5EF4-FFF2-40B4-BE49-F238E27FC236}">
                <a16:creationId xmlns:a16="http://schemas.microsoft.com/office/drawing/2014/main" id="{A8C3752B-025F-E94F-8654-13F54E9C670F}"/>
              </a:ext>
            </a:extLst>
          </p:cNvPr>
          <p:cNvGrpSpPr/>
          <p:nvPr/>
        </p:nvGrpSpPr>
        <p:grpSpPr>
          <a:xfrm>
            <a:off x="2868063" y="3068909"/>
            <a:ext cx="1319468" cy="985511"/>
            <a:chOff x="3824084" y="2948877"/>
            <a:chExt cx="1759290" cy="1314014"/>
          </a:xfrm>
        </p:grpSpPr>
        <p:sp>
          <p:nvSpPr>
            <p:cNvPr id="172" name="Text Box 59">
              <a:extLst>
                <a:ext uri="{FF2B5EF4-FFF2-40B4-BE49-F238E27FC236}">
                  <a16:creationId xmlns:a16="http://schemas.microsoft.com/office/drawing/2014/main" id="{44BFDC0C-7E1F-194B-B1D5-936A1056896B}"/>
                </a:ext>
              </a:extLst>
            </p:cNvPr>
            <p:cNvSpPr txBox="1">
              <a:spLocks noChangeArrowheads="1"/>
            </p:cNvSpPr>
            <p:nvPr/>
          </p:nvSpPr>
          <p:spPr bwMode="auto">
            <a:xfrm>
              <a:off x="3979525" y="3890482"/>
              <a:ext cx="1603849" cy="3724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350" kern="0" dirty="0">
                  <a:solidFill>
                    <a:srgbClr val="000000"/>
                  </a:solidFill>
                  <a:latin typeface="Calibri" panose="020F0502020204030204"/>
                </a:rPr>
                <a:t>last byte sent</a:t>
              </a:r>
            </a:p>
          </p:txBody>
        </p:sp>
        <p:sp>
          <p:nvSpPr>
            <p:cNvPr id="180" name="Freeform 69">
              <a:extLst>
                <a:ext uri="{FF2B5EF4-FFF2-40B4-BE49-F238E27FC236}">
                  <a16:creationId xmlns:a16="http://schemas.microsoft.com/office/drawing/2014/main" id="{33A90F9A-C7CE-C44A-B81F-BFED1356069E}"/>
                </a:ext>
              </a:extLst>
            </p:cNvPr>
            <p:cNvSpPr>
              <a:spLocks/>
            </p:cNvSpPr>
            <p:nvPr/>
          </p:nvSpPr>
          <p:spPr bwMode="auto">
            <a:xfrm flipH="1">
              <a:off x="3824084" y="2948877"/>
              <a:ext cx="190240" cy="1102896"/>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a:solidFill>
                  <a:srgbClr val="000000"/>
                </a:solidFill>
                <a:latin typeface="Calibri" panose="020F0502020204030204"/>
              </a:endParaRPr>
            </a:p>
          </p:txBody>
        </p:sp>
      </p:grpSp>
      <p:grpSp>
        <p:nvGrpSpPr>
          <p:cNvPr id="10" name="Group 9">
            <a:extLst>
              <a:ext uri="{FF2B5EF4-FFF2-40B4-BE49-F238E27FC236}">
                <a16:creationId xmlns:a16="http://schemas.microsoft.com/office/drawing/2014/main" id="{42CF5997-36CB-D147-BC28-3AEB4C853BEA}"/>
              </a:ext>
            </a:extLst>
          </p:cNvPr>
          <p:cNvGrpSpPr/>
          <p:nvPr/>
        </p:nvGrpSpPr>
        <p:grpSpPr>
          <a:xfrm>
            <a:off x="966789" y="1826499"/>
            <a:ext cx="3481387" cy="1122880"/>
            <a:chOff x="1289051" y="1292332"/>
            <a:chExt cx="4641849" cy="1497173"/>
          </a:xfrm>
        </p:grpSpPr>
        <p:sp>
          <p:nvSpPr>
            <p:cNvPr id="104" name="Rectangle 12">
              <a:extLst>
                <a:ext uri="{FF2B5EF4-FFF2-40B4-BE49-F238E27FC236}">
                  <a16:creationId xmlns:a16="http://schemas.microsoft.com/office/drawing/2014/main" id="{04993FEE-920A-A241-8D22-76E5FD7EE6A9}"/>
                </a:ext>
              </a:extLst>
            </p:cNvPr>
            <p:cNvSpPr>
              <a:spLocks noChangeArrowheads="1"/>
            </p:cNvSpPr>
            <p:nvPr/>
          </p:nvSpPr>
          <p:spPr bwMode="auto">
            <a:xfrm>
              <a:off x="1370854" y="2034797"/>
              <a:ext cx="86000" cy="752789"/>
            </a:xfrm>
            <a:prstGeom prst="rect">
              <a:avLst/>
            </a:prstGeom>
            <a:gradFill rotWithShape="1">
              <a:gsLst>
                <a:gs pos="0">
                  <a:srgbClr val="FFFFFF"/>
                </a:gs>
                <a:gs pos="100000">
                  <a:srgbClr val="33CC33"/>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05" name="Rectangle 13">
              <a:extLst>
                <a:ext uri="{FF2B5EF4-FFF2-40B4-BE49-F238E27FC236}">
                  <a16:creationId xmlns:a16="http://schemas.microsoft.com/office/drawing/2014/main" id="{18E83275-ACB2-EC4C-B6DC-CBDA17C3A868}"/>
                </a:ext>
              </a:extLst>
            </p:cNvPr>
            <p:cNvSpPr>
              <a:spLocks noChangeArrowheads="1"/>
            </p:cNvSpPr>
            <p:nvPr/>
          </p:nvSpPr>
          <p:spPr bwMode="auto">
            <a:xfrm>
              <a:off x="1498805" y="2036716"/>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06" name="Rectangle 14">
              <a:extLst>
                <a:ext uri="{FF2B5EF4-FFF2-40B4-BE49-F238E27FC236}">
                  <a16:creationId xmlns:a16="http://schemas.microsoft.com/office/drawing/2014/main" id="{DAC860B7-5379-0C49-8B6D-4F42EEEC890F}"/>
                </a:ext>
              </a:extLst>
            </p:cNvPr>
            <p:cNvSpPr>
              <a:spLocks noChangeArrowheads="1"/>
            </p:cNvSpPr>
            <p:nvPr/>
          </p:nvSpPr>
          <p:spPr bwMode="auto">
            <a:xfrm>
              <a:off x="1628852"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07" name="Rectangle 15">
              <a:extLst>
                <a:ext uri="{FF2B5EF4-FFF2-40B4-BE49-F238E27FC236}">
                  <a16:creationId xmlns:a16="http://schemas.microsoft.com/office/drawing/2014/main" id="{850E3686-28F1-ED45-BCA0-8626CD94C24A}"/>
                </a:ext>
              </a:extLst>
            </p:cNvPr>
            <p:cNvSpPr>
              <a:spLocks noChangeArrowheads="1"/>
            </p:cNvSpPr>
            <p:nvPr/>
          </p:nvSpPr>
          <p:spPr bwMode="auto">
            <a:xfrm>
              <a:off x="1756801"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08" name="Rectangle 16">
              <a:extLst>
                <a:ext uri="{FF2B5EF4-FFF2-40B4-BE49-F238E27FC236}">
                  <a16:creationId xmlns:a16="http://schemas.microsoft.com/office/drawing/2014/main" id="{2B67993F-458E-AA4F-8BDA-DD554E74E999}"/>
                </a:ext>
              </a:extLst>
            </p:cNvPr>
            <p:cNvSpPr>
              <a:spLocks noChangeArrowheads="1"/>
            </p:cNvSpPr>
            <p:nvPr/>
          </p:nvSpPr>
          <p:spPr bwMode="auto">
            <a:xfrm>
              <a:off x="1882653"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09" name="Rectangle 17">
              <a:extLst>
                <a:ext uri="{FF2B5EF4-FFF2-40B4-BE49-F238E27FC236}">
                  <a16:creationId xmlns:a16="http://schemas.microsoft.com/office/drawing/2014/main" id="{0FAD288D-252F-5745-BF73-6A260AA674C3}"/>
                </a:ext>
              </a:extLst>
            </p:cNvPr>
            <p:cNvSpPr>
              <a:spLocks noChangeArrowheads="1"/>
            </p:cNvSpPr>
            <p:nvPr/>
          </p:nvSpPr>
          <p:spPr bwMode="auto">
            <a:xfrm>
              <a:off x="2010604"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10" name="Rectangle 18">
              <a:extLst>
                <a:ext uri="{FF2B5EF4-FFF2-40B4-BE49-F238E27FC236}">
                  <a16:creationId xmlns:a16="http://schemas.microsoft.com/office/drawing/2014/main" id="{F50804B5-A9B0-B741-A2CB-DC3CFBF3864F}"/>
                </a:ext>
              </a:extLst>
            </p:cNvPr>
            <p:cNvSpPr>
              <a:spLocks noChangeArrowheads="1"/>
            </p:cNvSpPr>
            <p:nvPr/>
          </p:nvSpPr>
          <p:spPr bwMode="auto">
            <a:xfrm>
              <a:off x="2132261"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11" name="Rectangle 19">
              <a:extLst>
                <a:ext uri="{FF2B5EF4-FFF2-40B4-BE49-F238E27FC236}">
                  <a16:creationId xmlns:a16="http://schemas.microsoft.com/office/drawing/2014/main" id="{E9319E92-5123-8943-BEB7-081DA31ABF1D}"/>
                </a:ext>
              </a:extLst>
            </p:cNvPr>
            <p:cNvSpPr>
              <a:spLocks noChangeArrowheads="1"/>
            </p:cNvSpPr>
            <p:nvPr/>
          </p:nvSpPr>
          <p:spPr bwMode="auto">
            <a:xfrm>
              <a:off x="2258113"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12" name="Rectangle 20">
              <a:extLst>
                <a:ext uri="{FF2B5EF4-FFF2-40B4-BE49-F238E27FC236}">
                  <a16:creationId xmlns:a16="http://schemas.microsoft.com/office/drawing/2014/main" id="{C56329EF-B8DA-E848-8471-F7AB6A81A0AD}"/>
                </a:ext>
              </a:extLst>
            </p:cNvPr>
            <p:cNvSpPr>
              <a:spLocks noChangeArrowheads="1"/>
            </p:cNvSpPr>
            <p:nvPr/>
          </p:nvSpPr>
          <p:spPr bwMode="auto">
            <a:xfrm>
              <a:off x="2383965"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13" name="Rectangle 21">
              <a:extLst>
                <a:ext uri="{FF2B5EF4-FFF2-40B4-BE49-F238E27FC236}">
                  <a16:creationId xmlns:a16="http://schemas.microsoft.com/office/drawing/2014/main" id="{B6EA82BD-4235-744C-8CC2-3D0E84463334}"/>
                </a:ext>
              </a:extLst>
            </p:cNvPr>
            <p:cNvSpPr>
              <a:spLocks noChangeArrowheads="1"/>
            </p:cNvSpPr>
            <p:nvPr/>
          </p:nvSpPr>
          <p:spPr bwMode="auto">
            <a:xfrm>
              <a:off x="2524500"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14" name="Rectangle 22">
              <a:extLst>
                <a:ext uri="{FF2B5EF4-FFF2-40B4-BE49-F238E27FC236}">
                  <a16:creationId xmlns:a16="http://schemas.microsoft.com/office/drawing/2014/main" id="{3AB484C5-F544-AD4F-AC56-F33B38DBB98F}"/>
                </a:ext>
              </a:extLst>
            </p:cNvPr>
            <p:cNvSpPr>
              <a:spLocks noChangeArrowheads="1"/>
            </p:cNvSpPr>
            <p:nvPr/>
          </p:nvSpPr>
          <p:spPr bwMode="auto">
            <a:xfrm>
              <a:off x="2654547" y="2036716"/>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15" name="Rectangle 23">
              <a:extLst>
                <a:ext uri="{FF2B5EF4-FFF2-40B4-BE49-F238E27FC236}">
                  <a16:creationId xmlns:a16="http://schemas.microsoft.com/office/drawing/2014/main" id="{1DD6947E-4A84-9D4E-B2FC-3A5E7F6D1E34}"/>
                </a:ext>
              </a:extLst>
            </p:cNvPr>
            <p:cNvSpPr>
              <a:spLocks noChangeArrowheads="1"/>
            </p:cNvSpPr>
            <p:nvPr/>
          </p:nvSpPr>
          <p:spPr bwMode="auto">
            <a:xfrm>
              <a:off x="2782498"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16" name="Rectangle 24">
              <a:extLst>
                <a:ext uri="{FF2B5EF4-FFF2-40B4-BE49-F238E27FC236}">
                  <a16:creationId xmlns:a16="http://schemas.microsoft.com/office/drawing/2014/main" id="{2A55A81B-B032-0840-A48D-1D5352A231AA}"/>
                </a:ext>
              </a:extLst>
            </p:cNvPr>
            <p:cNvSpPr>
              <a:spLocks noChangeArrowheads="1"/>
            </p:cNvSpPr>
            <p:nvPr/>
          </p:nvSpPr>
          <p:spPr bwMode="auto">
            <a:xfrm>
              <a:off x="2910447"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17" name="Rectangle 25">
              <a:extLst>
                <a:ext uri="{FF2B5EF4-FFF2-40B4-BE49-F238E27FC236}">
                  <a16:creationId xmlns:a16="http://schemas.microsoft.com/office/drawing/2014/main" id="{EBC4122E-0CCF-1548-9A66-7DCD08E748CD}"/>
                </a:ext>
              </a:extLst>
            </p:cNvPr>
            <p:cNvSpPr>
              <a:spLocks noChangeArrowheads="1"/>
            </p:cNvSpPr>
            <p:nvPr/>
          </p:nvSpPr>
          <p:spPr bwMode="auto">
            <a:xfrm>
              <a:off x="3038397"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18" name="Rectangle 26">
              <a:extLst>
                <a:ext uri="{FF2B5EF4-FFF2-40B4-BE49-F238E27FC236}">
                  <a16:creationId xmlns:a16="http://schemas.microsoft.com/office/drawing/2014/main" id="{DB7235A0-624C-DB45-8BCC-3CE6B91647F3}"/>
                </a:ext>
              </a:extLst>
            </p:cNvPr>
            <p:cNvSpPr>
              <a:spLocks noChangeArrowheads="1"/>
            </p:cNvSpPr>
            <p:nvPr/>
          </p:nvSpPr>
          <p:spPr bwMode="auto">
            <a:xfrm>
              <a:off x="3164249"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19" name="Rectangle 27">
              <a:extLst>
                <a:ext uri="{FF2B5EF4-FFF2-40B4-BE49-F238E27FC236}">
                  <a16:creationId xmlns:a16="http://schemas.microsoft.com/office/drawing/2014/main" id="{345917A5-9719-BB4F-9C0B-ACD89A8BB0F4}"/>
                </a:ext>
              </a:extLst>
            </p:cNvPr>
            <p:cNvSpPr>
              <a:spLocks noChangeArrowheads="1"/>
            </p:cNvSpPr>
            <p:nvPr/>
          </p:nvSpPr>
          <p:spPr bwMode="auto">
            <a:xfrm>
              <a:off x="3285907"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20" name="Rectangle 28">
              <a:extLst>
                <a:ext uri="{FF2B5EF4-FFF2-40B4-BE49-F238E27FC236}">
                  <a16:creationId xmlns:a16="http://schemas.microsoft.com/office/drawing/2014/main" id="{4C1474B9-991E-6847-8B01-DE0C95138525}"/>
                </a:ext>
              </a:extLst>
            </p:cNvPr>
            <p:cNvSpPr>
              <a:spLocks noChangeArrowheads="1"/>
            </p:cNvSpPr>
            <p:nvPr/>
          </p:nvSpPr>
          <p:spPr bwMode="auto">
            <a:xfrm>
              <a:off x="3411759"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21" name="Rectangle 29">
              <a:extLst>
                <a:ext uri="{FF2B5EF4-FFF2-40B4-BE49-F238E27FC236}">
                  <a16:creationId xmlns:a16="http://schemas.microsoft.com/office/drawing/2014/main" id="{1FEE069D-BAD8-8A43-9829-68BF4DBC5019}"/>
                </a:ext>
              </a:extLst>
            </p:cNvPr>
            <p:cNvSpPr>
              <a:spLocks noChangeArrowheads="1"/>
            </p:cNvSpPr>
            <p:nvPr/>
          </p:nvSpPr>
          <p:spPr bwMode="auto">
            <a:xfrm>
              <a:off x="3539708"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22" name="Rectangle 30">
              <a:extLst>
                <a:ext uri="{FF2B5EF4-FFF2-40B4-BE49-F238E27FC236}">
                  <a16:creationId xmlns:a16="http://schemas.microsoft.com/office/drawing/2014/main" id="{F6A54E32-B859-A84C-B9EB-275C556CD8B7}"/>
                </a:ext>
              </a:extLst>
            </p:cNvPr>
            <p:cNvSpPr>
              <a:spLocks noChangeArrowheads="1"/>
            </p:cNvSpPr>
            <p:nvPr/>
          </p:nvSpPr>
          <p:spPr bwMode="auto">
            <a:xfrm>
              <a:off x="3657170"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23" name="Rectangle 31">
              <a:extLst>
                <a:ext uri="{FF2B5EF4-FFF2-40B4-BE49-F238E27FC236}">
                  <a16:creationId xmlns:a16="http://schemas.microsoft.com/office/drawing/2014/main" id="{F693AF70-5D12-874C-A1FE-39895AB51D68}"/>
                </a:ext>
              </a:extLst>
            </p:cNvPr>
            <p:cNvSpPr>
              <a:spLocks noChangeArrowheads="1"/>
            </p:cNvSpPr>
            <p:nvPr/>
          </p:nvSpPr>
          <p:spPr bwMode="auto">
            <a:xfrm>
              <a:off x="3783022"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24" name="Rectangle 32">
              <a:extLst>
                <a:ext uri="{FF2B5EF4-FFF2-40B4-BE49-F238E27FC236}">
                  <a16:creationId xmlns:a16="http://schemas.microsoft.com/office/drawing/2014/main" id="{8AF2AC6B-DBDA-9B44-8499-2FA57D21931E}"/>
                </a:ext>
              </a:extLst>
            </p:cNvPr>
            <p:cNvSpPr>
              <a:spLocks noChangeArrowheads="1"/>
            </p:cNvSpPr>
            <p:nvPr/>
          </p:nvSpPr>
          <p:spPr bwMode="auto">
            <a:xfrm>
              <a:off x="3906778" y="2032876"/>
              <a:ext cx="85998"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25" name="Rectangle 33">
              <a:extLst>
                <a:ext uri="{FF2B5EF4-FFF2-40B4-BE49-F238E27FC236}">
                  <a16:creationId xmlns:a16="http://schemas.microsoft.com/office/drawing/2014/main" id="{3C5EC589-0EEE-AA43-956D-7E1A6B8E7BEA}"/>
                </a:ext>
              </a:extLst>
            </p:cNvPr>
            <p:cNvSpPr>
              <a:spLocks noChangeArrowheads="1"/>
            </p:cNvSpPr>
            <p:nvPr/>
          </p:nvSpPr>
          <p:spPr bwMode="auto">
            <a:xfrm>
              <a:off x="4028435" y="2032876"/>
              <a:ext cx="85998"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26" name="Rectangle 34">
              <a:extLst>
                <a:ext uri="{FF2B5EF4-FFF2-40B4-BE49-F238E27FC236}">
                  <a16:creationId xmlns:a16="http://schemas.microsoft.com/office/drawing/2014/main" id="{00489FD8-0BA0-844E-AA41-BDE801D2E271}"/>
                </a:ext>
              </a:extLst>
            </p:cNvPr>
            <p:cNvSpPr>
              <a:spLocks noChangeArrowheads="1"/>
            </p:cNvSpPr>
            <p:nvPr/>
          </p:nvSpPr>
          <p:spPr bwMode="auto">
            <a:xfrm>
              <a:off x="4156384"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27" name="Rectangle 35">
              <a:extLst>
                <a:ext uri="{FF2B5EF4-FFF2-40B4-BE49-F238E27FC236}">
                  <a16:creationId xmlns:a16="http://schemas.microsoft.com/office/drawing/2014/main" id="{7CDE0EFB-7CC4-304D-AD89-8FC08C1FBD45}"/>
                </a:ext>
              </a:extLst>
            </p:cNvPr>
            <p:cNvSpPr>
              <a:spLocks noChangeArrowheads="1"/>
            </p:cNvSpPr>
            <p:nvPr/>
          </p:nvSpPr>
          <p:spPr bwMode="auto">
            <a:xfrm>
              <a:off x="4282236"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28" name="Rectangle 36">
              <a:extLst>
                <a:ext uri="{FF2B5EF4-FFF2-40B4-BE49-F238E27FC236}">
                  <a16:creationId xmlns:a16="http://schemas.microsoft.com/office/drawing/2014/main" id="{6EECC216-B56D-D043-93ED-F50164EF4E4A}"/>
                </a:ext>
              </a:extLst>
            </p:cNvPr>
            <p:cNvSpPr>
              <a:spLocks noChangeArrowheads="1"/>
            </p:cNvSpPr>
            <p:nvPr/>
          </p:nvSpPr>
          <p:spPr bwMode="auto">
            <a:xfrm>
              <a:off x="4399698"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29" name="Rectangle 37">
              <a:extLst>
                <a:ext uri="{FF2B5EF4-FFF2-40B4-BE49-F238E27FC236}">
                  <a16:creationId xmlns:a16="http://schemas.microsoft.com/office/drawing/2014/main" id="{2DDF4004-027D-3448-8C19-8E608E21464E}"/>
                </a:ext>
              </a:extLst>
            </p:cNvPr>
            <p:cNvSpPr>
              <a:spLocks noChangeArrowheads="1"/>
            </p:cNvSpPr>
            <p:nvPr/>
          </p:nvSpPr>
          <p:spPr bwMode="auto">
            <a:xfrm>
              <a:off x="4525550"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130" name="Rectangle 38">
              <a:extLst>
                <a:ext uri="{FF2B5EF4-FFF2-40B4-BE49-F238E27FC236}">
                  <a16:creationId xmlns:a16="http://schemas.microsoft.com/office/drawing/2014/main" id="{66B062CA-DE3B-DE43-ABC0-B0129B267927}"/>
                </a:ext>
              </a:extLst>
            </p:cNvPr>
            <p:cNvSpPr>
              <a:spLocks noChangeArrowheads="1"/>
            </p:cNvSpPr>
            <p:nvPr/>
          </p:nvSpPr>
          <p:spPr bwMode="auto">
            <a:xfrm>
              <a:off x="4653501"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1" name="Rectangle 39">
              <a:extLst>
                <a:ext uri="{FF2B5EF4-FFF2-40B4-BE49-F238E27FC236}">
                  <a16:creationId xmlns:a16="http://schemas.microsoft.com/office/drawing/2014/main" id="{B8FF22AA-6251-9B4A-8B71-33B1C663B36C}"/>
                </a:ext>
              </a:extLst>
            </p:cNvPr>
            <p:cNvSpPr>
              <a:spLocks noChangeArrowheads="1"/>
            </p:cNvSpPr>
            <p:nvPr/>
          </p:nvSpPr>
          <p:spPr bwMode="auto">
            <a:xfrm>
              <a:off x="4781450" y="2036716"/>
              <a:ext cx="86000"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2" name="Rectangle 40">
              <a:extLst>
                <a:ext uri="{FF2B5EF4-FFF2-40B4-BE49-F238E27FC236}">
                  <a16:creationId xmlns:a16="http://schemas.microsoft.com/office/drawing/2014/main" id="{FAB9104E-A760-C644-B315-33CD7DEB1CB4}"/>
                </a:ext>
              </a:extLst>
            </p:cNvPr>
            <p:cNvSpPr>
              <a:spLocks noChangeArrowheads="1"/>
            </p:cNvSpPr>
            <p:nvPr/>
          </p:nvSpPr>
          <p:spPr bwMode="auto">
            <a:xfrm>
              <a:off x="4909400"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3" name="Rectangle 41">
              <a:extLst>
                <a:ext uri="{FF2B5EF4-FFF2-40B4-BE49-F238E27FC236}">
                  <a16:creationId xmlns:a16="http://schemas.microsoft.com/office/drawing/2014/main" id="{84289F99-D270-C140-AA7A-F6C4AFA078ED}"/>
                </a:ext>
              </a:extLst>
            </p:cNvPr>
            <p:cNvSpPr>
              <a:spLocks noChangeArrowheads="1"/>
            </p:cNvSpPr>
            <p:nvPr/>
          </p:nvSpPr>
          <p:spPr bwMode="auto">
            <a:xfrm>
              <a:off x="5039448"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4" name="Rectangle 42">
              <a:extLst>
                <a:ext uri="{FF2B5EF4-FFF2-40B4-BE49-F238E27FC236}">
                  <a16:creationId xmlns:a16="http://schemas.microsoft.com/office/drawing/2014/main" id="{CDFBFB7B-6E55-9045-8777-DB8B3B13C3C3}"/>
                </a:ext>
              </a:extLst>
            </p:cNvPr>
            <p:cNvSpPr>
              <a:spLocks noChangeArrowheads="1"/>
            </p:cNvSpPr>
            <p:nvPr/>
          </p:nvSpPr>
          <p:spPr bwMode="auto">
            <a:xfrm>
              <a:off x="5165300"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7" name="Rectangle 43">
              <a:extLst>
                <a:ext uri="{FF2B5EF4-FFF2-40B4-BE49-F238E27FC236}">
                  <a16:creationId xmlns:a16="http://schemas.microsoft.com/office/drawing/2014/main" id="{AD3CDD9F-C7EC-964D-A02B-C8B9C75CCDA9}"/>
                </a:ext>
              </a:extLst>
            </p:cNvPr>
            <p:cNvSpPr>
              <a:spLocks noChangeArrowheads="1"/>
            </p:cNvSpPr>
            <p:nvPr/>
          </p:nvSpPr>
          <p:spPr bwMode="auto">
            <a:xfrm>
              <a:off x="5291152"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38" name="Rectangle 44">
              <a:extLst>
                <a:ext uri="{FF2B5EF4-FFF2-40B4-BE49-F238E27FC236}">
                  <a16:creationId xmlns:a16="http://schemas.microsoft.com/office/drawing/2014/main" id="{A68B931F-B222-6643-B4DE-15E3E8354B18}"/>
                </a:ext>
              </a:extLst>
            </p:cNvPr>
            <p:cNvSpPr>
              <a:spLocks noChangeArrowheads="1"/>
            </p:cNvSpPr>
            <p:nvPr/>
          </p:nvSpPr>
          <p:spPr bwMode="auto">
            <a:xfrm>
              <a:off x="5412809"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63" name="Rectangle 45">
              <a:extLst>
                <a:ext uri="{FF2B5EF4-FFF2-40B4-BE49-F238E27FC236}">
                  <a16:creationId xmlns:a16="http://schemas.microsoft.com/office/drawing/2014/main" id="{7D3A9CBD-AC18-2744-9564-5C628A27F631}"/>
                </a:ext>
              </a:extLst>
            </p:cNvPr>
            <p:cNvSpPr>
              <a:spLocks noChangeArrowheads="1"/>
            </p:cNvSpPr>
            <p:nvPr/>
          </p:nvSpPr>
          <p:spPr bwMode="auto">
            <a:xfrm>
              <a:off x="5540759" y="2034797"/>
              <a:ext cx="86000"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64" name="Rectangle 46">
              <a:extLst>
                <a:ext uri="{FF2B5EF4-FFF2-40B4-BE49-F238E27FC236}">
                  <a16:creationId xmlns:a16="http://schemas.microsoft.com/office/drawing/2014/main" id="{7BD5CB89-7651-AC4B-B6A7-CB76771F9558}"/>
                </a:ext>
              </a:extLst>
            </p:cNvPr>
            <p:cNvSpPr>
              <a:spLocks noChangeArrowheads="1"/>
            </p:cNvSpPr>
            <p:nvPr/>
          </p:nvSpPr>
          <p:spPr bwMode="auto">
            <a:xfrm>
              <a:off x="5666611" y="2034797"/>
              <a:ext cx="86000" cy="752789"/>
            </a:xfrm>
            <a:prstGeom prst="rect">
              <a:avLst/>
            </a:prstGeom>
            <a:gradFill rotWithShape="1">
              <a:gsLst>
                <a:gs pos="0">
                  <a:srgbClr val="B2B2B2"/>
                </a:gs>
                <a:gs pos="100000">
                  <a:srgbClr val="FFFFFF"/>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66" name="Rectangle 48">
              <a:extLst>
                <a:ext uri="{FF2B5EF4-FFF2-40B4-BE49-F238E27FC236}">
                  <a16:creationId xmlns:a16="http://schemas.microsoft.com/office/drawing/2014/main" id="{22B83E8B-5347-B046-AB4A-F500B639B452}"/>
                </a:ext>
              </a:extLst>
            </p:cNvPr>
            <p:cNvSpPr>
              <a:spLocks noChangeArrowheads="1"/>
            </p:cNvSpPr>
            <p:nvPr/>
          </p:nvSpPr>
          <p:spPr bwMode="auto">
            <a:xfrm>
              <a:off x="1427488" y="1902290"/>
              <a:ext cx="4503412" cy="10754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173" name="Text Box 61">
              <a:extLst>
                <a:ext uri="{FF2B5EF4-FFF2-40B4-BE49-F238E27FC236}">
                  <a16:creationId xmlns:a16="http://schemas.microsoft.com/office/drawing/2014/main" id="{EC2166A2-B157-124D-AD95-CDDC7B2DDCB8}"/>
                </a:ext>
              </a:extLst>
            </p:cNvPr>
            <p:cNvSpPr txBox="1">
              <a:spLocks noChangeArrowheads="1"/>
            </p:cNvSpPr>
            <p:nvPr/>
          </p:nvSpPr>
          <p:spPr bwMode="auto">
            <a:xfrm>
              <a:off x="3286764" y="1648799"/>
              <a:ext cx="673689" cy="3170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lnSpc>
                  <a:spcPct val="90000"/>
                </a:lnSpc>
                <a:defRPr/>
              </a:pPr>
              <a:r>
                <a:rPr lang="en-US" sz="1050" b="1">
                  <a:solidFill>
                    <a:srgbClr val="000000"/>
                  </a:solidFill>
                  <a:latin typeface="Courier New" charset="0"/>
                </a:rPr>
                <a:t>cwnd</a:t>
              </a:r>
              <a:endParaRPr lang="en-US" sz="1050" b="1" i="1">
                <a:solidFill>
                  <a:srgbClr val="000000"/>
                </a:solidFill>
                <a:latin typeface="Courier New" charset="0"/>
              </a:endParaRPr>
            </a:p>
          </p:txBody>
        </p:sp>
        <p:grpSp>
          <p:nvGrpSpPr>
            <p:cNvPr id="174" name="Group 62">
              <a:extLst>
                <a:ext uri="{FF2B5EF4-FFF2-40B4-BE49-F238E27FC236}">
                  <a16:creationId xmlns:a16="http://schemas.microsoft.com/office/drawing/2014/main" id="{A2ECB346-2348-1D42-A5A0-3073BBFAF723}"/>
                </a:ext>
              </a:extLst>
            </p:cNvPr>
            <p:cNvGrpSpPr>
              <a:grpSpLocks/>
            </p:cNvGrpSpPr>
            <p:nvPr/>
          </p:nvGrpSpPr>
          <p:grpSpPr bwMode="auto">
            <a:xfrm>
              <a:off x="4022141" y="1750580"/>
              <a:ext cx="591506" cy="142108"/>
              <a:chOff x="4250" y="1692"/>
              <a:chExt cx="374" cy="86"/>
            </a:xfrm>
          </p:grpSpPr>
          <p:sp>
            <p:nvSpPr>
              <p:cNvPr id="175" name="Line 63">
                <a:extLst>
                  <a:ext uri="{FF2B5EF4-FFF2-40B4-BE49-F238E27FC236}">
                    <a16:creationId xmlns:a16="http://schemas.microsoft.com/office/drawing/2014/main" id="{D8AB4372-6622-194F-8B2C-95E11AB4BDB8}"/>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6" name="Line 64">
                <a:extLst>
                  <a:ext uri="{FF2B5EF4-FFF2-40B4-BE49-F238E27FC236}">
                    <a16:creationId xmlns:a16="http://schemas.microsoft.com/office/drawing/2014/main" id="{90113FC4-9E6C-1344-9A19-D18BED38D2E9}"/>
                  </a:ext>
                </a:extLst>
              </p:cNvPr>
              <p:cNvSpPr>
                <a:spLocks noChangeShapeType="1"/>
              </p:cNvSpPr>
              <p:nvPr/>
            </p:nvSpPr>
            <p:spPr bwMode="auto">
              <a:xfrm>
                <a:off x="4621" y="1692"/>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grpSp>
          <p:nvGrpSpPr>
            <p:cNvPr id="177" name="Group 65">
              <a:extLst>
                <a:ext uri="{FF2B5EF4-FFF2-40B4-BE49-F238E27FC236}">
                  <a16:creationId xmlns:a16="http://schemas.microsoft.com/office/drawing/2014/main" id="{DA340DC1-A02D-8B4C-B20C-F58E960E37E4}"/>
                </a:ext>
              </a:extLst>
            </p:cNvPr>
            <p:cNvGrpSpPr>
              <a:grpSpLocks/>
            </p:cNvGrpSpPr>
            <p:nvPr/>
          </p:nvGrpSpPr>
          <p:grpSpPr bwMode="auto">
            <a:xfrm rot="10800000">
              <a:off x="2650352" y="1773625"/>
              <a:ext cx="616676" cy="149790"/>
              <a:chOff x="4250" y="1692"/>
              <a:chExt cx="374" cy="86"/>
            </a:xfrm>
          </p:grpSpPr>
          <p:sp>
            <p:nvSpPr>
              <p:cNvPr id="178" name="Line 66">
                <a:extLst>
                  <a:ext uri="{FF2B5EF4-FFF2-40B4-BE49-F238E27FC236}">
                    <a16:creationId xmlns:a16="http://schemas.microsoft.com/office/drawing/2014/main" id="{996A9ACA-B6A9-274C-AF8C-6FDF8BEA33F2}"/>
                  </a:ext>
                </a:extLst>
              </p:cNvPr>
              <p:cNvSpPr>
                <a:spLocks noChangeShapeType="1"/>
              </p:cNvSpPr>
              <p:nvPr/>
            </p:nvSpPr>
            <p:spPr bwMode="auto">
              <a:xfrm>
                <a:off x="4260" y="1746"/>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sp>
            <p:nvSpPr>
              <p:cNvPr id="179" name="Line 67">
                <a:extLst>
                  <a:ext uri="{FF2B5EF4-FFF2-40B4-BE49-F238E27FC236}">
                    <a16:creationId xmlns:a16="http://schemas.microsoft.com/office/drawing/2014/main" id="{1CAF8AD6-4F2D-AF41-B54A-FA702FB44D10}"/>
                  </a:ext>
                </a:extLst>
              </p:cNvPr>
              <p:cNvSpPr>
                <a:spLocks noChangeShapeType="1"/>
              </p:cNvSpPr>
              <p:nvPr/>
            </p:nvSpPr>
            <p:spPr bwMode="auto">
              <a:xfrm>
                <a:off x="4632" y="1700"/>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sp>
          <p:nvSpPr>
            <p:cNvPr id="187" name="Text Box 78">
              <a:extLst>
                <a:ext uri="{FF2B5EF4-FFF2-40B4-BE49-F238E27FC236}">
                  <a16:creationId xmlns:a16="http://schemas.microsoft.com/office/drawing/2014/main" id="{084366A9-52AF-9848-912D-70AD364BF8CE}"/>
                </a:ext>
              </a:extLst>
            </p:cNvPr>
            <p:cNvSpPr txBox="1">
              <a:spLocks noChangeArrowheads="1"/>
            </p:cNvSpPr>
            <p:nvPr/>
          </p:nvSpPr>
          <p:spPr bwMode="auto">
            <a:xfrm>
              <a:off x="1289051" y="1292332"/>
              <a:ext cx="3279104" cy="4001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350" kern="0" dirty="0">
                  <a:solidFill>
                    <a:srgbClr val="000000"/>
                  </a:solidFill>
                  <a:latin typeface="Calibri" panose="020F0502020204030204"/>
                </a:rPr>
                <a:t>sender sequence number space </a:t>
              </a:r>
            </a:p>
          </p:txBody>
        </p:sp>
      </p:grpSp>
      <p:sp>
        <p:nvSpPr>
          <p:cNvPr id="198" name="Line 51">
            <a:extLst>
              <a:ext uri="{FF2B5EF4-FFF2-40B4-BE49-F238E27FC236}">
                <a16:creationId xmlns:a16="http://schemas.microsoft.com/office/drawing/2014/main" id="{E6E4B0C6-1414-3D4F-93A5-CCA3CEEBB668}"/>
              </a:ext>
            </a:extLst>
          </p:cNvPr>
          <p:cNvSpPr>
            <a:spLocks noChangeShapeType="1"/>
          </p:cNvSpPr>
          <p:nvPr/>
        </p:nvSpPr>
        <p:spPr bwMode="auto">
          <a:xfrm>
            <a:off x="2931645" y="3013916"/>
            <a:ext cx="525031"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grpSp>
        <p:nvGrpSpPr>
          <p:cNvPr id="14" name="Group 13">
            <a:extLst>
              <a:ext uri="{FF2B5EF4-FFF2-40B4-BE49-F238E27FC236}">
                <a16:creationId xmlns:a16="http://schemas.microsoft.com/office/drawing/2014/main" id="{BF77D345-5DCD-C84A-8957-E4F03648FFCF}"/>
              </a:ext>
            </a:extLst>
          </p:cNvPr>
          <p:cNvGrpSpPr/>
          <p:nvPr/>
        </p:nvGrpSpPr>
        <p:grpSpPr>
          <a:xfrm>
            <a:off x="3153127" y="3076963"/>
            <a:ext cx="1319374" cy="736019"/>
            <a:chOff x="4204169" y="2959619"/>
            <a:chExt cx="1759165" cy="981359"/>
          </a:xfrm>
        </p:grpSpPr>
        <p:sp>
          <p:nvSpPr>
            <p:cNvPr id="199" name="Freeform 69">
              <a:extLst>
                <a:ext uri="{FF2B5EF4-FFF2-40B4-BE49-F238E27FC236}">
                  <a16:creationId xmlns:a16="http://schemas.microsoft.com/office/drawing/2014/main" id="{59B379E2-D8BE-6243-B6FF-8D00B68FA2FC}"/>
                </a:ext>
              </a:extLst>
            </p:cNvPr>
            <p:cNvSpPr>
              <a:spLocks/>
            </p:cNvSpPr>
            <p:nvPr/>
          </p:nvSpPr>
          <p:spPr bwMode="auto">
            <a:xfrm flipH="1">
              <a:off x="4204169" y="2959619"/>
              <a:ext cx="190240" cy="549834"/>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a:solidFill>
                  <a:srgbClr val="000000"/>
                </a:solidFill>
                <a:latin typeface="Calibri" panose="020F0502020204030204"/>
              </a:endParaRPr>
            </a:p>
          </p:txBody>
        </p:sp>
        <p:sp>
          <p:nvSpPr>
            <p:cNvPr id="200" name="Text Box 59">
              <a:extLst>
                <a:ext uri="{FF2B5EF4-FFF2-40B4-BE49-F238E27FC236}">
                  <a16:creationId xmlns:a16="http://schemas.microsoft.com/office/drawing/2014/main" id="{D18ACC8C-E30F-2B43-A012-02A119CFD507}"/>
                </a:ext>
              </a:extLst>
            </p:cNvPr>
            <p:cNvSpPr txBox="1">
              <a:spLocks noChangeArrowheads="1"/>
            </p:cNvSpPr>
            <p:nvPr/>
          </p:nvSpPr>
          <p:spPr bwMode="auto">
            <a:xfrm>
              <a:off x="4359485" y="3319270"/>
              <a:ext cx="1603849" cy="6217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90000"/>
                </a:lnSpc>
                <a:defRPr/>
              </a:pPr>
              <a:r>
                <a:rPr lang="en-US" sz="1350" kern="0" dirty="0">
                  <a:solidFill>
                    <a:srgbClr val="000000"/>
                  </a:solidFill>
                  <a:latin typeface="Calibri" panose="020F0502020204030204"/>
                </a:rPr>
                <a:t>available but not used</a:t>
              </a:r>
            </a:p>
          </p:txBody>
        </p:sp>
      </p:grpSp>
      <p:grpSp>
        <p:nvGrpSpPr>
          <p:cNvPr id="22" name="Group 21">
            <a:extLst>
              <a:ext uri="{FF2B5EF4-FFF2-40B4-BE49-F238E27FC236}">
                <a16:creationId xmlns:a16="http://schemas.microsoft.com/office/drawing/2014/main" id="{9DAB0D8A-F035-A446-BFCD-CB14C1FE358B}"/>
              </a:ext>
            </a:extLst>
          </p:cNvPr>
          <p:cNvGrpSpPr/>
          <p:nvPr/>
        </p:nvGrpSpPr>
        <p:grpSpPr>
          <a:xfrm>
            <a:off x="5385197" y="1949053"/>
            <a:ext cx="3444470" cy="1926397"/>
            <a:chOff x="7180262" y="1455737"/>
            <a:chExt cx="4592627" cy="2568529"/>
          </a:xfrm>
        </p:grpSpPr>
        <p:sp>
          <p:nvSpPr>
            <p:cNvPr id="103" name="Rectangle 4">
              <a:extLst>
                <a:ext uri="{FF2B5EF4-FFF2-40B4-BE49-F238E27FC236}">
                  <a16:creationId xmlns:a16="http://schemas.microsoft.com/office/drawing/2014/main" id="{3906FFA2-1D5C-7540-9050-9ADF12840292}"/>
                </a:ext>
              </a:extLst>
            </p:cNvPr>
            <p:cNvSpPr txBox="1">
              <a:spLocks noChangeArrowheads="1"/>
            </p:cNvSpPr>
            <p:nvPr/>
          </p:nvSpPr>
          <p:spPr bwMode="auto">
            <a:xfrm>
              <a:off x="7180262" y="1455737"/>
              <a:ext cx="4592627" cy="24479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a:buFont typeface="Wingdings" charset="0"/>
                <a:buNone/>
                <a:defRPr/>
              </a:pPr>
              <a:r>
                <a:rPr lang="en-US" sz="2100" kern="0" dirty="0">
                  <a:solidFill>
                    <a:srgbClr val="000000"/>
                  </a:solidFill>
                  <a:cs typeface="+mn-cs"/>
                </a:rPr>
                <a:t>TCP sending behavior:</a:t>
              </a:r>
            </a:p>
            <a:p>
              <a:pPr>
                <a:buFont typeface="Wingdings" charset="2"/>
                <a:buChar char="§"/>
                <a:defRPr/>
              </a:pPr>
              <a:r>
                <a:rPr lang="en-US" sz="2100" i="1" kern="0" dirty="0">
                  <a:solidFill>
                    <a:srgbClr val="000000"/>
                  </a:solidFill>
                  <a:cs typeface="+mn-cs"/>
                </a:rPr>
                <a:t>roughly:</a:t>
              </a:r>
              <a:r>
                <a:rPr lang="en-US" sz="2100" kern="0" dirty="0">
                  <a:solidFill>
                    <a:srgbClr val="000000"/>
                  </a:solidFill>
                  <a:cs typeface="+mn-cs"/>
                </a:rPr>
                <a:t> send </a:t>
              </a:r>
              <a:r>
                <a:rPr lang="en-US" sz="2100" kern="0" dirty="0" err="1">
                  <a:solidFill>
                    <a:srgbClr val="000000"/>
                  </a:solidFill>
                  <a:latin typeface="Courier" pitchFamily="2" charset="0"/>
                  <a:cs typeface="+mn-cs"/>
                </a:rPr>
                <a:t>cwnd</a:t>
              </a:r>
              <a:r>
                <a:rPr lang="en-US" sz="2100" kern="0" dirty="0">
                  <a:solidFill>
                    <a:srgbClr val="000000"/>
                  </a:solidFill>
                  <a:cs typeface="+mn-cs"/>
                </a:rPr>
                <a:t> bytes, wait RTT for ACKS, then send more bytes</a:t>
              </a:r>
            </a:p>
          </p:txBody>
        </p:sp>
        <p:grpSp>
          <p:nvGrpSpPr>
            <p:cNvPr id="20" name="Group 19">
              <a:extLst>
                <a:ext uri="{FF2B5EF4-FFF2-40B4-BE49-F238E27FC236}">
                  <a16:creationId xmlns:a16="http://schemas.microsoft.com/office/drawing/2014/main" id="{57FB518A-5432-5D44-890D-C8AC56EDFDD2}"/>
                </a:ext>
              </a:extLst>
            </p:cNvPr>
            <p:cNvGrpSpPr/>
            <p:nvPr/>
          </p:nvGrpSpPr>
          <p:grpSpPr>
            <a:xfrm>
              <a:off x="7510646" y="3110983"/>
              <a:ext cx="3754046" cy="913283"/>
              <a:chOff x="6837170" y="3035314"/>
              <a:chExt cx="3754046" cy="913283"/>
            </a:xfrm>
          </p:grpSpPr>
          <p:sp>
            <p:nvSpPr>
              <p:cNvPr id="19" name="Rectangle 18">
                <a:extLst>
                  <a:ext uri="{FF2B5EF4-FFF2-40B4-BE49-F238E27FC236}">
                    <a16:creationId xmlns:a16="http://schemas.microsoft.com/office/drawing/2014/main" id="{C803E68F-787C-134C-96B7-EA9979048F4F}"/>
                  </a:ext>
                </a:extLst>
              </p:cNvPr>
              <p:cNvSpPr/>
              <p:nvPr/>
            </p:nvSpPr>
            <p:spPr>
              <a:xfrm>
                <a:off x="6839655" y="3035314"/>
                <a:ext cx="3751561" cy="88311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grpSp>
            <p:nvGrpSpPr>
              <p:cNvPr id="18" name="Group 17">
                <a:extLst>
                  <a:ext uri="{FF2B5EF4-FFF2-40B4-BE49-F238E27FC236}">
                    <a16:creationId xmlns:a16="http://schemas.microsoft.com/office/drawing/2014/main" id="{C32ED096-06AB-7A4D-A7B5-17961E51AD24}"/>
                  </a:ext>
                </a:extLst>
              </p:cNvPr>
              <p:cNvGrpSpPr/>
              <p:nvPr/>
            </p:nvGrpSpPr>
            <p:grpSpPr>
              <a:xfrm>
                <a:off x="6837170" y="3107220"/>
                <a:ext cx="3696485" cy="841377"/>
                <a:chOff x="6662549" y="3614745"/>
                <a:chExt cx="3696485" cy="841377"/>
              </a:xfrm>
            </p:grpSpPr>
            <p:sp>
              <p:nvSpPr>
                <p:cNvPr id="188" name="Text Box 79">
                  <a:extLst>
                    <a:ext uri="{FF2B5EF4-FFF2-40B4-BE49-F238E27FC236}">
                      <a16:creationId xmlns:a16="http://schemas.microsoft.com/office/drawing/2014/main" id="{15B5BFBD-DF38-5B40-87E5-F81F37DAA736}"/>
                    </a:ext>
                  </a:extLst>
                </p:cNvPr>
                <p:cNvSpPr txBox="1">
                  <a:spLocks noChangeArrowheads="1"/>
                </p:cNvSpPr>
                <p:nvPr/>
              </p:nvSpPr>
              <p:spPr bwMode="auto">
                <a:xfrm>
                  <a:off x="6662549" y="3723809"/>
                  <a:ext cx="1455441" cy="553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2100" dirty="0">
                      <a:solidFill>
                        <a:srgbClr val="000000"/>
                      </a:solidFill>
                      <a:latin typeface="Calibri" panose="020F0502020204030204"/>
                    </a:rPr>
                    <a:t>TCP rate</a:t>
                  </a:r>
                  <a:endParaRPr lang="en-US" sz="1800" dirty="0">
                    <a:solidFill>
                      <a:srgbClr val="000000"/>
                    </a:solidFill>
                    <a:latin typeface="Calibri" panose="020F0502020204030204"/>
                  </a:endParaRPr>
                </a:p>
              </p:txBody>
            </p:sp>
            <p:grpSp>
              <p:nvGrpSpPr>
                <p:cNvPr id="189" name="Group 82">
                  <a:extLst>
                    <a:ext uri="{FF2B5EF4-FFF2-40B4-BE49-F238E27FC236}">
                      <a16:creationId xmlns:a16="http://schemas.microsoft.com/office/drawing/2014/main" id="{0CAF5E9A-5B2C-B84F-AC89-1EFE7DC4B6AF}"/>
                    </a:ext>
                  </a:extLst>
                </p:cNvPr>
                <p:cNvGrpSpPr>
                  <a:grpSpLocks/>
                </p:cNvGrpSpPr>
                <p:nvPr/>
              </p:nvGrpSpPr>
              <p:grpSpPr bwMode="auto">
                <a:xfrm>
                  <a:off x="7748588" y="3776667"/>
                  <a:ext cx="931863" cy="474663"/>
                  <a:chOff x="4214" y="2517"/>
                  <a:chExt cx="587" cy="299"/>
                </a:xfrm>
              </p:grpSpPr>
              <p:sp>
                <p:nvSpPr>
                  <p:cNvPr id="190" name="Text Box 80">
                    <a:extLst>
                      <a:ext uri="{FF2B5EF4-FFF2-40B4-BE49-F238E27FC236}">
                        <a16:creationId xmlns:a16="http://schemas.microsoft.com/office/drawing/2014/main" id="{36C86FAE-252E-5441-8D9C-64BC30C08F21}"/>
                      </a:ext>
                    </a:extLst>
                  </p:cNvPr>
                  <p:cNvSpPr txBox="1">
                    <a:spLocks noChangeArrowheads="1"/>
                  </p:cNvSpPr>
                  <p:nvPr/>
                </p:nvSpPr>
                <p:spPr bwMode="auto">
                  <a:xfrm>
                    <a:off x="4216" y="2517"/>
                    <a:ext cx="585"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a:solidFill>
                          <a:srgbClr val="000000"/>
                        </a:solidFill>
                      </a:rPr>
                      <a:t>~</a:t>
                    </a:r>
                  </a:p>
                </p:txBody>
              </p:sp>
              <p:sp>
                <p:nvSpPr>
                  <p:cNvPr id="191" name="Text Box 81">
                    <a:extLst>
                      <a:ext uri="{FF2B5EF4-FFF2-40B4-BE49-F238E27FC236}">
                        <a16:creationId xmlns:a16="http://schemas.microsoft.com/office/drawing/2014/main" id="{CFDD21D8-7DD6-9E4E-82CD-89F60D95E895}"/>
                      </a:ext>
                    </a:extLst>
                  </p:cNvPr>
                  <p:cNvSpPr txBox="1">
                    <a:spLocks noChangeArrowheads="1"/>
                  </p:cNvSpPr>
                  <p:nvPr/>
                </p:nvSpPr>
                <p:spPr bwMode="auto">
                  <a:xfrm>
                    <a:off x="4214" y="2564"/>
                    <a:ext cx="585"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a:solidFill>
                          <a:srgbClr val="000000"/>
                        </a:solidFill>
                      </a:rPr>
                      <a:t>~</a:t>
                    </a:r>
                  </a:p>
                </p:txBody>
              </p:sp>
            </p:grpSp>
            <p:grpSp>
              <p:nvGrpSpPr>
                <p:cNvPr id="192" name="Group 86">
                  <a:extLst>
                    <a:ext uri="{FF2B5EF4-FFF2-40B4-BE49-F238E27FC236}">
                      <a16:creationId xmlns:a16="http://schemas.microsoft.com/office/drawing/2014/main" id="{A6A8A6BC-4690-FD46-A7A2-F81368063A97}"/>
                    </a:ext>
                  </a:extLst>
                </p:cNvPr>
                <p:cNvGrpSpPr>
                  <a:grpSpLocks/>
                </p:cNvGrpSpPr>
                <p:nvPr/>
              </p:nvGrpSpPr>
              <p:grpSpPr bwMode="auto">
                <a:xfrm>
                  <a:off x="8291512" y="3614745"/>
                  <a:ext cx="981074" cy="841377"/>
                  <a:chOff x="4317" y="2509"/>
                  <a:chExt cx="618" cy="530"/>
                </a:xfrm>
              </p:grpSpPr>
              <p:sp>
                <p:nvSpPr>
                  <p:cNvPr id="193" name="Text Box 83">
                    <a:extLst>
                      <a:ext uri="{FF2B5EF4-FFF2-40B4-BE49-F238E27FC236}">
                        <a16:creationId xmlns:a16="http://schemas.microsoft.com/office/drawing/2014/main" id="{2EABE0BC-E93A-7840-BC78-8917BD66E877}"/>
                      </a:ext>
                    </a:extLst>
                  </p:cNvPr>
                  <p:cNvSpPr txBox="1">
                    <a:spLocks noChangeArrowheads="1"/>
                  </p:cNvSpPr>
                  <p:nvPr/>
                </p:nvSpPr>
                <p:spPr bwMode="auto">
                  <a:xfrm>
                    <a:off x="4317" y="2509"/>
                    <a:ext cx="618" cy="3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800" kern="0" dirty="0" err="1">
                        <a:solidFill>
                          <a:srgbClr val="000000"/>
                        </a:solidFill>
                        <a:latin typeface="Courier" pitchFamily="2" charset="0"/>
                      </a:rPr>
                      <a:t>cwnd</a:t>
                    </a:r>
                    <a:endParaRPr lang="en-US" sz="1800" kern="0" dirty="0">
                      <a:solidFill>
                        <a:srgbClr val="000000"/>
                      </a:solidFill>
                      <a:latin typeface="Courier" pitchFamily="2" charset="0"/>
                    </a:endParaRPr>
                  </a:p>
                </p:txBody>
              </p:sp>
              <p:sp>
                <p:nvSpPr>
                  <p:cNvPr id="194" name="Text Box 84">
                    <a:extLst>
                      <a:ext uri="{FF2B5EF4-FFF2-40B4-BE49-F238E27FC236}">
                        <a16:creationId xmlns:a16="http://schemas.microsoft.com/office/drawing/2014/main" id="{FC380433-330D-4342-82B3-E71BEB72AF06}"/>
                      </a:ext>
                    </a:extLst>
                  </p:cNvPr>
                  <p:cNvSpPr txBox="1">
                    <a:spLocks noChangeArrowheads="1"/>
                  </p:cNvSpPr>
                  <p:nvPr/>
                </p:nvSpPr>
                <p:spPr bwMode="auto">
                  <a:xfrm>
                    <a:off x="4379" y="2729"/>
                    <a:ext cx="501" cy="3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800" kern="0">
                        <a:solidFill>
                          <a:srgbClr val="000000"/>
                        </a:solidFill>
                      </a:rPr>
                      <a:t>RTT</a:t>
                    </a:r>
                  </a:p>
                </p:txBody>
              </p:sp>
              <p:sp>
                <p:nvSpPr>
                  <p:cNvPr id="195" name="Line 85">
                    <a:extLst>
                      <a:ext uri="{FF2B5EF4-FFF2-40B4-BE49-F238E27FC236}">
                        <a16:creationId xmlns:a16="http://schemas.microsoft.com/office/drawing/2014/main" id="{1B9F9DB8-E2FB-AE45-88BA-CC221F1D6597}"/>
                      </a:ext>
                    </a:extLst>
                  </p:cNvPr>
                  <p:cNvSpPr>
                    <a:spLocks noChangeShapeType="1"/>
                  </p:cNvSpPr>
                  <p:nvPr/>
                </p:nvSpPr>
                <p:spPr bwMode="auto">
                  <a:xfrm>
                    <a:off x="4430" y="2763"/>
                    <a:ext cx="384"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500" kern="0">
                      <a:solidFill>
                        <a:srgbClr val="000000"/>
                      </a:solidFill>
                      <a:latin typeface="Tahoma" charset="0"/>
                      <a:ea typeface="ＭＳ Ｐゴシック" charset="0"/>
                    </a:endParaRPr>
                  </a:p>
                </p:txBody>
              </p:sp>
            </p:grpSp>
            <p:sp>
              <p:nvSpPr>
                <p:cNvPr id="196" name="Text Box 87">
                  <a:extLst>
                    <a:ext uri="{FF2B5EF4-FFF2-40B4-BE49-F238E27FC236}">
                      <a16:creationId xmlns:a16="http://schemas.microsoft.com/office/drawing/2014/main" id="{2A51BBA4-2F14-2F4F-A04D-EFFFF36AF41D}"/>
                    </a:ext>
                  </a:extLst>
                </p:cNvPr>
                <p:cNvSpPr txBox="1">
                  <a:spLocks noChangeArrowheads="1"/>
                </p:cNvSpPr>
                <p:nvPr/>
              </p:nvSpPr>
              <p:spPr bwMode="auto">
                <a:xfrm>
                  <a:off x="9112538" y="3823464"/>
                  <a:ext cx="1246496" cy="430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500" kern="0" dirty="0">
                      <a:solidFill>
                        <a:srgbClr val="000000"/>
                      </a:solidFill>
                      <a:latin typeface="Calibri" panose="020F0502020204030204"/>
                    </a:rPr>
                    <a:t>bytes/sec</a:t>
                  </a:r>
                </a:p>
              </p:txBody>
            </p:sp>
          </p:grpSp>
        </p:grpSp>
      </p:grpSp>
      <p:grpSp>
        <p:nvGrpSpPr>
          <p:cNvPr id="21" name="Group 20">
            <a:extLst>
              <a:ext uri="{FF2B5EF4-FFF2-40B4-BE49-F238E27FC236}">
                <a16:creationId xmlns:a16="http://schemas.microsoft.com/office/drawing/2014/main" id="{0B0449D2-8107-EC4E-BA6E-0B53574C5B7E}"/>
              </a:ext>
            </a:extLst>
          </p:cNvPr>
          <p:cNvGrpSpPr/>
          <p:nvPr/>
        </p:nvGrpSpPr>
        <p:grpSpPr>
          <a:xfrm>
            <a:off x="1745323" y="3012751"/>
            <a:ext cx="1245685" cy="1057469"/>
            <a:chOff x="2327097" y="2874002"/>
            <a:chExt cx="1660913" cy="1409958"/>
          </a:xfrm>
        </p:grpSpPr>
        <p:sp>
          <p:nvSpPr>
            <p:cNvPr id="171" name="Text Box 58">
              <a:extLst>
                <a:ext uri="{FF2B5EF4-FFF2-40B4-BE49-F238E27FC236}">
                  <a16:creationId xmlns:a16="http://schemas.microsoft.com/office/drawing/2014/main" id="{245049EB-D632-CE4C-A587-BA819860D407}"/>
                </a:ext>
              </a:extLst>
            </p:cNvPr>
            <p:cNvSpPr txBox="1">
              <a:spLocks noChangeArrowheads="1"/>
            </p:cNvSpPr>
            <p:nvPr/>
          </p:nvSpPr>
          <p:spPr bwMode="auto">
            <a:xfrm>
              <a:off x="2327097" y="3412952"/>
              <a:ext cx="1660913" cy="8710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nSpc>
                  <a:spcPct val="90000"/>
                </a:lnSpc>
                <a:defRPr/>
              </a:pPr>
              <a:r>
                <a:rPr lang="en-US" altLang="en-US" sz="1350" kern="0" dirty="0">
                  <a:solidFill>
                    <a:srgbClr val="000000"/>
                  </a:solidFill>
                  <a:latin typeface="Calibri" panose="020F0502020204030204"/>
                </a:rPr>
                <a:t>sent, </a:t>
              </a:r>
              <a:r>
                <a:rPr lang="en-US" altLang="en-US" sz="1350" kern="0" dirty="0" err="1">
                  <a:solidFill>
                    <a:srgbClr val="000000"/>
                  </a:solidFill>
                  <a:latin typeface="Calibri" panose="020F0502020204030204"/>
                </a:rPr>
                <a:t>bu</a:t>
              </a:r>
              <a:r>
                <a:rPr lang="en-US" altLang="en-US" sz="1350" kern="0" dirty="0">
                  <a:solidFill>
                    <a:srgbClr val="000000"/>
                  </a:solidFill>
                  <a:latin typeface="Calibri" panose="020F0502020204030204"/>
                </a:rPr>
                <a:t>t not-yet </a:t>
              </a:r>
              <a:r>
                <a:rPr lang="en-US" altLang="en-US" sz="1350" kern="0" dirty="0" err="1">
                  <a:solidFill>
                    <a:srgbClr val="000000"/>
                  </a:solidFill>
                  <a:latin typeface="Calibri" panose="020F0502020204030204"/>
                </a:rPr>
                <a:t>ACKed</a:t>
              </a:r>
              <a:r>
                <a:rPr lang="en-US" altLang="en-US" sz="1350" kern="0" dirty="0">
                  <a:solidFill>
                    <a:srgbClr val="000000"/>
                  </a:solidFill>
                  <a:latin typeface="Calibri" panose="020F0502020204030204"/>
                </a:rPr>
                <a:t> </a:t>
              </a:r>
            </a:p>
            <a:p>
              <a:pPr>
                <a:lnSpc>
                  <a:spcPct val="90000"/>
                </a:lnSpc>
                <a:defRPr/>
              </a:pPr>
              <a:r>
                <a:rPr lang="en-US" altLang="en-US" sz="1350" kern="0" dirty="0">
                  <a:solidFill>
                    <a:srgbClr val="000000"/>
                  </a:solidFill>
                  <a:latin typeface="Calibri" panose="020F0502020204030204"/>
                </a:rPr>
                <a:t>(“</a:t>
              </a:r>
              <a:r>
                <a:rPr lang="en-US" altLang="ja-JP" sz="1350" kern="0" dirty="0">
                  <a:solidFill>
                    <a:srgbClr val="000000"/>
                  </a:solidFill>
                  <a:latin typeface="Calibri" panose="020F0502020204030204"/>
                </a:rPr>
                <a:t>in-flight”)</a:t>
              </a:r>
              <a:endParaRPr lang="en-US" altLang="en-US" sz="1200" kern="0" dirty="0">
                <a:solidFill>
                  <a:srgbClr val="000000"/>
                </a:solidFill>
                <a:latin typeface="Calibri" panose="020F0502020204030204"/>
              </a:endParaRPr>
            </a:p>
          </p:txBody>
        </p:sp>
        <p:grpSp>
          <p:nvGrpSpPr>
            <p:cNvPr id="12" name="Group 11">
              <a:extLst>
                <a:ext uri="{FF2B5EF4-FFF2-40B4-BE49-F238E27FC236}">
                  <a16:creationId xmlns:a16="http://schemas.microsoft.com/office/drawing/2014/main" id="{8036A4AF-C412-6643-BB9E-A6741086FD03}"/>
                </a:ext>
              </a:extLst>
            </p:cNvPr>
            <p:cNvGrpSpPr/>
            <p:nvPr/>
          </p:nvGrpSpPr>
          <p:grpSpPr>
            <a:xfrm>
              <a:off x="2644060" y="2874002"/>
              <a:ext cx="1201888" cy="658131"/>
              <a:chOff x="2644060" y="2874003"/>
              <a:chExt cx="1201888" cy="635450"/>
            </a:xfrm>
          </p:grpSpPr>
          <p:sp>
            <p:nvSpPr>
              <p:cNvPr id="167" name="Line 51">
                <a:extLst>
                  <a:ext uri="{FF2B5EF4-FFF2-40B4-BE49-F238E27FC236}">
                    <a16:creationId xmlns:a16="http://schemas.microsoft.com/office/drawing/2014/main" id="{82259C8B-8E68-3B45-95EF-6297D889F723}"/>
                  </a:ext>
                </a:extLst>
              </p:cNvPr>
              <p:cNvSpPr>
                <a:spLocks noChangeShapeType="1"/>
              </p:cNvSpPr>
              <p:nvPr/>
            </p:nvSpPr>
            <p:spPr bwMode="auto">
              <a:xfrm>
                <a:off x="2644060" y="2874003"/>
                <a:ext cx="1201888"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a:defRPr/>
                </a:pPr>
                <a:endParaRPr lang="en-US" sz="1200">
                  <a:solidFill>
                    <a:srgbClr val="000000"/>
                  </a:solidFill>
                  <a:latin typeface="Tahoma" charset="0"/>
                  <a:ea typeface="ＭＳ Ｐゴシック" charset="0"/>
                </a:endParaRPr>
              </a:p>
            </p:txBody>
          </p:sp>
          <p:cxnSp>
            <p:nvCxnSpPr>
              <p:cNvPr id="8" name="Straight Connector 7">
                <a:extLst>
                  <a:ext uri="{FF2B5EF4-FFF2-40B4-BE49-F238E27FC236}">
                    <a16:creationId xmlns:a16="http://schemas.microsoft.com/office/drawing/2014/main" id="{9E977076-799D-1F4B-B884-156CBD02FF8A}"/>
                  </a:ext>
                </a:extLst>
              </p:cNvPr>
              <p:cNvCxnSpPr>
                <a:cxnSpLocks/>
              </p:cNvCxnSpPr>
              <p:nvPr/>
            </p:nvCxnSpPr>
            <p:spPr>
              <a:xfrm>
                <a:off x="2850877" y="2898008"/>
                <a:ext cx="0" cy="61144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88" name="Slide Number Placeholder 2">
            <a:extLst>
              <a:ext uri="{FF2B5EF4-FFF2-40B4-BE49-F238E27FC236}">
                <a16:creationId xmlns:a16="http://schemas.microsoft.com/office/drawing/2014/main" id="{F3E09B12-4970-4049-B7E9-4060B63F1FB2}"/>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84</a:t>
            </a:fld>
            <a:endParaRPr lang="en-US" dirty="0">
              <a:solidFill>
                <a:prstClr val="white">
                  <a:lumMod val="50000"/>
                </a:prstClr>
              </a:solidFill>
            </a:endParaRPr>
          </a:p>
        </p:txBody>
      </p:sp>
    </p:spTree>
    <p:extLst>
      <p:ext uri="{BB962C8B-B14F-4D97-AF65-F5344CB8AC3E}">
        <p14:creationId xmlns:p14="http://schemas.microsoft.com/office/powerpoint/2010/main" val="4026956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98"/>
                                        </p:tgtEl>
                                        <p:attrNameLst>
                                          <p:attrName>style.visibility</p:attrName>
                                        </p:attrNameLst>
                                      </p:cBhvr>
                                      <p:to>
                                        <p:strVal val="visible"/>
                                      </p:to>
                                    </p:set>
                                    <p:animEffect transition="in" filter="dissolve">
                                      <p:cBhvr>
                                        <p:cTn id="25" dur="500"/>
                                        <p:tgtEl>
                                          <p:spTgt spid="19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ssolv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08542" y="1052039"/>
            <a:ext cx="8544983" cy="670967"/>
          </a:xfrm>
        </p:spPr>
        <p:txBody>
          <a:bodyPr>
            <a:normAutofit/>
          </a:bodyPr>
          <a:lstStyle/>
          <a:p>
            <a:r>
              <a:rPr lang="en-US" sz="3600" dirty="0"/>
              <a:t>TCP slow start </a:t>
            </a:r>
            <a:endParaRPr lang="en-US" b="0" dirty="0"/>
          </a:p>
        </p:txBody>
      </p:sp>
      <p:sp>
        <p:nvSpPr>
          <p:cNvPr id="88" name="Rectangle 3">
            <a:extLst>
              <a:ext uri="{FF2B5EF4-FFF2-40B4-BE49-F238E27FC236}">
                <a16:creationId xmlns:a16="http://schemas.microsoft.com/office/drawing/2014/main" id="{8A57114D-913B-0446-AF23-3E8C1F4B81CA}"/>
              </a:ext>
            </a:extLst>
          </p:cNvPr>
          <p:cNvSpPr txBox="1">
            <a:spLocks noChangeArrowheads="1"/>
          </p:cNvSpPr>
          <p:nvPr/>
        </p:nvSpPr>
        <p:spPr>
          <a:xfrm>
            <a:off x="857250" y="1895475"/>
            <a:ext cx="3838575" cy="3910693"/>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fontAlgn="auto">
              <a:spcAft>
                <a:spcPts val="0"/>
              </a:spcAft>
              <a:buFont typeface="Wingdings" charset="2"/>
              <a:buChar char="§"/>
              <a:defRPr/>
            </a:pPr>
            <a:r>
              <a:rPr lang="en-US" sz="2400" dirty="0">
                <a:solidFill>
                  <a:prstClr val="black"/>
                </a:solidFill>
              </a:rPr>
              <a:t>when connection begins, increase rate exponentially until first loss event:</a:t>
            </a:r>
          </a:p>
          <a:p>
            <a:pPr lvl="1" fontAlgn="auto">
              <a:spcAft>
                <a:spcPts val="0"/>
              </a:spcAft>
              <a:buFont typeface="Arial"/>
              <a:buChar char="•"/>
              <a:defRPr/>
            </a:pPr>
            <a:r>
              <a:rPr lang="en-US" sz="2100" dirty="0">
                <a:solidFill>
                  <a:prstClr val="black"/>
                </a:solidFill>
              </a:rPr>
              <a:t>initially </a:t>
            </a:r>
            <a:r>
              <a:rPr lang="en-US" sz="2100" b="1" dirty="0" err="1">
                <a:solidFill>
                  <a:prstClr val="black"/>
                </a:solidFill>
                <a:latin typeface="Courier New" charset="0"/>
              </a:rPr>
              <a:t>cwnd</a:t>
            </a:r>
            <a:r>
              <a:rPr lang="en-US" sz="2100" dirty="0">
                <a:solidFill>
                  <a:prstClr val="black"/>
                </a:solidFill>
              </a:rPr>
              <a:t> = 1 MSS</a:t>
            </a:r>
          </a:p>
          <a:p>
            <a:pPr lvl="1" fontAlgn="auto">
              <a:spcAft>
                <a:spcPts val="0"/>
              </a:spcAft>
              <a:buFont typeface="Arial"/>
              <a:buChar char="•"/>
              <a:defRPr/>
            </a:pPr>
            <a:r>
              <a:rPr lang="en-US" sz="2100" dirty="0">
                <a:solidFill>
                  <a:prstClr val="black"/>
                </a:solidFill>
              </a:rPr>
              <a:t>double </a:t>
            </a:r>
            <a:r>
              <a:rPr lang="en-US" sz="2100" b="1" dirty="0" err="1">
                <a:solidFill>
                  <a:prstClr val="black"/>
                </a:solidFill>
                <a:latin typeface="Courier New" charset="0"/>
              </a:rPr>
              <a:t>cwnd</a:t>
            </a:r>
            <a:r>
              <a:rPr lang="en-US" sz="2100" dirty="0">
                <a:solidFill>
                  <a:prstClr val="black"/>
                </a:solidFill>
              </a:rPr>
              <a:t> every RTT</a:t>
            </a:r>
          </a:p>
          <a:p>
            <a:pPr lvl="1" fontAlgn="auto">
              <a:spcAft>
                <a:spcPts val="0"/>
              </a:spcAft>
              <a:buFont typeface="Arial"/>
              <a:buChar char="•"/>
              <a:defRPr/>
            </a:pPr>
            <a:r>
              <a:rPr lang="en-US" sz="2100" dirty="0">
                <a:solidFill>
                  <a:prstClr val="black"/>
                </a:solidFill>
              </a:rPr>
              <a:t>done by incrementing </a:t>
            </a:r>
            <a:r>
              <a:rPr lang="en-US" sz="2100" b="1" dirty="0" err="1">
                <a:solidFill>
                  <a:prstClr val="black"/>
                </a:solidFill>
                <a:latin typeface="Courier New" charset="0"/>
              </a:rPr>
              <a:t>cwnd</a:t>
            </a:r>
            <a:r>
              <a:rPr lang="en-US" sz="2100" dirty="0">
                <a:solidFill>
                  <a:prstClr val="black"/>
                </a:solidFill>
              </a:rPr>
              <a:t> for every ACK received</a:t>
            </a:r>
          </a:p>
        </p:txBody>
      </p:sp>
      <p:sp>
        <p:nvSpPr>
          <p:cNvPr id="224" name="Line 6">
            <a:extLst>
              <a:ext uri="{FF2B5EF4-FFF2-40B4-BE49-F238E27FC236}">
                <a16:creationId xmlns:a16="http://schemas.microsoft.com/office/drawing/2014/main" id="{6A528287-EE91-2148-8BF9-9042AB1CFB64}"/>
              </a:ext>
            </a:extLst>
          </p:cNvPr>
          <p:cNvSpPr>
            <a:spLocks noChangeShapeType="1"/>
          </p:cNvSpPr>
          <p:nvPr/>
        </p:nvSpPr>
        <p:spPr bwMode="auto">
          <a:xfrm>
            <a:off x="5688807" y="2587193"/>
            <a:ext cx="1878806" cy="264319"/>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25"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5365377" y="1733514"/>
            <a:ext cx="694485"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a:solidFill>
                  <a:srgbClr val="000000"/>
                </a:solidFill>
                <a:latin typeface="Arial" charset="0"/>
              </a:rPr>
              <a:t>Host A</a:t>
            </a:r>
          </a:p>
        </p:txBody>
      </p:sp>
      <p:sp>
        <p:nvSpPr>
          <p:cNvPr id="22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408567">
            <a:off x="6414032" y="2549532"/>
            <a:ext cx="965329"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000000"/>
                </a:solidFill>
                <a:latin typeface="Arial" charset="0"/>
              </a:rPr>
              <a:t>one segment</a:t>
            </a:r>
            <a:endParaRPr lang="en-US" sz="750" dirty="0">
              <a:solidFill>
                <a:srgbClr val="000000"/>
              </a:solidFill>
              <a:latin typeface="Times New Roman" charset="0"/>
            </a:endParaRPr>
          </a:p>
        </p:txBody>
      </p:sp>
      <p:sp>
        <p:nvSpPr>
          <p:cNvPr id="228"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7188209" y="1722799"/>
            <a:ext cx="704040"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a:solidFill>
                  <a:srgbClr val="000000"/>
                </a:solidFill>
                <a:latin typeface="Arial" charset="0"/>
              </a:rPr>
              <a:t>Host B</a:t>
            </a:r>
          </a:p>
        </p:txBody>
      </p:sp>
      <p:sp>
        <p:nvSpPr>
          <p:cNvPr id="229" name="Line 13">
            <a:extLst>
              <a:ext uri="{FF2B5EF4-FFF2-40B4-BE49-F238E27FC236}">
                <a16:creationId xmlns:a16="http://schemas.microsoft.com/office/drawing/2014/main" id="{A18AC8EC-DBD1-E34E-B3EA-D3876A530333}"/>
              </a:ext>
            </a:extLst>
          </p:cNvPr>
          <p:cNvSpPr>
            <a:spLocks noChangeShapeType="1"/>
          </p:cNvSpPr>
          <p:nvPr/>
        </p:nvSpPr>
        <p:spPr bwMode="auto">
          <a:xfrm>
            <a:off x="5685235" y="2447889"/>
            <a:ext cx="0" cy="2886075"/>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sp>
        <p:nvSpPr>
          <p:cNvPr id="230" name="Line 14">
            <a:extLst>
              <a:ext uri="{FF2B5EF4-FFF2-40B4-BE49-F238E27FC236}">
                <a16:creationId xmlns:a16="http://schemas.microsoft.com/office/drawing/2014/main" id="{77B3310E-1B60-414E-9423-328982307B1D}"/>
              </a:ext>
            </a:extLst>
          </p:cNvPr>
          <p:cNvSpPr>
            <a:spLocks noChangeShapeType="1"/>
          </p:cNvSpPr>
          <p:nvPr/>
        </p:nvSpPr>
        <p:spPr bwMode="auto">
          <a:xfrm>
            <a:off x="7571185" y="2476464"/>
            <a:ext cx="0" cy="2886075"/>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a:solidFill>
                <a:srgbClr val="000000"/>
              </a:solidFill>
              <a:latin typeface="Tahoma" charset="0"/>
              <a:ea typeface="ＭＳ Ｐゴシック" charset="0"/>
            </a:endParaRPr>
          </a:p>
        </p:txBody>
      </p:sp>
      <p:grpSp>
        <p:nvGrpSpPr>
          <p:cNvPr id="4" name="Group 3">
            <a:extLst>
              <a:ext uri="{FF2B5EF4-FFF2-40B4-BE49-F238E27FC236}">
                <a16:creationId xmlns:a16="http://schemas.microsoft.com/office/drawing/2014/main" id="{E69B56F2-B7D2-5247-8C5B-11CDFE50D6C7}"/>
              </a:ext>
            </a:extLst>
          </p:cNvPr>
          <p:cNvGrpSpPr/>
          <p:nvPr/>
        </p:nvGrpSpPr>
        <p:grpSpPr>
          <a:xfrm>
            <a:off x="5428492" y="2559808"/>
            <a:ext cx="253916" cy="622697"/>
            <a:chOff x="7237996" y="2270077"/>
            <a:chExt cx="338555" cy="830263"/>
          </a:xfrm>
        </p:grpSpPr>
        <p:sp>
          <p:nvSpPr>
            <p:cNvPr id="227"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09970" y="2493708"/>
              <a:ext cx="594608"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a:solidFill>
                    <a:srgbClr val="000000"/>
                  </a:solidFill>
                  <a:latin typeface="Arial" charset="0"/>
                </a:rPr>
                <a:t>RTT</a:t>
              </a:r>
              <a:endParaRPr lang="en-US" sz="750">
                <a:solidFill>
                  <a:srgbClr val="000000"/>
                </a:solidFill>
                <a:latin typeface="Arial" charset="0"/>
              </a:endParaRPr>
            </a:p>
          </p:txBody>
        </p:sp>
        <p:sp>
          <p:nvSpPr>
            <p:cNvPr id="231"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32"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33" name="Line 17">
            <a:extLst>
              <a:ext uri="{FF2B5EF4-FFF2-40B4-BE49-F238E27FC236}">
                <a16:creationId xmlns:a16="http://schemas.microsoft.com/office/drawing/2014/main" id="{6F1B852B-55C3-8747-96CA-AA2F2AB5E525}"/>
              </a:ext>
            </a:extLst>
          </p:cNvPr>
          <p:cNvSpPr>
            <a:spLocks noChangeShapeType="1"/>
          </p:cNvSpPr>
          <p:nvPr/>
        </p:nvSpPr>
        <p:spPr bwMode="auto">
          <a:xfrm flipV="1">
            <a:off x="5670948" y="2890802"/>
            <a:ext cx="1878806" cy="264319"/>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34" name="Group 18">
            <a:extLst>
              <a:ext uri="{FF2B5EF4-FFF2-40B4-BE49-F238E27FC236}">
                <a16:creationId xmlns:a16="http://schemas.microsoft.com/office/drawing/2014/main" id="{065B59AF-8C8D-9041-B965-0C2B0A5F8CEF}"/>
              </a:ext>
            </a:extLst>
          </p:cNvPr>
          <p:cNvGrpSpPr>
            <a:grpSpLocks/>
          </p:cNvGrpSpPr>
          <p:nvPr/>
        </p:nvGrpSpPr>
        <p:grpSpPr bwMode="auto">
          <a:xfrm>
            <a:off x="7331867" y="4947006"/>
            <a:ext cx="511968" cy="300037"/>
            <a:chOff x="3296" y="3527"/>
            <a:chExt cx="430" cy="252"/>
          </a:xfrm>
        </p:grpSpPr>
        <p:sp>
          <p:nvSpPr>
            <p:cNvPr id="235" name="Rectangle 19">
              <a:extLst>
                <a:ext uri="{FF2B5EF4-FFF2-40B4-BE49-F238E27FC236}">
                  <a16:creationId xmlns:a16="http://schemas.microsoft.com/office/drawing/2014/main" id="{87C76A64-BE9B-B84D-B23B-73554D8DC2C9}"/>
                </a:ext>
              </a:extLst>
            </p:cNvPr>
            <p:cNvSpPr>
              <a:spLocks noChangeArrowheads="1"/>
            </p:cNvSpPr>
            <p:nvPr/>
          </p:nvSpPr>
          <p:spPr bwMode="auto">
            <a:xfrm>
              <a:off x="3342" y="3576"/>
              <a:ext cx="324" cy="15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36" name="Text Box 20">
              <a:extLst>
                <a:ext uri="{FF2B5EF4-FFF2-40B4-BE49-F238E27FC236}">
                  <a16:creationId xmlns:a16="http://schemas.microsoft.com/office/drawing/2014/main" id="{0453126D-C0BC-5F4F-8DBD-30CD1FA8A1CD}"/>
                </a:ext>
              </a:extLst>
            </p:cNvPr>
            <p:cNvSpPr txBox="1">
              <a:spLocks noChangeArrowheads="1"/>
            </p:cNvSpPr>
            <p:nvPr/>
          </p:nvSpPr>
          <p:spPr bwMode="auto">
            <a:xfrm>
              <a:off x="3296" y="3527"/>
              <a:ext cx="430" cy="25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350" kern="0">
                  <a:solidFill>
                    <a:srgbClr val="000000"/>
                  </a:solidFill>
                  <a:latin typeface="Arial" charset="0"/>
                </a:rPr>
                <a:t>time</a:t>
              </a:r>
              <a:endParaRPr lang="en-US" sz="750" kern="0">
                <a:solidFill>
                  <a:srgbClr val="000000"/>
                </a:solidFill>
                <a:latin typeface="Arial" charset="0"/>
              </a:endParaRPr>
            </a:p>
          </p:txBody>
        </p:sp>
      </p:grpSp>
      <p:grpSp>
        <p:nvGrpSpPr>
          <p:cNvPr id="5" name="Group 4">
            <a:extLst>
              <a:ext uri="{FF2B5EF4-FFF2-40B4-BE49-F238E27FC236}">
                <a16:creationId xmlns:a16="http://schemas.microsoft.com/office/drawing/2014/main" id="{4100408E-3418-754E-97D5-873085045522}"/>
              </a:ext>
            </a:extLst>
          </p:cNvPr>
          <p:cNvGrpSpPr/>
          <p:nvPr/>
        </p:nvGrpSpPr>
        <p:grpSpPr>
          <a:xfrm>
            <a:off x="5688806" y="3172980"/>
            <a:ext cx="1882379" cy="328613"/>
            <a:chOff x="7585075" y="3087640"/>
            <a:chExt cx="2509838" cy="438150"/>
          </a:xfrm>
        </p:grpSpPr>
        <p:sp>
          <p:nvSpPr>
            <p:cNvPr id="237" name="Line 21">
              <a:extLst>
                <a:ext uri="{FF2B5EF4-FFF2-40B4-BE49-F238E27FC236}">
                  <a16:creationId xmlns:a16="http://schemas.microsoft.com/office/drawing/2014/main" id="{9884C69B-71B1-0942-8DD7-4BADAC4C58CF}"/>
                </a:ext>
              </a:extLst>
            </p:cNvPr>
            <p:cNvSpPr>
              <a:spLocks noChangeShapeType="1"/>
            </p:cNvSpPr>
            <p:nvPr/>
          </p:nvSpPr>
          <p:spPr bwMode="auto">
            <a:xfrm>
              <a:off x="7589838" y="3087640"/>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38" name="Line 22">
              <a:extLst>
                <a:ext uri="{FF2B5EF4-FFF2-40B4-BE49-F238E27FC236}">
                  <a16:creationId xmlns:a16="http://schemas.microsoft.com/office/drawing/2014/main" id="{51BC13AD-02C4-1049-8BE5-DF4431F8416C}"/>
                </a:ext>
              </a:extLst>
            </p:cNvPr>
            <p:cNvSpPr>
              <a:spLocks noChangeShapeType="1"/>
            </p:cNvSpPr>
            <p:nvPr/>
          </p:nvSpPr>
          <p:spPr bwMode="auto">
            <a:xfrm>
              <a:off x="7585075" y="3173365"/>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grpSp>
        <p:nvGrpSpPr>
          <p:cNvPr id="6" name="Group 5">
            <a:extLst>
              <a:ext uri="{FF2B5EF4-FFF2-40B4-BE49-F238E27FC236}">
                <a16:creationId xmlns:a16="http://schemas.microsoft.com/office/drawing/2014/main" id="{C604703D-5DBE-F940-8D53-F844A095856D}"/>
              </a:ext>
            </a:extLst>
          </p:cNvPr>
          <p:cNvGrpSpPr/>
          <p:nvPr/>
        </p:nvGrpSpPr>
        <p:grpSpPr>
          <a:xfrm>
            <a:off x="5668567" y="3630181"/>
            <a:ext cx="1916906" cy="459581"/>
            <a:chOff x="7558088" y="3697240"/>
            <a:chExt cx="2555875" cy="612775"/>
          </a:xfrm>
        </p:grpSpPr>
        <p:sp>
          <p:nvSpPr>
            <p:cNvPr id="239" name="Line 23">
              <a:extLst>
                <a:ext uri="{FF2B5EF4-FFF2-40B4-BE49-F238E27FC236}">
                  <a16:creationId xmlns:a16="http://schemas.microsoft.com/office/drawing/2014/main" id="{4B52376E-4BCD-9A4A-845B-15A59AA4FC46}"/>
                </a:ext>
              </a:extLst>
            </p:cNvPr>
            <p:cNvSpPr>
              <a:spLocks noChangeShapeType="1"/>
            </p:cNvSpPr>
            <p:nvPr/>
          </p:nvSpPr>
          <p:spPr bwMode="auto">
            <a:xfrm flipV="1">
              <a:off x="7585075" y="3697240"/>
              <a:ext cx="2528888" cy="36195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40" name="Line 24">
              <a:extLst>
                <a:ext uri="{FF2B5EF4-FFF2-40B4-BE49-F238E27FC236}">
                  <a16:creationId xmlns:a16="http://schemas.microsoft.com/office/drawing/2014/main" id="{645C0ACA-0EDA-5E4A-9046-377D9678C0E7}"/>
                </a:ext>
              </a:extLst>
            </p:cNvPr>
            <p:cNvSpPr>
              <a:spLocks noChangeShapeType="1"/>
            </p:cNvSpPr>
            <p:nvPr/>
          </p:nvSpPr>
          <p:spPr bwMode="auto">
            <a:xfrm flipV="1">
              <a:off x="7558088" y="3957590"/>
              <a:ext cx="2505075" cy="352425"/>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41" name="Text Box 25">
            <a:extLst>
              <a:ext uri="{FF2B5EF4-FFF2-40B4-BE49-F238E27FC236}">
                <a16:creationId xmlns:a16="http://schemas.microsoft.com/office/drawing/2014/main" id="{01076F6F-B790-D24D-9445-FAC03A5C45E4}"/>
              </a:ext>
            </a:extLst>
          </p:cNvPr>
          <p:cNvSpPr txBox="1">
            <a:spLocks noChangeArrowheads="1"/>
          </p:cNvSpPr>
          <p:nvPr/>
        </p:nvSpPr>
        <p:spPr bwMode="auto">
          <a:xfrm rot="408567">
            <a:off x="6413386" y="3138891"/>
            <a:ext cx="1016625"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000000"/>
                </a:solidFill>
                <a:latin typeface="Arial" charset="0"/>
              </a:rPr>
              <a:t>two segments</a:t>
            </a:r>
            <a:endParaRPr lang="en-US" sz="750" dirty="0">
              <a:solidFill>
                <a:srgbClr val="000000"/>
              </a:solidFill>
              <a:latin typeface="Times New Roman" charset="0"/>
            </a:endParaRPr>
          </a:p>
        </p:txBody>
      </p:sp>
      <p:sp>
        <p:nvSpPr>
          <p:cNvPr id="242" name="Text Box 26">
            <a:extLst>
              <a:ext uri="{FF2B5EF4-FFF2-40B4-BE49-F238E27FC236}">
                <a16:creationId xmlns:a16="http://schemas.microsoft.com/office/drawing/2014/main" id="{1B8C0342-7E57-2343-86AD-47B5AB1AA675}"/>
              </a:ext>
            </a:extLst>
          </p:cNvPr>
          <p:cNvSpPr txBox="1">
            <a:spLocks noChangeArrowheads="1"/>
          </p:cNvSpPr>
          <p:nvPr/>
        </p:nvSpPr>
        <p:spPr bwMode="auto">
          <a:xfrm rot="408567">
            <a:off x="6481938" y="3899700"/>
            <a:ext cx="10390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1050" dirty="0">
                <a:solidFill>
                  <a:srgbClr val="000000"/>
                </a:solidFill>
                <a:latin typeface="Arial" charset="0"/>
              </a:rPr>
              <a:t>four segments</a:t>
            </a:r>
            <a:endParaRPr lang="en-US" sz="750" dirty="0">
              <a:solidFill>
                <a:srgbClr val="000000"/>
              </a:solidFill>
              <a:latin typeface="Times New Roman" charset="0"/>
            </a:endParaRPr>
          </a:p>
        </p:txBody>
      </p:sp>
      <p:grpSp>
        <p:nvGrpSpPr>
          <p:cNvPr id="243" name="Group 27">
            <a:extLst>
              <a:ext uri="{FF2B5EF4-FFF2-40B4-BE49-F238E27FC236}">
                <a16:creationId xmlns:a16="http://schemas.microsoft.com/office/drawing/2014/main" id="{B634F089-4244-B04A-8749-7ACF0E0264A8}"/>
              </a:ext>
            </a:extLst>
          </p:cNvPr>
          <p:cNvGrpSpPr>
            <a:grpSpLocks/>
          </p:cNvGrpSpPr>
          <p:nvPr/>
        </p:nvGrpSpPr>
        <p:grpSpPr bwMode="auto">
          <a:xfrm>
            <a:off x="5685238" y="3926646"/>
            <a:ext cx="1889522" cy="489347"/>
            <a:chOff x="3954" y="2214"/>
            <a:chExt cx="1587" cy="411"/>
          </a:xfrm>
        </p:grpSpPr>
        <p:sp>
          <p:nvSpPr>
            <p:cNvPr id="244" name="Line 28">
              <a:extLst>
                <a:ext uri="{FF2B5EF4-FFF2-40B4-BE49-F238E27FC236}">
                  <a16:creationId xmlns:a16="http://schemas.microsoft.com/office/drawing/2014/main" id="{6F92F39D-0B5B-8944-8B48-2B288C8AA12C}"/>
                </a:ext>
              </a:extLst>
            </p:cNvPr>
            <p:cNvSpPr>
              <a:spLocks noChangeShapeType="1"/>
            </p:cNvSpPr>
            <p:nvPr/>
          </p:nvSpPr>
          <p:spPr bwMode="auto">
            <a:xfrm>
              <a:off x="3963" y="221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45" name="Line 29">
              <a:extLst>
                <a:ext uri="{FF2B5EF4-FFF2-40B4-BE49-F238E27FC236}">
                  <a16:creationId xmlns:a16="http://schemas.microsoft.com/office/drawing/2014/main" id="{C48577E5-7DD4-034F-9CF0-3D303E956AEB}"/>
                </a:ext>
              </a:extLst>
            </p:cNvPr>
            <p:cNvSpPr>
              <a:spLocks noChangeShapeType="1"/>
            </p:cNvSpPr>
            <p:nvPr/>
          </p:nvSpPr>
          <p:spPr bwMode="auto">
            <a:xfrm>
              <a:off x="3954" y="227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46" name="Line 30">
              <a:extLst>
                <a:ext uri="{FF2B5EF4-FFF2-40B4-BE49-F238E27FC236}">
                  <a16:creationId xmlns:a16="http://schemas.microsoft.com/office/drawing/2014/main" id="{B96B9B7F-8E30-7743-AEDD-727B51D6B27C}"/>
                </a:ext>
              </a:extLst>
            </p:cNvPr>
            <p:cNvSpPr>
              <a:spLocks noChangeShapeType="1"/>
            </p:cNvSpPr>
            <p:nvPr/>
          </p:nvSpPr>
          <p:spPr bwMode="auto">
            <a:xfrm>
              <a:off x="3963" y="2340"/>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47" name="Line 31">
              <a:extLst>
                <a:ext uri="{FF2B5EF4-FFF2-40B4-BE49-F238E27FC236}">
                  <a16:creationId xmlns:a16="http://schemas.microsoft.com/office/drawing/2014/main" id="{B83505EC-39A5-D64D-8E5C-39A07A090F7F}"/>
                </a:ext>
              </a:extLst>
            </p:cNvPr>
            <p:cNvSpPr>
              <a:spLocks noChangeShapeType="1"/>
            </p:cNvSpPr>
            <p:nvPr/>
          </p:nvSpPr>
          <p:spPr bwMode="auto">
            <a:xfrm>
              <a:off x="3957" y="2403"/>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grpSp>
        <p:nvGrpSpPr>
          <p:cNvPr id="248" name="Group 32">
            <a:extLst>
              <a:ext uri="{FF2B5EF4-FFF2-40B4-BE49-F238E27FC236}">
                <a16:creationId xmlns:a16="http://schemas.microsoft.com/office/drawing/2014/main" id="{00C5C000-11E9-BE42-9849-B1B7B9E99FE0}"/>
              </a:ext>
            </a:extLst>
          </p:cNvPr>
          <p:cNvGrpSpPr>
            <a:grpSpLocks/>
          </p:cNvGrpSpPr>
          <p:nvPr/>
        </p:nvGrpSpPr>
        <p:grpSpPr bwMode="auto">
          <a:xfrm flipV="1">
            <a:off x="5899547" y="4212395"/>
            <a:ext cx="1671638" cy="453629"/>
            <a:chOff x="3954" y="2214"/>
            <a:chExt cx="1587" cy="411"/>
          </a:xfrm>
        </p:grpSpPr>
        <p:sp>
          <p:nvSpPr>
            <p:cNvPr id="249" name="Line 33">
              <a:extLst>
                <a:ext uri="{FF2B5EF4-FFF2-40B4-BE49-F238E27FC236}">
                  <a16:creationId xmlns:a16="http://schemas.microsoft.com/office/drawing/2014/main" id="{4332886D-58A3-5C48-9DD4-0435A9D316B6}"/>
                </a:ext>
              </a:extLst>
            </p:cNvPr>
            <p:cNvSpPr>
              <a:spLocks noChangeShapeType="1"/>
            </p:cNvSpPr>
            <p:nvPr/>
          </p:nvSpPr>
          <p:spPr bwMode="auto">
            <a:xfrm>
              <a:off x="3963" y="2214"/>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50" name="Line 34">
              <a:extLst>
                <a:ext uri="{FF2B5EF4-FFF2-40B4-BE49-F238E27FC236}">
                  <a16:creationId xmlns:a16="http://schemas.microsoft.com/office/drawing/2014/main" id="{C0026D13-F3ED-354E-AB62-DED685C67E13}"/>
                </a:ext>
              </a:extLst>
            </p:cNvPr>
            <p:cNvSpPr>
              <a:spLocks noChangeShapeType="1"/>
            </p:cNvSpPr>
            <p:nvPr/>
          </p:nvSpPr>
          <p:spPr bwMode="auto">
            <a:xfrm>
              <a:off x="3954" y="2274"/>
              <a:ext cx="1578" cy="22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51" name="Line 35">
              <a:extLst>
                <a:ext uri="{FF2B5EF4-FFF2-40B4-BE49-F238E27FC236}">
                  <a16:creationId xmlns:a16="http://schemas.microsoft.com/office/drawing/2014/main" id="{36EDBC83-2FCD-4D49-9A45-B0773BAEE370}"/>
                </a:ext>
              </a:extLst>
            </p:cNvPr>
            <p:cNvSpPr>
              <a:spLocks noChangeShapeType="1"/>
            </p:cNvSpPr>
            <p:nvPr/>
          </p:nvSpPr>
          <p:spPr bwMode="auto">
            <a:xfrm>
              <a:off x="3963" y="2340"/>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52" name="Line 36">
              <a:extLst>
                <a:ext uri="{FF2B5EF4-FFF2-40B4-BE49-F238E27FC236}">
                  <a16:creationId xmlns:a16="http://schemas.microsoft.com/office/drawing/2014/main" id="{8BA1B8D7-7D1E-2947-8988-7C4595578CA6}"/>
                </a:ext>
              </a:extLst>
            </p:cNvPr>
            <p:cNvSpPr>
              <a:spLocks noChangeShapeType="1"/>
            </p:cNvSpPr>
            <p:nvPr/>
          </p:nvSpPr>
          <p:spPr bwMode="auto">
            <a:xfrm>
              <a:off x="3957" y="2403"/>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grpSp>
        <p:nvGrpSpPr>
          <p:cNvPr id="253" name="Group 43">
            <a:extLst>
              <a:ext uri="{FF2B5EF4-FFF2-40B4-BE49-F238E27FC236}">
                <a16:creationId xmlns:a16="http://schemas.microsoft.com/office/drawing/2014/main" id="{D0982D30-E871-F344-B80E-157861960777}"/>
              </a:ext>
            </a:extLst>
          </p:cNvPr>
          <p:cNvGrpSpPr>
            <a:grpSpLocks/>
          </p:cNvGrpSpPr>
          <p:nvPr/>
        </p:nvGrpSpPr>
        <p:grpSpPr bwMode="auto">
          <a:xfrm>
            <a:off x="5356622" y="1976402"/>
            <a:ext cx="490538" cy="451247"/>
            <a:chOff x="-44" y="1473"/>
            <a:chExt cx="981" cy="1105"/>
          </a:xfrm>
        </p:grpSpPr>
        <p:pic>
          <p:nvPicPr>
            <p:cNvPr id="254"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5"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defRPr/>
              </a:pPr>
              <a:endParaRPr lang="en-US" sz="1200" kern="0">
                <a:solidFill>
                  <a:srgbClr val="000000"/>
                </a:solidFill>
                <a:latin typeface="Tahoma" panose="020B0604030504040204" pitchFamily="34" charset="0"/>
              </a:endParaRPr>
            </a:p>
          </p:txBody>
        </p:sp>
      </p:grpSp>
      <p:grpSp>
        <p:nvGrpSpPr>
          <p:cNvPr id="256" name="Group 46">
            <a:extLst>
              <a:ext uri="{FF2B5EF4-FFF2-40B4-BE49-F238E27FC236}">
                <a16:creationId xmlns:a16="http://schemas.microsoft.com/office/drawing/2014/main" id="{514EF769-BED4-DE47-BE55-0913ABFB155D}"/>
              </a:ext>
            </a:extLst>
          </p:cNvPr>
          <p:cNvGrpSpPr>
            <a:grpSpLocks/>
          </p:cNvGrpSpPr>
          <p:nvPr/>
        </p:nvGrpSpPr>
        <p:grpSpPr bwMode="auto">
          <a:xfrm>
            <a:off x="7408069" y="1987118"/>
            <a:ext cx="286941" cy="410765"/>
            <a:chOff x="4140" y="429"/>
            <a:chExt cx="1425" cy="2396"/>
          </a:xfrm>
        </p:grpSpPr>
        <p:sp>
          <p:nvSpPr>
            <p:cNvPr id="257"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58"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59"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60"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61"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62"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287"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8"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63"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64"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285"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6"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65"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66"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nvGrpSpPr>
            <p:cNvPr id="267"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283"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4"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68"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grpSp>
          <p:nvGrpSpPr>
            <p:cNvPr id="269"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281"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2"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270"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1"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72"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73"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4"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endParaRPr lang="en-US" sz="1200" kern="0">
                <a:solidFill>
                  <a:srgbClr val="000000"/>
                </a:solidFill>
                <a:latin typeface="Tahoma" panose="020B0604030504040204" pitchFamily="34" charset="0"/>
              </a:endParaRPr>
            </a:p>
          </p:txBody>
        </p:sp>
        <p:sp>
          <p:nvSpPr>
            <p:cNvPr id="275"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6"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7"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78"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sz="1350" kern="0">
                <a:solidFill>
                  <a:srgbClr val="FF0000"/>
                </a:solidFill>
                <a:latin typeface="Arial" charset="0"/>
                <a:ea typeface="ＭＳ Ｐゴシック" charset="0"/>
                <a:cs typeface="Arial" charset="0"/>
              </a:endParaRPr>
            </a:p>
          </p:txBody>
        </p:sp>
        <p:sp>
          <p:nvSpPr>
            <p:cNvPr id="279"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sp>
          <p:nvSpPr>
            <p:cNvPr id="280"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1200" kern="0">
                <a:solidFill>
                  <a:srgbClr val="000000"/>
                </a:solidFill>
                <a:latin typeface="Tahoma" charset="0"/>
                <a:ea typeface="ＭＳ Ｐゴシック" charset="0"/>
              </a:endParaRPr>
            </a:p>
          </p:txBody>
        </p:sp>
      </p:grpSp>
      <p:sp>
        <p:nvSpPr>
          <p:cNvPr id="73" name="Rectangle 3">
            <a:extLst>
              <a:ext uri="{FF2B5EF4-FFF2-40B4-BE49-F238E27FC236}">
                <a16:creationId xmlns:a16="http://schemas.microsoft.com/office/drawing/2014/main" id="{E8DFB3C6-E718-DE4A-87C1-CF7178F7C295}"/>
              </a:ext>
            </a:extLst>
          </p:cNvPr>
          <p:cNvSpPr txBox="1">
            <a:spLocks noChangeArrowheads="1"/>
          </p:cNvSpPr>
          <p:nvPr/>
        </p:nvSpPr>
        <p:spPr>
          <a:xfrm>
            <a:off x="876300" y="4305300"/>
            <a:ext cx="3838575" cy="142875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fontAlgn="auto">
              <a:spcAft>
                <a:spcPts val="0"/>
              </a:spcAft>
              <a:buFont typeface="Wingdings" charset="2"/>
              <a:buChar char="§"/>
              <a:defRPr/>
            </a:pPr>
            <a:r>
              <a:rPr lang="en-US" sz="2400" i="1" dirty="0">
                <a:solidFill>
                  <a:srgbClr val="CC0000"/>
                </a:solidFill>
              </a:rPr>
              <a:t>summary: </a:t>
            </a:r>
            <a:r>
              <a:rPr lang="en-US" sz="2400" dirty="0">
                <a:solidFill>
                  <a:prstClr val="black"/>
                </a:solidFill>
              </a:rPr>
              <a:t>initial rate is slow, but ramps up exponentially fast</a:t>
            </a:r>
          </a:p>
        </p:txBody>
      </p:sp>
      <p:sp>
        <p:nvSpPr>
          <p:cNvPr id="74" name="Slide Number Placeholder 2">
            <a:extLst>
              <a:ext uri="{FF2B5EF4-FFF2-40B4-BE49-F238E27FC236}">
                <a16:creationId xmlns:a16="http://schemas.microsoft.com/office/drawing/2014/main" id="{E6BF77EC-AB9F-944C-99D2-21B2DB400DBA}"/>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85</a:t>
            </a:fld>
            <a:endParaRPr lang="en-US" dirty="0">
              <a:solidFill>
                <a:prstClr val="white">
                  <a:lumMod val="50000"/>
                </a:prstClr>
              </a:solidFill>
            </a:endParaRPr>
          </a:p>
        </p:txBody>
      </p:sp>
    </p:spTree>
    <p:extLst>
      <p:ext uri="{BB962C8B-B14F-4D97-AF65-F5344CB8AC3E}">
        <p14:creationId xmlns:p14="http://schemas.microsoft.com/office/powerpoint/2010/main" val="943916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wipe(left)">
                                      <p:cBhvr>
                                        <p:cTn id="7" dur="500"/>
                                        <p:tgtEl>
                                          <p:spTgt spid="2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6"/>
                                        </p:tgtEl>
                                        <p:attrNameLst>
                                          <p:attrName>style.visibility</p:attrName>
                                        </p:attrNameLst>
                                      </p:cBhvr>
                                      <p:to>
                                        <p:strVal val="visible"/>
                                      </p:to>
                                    </p:set>
                                    <p:animEffect transition="in" filter="dissolve">
                                      <p:cBhvr>
                                        <p:cTn id="10" dur="500"/>
                                        <p:tgtEl>
                                          <p:spTgt spid="226"/>
                                        </p:tgtEl>
                                      </p:cBhvr>
                                    </p:animEffect>
                                  </p:childTnLst>
                                </p:cTn>
                              </p:par>
                            </p:childTnLst>
                          </p:cTn>
                        </p:par>
                        <p:par>
                          <p:cTn id="11" fill="hold">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233"/>
                                        </p:tgtEl>
                                        <p:attrNameLst>
                                          <p:attrName>style.visibility</p:attrName>
                                        </p:attrNameLst>
                                      </p:cBhvr>
                                      <p:to>
                                        <p:strVal val="visible"/>
                                      </p:to>
                                    </p:set>
                                    <p:animEffect transition="in" filter="wipe(right)">
                                      <p:cBhvr>
                                        <p:cTn id="14" dur="500"/>
                                        <p:tgtEl>
                                          <p:spTgt spid="233"/>
                                        </p:tgtEl>
                                      </p:cBhvr>
                                    </p:animEffect>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41"/>
                                        </p:tgtEl>
                                        <p:attrNameLst>
                                          <p:attrName>style.visibility</p:attrName>
                                        </p:attrNameLst>
                                      </p:cBhvr>
                                      <p:to>
                                        <p:strVal val="visible"/>
                                      </p:to>
                                    </p:set>
                                    <p:animEffect transition="in" filter="dissolve">
                                      <p:cBhvr>
                                        <p:cTn id="26" dur="500"/>
                                        <p:tgtEl>
                                          <p:spTgt spid="241"/>
                                        </p:tgtEl>
                                      </p:cBhvr>
                                    </p:animEffect>
                                  </p:childTnLst>
                                </p:cTn>
                              </p:par>
                            </p:childTnLst>
                          </p:cTn>
                        </p:par>
                        <p:par>
                          <p:cTn id="27" fill="hold">
                            <p:stCondLst>
                              <p:cond delay="500"/>
                            </p:stCondLst>
                            <p:childTnLst>
                              <p:par>
                                <p:cTn id="28" presetID="22" presetClass="entr" presetSubtype="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right)">
                                      <p:cBhvr>
                                        <p:cTn id="30" dur="500"/>
                                        <p:tgtEl>
                                          <p:spTgt spid="6"/>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243"/>
                                        </p:tgtEl>
                                        <p:attrNameLst>
                                          <p:attrName>style.visibility</p:attrName>
                                        </p:attrNameLst>
                                      </p:cBhvr>
                                      <p:to>
                                        <p:strVal val="visible"/>
                                      </p:to>
                                    </p:set>
                                    <p:animEffect transition="in" filter="wipe(left)">
                                      <p:cBhvr>
                                        <p:cTn id="34" dur="500"/>
                                        <p:tgtEl>
                                          <p:spTgt spid="24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42"/>
                                        </p:tgtEl>
                                        <p:attrNameLst>
                                          <p:attrName>style.visibility</p:attrName>
                                        </p:attrNameLst>
                                      </p:cBhvr>
                                      <p:to>
                                        <p:strVal val="visible"/>
                                      </p:to>
                                    </p:set>
                                    <p:animEffect transition="in" filter="dissolve">
                                      <p:cBhvr>
                                        <p:cTn id="37" dur="500"/>
                                        <p:tgtEl>
                                          <p:spTgt spid="242"/>
                                        </p:tgtEl>
                                      </p:cBhvr>
                                    </p:animEffect>
                                  </p:childTnLst>
                                </p:cTn>
                              </p:par>
                            </p:childTnLst>
                          </p:cTn>
                        </p:par>
                        <p:par>
                          <p:cTn id="38" fill="hold">
                            <p:stCondLst>
                              <p:cond delay="1500"/>
                            </p:stCondLst>
                            <p:childTnLst>
                              <p:par>
                                <p:cTn id="39" presetID="22" presetClass="entr" presetSubtype="2" fill="hold" nodeType="afterEffect">
                                  <p:stCondLst>
                                    <p:cond delay="0"/>
                                  </p:stCondLst>
                                  <p:childTnLst>
                                    <p:set>
                                      <p:cBhvr>
                                        <p:cTn id="40" dur="1" fill="hold">
                                          <p:stCondLst>
                                            <p:cond delay="0"/>
                                          </p:stCondLst>
                                        </p:cTn>
                                        <p:tgtEl>
                                          <p:spTgt spid="248"/>
                                        </p:tgtEl>
                                        <p:attrNameLst>
                                          <p:attrName>style.visibility</p:attrName>
                                        </p:attrNameLst>
                                      </p:cBhvr>
                                      <p:to>
                                        <p:strVal val="visible"/>
                                      </p:to>
                                    </p:set>
                                    <p:animEffect transition="in" filter="wipe(right)">
                                      <p:cBhvr>
                                        <p:cTn id="41" dur="500"/>
                                        <p:tgtEl>
                                          <p:spTgt spid="248"/>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73"/>
                                        </p:tgtEl>
                                        <p:attrNameLst>
                                          <p:attrName>style.visibility</p:attrName>
                                        </p:attrNameLst>
                                      </p:cBhvr>
                                      <p:to>
                                        <p:strVal val="visible"/>
                                      </p:to>
                                    </p:set>
                                    <p:animEffect transition="in" filter="dissolve">
                                      <p:cBhvr>
                                        <p:cTn id="46"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26" grpId="0"/>
      <p:bldP spid="233" grpId="0" animBg="1"/>
      <p:bldP spid="241" grpId="0"/>
      <p:bldP spid="242" grpId="0"/>
      <p:bldP spid="7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09600" y="1042307"/>
            <a:ext cx="8544983" cy="670967"/>
          </a:xfrm>
        </p:spPr>
        <p:txBody>
          <a:bodyPr>
            <a:normAutofit/>
          </a:bodyPr>
          <a:lstStyle/>
          <a:p>
            <a:r>
              <a:rPr lang="en-US" sz="3600" dirty="0"/>
              <a:t>TCP: from slow start to congestion avoidance</a:t>
            </a:r>
            <a:endParaRPr lang="en-US" b="0" dirty="0"/>
          </a:p>
        </p:txBody>
      </p:sp>
      <p:sp>
        <p:nvSpPr>
          <p:cNvPr id="76" name="Rectangle 3">
            <a:extLst>
              <a:ext uri="{FF2B5EF4-FFF2-40B4-BE49-F238E27FC236}">
                <a16:creationId xmlns:a16="http://schemas.microsoft.com/office/drawing/2014/main" id="{2C9AD9FD-A93B-FF4D-B019-6827A14601C2}"/>
              </a:ext>
            </a:extLst>
          </p:cNvPr>
          <p:cNvSpPr txBox="1">
            <a:spLocks noChangeArrowheads="1"/>
          </p:cNvSpPr>
          <p:nvPr/>
        </p:nvSpPr>
        <p:spPr>
          <a:xfrm>
            <a:off x="714375" y="1894249"/>
            <a:ext cx="3790950" cy="14287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None/>
              <a:defRPr/>
            </a:pPr>
            <a:r>
              <a:rPr lang="en-US" sz="2100" i="1" dirty="0">
                <a:solidFill>
                  <a:srgbClr val="C00000"/>
                </a:solidFill>
              </a:rPr>
              <a:t>Q: </a:t>
            </a:r>
            <a:r>
              <a:rPr lang="en-US" sz="2100" dirty="0">
                <a:solidFill>
                  <a:prstClr val="black"/>
                </a:solidFill>
              </a:rPr>
              <a:t>when should the exponential increase switch to linear? </a:t>
            </a:r>
          </a:p>
          <a:p>
            <a:pPr fontAlgn="auto">
              <a:spcAft>
                <a:spcPts val="0"/>
              </a:spcAft>
              <a:buNone/>
              <a:defRPr/>
            </a:pPr>
            <a:r>
              <a:rPr lang="en-US" sz="2100" i="1" dirty="0">
                <a:solidFill>
                  <a:srgbClr val="C00000"/>
                </a:solidFill>
              </a:rPr>
              <a:t>A: </a:t>
            </a:r>
            <a:r>
              <a:rPr lang="en-US" sz="2100" dirty="0">
                <a:solidFill>
                  <a:prstClr val="black"/>
                </a:solidFill>
              </a:rPr>
              <a:t>when </a:t>
            </a:r>
            <a:r>
              <a:rPr lang="en-US" sz="2100" b="1" dirty="0" err="1">
                <a:solidFill>
                  <a:prstClr val="black"/>
                </a:solidFill>
                <a:latin typeface="Courier New" charset="0"/>
              </a:rPr>
              <a:t>cwnd</a:t>
            </a:r>
            <a:r>
              <a:rPr lang="en-US" sz="2100" dirty="0">
                <a:solidFill>
                  <a:prstClr val="black"/>
                </a:solidFill>
              </a:rPr>
              <a:t> gets to 1/2 of its value before timeout.</a:t>
            </a:r>
          </a:p>
        </p:txBody>
      </p:sp>
      <p:sp>
        <p:nvSpPr>
          <p:cNvPr id="77" name="Rectangle 4">
            <a:extLst>
              <a:ext uri="{FF2B5EF4-FFF2-40B4-BE49-F238E27FC236}">
                <a16:creationId xmlns:a16="http://schemas.microsoft.com/office/drawing/2014/main" id="{38B71F69-39D9-954A-BA33-6A5861B7704D}"/>
              </a:ext>
            </a:extLst>
          </p:cNvPr>
          <p:cNvSpPr txBox="1">
            <a:spLocks noChangeArrowheads="1"/>
          </p:cNvSpPr>
          <p:nvPr/>
        </p:nvSpPr>
        <p:spPr>
          <a:xfrm>
            <a:off x="714375" y="3503974"/>
            <a:ext cx="3695700" cy="1428750"/>
          </a:xfrm>
          <a:prstGeom prst="rect">
            <a:avLst/>
          </a:prstGeom>
        </p:spPr>
        <p:txBody>
          <a:bodyPr vert="horz" lIns="68580" tIns="34290" rIns="68580" bIns="3429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None/>
              <a:defRPr/>
            </a:pPr>
            <a:r>
              <a:rPr lang="en-US" sz="2400" dirty="0">
                <a:solidFill>
                  <a:srgbClr val="C00000"/>
                </a:solidFill>
              </a:rPr>
              <a:t>Implementation:</a:t>
            </a:r>
          </a:p>
          <a:p>
            <a:pPr fontAlgn="auto">
              <a:spcAft>
                <a:spcPts val="0"/>
              </a:spcAft>
              <a:buFont typeface="Wingdings" charset="2"/>
              <a:buChar char="§"/>
              <a:defRPr/>
            </a:pPr>
            <a:r>
              <a:rPr lang="en-US" sz="1800" dirty="0">
                <a:solidFill>
                  <a:prstClr val="black"/>
                </a:solidFill>
              </a:rPr>
              <a:t>variable </a:t>
            </a:r>
            <a:r>
              <a:rPr lang="en-US" sz="1800" b="1" dirty="0" err="1">
                <a:solidFill>
                  <a:prstClr val="black"/>
                </a:solidFill>
                <a:latin typeface="Courier New" charset="0"/>
              </a:rPr>
              <a:t>ssthresh</a:t>
            </a:r>
            <a:r>
              <a:rPr lang="en-US" sz="1800" dirty="0">
                <a:solidFill>
                  <a:prstClr val="black"/>
                </a:solidFill>
                <a:latin typeface="Courier New" charset="0"/>
              </a:rPr>
              <a:t> </a:t>
            </a:r>
          </a:p>
          <a:p>
            <a:pPr fontAlgn="auto">
              <a:spcAft>
                <a:spcPts val="0"/>
              </a:spcAft>
              <a:buFont typeface="Wingdings" charset="2"/>
              <a:buChar char="§"/>
              <a:defRPr/>
            </a:pPr>
            <a:r>
              <a:rPr lang="en-US" sz="1800" dirty="0">
                <a:solidFill>
                  <a:prstClr val="black"/>
                </a:solidFill>
              </a:rPr>
              <a:t>on loss event, </a:t>
            </a:r>
            <a:r>
              <a:rPr lang="en-US" sz="1800" b="1" dirty="0" err="1">
                <a:solidFill>
                  <a:prstClr val="black"/>
                </a:solidFill>
                <a:latin typeface="Courier New" charset="0"/>
              </a:rPr>
              <a:t>ssthresh</a:t>
            </a:r>
            <a:r>
              <a:rPr lang="en-US" sz="1800" dirty="0">
                <a:solidFill>
                  <a:prstClr val="black"/>
                </a:solidFill>
              </a:rPr>
              <a:t> is set to 1/2 of </a:t>
            </a:r>
            <a:r>
              <a:rPr lang="en-US" sz="1800" b="1" dirty="0" err="1">
                <a:solidFill>
                  <a:prstClr val="black"/>
                </a:solidFill>
                <a:latin typeface="Courier New" charset="0"/>
              </a:rPr>
              <a:t>cwnd</a:t>
            </a:r>
            <a:r>
              <a:rPr lang="en-US" sz="1800" dirty="0">
                <a:solidFill>
                  <a:prstClr val="black"/>
                </a:solidFill>
                <a:latin typeface="Courier New" charset="0"/>
              </a:rPr>
              <a:t> </a:t>
            </a:r>
            <a:r>
              <a:rPr lang="en-US" sz="1800" dirty="0">
                <a:solidFill>
                  <a:prstClr val="black"/>
                </a:solidFill>
              </a:rPr>
              <a:t>just before loss event</a:t>
            </a:r>
          </a:p>
        </p:txBody>
      </p:sp>
      <p:pic>
        <p:nvPicPr>
          <p:cNvPr id="79" name="Picture 7">
            <a:extLst>
              <a:ext uri="{FF2B5EF4-FFF2-40B4-BE49-F238E27FC236}">
                <a16:creationId xmlns:a16="http://schemas.microsoft.com/office/drawing/2014/main" id="{E19775EA-E95E-BD43-909F-67A89A00E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6040" y="2274259"/>
            <a:ext cx="4152662" cy="23681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80" name="TextBox 1">
            <a:extLst>
              <a:ext uri="{FF2B5EF4-FFF2-40B4-BE49-F238E27FC236}">
                <a16:creationId xmlns:a16="http://schemas.microsoft.com/office/drawing/2014/main" id="{E6044695-E347-A24B-9CB7-78BC77131884}"/>
              </a:ext>
            </a:extLst>
          </p:cNvPr>
          <p:cNvSpPr txBox="1">
            <a:spLocks noChangeArrowheads="1"/>
          </p:cNvSpPr>
          <p:nvPr/>
        </p:nvSpPr>
        <p:spPr bwMode="auto">
          <a:xfrm>
            <a:off x="857251" y="5458734"/>
            <a:ext cx="731758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eaLnBrk="1" fontAlgn="auto" hangingPunct="1">
              <a:spcBef>
                <a:spcPts val="0"/>
              </a:spcBef>
              <a:spcAft>
                <a:spcPts val="0"/>
              </a:spcAft>
              <a:defRPr/>
            </a:pPr>
            <a:r>
              <a:rPr lang="en-US" altLang="en-US" sz="1050" dirty="0">
                <a:solidFill>
                  <a:prstClr val="black"/>
                </a:solidFill>
                <a:latin typeface="Arial" panose="020B0604020202020204" pitchFamily="34" charset="0"/>
              </a:rPr>
              <a:t>* Check out the online interactive exercises for more examples: h</a:t>
            </a:r>
            <a:r>
              <a:rPr lang="en-US" altLang="en-US" sz="900" dirty="0">
                <a:solidFill>
                  <a:prstClr val="black"/>
                </a:solidFill>
                <a:latin typeface="Arial" panose="020B0604020202020204" pitchFamily="34" charset="0"/>
              </a:rPr>
              <a:t>ttp://</a:t>
            </a:r>
            <a:r>
              <a:rPr lang="en-US" altLang="en-US" sz="900" dirty="0" err="1">
                <a:solidFill>
                  <a:prstClr val="black"/>
                </a:solidFill>
                <a:latin typeface="Arial" panose="020B0604020202020204" pitchFamily="34" charset="0"/>
              </a:rPr>
              <a:t>gaia.cs.umass.edu</a:t>
            </a:r>
            <a:r>
              <a:rPr lang="en-US" altLang="en-US" sz="900" dirty="0">
                <a:solidFill>
                  <a:prstClr val="black"/>
                </a:solidFill>
                <a:latin typeface="Arial" panose="020B0604020202020204" pitchFamily="34" charset="0"/>
              </a:rPr>
              <a:t>/</a:t>
            </a:r>
            <a:r>
              <a:rPr lang="en-US" altLang="en-US" sz="900" dirty="0" err="1">
                <a:solidFill>
                  <a:prstClr val="black"/>
                </a:solidFill>
                <a:latin typeface="Arial" panose="020B0604020202020204" pitchFamily="34" charset="0"/>
              </a:rPr>
              <a:t>kurose_ross</a:t>
            </a:r>
            <a:r>
              <a:rPr lang="en-US" altLang="en-US" sz="900" dirty="0">
                <a:solidFill>
                  <a:prstClr val="black"/>
                </a:solidFill>
                <a:latin typeface="Arial" panose="020B0604020202020204" pitchFamily="34" charset="0"/>
              </a:rPr>
              <a:t>/interactive/</a:t>
            </a:r>
          </a:p>
        </p:txBody>
      </p:sp>
      <p:sp>
        <p:nvSpPr>
          <p:cNvPr id="7" name="Rectangle 6">
            <a:extLst>
              <a:ext uri="{FF2B5EF4-FFF2-40B4-BE49-F238E27FC236}">
                <a16:creationId xmlns:a16="http://schemas.microsoft.com/office/drawing/2014/main" id="{7E5A3F5F-F42B-F04E-BB6A-D57835C29067}"/>
              </a:ext>
            </a:extLst>
          </p:cNvPr>
          <p:cNvSpPr/>
          <p:nvPr/>
        </p:nvSpPr>
        <p:spPr>
          <a:xfrm>
            <a:off x="5888831" y="3726657"/>
            <a:ext cx="638175" cy="1500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12" name="Rectangle 11">
            <a:extLst>
              <a:ext uri="{FF2B5EF4-FFF2-40B4-BE49-F238E27FC236}">
                <a16:creationId xmlns:a16="http://schemas.microsoft.com/office/drawing/2014/main" id="{79BEA2FA-AD20-B940-ADBA-D9DD40684573}"/>
              </a:ext>
            </a:extLst>
          </p:cNvPr>
          <p:cNvSpPr/>
          <p:nvPr/>
        </p:nvSpPr>
        <p:spPr>
          <a:xfrm>
            <a:off x="5757863" y="3800476"/>
            <a:ext cx="638175" cy="34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pic>
        <p:nvPicPr>
          <p:cNvPr id="8" name="Picture 7">
            <a:extLst>
              <a:ext uri="{FF2B5EF4-FFF2-40B4-BE49-F238E27FC236}">
                <a16:creationId xmlns:a16="http://schemas.microsoft.com/office/drawing/2014/main" id="{D72B7EED-D8C9-284D-9A93-58D1D9D479F7}"/>
              </a:ext>
            </a:extLst>
          </p:cNvPr>
          <p:cNvPicPr>
            <a:picLocks noChangeAspect="1"/>
          </p:cNvPicPr>
          <p:nvPr/>
        </p:nvPicPr>
        <p:blipFill>
          <a:blip r:embed="rId4"/>
          <a:stretch>
            <a:fillRect/>
          </a:stretch>
        </p:blipFill>
        <p:spPr>
          <a:xfrm>
            <a:off x="7515225" y="3710623"/>
            <a:ext cx="752475" cy="175577"/>
          </a:xfrm>
          <a:prstGeom prst="rect">
            <a:avLst/>
          </a:prstGeom>
        </p:spPr>
      </p:pic>
      <p:sp>
        <p:nvSpPr>
          <p:cNvPr id="4" name="Rectangle 3">
            <a:extLst>
              <a:ext uri="{FF2B5EF4-FFF2-40B4-BE49-F238E27FC236}">
                <a16:creationId xmlns:a16="http://schemas.microsoft.com/office/drawing/2014/main" id="{F9E33F83-60EE-F54A-B838-917BE2E70995}"/>
              </a:ext>
            </a:extLst>
          </p:cNvPr>
          <p:cNvSpPr/>
          <p:nvPr/>
        </p:nvSpPr>
        <p:spPr>
          <a:xfrm>
            <a:off x="6896100" y="2276475"/>
            <a:ext cx="1600200" cy="1866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defRPr/>
            </a:pPr>
            <a:endParaRPr lang="en-US" sz="1350">
              <a:solidFill>
                <a:prstClr val="white"/>
              </a:solidFill>
            </a:endParaRPr>
          </a:p>
        </p:txBody>
      </p:sp>
      <p:sp>
        <p:nvSpPr>
          <p:cNvPr id="5" name="TextBox 4">
            <a:extLst>
              <a:ext uri="{FF2B5EF4-FFF2-40B4-BE49-F238E27FC236}">
                <a16:creationId xmlns:a16="http://schemas.microsoft.com/office/drawing/2014/main" id="{7A184EDA-6A29-2941-A0A9-C122E26F942B}"/>
              </a:ext>
            </a:extLst>
          </p:cNvPr>
          <p:cNvSpPr txBox="1"/>
          <p:nvPr/>
        </p:nvSpPr>
        <p:spPr>
          <a:xfrm>
            <a:off x="6800850" y="2505075"/>
            <a:ext cx="279244" cy="300082"/>
          </a:xfrm>
          <a:prstGeom prst="rect">
            <a:avLst/>
          </a:prstGeom>
          <a:noFill/>
        </p:spPr>
        <p:txBody>
          <a:bodyPr wrap="none" rtlCol="0">
            <a:spAutoFit/>
          </a:bodyPr>
          <a:lstStyle/>
          <a:p>
            <a:pPr eaLnBrk="1" fontAlgn="auto" hangingPunct="1">
              <a:spcBef>
                <a:spcPts val="0"/>
              </a:spcBef>
              <a:spcAft>
                <a:spcPts val="0"/>
              </a:spcAft>
              <a:defRPr/>
            </a:pPr>
            <a:r>
              <a:rPr lang="en-US" sz="1350" b="1" dirty="0">
                <a:solidFill>
                  <a:srgbClr val="FF0000"/>
                </a:solidFill>
                <a:latin typeface="Calibri"/>
                <a:ea typeface="+mn-ea"/>
              </a:rPr>
              <a:t>X</a:t>
            </a:r>
          </a:p>
        </p:txBody>
      </p:sp>
      <p:sp>
        <p:nvSpPr>
          <p:cNvPr id="13" name="Slide Number Placeholder 2">
            <a:extLst>
              <a:ext uri="{FF2B5EF4-FFF2-40B4-BE49-F238E27FC236}">
                <a16:creationId xmlns:a16="http://schemas.microsoft.com/office/drawing/2014/main" id="{632F645E-415D-7B49-B6B8-127E8033C54D}"/>
              </a:ext>
            </a:extLst>
          </p:cNvPr>
          <p:cNvSpPr>
            <a:spLocks noGrp="1"/>
          </p:cNvSpPr>
          <p:nvPr>
            <p:ph type="sldNum" sz="quarter" idx="4"/>
          </p:nvPr>
        </p:nvSpPr>
        <p:spPr>
          <a:xfrm>
            <a:off x="6914712" y="5689567"/>
            <a:ext cx="2057400" cy="273844"/>
          </a:xfrm>
        </p:spPr>
        <p:txBody>
          <a:bodyPr/>
          <a:lstStyle/>
          <a:p>
            <a:r>
              <a:rPr lang="en-US" dirty="0">
                <a:solidFill>
                  <a:prstClr val="white">
                    <a:lumMod val="50000"/>
                  </a:prstClr>
                </a:solidFill>
              </a:rPr>
              <a:t>Transport Layer: 3-</a:t>
            </a:r>
            <a:fld id="{C4204591-24BD-A542-B9D5-F8D8A88D2FEE}" type="slidenum">
              <a:rPr lang="en-US" smtClean="0">
                <a:solidFill>
                  <a:prstClr val="white">
                    <a:lumMod val="50000"/>
                  </a:prstClr>
                </a:solidFill>
              </a:rPr>
              <a:pPr/>
              <a:t>86</a:t>
            </a:fld>
            <a:endParaRPr lang="en-US" dirty="0">
              <a:solidFill>
                <a:prstClr val="white">
                  <a:lumMod val="50000"/>
                </a:prstClr>
              </a:solidFill>
            </a:endParaRPr>
          </a:p>
        </p:txBody>
      </p:sp>
    </p:spTree>
    <p:extLst>
      <p:ext uri="{BB962C8B-B14F-4D97-AF65-F5344CB8AC3E}">
        <p14:creationId xmlns:p14="http://schemas.microsoft.com/office/powerpoint/2010/main" val="187042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dissolv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dissolve">
                                      <p:cBhvr>
                                        <p:cTn id="17"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80" grpId="0"/>
      <p:bldP spid="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pPr algn="ctr"/>
            <a:r>
              <a:rPr lang="en-US">
                <a:ea typeface="ＭＳ Ｐゴシック" panose="020B0600070205080204" pitchFamily="34" charset="-128"/>
              </a:rPr>
              <a:t>Questions????</a:t>
            </a:r>
          </a:p>
        </p:txBody>
      </p:sp>
      <p:sp>
        <p:nvSpPr>
          <p:cNvPr id="16077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fld id="{D1229CAC-C14F-450E-8E03-AC3713A2B16D}" type="slidenum">
              <a:rPr lang="en-US" sz="1400" smtClean="0">
                <a:latin typeface="Arial Narrow" panose="020B0606020202030204" pitchFamily="34" charset="0"/>
              </a:rPr>
              <a:pPr>
                <a:lnSpc>
                  <a:spcPct val="100000"/>
                </a:lnSpc>
                <a:spcBef>
                  <a:spcPct val="0"/>
                </a:spcBef>
                <a:buClrTx/>
                <a:buSzTx/>
                <a:buFontTx/>
                <a:buNone/>
              </a:pPr>
              <a:t>87</a:t>
            </a:fld>
            <a:endParaRPr lang="en-US" sz="1400">
              <a:latin typeface="Arial Narrow" panose="020B0606020202030204" pitchFamily="34" charset="0"/>
            </a:endParaRPr>
          </a:p>
        </p:txBody>
      </p:sp>
      <p:sp>
        <p:nvSpPr>
          <p:cNvPr id="16388" name="Footer Placeholder 6"/>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sz="1400">
                <a:latin typeface="Arial Narrow" pitchFamily="34" charset="0"/>
              </a:rPr>
              <a:t>Introduction</a:t>
            </a:r>
          </a:p>
        </p:txBody>
      </p:sp>
    </p:spTree>
  </p:cSld>
  <p:clrMapOvr>
    <a:masterClrMapping/>
  </p:clrMapOvr>
</p:sld>
</file>

<file path=ppt/theme/theme1.xml><?xml version="1.0" encoding="utf-8"?>
<a:theme xmlns:a="http://schemas.openxmlformats.org/drawingml/2006/main" name="12_Default Design">
  <a:themeElements>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2_Default Design">
      <a:majorFont>
        <a:latin typeface="Gill Sans MT"/>
        <a:ea typeface=""/>
        <a:cs typeface="Arial"/>
      </a:majorFont>
      <a:minorFont>
        <a:latin typeface="Gill Sans MT"/>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2_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2_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2_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2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2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2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24696</TotalTime>
  <Words>9976</Words>
  <Application>Microsoft Office PowerPoint</Application>
  <PresentationFormat>On-screen Show (4:3)</PresentationFormat>
  <Paragraphs>1954</Paragraphs>
  <Slides>87</Slides>
  <Notes>83</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87</vt:i4>
      </vt:variant>
    </vt:vector>
  </HeadingPairs>
  <TitlesOfParts>
    <vt:vector size="103" baseType="lpstr">
      <vt:lpstr>ＭＳ Ｐゴシック</vt:lpstr>
      <vt:lpstr>Arial</vt:lpstr>
      <vt:lpstr>Arial Narrow</vt:lpstr>
      <vt:lpstr>Calibri</vt:lpstr>
      <vt:lpstr>Comic Sans MS</vt:lpstr>
      <vt:lpstr>Courier</vt:lpstr>
      <vt:lpstr>Courier New</vt:lpstr>
      <vt:lpstr>Courier Std</vt:lpstr>
      <vt:lpstr>Gill Sans MT</vt:lpstr>
      <vt:lpstr>Symbol</vt:lpstr>
      <vt:lpstr>Tahoma</vt:lpstr>
      <vt:lpstr>Times New Roman</vt:lpstr>
      <vt:lpstr>Wingdings</vt:lpstr>
      <vt:lpstr>12_Default Design</vt:lpstr>
      <vt:lpstr>Office Theme</vt:lpstr>
      <vt:lpstr>Picture</vt:lpstr>
      <vt:lpstr>PowerPoint Presentation</vt:lpstr>
      <vt:lpstr>Transport layer: overview</vt:lpstr>
      <vt:lpstr>Transport services and protocols</vt:lpstr>
      <vt:lpstr>Transport vs. network layer services and protocols</vt:lpstr>
      <vt:lpstr>Transport Layer Actions</vt:lpstr>
      <vt:lpstr>Transport Layer Actions</vt:lpstr>
      <vt:lpstr>Two principal Internet transport protocols</vt:lpstr>
      <vt:lpstr>Multiplexing/demultiplexing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demultiplexing works</vt:lpstr>
      <vt:lpstr>UDP: User Datagram Protocol</vt:lpstr>
      <vt:lpstr>UDP: User Datagram Protocol</vt:lpstr>
      <vt:lpstr>UDP: Transport Layer Actions</vt:lpstr>
      <vt:lpstr>UDP: Transport Layer Actions</vt:lpstr>
      <vt:lpstr>UDP: Transport Layer Actions</vt:lpstr>
      <vt:lpstr>UDP segment header</vt:lpstr>
      <vt:lpstr>UDP checksum</vt:lpstr>
      <vt:lpstr>Internet checksum</vt:lpstr>
      <vt:lpstr>Internet checksum: an example</vt:lpstr>
      <vt:lpstr>Internet checksum: weak protection!</vt:lpstr>
      <vt:lpstr>Principles of reliable data transfer </vt:lpstr>
      <vt:lpstr>Principles of reliable data transfer </vt:lpstr>
      <vt:lpstr>Principles of reliable data transfer </vt:lpstr>
      <vt:lpstr>Principles of reliable data transfer </vt:lpstr>
      <vt:lpstr>Reliable data transfer protocol (rdt): interfaces</vt:lpstr>
      <vt:lpstr>Reliable data transfer: getting started</vt:lpstr>
      <vt:lpstr>rdt1.0: reliable transfer over a reliable channel</vt:lpstr>
      <vt:lpstr>rdt2.0: channel with bit errors</vt:lpstr>
      <vt:lpstr>rdt2.0: channel with bit errors</vt:lpstr>
      <vt:lpstr>rdt2.0: FSM specifications</vt:lpstr>
      <vt:lpstr>rdt2.0: FSM specification</vt:lpstr>
      <vt:lpstr>rdt2.0: operation with no errors</vt:lpstr>
      <vt:lpstr>rdt2.0: corrupted packet scenario</vt:lpstr>
      <vt:lpstr>rdt2.0 has a fatal flaw!</vt:lpstr>
      <vt:lpstr>rdt2.1: sender, handling garbled ACK/NAKs</vt:lpstr>
      <vt:lpstr>rdt2.1: receiver, handling garbled ACK/NAKs</vt:lpstr>
      <vt:lpstr>rdt2.1: discussion</vt:lpstr>
      <vt:lpstr>rdt2.2: a NAK-free protocol</vt:lpstr>
      <vt:lpstr>rdt2.2: sender, receiver fragments</vt:lpstr>
      <vt:lpstr>rdt3.0: channels with errors and loss</vt:lpstr>
      <vt:lpstr>rdt3.0: channels with errors and loss</vt:lpstr>
      <vt:lpstr>rdt3.0 sender</vt:lpstr>
      <vt:lpstr>rdt3.0 sender</vt:lpstr>
      <vt:lpstr>rdt3.0 in action</vt:lpstr>
      <vt:lpstr>rdt3.0 in action</vt:lpstr>
      <vt:lpstr>Performance of rdt3.0 (stop-and-wait)</vt:lpstr>
      <vt:lpstr>rdt3.0: stop-and-wait operation</vt:lpstr>
      <vt:lpstr>rdt3.0: stop-and-wait operation</vt:lpstr>
      <vt:lpstr>rdt3.0: pipelined protocols operation</vt:lpstr>
      <vt:lpstr>Pipelining: increased utilization</vt:lpstr>
      <vt:lpstr>Go-Back-N: sender</vt:lpstr>
      <vt:lpstr>Go-Back-N: receiver</vt:lpstr>
      <vt:lpstr>Go-Back-N in action</vt:lpstr>
      <vt:lpstr>Selective Repeat in action</vt:lpstr>
      <vt:lpstr>TCP: overview  RFCs: 793,1122, 2018, 5681, 7323</vt:lpstr>
      <vt:lpstr>TCP segment structure</vt:lpstr>
      <vt:lpstr>TCP sequence numbers, ACKs</vt:lpstr>
      <vt:lpstr>TCP sequence numbers, ACKs</vt:lpstr>
      <vt:lpstr>TCP Sender (simplified)</vt:lpstr>
      <vt:lpstr>TCP Receiver: ACK generation [RFC 5681]</vt:lpstr>
      <vt:lpstr>TCP: retransmission scenarios</vt:lpstr>
      <vt:lpstr>TCP: retransmission scenarios</vt:lpstr>
      <vt:lpstr>TCP fast retransmit</vt:lpstr>
      <vt:lpstr>TCP flow control</vt:lpstr>
      <vt:lpstr>TCP flow control</vt:lpstr>
      <vt:lpstr>TCP flow control</vt:lpstr>
      <vt:lpstr>TCP flow control</vt:lpstr>
      <vt:lpstr>TCP flow control</vt:lpstr>
      <vt:lpstr>TCP flow control</vt:lpstr>
      <vt:lpstr>TCP 3-way handshake</vt:lpstr>
      <vt:lpstr>Closing a TCP connection</vt:lpstr>
      <vt:lpstr>Closing a TCP connection</vt:lpstr>
      <vt:lpstr>Principles of congestion control</vt:lpstr>
      <vt:lpstr>Approaches towards congestion control</vt:lpstr>
      <vt:lpstr>Approaches towards congestion control</vt:lpstr>
      <vt:lpstr>TCP congestion control: AIMD</vt:lpstr>
      <vt:lpstr>TCP congestion control: details</vt:lpstr>
      <vt:lpstr>TCP slow start </vt:lpstr>
      <vt:lpstr>TCP: from slow start to congestion avoidance</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4th Edition: Chapter 1</dc:title>
  <dc:creator>Jim Kurose and Keith Ross</dc:creator>
  <cp:lastModifiedBy>Mamun Elahi</cp:lastModifiedBy>
  <cp:revision>290</cp:revision>
  <dcterms:created xsi:type="dcterms:W3CDTF">1999-10-08T19:08:27Z</dcterms:created>
  <dcterms:modified xsi:type="dcterms:W3CDTF">2025-09-16T02:24:37Z</dcterms:modified>
</cp:coreProperties>
</file>