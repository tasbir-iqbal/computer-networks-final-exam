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 id="2147483667" r:id="rId7"/>
    <p:sldMasterId id="2147483672"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Lst>
  <p:sldSz cy="6858000" cx="12192000"/>
  <p:notesSz cx="6858000" cy="9144000"/>
  <p:embeddedFontLst>
    <p:embeddedFont>
      <p:font typeface="Tahoma"/>
      <p:regular r:id="rId98"/>
      <p:bold r:id="rId99"/>
    </p:embeddedFont>
    <p:embeddedFont>
      <p:font typeface="Gill Sans"/>
      <p:regular r:id="rId100"/>
      <p:bold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440">
          <p15:clr>
            <a:srgbClr val="A4A3A4"/>
          </p15:clr>
        </p15:guide>
        <p15:guide id="2" orient="horz" pos="3528">
          <p15:clr>
            <a:srgbClr val="A4A3A4"/>
          </p15:clr>
        </p15:guide>
      </p15:sldGuideLst>
    </p:ext>
    <p:ext uri="GoogleSlidesCustomDataVersion2">
      <go:slidesCustomData xmlns:go="http://customooxmlschemas.google.com/" r:id="rId102" roundtripDataSignature="AMtx7mhTzHC9/BrAKpI1HlwkYg9x9MTw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E968C8-3ED9-4231-9F66-C6A1EFCAA592}">
  <a:tblStyle styleId="{13E968C8-3ED9-4231-9F66-C6A1EFCAA59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40"/>
        <p:guide pos="352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102" Type="http://customschemas.google.com/relationships/presentationmetadata" Target="metadata"/><Relationship Id="rId101" Type="http://schemas.openxmlformats.org/officeDocument/2006/relationships/font" Target="fonts/GillSans-bold.fntdata"/><Relationship Id="rId100" Type="http://schemas.openxmlformats.org/officeDocument/2006/relationships/font" Target="fonts/GillSans-regular.fntdata"/><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95" Type="http://schemas.openxmlformats.org/officeDocument/2006/relationships/slide" Target="slides/slide86.xml"/><Relationship Id="rId94" Type="http://schemas.openxmlformats.org/officeDocument/2006/relationships/slide" Target="slides/slide85.xml"/><Relationship Id="rId97" Type="http://schemas.openxmlformats.org/officeDocument/2006/relationships/slide" Target="slides/slide88.xml"/><Relationship Id="rId96" Type="http://schemas.openxmlformats.org/officeDocument/2006/relationships/slide" Target="slides/slide87.xml"/><Relationship Id="rId11" Type="http://schemas.openxmlformats.org/officeDocument/2006/relationships/slide" Target="slides/slide2.xml"/><Relationship Id="rId99" Type="http://schemas.openxmlformats.org/officeDocument/2006/relationships/font" Target="fonts/Tahoma-bold.fntdata"/><Relationship Id="rId10" Type="http://schemas.openxmlformats.org/officeDocument/2006/relationships/slide" Target="slides/slide1.xml"/><Relationship Id="rId98" Type="http://schemas.openxmlformats.org/officeDocument/2006/relationships/font" Target="fonts/Tahoma-regular.fntdata"/><Relationship Id="rId13" Type="http://schemas.openxmlformats.org/officeDocument/2006/relationships/slide" Target="slides/slide4.xml"/><Relationship Id="rId12" Type="http://schemas.openxmlformats.org/officeDocument/2006/relationships/slide" Target="slides/slide3.xml"/><Relationship Id="rId91" Type="http://schemas.openxmlformats.org/officeDocument/2006/relationships/slide" Target="slides/slide82.xml"/><Relationship Id="rId90" Type="http://schemas.openxmlformats.org/officeDocument/2006/relationships/slide" Target="slides/slide81.xml"/><Relationship Id="rId93" Type="http://schemas.openxmlformats.org/officeDocument/2006/relationships/slide" Target="slides/slide84.xml"/><Relationship Id="rId92" Type="http://schemas.openxmlformats.org/officeDocument/2006/relationships/slide" Target="slides/slide8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 Id="rId84" Type="http://schemas.openxmlformats.org/officeDocument/2006/relationships/slide" Target="slides/slide75.xml"/><Relationship Id="rId83" Type="http://schemas.openxmlformats.org/officeDocument/2006/relationships/slide" Target="slides/slide74.xml"/><Relationship Id="rId86" Type="http://schemas.openxmlformats.org/officeDocument/2006/relationships/slide" Target="slides/slide77.xml"/><Relationship Id="rId85" Type="http://schemas.openxmlformats.org/officeDocument/2006/relationships/slide" Target="slides/slide76.xml"/><Relationship Id="rId88" Type="http://schemas.openxmlformats.org/officeDocument/2006/relationships/slide" Target="slides/slide79.xml"/><Relationship Id="rId87" Type="http://schemas.openxmlformats.org/officeDocument/2006/relationships/slide" Target="slides/slide78.xml"/><Relationship Id="rId89" Type="http://schemas.openxmlformats.org/officeDocument/2006/relationships/slide" Target="slides/slide80.xml"/><Relationship Id="rId80" Type="http://schemas.openxmlformats.org/officeDocument/2006/relationships/slide" Target="slides/slide71.xml"/><Relationship Id="rId82" Type="http://schemas.openxmlformats.org/officeDocument/2006/relationships/slide" Target="slides/slide73.xml"/><Relationship Id="rId81" Type="http://schemas.openxmlformats.org/officeDocument/2006/relationships/slide" Target="slides/slide72.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64.xml"/><Relationship Id="rId72" Type="http://schemas.openxmlformats.org/officeDocument/2006/relationships/slide" Target="slides/slide63.xml"/><Relationship Id="rId75" Type="http://schemas.openxmlformats.org/officeDocument/2006/relationships/slide" Target="slides/slide66.xml"/><Relationship Id="rId74" Type="http://schemas.openxmlformats.org/officeDocument/2006/relationships/slide" Target="slides/slide65.xml"/><Relationship Id="rId77" Type="http://schemas.openxmlformats.org/officeDocument/2006/relationships/slide" Target="slides/slide68.xml"/><Relationship Id="rId76" Type="http://schemas.openxmlformats.org/officeDocument/2006/relationships/slide" Target="slides/slide67.xml"/><Relationship Id="rId79" Type="http://schemas.openxmlformats.org/officeDocument/2006/relationships/slide" Target="slides/slide70.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62" Type="http://schemas.openxmlformats.org/officeDocument/2006/relationships/slide" Target="slides/slide53.xml"/><Relationship Id="rId61" Type="http://schemas.openxmlformats.org/officeDocument/2006/relationships/slide" Target="slides/slide52.xml"/><Relationship Id="rId64" Type="http://schemas.openxmlformats.org/officeDocument/2006/relationships/slide" Target="slides/slide55.xml"/><Relationship Id="rId63" Type="http://schemas.openxmlformats.org/officeDocument/2006/relationships/slide" Target="slides/slide54.xml"/><Relationship Id="rId66" Type="http://schemas.openxmlformats.org/officeDocument/2006/relationships/slide" Target="slides/slide57.xml"/><Relationship Id="rId65" Type="http://schemas.openxmlformats.org/officeDocument/2006/relationships/slide" Target="slides/slide56.xml"/><Relationship Id="rId68" Type="http://schemas.openxmlformats.org/officeDocument/2006/relationships/slide" Target="slides/slide59.xml"/><Relationship Id="rId67" Type="http://schemas.openxmlformats.org/officeDocument/2006/relationships/slide" Target="slides/slide58.xml"/><Relationship Id="rId60" Type="http://schemas.openxmlformats.org/officeDocument/2006/relationships/slide" Target="slides/slide51.xml"/><Relationship Id="rId69" Type="http://schemas.openxmlformats.org/officeDocument/2006/relationships/slide" Target="slides/slide6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55" Type="http://schemas.openxmlformats.org/officeDocument/2006/relationships/slide" Target="slides/slide46.xml"/><Relationship Id="rId54" Type="http://schemas.openxmlformats.org/officeDocument/2006/relationships/slide" Target="slides/slide45.xml"/><Relationship Id="rId57" Type="http://schemas.openxmlformats.org/officeDocument/2006/relationships/slide" Target="slides/slide48.xml"/><Relationship Id="rId56" Type="http://schemas.openxmlformats.org/officeDocument/2006/relationships/slide" Target="slides/slide47.xml"/><Relationship Id="rId59" Type="http://schemas.openxmlformats.org/officeDocument/2006/relationships/slide" Target="slides/slide50.xml"/><Relationship Id="rId58"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5" name="Google Shape;8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 for this animation: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all works out pretty nice and looks pretty simple!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But of course the devil is in the details, as the saying goes.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a:p>
        </p:txBody>
      </p:sp>
      <p:sp>
        <p:nvSpPr>
          <p:cNvPr id="816" name="Google Shape;8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1" name="Google Shape;8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5" name="Google Shape;93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2" name="Google Shape;9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6" name="Google Shape;101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9" name="Google Shape;109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4" name="Google Shape;117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0" name="Google Shape;125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1" name="Google Shape;125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2" name="Google Shape;134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3" name="Google Shape;134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8" name="Google Shape;14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9" name="Google Shape;140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3" name="Google Shape;148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4" name="Google Shape;148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4" name="Google Shape;159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5" name="Google Shape;159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1" name="Google Shape;161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2" name="Google Shape;161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0" name="Google Shape;162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1" name="Google Shape;162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9" name="Google Shape;162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0" name="Google Shape;163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9" name="Google Shape;175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0" name="Google Shape;176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6" name="Google Shape;185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7" name="Google Shape;185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4" name="Google Shape;186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5" name="Google Shape;186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8" name="Shape 2058"/>
        <p:cNvGrpSpPr/>
        <p:nvPr/>
      </p:nvGrpSpPr>
      <p:grpSpPr>
        <a:xfrm>
          <a:off x="0" y="0"/>
          <a:ext cx="0" cy="0"/>
          <a:chOff x="0" y="0"/>
          <a:chExt cx="0" cy="0"/>
        </a:xfrm>
      </p:grpSpPr>
      <p:sp>
        <p:nvSpPr>
          <p:cNvPr id="2059" name="Google Shape;205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0" name="Google Shape;206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1" name="Google Shape;2061;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8" name="Shape 2248"/>
        <p:cNvGrpSpPr/>
        <p:nvPr/>
      </p:nvGrpSpPr>
      <p:grpSpPr>
        <a:xfrm>
          <a:off x="0" y="0"/>
          <a:ext cx="0" cy="0"/>
          <a:chOff x="0" y="0"/>
          <a:chExt cx="0" cy="0"/>
        </a:xfrm>
      </p:grpSpPr>
      <p:sp>
        <p:nvSpPr>
          <p:cNvPr id="2249" name="Google Shape;224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0" name="Google Shape;225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1" name="Google Shape;225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0" name="Google Shape;226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1" name="Google Shape;226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8" name="Google Shape;230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9" name="Google Shape;230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2" name="Shape 2362"/>
        <p:cNvGrpSpPr/>
        <p:nvPr/>
      </p:nvGrpSpPr>
      <p:grpSpPr>
        <a:xfrm>
          <a:off x="0" y="0"/>
          <a:ext cx="0" cy="0"/>
          <a:chOff x="0" y="0"/>
          <a:chExt cx="0" cy="0"/>
        </a:xfrm>
      </p:grpSpPr>
      <p:sp>
        <p:nvSpPr>
          <p:cNvPr id="2363" name="Google Shape;236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4" name="Google Shape;236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5" name="Google Shape;236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3" name="Shape 2413"/>
        <p:cNvGrpSpPr/>
        <p:nvPr/>
      </p:nvGrpSpPr>
      <p:grpSpPr>
        <a:xfrm>
          <a:off x="0" y="0"/>
          <a:ext cx="0" cy="0"/>
          <a:chOff x="0" y="0"/>
          <a:chExt cx="0" cy="0"/>
        </a:xfrm>
      </p:grpSpPr>
      <p:sp>
        <p:nvSpPr>
          <p:cNvPr id="2414" name="Google Shape;241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5" name="Google Shape;241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6" name="Google Shape;241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3" name="Shape 2423"/>
        <p:cNvGrpSpPr/>
        <p:nvPr/>
      </p:nvGrpSpPr>
      <p:grpSpPr>
        <a:xfrm>
          <a:off x="0" y="0"/>
          <a:ext cx="0" cy="0"/>
          <a:chOff x="0" y="0"/>
          <a:chExt cx="0" cy="0"/>
        </a:xfrm>
      </p:grpSpPr>
      <p:sp>
        <p:nvSpPr>
          <p:cNvPr id="2424" name="Google Shape;242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5" name="Google Shape;242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6" name="Google Shape;242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8" name="Google Shape;247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9" name="Google Shape;2479;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4" name="Shape 2484"/>
        <p:cNvGrpSpPr/>
        <p:nvPr/>
      </p:nvGrpSpPr>
      <p:grpSpPr>
        <a:xfrm>
          <a:off x="0" y="0"/>
          <a:ext cx="0" cy="0"/>
          <a:chOff x="0" y="0"/>
          <a:chExt cx="0" cy="0"/>
        </a:xfrm>
      </p:grpSpPr>
      <p:sp>
        <p:nvSpPr>
          <p:cNvPr id="2485" name="Google Shape;248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6" name="Google Shape;248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7" name="Google Shape;248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2" name="Shape 2492"/>
        <p:cNvGrpSpPr/>
        <p:nvPr/>
      </p:nvGrpSpPr>
      <p:grpSpPr>
        <a:xfrm>
          <a:off x="0" y="0"/>
          <a:ext cx="0" cy="0"/>
          <a:chOff x="0" y="0"/>
          <a:chExt cx="0" cy="0"/>
        </a:xfrm>
      </p:grpSpPr>
      <p:sp>
        <p:nvSpPr>
          <p:cNvPr id="2493" name="Google Shape;249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4" name="Google Shape;249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5" name="Google Shape;249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8" name="Shape 2608"/>
        <p:cNvGrpSpPr/>
        <p:nvPr/>
      </p:nvGrpSpPr>
      <p:grpSpPr>
        <a:xfrm>
          <a:off x="0" y="0"/>
          <a:ext cx="0" cy="0"/>
          <a:chOff x="0" y="0"/>
          <a:chExt cx="0" cy="0"/>
        </a:xfrm>
      </p:grpSpPr>
      <p:sp>
        <p:nvSpPr>
          <p:cNvPr id="2609" name="Google Shape;260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0" name="Google Shape;261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1" name="Google Shape;261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8" name="Google Shape;261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9" name="Google Shape;2619;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6" name="Shape 2746"/>
        <p:cNvGrpSpPr/>
        <p:nvPr/>
      </p:nvGrpSpPr>
      <p:grpSpPr>
        <a:xfrm>
          <a:off x="0" y="0"/>
          <a:ext cx="0" cy="0"/>
          <a:chOff x="0" y="0"/>
          <a:chExt cx="0" cy="0"/>
        </a:xfrm>
      </p:grpSpPr>
      <p:sp>
        <p:nvSpPr>
          <p:cNvPr id="2747" name="Google Shape;274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8" name="Google Shape;274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9" name="Google Shape;274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1" name="Shape 2811"/>
        <p:cNvGrpSpPr/>
        <p:nvPr/>
      </p:nvGrpSpPr>
      <p:grpSpPr>
        <a:xfrm>
          <a:off x="0" y="0"/>
          <a:ext cx="0" cy="0"/>
          <a:chOff x="0" y="0"/>
          <a:chExt cx="0" cy="0"/>
        </a:xfrm>
      </p:grpSpPr>
      <p:sp>
        <p:nvSpPr>
          <p:cNvPr id="2812" name="Google Shape;281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3" name="Google Shape;281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D6EE"/>
              </a:buClr>
              <a:buSzPts val="1200"/>
              <a:buFont typeface="Calibri"/>
              <a:buNone/>
            </a:pPr>
            <a:r>
              <a:rPr lang="en-US" sz="1200">
                <a:solidFill>
                  <a:srgbClr val="BBD6EE"/>
                </a:solidFill>
              </a:rPr>
              <a:t>8 – Network Layer</a:t>
            </a:r>
            <a:endParaRPr/>
          </a:p>
          <a:p>
            <a:pPr indent="0" lvl="0" marL="0" rtl="0" algn="l">
              <a:spcBef>
                <a:spcPts val="0"/>
              </a:spcBef>
              <a:spcAft>
                <a:spcPts val="0"/>
              </a:spcAft>
              <a:buClr>
                <a:schemeClr val="dk1"/>
              </a:buClr>
              <a:buSzPts val="1200"/>
              <a:buFont typeface="Calibri"/>
              <a:buNone/>
            </a:pPr>
            <a:r>
              <a:rPr b="0" lang="en-US" sz="1200"/>
              <a:t>8.3 – </a:t>
            </a:r>
            <a:r>
              <a:rPr lang="en-US">
                <a:solidFill>
                  <a:srgbClr val="BBD6EE"/>
                </a:solidFill>
              </a:rPr>
              <a:t>IPv6 Packets</a:t>
            </a:r>
            <a:endParaRPr/>
          </a:p>
          <a:p>
            <a:pPr indent="0" lvl="0" marL="0" rtl="0" algn="l">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8.3.1 – </a:t>
            </a:r>
            <a:r>
              <a:rPr lang="en-US"/>
              <a:t>Limitations of IPv4</a:t>
            </a:r>
            <a:endParaRPr/>
          </a:p>
          <a:p>
            <a:pPr indent="0" lvl="0" marL="0" rtl="0" algn="l">
              <a:spcBef>
                <a:spcPts val="0"/>
              </a:spcBef>
              <a:spcAft>
                <a:spcPts val="0"/>
              </a:spcAft>
              <a:buNone/>
            </a:pPr>
            <a:r>
              <a:t/>
            </a:r>
            <a:endParaRPr/>
          </a:p>
        </p:txBody>
      </p:sp>
      <p:sp>
        <p:nvSpPr>
          <p:cNvPr id="2814" name="Google Shape;281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8" name="Shape 2818"/>
        <p:cNvGrpSpPr/>
        <p:nvPr/>
      </p:nvGrpSpPr>
      <p:grpSpPr>
        <a:xfrm>
          <a:off x="0" y="0"/>
          <a:ext cx="0" cy="0"/>
          <a:chOff x="0" y="0"/>
          <a:chExt cx="0" cy="0"/>
        </a:xfrm>
      </p:grpSpPr>
      <p:sp>
        <p:nvSpPr>
          <p:cNvPr id="2819" name="Google Shape;281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0" name="Google Shape;282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1" name="Google Shape;282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6" name="Shape 2826"/>
        <p:cNvGrpSpPr/>
        <p:nvPr/>
      </p:nvGrpSpPr>
      <p:grpSpPr>
        <a:xfrm>
          <a:off x="0" y="0"/>
          <a:ext cx="0" cy="0"/>
          <a:chOff x="0" y="0"/>
          <a:chExt cx="0" cy="0"/>
        </a:xfrm>
      </p:grpSpPr>
      <p:sp>
        <p:nvSpPr>
          <p:cNvPr id="2827" name="Google Shape;282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8" name="Google Shape;282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 IPv6 Addressing</a:t>
            </a:r>
            <a:endParaRPr/>
          </a:p>
          <a:p>
            <a:pPr indent="0" lvl="0" marL="0" rtl="0" algn="l">
              <a:spcBef>
                <a:spcPts val="0"/>
              </a:spcBef>
              <a:spcAft>
                <a:spcPts val="0"/>
              </a:spcAft>
              <a:buNone/>
            </a:pPr>
            <a:r>
              <a:rPr lang="en-US"/>
              <a:t>12.1 – IPv4 Issues</a:t>
            </a:r>
            <a:endParaRPr/>
          </a:p>
          <a:p>
            <a:pPr indent="0" lvl="0" marL="0" rtl="0" algn="l">
              <a:spcBef>
                <a:spcPts val="0"/>
              </a:spcBef>
              <a:spcAft>
                <a:spcPts val="0"/>
              </a:spcAft>
              <a:buNone/>
            </a:pPr>
            <a:r>
              <a:rPr lang="en-US"/>
              <a:t>12.1.1 – Need for IPv6</a:t>
            </a:r>
            <a:endParaRPr/>
          </a:p>
        </p:txBody>
      </p:sp>
      <p:sp>
        <p:nvSpPr>
          <p:cNvPr id="2829" name="Google Shape;282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4" name="Shape 2834"/>
        <p:cNvGrpSpPr/>
        <p:nvPr/>
      </p:nvGrpSpPr>
      <p:grpSpPr>
        <a:xfrm>
          <a:off x="0" y="0"/>
          <a:ext cx="0" cy="0"/>
          <a:chOff x="0" y="0"/>
          <a:chExt cx="0" cy="0"/>
        </a:xfrm>
      </p:grpSpPr>
      <p:sp>
        <p:nvSpPr>
          <p:cNvPr id="2835" name="Google Shape;283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6" name="Google Shape;283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7" name="Google Shape;283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2" name="Shape 2872"/>
        <p:cNvGrpSpPr/>
        <p:nvPr/>
      </p:nvGrpSpPr>
      <p:grpSpPr>
        <a:xfrm>
          <a:off x="0" y="0"/>
          <a:ext cx="0" cy="0"/>
          <a:chOff x="0" y="0"/>
          <a:chExt cx="0" cy="0"/>
        </a:xfrm>
      </p:grpSpPr>
      <p:sp>
        <p:nvSpPr>
          <p:cNvPr id="2873" name="Google Shape;287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4" name="Google Shape;287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D6EE"/>
              </a:buClr>
              <a:buSzPts val="1200"/>
              <a:buFont typeface="Calibri"/>
              <a:buNone/>
            </a:pPr>
            <a:r>
              <a:rPr lang="en-US" sz="1200">
                <a:solidFill>
                  <a:srgbClr val="BBD6EE"/>
                </a:solidFill>
              </a:rPr>
              <a:t>8 – Network Layer</a:t>
            </a:r>
            <a:endParaRPr/>
          </a:p>
          <a:p>
            <a:pPr indent="0" lvl="0" marL="0" rtl="0" algn="l">
              <a:spcBef>
                <a:spcPts val="0"/>
              </a:spcBef>
              <a:spcAft>
                <a:spcPts val="0"/>
              </a:spcAft>
              <a:buClr>
                <a:schemeClr val="dk1"/>
              </a:buClr>
              <a:buSzPts val="1200"/>
              <a:buFont typeface="Calibri"/>
              <a:buNone/>
            </a:pPr>
            <a:r>
              <a:rPr b="0" lang="en-US" sz="1200"/>
              <a:t>8.3 – </a:t>
            </a:r>
            <a:r>
              <a:rPr lang="en-US">
                <a:solidFill>
                  <a:srgbClr val="BBD6EE"/>
                </a:solidFill>
              </a:rPr>
              <a:t>IPv6 Packets</a:t>
            </a:r>
            <a:endParaRPr/>
          </a:p>
          <a:p>
            <a:pPr indent="0" lvl="0" marL="0" rtl="0" algn="l">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8.3.4 – </a:t>
            </a:r>
            <a:r>
              <a:rPr lang="en-US"/>
              <a:t>IPv6 Packet Header</a:t>
            </a:r>
            <a:endParaRPr/>
          </a:p>
        </p:txBody>
      </p:sp>
      <p:sp>
        <p:nvSpPr>
          <p:cNvPr id="2875" name="Google Shape;287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0" name="Shape 2880"/>
        <p:cNvGrpSpPr/>
        <p:nvPr/>
      </p:nvGrpSpPr>
      <p:grpSpPr>
        <a:xfrm>
          <a:off x="0" y="0"/>
          <a:ext cx="0" cy="0"/>
          <a:chOff x="0" y="0"/>
          <a:chExt cx="0" cy="0"/>
        </a:xfrm>
      </p:grpSpPr>
      <p:sp>
        <p:nvSpPr>
          <p:cNvPr id="2881" name="Google Shape;288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2" name="Google Shape;288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 IPv6 Addressing</a:t>
            </a:r>
            <a:endParaRPr/>
          </a:p>
          <a:p>
            <a:pPr indent="0" lvl="0" marL="0" rtl="0" algn="l">
              <a:spcBef>
                <a:spcPts val="0"/>
              </a:spcBef>
              <a:spcAft>
                <a:spcPts val="0"/>
              </a:spcAft>
              <a:buNone/>
            </a:pPr>
            <a:r>
              <a:rPr lang="en-US"/>
              <a:t>12.2 – IPv6 Address Representation</a:t>
            </a:r>
            <a:endParaRPr/>
          </a:p>
          <a:p>
            <a:pPr indent="0" lvl="0" marL="0" rtl="0" algn="l">
              <a:spcBef>
                <a:spcPts val="0"/>
              </a:spcBef>
              <a:spcAft>
                <a:spcPts val="0"/>
              </a:spcAft>
              <a:buNone/>
            </a:pPr>
            <a:r>
              <a:rPr lang="en-US"/>
              <a:t>12.2.1 – IPv6 Addressing Formats</a:t>
            </a:r>
            <a:endParaRPr/>
          </a:p>
        </p:txBody>
      </p:sp>
      <p:sp>
        <p:nvSpPr>
          <p:cNvPr id="2883" name="Google Shape;288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7" name="Shape 2887"/>
        <p:cNvGrpSpPr/>
        <p:nvPr/>
      </p:nvGrpSpPr>
      <p:grpSpPr>
        <a:xfrm>
          <a:off x="0" y="0"/>
          <a:ext cx="0" cy="0"/>
          <a:chOff x="0" y="0"/>
          <a:chExt cx="0" cy="0"/>
        </a:xfrm>
      </p:grpSpPr>
      <p:sp>
        <p:nvSpPr>
          <p:cNvPr id="2888" name="Google Shape;288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9" name="Google Shape;288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 IPv6 Addressing</a:t>
            </a:r>
            <a:endParaRPr/>
          </a:p>
          <a:p>
            <a:pPr indent="0" lvl="0" marL="0" rtl="0" algn="l">
              <a:spcBef>
                <a:spcPts val="0"/>
              </a:spcBef>
              <a:spcAft>
                <a:spcPts val="0"/>
              </a:spcAft>
              <a:buNone/>
            </a:pPr>
            <a:r>
              <a:rPr lang="en-US"/>
              <a:t>12.2 – IPv6 Address Representation</a:t>
            </a:r>
            <a:endParaRPr/>
          </a:p>
          <a:p>
            <a:pPr indent="0" lvl="0" marL="0" rtl="0" algn="l">
              <a:spcBef>
                <a:spcPts val="0"/>
              </a:spcBef>
              <a:spcAft>
                <a:spcPts val="0"/>
              </a:spcAft>
              <a:buNone/>
            </a:pPr>
            <a:r>
              <a:rPr lang="en-US"/>
              <a:t>12.2.2 – Omit Leading Zero</a:t>
            </a:r>
            <a:endParaRPr/>
          </a:p>
        </p:txBody>
      </p:sp>
      <p:sp>
        <p:nvSpPr>
          <p:cNvPr id="2890" name="Google Shape;289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5" name="Shape 2895"/>
        <p:cNvGrpSpPr/>
        <p:nvPr/>
      </p:nvGrpSpPr>
      <p:grpSpPr>
        <a:xfrm>
          <a:off x="0" y="0"/>
          <a:ext cx="0" cy="0"/>
          <a:chOff x="0" y="0"/>
          <a:chExt cx="0" cy="0"/>
        </a:xfrm>
      </p:grpSpPr>
      <p:sp>
        <p:nvSpPr>
          <p:cNvPr id="2896" name="Google Shape;289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7" name="Google Shape;2897;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 IPv6 Addressing</a:t>
            </a:r>
            <a:endParaRPr/>
          </a:p>
          <a:p>
            <a:pPr indent="0" lvl="0" marL="0" rtl="0" algn="l">
              <a:spcBef>
                <a:spcPts val="0"/>
              </a:spcBef>
              <a:spcAft>
                <a:spcPts val="0"/>
              </a:spcAft>
              <a:buNone/>
            </a:pPr>
            <a:r>
              <a:rPr lang="en-US"/>
              <a:t>12.2 – IPv6 Address Representation</a:t>
            </a:r>
            <a:endParaRPr/>
          </a:p>
          <a:p>
            <a:pPr indent="0" lvl="0" marL="0" rtl="0" algn="l">
              <a:spcBef>
                <a:spcPts val="0"/>
              </a:spcBef>
              <a:spcAft>
                <a:spcPts val="0"/>
              </a:spcAft>
              <a:buNone/>
            </a:pPr>
            <a:r>
              <a:rPr lang="en-US"/>
              <a:t>12.2.2 – Rule 2 – Double Colon</a:t>
            </a:r>
            <a:endParaRPr/>
          </a:p>
          <a:p>
            <a:pPr indent="0" lvl="0" marL="0" rtl="0" algn="l">
              <a:spcBef>
                <a:spcPts val="0"/>
              </a:spcBef>
              <a:spcAft>
                <a:spcPts val="0"/>
              </a:spcAft>
              <a:buNone/>
            </a:pPr>
            <a:r>
              <a:rPr lang="en-US"/>
              <a:t>12.2.4 – Activity – IPv6 Address Representation</a:t>
            </a:r>
            <a:endParaRPr/>
          </a:p>
        </p:txBody>
      </p:sp>
      <p:sp>
        <p:nvSpPr>
          <p:cNvPr id="2898" name="Google Shape;2898;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5" name="Google Shape;2905;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 IPv6 Addressing</a:t>
            </a:r>
            <a:endParaRPr/>
          </a:p>
          <a:p>
            <a:pPr indent="0" lvl="0" marL="0" rtl="0" algn="l">
              <a:spcBef>
                <a:spcPts val="0"/>
              </a:spcBef>
              <a:spcAft>
                <a:spcPts val="0"/>
              </a:spcAft>
              <a:buNone/>
            </a:pPr>
            <a:r>
              <a:rPr lang="en-US"/>
              <a:t>12.1 – IPv4 Issues</a:t>
            </a:r>
            <a:endParaRPr/>
          </a:p>
          <a:p>
            <a:pPr indent="0" lvl="0" marL="0" rtl="0" algn="l">
              <a:spcBef>
                <a:spcPts val="0"/>
              </a:spcBef>
              <a:spcAft>
                <a:spcPts val="0"/>
              </a:spcAft>
              <a:buNone/>
            </a:pPr>
            <a:r>
              <a:rPr lang="en-US"/>
              <a:t>12.1.2 – IPv4 and IPv6 Coexistence</a:t>
            </a:r>
            <a:endParaRPr/>
          </a:p>
          <a:p>
            <a:pPr indent="0" lvl="0" marL="0" rtl="0" algn="l">
              <a:spcBef>
                <a:spcPts val="0"/>
              </a:spcBef>
              <a:spcAft>
                <a:spcPts val="0"/>
              </a:spcAft>
              <a:buNone/>
            </a:pPr>
            <a:r>
              <a:rPr lang="en-US"/>
              <a:t>12.1.3 – Check Your Understanding – IPv4 Issues</a:t>
            </a:r>
            <a:endParaRPr/>
          </a:p>
        </p:txBody>
      </p:sp>
      <p:sp>
        <p:nvSpPr>
          <p:cNvPr id="2906" name="Google Shape;2906;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0" name="Shape 2910"/>
        <p:cNvGrpSpPr/>
        <p:nvPr/>
      </p:nvGrpSpPr>
      <p:grpSpPr>
        <a:xfrm>
          <a:off x="0" y="0"/>
          <a:ext cx="0" cy="0"/>
          <a:chOff x="0" y="0"/>
          <a:chExt cx="0" cy="0"/>
        </a:xfrm>
      </p:grpSpPr>
      <p:sp>
        <p:nvSpPr>
          <p:cNvPr id="2911" name="Google Shape;291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2" name="Google Shape;2912;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3" name="Google Shape;2913;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9" name="Shape 2969"/>
        <p:cNvGrpSpPr/>
        <p:nvPr/>
      </p:nvGrpSpPr>
      <p:grpSpPr>
        <a:xfrm>
          <a:off x="0" y="0"/>
          <a:ext cx="0" cy="0"/>
          <a:chOff x="0" y="0"/>
          <a:chExt cx="0" cy="0"/>
        </a:xfrm>
      </p:grpSpPr>
      <p:sp>
        <p:nvSpPr>
          <p:cNvPr id="2970" name="Google Shape;2970;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1" name="Google Shape;2971;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2" name="Google Shape;2972;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4" name="Shape 3144"/>
        <p:cNvGrpSpPr/>
        <p:nvPr/>
      </p:nvGrpSpPr>
      <p:grpSpPr>
        <a:xfrm>
          <a:off x="0" y="0"/>
          <a:ext cx="0" cy="0"/>
          <a:chOff x="0" y="0"/>
          <a:chExt cx="0" cy="0"/>
        </a:xfrm>
      </p:grpSpPr>
      <p:sp>
        <p:nvSpPr>
          <p:cNvPr id="3145" name="Google Shape;314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6" name="Google Shape;3146;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7" name="Google Shape;3147;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3" name="Shape 3313"/>
        <p:cNvGrpSpPr/>
        <p:nvPr/>
      </p:nvGrpSpPr>
      <p:grpSpPr>
        <a:xfrm>
          <a:off x="0" y="0"/>
          <a:ext cx="0" cy="0"/>
          <a:chOff x="0" y="0"/>
          <a:chExt cx="0" cy="0"/>
        </a:xfrm>
      </p:grpSpPr>
      <p:sp>
        <p:nvSpPr>
          <p:cNvPr id="3314" name="Google Shape;3314;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5" name="Google Shape;3315;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6" name="Google Shape;3316;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4" name="Shape 3494"/>
        <p:cNvGrpSpPr/>
        <p:nvPr/>
      </p:nvGrpSpPr>
      <p:grpSpPr>
        <a:xfrm>
          <a:off x="0" y="0"/>
          <a:ext cx="0" cy="0"/>
          <a:chOff x="0" y="0"/>
          <a:chExt cx="0" cy="0"/>
        </a:xfrm>
      </p:grpSpPr>
      <p:sp>
        <p:nvSpPr>
          <p:cNvPr id="3495" name="Google Shape;349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6" name="Google Shape;3496;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7" name="Google Shape;3497;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5" name="Shape 3505"/>
        <p:cNvGrpSpPr/>
        <p:nvPr/>
      </p:nvGrpSpPr>
      <p:grpSpPr>
        <a:xfrm>
          <a:off x="0" y="0"/>
          <a:ext cx="0" cy="0"/>
          <a:chOff x="0" y="0"/>
          <a:chExt cx="0" cy="0"/>
        </a:xfrm>
      </p:grpSpPr>
      <p:sp>
        <p:nvSpPr>
          <p:cNvPr id="3506" name="Google Shape;350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7" name="Google Shape;3507;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8" name="Google Shape;3508;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4" name="Shape 3514"/>
        <p:cNvGrpSpPr/>
        <p:nvPr/>
      </p:nvGrpSpPr>
      <p:grpSpPr>
        <a:xfrm>
          <a:off x="0" y="0"/>
          <a:ext cx="0" cy="0"/>
          <a:chOff x="0" y="0"/>
          <a:chExt cx="0" cy="0"/>
        </a:xfrm>
      </p:grpSpPr>
      <p:sp>
        <p:nvSpPr>
          <p:cNvPr id="3515" name="Google Shape;3515;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6" name="Google Shape;351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7" name="Shape 3527"/>
        <p:cNvGrpSpPr/>
        <p:nvPr/>
      </p:nvGrpSpPr>
      <p:grpSpPr>
        <a:xfrm>
          <a:off x="0" y="0"/>
          <a:ext cx="0" cy="0"/>
          <a:chOff x="0" y="0"/>
          <a:chExt cx="0" cy="0"/>
        </a:xfrm>
      </p:grpSpPr>
      <p:sp>
        <p:nvSpPr>
          <p:cNvPr id="3528" name="Google Shape;352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9" name="Google Shape;3529;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0" name="Google Shape;3530;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6" name="Shape 4066"/>
        <p:cNvGrpSpPr/>
        <p:nvPr/>
      </p:nvGrpSpPr>
      <p:grpSpPr>
        <a:xfrm>
          <a:off x="0" y="0"/>
          <a:ext cx="0" cy="0"/>
          <a:chOff x="0" y="0"/>
          <a:chExt cx="0" cy="0"/>
        </a:xfrm>
      </p:grpSpPr>
      <p:sp>
        <p:nvSpPr>
          <p:cNvPr id="4067" name="Google Shape;4067;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8" name="Google Shape;4068;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9" name="Google Shape;4069;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7" name="Shape 4147"/>
        <p:cNvGrpSpPr/>
        <p:nvPr/>
      </p:nvGrpSpPr>
      <p:grpSpPr>
        <a:xfrm>
          <a:off x="0" y="0"/>
          <a:ext cx="0" cy="0"/>
          <a:chOff x="0" y="0"/>
          <a:chExt cx="0" cy="0"/>
        </a:xfrm>
      </p:grpSpPr>
      <p:sp>
        <p:nvSpPr>
          <p:cNvPr id="4148" name="Google Shape;414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9" name="Google Shape;414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0" name="Google Shape;4150;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3" name="Shape 4173"/>
        <p:cNvGrpSpPr/>
        <p:nvPr/>
      </p:nvGrpSpPr>
      <p:grpSpPr>
        <a:xfrm>
          <a:off x="0" y="0"/>
          <a:ext cx="0" cy="0"/>
          <a:chOff x="0" y="0"/>
          <a:chExt cx="0" cy="0"/>
        </a:xfrm>
      </p:grpSpPr>
      <p:sp>
        <p:nvSpPr>
          <p:cNvPr id="4174" name="Google Shape;417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5" name="Google Shape;4175;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6" name="Google Shape;4176;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3" name="Shape 4183"/>
        <p:cNvGrpSpPr/>
        <p:nvPr/>
      </p:nvGrpSpPr>
      <p:grpSpPr>
        <a:xfrm>
          <a:off x="0" y="0"/>
          <a:ext cx="0" cy="0"/>
          <a:chOff x="0" y="0"/>
          <a:chExt cx="0" cy="0"/>
        </a:xfrm>
      </p:grpSpPr>
      <p:sp>
        <p:nvSpPr>
          <p:cNvPr id="4184" name="Google Shape;4184;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5" name="Google Shape;4185;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6" name="Google Shape;4186;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5" name="Shape 4195"/>
        <p:cNvGrpSpPr/>
        <p:nvPr/>
      </p:nvGrpSpPr>
      <p:grpSpPr>
        <a:xfrm>
          <a:off x="0" y="0"/>
          <a:ext cx="0" cy="0"/>
          <a:chOff x="0" y="0"/>
          <a:chExt cx="0" cy="0"/>
        </a:xfrm>
      </p:grpSpPr>
      <p:sp>
        <p:nvSpPr>
          <p:cNvPr id="4196" name="Google Shape;419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7" name="Google Shape;4197;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8" name="Google Shape;4198;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9" name="Shape 4209"/>
        <p:cNvGrpSpPr/>
        <p:nvPr/>
      </p:nvGrpSpPr>
      <p:grpSpPr>
        <a:xfrm>
          <a:off x="0" y="0"/>
          <a:ext cx="0" cy="0"/>
          <a:chOff x="0" y="0"/>
          <a:chExt cx="0" cy="0"/>
        </a:xfrm>
      </p:grpSpPr>
      <p:sp>
        <p:nvSpPr>
          <p:cNvPr id="4210" name="Google Shape;4210;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1" name="Google Shape;4211;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2" name="Google Shape;4212;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6" name="Shape 4376"/>
        <p:cNvGrpSpPr/>
        <p:nvPr/>
      </p:nvGrpSpPr>
      <p:grpSpPr>
        <a:xfrm>
          <a:off x="0" y="0"/>
          <a:ext cx="0" cy="0"/>
          <a:chOff x="0" y="0"/>
          <a:chExt cx="0" cy="0"/>
        </a:xfrm>
      </p:grpSpPr>
      <p:sp>
        <p:nvSpPr>
          <p:cNvPr id="4377" name="Google Shape;437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8" name="Google Shape;437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9" name="Google Shape;437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1" name="Shape 4531"/>
        <p:cNvGrpSpPr/>
        <p:nvPr/>
      </p:nvGrpSpPr>
      <p:grpSpPr>
        <a:xfrm>
          <a:off x="0" y="0"/>
          <a:ext cx="0" cy="0"/>
          <a:chOff x="0" y="0"/>
          <a:chExt cx="0" cy="0"/>
        </a:xfrm>
      </p:grpSpPr>
      <p:sp>
        <p:nvSpPr>
          <p:cNvPr id="4532" name="Google Shape;4532;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3" name="Google Shape;4533;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4" name="Google Shape;4534;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2" name="Shape 4692"/>
        <p:cNvGrpSpPr/>
        <p:nvPr/>
      </p:nvGrpSpPr>
      <p:grpSpPr>
        <a:xfrm>
          <a:off x="0" y="0"/>
          <a:ext cx="0" cy="0"/>
          <a:chOff x="0" y="0"/>
          <a:chExt cx="0" cy="0"/>
        </a:xfrm>
      </p:grpSpPr>
      <p:sp>
        <p:nvSpPr>
          <p:cNvPr id="4693" name="Google Shape;4693;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4" name="Google Shape;4694;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2" name="Shape 4712"/>
        <p:cNvGrpSpPr/>
        <p:nvPr/>
      </p:nvGrpSpPr>
      <p:grpSpPr>
        <a:xfrm>
          <a:off x="0" y="0"/>
          <a:ext cx="0" cy="0"/>
          <a:chOff x="0" y="0"/>
          <a:chExt cx="0" cy="0"/>
        </a:xfrm>
      </p:grpSpPr>
      <p:sp>
        <p:nvSpPr>
          <p:cNvPr id="4713" name="Google Shape;4713;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4" name="Google Shape;471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8" name="Shape 4818"/>
        <p:cNvGrpSpPr/>
        <p:nvPr/>
      </p:nvGrpSpPr>
      <p:grpSpPr>
        <a:xfrm>
          <a:off x="0" y="0"/>
          <a:ext cx="0" cy="0"/>
          <a:chOff x="0" y="0"/>
          <a:chExt cx="0" cy="0"/>
        </a:xfrm>
      </p:grpSpPr>
      <p:sp>
        <p:nvSpPr>
          <p:cNvPr id="4819" name="Google Shape;4819;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0" name="Google Shape;4820;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9" name="Shape 4829"/>
        <p:cNvGrpSpPr/>
        <p:nvPr/>
      </p:nvGrpSpPr>
      <p:grpSpPr>
        <a:xfrm>
          <a:off x="0" y="0"/>
          <a:ext cx="0" cy="0"/>
          <a:chOff x="0" y="0"/>
          <a:chExt cx="0" cy="0"/>
        </a:xfrm>
      </p:grpSpPr>
      <p:sp>
        <p:nvSpPr>
          <p:cNvPr id="4830" name="Google Shape;4830;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1" name="Google Shape;483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0" name="Shape 4850"/>
        <p:cNvGrpSpPr/>
        <p:nvPr/>
      </p:nvGrpSpPr>
      <p:grpSpPr>
        <a:xfrm>
          <a:off x="0" y="0"/>
          <a:ext cx="0" cy="0"/>
          <a:chOff x="0" y="0"/>
          <a:chExt cx="0" cy="0"/>
        </a:xfrm>
      </p:grpSpPr>
      <p:sp>
        <p:nvSpPr>
          <p:cNvPr id="4851" name="Google Shape;4851;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2" name="Google Shape;4852;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3" name="Google Shape;4853;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0" name="Shape 5020"/>
        <p:cNvGrpSpPr/>
        <p:nvPr/>
      </p:nvGrpSpPr>
      <p:grpSpPr>
        <a:xfrm>
          <a:off x="0" y="0"/>
          <a:ext cx="0" cy="0"/>
          <a:chOff x="0" y="0"/>
          <a:chExt cx="0" cy="0"/>
        </a:xfrm>
      </p:grpSpPr>
      <p:sp>
        <p:nvSpPr>
          <p:cNvPr id="5021" name="Google Shape;5021;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2" name="Google Shape;5022;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3" name="Google Shape;5023;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6" name="Shape 5176"/>
        <p:cNvGrpSpPr/>
        <p:nvPr/>
      </p:nvGrpSpPr>
      <p:grpSpPr>
        <a:xfrm>
          <a:off x="0" y="0"/>
          <a:ext cx="0" cy="0"/>
          <a:chOff x="0" y="0"/>
          <a:chExt cx="0" cy="0"/>
        </a:xfrm>
      </p:grpSpPr>
      <p:sp>
        <p:nvSpPr>
          <p:cNvPr id="5177" name="Google Shape;5177;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8" name="Google Shape;5178;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9" name="Google Shape;5179;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8" name="Shape 5338"/>
        <p:cNvGrpSpPr/>
        <p:nvPr/>
      </p:nvGrpSpPr>
      <p:grpSpPr>
        <a:xfrm>
          <a:off x="0" y="0"/>
          <a:ext cx="0" cy="0"/>
          <a:chOff x="0" y="0"/>
          <a:chExt cx="0" cy="0"/>
        </a:xfrm>
      </p:grpSpPr>
      <p:sp>
        <p:nvSpPr>
          <p:cNvPr id="5339" name="Google Shape;5339;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0" name="Google Shape;5340;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1" name="Google Shape;5341;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4" name="Shape 5494"/>
        <p:cNvGrpSpPr/>
        <p:nvPr/>
      </p:nvGrpSpPr>
      <p:grpSpPr>
        <a:xfrm>
          <a:off x="0" y="0"/>
          <a:ext cx="0" cy="0"/>
          <a:chOff x="0" y="0"/>
          <a:chExt cx="0" cy="0"/>
        </a:xfrm>
      </p:grpSpPr>
      <p:sp>
        <p:nvSpPr>
          <p:cNvPr id="5495" name="Google Shape;5495;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6" name="Google Shape;5496;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7" name="Google Shape;5497;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0" name="Shape 5650"/>
        <p:cNvGrpSpPr/>
        <p:nvPr/>
      </p:nvGrpSpPr>
      <p:grpSpPr>
        <a:xfrm>
          <a:off x="0" y="0"/>
          <a:ext cx="0" cy="0"/>
          <a:chOff x="0" y="0"/>
          <a:chExt cx="0" cy="0"/>
        </a:xfrm>
      </p:grpSpPr>
      <p:sp>
        <p:nvSpPr>
          <p:cNvPr id="5651" name="Google Shape;565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2" name="Google Shape;5652;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3" name="Google Shape;5653;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2" name="Shape 5812"/>
        <p:cNvGrpSpPr/>
        <p:nvPr/>
      </p:nvGrpSpPr>
      <p:grpSpPr>
        <a:xfrm>
          <a:off x="0" y="0"/>
          <a:ext cx="0" cy="0"/>
          <a:chOff x="0" y="0"/>
          <a:chExt cx="0" cy="0"/>
        </a:xfrm>
      </p:grpSpPr>
      <p:sp>
        <p:nvSpPr>
          <p:cNvPr id="5813" name="Google Shape;5813;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4" name="Google Shape;5814;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5" name="Google Shape;5815;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8" name="Shape 5968"/>
        <p:cNvGrpSpPr/>
        <p:nvPr/>
      </p:nvGrpSpPr>
      <p:grpSpPr>
        <a:xfrm>
          <a:off x="0" y="0"/>
          <a:ext cx="0" cy="0"/>
          <a:chOff x="0" y="0"/>
          <a:chExt cx="0" cy="0"/>
        </a:xfrm>
      </p:grpSpPr>
      <p:sp>
        <p:nvSpPr>
          <p:cNvPr id="5969" name="Google Shape;5969;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0" name="Google Shape;5970;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1" name="Google Shape;5971;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6" name="Shape 5976"/>
        <p:cNvGrpSpPr/>
        <p:nvPr/>
      </p:nvGrpSpPr>
      <p:grpSpPr>
        <a:xfrm>
          <a:off x="0" y="0"/>
          <a:ext cx="0" cy="0"/>
          <a:chOff x="0" y="0"/>
          <a:chExt cx="0" cy="0"/>
        </a:xfrm>
      </p:grpSpPr>
      <p:sp>
        <p:nvSpPr>
          <p:cNvPr id="5977" name="Google Shape;5977;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8" name="Google Shape;5978;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9" name="Google Shape;5979;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1" name="Shape 6151"/>
        <p:cNvGrpSpPr/>
        <p:nvPr/>
      </p:nvGrpSpPr>
      <p:grpSpPr>
        <a:xfrm>
          <a:off x="0" y="0"/>
          <a:ext cx="0" cy="0"/>
          <a:chOff x="0" y="0"/>
          <a:chExt cx="0" cy="0"/>
        </a:xfrm>
      </p:grpSpPr>
      <p:sp>
        <p:nvSpPr>
          <p:cNvPr id="6152" name="Google Shape;6152;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3" name="Google Shape;615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4" name="Google Shape;6154;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2" name="Shape 6362"/>
        <p:cNvGrpSpPr/>
        <p:nvPr/>
      </p:nvGrpSpPr>
      <p:grpSpPr>
        <a:xfrm>
          <a:off x="0" y="0"/>
          <a:ext cx="0" cy="0"/>
          <a:chOff x="0" y="0"/>
          <a:chExt cx="0" cy="0"/>
        </a:xfrm>
      </p:grpSpPr>
      <p:sp>
        <p:nvSpPr>
          <p:cNvPr id="6363" name="Google Shape;636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4" name="Google Shape;6364;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5" name="Google Shape;6365;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8" name="Shape 6538"/>
        <p:cNvGrpSpPr/>
        <p:nvPr/>
      </p:nvGrpSpPr>
      <p:grpSpPr>
        <a:xfrm>
          <a:off x="0" y="0"/>
          <a:ext cx="0" cy="0"/>
          <a:chOff x="0" y="0"/>
          <a:chExt cx="0" cy="0"/>
        </a:xfrm>
      </p:grpSpPr>
      <p:sp>
        <p:nvSpPr>
          <p:cNvPr id="6539" name="Google Shape;6539;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0" name="Google Shape;6540;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1" name="Google Shape;6541;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0" name="Shape 6710"/>
        <p:cNvGrpSpPr/>
        <p:nvPr/>
      </p:nvGrpSpPr>
      <p:grpSpPr>
        <a:xfrm>
          <a:off x="0" y="0"/>
          <a:ext cx="0" cy="0"/>
          <a:chOff x="0" y="0"/>
          <a:chExt cx="0" cy="0"/>
        </a:xfrm>
      </p:grpSpPr>
      <p:sp>
        <p:nvSpPr>
          <p:cNvPr id="6711" name="Google Shape;671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2" name="Google Shape;6712;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3" name="Google Shape;6713;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5" name="Shape 6895"/>
        <p:cNvGrpSpPr/>
        <p:nvPr/>
      </p:nvGrpSpPr>
      <p:grpSpPr>
        <a:xfrm>
          <a:off x="0" y="0"/>
          <a:ext cx="0" cy="0"/>
          <a:chOff x="0" y="0"/>
          <a:chExt cx="0" cy="0"/>
        </a:xfrm>
      </p:grpSpPr>
      <p:sp>
        <p:nvSpPr>
          <p:cNvPr id="6896" name="Google Shape;6896;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7" name="Google Shape;6897;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4" name="Shape 6904"/>
        <p:cNvGrpSpPr/>
        <p:nvPr/>
      </p:nvGrpSpPr>
      <p:grpSpPr>
        <a:xfrm>
          <a:off x="0" y="0"/>
          <a:ext cx="0" cy="0"/>
          <a:chOff x="0" y="0"/>
          <a:chExt cx="0" cy="0"/>
        </a:xfrm>
      </p:grpSpPr>
      <p:sp>
        <p:nvSpPr>
          <p:cNvPr id="6905" name="Google Shape;6905;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6" name="Google Shape;6906;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3" name="Shape 6913"/>
        <p:cNvGrpSpPr/>
        <p:nvPr/>
      </p:nvGrpSpPr>
      <p:grpSpPr>
        <a:xfrm>
          <a:off x="0" y="0"/>
          <a:ext cx="0" cy="0"/>
          <a:chOff x="0" y="0"/>
          <a:chExt cx="0" cy="0"/>
        </a:xfrm>
      </p:grpSpPr>
      <p:sp>
        <p:nvSpPr>
          <p:cNvPr id="6914" name="Google Shape;6914;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5" name="Google Shape;6915;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2" name="Shape 6922"/>
        <p:cNvGrpSpPr/>
        <p:nvPr/>
      </p:nvGrpSpPr>
      <p:grpSpPr>
        <a:xfrm>
          <a:off x="0" y="0"/>
          <a:ext cx="0" cy="0"/>
          <a:chOff x="0" y="0"/>
          <a:chExt cx="0" cy="0"/>
        </a:xfrm>
      </p:grpSpPr>
      <p:sp>
        <p:nvSpPr>
          <p:cNvPr id="6923" name="Google Shape;6923;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4" name="Google Shape;6924;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9" name="Shape 7109"/>
        <p:cNvGrpSpPr/>
        <p:nvPr/>
      </p:nvGrpSpPr>
      <p:grpSpPr>
        <a:xfrm>
          <a:off x="0" y="0"/>
          <a:ext cx="0" cy="0"/>
          <a:chOff x="0" y="0"/>
          <a:chExt cx="0" cy="0"/>
        </a:xfrm>
      </p:grpSpPr>
      <p:sp>
        <p:nvSpPr>
          <p:cNvPr id="7110" name="Google Shape;7110;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1" name="Google Shape;7111;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1" name="Shape 7241"/>
        <p:cNvGrpSpPr/>
        <p:nvPr/>
      </p:nvGrpSpPr>
      <p:grpSpPr>
        <a:xfrm>
          <a:off x="0" y="0"/>
          <a:ext cx="0" cy="0"/>
          <a:chOff x="0" y="0"/>
          <a:chExt cx="0" cy="0"/>
        </a:xfrm>
      </p:grpSpPr>
      <p:sp>
        <p:nvSpPr>
          <p:cNvPr id="7242" name="Google Shape;7242;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43" name="Google Shape;7243;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90"/>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90"/>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90"/>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200" u="none" cap="none" strike="noStrike">
                <a:solidFill>
                  <a:srgbClr val="000000"/>
                </a:solidFill>
                <a:latin typeface="Tahoma"/>
                <a:ea typeface="Tahoma"/>
                <a:cs typeface="Tahoma"/>
                <a:sym typeface="Tahoma"/>
              </a:defRPr>
            </a:lvl1pPr>
            <a:lvl2pPr indent="0" lvl="1" marL="0" marR="0" algn="l">
              <a:spcBef>
                <a:spcPts val="0"/>
              </a:spcBef>
              <a:buNone/>
              <a:defRPr b="0" i="0" sz="1200" u="none" cap="none" strike="noStrike">
                <a:solidFill>
                  <a:srgbClr val="000000"/>
                </a:solidFill>
                <a:latin typeface="Tahoma"/>
                <a:ea typeface="Tahoma"/>
                <a:cs typeface="Tahoma"/>
                <a:sym typeface="Tahoma"/>
              </a:defRPr>
            </a:lvl2pPr>
            <a:lvl3pPr indent="0" lvl="2" marL="0" marR="0" algn="l">
              <a:spcBef>
                <a:spcPts val="0"/>
              </a:spcBef>
              <a:buNone/>
              <a:defRPr b="0" i="0" sz="1200" u="none" cap="none" strike="noStrike">
                <a:solidFill>
                  <a:srgbClr val="000000"/>
                </a:solidFill>
                <a:latin typeface="Tahoma"/>
                <a:ea typeface="Tahoma"/>
                <a:cs typeface="Tahoma"/>
                <a:sym typeface="Tahoma"/>
              </a:defRPr>
            </a:lvl3pPr>
            <a:lvl4pPr indent="0" lvl="3" marL="0" marR="0" algn="l">
              <a:spcBef>
                <a:spcPts val="0"/>
              </a:spcBef>
              <a:buNone/>
              <a:defRPr b="0" i="0" sz="1200" u="none" cap="none" strike="noStrike">
                <a:solidFill>
                  <a:srgbClr val="000000"/>
                </a:solidFill>
                <a:latin typeface="Tahoma"/>
                <a:ea typeface="Tahoma"/>
                <a:cs typeface="Tahoma"/>
                <a:sym typeface="Tahoma"/>
              </a:defRPr>
            </a:lvl4pPr>
            <a:lvl5pPr indent="0" lvl="4" marL="0" marR="0" algn="l">
              <a:spcBef>
                <a:spcPts val="0"/>
              </a:spcBef>
              <a:buNone/>
              <a:defRPr b="0" i="0" sz="1200" u="none" cap="none" strike="noStrike">
                <a:solidFill>
                  <a:srgbClr val="000000"/>
                </a:solidFill>
                <a:latin typeface="Tahoma"/>
                <a:ea typeface="Tahoma"/>
                <a:cs typeface="Tahoma"/>
                <a:sym typeface="Tahoma"/>
              </a:defRPr>
            </a:lvl5pPr>
            <a:lvl6pPr indent="0" lvl="5" marL="0" marR="0" algn="l">
              <a:spcBef>
                <a:spcPts val="0"/>
              </a:spcBef>
              <a:buNone/>
              <a:defRPr b="0" i="0" sz="1200" u="none" cap="none" strike="noStrike">
                <a:solidFill>
                  <a:srgbClr val="000000"/>
                </a:solidFill>
                <a:latin typeface="Tahoma"/>
                <a:ea typeface="Tahoma"/>
                <a:cs typeface="Tahoma"/>
                <a:sym typeface="Tahoma"/>
              </a:defRPr>
            </a:lvl6pPr>
            <a:lvl7pPr indent="0" lvl="6" marL="0" marR="0" algn="l">
              <a:spcBef>
                <a:spcPts val="0"/>
              </a:spcBef>
              <a:buNone/>
              <a:defRPr b="0" i="0" sz="1200" u="none" cap="none" strike="noStrike">
                <a:solidFill>
                  <a:srgbClr val="000000"/>
                </a:solidFill>
                <a:latin typeface="Tahoma"/>
                <a:ea typeface="Tahoma"/>
                <a:cs typeface="Tahoma"/>
                <a:sym typeface="Tahoma"/>
              </a:defRPr>
            </a:lvl7pPr>
            <a:lvl8pPr indent="0" lvl="7" marL="0" marR="0" algn="l">
              <a:spcBef>
                <a:spcPts val="0"/>
              </a:spcBef>
              <a:buNone/>
              <a:defRPr b="0" i="0" sz="1200" u="none" cap="none" strike="noStrike">
                <a:solidFill>
                  <a:srgbClr val="000000"/>
                </a:solidFill>
                <a:latin typeface="Tahoma"/>
                <a:ea typeface="Tahoma"/>
                <a:cs typeface="Tahoma"/>
                <a:sym typeface="Tahoma"/>
              </a:defRPr>
            </a:lvl8pPr>
            <a:lvl9pPr indent="0" lvl="8" marL="0" marR="0" algn="l">
              <a:spcBef>
                <a:spcPts val="0"/>
              </a:spcBef>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02"/>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0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85000"/>
              </a:lnSpc>
              <a:spcBef>
                <a:spcPts val="560"/>
              </a:spcBef>
              <a:spcAft>
                <a:spcPts val="0"/>
              </a:spcAft>
              <a:buSzPts val="1820"/>
              <a:buNone/>
              <a:defRPr/>
            </a:lvl1pPr>
            <a:lvl2pPr lvl="1" algn="ctr">
              <a:lnSpc>
                <a:spcPct val="85000"/>
              </a:lnSpc>
              <a:spcBef>
                <a:spcPts val="480"/>
              </a:spcBef>
              <a:spcAft>
                <a:spcPts val="0"/>
              </a:spcAft>
              <a:buSzPts val="2400"/>
              <a:buNone/>
              <a:defRPr/>
            </a:lvl2pPr>
            <a:lvl3pPr lvl="2" algn="ctr">
              <a:spcBef>
                <a:spcPts val="400"/>
              </a:spcBef>
              <a:spcAft>
                <a:spcPts val="0"/>
              </a:spcAft>
              <a:buClr>
                <a:schemeClr val="dk1"/>
              </a:buClr>
              <a:buSzPts val="2000"/>
              <a:buFont typeface="Comic Sans MS"/>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22" name="Google Shape;22;p102"/>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02"/>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0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03"/>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3"/>
          <p:cNvSpPr txBox="1"/>
          <p:nvPr>
            <p:ph idx="1" type="body"/>
          </p:nvPr>
        </p:nvSpPr>
        <p:spPr>
          <a:xfrm>
            <a:off x="711200" y="1611313"/>
            <a:ext cx="103632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03"/>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03"/>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3"/>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04"/>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04"/>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00"/>
              </a:spcBef>
              <a:spcAft>
                <a:spcPts val="0"/>
              </a:spcAft>
              <a:buSzPts val="1300"/>
              <a:buNone/>
              <a:defRPr sz="2000"/>
            </a:lvl1pPr>
            <a:lvl2pPr indent="-228600" lvl="1" marL="914400" algn="l">
              <a:lnSpc>
                <a:spcPct val="85000"/>
              </a:lnSpc>
              <a:spcBef>
                <a:spcPts val="360"/>
              </a:spcBef>
              <a:spcAft>
                <a:spcPts val="0"/>
              </a:spcAft>
              <a:buSzPts val="1800"/>
              <a:buNone/>
              <a:defRPr sz="1800"/>
            </a:lvl2pPr>
            <a:lvl3pPr indent="-228600" lvl="2" marL="1371600" algn="l">
              <a:spcBef>
                <a:spcPts val="320"/>
              </a:spcBef>
              <a:spcAft>
                <a:spcPts val="0"/>
              </a:spcAft>
              <a:buClr>
                <a:schemeClr val="dk1"/>
              </a:buClr>
              <a:buSzPts val="1600"/>
              <a:buFont typeface="Comic Sans MS"/>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34" name="Google Shape;34;p104"/>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04"/>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0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05"/>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5"/>
          <p:cNvSpPr txBox="1"/>
          <p:nvPr>
            <p:ph idx="1" type="body"/>
          </p:nvPr>
        </p:nvSpPr>
        <p:spPr>
          <a:xfrm>
            <a:off x="711200" y="1611313"/>
            <a:ext cx="50800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spcBef>
                <a:spcPts val="400"/>
              </a:spcBef>
              <a:spcAft>
                <a:spcPts val="0"/>
              </a:spcAft>
              <a:buClr>
                <a:schemeClr val="dk1"/>
              </a:buClr>
              <a:buSzPts val="2000"/>
              <a:buFont typeface="Comic Sans M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40" name="Google Shape;40;p105"/>
          <p:cNvSpPr txBox="1"/>
          <p:nvPr>
            <p:ph idx="2" type="body"/>
          </p:nvPr>
        </p:nvSpPr>
        <p:spPr>
          <a:xfrm>
            <a:off x="5994400" y="1611313"/>
            <a:ext cx="50800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spcBef>
                <a:spcPts val="400"/>
              </a:spcBef>
              <a:spcAft>
                <a:spcPts val="0"/>
              </a:spcAft>
              <a:buClr>
                <a:schemeClr val="dk1"/>
              </a:buClr>
              <a:buSzPts val="2000"/>
              <a:buFont typeface="Comic Sans M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41" name="Google Shape;41;p105"/>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5"/>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5"/>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0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0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1560"/>
              <a:buNone/>
              <a:defRPr b="1" sz="2400"/>
            </a:lvl1pPr>
            <a:lvl2pPr indent="-228600" lvl="1" marL="914400" algn="l">
              <a:lnSpc>
                <a:spcPct val="85000"/>
              </a:lnSpc>
              <a:spcBef>
                <a:spcPts val="400"/>
              </a:spcBef>
              <a:spcAft>
                <a:spcPts val="0"/>
              </a:spcAft>
              <a:buSzPts val="2000"/>
              <a:buNone/>
              <a:defRPr b="1" sz="2000"/>
            </a:lvl2pPr>
            <a:lvl3pPr indent="-228600" lvl="2" marL="1371600" algn="l">
              <a:spcBef>
                <a:spcPts val="360"/>
              </a:spcBef>
              <a:spcAft>
                <a:spcPts val="0"/>
              </a:spcAft>
              <a:buClr>
                <a:schemeClr val="dk1"/>
              </a:buClr>
              <a:buSzPts val="1800"/>
              <a:buFont typeface="Comic Sans MS"/>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7" name="Google Shape;47;p10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27660" lvl="0" marL="457200" algn="l">
              <a:lnSpc>
                <a:spcPct val="85000"/>
              </a:lnSpc>
              <a:spcBef>
                <a:spcPts val="480"/>
              </a:spcBef>
              <a:spcAft>
                <a:spcPts val="0"/>
              </a:spcAft>
              <a:buSzPts val="1560"/>
              <a:buChar char="❖"/>
              <a:defRPr sz="2400"/>
            </a:lvl1pPr>
            <a:lvl2pPr indent="-355600" lvl="1" marL="914400" algn="l">
              <a:lnSpc>
                <a:spcPct val="85000"/>
              </a:lnSpc>
              <a:spcBef>
                <a:spcPts val="400"/>
              </a:spcBef>
              <a:spcAft>
                <a:spcPts val="0"/>
              </a:spcAft>
              <a:buSzPts val="2000"/>
              <a:buChar char="▪"/>
              <a:defRPr sz="2000"/>
            </a:lvl2pPr>
            <a:lvl3pPr indent="-342900" lvl="2" marL="1371600" algn="l">
              <a:spcBef>
                <a:spcPts val="360"/>
              </a:spcBef>
              <a:spcAft>
                <a:spcPts val="0"/>
              </a:spcAft>
              <a:buClr>
                <a:schemeClr val="dk1"/>
              </a:buClr>
              <a:buSzPts val="1800"/>
              <a:buFont typeface="Comic Sans MS"/>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48" name="Google Shape;48;p106"/>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1560"/>
              <a:buNone/>
              <a:defRPr b="1" sz="2400"/>
            </a:lvl1pPr>
            <a:lvl2pPr indent="-228600" lvl="1" marL="914400" algn="l">
              <a:lnSpc>
                <a:spcPct val="85000"/>
              </a:lnSpc>
              <a:spcBef>
                <a:spcPts val="400"/>
              </a:spcBef>
              <a:spcAft>
                <a:spcPts val="0"/>
              </a:spcAft>
              <a:buSzPts val="2000"/>
              <a:buNone/>
              <a:defRPr b="1" sz="2000"/>
            </a:lvl2pPr>
            <a:lvl3pPr indent="-228600" lvl="2" marL="1371600" algn="l">
              <a:spcBef>
                <a:spcPts val="360"/>
              </a:spcBef>
              <a:spcAft>
                <a:spcPts val="0"/>
              </a:spcAft>
              <a:buClr>
                <a:schemeClr val="dk1"/>
              </a:buClr>
              <a:buSzPts val="1800"/>
              <a:buFont typeface="Comic Sans MS"/>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9" name="Google Shape;49;p106"/>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27660" lvl="0" marL="457200" algn="l">
              <a:lnSpc>
                <a:spcPct val="85000"/>
              </a:lnSpc>
              <a:spcBef>
                <a:spcPts val="480"/>
              </a:spcBef>
              <a:spcAft>
                <a:spcPts val="0"/>
              </a:spcAft>
              <a:buSzPts val="1560"/>
              <a:buChar char="❖"/>
              <a:defRPr sz="2400"/>
            </a:lvl1pPr>
            <a:lvl2pPr indent="-355600" lvl="1" marL="914400" algn="l">
              <a:lnSpc>
                <a:spcPct val="85000"/>
              </a:lnSpc>
              <a:spcBef>
                <a:spcPts val="400"/>
              </a:spcBef>
              <a:spcAft>
                <a:spcPts val="0"/>
              </a:spcAft>
              <a:buSzPts val="2000"/>
              <a:buChar char="▪"/>
              <a:defRPr sz="2000"/>
            </a:lvl2pPr>
            <a:lvl3pPr indent="-342900" lvl="2" marL="1371600" algn="l">
              <a:spcBef>
                <a:spcPts val="360"/>
              </a:spcBef>
              <a:spcAft>
                <a:spcPts val="0"/>
              </a:spcAft>
              <a:buClr>
                <a:schemeClr val="dk1"/>
              </a:buClr>
              <a:buSzPts val="1800"/>
              <a:buFont typeface="Comic Sans MS"/>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50" name="Google Shape;50;p106"/>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06"/>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6"/>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07"/>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07"/>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7"/>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07"/>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8"/>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8"/>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360680" lvl="0" marL="457200" algn="l">
              <a:lnSpc>
                <a:spcPct val="85000"/>
              </a:lnSpc>
              <a:spcBef>
                <a:spcPts val="640"/>
              </a:spcBef>
              <a:spcAft>
                <a:spcPts val="0"/>
              </a:spcAft>
              <a:buSzPts val="2080"/>
              <a:buChar char="❖"/>
              <a:defRPr sz="3200"/>
            </a:lvl1pPr>
            <a:lvl2pPr indent="-406400" lvl="1" marL="914400" algn="l">
              <a:lnSpc>
                <a:spcPct val="85000"/>
              </a:lnSpc>
              <a:spcBef>
                <a:spcPts val="560"/>
              </a:spcBef>
              <a:spcAft>
                <a:spcPts val="0"/>
              </a:spcAft>
              <a:buSzPts val="2800"/>
              <a:buChar char="▪"/>
              <a:defRPr sz="2800"/>
            </a:lvl2pPr>
            <a:lvl3pPr indent="-381000" lvl="2" marL="1371600" algn="l">
              <a:spcBef>
                <a:spcPts val="480"/>
              </a:spcBef>
              <a:spcAft>
                <a:spcPts val="0"/>
              </a:spcAft>
              <a:buClr>
                <a:schemeClr val="dk1"/>
              </a:buClr>
              <a:buSzPts val="2400"/>
              <a:buFont typeface="Comic Sans MS"/>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61" name="Google Shape;61;p108"/>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910"/>
              <a:buNone/>
              <a:defRPr sz="1400"/>
            </a:lvl1pPr>
            <a:lvl2pPr indent="-228600" lvl="1" marL="914400" algn="l">
              <a:lnSpc>
                <a:spcPct val="85000"/>
              </a:lnSpc>
              <a:spcBef>
                <a:spcPts val="240"/>
              </a:spcBef>
              <a:spcAft>
                <a:spcPts val="0"/>
              </a:spcAft>
              <a:buSzPts val="1200"/>
              <a:buNone/>
              <a:defRPr sz="1200"/>
            </a:lvl2pPr>
            <a:lvl3pPr indent="-228600" lvl="2" marL="1371600" algn="l">
              <a:spcBef>
                <a:spcPts val="200"/>
              </a:spcBef>
              <a:spcAft>
                <a:spcPts val="0"/>
              </a:spcAft>
              <a:buClr>
                <a:schemeClr val="dk1"/>
              </a:buClr>
              <a:buSzPts val="1000"/>
              <a:buFont typeface="Comic Sans MS"/>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2" name="Google Shape;62;p108"/>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8"/>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8"/>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9"/>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9"/>
          <p:cNvSpPr/>
          <p:nvPr>
            <p:ph idx="2" type="pic"/>
          </p:nvPr>
        </p:nvSpPr>
        <p:spPr>
          <a:xfrm>
            <a:off x="2389717" y="612775"/>
            <a:ext cx="7315200" cy="4114800"/>
          </a:xfrm>
          <a:prstGeom prst="rect">
            <a:avLst/>
          </a:prstGeom>
          <a:noFill/>
          <a:ln>
            <a:noFill/>
          </a:ln>
        </p:spPr>
      </p:sp>
      <p:sp>
        <p:nvSpPr>
          <p:cNvPr id="68" name="Google Shape;68;p109"/>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910"/>
              <a:buNone/>
              <a:defRPr sz="1400"/>
            </a:lvl1pPr>
            <a:lvl2pPr indent="-228600" lvl="1" marL="914400" algn="l">
              <a:lnSpc>
                <a:spcPct val="85000"/>
              </a:lnSpc>
              <a:spcBef>
                <a:spcPts val="240"/>
              </a:spcBef>
              <a:spcAft>
                <a:spcPts val="0"/>
              </a:spcAft>
              <a:buSzPts val="1200"/>
              <a:buNone/>
              <a:defRPr sz="1200"/>
            </a:lvl2pPr>
            <a:lvl3pPr indent="-228600" lvl="2" marL="1371600" algn="l">
              <a:spcBef>
                <a:spcPts val="200"/>
              </a:spcBef>
              <a:spcAft>
                <a:spcPts val="0"/>
              </a:spcAft>
              <a:buClr>
                <a:schemeClr val="dk1"/>
              </a:buClr>
              <a:buSzPts val="1000"/>
              <a:buFont typeface="Comic Sans MS"/>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9" name="Google Shape;69;p109"/>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9"/>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9"/>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0"/>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0"/>
          <p:cNvSpPr txBox="1"/>
          <p:nvPr>
            <p:ph idx="1" type="body"/>
          </p:nvPr>
        </p:nvSpPr>
        <p:spPr>
          <a:xfrm rot="5400000">
            <a:off x="3568700" y="-1246187"/>
            <a:ext cx="4648200" cy="10363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0"/>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0"/>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0"/>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11"/>
          <p:cNvSpPr txBox="1"/>
          <p:nvPr>
            <p:ph type="title"/>
          </p:nvPr>
        </p:nvSpPr>
        <p:spPr>
          <a:xfrm rot="5400000">
            <a:off x="6763544" y="1948657"/>
            <a:ext cx="6030913" cy="2590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1"/>
          <p:cNvSpPr txBox="1"/>
          <p:nvPr>
            <p:ph idx="1" type="body"/>
          </p:nvPr>
        </p:nvSpPr>
        <p:spPr>
          <a:xfrm rot="5400000">
            <a:off x="1480344" y="-540543"/>
            <a:ext cx="6030913" cy="7569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11"/>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1"/>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1"/>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4" name="Shape 84"/>
        <p:cNvGrpSpPr/>
        <p:nvPr/>
      </p:nvGrpSpPr>
      <p:grpSpPr>
        <a:xfrm>
          <a:off x="0" y="0"/>
          <a:ext cx="0" cy="0"/>
          <a:chOff x="0" y="0"/>
          <a:chExt cx="0" cy="0"/>
        </a:xfrm>
      </p:grpSpPr>
      <p:sp>
        <p:nvSpPr>
          <p:cNvPr id="85" name="Google Shape;85;p112"/>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2"/>
          <p:cNvSpPr txBox="1"/>
          <p:nvPr>
            <p:ph idx="1" type="body"/>
          </p:nvPr>
        </p:nvSpPr>
        <p:spPr>
          <a:xfrm>
            <a:off x="711200" y="1611313"/>
            <a:ext cx="508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112"/>
          <p:cNvSpPr txBox="1"/>
          <p:nvPr>
            <p:ph idx="2" type="body"/>
          </p:nvPr>
        </p:nvSpPr>
        <p:spPr>
          <a:xfrm>
            <a:off x="5994400" y="1611313"/>
            <a:ext cx="5080000" cy="22479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112"/>
          <p:cNvSpPr txBox="1"/>
          <p:nvPr>
            <p:ph idx="3" type="body"/>
          </p:nvPr>
        </p:nvSpPr>
        <p:spPr>
          <a:xfrm>
            <a:off x="5994400" y="4011613"/>
            <a:ext cx="5080000" cy="22479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9" name="Google Shape;89;p112"/>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2"/>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rgbClr val="000000"/>
                </a:solidFill>
                <a:latin typeface="Tahoma"/>
                <a:ea typeface="Tahoma"/>
                <a:cs typeface="Tahoma"/>
                <a:sym typeface="Tahoma"/>
              </a:defRPr>
            </a:lvl1pPr>
            <a:lvl2pPr indent="0" lvl="1" marL="0" marR="0" algn="l">
              <a:spcBef>
                <a:spcPts val="0"/>
              </a:spcBef>
              <a:buNone/>
              <a:defRPr sz="1200">
                <a:solidFill>
                  <a:srgbClr val="000000"/>
                </a:solidFill>
                <a:latin typeface="Tahoma"/>
                <a:ea typeface="Tahoma"/>
                <a:cs typeface="Tahoma"/>
                <a:sym typeface="Tahoma"/>
              </a:defRPr>
            </a:lvl2pPr>
            <a:lvl3pPr indent="0" lvl="2" marL="0" marR="0" algn="l">
              <a:spcBef>
                <a:spcPts val="0"/>
              </a:spcBef>
              <a:buNone/>
              <a:defRPr sz="1200">
                <a:solidFill>
                  <a:srgbClr val="000000"/>
                </a:solidFill>
                <a:latin typeface="Tahoma"/>
                <a:ea typeface="Tahoma"/>
                <a:cs typeface="Tahoma"/>
                <a:sym typeface="Tahoma"/>
              </a:defRPr>
            </a:lvl3pPr>
            <a:lvl4pPr indent="0" lvl="3" marL="0" marR="0" algn="l">
              <a:spcBef>
                <a:spcPts val="0"/>
              </a:spcBef>
              <a:buNone/>
              <a:defRPr sz="1200">
                <a:solidFill>
                  <a:srgbClr val="000000"/>
                </a:solidFill>
                <a:latin typeface="Tahoma"/>
                <a:ea typeface="Tahoma"/>
                <a:cs typeface="Tahoma"/>
                <a:sym typeface="Tahoma"/>
              </a:defRPr>
            </a:lvl4pPr>
            <a:lvl5pPr indent="0" lvl="4" marL="0" marR="0" algn="l">
              <a:spcBef>
                <a:spcPts val="0"/>
              </a:spcBef>
              <a:buNone/>
              <a:defRPr sz="1200">
                <a:solidFill>
                  <a:srgbClr val="000000"/>
                </a:solidFill>
                <a:latin typeface="Tahoma"/>
                <a:ea typeface="Tahoma"/>
                <a:cs typeface="Tahoma"/>
                <a:sym typeface="Tahoma"/>
              </a:defRPr>
            </a:lvl5pPr>
            <a:lvl6pPr indent="0" lvl="5" marL="0" marR="0" algn="l">
              <a:spcBef>
                <a:spcPts val="0"/>
              </a:spcBef>
              <a:buNone/>
              <a:defRPr sz="1200">
                <a:solidFill>
                  <a:srgbClr val="000000"/>
                </a:solidFill>
                <a:latin typeface="Tahoma"/>
                <a:ea typeface="Tahoma"/>
                <a:cs typeface="Tahoma"/>
                <a:sym typeface="Tahoma"/>
              </a:defRPr>
            </a:lvl6pPr>
            <a:lvl7pPr indent="0" lvl="6" marL="0" marR="0" algn="l">
              <a:spcBef>
                <a:spcPts val="0"/>
              </a:spcBef>
              <a:buNone/>
              <a:defRPr sz="1200">
                <a:solidFill>
                  <a:srgbClr val="000000"/>
                </a:solidFill>
                <a:latin typeface="Tahoma"/>
                <a:ea typeface="Tahoma"/>
                <a:cs typeface="Tahoma"/>
                <a:sym typeface="Tahoma"/>
              </a:defRPr>
            </a:lvl7pPr>
            <a:lvl8pPr indent="0" lvl="7" marL="0" marR="0" algn="l">
              <a:spcBef>
                <a:spcPts val="0"/>
              </a:spcBef>
              <a:buNone/>
              <a:defRPr sz="1200">
                <a:solidFill>
                  <a:srgbClr val="000000"/>
                </a:solidFill>
                <a:latin typeface="Tahoma"/>
                <a:ea typeface="Tahoma"/>
                <a:cs typeface="Tahoma"/>
                <a:sym typeface="Tahoma"/>
              </a:defRPr>
            </a:lvl8pPr>
            <a:lvl9pPr indent="0" lvl="8" marL="0" marR="0" algn="l">
              <a:spcBef>
                <a:spcPts val="0"/>
              </a:spcBef>
              <a:buNone/>
              <a:defRPr sz="1200">
                <a:solidFill>
                  <a:srgbClr val="000000"/>
                </a:solidFill>
                <a:latin typeface="Tahoma"/>
                <a:ea typeface="Tahoma"/>
                <a:cs typeface="Tahoma"/>
                <a:sym typeface="Tahoma"/>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6" name="Shape 96"/>
        <p:cNvGrpSpPr/>
        <p:nvPr/>
      </p:nvGrpSpPr>
      <p:grpSpPr>
        <a:xfrm>
          <a:off x="0" y="0"/>
          <a:ext cx="0" cy="0"/>
          <a:chOff x="0" y="0"/>
          <a:chExt cx="0" cy="0"/>
        </a:xfrm>
      </p:grpSpPr>
      <p:sp>
        <p:nvSpPr>
          <p:cNvPr id="97" name="Google Shape;97;p9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9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9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01" name="Shape 101"/>
        <p:cNvGrpSpPr/>
        <p:nvPr/>
      </p:nvGrpSpPr>
      <p:grpSpPr>
        <a:xfrm>
          <a:off x="0" y="0"/>
          <a:ext cx="0" cy="0"/>
          <a:chOff x="0" y="0"/>
          <a:chExt cx="0" cy="0"/>
        </a:xfrm>
      </p:grpSpPr>
      <p:sp>
        <p:nvSpPr>
          <p:cNvPr id="102" name="Google Shape;102;p9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9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105" name="Shape 105"/>
        <p:cNvGrpSpPr/>
        <p:nvPr/>
      </p:nvGrpSpPr>
      <p:grpSpPr>
        <a:xfrm>
          <a:off x="0" y="0"/>
          <a:ext cx="0" cy="0"/>
          <a:chOff x="0" y="0"/>
          <a:chExt cx="0" cy="0"/>
        </a:xfrm>
      </p:grpSpPr>
      <p:sp>
        <p:nvSpPr>
          <p:cNvPr id="106" name="Google Shape;106;p94"/>
          <p:cNvSpPr txBox="1"/>
          <p:nvPr>
            <p:ph idx="1" type="body"/>
          </p:nvPr>
        </p:nvSpPr>
        <p:spPr>
          <a:xfrm>
            <a:off x="632883" y="1797051"/>
            <a:ext cx="11040076" cy="4098595"/>
          </a:xfrm>
          <a:prstGeom prst="rect">
            <a:avLst/>
          </a:prstGeom>
          <a:noFill/>
          <a:ln>
            <a:noFill/>
          </a:ln>
        </p:spPr>
        <p:txBody>
          <a:bodyPr anchorCtr="0" anchor="t" bIns="45700" lIns="91400" spcFirstLastPara="1" rIns="91400" wrap="square" tIns="45700">
            <a:noAutofit/>
          </a:bodyPr>
          <a:lstStyle>
            <a:lvl1pPr indent="-228600" lvl="0" marL="457200" marR="0" algn="ctr">
              <a:lnSpc>
                <a:spcPct val="100000"/>
              </a:lnSpc>
              <a:spcBef>
                <a:spcPts val="533"/>
              </a:spcBef>
              <a:spcAft>
                <a:spcPts val="0"/>
              </a:spcAft>
              <a:buClr>
                <a:schemeClr val="lt1"/>
              </a:buClr>
              <a:buSzPts val="2667"/>
              <a:buFont typeface="Arial"/>
              <a:buNone/>
              <a:defRPr b="0" i="0" sz="2667">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94"/>
          <p:cNvSpPr txBox="1"/>
          <p:nvPr>
            <p:ph type="title"/>
          </p:nvPr>
        </p:nvSpPr>
        <p:spPr>
          <a:xfrm>
            <a:off x="583688" y="455085"/>
            <a:ext cx="11127317" cy="9757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C69"/>
              </a:buClr>
              <a:buSzPts val="4400"/>
              <a:buFont typeface="Calibri"/>
              <a:buNone/>
              <a:defRPr>
                <a:solidFill>
                  <a:srgbClr val="004C6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8" name="Shape 108"/>
        <p:cNvGrpSpPr/>
        <p:nvPr/>
      </p:nvGrpSpPr>
      <p:grpSpPr>
        <a:xfrm>
          <a:off x="0" y="0"/>
          <a:ext cx="0" cy="0"/>
          <a:chOff x="0" y="0"/>
          <a:chExt cx="0" cy="0"/>
        </a:xfrm>
      </p:grpSpPr>
      <p:sp>
        <p:nvSpPr>
          <p:cNvPr id="109" name="Google Shape;109;p10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0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1" name="Google Shape;111;p10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2" name="Shape 112"/>
        <p:cNvGrpSpPr/>
        <p:nvPr/>
      </p:nvGrpSpPr>
      <p:grpSpPr>
        <a:xfrm>
          <a:off x="0" y="0"/>
          <a:ext cx="0" cy="0"/>
          <a:chOff x="0" y="0"/>
          <a:chExt cx="0" cy="0"/>
        </a:xfrm>
      </p:grpSpPr>
      <p:sp>
        <p:nvSpPr>
          <p:cNvPr id="113" name="Google Shape;113;p10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10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9" name="Shape 119"/>
        <p:cNvGrpSpPr/>
        <p:nvPr/>
      </p:nvGrpSpPr>
      <p:grpSpPr>
        <a:xfrm>
          <a:off x="0" y="0"/>
          <a:ext cx="0" cy="0"/>
          <a:chOff x="0" y="0"/>
          <a:chExt cx="0" cy="0"/>
        </a:xfrm>
      </p:grpSpPr>
      <p:sp>
        <p:nvSpPr>
          <p:cNvPr id="120" name="Google Shape;120;p96"/>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9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3" name="Shape 123"/>
        <p:cNvGrpSpPr/>
        <p:nvPr/>
      </p:nvGrpSpPr>
      <p:grpSpPr>
        <a:xfrm>
          <a:off x="0" y="0"/>
          <a:ext cx="0" cy="0"/>
          <a:chOff x="0" y="0"/>
          <a:chExt cx="0" cy="0"/>
        </a:xfrm>
      </p:grpSpPr>
      <p:sp>
        <p:nvSpPr>
          <p:cNvPr id="124" name="Google Shape;124;p9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9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9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8" name="Shape 128"/>
        <p:cNvGrpSpPr/>
        <p:nvPr/>
      </p:nvGrpSpPr>
      <p:grpSpPr>
        <a:xfrm>
          <a:off x="0" y="0"/>
          <a:ext cx="0" cy="0"/>
          <a:chOff x="0" y="0"/>
          <a:chExt cx="0" cy="0"/>
        </a:xfrm>
      </p:grpSpPr>
      <p:sp>
        <p:nvSpPr>
          <p:cNvPr id="129" name="Google Shape;129;p1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1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31" name="Google Shape;131;p1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2" name="Shape 132"/>
        <p:cNvGrpSpPr/>
        <p:nvPr/>
      </p:nvGrpSpPr>
      <p:grpSpPr>
        <a:xfrm>
          <a:off x="0" y="0"/>
          <a:ext cx="0" cy="0"/>
          <a:chOff x="0" y="0"/>
          <a:chExt cx="0" cy="0"/>
        </a:xfrm>
      </p:grpSpPr>
      <p:sp>
        <p:nvSpPr>
          <p:cNvPr id="133" name="Google Shape;133;p11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9" name="Shape 139"/>
        <p:cNvGrpSpPr/>
        <p:nvPr/>
      </p:nvGrpSpPr>
      <p:grpSpPr>
        <a:xfrm>
          <a:off x="0" y="0"/>
          <a:ext cx="0" cy="0"/>
          <a:chOff x="0" y="0"/>
          <a:chExt cx="0" cy="0"/>
        </a:xfrm>
      </p:grpSpPr>
      <p:sp>
        <p:nvSpPr>
          <p:cNvPr id="140" name="Google Shape;140;p99"/>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9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9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3" name="Shape 143"/>
        <p:cNvGrpSpPr/>
        <p:nvPr/>
      </p:nvGrpSpPr>
      <p:grpSpPr>
        <a:xfrm>
          <a:off x="0" y="0"/>
          <a:ext cx="0" cy="0"/>
          <a:chOff x="0" y="0"/>
          <a:chExt cx="0" cy="0"/>
        </a:xfrm>
      </p:grpSpPr>
      <p:sp>
        <p:nvSpPr>
          <p:cNvPr id="144" name="Google Shape;144;p1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1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6" name="Google Shape;146;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7" name="Shape 147"/>
        <p:cNvGrpSpPr/>
        <p:nvPr/>
      </p:nvGrpSpPr>
      <p:grpSpPr>
        <a:xfrm>
          <a:off x="0" y="0"/>
          <a:ext cx="0" cy="0"/>
          <a:chOff x="0" y="0"/>
          <a:chExt cx="0" cy="0"/>
        </a:xfrm>
      </p:grpSpPr>
      <p:sp>
        <p:nvSpPr>
          <p:cNvPr id="148" name="Google Shape;148;p11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1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2" name="Shape 152"/>
        <p:cNvGrpSpPr/>
        <p:nvPr/>
      </p:nvGrpSpPr>
      <p:grpSpPr>
        <a:xfrm>
          <a:off x="0" y="0"/>
          <a:ext cx="0" cy="0"/>
          <a:chOff x="0" y="0"/>
          <a:chExt cx="0" cy="0"/>
        </a:xfrm>
      </p:grpSpPr>
      <p:sp>
        <p:nvSpPr>
          <p:cNvPr id="153" name="Google Shape;153;p11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4.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9"/>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1pPr>
            <a:lvl2pPr lvl="1"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2pPr>
            <a:lvl3pPr lvl="2"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3pPr>
            <a:lvl4pPr lvl="3"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4pPr>
            <a:lvl5pPr lvl="4"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5pPr>
            <a:lvl6pPr lvl="5"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6pPr>
            <a:lvl7pPr lvl="6"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7pPr>
            <a:lvl8pPr lvl="7"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8pPr>
            <a:lvl9pPr lvl="8"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9pPr>
          </a:lstStyle>
          <a:p/>
        </p:txBody>
      </p:sp>
      <p:sp>
        <p:nvSpPr>
          <p:cNvPr id="11" name="Google Shape;11;p89"/>
          <p:cNvSpPr txBox="1"/>
          <p:nvPr>
            <p:ph idx="1" type="body"/>
          </p:nvPr>
        </p:nvSpPr>
        <p:spPr>
          <a:xfrm>
            <a:off x="711200" y="1611313"/>
            <a:ext cx="10363200" cy="4648200"/>
          </a:xfrm>
          <a:prstGeom prst="rect">
            <a:avLst/>
          </a:prstGeom>
          <a:noFill/>
          <a:ln>
            <a:noFill/>
          </a:ln>
        </p:spPr>
        <p:txBody>
          <a:bodyPr anchorCtr="0" anchor="t" bIns="45700" lIns="91425" spcFirstLastPara="1" rIns="91425" wrap="square" tIns="45700">
            <a:noAutofit/>
          </a:bodyPr>
          <a:lstStyle>
            <a:lvl1pPr indent="-344170" lvl="0" marL="457200" marR="0" rtl="0" algn="l">
              <a:lnSpc>
                <a:spcPct val="85000"/>
              </a:lnSpc>
              <a:spcBef>
                <a:spcPts val="560"/>
              </a:spcBef>
              <a:spcAft>
                <a:spcPts val="0"/>
              </a:spcAft>
              <a:buClr>
                <a:srgbClr val="000099"/>
              </a:buClr>
              <a:buSzPts val="182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85000"/>
              </a:lnSpc>
              <a:spcBef>
                <a:spcPts val="480"/>
              </a:spcBef>
              <a:spcAft>
                <a:spcPts val="0"/>
              </a:spcAft>
              <a:buClr>
                <a:srgbClr val="000099"/>
              </a:buClr>
              <a:buSzPts val="2400"/>
              <a:buFont typeface="Noto Sans Symbols"/>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89"/>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89"/>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89"/>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0" i="0" sz="1200" u="none" cap="none" strike="noStrike">
                <a:solidFill>
                  <a:srgbClr val="000000"/>
                </a:solidFill>
                <a:latin typeface="Tahoma"/>
                <a:ea typeface="Tahoma"/>
                <a:cs typeface="Tahoma"/>
                <a:sym typeface="Tahoma"/>
              </a:defRPr>
            </a:lvl1pPr>
            <a:lvl2pPr indent="0" lvl="1" marL="0" marR="0" rtl="0" algn="l">
              <a:spcBef>
                <a:spcPts val="0"/>
              </a:spcBef>
              <a:spcAft>
                <a:spcPts val="0"/>
              </a:spcAft>
              <a:buNone/>
              <a:defRPr b="0" i="0" sz="1200" u="none" cap="none" strike="noStrike">
                <a:solidFill>
                  <a:srgbClr val="000000"/>
                </a:solidFill>
                <a:latin typeface="Tahoma"/>
                <a:ea typeface="Tahoma"/>
                <a:cs typeface="Tahoma"/>
                <a:sym typeface="Tahoma"/>
              </a:defRPr>
            </a:lvl2pPr>
            <a:lvl3pPr indent="0" lvl="2" marL="0" marR="0" rtl="0" algn="l">
              <a:spcBef>
                <a:spcPts val="0"/>
              </a:spcBef>
              <a:spcAft>
                <a:spcPts val="0"/>
              </a:spcAft>
              <a:buNone/>
              <a:defRPr b="0" i="0" sz="1200" u="none" cap="none" strike="noStrike">
                <a:solidFill>
                  <a:srgbClr val="000000"/>
                </a:solidFill>
                <a:latin typeface="Tahoma"/>
                <a:ea typeface="Tahoma"/>
                <a:cs typeface="Tahoma"/>
                <a:sym typeface="Tahoma"/>
              </a:defRPr>
            </a:lvl3pPr>
            <a:lvl4pPr indent="0" lvl="3" marL="0" marR="0" rtl="0" algn="l">
              <a:spcBef>
                <a:spcPts val="0"/>
              </a:spcBef>
              <a:spcAft>
                <a:spcPts val="0"/>
              </a:spcAft>
              <a:buNone/>
              <a:defRPr b="0" i="0" sz="1200" u="none" cap="none" strike="noStrike">
                <a:solidFill>
                  <a:srgbClr val="000000"/>
                </a:solidFill>
                <a:latin typeface="Tahoma"/>
                <a:ea typeface="Tahoma"/>
                <a:cs typeface="Tahoma"/>
                <a:sym typeface="Tahoma"/>
              </a:defRPr>
            </a:lvl4pPr>
            <a:lvl5pPr indent="0" lvl="4" marL="0" marR="0" rtl="0" algn="l">
              <a:spcBef>
                <a:spcPts val="0"/>
              </a:spcBef>
              <a:spcAft>
                <a:spcPts val="0"/>
              </a:spcAft>
              <a:buNone/>
              <a:defRPr b="0" i="0" sz="1200" u="none" cap="none" strike="noStrike">
                <a:solidFill>
                  <a:srgbClr val="000000"/>
                </a:solidFill>
                <a:latin typeface="Tahoma"/>
                <a:ea typeface="Tahoma"/>
                <a:cs typeface="Tahoma"/>
                <a:sym typeface="Tahoma"/>
              </a:defRPr>
            </a:lvl5pPr>
            <a:lvl6pPr indent="0" lvl="5" marL="0" marR="0" rtl="0" algn="l">
              <a:spcBef>
                <a:spcPts val="0"/>
              </a:spcBef>
              <a:spcAft>
                <a:spcPts val="0"/>
              </a:spcAft>
              <a:buNone/>
              <a:defRPr b="0" i="0" sz="1200" u="none" cap="none" strike="noStrike">
                <a:solidFill>
                  <a:srgbClr val="000000"/>
                </a:solidFill>
                <a:latin typeface="Tahoma"/>
                <a:ea typeface="Tahoma"/>
                <a:cs typeface="Tahoma"/>
                <a:sym typeface="Tahoma"/>
              </a:defRPr>
            </a:lvl6pPr>
            <a:lvl7pPr indent="0" lvl="6" marL="0" marR="0" rtl="0" algn="l">
              <a:spcBef>
                <a:spcPts val="0"/>
              </a:spcBef>
              <a:spcAft>
                <a:spcPts val="0"/>
              </a:spcAft>
              <a:buNone/>
              <a:defRPr b="0" i="0" sz="1200" u="none" cap="none" strike="noStrike">
                <a:solidFill>
                  <a:srgbClr val="000000"/>
                </a:solidFill>
                <a:latin typeface="Tahoma"/>
                <a:ea typeface="Tahoma"/>
                <a:cs typeface="Tahoma"/>
                <a:sym typeface="Tahoma"/>
              </a:defRPr>
            </a:lvl7pPr>
            <a:lvl8pPr indent="0" lvl="7" marL="0" marR="0" rtl="0" algn="l">
              <a:spcBef>
                <a:spcPts val="0"/>
              </a:spcBef>
              <a:spcAft>
                <a:spcPts val="0"/>
              </a:spcAft>
              <a:buNone/>
              <a:defRPr b="0" i="0" sz="1200" u="none" cap="none" strike="noStrike">
                <a:solidFill>
                  <a:srgbClr val="000000"/>
                </a:solidFill>
                <a:latin typeface="Tahoma"/>
                <a:ea typeface="Tahoma"/>
                <a:cs typeface="Tahoma"/>
                <a:sym typeface="Tahoma"/>
              </a:defRPr>
            </a:lvl8pPr>
            <a:lvl9pPr indent="0" lvl="8" marL="0" marR="0" rtl="0" algn="l">
              <a:spcBef>
                <a:spcPts val="0"/>
              </a:spcBef>
              <a:spcAft>
                <a:spcPts val="0"/>
              </a:spcAft>
              <a:buNone/>
              <a:defRPr b="0"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9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4" name="Google Shape;94;p9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 name="Google Shape;95;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9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7" name="Google Shape;117;p9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 name="Google Shape;118;p9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 id="2147483671" r:id="rId4"/>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9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7" name="Google Shape;137;p9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8" name="Google Shape;138;p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100">
                <a:solidFill>
                  <a:srgbClr val="7F7F7F"/>
                </a:solidFill>
                <a:latin typeface="Calibri"/>
                <a:ea typeface="Calibri"/>
                <a:cs typeface="Calibri"/>
                <a:sym typeface="Calibri"/>
              </a:defRPr>
            </a:lvl1pPr>
            <a:lvl2pPr indent="0" lvl="1" marL="0" marR="0" rtl="0" algn="r">
              <a:spcBef>
                <a:spcPts val="0"/>
              </a:spcBef>
              <a:buNone/>
              <a:defRPr sz="1100">
                <a:solidFill>
                  <a:srgbClr val="7F7F7F"/>
                </a:solidFill>
                <a:latin typeface="Calibri"/>
                <a:ea typeface="Calibri"/>
                <a:cs typeface="Calibri"/>
                <a:sym typeface="Calibri"/>
              </a:defRPr>
            </a:lvl2pPr>
            <a:lvl3pPr indent="0" lvl="2" marL="0" marR="0" rtl="0" algn="r">
              <a:spcBef>
                <a:spcPts val="0"/>
              </a:spcBef>
              <a:buNone/>
              <a:defRPr sz="1100">
                <a:solidFill>
                  <a:srgbClr val="7F7F7F"/>
                </a:solidFill>
                <a:latin typeface="Calibri"/>
                <a:ea typeface="Calibri"/>
                <a:cs typeface="Calibri"/>
                <a:sym typeface="Calibri"/>
              </a:defRPr>
            </a:lvl3pPr>
            <a:lvl4pPr indent="0" lvl="3" marL="0" marR="0" rtl="0" algn="r">
              <a:spcBef>
                <a:spcPts val="0"/>
              </a:spcBef>
              <a:buNone/>
              <a:defRPr sz="1100">
                <a:solidFill>
                  <a:srgbClr val="7F7F7F"/>
                </a:solidFill>
                <a:latin typeface="Calibri"/>
                <a:ea typeface="Calibri"/>
                <a:cs typeface="Calibri"/>
                <a:sym typeface="Calibri"/>
              </a:defRPr>
            </a:lvl4pPr>
            <a:lvl5pPr indent="0" lvl="4" marL="0" marR="0" rtl="0" algn="r">
              <a:spcBef>
                <a:spcPts val="0"/>
              </a:spcBef>
              <a:buNone/>
              <a:defRPr sz="1100">
                <a:solidFill>
                  <a:srgbClr val="7F7F7F"/>
                </a:solidFill>
                <a:latin typeface="Calibri"/>
                <a:ea typeface="Calibri"/>
                <a:cs typeface="Calibri"/>
                <a:sym typeface="Calibri"/>
              </a:defRPr>
            </a:lvl5pPr>
            <a:lvl6pPr indent="0" lvl="5" marL="0" marR="0" rtl="0" algn="r">
              <a:spcBef>
                <a:spcPts val="0"/>
              </a:spcBef>
              <a:buNone/>
              <a:defRPr sz="1100">
                <a:solidFill>
                  <a:srgbClr val="7F7F7F"/>
                </a:solidFill>
                <a:latin typeface="Calibri"/>
                <a:ea typeface="Calibri"/>
                <a:cs typeface="Calibri"/>
                <a:sym typeface="Calibri"/>
              </a:defRPr>
            </a:lvl6pPr>
            <a:lvl7pPr indent="0" lvl="6" marL="0" marR="0" rtl="0" algn="r">
              <a:spcBef>
                <a:spcPts val="0"/>
              </a:spcBef>
              <a:buNone/>
              <a:defRPr sz="1100">
                <a:solidFill>
                  <a:srgbClr val="7F7F7F"/>
                </a:solidFill>
                <a:latin typeface="Calibri"/>
                <a:ea typeface="Calibri"/>
                <a:cs typeface="Calibri"/>
                <a:sym typeface="Calibri"/>
              </a:defRPr>
            </a:lvl7pPr>
            <a:lvl8pPr indent="0" lvl="7" marL="0" marR="0" rtl="0" algn="r">
              <a:spcBef>
                <a:spcPts val="0"/>
              </a:spcBef>
              <a:buNone/>
              <a:defRPr sz="1100">
                <a:solidFill>
                  <a:srgbClr val="7F7F7F"/>
                </a:solidFill>
                <a:latin typeface="Calibri"/>
                <a:ea typeface="Calibri"/>
                <a:cs typeface="Calibri"/>
                <a:sym typeface="Calibri"/>
              </a:defRPr>
            </a:lvl8pPr>
            <a:lvl9pPr indent="0" lvl="8" marL="0" marR="0" rt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hyperlink" Target="http://meet.google.com/rca-cwkd-cmh"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0" Type="http://schemas.openxmlformats.org/officeDocument/2006/relationships/image" Target="../media/image21.png"/><Relationship Id="rId11" Type="http://schemas.openxmlformats.org/officeDocument/2006/relationships/image" Target="../media/image9.png"/><Relationship Id="rId22" Type="http://schemas.openxmlformats.org/officeDocument/2006/relationships/image" Target="../media/image24.png"/><Relationship Id="rId10" Type="http://schemas.openxmlformats.org/officeDocument/2006/relationships/image" Target="../media/image10.png"/><Relationship Id="rId21" Type="http://schemas.openxmlformats.org/officeDocument/2006/relationships/image" Target="../media/image20.png"/><Relationship Id="rId13" Type="http://schemas.openxmlformats.org/officeDocument/2006/relationships/image" Target="../media/image14.png"/><Relationship Id="rId12" Type="http://schemas.openxmlformats.org/officeDocument/2006/relationships/image" Target="../media/image11.png"/><Relationship Id="rId23" Type="http://schemas.openxmlformats.org/officeDocument/2006/relationships/image" Target="../media/image23.png"/><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7.png"/><Relationship Id="rId15" Type="http://schemas.openxmlformats.org/officeDocument/2006/relationships/image" Target="../media/image13.png"/><Relationship Id="rId14" Type="http://schemas.openxmlformats.org/officeDocument/2006/relationships/image" Target="../media/image17.png"/><Relationship Id="rId17" Type="http://schemas.openxmlformats.org/officeDocument/2006/relationships/image" Target="../media/image16.png"/><Relationship Id="rId16" Type="http://schemas.openxmlformats.org/officeDocument/2006/relationships/image" Target="../media/image15.png"/><Relationship Id="rId5" Type="http://schemas.openxmlformats.org/officeDocument/2006/relationships/image" Target="../media/image3.png"/><Relationship Id="rId19" Type="http://schemas.openxmlformats.org/officeDocument/2006/relationships/image" Target="../media/image19.png"/><Relationship Id="rId6" Type="http://schemas.openxmlformats.org/officeDocument/2006/relationships/image" Target="../media/image5.png"/><Relationship Id="rId18" Type="http://schemas.openxmlformats.org/officeDocument/2006/relationships/image" Target="../media/image18.png"/><Relationship Id="rId7" Type="http://schemas.openxmlformats.org/officeDocument/2006/relationships/image" Target="../media/image6.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2.jp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3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0" Type="http://schemas.openxmlformats.org/officeDocument/2006/relationships/image" Target="../media/image21.png"/><Relationship Id="rId11" Type="http://schemas.openxmlformats.org/officeDocument/2006/relationships/image" Target="../media/image9.png"/><Relationship Id="rId22" Type="http://schemas.openxmlformats.org/officeDocument/2006/relationships/image" Target="../media/image24.png"/><Relationship Id="rId10" Type="http://schemas.openxmlformats.org/officeDocument/2006/relationships/image" Target="../media/image10.png"/><Relationship Id="rId21" Type="http://schemas.openxmlformats.org/officeDocument/2006/relationships/image" Target="../media/image20.png"/><Relationship Id="rId13" Type="http://schemas.openxmlformats.org/officeDocument/2006/relationships/image" Target="../media/image14.png"/><Relationship Id="rId12" Type="http://schemas.openxmlformats.org/officeDocument/2006/relationships/image" Target="../media/image11.png"/><Relationship Id="rId23" Type="http://schemas.openxmlformats.org/officeDocument/2006/relationships/image" Target="../media/image23.png"/><Relationship Id="rId1" Type="http://schemas.openxmlformats.org/officeDocument/2006/relationships/slideLayout" Target="../slideLayouts/slideLayout18.xml"/><Relationship Id="rId2" Type="http://schemas.openxmlformats.org/officeDocument/2006/relationships/notesSlide" Target="../notesSlides/notesSlide57.xml"/><Relationship Id="rId3"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7.png"/><Relationship Id="rId15" Type="http://schemas.openxmlformats.org/officeDocument/2006/relationships/image" Target="../media/image13.png"/><Relationship Id="rId14" Type="http://schemas.openxmlformats.org/officeDocument/2006/relationships/image" Target="../media/image17.png"/><Relationship Id="rId17" Type="http://schemas.openxmlformats.org/officeDocument/2006/relationships/image" Target="../media/image16.png"/><Relationship Id="rId16" Type="http://schemas.openxmlformats.org/officeDocument/2006/relationships/image" Target="../media/image15.png"/><Relationship Id="rId5" Type="http://schemas.openxmlformats.org/officeDocument/2006/relationships/image" Target="../media/image3.png"/><Relationship Id="rId19" Type="http://schemas.openxmlformats.org/officeDocument/2006/relationships/image" Target="../media/image19.png"/><Relationship Id="rId6" Type="http://schemas.openxmlformats.org/officeDocument/2006/relationships/image" Target="../media/image5.png"/><Relationship Id="rId18" Type="http://schemas.openxmlformats.org/officeDocument/2006/relationships/image" Target="../media/image18.png"/><Relationship Id="rId7" Type="http://schemas.openxmlformats.org/officeDocument/2006/relationships/image" Target="../media/image6.png"/><Relationship Id="rId8"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0.xml"/><Relationship Id="rId3" Type="http://schemas.openxmlformats.org/officeDocument/2006/relationships/image" Target="../media/image36.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7.xml"/><Relationship Id="rId3" Type="http://schemas.openxmlformats.org/officeDocument/2006/relationships/image" Target="../media/image3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
          <p:cNvSpPr txBox="1"/>
          <p:nvPr>
            <p:ph idx="11" type="ftr"/>
          </p:nvPr>
        </p:nvSpPr>
        <p:spPr>
          <a:xfrm>
            <a:off x="7435851" y="6467475"/>
            <a:ext cx="38608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r>
              <a:rPr b="0" i="0" lang="en-US" sz="1200" u="none" cap="none" strike="noStrike">
                <a:solidFill>
                  <a:srgbClr val="000000"/>
                </a:solidFill>
                <a:latin typeface="Tahoma"/>
                <a:ea typeface="Tahoma"/>
                <a:cs typeface="Tahoma"/>
                <a:sym typeface="Tahoma"/>
              </a:rPr>
              <a:t>Introduction</a:t>
            </a:r>
            <a:endParaRPr/>
          </a:p>
        </p:txBody>
      </p:sp>
      <p:sp>
        <p:nvSpPr>
          <p:cNvPr id="160" name="Google Shape;160;p1"/>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Noto Sans Symbols"/>
              <a:buNone/>
            </a:pPr>
            <a:r>
              <a:rPr b="0" i="0" lang="en-US" sz="1200" u="none" cap="none" strike="noStrike">
                <a:solidFill>
                  <a:srgbClr val="000000"/>
                </a:solidFill>
                <a:latin typeface="Tahoma"/>
                <a:ea typeface="Tahoma"/>
                <a:cs typeface="Tahoma"/>
                <a:sym typeface="Tahoma"/>
              </a:rPr>
              <a:t>1-</a:t>
            </a: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61" name="Google Shape;161;p1"/>
          <p:cNvSpPr/>
          <p:nvPr/>
        </p:nvSpPr>
        <p:spPr>
          <a:xfrm>
            <a:off x="1895476" y="180976"/>
            <a:ext cx="5688013" cy="2221523"/>
          </a:xfrm>
          <a:prstGeom prst="rect">
            <a:avLst/>
          </a:prstGeom>
          <a:no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99"/>
              </a:buClr>
              <a:buSzPts val="4400"/>
              <a:buFont typeface="Noto Sans Symbols"/>
              <a:buNone/>
            </a:pPr>
            <a:r>
              <a:rPr b="0" i="0" lang="en-US" sz="4400" u="none" cap="none" strike="noStrike">
                <a:solidFill>
                  <a:srgbClr val="000099"/>
                </a:solidFill>
                <a:latin typeface="Gill Sans"/>
                <a:ea typeface="Gill Sans"/>
                <a:cs typeface="Gill Sans"/>
                <a:sym typeface="Gill Sans"/>
              </a:rPr>
              <a:t>Chapter 4 &amp; 5</a:t>
            </a:r>
            <a:br>
              <a:rPr b="0" i="0" lang="en-US" sz="4400" u="none" cap="none" strike="noStrike">
                <a:solidFill>
                  <a:srgbClr val="000099"/>
                </a:solidFill>
                <a:latin typeface="Gill Sans"/>
                <a:ea typeface="Gill Sans"/>
                <a:cs typeface="Gill Sans"/>
                <a:sym typeface="Gill Sans"/>
              </a:rPr>
            </a:br>
            <a:r>
              <a:rPr b="0" i="0" lang="en-US" sz="4400" u="none" cap="none" strike="noStrike">
                <a:solidFill>
                  <a:srgbClr val="000099"/>
                </a:solidFill>
                <a:latin typeface="Gill Sans"/>
                <a:ea typeface="Gill Sans"/>
                <a:cs typeface="Gill Sans"/>
                <a:sym typeface="Gill Sans"/>
              </a:rPr>
              <a:t>Network Layer </a:t>
            </a:r>
            <a:endParaRPr/>
          </a:p>
          <a:p>
            <a:pPr indent="0" lvl="0" marL="0" marR="0" rtl="0" algn="ctr">
              <a:lnSpc>
                <a:spcPct val="85000"/>
              </a:lnSpc>
              <a:spcBef>
                <a:spcPts val="0"/>
              </a:spcBef>
              <a:spcAft>
                <a:spcPts val="0"/>
              </a:spcAft>
              <a:buClr>
                <a:srgbClr val="000099"/>
              </a:buClr>
              <a:buSzPts val="4000"/>
              <a:buFont typeface="Noto Sans Symbols"/>
              <a:buNone/>
            </a:pPr>
            <a:r>
              <a:rPr b="0" i="0" lang="en-US" sz="4000" u="none" cap="none" strike="noStrike">
                <a:solidFill>
                  <a:srgbClr val="000099"/>
                </a:solidFill>
                <a:latin typeface="Gill Sans"/>
                <a:ea typeface="Gill Sans"/>
                <a:cs typeface="Gill Sans"/>
                <a:sym typeface="Gill Sans"/>
              </a:rPr>
              <a:t>(</a:t>
            </a:r>
            <a:r>
              <a:rPr b="0" i="0" lang="en-US" sz="4000" u="none" cap="none" strike="noStrike">
                <a:solidFill>
                  <a:srgbClr val="FF0000"/>
                </a:solidFill>
                <a:latin typeface="Gill Sans"/>
                <a:ea typeface="Gill Sans"/>
                <a:cs typeface="Gill Sans"/>
                <a:sym typeface="Gill Sans"/>
              </a:rPr>
              <a:t>Sec – 4.1, 4.3, &amp; 5.2</a:t>
            </a:r>
            <a:r>
              <a:rPr b="0" i="0" lang="en-US" sz="4000" u="none" cap="none" strike="noStrike">
                <a:solidFill>
                  <a:srgbClr val="000099"/>
                </a:solidFill>
                <a:latin typeface="Gill Sans"/>
                <a:ea typeface="Gill Sans"/>
                <a:cs typeface="Gill Sans"/>
                <a:sym typeface="Gill Sans"/>
              </a:rPr>
              <a:t>)</a:t>
            </a:r>
            <a:endParaRPr b="0" i="0" sz="4000" u="none" cap="none" strike="noStrike">
              <a:solidFill>
                <a:srgbClr val="000099"/>
              </a:solidFill>
              <a:latin typeface="Gill Sans"/>
              <a:ea typeface="Gill Sans"/>
              <a:cs typeface="Gill Sans"/>
              <a:sym typeface="Gill Sans"/>
            </a:endParaRPr>
          </a:p>
        </p:txBody>
      </p:sp>
      <p:sp>
        <p:nvSpPr>
          <p:cNvPr id="162" name="Google Shape;162;p1"/>
          <p:cNvSpPr/>
          <p:nvPr/>
        </p:nvSpPr>
        <p:spPr>
          <a:xfrm>
            <a:off x="7708901" y="3078164"/>
            <a:ext cx="2881313"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Clr>
                <a:srgbClr val="008000"/>
              </a:buClr>
              <a:buSzPts val="2800"/>
              <a:buFont typeface="Noto Sans Symbols"/>
              <a:buNone/>
            </a:pPr>
            <a:r>
              <a:rPr b="0" i="1" lang="en-US" sz="2800" u="none" cap="none" strike="noStrike">
                <a:solidFill>
                  <a:srgbClr val="008000"/>
                </a:solidFill>
                <a:latin typeface="Gill Sans"/>
                <a:ea typeface="Gill Sans"/>
                <a:cs typeface="Gill Sans"/>
                <a:sym typeface="Gill Sans"/>
              </a:rPr>
              <a:t>Computer Networking: A Top Down Approach </a:t>
            </a:r>
            <a:br>
              <a:rPr b="0" i="0" lang="en-US" sz="2800" u="none" cap="none" strike="noStrike">
                <a:solidFill>
                  <a:srgbClr val="008000"/>
                </a:solidFill>
                <a:latin typeface="Gill Sans"/>
                <a:ea typeface="Gill Sans"/>
                <a:cs typeface="Gill Sans"/>
                <a:sym typeface="Gill Sans"/>
              </a:rPr>
            </a:br>
            <a:r>
              <a:rPr b="0" i="0" lang="en-US" sz="2000" u="none" cap="none" strike="noStrike">
                <a:solidFill>
                  <a:srgbClr val="008000"/>
                </a:solidFill>
                <a:latin typeface="Gill Sans"/>
                <a:ea typeface="Gill Sans"/>
                <a:cs typeface="Gill Sans"/>
                <a:sym typeface="Gill Sans"/>
              </a:rPr>
              <a:t>7</a:t>
            </a:r>
            <a:r>
              <a:rPr b="0" baseline="30000" i="0" lang="en-US" sz="2000" u="none" cap="none" strike="noStrike">
                <a:solidFill>
                  <a:srgbClr val="008000"/>
                </a:solidFill>
                <a:latin typeface="Gill Sans"/>
                <a:ea typeface="Gill Sans"/>
                <a:cs typeface="Gill Sans"/>
                <a:sym typeface="Gill Sans"/>
              </a:rPr>
              <a:t>th</a:t>
            </a:r>
            <a:r>
              <a:rPr b="0" i="0" lang="en-US" sz="2000" u="none" cap="none" strike="noStrike">
                <a:solidFill>
                  <a:srgbClr val="008000"/>
                </a:solidFill>
                <a:latin typeface="Gill Sans"/>
                <a:ea typeface="Gill Sans"/>
                <a:cs typeface="Gill Sans"/>
                <a:sym typeface="Gill Sans"/>
              </a:rPr>
              <a:t> edition </a:t>
            </a:r>
            <a:br>
              <a:rPr b="0" i="0" lang="en-US" sz="2000" u="none" cap="none" strike="noStrike">
                <a:solidFill>
                  <a:srgbClr val="008000"/>
                </a:solidFill>
                <a:latin typeface="Gill Sans"/>
                <a:ea typeface="Gill Sans"/>
                <a:cs typeface="Gill Sans"/>
                <a:sym typeface="Gill Sans"/>
              </a:rPr>
            </a:br>
            <a:r>
              <a:rPr b="0" i="0" lang="en-US" sz="2000" u="none" cap="none" strike="noStrike">
                <a:solidFill>
                  <a:srgbClr val="008000"/>
                </a:solidFill>
                <a:latin typeface="Gill Sans"/>
                <a:ea typeface="Gill Sans"/>
                <a:cs typeface="Gill Sans"/>
                <a:sym typeface="Gill Sans"/>
              </a:rPr>
              <a:t>Jim Kurose, Keith Ross</a:t>
            </a:r>
            <a:br>
              <a:rPr b="0" i="0" lang="en-US" sz="2000" u="none" cap="none" strike="noStrike">
                <a:solidFill>
                  <a:srgbClr val="008000"/>
                </a:solidFill>
                <a:latin typeface="Gill Sans"/>
                <a:ea typeface="Gill Sans"/>
                <a:cs typeface="Gill Sans"/>
                <a:sym typeface="Gill Sans"/>
              </a:rPr>
            </a:br>
            <a:r>
              <a:rPr b="0" i="0" lang="en-US" sz="2000" u="none" cap="none" strike="noStrike">
                <a:solidFill>
                  <a:srgbClr val="008000"/>
                </a:solidFill>
                <a:latin typeface="Gill Sans"/>
                <a:ea typeface="Gill Sans"/>
                <a:cs typeface="Gill Sans"/>
                <a:sym typeface="Gill Sans"/>
              </a:rPr>
              <a:t>Addison-Wesley</a:t>
            </a:r>
            <a:br>
              <a:rPr b="0" i="0" lang="en-US" sz="2000" u="none" cap="none" strike="noStrike">
                <a:solidFill>
                  <a:srgbClr val="008000"/>
                </a:solidFill>
                <a:latin typeface="Gill Sans"/>
                <a:ea typeface="Gill Sans"/>
                <a:cs typeface="Gill Sans"/>
                <a:sym typeface="Gill Sans"/>
              </a:rPr>
            </a:br>
            <a:r>
              <a:rPr b="0" i="0" lang="en-US" sz="2000" u="none" cap="none" strike="noStrike">
                <a:solidFill>
                  <a:srgbClr val="008000"/>
                </a:solidFill>
                <a:latin typeface="Gill Sans"/>
                <a:ea typeface="Gill Sans"/>
                <a:cs typeface="Gill Sans"/>
                <a:sym typeface="Gill Sans"/>
              </a:rPr>
              <a:t>March 2017</a:t>
            </a:r>
            <a:endParaRPr/>
          </a:p>
        </p:txBody>
      </p:sp>
      <p:pic>
        <p:nvPicPr>
          <p:cNvPr descr="underline_base" id="163" name="Google Shape;163;p1"/>
          <p:cNvPicPr preferRelativeResize="0"/>
          <p:nvPr/>
        </p:nvPicPr>
        <p:blipFill rotWithShape="1">
          <a:blip r:embed="rId3">
            <a:alphaModFix/>
          </a:blip>
          <a:srcRect b="0" l="0" r="0" t="0"/>
          <a:stretch/>
        </p:blipFill>
        <p:spPr>
          <a:xfrm>
            <a:off x="1895476" y="2329962"/>
            <a:ext cx="5470525" cy="209550"/>
          </a:xfrm>
          <a:prstGeom prst="rect">
            <a:avLst/>
          </a:prstGeom>
          <a:noFill/>
          <a:ln>
            <a:noFill/>
          </a:ln>
        </p:spPr>
      </p:pic>
      <p:pic>
        <p:nvPicPr>
          <p:cNvPr descr="6e_cover.jpg" id="164" name="Google Shape;164;p1"/>
          <p:cNvPicPr preferRelativeResize="0"/>
          <p:nvPr/>
        </p:nvPicPr>
        <p:blipFill rotWithShape="1">
          <a:blip r:embed="rId4">
            <a:alphaModFix/>
          </a:blip>
          <a:srcRect b="0" l="0" r="0" t="0"/>
          <a:stretch/>
        </p:blipFill>
        <p:spPr>
          <a:xfrm>
            <a:off x="7756525" y="511176"/>
            <a:ext cx="2306638" cy="2773363"/>
          </a:xfrm>
          <a:prstGeom prst="rect">
            <a:avLst/>
          </a:prstGeom>
          <a:noFill/>
          <a:ln>
            <a:noFill/>
          </a:ln>
        </p:spPr>
      </p:pic>
      <p:sp>
        <p:nvSpPr>
          <p:cNvPr id="165" name="Google Shape;165;p1"/>
          <p:cNvSpPr/>
          <p:nvPr/>
        </p:nvSpPr>
        <p:spPr>
          <a:xfrm>
            <a:off x="1826419" y="2647840"/>
            <a:ext cx="5826125" cy="379571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rPr b="0" i="0" lang="en-US" sz="2000" u="none" cap="none" strike="noStrike">
                <a:solidFill>
                  <a:srgbClr val="000000"/>
                </a:solidFill>
                <a:latin typeface="Gill Sans"/>
                <a:ea typeface="Gill Sans"/>
                <a:cs typeface="Gill Sans"/>
                <a:sym typeface="Gill Sans"/>
              </a:rPr>
              <a:t>Instructor: </a:t>
            </a:r>
            <a:r>
              <a:rPr b="0" i="0" lang="en-US" sz="2000" u="none" cap="none" strike="noStrike">
                <a:solidFill>
                  <a:srgbClr val="3333CC"/>
                </a:solidFill>
                <a:latin typeface="Gill Sans"/>
                <a:ea typeface="Gill Sans"/>
                <a:cs typeface="Gill Sans"/>
                <a:sym typeface="Gill Sans"/>
              </a:rPr>
              <a:t>Mohammad Mamun Elahi</a:t>
            </a:r>
            <a:endParaRPr b="0" i="0" sz="2000" u="none" cap="none" strike="noStrike">
              <a:solidFill>
                <a:srgbClr val="3333CC"/>
              </a:solidFill>
              <a:latin typeface="Gill Sans"/>
              <a:ea typeface="Gill Sans"/>
              <a:cs typeface="Gill Sans"/>
              <a:sym typeface="Gill Sans"/>
            </a:endParaRPr>
          </a:p>
          <a:p>
            <a:pPr indent="-342900" lvl="0" marL="342900" marR="0" rtl="0" algn="l">
              <a:spcBef>
                <a:spcPts val="400"/>
              </a:spcBef>
              <a:spcAft>
                <a:spcPts val="0"/>
              </a:spcAft>
              <a:buNone/>
            </a:pPr>
            <a:r>
              <a:rPr b="0" i="0" lang="en-US" sz="2000" u="none" cap="none" strike="noStrike">
                <a:solidFill>
                  <a:srgbClr val="000000"/>
                </a:solidFill>
                <a:latin typeface="Gill Sans"/>
                <a:ea typeface="Gill Sans"/>
                <a:cs typeface="Gill Sans"/>
                <a:sym typeface="Gill Sans"/>
              </a:rPr>
              <a:t>Office: </a:t>
            </a:r>
            <a:r>
              <a:rPr b="0" i="0" lang="en-US" sz="2000" u="none" cap="none" strike="noStrike">
                <a:solidFill>
                  <a:srgbClr val="3333CC"/>
                </a:solidFill>
                <a:latin typeface="Gill Sans"/>
                <a:ea typeface="Gill Sans"/>
                <a:cs typeface="Gill Sans"/>
                <a:sym typeface="Gill Sans"/>
              </a:rPr>
              <a:t>5</a:t>
            </a:r>
            <a:r>
              <a:rPr b="0" baseline="30000" i="0" lang="en-US" sz="2000" u="none" cap="none" strike="noStrike">
                <a:solidFill>
                  <a:srgbClr val="3333CC"/>
                </a:solidFill>
                <a:latin typeface="Gill Sans"/>
                <a:ea typeface="Gill Sans"/>
                <a:cs typeface="Gill Sans"/>
                <a:sym typeface="Gill Sans"/>
              </a:rPr>
              <a:t>th</a:t>
            </a:r>
            <a:r>
              <a:rPr b="0" i="0" lang="en-US" sz="2000" u="none" cap="none" strike="noStrike">
                <a:solidFill>
                  <a:srgbClr val="3333CC"/>
                </a:solidFill>
                <a:latin typeface="Gill Sans"/>
                <a:ea typeface="Gill Sans"/>
                <a:cs typeface="Gill Sans"/>
                <a:sym typeface="Gill Sans"/>
              </a:rPr>
              <a:t> Floor (Room # 522)</a:t>
            </a:r>
            <a:endParaRPr/>
          </a:p>
          <a:p>
            <a:pPr indent="-342900" lvl="0" marL="342900" marR="0" rtl="0" algn="l">
              <a:spcBef>
                <a:spcPts val="400"/>
              </a:spcBef>
              <a:spcAft>
                <a:spcPts val="0"/>
              </a:spcAft>
              <a:buNone/>
            </a:pPr>
            <a:r>
              <a:rPr b="0" i="0" lang="en-US" sz="2000" u="none" cap="none" strike="noStrike">
                <a:solidFill>
                  <a:srgbClr val="000000"/>
                </a:solidFill>
                <a:latin typeface="Gill Sans"/>
                <a:ea typeface="Gill Sans"/>
                <a:cs typeface="Gill Sans"/>
                <a:sym typeface="Gill Sans"/>
              </a:rPr>
              <a:t>Email: </a:t>
            </a:r>
            <a:r>
              <a:rPr b="0" i="0" lang="en-US" sz="2000" u="none" cap="none" strike="noStrike">
                <a:solidFill>
                  <a:srgbClr val="3333CC"/>
                </a:solidFill>
                <a:latin typeface="Gill Sans"/>
                <a:ea typeface="Gill Sans"/>
                <a:cs typeface="Gill Sans"/>
                <a:sym typeface="Gill Sans"/>
              </a:rPr>
              <a:t>mmelahi@cse.uiu.ac.bd</a:t>
            </a:r>
            <a:endParaRPr/>
          </a:p>
          <a:p>
            <a:pPr indent="-342900" lvl="0" marL="342900" marR="0" rtl="0" algn="l">
              <a:spcBef>
                <a:spcPts val="400"/>
              </a:spcBef>
              <a:spcAft>
                <a:spcPts val="0"/>
              </a:spcAft>
              <a:buNone/>
            </a:pPr>
            <a:r>
              <a:rPr b="0" i="0" lang="en-US" sz="2000" u="none" cap="none" strike="noStrike">
                <a:solidFill>
                  <a:srgbClr val="000000"/>
                </a:solidFill>
                <a:latin typeface="Gill Sans"/>
                <a:ea typeface="Gill Sans"/>
                <a:cs typeface="Gill Sans"/>
                <a:sym typeface="Gill Sans"/>
              </a:rPr>
              <a:t>Class Location: </a:t>
            </a:r>
            <a:r>
              <a:rPr b="0" i="0" lang="en-US" sz="2000" u="sng" cap="none" strike="noStrike">
                <a:solidFill>
                  <a:srgbClr val="C00000"/>
                </a:solidFill>
                <a:latin typeface="Gill Sans"/>
                <a:ea typeface="Gill Sans"/>
                <a:cs typeface="Gill Sans"/>
                <a:sym typeface="Gill Sans"/>
                <a:hlinkClick r:id="rId5">
                  <a:extLst>
                    <a:ext uri="{A12FA001-AC4F-418D-AE19-62706E023703}">
                      <ahyp:hlinkClr val="tx"/>
                    </a:ext>
                  </a:extLst>
                </a:hlinkClick>
              </a:rPr>
              <a:t>http://meet.google.com/rca-cwkd-cmh</a:t>
            </a:r>
            <a:r>
              <a:rPr b="0" i="0" lang="en-US" sz="2000" u="none" cap="none" strike="noStrike">
                <a:solidFill>
                  <a:srgbClr val="C00000"/>
                </a:solidFill>
                <a:latin typeface="Gill Sans"/>
                <a:ea typeface="Gill Sans"/>
                <a:cs typeface="Gill Sans"/>
                <a:sym typeface="Gill Sans"/>
              </a:rPr>
              <a:t> </a:t>
            </a:r>
            <a:endParaRPr/>
          </a:p>
          <a:p>
            <a:pPr indent="-342900" lvl="0" marL="342900" marR="0" rtl="0" algn="l">
              <a:spcBef>
                <a:spcPts val="400"/>
              </a:spcBef>
              <a:spcAft>
                <a:spcPts val="0"/>
              </a:spcAft>
              <a:buNone/>
            </a:pPr>
            <a:r>
              <a:rPr b="0" i="0" lang="en-US" sz="2000" u="none" cap="none" strike="noStrike">
                <a:solidFill>
                  <a:srgbClr val="000000"/>
                </a:solidFill>
                <a:latin typeface="Gill Sans"/>
                <a:ea typeface="Gill Sans"/>
                <a:cs typeface="Gill Sans"/>
                <a:sym typeface="Gill Sans"/>
              </a:rPr>
              <a:t>Lectures: </a:t>
            </a:r>
            <a:r>
              <a:rPr b="0" i="0" lang="en-US" sz="1800" u="none" cap="none" strike="noStrike">
                <a:solidFill>
                  <a:srgbClr val="3333CC"/>
                </a:solidFill>
                <a:latin typeface="Gill Sans"/>
                <a:ea typeface="Gill Sans"/>
                <a:cs typeface="Gill Sans"/>
                <a:sym typeface="Gill Sans"/>
              </a:rPr>
              <a:t>S W 12:10 pm (Sec A),  2-00 pm (Sec C)</a:t>
            </a:r>
            <a:endParaRPr/>
          </a:p>
          <a:p>
            <a:pPr indent="-342900" lvl="0" marL="342900" marR="0" rtl="0" algn="l">
              <a:spcBef>
                <a:spcPts val="400"/>
              </a:spcBef>
              <a:spcAft>
                <a:spcPts val="0"/>
              </a:spcAft>
              <a:buNone/>
            </a:pPr>
            <a:r>
              <a:rPr b="0" i="0" lang="en-US" sz="2000" u="none" cap="none" strike="noStrike">
                <a:solidFill>
                  <a:srgbClr val="000000"/>
                </a:solidFill>
                <a:latin typeface="Gill Sans"/>
                <a:ea typeface="Gill Sans"/>
                <a:cs typeface="Gill Sans"/>
                <a:sym typeface="Gill Sans"/>
              </a:rPr>
              <a:t>Notes derived from “</a:t>
            </a:r>
            <a:r>
              <a:rPr b="0" i="1" lang="en-US" sz="2000" u="none" cap="none" strike="noStrike">
                <a:solidFill>
                  <a:srgbClr val="3333CC"/>
                </a:solidFill>
                <a:latin typeface="Gill Sans"/>
                <a:ea typeface="Gill Sans"/>
                <a:cs typeface="Gill Sans"/>
                <a:sym typeface="Gill Sans"/>
              </a:rPr>
              <a:t>Computer Networking: A Top Down Approach</a:t>
            </a:r>
            <a:r>
              <a:rPr b="0" i="1" lang="en-US" sz="2000" u="none" cap="none" strike="noStrike">
                <a:solidFill>
                  <a:srgbClr val="000000"/>
                </a:solidFill>
                <a:latin typeface="Gill Sans"/>
                <a:ea typeface="Gill Sans"/>
                <a:cs typeface="Gill Sans"/>
                <a:sym typeface="Gill Sans"/>
              </a:rPr>
              <a:t>”</a:t>
            </a:r>
            <a:r>
              <a:rPr b="0" i="0" lang="en-US" sz="2000" u="none" cap="none" strike="noStrike">
                <a:solidFill>
                  <a:srgbClr val="000000"/>
                </a:solidFill>
                <a:latin typeface="Gill Sans"/>
                <a:ea typeface="Gill Sans"/>
                <a:cs typeface="Gill Sans"/>
                <a:sym typeface="Gill Sans"/>
              </a:rPr>
              <a:t>, Jim Kurose, Keith Ross, Addison-Wesley.</a:t>
            </a:r>
            <a:endParaRPr/>
          </a:p>
          <a:p>
            <a:pPr indent="-342900" lvl="0" marL="342900" marR="0" rtl="0" algn="l">
              <a:spcBef>
                <a:spcPts val="200"/>
              </a:spcBef>
              <a:spcAft>
                <a:spcPts val="0"/>
              </a:spcAft>
              <a:buNone/>
            </a:pPr>
            <a:r>
              <a:t/>
            </a:r>
            <a:endParaRPr b="0" i="0" sz="1000" u="none" cap="none" strike="noStrike">
              <a:solidFill>
                <a:srgbClr val="000000"/>
              </a:solidFill>
              <a:latin typeface="Gill Sans"/>
              <a:ea typeface="Gill Sans"/>
              <a:cs typeface="Gill Sans"/>
              <a:sym typeface="Gill Sans"/>
            </a:endParaRPr>
          </a:p>
          <a:p>
            <a:pPr indent="-342900" lvl="0" marL="342900" marR="0" rtl="0" algn="l">
              <a:spcBef>
                <a:spcPts val="400"/>
              </a:spcBef>
              <a:spcAft>
                <a:spcPts val="0"/>
              </a:spcAft>
              <a:buNone/>
            </a:pPr>
            <a:r>
              <a:rPr b="0" i="0" lang="en-US" sz="2000" u="none" cap="none" strike="noStrike">
                <a:solidFill>
                  <a:srgbClr val="000000"/>
                </a:solidFill>
                <a:latin typeface="Gill Sans"/>
                <a:ea typeface="Gill Sans"/>
                <a:cs typeface="Gill Sans"/>
                <a:sym typeface="Gill Sans"/>
              </a:rPr>
              <a:t> </a:t>
            </a:r>
            <a:r>
              <a:rPr b="1" i="0" lang="en-US" sz="2000" u="none" cap="none" strike="noStrike">
                <a:solidFill>
                  <a:srgbClr val="000000"/>
                </a:solidFill>
                <a:latin typeface="Gill Sans"/>
                <a:ea typeface="Gill Sans"/>
                <a:cs typeface="Gill Sans"/>
                <a:sym typeface="Gill Sans"/>
              </a:rPr>
              <a:t>Slides are adapted from the companion web site of the book, as modified by </a:t>
            </a:r>
            <a:r>
              <a:rPr b="1" i="0" lang="en-US" sz="2000" u="none" cap="none" strike="noStrike">
                <a:solidFill>
                  <a:srgbClr val="3333CC"/>
                </a:solidFill>
                <a:latin typeface="Gill Sans"/>
                <a:ea typeface="Gill Sans"/>
                <a:cs typeface="Gill Sans"/>
                <a:sym typeface="Gill Sans"/>
              </a:rPr>
              <a:t>Mohammad Mamun Elahi</a:t>
            </a:r>
            <a:r>
              <a:rPr b="1" i="0" lang="en-US" sz="2000" u="none" cap="none" strike="noStrike">
                <a:solidFill>
                  <a:srgbClr val="000000"/>
                </a:solidFill>
                <a:latin typeface="Gill Sans"/>
                <a:ea typeface="Gill Sans"/>
                <a:cs typeface="Gill Sans"/>
                <a:sym typeface="Gill Sans"/>
              </a:rPr>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Network layer: our goals</a:t>
            </a:r>
            <a:endParaRPr/>
          </a:p>
        </p:txBody>
      </p:sp>
      <p:sp>
        <p:nvSpPr>
          <p:cNvPr id="172" name="Google Shape;172;p2"/>
          <p:cNvSpPr txBox="1"/>
          <p:nvPr>
            <p:ph idx="1" type="body"/>
          </p:nvPr>
        </p:nvSpPr>
        <p:spPr>
          <a:xfrm>
            <a:off x="838200" y="1572572"/>
            <a:ext cx="5181600" cy="4698465"/>
          </a:xfrm>
          <a:prstGeom prst="rect">
            <a:avLst/>
          </a:prstGeom>
          <a:noFill/>
          <a:ln>
            <a:noFill/>
          </a:ln>
        </p:spPr>
        <p:txBody>
          <a:bodyPr anchorCtr="0" anchor="t" bIns="45700" lIns="91425" spcFirstLastPara="1" rIns="91425" wrap="square" tIns="45700">
            <a:normAutofit/>
          </a:bodyPr>
          <a:lstStyle/>
          <a:p>
            <a:pPr indent="-212725" lvl="0" marL="342900" rtl="0" algn="l">
              <a:lnSpc>
                <a:spcPct val="90000"/>
              </a:lnSpc>
              <a:spcBef>
                <a:spcPts val="0"/>
              </a:spcBef>
              <a:spcAft>
                <a:spcPts val="0"/>
              </a:spcAft>
              <a:buSzPts val="3200"/>
              <a:buFont typeface="Noto Sans Symbols"/>
              <a:buChar char="▪"/>
            </a:pPr>
            <a:r>
              <a:rPr lang="en-US" sz="3200"/>
              <a:t>understand principles behind network layer services, focusing on data plane:</a:t>
            </a:r>
            <a:endParaRPr/>
          </a:p>
          <a:p>
            <a:pPr indent="-231775" lvl="1" marL="695325" rtl="0" algn="l">
              <a:lnSpc>
                <a:spcPct val="90000"/>
              </a:lnSpc>
              <a:spcBef>
                <a:spcPts val="500"/>
              </a:spcBef>
              <a:spcAft>
                <a:spcPts val="0"/>
              </a:spcAft>
              <a:buSzPts val="2800"/>
              <a:buFont typeface="Arial"/>
              <a:buChar char="•"/>
            </a:pPr>
            <a:r>
              <a:rPr lang="en-US" sz="2800"/>
              <a:t>network layer service models</a:t>
            </a:r>
            <a:endParaRPr/>
          </a:p>
          <a:p>
            <a:pPr indent="-231775" lvl="1" marL="695325" rtl="0" algn="l">
              <a:lnSpc>
                <a:spcPct val="90000"/>
              </a:lnSpc>
              <a:spcBef>
                <a:spcPts val="500"/>
              </a:spcBef>
              <a:spcAft>
                <a:spcPts val="0"/>
              </a:spcAft>
              <a:buSzPts val="2800"/>
              <a:buFont typeface="Arial"/>
              <a:buChar char="•"/>
            </a:pPr>
            <a:r>
              <a:rPr lang="en-US" sz="2800"/>
              <a:t>forwarding versus routing</a:t>
            </a:r>
            <a:endParaRPr/>
          </a:p>
          <a:p>
            <a:pPr indent="-231775" lvl="1" marL="695325" rtl="0" algn="l">
              <a:lnSpc>
                <a:spcPct val="90000"/>
              </a:lnSpc>
              <a:spcBef>
                <a:spcPts val="500"/>
              </a:spcBef>
              <a:spcAft>
                <a:spcPts val="0"/>
              </a:spcAft>
              <a:buSzPts val="2800"/>
              <a:buFont typeface="Arial"/>
              <a:buChar char="•"/>
            </a:pPr>
            <a:r>
              <a:rPr lang="en-US" sz="2800"/>
              <a:t>how a router works</a:t>
            </a:r>
            <a:endParaRPr/>
          </a:p>
          <a:p>
            <a:pPr indent="-231775" lvl="1" marL="695325" rtl="0" algn="l">
              <a:lnSpc>
                <a:spcPct val="90000"/>
              </a:lnSpc>
              <a:spcBef>
                <a:spcPts val="500"/>
              </a:spcBef>
              <a:spcAft>
                <a:spcPts val="0"/>
              </a:spcAft>
              <a:buSzPts val="2800"/>
              <a:buFont typeface="Arial"/>
              <a:buChar char="•"/>
            </a:pPr>
            <a:r>
              <a:rPr lang="en-US" sz="2800"/>
              <a:t>addressing</a:t>
            </a:r>
            <a:endParaRPr/>
          </a:p>
          <a:p>
            <a:pPr indent="-231775" lvl="1" marL="695325" rtl="0" algn="l">
              <a:lnSpc>
                <a:spcPct val="90000"/>
              </a:lnSpc>
              <a:spcBef>
                <a:spcPts val="500"/>
              </a:spcBef>
              <a:spcAft>
                <a:spcPts val="0"/>
              </a:spcAft>
              <a:buSzPts val="2800"/>
              <a:buFont typeface="Arial"/>
              <a:buChar char="•"/>
            </a:pPr>
            <a:r>
              <a:rPr lang="en-US" sz="2800"/>
              <a:t>generalized forwarding</a:t>
            </a:r>
            <a:endParaRPr/>
          </a:p>
          <a:p>
            <a:pPr indent="-231775" lvl="1" marL="695325" rtl="0" algn="l">
              <a:lnSpc>
                <a:spcPct val="90000"/>
              </a:lnSpc>
              <a:spcBef>
                <a:spcPts val="500"/>
              </a:spcBef>
              <a:spcAft>
                <a:spcPts val="0"/>
              </a:spcAft>
              <a:buSzPts val="2800"/>
              <a:buFont typeface="Arial"/>
              <a:buChar char="•"/>
            </a:pPr>
            <a:r>
              <a:rPr lang="en-US" sz="2800"/>
              <a:t>Internet architecture</a:t>
            </a:r>
            <a:endParaRPr/>
          </a:p>
          <a:p>
            <a:pPr indent="0" lvl="0" marL="130175" rtl="0" algn="l">
              <a:lnSpc>
                <a:spcPct val="90000"/>
              </a:lnSpc>
              <a:spcBef>
                <a:spcPts val="1000"/>
              </a:spcBef>
              <a:spcAft>
                <a:spcPts val="0"/>
              </a:spcAft>
              <a:buSzPts val="2800"/>
              <a:buNone/>
            </a:pPr>
            <a:r>
              <a:t/>
            </a:r>
            <a:endParaRPr/>
          </a:p>
        </p:txBody>
      </p:sp>
      <p:sp>
        <p:nvSpPr>
          <p:cNvPr id="173" name="Google Shape;173;p2"/>
          <p:cNvSpPr txBox="1"/>
          <p:nvPr>
            <p:ph idx="2" type="body"/>
          </p:nvPr>
        </p:nvSpPr>
        <p:spPr>
          <a:xfrm>
            <a:off x="6172199" y="1572573"/>
            <a:ext cx="5584371" cy="4351338"/>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200"/>
              <a:buChar char="▪"/>
            </a:pPr>
            <a:r>
              <a:rPr lang="en-US" sz="3200"/>
              <a:t>instantiation, implementation in the Internet</a:t>
            </a:r>
            <a:endParaRPr/>
          </a:p>
          <a:p>
            <a:pPr indent="-231775" lvl="1" marL="695325" rtl="0" algn="l">
              <a:lnSpc>
                <a:spcPct val="90000"/>
              </a:lnSpc>
              <a:spcBef>
                <a:spcPts val="500"/>
              </a:spcBef>
              <a:spcAft>
                <a:spcPts val="0"/>
              </a:spcAft>
              <a:buSzPts val="2800"/>
              <a:buChar char="•"/>
            </a:pPr>
            <a:r>
              <a:rPr lang="en-US" sz="2800"/>
              <a:t>IP protocol</a:t>
            </a:r>
            <a:endParaRPr/>
          </a:p>
          <a:p>
            <a:pPr indent="-231775" lvl="1" marL="695325" rtl="0" algn="l">
              <a:lnSpc>
                <a:spcPct val="90000"/>
              </a:lnSpc>
              <a:spcBef>
                <a:spcPts val="500"/>
              </a:spcBef>
              <a:spcAft>
                <a:spcPts val="0"/>
              </a:spcAft>
              <a:buSzPts val="2800"/>
              <a:buChar char="•"/>
            </a:pPr>
            <a:r>
              <a:rPr lang="en-US" sz="2800"/>
              <a:t>NAT, middleboxes</a:t>
            </a:r>
            <a:endParaRPr/>
          </a:p>
        </p:txBody>
      </p:sp>
      <p:sp>
        <p:nvSpPr>
          <p:cNvPr id="174" name="Google Shape;174;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Effect filter="fade" transition="in">
                                      <p:cBhvr>
                                        <p:cTn dur="500"/>
                                        <p:tgtEl>
                                          <p:spTgt spid="1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animEffect filter="fade" transition="in">
                                      <p:cBhvr>
                                        <p:cTn dur="500"/>
                                        <p:tgtEl>
                                          <p:spTgt spid="1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animEffect filter="fade" transition="in">
                                      <p:cBhvr>
                                        <p:cTn dur="500"/>
                                        <p:tgtEl>
                                          <p:spTgt spid="17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Network-layer  services and protocols</a:t>
            </a:r>
            <a:endParaRPr sz="4400"/>
          </a:p>
        </p:txBody>
      </p:sp>
      <p:sp>
        <p:nvSpPr>
          <p:cNvPr id="181" name="Google Shape;181;p3"/>
          <p:cNvSpPr txBox="1"/>
          <p:nvPr/>
        </p:nvSpPr>
        <p:spPr>
          <a:xfrm>
            <a:off x="681218" y="1443831"/>
            <a:ext cx="5617981" cy="5284347"/>
          </a:xfrm>
          <a:prstGeom prst="rect">
            <a:avLst/>
          </a:prstGeom>
          <a:noFill/>
          <a:ln>
            <a:noFill/>
          </a:ln>
        </p:spPr>
        <p:txBody>
          <a:bodyPr anchorCtr="0" anchor="t" bIns="45700" lIns="91425" spcFirstLastPara="1" rIns="91425" wrap="square" tIns="45700">
            <a:normAutofit fontScale="92500" lnSpcReduction="10000"/>
          </a:bodyPr>
          <a:lstStyle/>
          <a:p>
            <a:pPr indent="-274638" lvl="0" marL="404813" marR="0" rtl="0" algn="l">
              <a:lnSpc>
                <a:spcPct val="90000"/>
              </a:lnSpc>
              <a:spcBef>
                <a:spcPts val="0"/>
              </a:spcBef>
              <a:spcAft>
                <a:spcPts val="0"/>
              </a:spcAft>
              <a:buClr>
                <a:srgbClr val="0000A3"/>
              </a:buClr>
              <a:buSzPct val="100000"/>
              <a:buFont typeface="Noto Sans Symbols"/>
              <a:buChar char="▪"/>
            </a:pPr>
            <a:r>
              <a:rPr b="0" i="0" lang="en-US" sz="3000" u="none" cap="none" strike="noStrike">
                <a:solidFill>
                  <a:srgbClr val="000000"/>
                </a:solidFill>
                <a:latin typeface="Calibri"/>
                <a:ea typeface="Calibri"/>
                <a:cs typeface="Calibri"/>
                <a:sym typeface="Calibri"/>
              </a:rPr>
              <a:t>transport segment from sending to receiving host </a:t>
            </a:r>
            <a:endParaRPr/>
          </a:p>
          <a:p>
            <a:pPr indent="-222250" lvl="1" marL="695325" marR="0" rtl="0" algn="l">
              <a:lnSpc>
                <a:spcPct val="90000"/>
              </a:lnSpc>
              <a:spcBef>
                <a:spcPts val="600"/>
              </a:spcBef>
              <a:spcAft>
                <a:spcPts val="0"/>
              </a:spcAft>
              <a:buClr>
                <a:srgbClr val="0000A3"/>
              </a:buClr>
              <a:buSzPct val="100000"/>
              <a:buFont typeface="Arial"/>
              <a:buChar char="•"/>
            </a:pPr>
            <a:r>
              <a:rPr b="0" i="0" lang="en-US" sz="2600" u="none" cap="none" strike="noStrike">
                <a:solidFill>
                  <a:srgbClr val="0013A3"/>
                </a:solidFill>
                <a:latin typeface="Calibri"/>
                <a:ea typeface="Calibri"/>
                <a:cs typeface="Calibri"/>
                <a:sym typeface="Calibri"/>
              </a:rPr>
              <a:t>sender: </a:t>
            </a:r>
            <a:r>
              <a:rPr b="0" i="0" lang="en-US" sz="2600" u="none" cap="none" strike="noStrike">
                <a:solidFill>
                  <a:srgbClr val="000000"/>
                </a:solidFill>
                <a:latin typeface="Calibri"/>
                <a:ea typeface="Calibri"/>
                <a:cs typeface="Calibri"/>
                <a:sym typeface="Calibri"/>
              </a:rPr>
              <a:t>encapsulates segments into datagrams, passes to link layer</a:t>
            </a:r>
            <a:endParaRPr/>
          </a:p>
          <a:p>
            <a:pPr indent="-222250" lvl="1" marL="695325" marR="0" rtl="0" algn="l">
              <a:lnSpc>
                <a:spcPct val="90000"/>
              </a:lnSpc>
              <a:spcBef>
                <a:spcPts val="600"/>
              </a:spcBef>
              <a:spcAft>
                <a:spcPts val="0"/>
              </a:spcAft>
              <a:buClr>
                <a:srgbClr val="0000A3"/>
              </a:buClr>
              <a:buSzPct val="100000"/>
              <a:buFont typeface="Arial"/>
              <a:buChar char="•"/>
            </a:pPr>
            <a:r>
              <a:rPr b="0" i="0" lang="en-US" sz="2600" u="none" cap="none" strike="noStrike">
                <a:solidFill>
                  <a:srgbClr val="0013A3"/>
                </a:solidFill>
                <a:latin typeface="Calibri"/>
                <a:ea typeface="Calibri"/>
                <a:cs typeface="Calibri"/>
                <a:sym typeface="Calibri"/>
              </a:rPr>
              <a:t>receiver: </a:t>
            </a:r>
            <a:r>
              <a:rPr b="0" i="0" lang="en-US" sz="2600" u="none" cap="none" strike="noStrike">
                <a:solidFill>
                  <a:srgbClr val="000000"/>
                </a:solidFill>
                <a:latin typeface="Calibri"/>
                <a:ea typeface="Calibri"/>
                <a:cs typeface="Calibri"/>
                <a:sym typeface="Calibri"/>
              </a:rPr>
              <a:t>delivers segments to transport layer protocol</a:t>
            </a:r>
            <a:endParaRPr/>
          </a:p>
          <a:p>
            <a:pPr indent="-274638" lvl="0" marL="404813"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 layer protocols in </a:t>
            </a:r>
            <a:r>
              <a:rPr b="0" i="1" lang="en-US" sz="2800" u="none" cap="none" strike="noStrike">
                <a:solidFill>
                  <a:srgbClr val="000099"/>
                </a:solidFill>
                <a:latin typeface="Calibri"/>
                <a:ea typeface="Calibri"/>
                <a:cs typeface="Calibri"/>
                <a:sym typeface="Calibri"/>
              </a:rPr>
              <a:t>every Internet device</a:t>
            </a:r>
            <a:r>
              <a:rPr b="0" i="0" lang="en-US" sz="2800" u="none" cap="none" strike="noStrike">
                <a:solidFill>
                  <a:srgbClr val="000000"/>
                </a:solidFill>
                <a:latin typeface="Calibri"/>
                <a:ea typeface="Calibri"/>
                <a:cs typeface="Calibri"/>
                <a:sym typeface="Calibri"/>
              </a:rPr>
              <a:t>: hosts, routers</a:t>
            </a:r>
            <a:endParaRPr/>
          </a:p>
          <a:p>
            <a:pPr indent="-274638" lvl="0" marL="404813"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C00000"/>
                </a:solidFill>
                <a:latin typeface="Calibri"/>
                <a:ea typeface="Calibri"/>
                <a:cs typeface="Calibri"/>
                <a:sym typeface="Calibri"/>
              </a:rPr>
              <a:t>routers</a:t>
            </a:r>
            <a:r>
              <a:rPr b="0" i="0" lang="en-US" sz="2800" u="none" cap="none" strike="noStrike">
                <a:solidFill>
                  <a:srgbClr val="000000"/>
                </a:solidFill>
                <a:latin typeface="Calibri"/>
                <a:ea typeface="Calibri"/>
                <a:cs typeface="Calibri"/>
                <a:sym typeface="Calibri"/>
              </a:rPr>
              <a:t>:</a:t>
            </a:r>
            <a:endParaRPr/>
          </a:p>
          <a:p>
            <a:pPr indent="-292100" lvl="1" marL="695325" marR="0" rtl="0" algn="l">
              <a:lnSpc>
                <a:spcPct val="99000"/>
              </a:lnSpc>
              <a:spcBef>
                <a:spcPts val="600"/>
              </a:spcBef>
              <a:spcAft>
                <a:spcPts val="0"/>
              </a:spcAft>
              <a:buClr>
                <a:srgbClr val="0000A3"/>
              </a:buClr>
              <a:buSzPct val="100000"/>
              <a:buFont typeface="Arial"/>
              <a:buChar char="•"/>
            </a:pPr>
            <a:r>
              <a:rPr b="0" i="0" lang="en-US" sz="2600" u="none" cap="none" strike="noStrike">
                <a:solidFill>
                  <a:srgbClr val="000000"/>
                </a:solidFill>
                <a:latin typeface="Calibri"/>
                <a:ea typeface="Calibri"/>
                <a:cs typeface="Calibri"/>
                <a:sym typeface="Calibri"/>
              </a:rPr>
              <a:t>examines header fields in all IP datagrams passing through it</a:t>
            </a:r>
            <a:endParaRPr/>
          </a:p>
          <a:p>
            <a:pPr indent="-292100" lvl="1" marL="695325" marR="0" rtl="0" algn="l">
              <a:lnSpc>
                <a:spcPct val="99000"/>
              </a:lnSpc>
              <a:spcBef>
                <a:spcPts val="600"/>
              </a:spcBef>
              <a:spcAft>
                <a:spcPts val="0"/>
              </a:spcAft>
              <a:buClr>
                <a:srgbClr val="0000A3"/>
              </a:buClr>
              <a:buSzPct val="100000"/>
              <a:buFont typeface="Arial"/>
              <a:buChar char="•"/>
            </a:pPr>
            <a:r>
              <a:rPr b="0" i="0" lang="en-US" sz="2600" u="none" cap="none" strike="noStrike">
                <a:solidFill>
                  <a:srgbClr val="000000"/>
                </a:solidFill>
                <a:latin typeface="Calibri"/>
                <a:ea typeface="Calibri"/>
                <a:cs typeface="Calibri"/>
                <a:sym typeface="Calibri"/>
              </a:rPr>
              <a:t>moves datagrams from input ports to output ports to transfer datagrams along end-end path</a:t>
            </a:r>
            <a:endParaRPr/>
          </a:p>
        </p:txBody>
      </p:sp>
      <p:sp>
        <p:nvSpPr>
          <p:cNvPr id="182" name="Google Shape;182;p3"/>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3" name="Google Shape;183;p3"/>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4" name="Google Shape;184;p3"/>
          <p:cNvGrpSpPr/>
          <p:nvPr/>
        </p:nvGrpSpPr>
        <p:grpSpPr>
          <a:xfrm>
            <a:off x="7205350" y="3289251"/>
            <a:ext cx="1458912" cy="933450"/>
            <a:chOff x="2889" y="1631"/>
            <a:chExt cx="980" cy="743"/>
          </a:xfrm>
        </p:grpSpPr>
        <p:sp>
          <p:nvSpPr>
            <p:cNvPr id="185" name="Google Shape;185;p3"/>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86" name="Google Shape;186;p3"/>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187" name="Google Shape;187;p3"/>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8" name="Google Shape;188;p3"/>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189" name="Google Shape;189;p3"/>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190" name="Google Shape;190;p3"/>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91" name="Google Shape;191;p3"/>
          <p:cNvGrpSpPr/>
          <p:nvPr/>
        </p:nvGrpSpPr>
        <p:grpSpPr>
          <a:xfrm>
            <a:off x="10837700" y="3928050"/>
            <a:ext cx="687393" cy="721548"/>
            <a:chOff x="5203089" y="1751190"/>
            <a:chExt cx="858331" cy="662414"/>
          </a:xfrm>
        </p:grpSpPr>
        <p:sp>
          <p:nvSpPr>
            <p:cNvPr id="192" name="Google Shape;192;p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3" name="Google Shape;193;p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94" name="Google Shape;194;p3"/>
            <p:cNvCxnSpPr/>
            <p:nvPr/>
          </p:nvCxnSpPr>
          <p:spPr>
            <a:xfrm flipH="1" rot="10800000">
              <a:off x="5270526" y="2029553"/>
              <a:ext cx="295249" cy="73468"/>
            </a:xfrm>
            <a:prstGeom prst="straightConnector1">
              <a:avLst/>
            </a:prstGeom>
            <a:noFill/>
            <a:ln cap="flat" cmpd="sng" w="44450">
              <a:solidFill>
                <a:schemeClr val="lt1"/>
              </a:solidFill>
              <a:prstDash val="solid"/>
              <a:miter lim="8000"/>
              <a:headEnd len="sm" w="sm" type="none"/>
              <a:tailEnd len="sm" w="sm" type="none"/>
            </a:ln>
          </p:spPr>
        </p:cxnSp>
        <p:cxnSp>
          <p:nvCxnSpPr>
            <p:cNvPr id="195" name="Google Shape;195;p3"/>
            <p:cNvCxnSpPr/>
            <p:nvPr/>
          </p:nvCxnSpPr>
          <p:spPr>
            <a:xfrm flipH="1" rot="10800000">
              <a:off x="5275406" y="2261710"/>
              <a:ext cx="290369" cy="16752"/>
            </a:xfrm>
            <a:prstGeom prst="straightConnector1">
              <a:avLst/>
            </a:prstGeom>
            <a:noFill/>
            <a:ln cap="flat" cmpd="sng" w="44450">
              <a:solidFill>
                <a:schemeClr val="lt1"/>
              </a:solidFill>
              <a:prstDash val="solid"/>
              <a:miter lim="8000"/>
              <a:headEnd len="sm" w="sm" type="none"/>
              <a:tailEnd len="sm" w="sm" type="none"/>
            </a:ln>
          </p:spPr>
        </p:cxnSp>
        <p:cxnSp>
          <p:nvCxnSpPr>
            <p:cNvPr id="196" name="Google Shape;196;p3"/>
            <p:cNvCxnSpPr/>
            <p:nvPr/>
          </p:nvCxnSpPr>
          <p:spPr>
            <a:xfrm flipH="1" rot="10800000">
              <a:off x="5275406" y="2151772"/>
              <a:ext cx="290369" cy="48402"/>
            </a:xfrm>
            <a:prstGeom prst="straightConnector1">
              <a:avLst/>
            </a:prstGeom>
            <a:noFill/>
            <a:ln cap="flat" cmpd="sng" w="44450">
              <a:solidFill>
                <a:schemeClr val="lt1"/>
              </a:solidFill>
              <a:prstDash val="solid"/>
              <a:miter lim="8000"/>
              <a:headEnd len="sm" w="sm" type="none"/>
              <a:tailEnd len="sm" w="sm" type="none"/>
            </a:ln>
          </p:spPr>
        </p:cxnSp>
        <p:cxnSp>
          <p:nvCxnSpPr>
            <p:cNvPr id="197" name="Google Shape;197;p3"/>
            <p:cNvCxnSpPr/>
            <p:nvPr/>
          </p:nvCxnSpPr>
          <p:spPr>
            <a:xfrm>
              <a:off x="5270094" y="2354086"/>
              <a:ext cx="295681" cy="0"/>
            </a:xfrm>
            <a:prstGeom prst="straightConnector1">
              <a:avLst/>
            </a:prstGeom>
            <a:noFill/>
            <a:ln cap="flat" cmpd="sng" w="44450">
              <a:solidFill>
                <a:schemeClr val="lt1"/>
              </a:solidFill>
              <a:prstDash val="solid"/>
              <a:miter lim="8000"/>
              <a:headEnd len="sm" w="sm" type="none"/>
              <a:tailEnd len="sm" w="sm" type="none"/>
            </a:ln>
          </p:spPr>
        </p:cxnSp>
        <p:cxnSp>
          <p:nvCxnSpPr>
            <p:cNvPr id="198" name="Google Shape;198;p3"/>
            <p:cNvCxnSpPr/>
            <p:nvPr/>
          </p:nvCxnSpPr>
          <p:spPr>
            <a:xfrm rot="10800000">
              <a:off x="5950242" y="1866900"/>
              <a:ext cx="0" cy="465273"/>
            </a:xfrm>
            <a:prstGeom prst="straightConnector1">
              <a:avLst/>
            </a:prstGeom>
            <a:noFill/>
            <a:ln cap="flat" cmpd="sng" w="44450">
              <a:solidFill>
                <a:schemeClr val="lt1"/>
              </a:solidFill>
              <a:prstDash val="dash"/>
              <a:miter lim="8000"/>
              <a:headEnd len="sm" w="sm" type="none"/>
              <a:tailEnd len="sm" w="sm" type="none"/>
            </a:ln>
          </p:spPr>
        </p:cxnSp>
        <p:cxnSp>
          <p:nvCxnSpPr>
            <p:cNvPr id="199" name="Google Shape;199;p3"/>
            <p:cNvCxnSpPr/>
            <p:nvPr/>
          </p:nvCxnSpPr>
          <p:spPr>
            <a:xfrm>
              <a:off x="5628589" y="1936750"/>
              <a:ext cx="0" cy="476854"/>
            </a:xfrm>
            <a:prstGeom prst="straightConnector1">
              <a:avLst/>
            </a:prstGeom>
            <a:noFill/>
            <a:ln cap="flat" cmpd="sng" w="15875">
              <a:solidFill>
                <a:srgbClr val="0000A8"/>
              </a:solidFill>
              <a:prstDash val="solid"/>
              <a:miter lim="8000"/>
              <a:headEnd len="sm" w="sm" type="none"/>
              <a:tailEnd len="sm" w="sm" type="none"/>
            </a:ln>
          </p:spPr>
        </p:cxnSp>
      </p:grpSp>
      <p:grpSp>
        <p:nvGrpSpPr>
          <p:cNvPr id="200" name="Google Shape;200;p3"/>
          <p:cNvGrpSpPr/>
          <p:nvPr/>
        </p:nvGrpSpPr>
        <p:grpSpPr>
          <a:xfrm>
            <a:off x="10771171" y="3194171"/>
            <a:ext cx="594613" cy="648336"/>
            <a:chOff x="5203089" y="1751190"/>
            <a:chExt cx="858331" cy="662414"/>
          </a:xfrm>
        </p:grpSpPr>
        <p:sp>
          <p:nvSpPr>
            <p:cNvPr id="201" name="Google Shape;201;p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2" name="Google Shape;202;p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03" name="Google Shape;203;p3"/>
            <p:cNvCxnSpPr/>
            <p:nvPr/>
          </p:nvCxnSpPr>
          <p:spPr>
            <a:xfrm flipH="1" rot="10800000">
              <a:off x="5270526" y="2029553"/>
              <a:ext cx="295249" cy="73468"/>
            </a:xfrm>
            <a:prstGeom prst="straightConnector1">
              <a:avLst/>
            </a:prstGeom>
            <a:noFill/>
            <a:ln cap="flat" cmpd="sng" w="44450">
              <a:solidFill>
                <a:schemeClr val="lt1"/>
              </a:solidFill>
              <a:prstDash val="solid"/>
              <a:miter lim="8000"/>
              <a:headEnd len="sm" w="sm" type="none"/>
              <a:tailEnd len="sm" w="sm" type="none"/>
            </a:ln>
          </p:spPr>
        </p:cxnSp>
        <p:cxnSp>
          <p:nvCxnSpPr>
            <p:cNvPr id="204" name="Google Shape;204;p3"/>
            <p:cNvCxnSpPr/>
            <p:nvPr/>
          </p:nvCxnSpPr>
          <p:spPr>
            <a:xfrm flipH="1" rot="10800000">
              <a:off x="5275406" y="2261710"/>
              <a:ext cx="290369" cy="16752"/>
            </a:xfrm>
            <a:prstGeom prst="straightConnector1">
              <a:avLst/>
            </a:prstGeom>
            <a:noFill/>
            <a:ln cap="flat" cmpd="sng" w="44450">
              <a:solidFill>
                <a:schemeClr val="lt1"/>
              </a:solidFill>
              <a:prstDash val="solid"/>
              <a:miter lim="8000"/>
              <a:headEnd len="sm" w="sm" type="none"/>
              <a:tailEnd len="sm" w="sm" type="none"/>
            </a:ln>
          </p:spPr>
        </p:cxnSp>
        <p:cxnSp>
          <p:nvCxnSpPr>
            <p:cNvPr id="205" name="Google Shape;205;p3"/>
            <p:cNvCxnSpPr/>
            <p:nvPr/>
          </p:nvCxnSpPr>
          <p:spPr>
            <a:xfrm flipH="1" rot="10800000">
              <a:off x="5275406" y="2151772"/>
              <a:ext cx="290369" cy="48402"/>
            </a:xfrm>
            <a:prstGeom prst="straightConnector1">
              <a:avLst/>
            </a:prstGeom>
            <a:noFill/>
            <a:ln cap="flat" cmpd="sng" w="44450">
              <a:solidFill>
                <a:schemeClr val="lt1"/>
              </a:solidFill>
              <a:prstDash val="solid"/>
              <a:miter lim="8000"/>
              <a:headEnd len="sm" w="sm" type="none"/>
              <a:tailEnd len="sm" w="sm" type="none"/>
            </a:ln>
          </p:spPr>
        </p:cxnSp>
        <p:cxnSp>
          <p:nvCxnSpPr>
            <p:cNvPr id="206" name="Google Shape;206;p3"/>
            <p:cNvCxnSpPr/>
            <p:nvPr/>
          </p:nvCxnSpPr>
          <p:spPr>
            <a:xfrm>
              <a:off x="5270094" y="2354086"/>
              <a:ext cx="295681" cy="0"/>
            </a:xfrm>
            <a:prstGeom prst="straightConnector1">
              <a:avLst/>
            </a:prstGeom>
            <a:noFill/>
            <a:ln cap="flat" cmpd="sng" w="44450">
              <a:solidFill>
                <a:schemeClr val="lt1"/>
              </a:solidFill>
              <a:prstDash val="solid"/>
              <a:miter lim="8000"/>
              <a:headEnd len="sm" w="sm" type="none"/>
              <a:tailEnd len="sm" w="sm" type="none"/>
            </a:ln>
          </p:spPr>
        </p:cxnSp>
        <p:cxnSp>
          <p:nvCxnSpPr>
            <p:cNvPr id="207" name="Google Shape;207;p3"/>
            <p:cNvCxnSpPr/>
            <p:nvPr/>
          </p:nvCxnSpPr>
          <p:spPr>
            <a:xfrm rot="10800000">
              <a:off x="5950242" y="1866900"/>
              <a:ext cx="0" cy="465273"/>
            </a:xfrm>
            <a:prstGeom prst="straightConnector1">
              <a:avLst/>
            </a:prstGeom>
            <a:noFill/>
            <a:ln cap="flat" cmpd="sng" w="44450">
              <a:solidFill>
                <a:schemeClr val="lt1"/>
              </a:solidFill>
              <a:prstDash val="dash"/>
              <a:miter lim="8000"/>
              <a:headEnd len="sm" w="sm" type="none"/>
              <a:tailEnd len="sm" w="sm" type="none"/>
            </a:ln>
          </p:spPr>
        </p:cxnSp>
        <p:cxnSp>
          <p:nvCxnSpPr>
            <p:cNvPr id="208" name="Google Shape;208;p3"/>
            <p:cNvCxnSpPr/>
            <p:nvPr/>
          </p:nvCxnSpPr>
          <p:spPr>
            <a:xfrm>
              <a:off x="5628589" y="1936750"/>
              <a:ext cx="0" cy="476854"/>
            </a:xfrm>
            <a:prstGeom prst="straightConnector1">
              <a:avLst/>
            </a:prstGeom>
            <a:noFill/>
            <a:ln cap="flat" cmpd="sng" w="15875">
              <a:solidFill>
                <a:srgbClr val="0000A8"/>
              </a:solidFill>
              <a:prstDash val="solid"/>
              <a:miter lim="8000"/>
              <a:headEnd len="sm" w="sm" type="none"/>
              <a:tailEnd len="sm" w="sm" type="none"/>
            </a:ln>
          </p:spPr>
        </p:cxnSp>
      </p:grpSp>
      <p:sp>
        <p:nvSpPr>
          <p:cNvPr id="209" name="Google Shape;209;p3"/>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0" name="Google Shape;210;p3"/>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211" name="Google Shape;211;p3"/>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3"/>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213" name="Google Shape;213;p3"/>
          <p:cNvCxnSpPr/>
          <p:nvPr/>
        </p:nvCxnSpPr>
        <p:spPr>
          <a:xfrm rot="10800000">
            <a:off x="10559920" y="3580125"/>
            <a:ext cx="412964" cy="63712"/>
          </a:xfrm>
          <a:prstGeom prst="straightConnector1">
            <a:avLst/>
          </a:prstGeom>
          <a:noFill/>
          <a:ln cap="flat" cmpd="sng" w="9525">
            <a:solidFill>
              <a:schemeClr val="dk1"/>
            </a:solidFill>
            <a:prstDash val="solid"/>
            <a:miter lim="8000"/>
            <a:headEnd len="sm" w="sm" type="none"/>
            <a:tailEnd len="sm" w="sm" type="none"/>
          </a:ln>
        </p:spPr>
      </p:cxnSp>
      <p:cxnSp>
        <p:nvCxnSpPr>
          <p:cNvPr id="214" name="Google Shape;214;p3"/>
          <p:cNvCxnSpPr/>
          <p:nvPr/>
        </p:nvCxnSpPr>
        <p:spPr>
          <a:xfrm rot="10800000">
            <a:off x="10660835" y="3640684"/>
            <a:ext cx="345866" cy="738975"/>
          </a:xfrm>
          <a:prstGeom prst="straightConnector1">
            <a:avLst/>
          </a:prstGeom>
          <a:noFill/>
          <a:ln cap="flat" cmpd="sng" w="9525">
            <a:solidFill>
              <a:schemeClr val="dk1"/>
            </a:solidFill>
            <a:prstDash val="solid"/>
            <a:miter lim="8000"/>
            <a:headEnd len="sm" w="sm" type="none"/>
            <a:tailEnd len="sm" w="sm" type="none"/>
          </a:ln>
        </p:spPr>
      </p:cxnSp>
      <p:cxnSp>
        <p:nvCxnSpPr>
          <p:cNvPr id="215" name="Google Shape;215;p3"/>
          <p:cNvCxnSpPr/>
          <p:nvPr/>
        </p:nvCxnSpPr>
        <p:spPr>
          <a:xfrm flipH="1" rot="10800000">
            <a:off x="10636897" y="3633421"/>
            <a:ext cx="335987" cy="395340"/>
          </a:xfrm>
          <a:prstGeom prst="straightConnector1">
            <a:avLst/>
          </a:prstGeom>
          <a:noFill/>
          <a:ln cap="flat" cmpd="sng" w="9525">
            <a:solidFill>
              <a:schemeClr val="dk1"/>
            </a:solidFill>
            <a:prstDash val="solid"/>
            <a:miter lim="8000"/>
            <a:headEnd len="sm" w="sm" type="none"/>
            <a:tailEnd len="sm" w="sm" type="none"/>
          </a:ln>
        </p:spPr>
      </p:cxnSp>
      <p:cxnSp>
        <p:nvCxnSpPr>
          <p:cNvPr id="216" name="Google Shape;216;p3"/>
          <p:cNvCxnSpPr/>
          <p:nvPr/>
        </p:nvCxnSpPr>
        <p:spPr>
          <a:xfrm rot="10800000">
            <a:off x="10570774" y="3594896"/>
            <a:ext cx="1" cy="485748"/>
          </a:xfrm>
          <a:prstGeom prst="straightConnector1">
            <a:avLst/>
          </a:prstGeom>
          <a:noFill/>
          <a:ln cap="flat" cmpd="sng" w="9525">
            <a:solidFill>
              <a:schemeClr val="dk1"/>
            </a:solidFill>
            <a:prstDash val="solid"/>
            <a:miter lim="8000"/>
            <a:headEnd len="sm" w="sm" type="none"/>
            <a:tailEnd len="sm" w="sm" type="none"/>
          </a:ln>
        </p:spPr>
      </p:cxnSp>
      <p:cxnSp>
        <p:nvCxnSpPr>
          <p:cNvPr id="217" name="Google Shape;217;p3"/>
          <p:cNvCxnSpPr/>
          <p:nvPr/>
        </p:nvCxnSpPr>
        <p:spPr>
          <a:xfrm rot="10800000">
            <a:off x="10550620" y="4071642"/>
            <a:ext cx="508543" cy="348647"/>
          </a:xfrm>
          <a:prstGeom prst="straightConnector1">
            <a:avLst/>
          </a:prstGeom>
          <a:noFill/>
          <a:ln cap="flat" cmpd="sng" w="9525">
            <a:solidFill>
              <a:schemeClr val="dk1"/>
            </a:solidFill>
            <a:prstDash val="solid"/>
            <a:miter lim="8000"/>
            <a:headEnd len="sm" w="sm" type="none"/>
            <a:tailEnd len="sm" w="sm" type="none"/>
          </a:ln>
        </p:spPr>
      </p:cxnSp>
      <p:cxnSp>
        <p:nvCxnSpPr>
          <p:cNvPr id="218" name="Google Shape;218;p3"/>
          <p:cNvCxnSpPr/>
          <p:nvPr/>
        </p:nvCxnSpPr>
        <p:spPr>
          <a:xfrm rot="10800000">
            <a:off x="9895195" y="4087742"/>
            <a:ext cx="655425" cy="0"/>
          </a:xfrm>
          <a:prstGeom prst="straightConnector1">
            <a:avLst/>
          </a:prstGeom>
          <a:noFill/>
          <a:ln cap="flat" cmpd="sng" w="9525">
            <a:solidFill>
              <a:schemeClr val="dk1"/>
            </a:solidFill>
            <a:prstDash val="solid"/>
            <a:miter lim="8000"/>
            <a:headEnd len="sm" w="sm" type="none"/>
            <a:tailEnd len="sm" w="sm" type="none"/>
          </a:ln>
        </p:spPr>
      </p:cxnSp>
      <p:cxnSp>
        <p:nvCxnSpPr>
          <p:cNvPr id="219" name="Google Shape;219;p3"/>
          <p:cNvCxnSpPr/>
          <p:nvPr/>
        </p:nvCxnSpPr>
        <p:spPr>
          <a:xfrm rot="10800000">
            <a:off x="9219616" y="4087742"/>
            <a:ext cx="655425" cy="0"/>
          </a:xfrm>
          <a:prstGeom prst="straightConnector1">
            <a:avLst/>
          </a:prstGeom>
          <a:noFill/>
          <a:ln cap="flat" cmpd="sng" w="9525">
            <a:solidFill>
              <a:schemeClr val="dk1"/>
            </a:solidFill>
            <a:prstDash val="solid"/>
            <a:miter lim="8000"/>
            <a:headEnd len="sm" w="sm" type="none"/>
            <a:tailEnd len="sm" w="sm" type="none"/>
          </a:ln>
        </p:spPr>
      </p:cxnSp>
      <p:cxnSp>
        <p:nvCxnSpPr>
          <p:cNvPr id="220" name="Google Shape;220;p3"/>
          <p:cNvCxnSpPr/>
          <p:nvPr/>
        </p:nvCxnSpPr>
        <p:spPr>
          <a:xfrm flipH="1">
            <a:off x="9276868" y="3507672"/>
            <a:ext cx="382424" cy="517050"/>
          </a:xfrm>
          <a:prstGeom prst="straightConnector1">
            <a:avLst/>
          </a:prstGeom>
          <a:noFill/>
          <a:ln cap="flat" cmpd="sng" w="9525">
            <a:solidFill>
              <a:schemeClr val="dk1"/>
            </a:solidFill>
            <a:prstDash val="solid"/>
            <a:miter lim="8000"/>
            <a:headEnd len="sm" w="sm" type="none"/>
            <a:tailEnd len="sm" w="sm" type="none"/>
          </a:ln>
        </p:spPr>
      </p:cxnSp>
      <p:cxnSp>
        <p:nvCxnSpPr>
          <p:cNvPr id="221" name="Google Shape;221;p3"/>
          <p:cNvCxnSpPr/>
          <p:nvPr/>
        </p:nvCxnSpPr>
        <p:spPr>
          <a:xfrm>
            <a:off x="9733069" y="3507672"/>
            <a:ext cx="0" cy="540294"/>
          </a:xfrm>
          <a:prstGeom prst="straightConnector1">
            <a:avLst/>
          </a:prstGeom>
          <a:noFill/>
          <a:ln cap="flat" cmpd="sng" w="9525">
            <a:solidFill>
              <a:schemeClr val="dk1"/>
            </a:solidFill>
            <a:prstDash val="solid"/>
            <a:miter lim="8000"/>
            <a:headEnd len="sm" w="sm" type="none"/>
            <a:tailEnd len="sm" w="sm" type="none"/>
          </a:ln>
        </p:spPr>
      </p:cxnSp>
      <p:cxnSp>
        <p:nvCxnSpPr>
          <p:cNvPr id="222" name="Google Shape;222;p3"/>
          <p:cNvCxnSpPr/>
          <p:nvPr/>
        </p:nvCxnSpPr>
        <p:spPr>
          <a:xfrm>
            <a:off x="10137668" y="2754692"/>
            <a:ext cx="488174" cy="839333"/>
          </a:xfrm>
          <a:prstGeom prst="straightConnector1">
            <a:avLst/>
          </a:prstGeom>
          <a:noFill/>
          <a:ln cap="flat" cmpd="sng" w="9525">
            <a:solidFill>
              <a:schemeClr val="dk1"/>
            </a:solidFill>
            <a:prstDash val="solid"/>
            <a:miter lim="8000"/>
            <a:headEnd len="sm" w="sm" type="none"/>
            <a:tailEnd len="sm" w="sm" type="none"/>
          </a:ln>
        </p:spPr>
      </p:cxnSp>
      <p:cxnSp>
        <p:nvCxnSpPr>
          <p:cNvPr id="223" name="Google Shape;223;p3"/>
          <p:cNvCxnSpPr/>
          <p:nvPr/>
        </p:nvCxnSpPr>
        <p:spPr>
          <a:xfrm flipH="1">
            <a:off x="9798719" y="2695013"/>
            <a:ext cx="380432" cy="694807"/>
          </a:xfrm>
          <a:prstGeom prst="straightConnector1">
            <a:avLst/>
          </a:prstGeom>
          <a:noFill/>
          <a:ln cap="flat" cmpd="sng" w="12700">
            <a:solidFill>
              <a:schemeClr val="dk1"/>
            </a:solidFill>
            <a:prstDash val="solid"/>
            <a:miter lim="8000"/>
            <a:headEnd len="sm" w="sm" type="none"/>
            <a:tailEnd len="sm" w="sm" type="none"/>
          </a:ln>
        </p:spPr>
      </p:cxnSp>
      <p:grpSp>
        <p:nvGrpSpPr>
          <p:cNvPr id="224" name="Google Shape;224;p3"/>
          <p:cNvGrpSpPr/>
          <p:nvPr/>
        </p:nvGrpSpPr>
        <p:grpSpPr>
          <a:xfrm>
            <a:off x="7562238" y="2127325"/>
            <a:ext cx="3578867" cy="3640284"/>
            <a:chOff x="7562238" y="2127325"/>
            <a:chExt cx="3578867" cy="3640284"/>
          </a:xfrm>
        </p:grpSpPr>
        <p:grpSp>
          <p:nvGrpSpPr>
            <p:cNvPr id="225" name="Google Shape;225;p3"/>
            <p:cNvGrpSpPr/>
            <p:nvPr/>
          </p:nvGrpSpPr>
          <p:grpSpPr>
            <a:xfrm>
              <a:off x="7857253" y="2127325"/>
              <a:ext cx="3283852" cy="3640284"/>
              <a:chOff x="7881336" y="2104198"/>
              <a:chExt cx="3283852" cy="3640284"/>
            </a:xfrm>
          </p:grpSpPr>
          <p:cxnSp>
            <p:nvCxnSpPr>
              <p:cNvPr id="226" name="Google Shape;226;p3"/>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227" name="Google Shape;227;p3"/>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228" name="Google Shape;228;p3"/>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229" name="Google Shape;229;p3"/>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230" name="Google Shape;230;p3"/>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231" name="Google Shape;231;p3"/>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232" name="Google Shape;232;p3"/>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233" name="Google Shape;233;p3"/>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234" name="Google Shape;234;p3"/>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235" name="Google Shape;235;p3"/>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236" name="Google Shape;236;p3"/>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3"/>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238" name="Google Shape;238;p3"/>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239" name="Google Shape;239;p3"/>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240" name="Google Shape;240;p3"/>
              <p:cNvCxnSpPr/>
              <p:nvPr/>
            </p:nvCxnSpPr>
            <p:spPr>
              <a:xfrm flipH="1">
                <a:off x="10124718" y="2146305"/>
                <a:ext cx="761467" cy="577355"/>
              </a:xfrm>
              <a:prstGeom prst="straightConnector1">
                <a:avLst/>
              </a:prstGeom>
              <a:noFill/>
              <a:ln cap="flat" cmpd="sng" w="12700">
                <a:solidFill>
                  <a:schemeClr val="dk1"/>
                </a:solidFill>
                <a:prstDash val="solid"/>
                <a:miter lim="8000"/>
                <a:headEnd len="sm" w="sm" type="none"/>
                <a:tailEnd len="sm" w="sm" type="none"/>
              </a:ln>
            </p:spPr>
          </p:cxnSp>
          <p:cxnSp>
            <p:nvCxnSpPr>
              <p:cNvPr id="241" name="Google Shape;241;p3"/>
              <p:cNvCxnSpPr/>
              <p:nvPr/>
            </p:nvCxnSpPr>
            <p:spPr>
              <a:xfrm flipH="1">
                <a:off x="10124718" y="2245186"/>
                <a:ext cx="3970" cy="518461"/>
              </a:xfrm>
              <a:prstGeom prst="straightConnector1">
                <a:avLst/>
              </a:prstGeom>
              <a:noFill/>
              <a:ln cap="flat" cmpd="sng" w="12700">
                <a:solidFill>
                  <a:schemeClr val="dk1"/>
                </a:solidFill>
                <a:prstDash val="solid"/>
                <a:miter lim="8000"/>
                <a:headEnd len="sm" w="sm" type="none"/>
                <a:tailEnd len="sm" w="sm" type="none"/>
              </a:ln>
            </p:spPr>
          </p:cxnSp>
          <p:cxnSp>
            <p:nvCxnSpPr>
              <p:cNvPr id="242" name="Google Shape;242;p3"/>
              <p:cNvCxnSpPr/>
              <p:nvPr/>
            </p:nvCxnSpPr>
            <p:spPr>
              <a:xfrm flipH="1">
                <a:off x="10696218" y="2177379"/>
                <a:ext cx="149360" cy="518461"/>
              </a:xfrm>
              <a:prstGeom prst="straightConnector1">
                <a:avLst/>
              </a:prstGeom>
              <a:noFill/>
              <a:ln cap="flat" cmpd="sng" w="12700">
                <a:solidFill>
                  <a:schemeClr val="dk1"/>
                </a:solidFill>
                <a:prstDash val="solid"/>
                <a:miter lim="8000"/>
                <a:headEnd len="sm" w="sm" type="none"/>
                <a:tailEnd len="sm" w="sm" type="none"/>
              </a:ln>
            </p:spPr>
          </p:cxnSp>
          <p:cxnSp>
            <p:nvCxnSpPr>
              <p:cNvPr id="243" name="Google Shape;243;p3"/>
              <p:cNvCxnSpPr/>
              <p:nvPr/>
            </p:nvCxnSpPr>
            <p:spPr>
              <a:xfrm flipH="1">
                <a:off x="10166249" y="2695840"/>
                <a:ext cx="574283" cy="27820"/>
              </a:xfrm>
              <a:prstGeom prst="straightConnector1">
                <a:avLst/>
              </a:prstGeom>
              <a:noFill/>
              <a:ln cap="flat" cmpd="sng" w="12700">
                <a:solidFill>
                  <a:schemeClr val="dk1"/>
                </a:solidFill>
                <a:prstDash val="solid"/>
                <a:miter lim="8000"/>
                <a:headEnd len="sm" w="sm" type="none"/>
                <a:tailEnd len="sm" w="sm" type="none"/>
              </a:ln>
            </p:spPr>
          </p:cxnSp>
          <p:cxnSp>
            <p:nvCxnSpPr>
              <p:cNvPr id="244" name="Google Shape;244;p3"/>
              <p:cNvCxnSpPr/>
              <p:nvPr/>
            </p:nvCxnSpPr>
            <p:spPr>
              <a:xfrm flipH="1">
                <a:off x="10093625" y="2146305"/>
                <a:ext cx="788589" cy="98881"/>
              </a:xfrm>
              <a:prstGeom prst="straightConnector1">
                <a:avLst/>
              </a:prstGeom>
              <a:noFill/>
              <a:ln cap="flat" cmpd="sng" w="12700">
                <a:solidFill>
                  <a:schemeClr val="dk1"/>
                </a:solidFill>
                <a:prstDash val="solid"/>
                <a:miter lim="8000"/>
                <a:headEnd len="sm" w="sm" type="none"/>
                <a:tailEnd len="sm" w="sm" type="none"/>
              </a:ln>
            </p:spPr>
          </p:cxnSp>
          <p:cxnSp>
            <p:nvCxnSpPr>
              <p:cNvPr id="245" name="Google Shape;245;p3"/>
              <p:cNvCxnSpPr/>
              <p:nvPr/>
            </p:nvCxnSpPr>
            <p:spPr>
              <a:xfrm flipH="1">
                <a:off x="10886186" y="2104198"/>
                <a:ext cx="279002" cy="42107"/>
              </a:xfrm>
              <a:prstGeom prst="straightConnector1">
                <a:avLst/>
              </a:prstGeom>
              <a:noFill/>
              <a:ln cap="flat" cmpd="sng" w="12700">
                <a:solidFill>
                  <a:schemeClr val="dk1"/>
                </a:solidFill>
                <a:prstDash val="solid"/>
                <a:miter lim="8000"/>
                <a:headEnd len="sm" w="sm" type="none"/>
                <a:tailEnd len="sm" w="sm" type="none"/>
              </a:ln>
            </p:spPr>
          </p:cxnSp>
          <p:cxnSp>
            <p:nvCxnSpPr>
              <p:cNvPr id="246" name="Google Shape;246;p3"/>
              <p:cNvCxnSpPr/>
              <p:nvPr/>
            </p:nvCxnSpPr>
            <p:spPr>
              <a:xfrm rot="10800000">
                <a:off x="10706077" y="2695840"/>
                <a:ext cx="353541" cy="67807"/>
              </a:xfrm>
              <a:prstGeom prst="straightConnector1">
                <a:avLst/>
              </a:prstGeom>
              <a:noFill/>
              <a:ln cap="flat" cmpd="sng" w="12700">
                <a:solidFill>
                  <a:schemeClr val="dk1"/>
                </a:solidFill>
                <a:prstDash val="solid"/>
                <a:miter lim="8000"/>
                <a:headEnd len="sm" w="sm" type="none"/>
                <a:tailEnd len="sm" w="sm" type="none"/>
              </a:ln>
            </p:spPr>
          </p:cxnSp>
          <p:cxnSp>
            <p:nvCxnSpPr>
              <p:cNvPr id="247" name="Google Shape;247;p3"/>
              <p:cNvCxnSpPr/>
              <p:nvPr/>
            </p:nvCxnSpPr>
            <p:spPr>
              <a:xfrm flipH="1">
                <a:off x="8793306" y="2245186"/>
                <a:ext cx="1300319" cy="606622"/>
              </a:xfrm>
              <a:prstGeom prst="straightConnector1">
                <a:avLst/>
              </a:prstGeom>
              <a:noFill/>
              <a:ln cap="flat" cmpd="sng" w="12700">
                <a:solidFill>
                  <a:schemeClr val="dk1"/>
                </a:solidFill>
                <a:prstDash val="solid"/>
                <a:miter lim="8000"/>
                <a:headEnd len="sm" w="sm" type="none"/>
                <a:tailEnd len="sm" w="sm" type="none"/>
              </a:ln>
            </p:spPr>
          </p:cxnSp>
          <p:cxnSp>
            <p:nvCxnSpPr>
              <p:cNvPr id="248" name="Google Shape;248;p3"/>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249" name="Google Shape;249;p3"/>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250" name="Google Shape;250;p3"/>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251" name="Google Shape;251;p3"/>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252" name="Google Shape;252;p3"/>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253" name="Google Shape;253;p3"/>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254" name="Google Shape;254;p3"/>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255" name="Google Shape;255;p3"/>
          <p:cNvGrpSpPr/>
          <p:nvPr/>
        </p:nvGrpSpPr>
        <p:grpSpPr>
          <a:xfrm>
            <a:off x="8050698" y="2309376"/>
            <a:ext cx="298450" cy="464008"/>
            <a:chOff x="3130" y="3288"/>
            <a:chExt cx="410" cy="742"/>
          </a:xfrm>
        </p:grpSpPr>
        <p:cxnSp>
          <p:nvCxnSpPr>
            <p:cNvPr id="256" name="Google Shape;256;p3"/>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257" name="Google Shape;257;p3"/>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258" name="Google Shape;258;p3"/>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59" name="Google Shape;259;p3"/>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60" name="Google Shape;260;p3"/>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261" name="Google Shape;261;p3"/>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262" name="Google Shape;262;p3"/>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263" name="Google Shape;263;p3"/>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264" name="Google Shape;264;p3"/>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265" name="Google Shape;265;p3"/>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266" name="Google Shape;266;p3"/>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267" name="Google Shape;267;p3"/>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268" name="Google Shape;268;p3"/>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269" name="Google Shape;269;p3"/>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270" name="Google Shape;270;p3"/>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271" name="Google Shape;271;p3"/>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272" name="Google Shape;272;p3"/>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273" name="Google Shape;273;p3"/>
          <p:cNvGrpSpPr/>
          <p:nvPr/>
        </p:nvGrpSpPr>
        <p:grpSpPr>
          <a:xfrm>
            <a:off x="9849365" y="5339037"/>
            <a:ext cx="309740" cy="190838"/>
            <a:chOff x="3668110" y="2448910"/>
            <a:chExt cx="3794234" cy="2165130"/>
          </a:xfrm>
        </p:grpSpPr>
        <p:sp>
          <p:nvSpPr>
            <p:cNvPr id="274" name="Google Shape;274;p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5" name="Google Shape;275;p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6" name="Google Shape;276;p3"/>
            <p:cNvGrpSpPr/>
            <p:nvPr/>
          </p:nvGrpSpPr>
          <p:grpSpPr>
            <a:xfrm>
              <a:off x="3941378" y="2603243"/>
              <a:ext cx="3202061" cy="1066110"/>
              <a:chOff x="7939341" y="3037317"/>
              <a:chExt cx="897649" cy="353919"/>
            </a:xfrm>
          </p:grpSpPr>
          <p:sp>
            <p:nvSpPr>
              <p:cNvPr id="277" name="Google Shape;277;p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8" name="Google Shape;278;p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9" name="Google Shape;279;p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0" name="Google Shape;280;p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1" name="Google Shape;281;p3"/>
          <p:cNvGrpSpPr/>
          <p:nvPr/>
        </p:nvGrpSpPr>
        <p:grpSpPr>
          <a:xfrm>
            <a:off x="8676619" y="4967420"/>
            <a:ext cx="393760" cy="218578"/>
            <a:chOff x="7493876" y="2774731"/>
            <a:chExt cx="1481958" cy="894622"/>
          </a:xfrm>
        </p:grpSpPr>
        <p:sp>
          <p:nvSpPr>
            <p:cNvPr id="282" name="Google Shape;282;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3" name="Google Shape;283;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4" name="Google Shape;284;p3"/>
            <p:cNvGrpSpPr/>
            <p:nvPr/>
          </p:nvGrpSpPr>
          <p:grpSpPr>
            <a:xfrm>
              <a:off x="7713663" y="2848339"/>
              <a:ext cx="1042107" cy="425543"/>
              <a:chOff x="7786941" y="2884917"/>
              <a:chExt cx="897649" cy="353919"/>
            </a:xfrm>
          </p:grpSpPr>
          <p:sp>
            <p:nvSpPr>
              <p:cNvPr id="285" name="Google Shape;285;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 name="Google Shape;286;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 name="Google Shape;287;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 name="Google Shape;288;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9" name="Google Shape;289;p3"/>
          <p:cNvGrpSpPr/>
          <p:nvPr/>
        </p:nvGrpSpPr>
        <p:grpSpPr>
          <a:xfrm>
            <a:off x="8311520" y="5194433"/>
            <a:ext cx="309740" cy="190838"/>
            <a:chOff x="3668110" y="2448910"/>
            <a:chExt cx="3794234" cy="2165130"/>
          </a:xfrm>
        </p:grpSpPr>
        <p:sp>
          <p:nvSpPr>
            <p:cNvPr id="290" name="Google Shape;290;p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 name="Google Shape;291;p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2" name="Google Shape;292;p3"/>
            <p:cNvGrpSpPr/>
            <p:nvPr/>
          </p:nvGrpSpPr>
          <p:grpSpPr>
            <a:xfrm>
              <a:off x="3941378" y="2603243"/>
              <a:ext cx="3202061" cy="1066110"/>
              <a:chOff x="7939341" y="3037317"/>
              <a:chExt cx="897649" cy="353919"/>
            </a:xfrm>
          </p:grpSpPr>
          <p:sp>
            <p:nvSpPr>
              <p:cNvPr id="293" name="Google Shape;293;p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 name="Google Shape;294;p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5" name="Google Shape;295;p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6" name="Google Shape;296;p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7" name="Google Shape;297;p3"/>
          <p:cNvGrpSpPr/>
          <p:nvPr/>
        </p:nvGrpSpPr>
        <p:grpSpPr>
          <a:xfrm>
            <a:off x="8439827" y="2812309"/>
            <a:ext cx="353678" cy="168275"/>
            <a:chOff x="7493876" y="2774731"/>
            <a:chExt cx="1481958" cy="894622"/>
          </a:xfrm>
        </p:grpSpPr>
        <p:sp>
          <p:nvSpPr>
            <p:cNvPr id="298" name="Google Shape;298;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9" name="Google Shape;299;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0" name="Google Shape;300;p3"/>
            <p:cNvGrpSpPr/>
            <p:nvPr/>
          </p:nvGrpSpPr>
          <p:grpSpPr>
            <a:xfrm>
              <a:off x="7713663" y="2848339"/>
              <a:ext cx="1042107" cy="425543"/>
              <a:chOff x="7786941" y="2884917"/>
              <a:chExt cx="897649" cy="353919"/>
            </a:xfrm>
          </p:grpSpPr>
          <p:sp>
            <p:nvSpPr>
              <p:cNvPr id="301" name="Google Shape;301;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 name="Google Shape;302;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3" name="Google Shape;303;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 name="Google Shape;304;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5" name="Google Shape;305;p3"/>
          <p:cNvGrpSpPr/>
          <p:nvPr/>
        </p:nvGrpSpPr>
        <p:grpSpPr>
          <a:xfrm>
            <a:off x="10884085" y="3601365"/>
            <a:ext cx="170989" cy="97052"/>
            <a:chOff x="7493876" y="2774731"/>
            <a:chExt cx="1481958" cy="894622"/>
          </a:xfrm>
        </p:grpSpPr>
        <p:sp>
          <p:nvSpPr>
            <p:cNvPr id="306" name="Google Shape;306;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7" name="Google Shape;307;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8" name="Google Shape;308;p3"/>
            <p:cNvGrpSpPr/>
            <p:nvPr/>
          </p:nvGrpSpPr>
          <p:grpSpPr>
            <a:xfrm>
              <a:off x="7713663" y="2848339"/>
              <a:ext cx="1042107" cy="425543"/>
              <a:chOff x="7786941" y="2884917"/>
              <a:chExt cx="897649" cy="353919"/>
            </a:xfrm>
          </p:grpSpPr>
          <p:sp>
            <p:nvSpPr>
              <p:cNvPr id="309" name="Google Shape;309;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 name="Google Shape;310;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 name="Google Shape;311;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 name="Google Shape;312;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3" name="Google Shape;313;p3"/>
          <p:cNvGrpSpPr/>
          <p:nvPr/>
        </p:nvGrpSpPr>
        <p:grpSpPr>
          <a:xfrm>
            <a:off x="10410609" y="3496138"/>
            <a:ext cx="353678" cy="198344"/>
            <a:chOff x="7493876" y="2774731"/>
            <a:chExt cx="1481958" cy="894622"/>
          </a:xfrm>
        </p:grpSpPr>
        <p:sp>
          <p:nvSpPr>
            <p:cNvPr id="314" name="Google Shape;314;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15" name="Google Shape;315;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16" name="Google Shape;316;p3"/>
            <p:cNvGrpSpPr/>
            <p:nvPr/>
          </p:nvGrpSpPr>
          <p:grpSpPr>
            <a:xfrm>
              <a:off x="7713663" y="2848339"/>
              <a:ext cx="1042107" cy="425543"/>
              <a:chOff x="7786941" y="2884917"/>
              <a:chExt cx="897649" cy="353919"/>
            </a:xfrm>
          </p:grpSpPr>
          <p:sp>
            <p:nvSpPr>
              <p:cNvPr id="317" name="Google Shape;317;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8" name="Google Shape;318;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9" name="Google Shape;319;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0" name="Google Shape;320;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21" name="Google Shape;321;p3"/>
          <p:cNvGrpSpPr/>
          <p:nvPr/>
        </p:nvGrpSpPr>
        <p:grpSpPr>
          <a:xfrm>
            <a:off x="9948724" y="2202292"/>
            <a:ext cx="353678" cy="198344"/>
            <a:chOff x="7493876" y="2774731"/>
            <a:chExt cx="1481958" cy="894622"/>
          </a:xfrm>
        </p:grpSpPr>
        <p:sp>
          <p:nvSpPr>
            <p:cNvPr id="322" name="Google Shape;322;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3" name="Google Shape;323;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4" name="Google Shape;324;p3"/>
            <p:cNvGrpSpPr/>
            <p:nvPr/>
          </p:nvGrpSpPr>
          <p:grpSpPr>
            <a:xfrm>
              <a:off x="7713663" y="2848339"/>
              <a:ext cx="1042107" cy="425543"/>
              <a:chOff x="7786941" y="2884917"/>
              <a:chExt cx="897649" cy="353919"/>
            </a:xfrm>
          </p:grpSpPr>
          <p:sp>
            <p:nvSpPr>
              <p:cNvPr id="325" name="Google Shape;325;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 name="Google Shape;326;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 name="Google Shape;327;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8" name="Google Shape;328;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29" name="Google Shape;329;p3"/>
          <p:cNvGrpSpPr/>
          <p:nvPr/>
        </p:nvGrpSpPr>
        <p:grpSpPr>
          <a:xfrm>
            <a:off x="10527214" y="2613367"/>
            <a:ext cx="353678" cy="198344"/>
            <a:chOff x="7493876" y="2774731"/>
            <a:chExt cx="1481958" cy="894622"/>
          </a:xfrm>
        </p:grpSpPr>
        <p:sp>
          <p:nvSpPr>
            <p:cNvPr id="330" name="Google Shape;330;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1" name="Google Shape;331;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2" name="Google Shape;332;p3"/>
            <p:cNvGrpSpPr/>
            <p:nvPr/>
          </p:nvGrpSpPr>
          <p:grpSpPr>
            <a:xfrm>
              <a:off x="7713663" y="2848339"/>
              <a:ext cx="1042107" cy="425543"/>
              <a:chOff x="7786941" y="2884917"/>
              <a:chExt cx="897649" cy="353919"/>
            </a:xfrm>
          </p:grpSpPr>
          <p:sp>
            <p:nvSpPr>
              <p:cNvPr id="333" name="Google Shape;333;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4" name="Google Shape;334;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 name="Google Shape;335;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 name="Google Shape;336;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7" name="Google Shape;337;p3"/>
          <p:cNvGrpSpPr/>
          <p:nvPr/>
        </p:nvGrpSpPr>
        <p:grpSpPr>
          <a:xfrm>
            <a:off x="10643825" y="2107963"/>
            <a:ext cx="353678" cy="198344"/>
            <a:chOff x="7493876" y="2774731"/>
            <a:chExt cx="1481958" cy="894622"/>
          </a:xfrm>
        </p:grpSpPr>
        <p:sp>
          <p:nvSpPr>
            <p:cNvPr id="338" name="Google Shape;338;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9" name="Google Shape;339;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40" name="Google Shape;340;p3"/>
            <p:cNvGrpSpPr/>
            <p:nvPr/>
          </p:nvGrpSpPr>
          <p:grpSpPr>
            <a:xfrm>
              <a:off x="7713663" y="2848339"/>
              <a:ext cx="1042107" cy="425543"/>
              <a:chOff x="7786941" y="2884917"/>
              <a:chExt cx="897649" cy="353919"/>
            </a:xfrm>
          </p:grpSpPr>
          <p:sp>
            <p:nvSpPr>
              <p:cNvPr id="341" name="Google Shape;341;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2" name="Google Shape;342;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3" name="Google Shape;343;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4" name="Google Shape;344;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45" name="Google Shape;345;p3"/>
          <p:cNvGrpSpPr/>
          <p:nvPr/>
        </p:nvGrpSpPr>
        <p:grpSpPr>
          <a:xfrm>
            <a:off x="9980126" y="2661565"/>
            <a:ext cx="353678" cy="198344"/>
            <a:chOff x="7493876" y="2774731"/>
            <a:chExt cx="1481958" cy="894622"/>
          </a:xfrm>
        </p:grpSpPr>
        <p:sp>
          <p:nvSpPr>
            <p:cNvPr id="346" name="Google Shape;346;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47" name="Google Shape;347;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48" name="Google Shape;348;p3"/>
            <p:cNvGrpSpPr/>
            <p:nvPr/>
          </p:nvGrpSpPr>
          <p:grpSpPr>
            <a:xfrm>
              <a:off x="7713663" y="2848339"/>
              <a:ext cx="1042107" cy="425543"/>
              <a:chOff x="7786941" y="2884917"/>
              <a:chExt cx="897649" cy="353919"/>
            </a:xfrm>
          </p:grpSpPr>
          <p:sp>
            <p:nvSpPr>
              <p:cNvPr id="349" name="Google Shape;349;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0" name="Google Shape;350;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1" name="Google Shape;351;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2" name="Google Shape;352;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53" name="Google Shape;353;p3"/>
          <p:cNvGrpSpPr/>
          <p:nvPr/>
        </p:nvGrpSpPr>
        <p:grpSpPr>
          <a:xfrm>
            <a:off x="9497138" y="3394032"/>
            <a:ext cx="367224" cy="240304"/>
            <a:chOff x="7493876" y="2774731"/>
            <a:chExt cx="1481958" cy="894622"/>
          </a:xfrm>
        </p:grpSpPr>
        <p:sp>
          <p:nvSpPr>
            <p:cNvPr id="354" name="Google Shape;354;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55" name="Google Shape;355;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56" name="Google Shape;356;p3"/>
            <p:cNvGrpSpPr/>
            <p:nvPr/>
          </p:nvGrpSpPr>
          <p:grpSpPr>
            <a:xfrm>
              <a:off x="7713663" y="2848339"/>
              <a:ext cx="1042107" cy="425543"/>
              <a:chOff x="7786941" y="2884917"/>
              <a:chExt cx="897649" cy="353919"/>
            </a:xfrm>
          </p:grpSpPr>
          <p:sp>
            <p:nvSpPr>
              <p:cNvPr id="357" name="Google Shape;357;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8" name="Google Shape;358;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9" name="Google Shape;359;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0" name="Google Shape;360;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1" name="Google Shape;361;p3"/>
          <p:cNvGrpSpPr/>
          <p:nvPr/>
        </p:nvGrpSpPr>
        <p:grpSpPr>
          <a:xfrm>
            <a:off x="10375259" y="3992325"/>
            <a:ext cx="353678" cy="198344"/>
            <a:chOff x="7493876" y="2774731"/>
            <a:chExt cx="1481958" cy="894622"/>
          </a:xfrm>
        </p:grpSpPr>
        <p:sp>
          <p:nvSpPr>
            <p:cNvPr id="362" name="Google Shape;362;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3" name="Google Shape;363;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4" name="Google Shape;364;p3"/>
            <p:cNvGrpSpPr/>
            <p:nvPr/>
          </p:nvGrpSpPr>
          <p:grpSpPr>
            <a:xfrm>
              <a:off x="7713663" y="2848339"/>
              <a:ext cx="1042107" cy="425543"/>
              <a:chOff x="7786941" y="2884917"/>
              <a:chExt cx="897649" cy="353919"/>
            </a:xfrm>
          </p:grpSpPr>
          <p:sp>
            <p:nvSpPr>
              <p:cNvPr id="365" name="Google Shape;365;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 name="Google Shape;366;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 name="Google Shape;367;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 name="Google Shape;368;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9" name="Google Shape;369;p3"/>
          <p:cNvGrpSpPr/>
          <p:nvPr/>
        </p:nvGrpSpPr>
        <p:grpSpPr>
          <a:xfrm>
            <a:off x="10925982" y="4369125"/>
            <a:ext cx="228295" cy="120400"/>
            <a:chOff x="7493876" y="2774731"/>
            <a:chExt cx="1481958" cy="894622"/>
          </a:xfrm>
        </p:grpSpPr>
        <p:sp>
          <p:nvSpPr>
            <p:cNvPr id="370" name="Google Shape;370;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71" name="Google Shape;371;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72" name="Google Shape;372;p3"/>
            <p:cNvGrpSpPr/>
            <p:nvPr/>
          </p:nvGrpSpPr>
          <p:grpSpPr>
            <a:xfrm>
              <a:off x="7713663" y="2848339"/>
              <a:ext cx="1042107" cy="425543"/>
              <a:chOff x="7786941" y="2884917"/>
              <a:chExt cx="897649" cy="353919"/>
            </a:xfrm>
          </p:grpSpPr>
          <p:sp>
            <p:nvSpPr>
              <p:cNvPr id="373" name="Google Shape;373;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4" name="Google Shape;374;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5" name="Google Shape;375;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6" name="Google Shape;376;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77" name="Google Shape;377;p3"/>
          <p:cNvGrpSpPr/>
          <p:nvPr/>
        </p:nvGrpSpPr>
        <p:grpSpPr>
          <a:xfrm>
            <a:off x="7439074" y="2356613"/>
            <a:ext cx="534987" cy="414882"/>
            <a:chOff x="7432700" y="2327293"/>
            <a:chExt cx="534987" cy="414882"/>
          </a:xfrm>
        </p:grpSpPr>
        <p:pic>
          <p:nvPicPr>
            <p:cNvPr descr="antenna_stylized" id="378" name="Google Shape;378;p3"/>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79" name="Google Shape;379;p3"/>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80" name="Google Shape;380;p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81" name="Google Shape;381;p3"/>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82" name="Google Shape;382;p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3" name="Google Shape;383;p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4" name="Google Shape;384;p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5" name="Google Shape;385;p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 name="Google Shape;386;p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88" name="Google Shape;388;p3"/>
            <p:cNvGrpSpPr/>
            <p:nvPr/>
          </p:nvGrpSpPr>
          <p:grpSpPr>
            <a:xfrm>
              <a:off x="7594735" y="2642220"/>
              <a:ext cx="98740" cy="36846"/>
              <a:chOff x="1740" y="2642"/>
              <a:chExt cx="752" cy="327"/>
            </a:xfrm>
          </p:grpSpPr>
          <p:sp>
            <p:nvSpPr>
              <p:cNvPr id="389" name="Google Shape;389;p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0" name="Google Shape;390;p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1" name="Google Shape;391;p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2" name="Google Shape;392;p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5" name="Google Shape;395;p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6" name="Google Shape;396;p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8" name="Google Shape;398;p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9" name="Google Shape;399;p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0" name="Google Shape;400;p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1" name="Google Shape;401;p3"/>
          <p:cNvGrpSpPr/>
          <p:nvPr/>
        </p:nvGrpSpPr>
        <p:grpSpPr>
          <a:xfrm>
            <a:off x="8637781" y="2319727"/>
            <a:ext cx="530702" cy="478009"/>
            <a:chOff x="8631407" y="2290407"/>
            <a:chExt cx="530702" cy="478009"/>
          </a:xfrm>
        </p:grpSpPr>
        <p:pic>
          <p:nvPicPr>
            <p:cNvPr descr="light2.png" id="402" name="Google Shape;402;p3"/>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403" name="Google Shape;403;p3"/>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404" name="Google Shape;404;p3"/>
          <p:cNvGrpSpPr/>
          <p:nvPr/>
        </p:nvGrpSpPr>
        <p:grpSpPr>
          <a:xfrm>
            <a:off x="8499539" y="2059124"/>
            <a:ext cx="849312" cy="226109"/>
            <a:chOff x="8493165" y="2029804"/>
            <a:chExt cx="849312" cy="226109"/>
          </a:xfrm>
        </p:grpSpPr>
        <p:pic>
          <p:nvPicPr>
            <p:cNvPr descr="car_icon_small" id="405" name="Google Shape;405;p3"/>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406" name="Google Shape;406;p3"/>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407" name="Google Shape;407;p3"/>
          <p:cNvGrpSpPr/>
          <p:nvPr/>
        </p:nvGrpSpPr>
        <p:grpSpPr>
          <a:xfrm>
            <a:off x="7493518" y="3325424"/>
            <a:ext cx="857739" cy="583764"/>
            <a:chOff x="7487144" y="3296104"/>
            <a:chExt cx="857739" cy="583764"/>
          </a:xfrm>
        </p:grpSpPr>
        <p:grpSp>
          <p:nvGrpSpPr>
            <p:cNvPr id="408" name="Google Shape;408;p3"/>
            <p:cNvGrpSpPr/>
            <p:nvPr/>
          </p:nvGrpSpPr>
          <p:grpSpPr>
            <a:xfrm>
              <a:off x="7487144" y="3389820"/>
              <a:ext cx="350807" cy="310034"/>
              <a:chOff x="7487144" y="3389820"/>
              <a:chExt cx="350807" cy="310034"/>
            </a:xfrm>
          </p:grpSpPr>
          <p:pic>
            <p:nvPicPr>
              <p:cNvPr descr="antenna_stylized" id="409" name="Google Shape;409;p3"/>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410" name="Google Shape;410;p3"/>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411" name="Google Shape;411;p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12" name="Google Shape;412;p3"/>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413" name="Google Shape;413;p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4" name="Google Shape;414;p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8" name="Google Shape;418;p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19" name="Google Shape;419;p3"/>
              <p:cNvGrpSpPr/>
              <p:nvPr/>
            </p:nvGrpSpPr>
            <p:grpSpPr>
              <a:xfrm>
                <a:off x="7593395" y="3625649"/>
                <a:ext cx="64747" cy="27592"/>
                <a:chOff x="1740" y="2642"/>
                <a:chExt cx="752" cy="327"/>
              </a:xfrm>
            </p:grpSpPr>
            <p:sp>
              <p:nvSpPr>
                <p:cNvPr id="420" name="Google Shape;420;p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1" name="Google Shape;421;p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2" name="Google Shape;422;p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3" name="Google Shape;423;p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26" name="Google Shape;426;p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 name="Google Shape;427;p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 name="Google Shape;428;p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 name="Google Shape;429;p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 name="Google Shape;430;p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2" name="Google Shape;432;p3"/>
            <p:cNvGrpSpPr/>
            <p:nvPr/>
          </p:nvGrpSpPr>
          <p:grpSpPr>
            <a:xfrm flipH="1">
              <a:off x="7985622" y="3537823"/>
              <a:ext cx="359261" cy="342045"/>
              <a:chOff x="2839" y="3501"/>
              <a:chExt cx="755" cy="803"/>
            </a:xfrm>
          </p:grpSpPr>
          <p:pic>
            <p:nvPicPr>
              <p:cNvPr descr="desktop_computer_stylized_medium" id="433" name="Google Shape;433;p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434" name="Google Shape;434;p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5" name="Google Shape;435;p3"/>
            <p:cNvGrpSpPr/>
            <p:nvPr/>
          </p:nvGrpSpPr>
          <p:grpSpPr>
            <a:xfrm>
              <a:off x="7797061" y="3296104"/>
              <a:ext cx="347997" cy="396620"/>
              <a:chOff x="7797061" y="3296104"/>
              <a:chExt cx="347997" cy="396620"/>
            </a:xfrm>
          </p:grpSpPr>
          <p:pic>
            <p:nvPicPr>
              <p:cNvPr descr="fridge2.png" id="436" name="Google Shape;436;p3"/>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437" name="Google Shape;437;p3"/>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438" name="Google Shape;438;p3"/>
          <p:cNvGrpSpPr/>
          <p:nvPr/>
        </p:nvGrpSpPr>
        <p:grpSpPr>
          <a:xfrm>
            <a:off x="11064947" y="3428485"/>
            <a:ext cx="518448" cy="1212242"/>
            <a:chOff x="11058573" y="3399165"/>
            <a:chExt cx="518448" cy="1212242"/>
          </a:xfrm>
        </p:grpSpPr>
        <p:grpSp>
          <p:nvGrpSpPr>
            <p:cNvPr id="439" name="Google Shape;439;p3"/>
            <p:cNvGrpSpPr/>
            <p:nvPr/>
          </p:nvGrpSpPr>
          <p:grpSpPr>
            <a:xfrm>
              <a:off x="11087182" y="4159591"/>
              <a:ext cx="489839" cy="451816"/>
              <a:chOff x="5103720" y="2693365"/>
              <a:chExt cx="611650" cy="414788"/>
            </a:xfrm>
          </p:grpSpPr>
          <p:cxnSp>
            <p:nvCxnSpPr>
              <p:cNvPr id="440" name="Google Shape;440;p3"/>
              <p:cNvCxnSpPr/>
              <p:nvPr/>
            </p:nvCxnSpPr>
            <p:spPr>
              <a:xfrm>
                <a:off x="5103720" y="2914214"/>
                <a:ext cx="232559" cy="0"/>
              </a:xfrm>
              <a:prstGeom prst="straightConnector1">
                <a:avLst/>
              </a:prstGeom>
              <a:noFill/>
              <a:ln cap="flat" cmpd="sng" w="12700">
                <a:solidFill>
                  <a:schemeClr val="dk1"/>
                </a:solidFill>
                <a:prstDash val="solid"/>
                <a:miter lim="8000"/>
                <a:headEnd len="sm" w="sm" type="none"/>
                <a:tailEnd len="sm" w="sm" type="none"/>
              </a:ln>
            </p:spPr>
          </p:cxnSp>
          <p:grpSp>
            <p:nvGrpSpPr>
              <p:cNvPr id="441" name="Google Shape;441;p3"/>
              <p:cNvGrpSpPr/>
              <p:nvPr/>
            </p:nvGrpSpPr>
            <p:grpSpPr>
              <a:xfrm>
                <a:off x="5275406" y="2693365"/>
                <a:ext cx="439964" cy="414788"/>
                <a:chOff x="5275406" y="2711455"/>
                <a:chExt cx="452949" cy="405518"/>
              </a:xfrm>
            </p:grpSpPr>
            <p:pic>
              <p:nvPicPr>
                <p:cNvPr descr="server_rack.png" id="442" name="Google Shape;442;p3"/>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443" name="Google Shape;443;p3"/>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444" name="Google Shape;444;p3"/>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445" name="Google Shape;445;p3"/>
            <p:cNvGrpSpPr/>
            <p:nvPr/>
          </p:nvGrpSpPr>
          <p:grpSpPr>
            <a:xfrm>
              <a:off x="11058573" y="3399165"/>
              <a:ext cx="423724" cy="405973"/>
              <a:chOff x="5103720" y="2693365"/>
              <a:chExt cx="611650" cy="414788"/>
            </a:xfrm>
          </p:grpSpPr>
          <p:cxnSp>
            <p:nvCxnSpPr>
              <p:cNvPr id="446" name="Google Shape;446;p3"/>
              <p:cNvCxnSpPr/>
              <p:nvPr/>
            </p:nvCxnSpPr>
            <p:spPr>
              <a:xfrm>
                <a:off x="5103720" y="2914214"/>
                <a:ext cx="232559" cy="0"/>
              </a:xfrm>
              <a:prstGeom prst="straightConnector1">
                <a:avLst/>
              </a:prstGeom>
              <a:noFill/>
              <a:ln cap="flat" cmpd="sng" w="12700">
                <a:solidFill>
                  <a:schemeClr val="dk1"/>
                </a:solidFill>
                <a:prstDash val="solid"/>
                <a:miter lim="8000"/>
                <a:headEnd len="sm" w="sm" type="none"/>
                <a:tailEnd len="sm" w="sm" type="none"/>
              </a:ln>
            </p:spPr>
          </p:cxnSp>
          <p:grpSp>
            <p:nvGrpSpPr>
              <p:cNvPr id="447" name="Google Shape;447;p3"/>
              <p:cNvGrpSpPr/>
              <p:nvPr/>
            </p:nvGrpSpPr>
            <p:grpSpPr>
              <a:xfrm>
                <a:off x="5275406" y="2693365"/>
                <a:ext cx="439964" cy="414788"/>
                <a:chOff x="5275406" y="2711455"/>
                <a:chExt cx="452949" cy="405518"/>
              </a:xfrm>
            </p:grpSpPr>
            <p:pic>
              <p:nvPicPr>
                <p:cNvPr descr="server_rack.png" id="448" name="Google Shape;448;p3"/>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449" name="Google Shape;449;p3"/>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450" name="Google Shape;450;p3"/>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451" name="Google Shape;451;p3"/>
          <p:cNvGrpSpPr/>
          <p:nvPr/>
        </p:nvGrpSpPr>
        <p:grpSpPr>
          <a:xfrm flipH="1">
            <a:off x="7980855" y="4900161"/>
            <a:ext cx="345630" cy="320302"/>
            <a:chOff x="2839" y="3501"/>
            <a:chExt cx="755" cy="803"/>
          </a:xfrm>
        </p:grpSpPr>
        <p:pic>
          <p:nvPicPr>
            <p:cNvPr descr="desktop_computer_stylized_medium" id="452" name="Google Shape;452;p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53" name="Google Shape;453;p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54" name="Google Shape;454;p3"/>
          <p:cNvGrpSpPr/>
          <p:nvPr/>
        </p:nvGrpSpPr>
        <p:grpSpPr>
          <a:xfrm>
            <a:off x="9201681" y="5852809"/>
            <a:ext cx="310186" cy="312008"/>
            <a:chOff x="877" y="1008"/>
            <a:chExt cx="2747" cy="2626"/>
          </a:xfrm>
        </p:grpSpPr>
        <p:pic>
          <p:nvPicPr>
            <p:cNvPr descr="antenna_stylized" id="455" name="Google Shape;455;p3"/>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56" name="Google Shape;456;p3"/>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57" name="Google Shape;457;p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58" name="Google Shape;458;p3"/>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59" name="Google Shape;459;p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0" name="Google Shape;460;p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1" name="Google Shape;461;p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2" name="Google Shape;462;p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3" name="Google Shape;463;p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4" name="Google Shape;464;p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5" name="Google Shape;465;p3"/>
            <p:cNvGrpSpPr/>
            <p:nvPr/>
          </p:nvGrpSpPr>
          <p:grpSpPr>
            <a:xfrm>
              <a:off x="1709" y="3008"/>
              <a:ext cx="507" cy="234"/>
              <a:chOff x="1740" y="2642"/>
              <a:chExt cx="752" cy="327"/>
            </a:xfrm>
          </p:grpSpPr>
          <p:sp>
            <p:nvSpPr>
              <p:cNvPr id="466" name="Google Shape;466;p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7" name="Google Shape;467;p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8" name="Google Shape;468;p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9" name="Google Shape;469;p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0" name="Google Shape;470;p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1" name="Google Shape;471;p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72" name="Google Shape;472;p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3" name="Google Shape;473;p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4" name="Google Shape;474;p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5" name="Google Shape;475;p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6" name="Google Shape;476;p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7" name="Google Shape;477;p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78" name="Google Shape;478;p3"/>
          <p:cNvGrpSpPr/>
          <p:nvPr/>
        </p:nvGrpSpPr>
        <p:grpSpPr>
          <a:xfrm flipH="1">
            <a:off x="8153909" y="5504657"/>
            <a:ext cx="345630" cy="320302"/>
            <a:chOff x="2839" y="3501"/>
            <a:chExt cx="755" cy="803"/>
          </a:xfrm>
        </p:grpSpPr>
        <p:pic>
          <p:nvPicPr>
            <p:cNvPr descr="desktop_computer_stylized_medium" id="479" name="Google Shape;479;p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80" name="Google Shape;480;p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81" name="Google Shape;481;p3"/>
          <p:cNvGrpSpPr/>
          <p:nvPr/>
        </p:nvGrpSpPr>
        <p:grpSpPr>
          <a:xfrm flipH="1">
            <a:off x="8552134" y="5526130"/>
            <a:ext cx="345630" cy="320302"/>
            <a:chOff x="2839" y="3501"/>
            <a:chExt cx="755" cy="803"/>
          </a:xfrm>
        </p:grpSpPr>
        <p:pic>
          <p:nvPicPr>
            <p:cNvPr descr="desktop_computer_stylized_medium" id="482" name="Google Shape;482;p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83" name="Google Shape;483;p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84" name="Google Shape;484;p3"/>
          <p:cNvGrpSpPr/>
          <p:nvPr/>
        </p:nvGrpSpPr>
        <p:grpSpPr>
          <a:xfrm>
            <a:off x="9534746" y="5795138"/>
            <a:ext cx="319264" cy="256836"/>
            <a:chOff x="877" y="1008"/>
            <a:chExt cx="2747" cy="2626"/>
          </a:xfrm>
        </p:grpSpPr>
        <p:pic>
          <p:nvPicPr>
            <p:cNvPr descr="antenna_stylized" id="485" name="Google Shape;485;p3"/>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86" name="Google Shape;486;p3"/>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87" name="Google Shape;487;p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88" name="Google Shape;488;p3"/>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89" name="Google Shape;489;p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0" name="Google Shape;490;p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1" name="Google Shape;491;p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2" name="Google Shape;492;p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3" name="Google Shape;493;p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4" name="Google Shape;494;p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5" name="Google Shape;495;p3"/>
            <p:cNvGrpSpPr/>
            <p:nvPr/>
          </p:nvGrpSpPr>
          <p:grpSpPr>
            <a:xfrm>
              <a:off x="1709" y="3008"/>
              <a:ext cx="507" cy="234"/>
              <a:chOff x="1740" y="2642"/>
              <a:chExt cx="752" cy="327"/>
            </a:xfrm>
          </p:grpSpPr>
          <p:sp>
            <p:nvSpPr>
              <p:cNvPr id="496" name="Google Shape;496;p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7" name="Google Shape;497;p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8" name="Google Shape;498;p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9" name="Google Shape;499;p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0" name="Google Shape;500;p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1" name="Google Shape;501;p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02" name="Google Shape;502;p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3" name="Google Shape;503;p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4" name="Google Shape;504;p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5" name="Google Shape;505;p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6" name="Google Shape;506;p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08" name="Google Shape;508;p3"/>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9" name="Google Shape;509;p3"/>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0" name="Google Shape;510;p3"/>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1" name="Google Shape;511;p3"/>
          <p:cNvSpPr/>
          <p:nvPr/>
        </p:nvSpPr>
        <p:spPr>
          <a:xfrm>
            <a:off x="10026299" y="5674399"/>
            <a:ext cx="71949" cy="68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2" name="Google Shape;512;p3"/>
          <p:cNvGrpSpPr/>
          <p:nvPr/>
        </p:nvGrpSpPr>
        <p:grpSpPr>
          <a:xfrm>
            <a:off x="10091053" y="5670891"/>
            <a:ext cx="69517" cy="21877"/>
            <a:chOff x="613" y="2566"/>
            <a:chExt cx="721" cy="144"/>
          </a:xfrm>
        </p:grpSpPr>
        <p:sp>
          <p:nvSpPr>
            <p:cNvPr id="513" name="Google Shape;513;p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4" name="Google Shape;514;p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15" name="Google Shape;515;p3"/>
          <p:cNvSpPr/>
          <p:nvPr/>
        </p:nvSpPr>
        <p:spPr>
          <a:xfrm>
            <a:off x="10027502" y="5722750"/>
            <a:ext cx="71949" cy="68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6" name="Google Shape;516;p3"/>
          <p:cNvGrpSpPr/>
          <p:nvPr/>
        </p:nvGrpSpPr>
        <p:grpSpPr>
          <a:xfrm>
            <a:off x="10091005" y="5718110"/>
            <a:ext cx="69517" cy="19515"/>
            <a:chOff x="615" y="2564"/>
            <a:chExt cx="721" cy="139"/>
          </a:xfrm>
        </p:grpSpPr>
        <p:sp>
          <p:nvSpPr>
            <p:cNvPr id="517" name="Google Shape;517;p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8" name="Google Shape;518;p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19" name="Google Shape;519;p3"/>
          <p:cNvSpPr/>
          <p:nvPr/>
        </p:nvSpPr>
        <p:spPr>
          <a:xfrm>
            <a:off x="10027502" y="5771101"/>
            <a:ext cx="71949" cy="68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0" name="Google Shape;520;p3"/>
          <p:cNvSpPr/>
          <p:nvPr/>
        </p:nvSpPr>
        <p:spPr>
          <a:xfrm>
            <a:off x="10028705" y="5814938"/>
            <a:ext cx="71949" cy="68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1" name="Google Shape;521;p3"/>
          <p:cNvGrpSpPr/>
          <p:nvPr/>
        </p:nvGrpSpPr>
        <p:grpSpPr>
          <a:xfrm>
            <a:off x="10089851" y="5813708"/>
            <a:ext cx="69541" cy="19618"/>
            <a:chOff x="618" y="2586"/>
            <a:chExt cx="720" cy="124"/>
          </a:xfrm>
        </p:grpSpPr>
        <p:sp>
          <p:nvSpPr>
            <p:cNvPr id="522" name="Google Shape;522;p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3" name="Google Shape;523;p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4" name="Google Shape;524;p3"/>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25" name="Google Shape;525;p3"/>
          <p:cNvGrpSpPr/>
          <p:nvPr/>
        </p:nvGrpSpPr>
        <p:grpSpPr>
          <a:xfrm>
            <a:off x="10089849" y="5767606"/>
            <a:ext cx="70700" cy="19515"/>
            <a:chOff x="613" y="2571"/>
            <a:chExt cx="732" cy="134"/>
          </a:xfrm>
        </p:grpSpPr>
        <p:sp>
          <p:nvSpPr>
            <p:cNvPr id="526" name="Google Shape;526;p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7" name="Google Shape;527;p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8" name="Google Shape;528;p3"/>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9" name="Google Shape;529;p3"/>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0" name="Google Shape;530;p3"/>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1" name="Google Shape;531;p3"/>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2" name="Google Shape;532;p3"/>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3" name="Google Shape;533;p3"/>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4" name="Google Shape;534;p3"/>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5" name="Google Shape;535;p3"/>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6" name="Google Shape;536;p3"/>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37" name="Google Shape;537;p3"/>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8" name="Google Shape;538;p3"/>
          <p:cNvSpPr/>
          <p:nvPr/>
        </p:nvSpPr>
        <p:spPr>
          <a:xfrm>
            <a:off x="10129410" y="5841444"/>
            <a:ext cx="9625" cy="110538"/>
          </a:xfrm>
          <a:prstGeom prst="rect">
            <a:avLst/>
          </a:prstGeom>
          <a:solidFill>
            <a:srgbClr val="29292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39" name="Google Shape;539;p3"/>
          <p:cNvGrpSpPr/>
          <p:nvPr/>
        </p:nvGrpSpPr>
        <p:grpSpPr>
          <a:xfrm flipH="1">
            <a:off x="7773981" y="5281060"/>
            <a:ext cx="345630" cy="320302"/>
            <a:chOff x="2839" y="3501"/>
            <a:chExt cx="755" cy="803"/>
          </a:xfrm>
        </p:grpSpPr>
        <p:pic>
          <p:nvPicPr>
            <p:cNvPr descr="desktop_computer_stylized_medium" id="540" name="Google Shape;540;p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541" name="Google Shape;541;p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2" name="Google Shape;542;p3"/>
          <p:cNvGrpSpPr/>
          <p:nvPr/>
        </p:nvGrpSpPr>
        <p:grpSpPr>
          <a:xfrm>
            <a:off x="7750224" y="1859725"/>
            <a:ext cx="415925" cy="385763"/>
            <a:chOff x="2751" y="1851"/>
            <a:chExt cx="462" cy="478"/>
          </a:xfrm>
        </p:grpSpPr>
        <p:pic>
          <p:nvPicPr>
            <p:cNvPr descr="iphone_stylized_small" id="543" name="Google Shape;543;p3"/>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544" name="Google Shape;544;p3"/>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545" name="Google Shape;545;p3"/>
          <p:cNvGrpSpPr/>
          <p:nvPr/>
        </p:nvGrpSpPr>
        <p:grpSpPr>
          <a:xfrm>
            <a:off x="10253990" y="5273951"/>
            <a:ext cx="177192" cy="330833"/>
            <a:chOff x="4140" y="429"/>
            <a:chExt cx="1425" cy="2396"/>
          </a:xfrm>
        </p:grpSpPr>
        <p:sp>
          <p:nvSpPr>
            <p:cNvPr id="546" name="Google Shape;546;p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7" name="Google Shape;547;p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8" name="Google Shape;548;p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9" name="Google Shape;549;p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0" name="Google Shape;550;p3"/>
            <p:cNvSpPr/>
            <p:nvPr/>
          </p:nvSpPr>
          <p:spPr>
            <a:xfrm>
              <a:off x="4210" y="690"/>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1" name="Google Shape;551;p3"/>
            <p:cNvGrpSpPr/>
            <p:nvPr/>
          </p:nvGrpSpPr>
          <p:grpSpPr>
            <a:xfrm>
              <a:off x="4748" y="666"/>
              <a:ext cx="578" cy="150"/>
              <a:chOff x="613" y="2566"/>
              <a:chExt cx="721" cy="144"/>
            </a:xfrm>
          </p:grpSpPr>
          <p:sp>
            <p:nvSpPr>
              <p:cNvPr id="552" name="Google Shape;552;p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3" name="Google Shape;553;p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4" name="Google Shape;554;p3"/>
            <p:cNvSpPr/>
            <p:nvPr/>
          </p:nvSpPr>
          <p:spPr>
            <a:xfrm>
              <a:off x="4220" y="1022"/>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5" name="Google Shape;555;p3"/>
            <p:cNvGrpSpPr/>
            <p:nvPr/>
          </p:nvGrpSpPr>
          <p:grpSpPr>
            <a:xfrm>
              <a:off x="4748" y="990"/>
              <a:ext cx="578" cy="134"/>
              <a:chOff x="615" y="2564"/>
              <a:chExt cx="721" cy="139"/>
            </a:xfrm>
          </p:grpSpPr>
          <p:sp>
            <p:nvSpPr>
              <p:cNvPr id="556" name="Google Shape;556;p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7" name="Google Shape;557;p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8" name="Google Shape;558;p3"/>
            <p:cNvSpPr/>
            <p:nvPr/>
          </p:nvSpPr>
          <p:spPr>
            <a:xfrm>
              <a:off x="4220" y="1354"/>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9" name="Google Shape;559;p3"/>
            <p:cNvSpPr/>
            <p:nvPr/>
          </p:nvSpPr>
          <p:spPr>
            <a:xfrm>
              <a:off x="4230" y="1655"/>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60" name="Google Shape;560;p3"/>
            <p:cNvGrpSpPr/>
            <p:nvPr/>
          </p:nvGrpSpPr>
          <p:grpSpPr>
            <a:xfrm>
              <a:off x="4738" y="1647"/>
              <a:ext cx="578" cy="135"/>
              <a:chOff x="618" y="2586"/>
              <a:chExt cx="720" cy="124"/>
            </a:xfrm>
          </p:grpSpPr>
          <p:sp>
            <p:nvSpPr>
              <p:cNvPr id="561" name="Google Shape;561;p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2" name="Google Shape;562;p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3" name="Google Shape;563;p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4" name="Google Shape;564;p3"/>
            <p:cNvGrpSpPr/>
            <p:nvPr/>
          </p:nvGrpSpPr>
          <p:grpSpPr>
            <a:xfrm>
              <a:off x="4738" y="1330"/>
              <a:ext cx="588" cy="134"/>
              <a:chOff x="613" y="2571"/>
              <a:chExt cx="732" cy="134"/>
            </a:xfrm>
          </p:grpSpPr>
          <p:sp>
            <p:nvSpPr>
              <p:cNvPr id="565" name="Google Shape;565;p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6" name="Google Shape;566;p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7" name="Google Shape;567;p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8" name="Google Shape;568;p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9" name="Google Shape;569;p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0" name="Google Shape;570;p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1" name="Google Shape;571;p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2" name="Google Shape;572;p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3" name="Google Shape;573;p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4" name="Google Shape;574;p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5" name="Google Shape;575;p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76" name="Google Shape;576;p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7" name="Google Shape;577;p3"/>
            <p:cNvSpPr/>
            <p:nvPr/>
          </p:nvSpPr>
          <p:spPr>
            <a:xfrm>
              <a:off x="5067" y="1837"/>
              <a:ext cx="80" cy="759"/>
            </a:xfrm>
            <a:prstGeom prst="rect">
              <a:avLst/>
            </a:prstGeom>
            <a:solidFill>
              <a:srgbClr val="29292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78" name="Google Shape;578;p3"/>
          <p:cNvGrpSpPr/>
          <p:nvPr/>
        </p:nvGrpSpPr>
        <p:grpSpPr>
          <a:xfrm>
            <a:off x="6571713" y="2686293"/>
            <a:ext cx="1038308" cy="956788"/>
            <a:chOff x="6571713" y="2686293"/>
            <a:chExt cx="1038308" cy="956788"/>
          </a:xfrm>
        </p:grpSpPr>
        <p:sp>
          <p:nvSpPr>
            <p:cNvPr id="579" name="Google Shape;579;p3"/>
            <p:cNvSpPr/>
            <p:nvPr/>
          </p:nvSpPr>
          <p:spPr>
            <a:xfrm flipH="1">
              <a:off x="7291095" y="2700162"/>
              <a:ext cx="318926" cy="942919"/>
            </a:xfrm>
            <a:custGeom>
              <a:rect b="b" l="l" r="r" t="t"/>
              <a:pathLst>
                <a:path extrusionOk="0" h="10279" w="10319">
                  <a:moveTo>
                    <a:pt x="2669" y="10279"/>
                  </a:moveTo>
                  <a:lnTo>
                    <a:pt x="0" y="9878"/>
                  </a:lnTo>
                  <a:lnTo>
                    <a:pt x="10319" y="0"/>
                  </a:lnTo>
                  <a:lnTo>
                    <a:pt x="10319" y="8912"/>
                  </a:lnTo>
                  <a:lnTo>
                    <a:pt x="2669" y="10279"/>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0" name="Google Shape;580;p3"/>
            <p:cNvGrpSpPr/>
            <p:nvPr/>
          </p:nvGrpSpPr>
          <p:grpSpPr>
            <a:xfrm>
              <a:off x="6571713" y="2686293"/>
              <a:ext cx="764135" cy="854075"/>
              <a:chOff x="6571713" y="2686293"/>
              <a:chExt cx="764135" cy="854075"/>
            </a:xfrm>
          </p:grpSpPr>
          <p:sp>
            <p:nvSpPr>
              <p:cNvPr id="581" name="Google Shape;581;p3"/>
              <p:cNvSpPr/>
              <p:nvPr/>
            </p:nvSpPr>
            <p:spPr>
              <a:xfrm>
                <a:off x="6641713" y="2722275"/>
                <a:ext cx="647951" cy="777228"/>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82" name="Google Shape;582;p3"/>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83" name="Google Shape;583;p3"/>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84" name="Google Shape;584;p3"/>
              <p:cNvCxnSpPr/>
              <p:nvPr/>
            </p:nvCxnSpPr>
            <p:spPr>
              <a:xfrm>
                <a:off x="6638631" y="2891320"/>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585" name="Google Shape;585;p3"/>
              <p:cNvCxnSpPr/>
              <p:nvPr/>
            </p:nvCxnSpPr>
            <p:spPr>
              <a:xfrm>
                <a:off x="6638631" y="3040545"/>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586" name="Google Shape;586;p3"/>
              <p:cNvCxnSpPr/>
              <p:nvPr/>
            </p:nvCxnSpPr>
            <p:spPr>
              <a:xfrm>
                <a:off x="6638631" y="3189770"/>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587" name="Google Shape;587;p3"/>
              <p:cNvCxnSpPr/>
              <p:nvPr/>
            </p:nvCxnSpPr>
            <p:spPr>
              <a:xfrm>
                <a:off x="6638631" y="3338995"/>
                <a:ext cx="646461"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588" name="Google Shape;588;p3"/>
          <p:cNvGrpSpPr/>
          <p:nvPr/>
        </p:nvGrpSpPr>
        <p:grpSpPr>
          <a:xfrm>
            <a:off x="10202006" y="5357871"/>
            <a:ext cx="970347" cy="854075"/>
            <a:chOff x="10202006" y="5357871"/>
            <a:chExt cx="970347" cy="854075"/>
          </a:xfrm>
        </p:grpSpPr>
        <p:sp>
          <p:nvSpPr>
            <p:cNvPr id="589" name="Google Shape;589;p3"/>
            <p:cNvSpPr/>
            <p:nvPr/>
          </p:nvSpPr>
          <p:spPr>
            <a:xfrm>
              <a:off x="10202006" y="5397682"/>
              <a:ext cx="281273" cy="773122"/>
            </a:xfrm>
            <a:custGeom>
              <a:rect b="b" l="l" r="r" t="t"/>
              <a:pathLst>
                <a:path extrusionOk="0" h="10000" w="10001">
                  <a:moveTo>
                    <a:pt x="112" y="7638"/>
                  </a:moveTo>
                  <a:cubicBezTo>
                    <a:pt x="75" y="7370"/>
                    <a:pt x="37" y="7102"/>
                    <a:pt x="0" y="6834"/>
                  </a:cubicBezTo>
                  <a:lnTo>
                    <a:pt x="9647" y="0"/>
                  </a:lnTo>
                  <a:cubicBezTo>
                    <a:pt x="9534" y="4702"/>
                    <a:pt x="10099" y="5298"/>
                    <a:pt x="9986" y="10000"/>
                  </a:cubicBezTo>
                  <a:lnTo>
                    <a:pt x="112" y="7638"/>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0" name="Google Shape;590;p3"/>
            <p:cNvGrpSpPr/>
            <p:nvPr/>
          </p:nvGrpSpPr>
          <p:grpSpPr>
            <a:xfrm>
              <a:off x="10408218" y="5357871"/>
              <a:ext cx="764135" cy="854075"/>
              <a:chOff x="6571713" y="2686293"/>
              <a:chExt cx="764135" cy="854075"/>
            </a:xfrm>
          </p:grpSpPr>
          <p:sp>
            <p:nvSpPr>
              <p:cNvPr id="591" name="Google Shape;591;p3"/>
              <p:cNvSpPr/>
              <p:nvPr/>
            </p:nvSpPr>
            <p:spPr>
              <a:xfrm>
                <a:off x="6641713" y="2722275"/>
                <a:ext cx="647951" cy="777228"/>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92" name="Google Shape;592;p3"/>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93" name="Google Shape;593;p3"/>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94" name="Google Shape;594;p3"/>
              <p:cNvCxnSpPr/>
              <p:nvPr/>
            </p:nvCxnSpPr>
            <p:spPr>
              <a:xfrm>
                <a:off x="6638631" y="2891320"/>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595" name="Google Shape;595;p3"/>
              <p:cNvCxnSpPr/>
              <p:nvPr/>
            </p:nvCxnSpPr>
            <p:spPr>
              <a:xfrm>
                <a:off x="6638631" y="3040545"/>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596" name="Google Shape;596;p3"/>
              <p:cNvCxnSpPr/>
              <p:nvPr/>
            </p:nvCxnSpPr>
            <p:spPr>
              <a:xfrm>
                <a:off x="6638631" y="3189770"/>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597" name="Google Shape;597;p3"/>
              <p:cNvCxnSpPr/>
              <p:nvPr/>
            </p:nvCxnSpPr>
            <p:spPr>
              <a:xfrm>
                <a:off x="6638631" y="3338995"/>
                <a:ext cx="646461"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598" name="Google Shape;598;p3"/>
          <p:cNvGrpSpPr/>
          <p:nvPr/>
        </p:nvGrpSpPr>
        <p:grpSpPr>
          <a:xfrm>
            <a:off x="10002508" y="5616400"/>
            <a:ext cx="214974" cy="403920"/>
            <a:chOff x="4140" y="429"/>
            <a:chExt cx="1425" cy="2396"/>
          </a:xfrm>
        </p:grpSpPr>
        <p:sp>
          <p:nvSpPr>
            <p:cNvPr id="599" name="Google Shape;599;p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0" name="Google Shape;600;p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1" name="Google Shape;601;p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2" name="Google Shape;602;p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3" name="Google Shape;603;p3"/>
            <p:cNvSpPr/>
            <p:nvPr/>
          </p:nvSpPr>
          <p:spPr>
            <a:xfrm>
              <a:off x="4210" y="690"/>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04" name="Google Shape;604;p3"/>
            <p:cNvGrpSpPr/>
            <p:nvPr/>
          </p:nvGrpSpPr>
          <p:grpSpPr>
            <a:xfrm>
              <a:off x="4748" y="666"/>
              <a:ext cx="578" cy="150"/>
              <a:chOff x="613" y="2566"/>
              <a:chExt cx="721" cy="144"/>
            </a:xfrm>
          </p:grpSpPr>
          <p:sp>
            <p:nvSpPr>
              <p:cNvPr id="605" name="Google Shape;605;p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6" name="Google Shape;606;p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7" name="Google Shape;607;p3"/>
            <p:cNvSpPr/>
            <p:nvPr/>
          </p:nvSpPr>
          <p:spPr>
            <a:xfrm>
              <a:off x="4220" y="1022"/>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08" name="Google Shape;608;p3"/>
            <p:cNvGrpSpPr/>
            <p:nvPr/>
          </p:nvGrpSpPr>
          <p:grpSpPr>
            <a:xfrm>
              <a:off x="4748" y="990"/>
              <a:ext cx="578" cy="134"/>
              <a:chOff x="615" y="2564"/>
              <a:chExt cx="721" cy="139"/>
            </a:xfrm>
          </p:grpSpPr>
          <p:sp>
            <p:nvSpPr>
              <p:cNvPr id="609" name="Google Shape;609;p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0" name="Google Shape;610;p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11" name="Google Shape;611;p3"/>
            <p:cNvSpPr/>
            <p:nvPr/>
          </p:nvSpPr>
          <p:spPr>
            <a:xfrm>
              <a:off x="4220" y="1354"/>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2" name="Google Shape;612;p3"/>
            <p:cNvSpPr/>
            <p:nvPr/>
          </p:nvSpPr>
          <p:spPr>
            <a:xfrm>
              <a:off x="4230" y="1655"/>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13" name="Google Shape;613;p3"/>
            <p:cNvGrpSpPr/>
            <p:nvPr/>
          </p:nvGrpSpPr>
          <p:grpSpPr>
            <a:xfrm>
              <a:off x="4738" y="1647"/>
              <a:ext cx="578" cy="135"/>
              <a:chOff x="618" y="2586"/>
              <a:chExt cx="720" cy="124"/>
            </a:xfrm>
          </p:grpSpPr>
          <p:sp>
            <p:nvSpPr>
              <p:cNvPr id="614" name="Google Shape;614;p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5" name="Google Shape;615;p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16" name="Google Shape;616;p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17" name="Google Shape;617;p3"/>
            <p:cNvGrpSpPr/>
            <p:nvPr/>
          </p:nvGrpSpPr>
          <p:grpSpPr>
            <a:xfrm>
              <a:off x="4738" y="1330"/>
              <a:ext cx="588" cy="134"/>
              <a:chOff x="613" y="2571"/>
              <a:chExt cx="732" cy="134"/>
            </a:xfrm>
          </p:grpSpPr>
          <p:sp>
            <p:nvSpPr>
              <p:cNvPr id="618" name="Google Shape;618;p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9" name="Google Shape;619;p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0" name="Google Shape;620;p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1" name="Google Shape;621;p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2" name="Google Shape;622;p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 name="Google Shape;623;p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4" name="Google Shape;624;p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 name="Google Shape;625;p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 name="Google Shape;626;p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 name="Google Shape;627;p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8" name="Google Shape;628;p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29" name="Google Shape;629;p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 name="Google Shape;630;p3"/>
            <p:cNvSpPr/>
            <p:nvPr/>
          </p:nvSpPr>
          <p:spPr>
            <a:xfrm>
              <a:off x="5067" y="1837"/>
              <a:ext cx="80" cy="759"/>
            </a:xfrm>
            <a:prstGeom prst="rect">
              <a:avLst/>
            </a:prstGeom>
            <a:solidFill>
              <a:srgbClr val="29292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31" name="Google Shape;631;p3"/>
          <p:cNvGrpSpPr/>
          <p:nvPr/>
        </p:nvGrpSpPr>
        <p:grpSpPr>
          <a:xfrm>
            <a:off x="9098788" y="3956624"/>
            <a:ext cx="367224" cy="240304"/>
            <a:chOff x="7493876" y="2774731"/>
            <a:chExt cx="1481958" cy="894622"/>
          </a:xfrm>
        </p:grpSpPr>
        <p:sp>
          <p:nvSpPr>
            <p:cNvPr id="632" name="Google Shape;632;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3" name="Google Shape;633;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4" name="Google Shape;634;p3"/>
            <p:cNvGrpSpPr/>
            <p:nvPr/>
          </p:nvGrpSpPr>
          <p:grpSpPr>
            <a:xfrm>
              <a:off x="7713663" y="2848339"/>
              <a:ext cx="1042107" cy="425543"/>
              <a:chOff x="7786941" y="2884917"/>
              <a:chExt cx="897649" cy="353919"/>
            </a:xfrm>
          </p:grpSpPr>
          <p:sp>
            <p:nvSpPr>
              <p:cNvPr id="635" name="Google Shape;635;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 name="Google Shape;636;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 name="Google Shape;637;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 name="Google Shape;638;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9" name="Google Shape;639;p3"/>
          <p:cNvGrpSpPr/>
          <p:nvPr/>
        </p:nvGrpSpPr>
        <p:grpSpPr>
          <a:xfrm>
            <a:off x="9601554" y="3999763"/>
            <a:ext cx="367224" cy="240304"/>
            <a:chOff x="7493876" y="2774731"/>
            <a:chExt cx="1481958" cy="894622"/>
          </a:xfrm>
        </p:grpSpPr>
        <p:sp>
          <p:nvSpPr>
            <p:cNvPr id="640" name="Google Shape;640;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41" name="Google Shape;641;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42" name="Google Shape;642;p3"/>
            <p:cNvGrpSpPr/>
            <p:nvPr/>
          </p:nvGrpSpPr>
          <p:grpSpPr>
            <a:xfrm>
              <a:off x="7713663" y="2848339"/>
              <a:ext cx="1042107" cy="425543"/>
              <a:chOff x="7786941" y="2884917"/>
              <a:chExt cx="897649" cy="353919"/>
            </a:xfrm>
          </p:grpSpPr>
          <p:sp>
            <p:nvSpPr>
              <p:cNvPr id="643" name="Google Shape;643;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4" name="Google Shape;644;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5" name="Google Shape;645;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6" name="Google Shape;646;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47" name="Google Shape;647;p3"/>
          <p:cNvGrpSpPr/>
          <p:nvPr/>
        </p:nvGrpSpPr>
        <p:grpSpPr>
          <a:xfrm>
            <a:off x="8050070" y="3965994"/>
            <a:ext cx="354986" cy="175668"/>
            <a:chOff x="7493876" y="2774731"/>
            <a:chExt cx="1481958" cy="894622"/>
          </a:xfrm>
        </p:grpSpPr>
        <p:sp>
          <p:nvSpPr>
            <p:cNvPr id="648" name="Google Shape;648;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49" name="Google Shape;649;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50" name="Google Shape;650;p3"/>
            <p:cNvGrpSpPr/>
            <p:nvPr/>
          </p:nvGrpSpPr>
          <p:grpSpPr>
            <a:xfrm>
              <a:off x="7713663" y="2848339"/>
              <a:ext cx="1042107" cy="425543"/>
              <a:chOff x="7786941" y="2884917"/>
              <a:chExt cx="897649" cy="353919"/>
            </a:xfrm>
          </p:grpSpPr>
          <p:sp>
            <p:nvSpPr>
              <p:cNvPr id="651" name="Google Shape;651;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2" name="Google Shape;652;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 name="Google Shape;653;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4" name="Google Shape;654;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5" name="Google Shape;655;p3"/>
          <p:cNvGrpSpPr/>
          <p:nvPr/>
        </p:nvGrpSpPr>
        <p:grpSpPr>
          <a:xfrm>
            <a:off x="9247893" y="4775686"/>
            <a:ext cx="393760" cy="218578"/>
            <a:chOff x="7493876" y="2774731"/>
            <a:chExt cx="1481958" cy="894622"/>
          </a:xfrm>
        </p:grpSpPr>
        <p:sp>
          <p:nvSpPr>
            <p:cNvPr id="656" name="Google Shape;656;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57" name="Google Shape;657;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58" name="Google Shape;658;p3"/>
            <p:cNvGrpSpPr/>
            <p:nvPr/>
          </p:nvGrpSpPr>
          <p:grpSpPr>
            <a:xfrm>
              <a:off x="7713663" y="2848339"/>
              <a:ext cx="1042107" cy="425543"/>
              <a:chOff x="7786941" y="2884917"/>
              <a:chExt cx="897649" cy="353919"/>
            </a:xfrm>
          </p:grpSpPr>
          <p:sp>
            <p:nvSpPr>
              <p:cNvPr id="659" name="Google Shape;659;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 name="Google Shape;660;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 name="Google Shape;661;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2" name="Google Shape;662;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3" name="Google Shape;663;p3"/>
          <p:cNvGrpSpPr/>
          <p:nvPr/>
        </p:nvGrpSpPr>
        <p:grpSpPr>
          <a:xfrm>
            <a:off x="7774998" y="3463448"/>
            <a:ext cx="3007624" cy="1690703"/>
            <a:chOff x="7774998" y="3463448"/>
            <a:chExt cx="3007624" cy="1690703"/>
          </a:xfrm>
        </p:grpSpPr>
        <p:grpSp>
          <p:nvGrpSpPr>
            <p:cNvPr id="664" name="Google Shape;664;p3"/>
            <p:cNvGrpSpPr/>
            <p:nvPr/>
          </p:nvGrpSpPr>
          <p:grpSpPr>
            <a:xfrm>
              <a:off x="7774998" y="4090572"/>
              <a:ext cx="571917" cy="577694"/>
              <a:chOff x="7774998" y="4090572"/>
              <a:chExt cx="571917" cy="577694"/>
            </a:xfrm>
          </p:grpSpPr>
          <p:sp>
            <p:nvSpPr>
              <p:cNvPr id="665" name="Google Shape;665;p3"/>
              <p:cNvSpPr/>
              <p:nvPr/>
            </p:nvSpPr>
            <p:spPr>
              <a:xfrm rot="10800000">
                <a:off x="7818844" y="4090572"/>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66" name="Google Shape;666;p3"/>
              <p:cNvGrpSpPr/>
              <p:nvPr/>
            </p:nvGrpSpPr>
            <p:grpSpPr>
              <a:xfrm>
                <a:off x="7774998" y="4206600"/>
                <a:ext cx="571917" cy="461666"/>
                <a:chOff x="9980560" y="726571"/>
                <a:chExt cx="659732" cy="461666"/>
              </a:xfrm>
            </p:grpSpPr>
            <p:sp>
              <p:nvSpPr>
                <p:cNvPr id="667" name="Google Shape;667;p3"/>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8" name="Google Shape;668;p3"/>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9" name="Google Shape;669;p3"/>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70" name="Google Shape;670;p3"/>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671" name="Google Shape;671;p3"/>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672" name="Google Shape;672;p3"/>
            <p:cNvGrpSpPr/>
            <p:nvPr/>
          </p:nvGrpSpPr>
          <p:grpSpPr>
            <a:xfrm>
              <a:off x="8692628" y="3463448"/>
              <a:ext cx="571917" cy="574365"/>
              <a:chOff x="8692628" y="3463448"/>
              <a:chExt cx="571917" cy="574365"/>
            </a:xfrm>
          </p:grpSpPr>
          <p:sp>
            <p:nvSpPr>
              <p:cNvPr id="673" name="Google Shape;673;p3"/>
              <p:cNvSpPr/>
              <p:nvPr/>
            </p:nvSpPr>
            <p:spPr>
              <a:xfrm flipH="1">
                <a:off x="8735937" y="3883244"/>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4" name="Google Shape;674;p3"/>
              <p:cNvGrpSpPr/>
              <p:nvPr/>
            </p:nvGrpSpPr>
            <p:grpSpPr>
              <a:xfrm>
                <a:off x="8692628" y="3463448"/>
                <a:ext cx="571917" cy="461666"/>
                <a:chOff x="9980560" y="726571"/>
                <a:chExt cx="659732" cy="461666"/>
              </a:xfrm>
            </p:grpSpPr>
            <p:sp>
              <p:nvSpPr>
                <p:cNvPr id="675" name="Google Shape;675;p3"/>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76" name="Google Shape;676;p3"/>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77" name="Google Shape;677;p3"/>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78" name="Google Shape;678;p3"/>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679" name="Google Shape;679;p3"/>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680" name="Google Shape;680;p3"/>
            <p:cNvGrpSpPr/>
            <p:nvPr/>
          </p:nvGrpSpPr>
          <p:grpSpPr>
            <a:xfrm>
              <a:off x="9846130" y="3502221"/>
              <a:ext cx="571917" cy="607211"/>
              <a:chOff x="9846130" y="3502221"/>
              <a:chExt cx="571917" cy="607211"/>
            </a:xfrm>
          </p:grpSpPr>
          <p:sp>
            <p:nvSpPr>
              <p:cNvPr id="681" name="Google Shape;681;p3"/>
              <p:cNvSpPr/>
              <p:nvPr/>
            </p:nvSpPr>
            <p:spPr>
              <a:xfrm>
                <a:off x="9904716" y="3925785"/>
                <a:ext cx="466702" cy="183647"/>
              </a:xfrm>
              <a:custGeom>
                <a:rect b="b" l="l" r="r" t="t"/>
                <a:pathLst>
                  <a:path extrusionOk="0" h="12676" w="10000">
                    <a:moveTo>
                      <a:pt x="1334" y="12676"/>
                    </a:moveTo>
                    <a:lnTo>
                      <a:pt x="51" y="7461"/>
                    </a:lnTo>
                    <a:cubicBezTo>
                      <a:pt x="-117" y="4751"/>
                      <a:pt x="199" y="2710"/>
                      <a:pt x="30" y="0"/>
                    </a:cubicBezTo>
                    <a:lnTo>
                      <a:pt x="10000" y="6"/>
                    </a:lnTo>
                    <a:lnTo>
                      <a:pt x="1334" y="12676"/>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2" name="Google Shape;682;p3"/>
              <p:cNvGrpSpPr/>
              <p:nvPr/>
            </p:nvGrpSpPr>
            <p:grpSpPr>
              <a:xfrm>
                <a:off x="9846130" y="3502221"/>
                <a:ext cx="571917" cy="461666"/>
                <a:chOff x="9980560" y="726571"/>
                <a:chExt cx="659732" cy="461666"/>
              </a:xfrm>
            </p:grpSpPr>
            <p:sp>
              <p:nvSpPr>
                <p:cNvPr id="683" name="Google Shape;683;p3"/>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4" name="Google Shape;684;p3"/>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5" name="Google Shape;685;p3"/>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6" name="Google Shape;686;p3"/>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687" name="Google Shape;687;p3"/>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688" name="Google Shape;688;p3"/>
            <p:cNvGrpSpPr/>
            <p:nvPr/>
          </p:nvGrpSpPr>
          <p:grpSpPr>
            <a:xfrm>
              <a:off x="9554792" y="4299763"/>
              <a:ext cx="571917" cy="630904"/>
              <a:chOff x="9554792" y="4299763"/>
              <a:chExt cx="571917" cy="630904"/>
            </a:xfrm>
          </p:grpSpPr>
          <p:sp>
            <p:nvSpPr>
              <p:cNvPr id="689" name="Google Shape;689;p3"/>
              <p:cNvSpPr/>
              <p:nvPr/>
            </p:nvSpPr>
            <p:spPr>
              <a:xfrm>
                <a:off x="9598301" y="4724405"/>
                <a:ext cx="466702" cy="206262"/>
              </a:xfrm>
              <a:custGeom>
                <a:rect b="b" l="l" r="r" t="t"/>
                <a:pathLst>
                  <a:path extrusionOk="0" h="14237" w="10000">
                    <a:moveTo>
                      <a:pt x="434" y="14237"/>
                    </a:moveTo>
                    <a:cubicBezTo>
                      <a:pt x="306" y="11978"/>
                      <a:pt x="179" y="9720"/>
                      <a:pt x="51" y="7461"/>
                    </a:cubicBezTo>
                    <a:cubicBezTo>
                      <a:pt x="-117" y="4751"/>
                      <a:pt x="199" y="2710"/>
                      <a:pt x="30" y="0"/>
                    </a:cubicBezTo>
                    <a:lnTo>
                      <a:pt x="10000" y="6"/>
                    </a:lnTo>
                    <a:lnTo>
                      <a:pt x="434" y="14237"/>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0" name="Google Shape;690;p3"/>
              <p:cNvGrpSpPr/>
              <p:nvPr/>
            </p:nvGrpSpPr>
            <p:grpSpPr>
              <a:xfrm>
                <a:off x="9554792" y="4299763"/>
                <a:ext cx="571917" cy="461666"/>
                <a:chOff x="9980560" y="726571"/>
                <a:chExt cx="659732" cy="461666"/>
              </a:xfrm>
            </p:grpSpPr>
            <p:sp>
              <p:nvSpPr>
                <p:cNvPr id="691" name="Google Shape;691;p3"/>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92" name="Google Shape;692;p3"/>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93" name="Google Shape;693;p3"/>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94" name="Google Shape;694;p3"/>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695" name="Google Shape;695;p3"/>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696" name="Google Shape;696;p3"/>
            <p:cNvGrpSpPr/>
            <p:nvPr/>
          </p:nvGrpSpPr>
          <p:grpSpPr>
            <a:xfrm>
              <a:off x="10153753" y="4577638"/>
              <a:ext cx="628869" cy="576513"/>
              <a:chOff x="10153753" y="4577638"/>
              <a:chExt cx="628869" cy="576513"/>
            </a:xfrm>
          </p:grpSpPr>
          <p:sp>
            <p:nvSpPr>
              <p:cNvPr id="697" name="Google Shape;697;p3"/>
              <p:cNvSpPr/>
              <p:nvPr/>
            </p:nvSpPr>
            <p:spPr>
              <a:xfrm>
                <a:off x="10153753" y="5002899"/>
                <a:ext cx="590332" cy="151252"/>
              </a:xfrm>
              <a:custGeom>
                <a:rect b="b" l="l" r="r" t="t"/>
                <a:pathLst>
                  <a:path extrusionOk="0" h="10440" w="12649">
                    <a:moveTo>
                      <a:pt x="175" y="10440"/>
                    </a:moveTo>
                    <a:cubicBezTo>
                      <a:pt x="47" y="8181"/>
                      <a:pt x="128" y="9045"/>
                      <a:pt x="0" y="6786"/>
                    </a:cubicBezTo>
                    <a:cubicBezTo>
                      <a:pt x="1563" y="2515"/>
                      <a:pt x="1463" y="3373"/>
                      <a:pt x="2263" y="217"/>
                    </a:cubicBezTo>
                    <a:lnTo>
                      <a:pt x="12649" y="0"/>
                    </a:lnTo>
                    <a:lnTo>
                      <a:pt x="175" y="1044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8" name="Google Shape;698;p3"/>
              <p:cNvGrpSpPr/>
              <p:nvPr/>
            </p:nvGrpSpPr>
            <p:grpSpPr>
              <a:xfrm>
                <a:off x="10210705" y="4577638"/>
                <a:ext cx="571917" cy="461666"/>
                <a:chOff x="9980560" y="726571"/>
                <a:chExt cx="659732" cy="461666"/>
              </a:xfrm>
            </p:grpSpPr>
            <p:sp>
              <p:nvSpPr>
                <p:cNvPr id="699" name="Google Shape;699;p3"/>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00" name="Google Shape;700;p3"/>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01" name="Google Shape;701;p3"/>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702" name="Google Shape;702;p3"/>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703" name="Google Shape;703;p3"/>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grpSp>
        <p:nvGrpSpPr>
          <p:cNvPr id="704" name="Google Shape;704;p3"/>
          <p:cNvGrpSpPr/>
          <p:nvPr/>
        </p:nvGrpSpPr>
        <p:grpSpPr>
          <a:xfrm>
            <a:off x="9783558" y="4989983"/>
            <a:ext cx="393760" cy="218578"/>
            <a:chOff x="7493876" y="2774731"/>
            <a:chExt cx="1481958" cy="894622"/>
          </a:xfrm>
        </p:grpSpPr>
        <p:sp>
          <p:nvSpPr>
            <p:cNvPr id="705" name="Google Shape;705;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6" name="Google Shape;706;p3"/>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7" name="Google Shape;707;p3"/>
            <p:cNvGrpSpPr/>
            <p:nvPr/>
          </p:nvGrpSpPr>
          <p:grpSpPr>
            <a:xfrm>
              <a:off x="7713663" y="2848339"/>
              <a:ext cx="1042107" cy="425543"/>
              <a:chOff x="7786941" y="2884917"/>
              <a:chExt cx="897649" cy="353919"/>
            </a:xfrm>
          </p:grpSpPr>
          <p:sp>
            <p:nvSpPr>
              <p:cNvPr id="708" name="Google Shape;708;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 name="Google Shape;709;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 name="Google Shape;710;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1" name="Google Shape;711;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12" name="Google Shape;712;p3"/>
          <p:cNvSpPr/>
          <p:nvPr/>
        </p:nvSpPr>
        <p:spPr>
          <a:xfrm>
            <a:off x="7288696" y="3114260"/>
            <a:ext cx="3064097" cy="2683755"/>
          </a:xfrm>
          <a:custGeom>
            <a:rect b="b" l="l" r="r" t="t"/>
            <a:pathLst>
              <a:path extrusionOk="0" h="2683755" w="3064097">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cap="flat" cmpd="sng" w="3175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13" name="Google Shape;713;p3"/>
          <p:cNvGrpSpPr/>
          <p:nvPr/>
        </p:nvGrpSpPr>
        <p:grpSpPr>
          <a:xfrm>
            <a:off x="6543892" y="2922262"/>
            <a:ext cx="3175" cy="379738"/>
            <a:chOff x="6543892" y="2922262"/>
            <a:chExt cx="3175" cy="379738"/>
          </a:xfrm>
        </p:grpSpPr>
        <p:cxnSp>
          <p:nvCxnSpPr>
            <p:cNvPr id="714" name="Google Shape;714;p3"/>
            <p:cNvCxnSpPr/>
            <p:nvPr/>
          </p:nvCxnSpPr>
          <p:spPr>
            <a:xfrm rot="10800000">
              <a:off x="6543892" y="2922262"/>
              <a:ext cx="0" cy="147963"/>
            </a:xfrm>
            <a:prstGeom prst="straightConnector1">
              <a:avLst/>
            </a:prstGeom>
            <a:noFill/>
            <a:ln cap="flat" cmpd="sng" w="28575">
              <a:solidFill>
                <a:srgbClr val="C00000"/>
              </a:solidFill>
              <a:prstDash val="solid"/>
              <a:miter lim="8000"/>
              <a:headEnd len="sm" w="sm" type="none"/>
              <a:tailEnd len="med" w="med" type="triangle"/>
            </a:ln>
          </p:spPr>
        </p:cxnSp>
        <p:cxnSp>
          <p:nvCxnSpPr>
            <p:cNvPr id="715" name="Google Shape;715;p3"/>
            <p:cNvCxnSpPr/>
            <p:nvPr/>
          </p:nvCxnSpPr>
          <p:spPr>
            <a:xfrm>
              <a:off x="6547067" y="3154037"/>
              <a:ext cx="0" cy="147963"/>
            </a:xfrm>
            <a:prstGeom prst="straightConnector1">
              <a:avLst/>
            </a:prstGeom>
            <a:noFill/>
            <a:ln cap="flat" cmpd="sng" w="28575">
              <a:solidFill>
                <a:srgbClr val="C00000"/>
              </a:solidFill>
              <a:prstDash val="solid"/>
              <a:miter lim="8000"/>
              <a:headEnd len="sm" w="sm" type="none"/>
              <a:tailEnd len="med" w="med" type="triangle"/>
            </a:ln>
          </p:spPr>
        </p:cxnSp>
      </p:grpSp>
      <p:grpSp>
        <p:nvGrpSpPr>
          <p:cNvPr id="716" name="Google Shape;716;p3"/>
          <p:cNvGrpSpPr/>
          <p:nvPr/>
        </p:nvGrpSpPr>
        <p:grpSpPr>
          <a:xfrm>
            <a:off x="11233367" y="5608312"/>
            <a:ext cx="3175" cy="379738"/>
            <a:chOff x="6543892" y="2922262"/>
            <a:chExt cx="3175" cy="379738"/>
          </a:xfrm>
        </p:grpSpPr>
        <p:cxnSp>
          <p:nvCxnSpPr>
            <p:cNvPr id="717" name="Google Shape;717;p3"/>
            <p:cNvCxnSpPr/>
            <p:nvPr/>
          </p:nvCxnSpPr>
          <p:spPr>
            <a:xfrm rot="10800000">
              <a:off x="6543892" y="2922262"/>
              <a:ext cx="0" cy="147963"/>
            </a:xfrm>
            <a:prstGeom prst="straightConnector1">
              <a:avLst/>
            </a:prstGeom>
            <a:noFill/>
            <a:ln cap="flat" cmpd="sng" w="28575">
              <a:solidFill>
                <a:srgbClr val="C00000"/>
              </a:solidFill>
              <a:prstDash val="solid"/>
              <a:miter lim="8000"/>
              <a:headEnd len="sm" w="sm" type="none"/>
              <a:tailEnd len="med" w="med" type="triangle"/>
            </a:ln>
          </p:spPr>
        </p:cxnSp>
        <p:cxnSp>
          <p:nvCxnSpPr>
            <p:cNvPr id="718" name="Google Shape;718;p3"/>
            <p:cNvCxnSpPr/>
            <p:nvPr/>
          </p:nvCxnSpPr>
          <p:spPr>
            <a:xfrm>
              <a:off x="6547067" y="3154037"/>
              <a:ext cx="0" cy="147963"/>
            </a:xfrm>
            <a:prstGeom prst="straightConnector1">
              <a:avLst/>
            </a:prstGeom>
            <a:noFill/>
            <a:ln cap="flat" cmpd="sng" w="28575">
              <a:solidFill>
                <a:srgbClr val="C00000"/>
              </a:solidFill>
              <a:prstDash val="solid"/>
              <a:miter lim="8000"/>
              <a:headEnd len="sm" w="sm" type="none"/>
              <a:tailEnd len="med" w="med" type="triangle"/>
            </a:ln>
          </p:spPr>
        </p:cxnSp>
      </p:grpSp>
      <p:sp>
        <p:nvSpPr>
          <p:cNvPr id="719" name="Google Shape;719;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Effect filter="fade" transition="in">
                                      <p:cBhvr>
                                        <p:cTn dur="500"/>
                                        <p:tgtEl>
                                          <p:spTgt spid="1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Effect filter="fade" transition="in">
                                      <p:cBhvr>
                                        <p:cTn dur="500"/>
                                        <p:tgtEl>
                                          <p:spTgt spid="1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animEffect filter="fade" transition="in">
                                      <p:cBhvr>
                                        <p:cTn dur="500"/>
                                        <p:tgtEl>
                                          <p:spTgt spid="1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animEffect filter="fade" transition="in">
                                      <p:cBhvr>
                                        <p:cTn dur="500"/>
                                        <p:tgtEl>
                                          <p:spTgt spid="1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animEffect filter="fade" transition="in">
                                      <p:cBhvr>
                                        <p:cTn dur="500"/>
                                        <p:tgtEl>
                                          <p:spTgt spid="1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animEffect filter="fade" transition="in">
                                      <p:cBhvr>
                                        <p:cTn dur="500"/>
                                        <p:tgtEl>
                                          <p:spTgt spid="18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6" st="6"/>
                                            </p:txEl>
                                          </p:spTgt>
                                        </p:tgtEl>
                                        <p:attrNameLst>
                                          <p:attrName>style.visibility</p:attrName>
                                        </p:attrNameLst>
                                      </p:cBhvr>
                                      <p:to>
                                        <p:strVal val="visible"/>
                                      </p:to>
                                    </p:set>
                                    <p:animEffect filter="fade" transition="in">
                                      <p:cBhvr>
                                        <p:cTn dur="500"/>
                                        <p:tgtEl>
                                          <p:spTgt spid="181">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par>
                                <p:cTn fill="hold" nodeType="with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par>
                                <p:cTn fill="hold" nodeType="with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500"/>
                                        <p:tgtEl>
                                          <p:spTgt spid="713"/>
                                        </p:tgtEl>
                                      </p:cBhvr>
                                    </p:animEffect>
                                  </p:childTnLst>
                                </p:cTn>
                              </p:par>
                              <p:par>
                                <p:cTn fill="hold" nodeType="with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500"/>
                                        <p:tgtEl>
                                          <p:spTgt spid="7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1000"/>
                                        <p:tgtEl>
                                          <p:spTgt spid="7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key network-layer functions</a:t>
            </a:r>
            <a:endParaRPr/>
          </a:p>
        </p:txBody>
      </p:sp>
      <p:sp>
        <p:nvSpPr>
          <p:cNvPr id="726" name="Google Shape;726;p4"/>
          <p:cNvSpPr txBox="1"/>
          <p:nvPr>
            <p:ph idx="1" type="body"/>
          </p:nvPr>
        </p:nvSpPr>
        <p:spPr>
          <a:xfrm>
            <a:off x="877956" y="1666601"/>
            <a:ext cx="5181600" cy="18907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None/>
            </a:pPr>
            <a:r>
              <a:rPr lang="en-US" sz="3200">
                <a:solidFill>
                  <a:srgbClr val="CC0000"/>
                </a:solidFill>
              </a:rPr>
              <a:t>network-layer functions:</a:t>
            </a:r>
            <a:endParaRPr/>
          </a:p>
          <a:p>
            <a:pPr indent="-234950" lvl="0" marL="352425" rtl="0" algn="l">
              <a:lnSpc>
                <a:spcPct val="90000"/>
              </a:lnSpc>
              <a:spcBef>
                <a:spcPts val="600"/>
              </a:spcBef>
              <a:spcAft>
                <a:spcPts val="0"/>
              </a:spcAft>
              <a:buSzPts val="2800"/>
              <a:buChar char="▪"/>
            </a:pPr>
            <a:r>
              <a:rPr i="1" lang="en-US">
                <a:solidFill>
                  <a:srgbClr val="000099"/>
                </a:solidFill>
              </a:rPr>
              <a:t>forwarding:</a:t>
            </a:r>
            <a:r>
              <a:rPr lang="en-US"/>
              <a:t> move packets from a router’s input link to appropriate router output link</a:t>
            </a:r>
            <a:endParaRPr/>
          </a:p>
          <a:p>
            <a:pPr indent="-44450" lvl="0" marL="352425" rtl="0" algn="l">
              <a:lnSpc>
                <a:spcPct val="90000"/>
              </a:lnSpc>
              <a:spcBef>
                <a:spcPts val="1000"/>
              </a:spcBef>
              <a:spcAft>
                <a:spcPts val="0"/>
              </a:spcAft>
              <a:buSzPts val="2800"/>
              <a:buNone/>
            </a:pPr>
            <a:r>
              <a:t/>
            </a:r>
            <a:endParaRPr/>
          </a:p>
        </p:txBody>
      </p:sp>
      <p:sp>
        <p:nvSpPr>
          <p:cNvPr id="727" name="Google Shape;727;p4"/>
          <p:cNvSpPr txBox="1"/>
          <p:nvPr>
            <p:ph idx="2" type="body"/>
          </p:nvPr>
        </p:nvSpPr>
        <p:spPr>
          <a:xfrm>
            <a:off x="6172200" y="1693105"/>
            <a:ext cx="5181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85000"/>
              </a:lnSpc>
              <a:spcBef>
                <a:spcPts val="0"/>
              </a:spcBef>
              <a:spcAft>
                <a:spcPts val="0"/>
              </a:spcAft>
              <a:buClr>
                <a:srgbClr val="000099"/>
              </a:buClr>
              <a:buSzPts val="2080"/>
              <a:buFont typeface="Noto Sans Symbols"/>
              <a:buNone/>
            </a:pPr>
            <a:r>
              <a:rPr lang="en-US" sz="3200">
                <a:solidFill>
                  <a:srgbClr val="CC0000"/>
                </a:solidFill>
              </a:rPr>
              <a:t>analogy: taking a trip</a:t>
            </a:r>
            <a:endParaRPr/>
          </a:p>
          <a:p>
            <a:pPr indent="-234950" lvl="0" marL="352425" rtl="0" algn="l">
              <a:lnSpc>
                <a:spcPct val="85000"/>
              </a:lnSpc>
              <a:spcBef>
                <a:spcPts val="600"/>
              </a:spcBef>
              <a:spcAft>
                <a:spcPts val="0"/>
              </a:spcAft>
              <a:buClr>
                <a:srgbClr val="000099"/>
              </a:buClr>
              <a:buSzPts val="2800"/>
              <a:buFont typeface="Noto Sans Symbols"/>
              <a:buChar char="▪"/>
            </a:pPr>
            <a:r>
              <a:rPr i="1" lang="en-US">
                <a:solidFill>
                  <a:srgbClr val="000099"/>
                </a:solidFill>
              </a:rPr>
              <a:t>forwarding</a:t>
            </a:r>
            <a:r>
              <a:rPr i="1" lang="en-US">
                <a:solidFill>
                  <a:schemeClr val="accent2"/>
                </a:solidFill>
              </a:rPr>
              <a:t>:</a:t>
            </a:r>
            <a:r>
              <a:rPr lang="en-US"/>
              <a:t> process of getting through single interchange</a:t>
            </a:r>
            <a:endParaRPr/>
          </a:p>
          <a:p>
            <a:pPr indent="0" lvl="0" marL="130175" rtl="0" algn="l">
              <a:lnSpc>
                <a:spcPct val="90000"/>
              </a:lnSpc>
              <a:spcBef>
                <a:spcPts val="1000"/>
              </a:spcBef>
              <a:spcAft>
                <a:spcPts val="0"/>
              </a:spcAft>
              <a:buSzPts val="2800"/>
              <a:buNone/>
            </a:pPr>
            <a:r>
              <a:t/>
            </a:r>
            <a:endParaRPr/>
          </a:p>
        </p:txBody>
      </p:sp>
      <p:grpSp>
        <p:nvGrpSpPr>
          <p:cNvPr id="728" name="Google Shape;728;p4"/>
          <p:cNvGrpSpPr/>
          <p:nvPr/>
        </p:nvGrpSpPr>
        <p:grpSpPr>
          <a:xfrm>
            <a:off x="6519334" y="4075932"/>
            <a:ext cx="2227101" cy="1745933"/>
            <a:chOff x="6519334" y="4075932"/>
            <a:chExt cx="2227101" cy="1745933"/>
          </a:xfrm>
        </p:grpSpPr>
        <p:pic>
          <p:nvPicPr>
            <p:cNvPr descr="Why traffic apps make congestion worse | Berkeley News" id="729" name="Google Shape;729;p4"/>
            <p:cNvPicPr preferRelativeResize="0"/>
            <p:nvPr/>
          </p:nvPicPr>
          <p:blipFill rotWithShape="1">
            <a:blip r:embed="rId3">
              <a:alphaModFix/>
            </a:blip>
            <a:srcRect b="0" l="0" r="0" t="0"/>
            <a:stretch/>
          </p:blipFill>
          <p:spPr>
            <a:xfrm>
              <a:off x="6606213" y="4075932"/>
              <a:ext cx="2140222" cy="1426815"/>
            </a:xfrm>
            <a:prstGeom prst="rect">
              <a:avLst/>
            </a:prstGeom>
            <a:noFill/>
            <a:ln>
              <a:noFill/>
            </a:ln>
          </p:spPr>
        </p:pic>
        <p:sp>
          <p:nvSpPr>
            <p:cNvPr id="730" name="Google Shape;730;p4"/>
            <p:cNvSpPr txBox="1"/>
            <p:nvPr/>
          </p:nvSpPr>
          <p:spPr>
            <a:xfrm>
              <a:off x="6519334" y="5452533"/>
              <a:ext cx="12092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forwarding</a:t>
              </a:r>
              <a:endParaRPr/>
            </a:p>
          </p:txBody>
        </p:sp>
      </p:grpSp>
      <p:grpSp>
        <p:nvGrpSpPr>
          <p:cNvPr id="731" name="Google Shape;731;p4"/>
          <p:cNvGrpSpPr/>
          <p:nvPr/>
        </p:nvGrpSpPr>
        <p:grpSpPr>
          <a:xfrm>
            <a:off x="8314267" y="4706696"/>
            <a:ext cx="2953118" cy="1640102"/>
            <a:chOff x="8314267" y="4706696"/>
            <a:chExt cx="2953118" cy="1640102"/>
          </a:xfrm>
        </p:grpSpPr>
        <p:pic>
          <p:nvPicPr>
            <p:cNvPr id="732" name="Google Shape;732;p4"/>
            <p:cNvPicPr preferRelativeResize="0"/>
            <p:nvPr/>
          </p:nvPicPr>
          <p:blipFill rotWithShape="1">
            <a:blip r:embed="rId4">
              <a:alphaModFix/>
            </a:blip>
            <a:srcRect b="0" l="0" r="0" t="0"/>
            <a:stretch/>
          </p:blipFill>
          <p:spPr>
            <a:xfrm>
              <a:off x="8415131" y="4706696"/>
              <a:ext cx="2852254" cy="1323319"/>
            </a:xfrm>
            <a:prstGeom prst="rect">
              <a:avLst/>
            </a:prstGeom>
            <a:noFill/>
            <a:ln>
              <a:noFill/>
            </a:ln>
          </p:spPr>
        </p:pic>
        <p:sp>
          <p:nvSpPr>
            <p:cNvPr id="733" name="Google Shape;733;p4"/>
            <p:cNvSpPr txBox="1"/>
            <p:nvPr/>
          </p:nvSpPr>
          <p:spPr>
            <a:xfrm>
              <a:off x="8314267" y="5977466"/>
              <a:ext cx="8654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routing</a:t>
              </a:r>
              <a:endParaRPr/>
            </a:p>
          </p:txBody>
        </p:sp>
      </p:grpSp>
      <p:sp>
        <p:nvSpPr>
          <p:cNvPr id="734" name="Google Shape;734;p4"/>
          <p:cNvSpPr txBox="1"/>
          <p:nvPr/>
        </p:nvSpPr>
        <p:spPr>
          <a:xfrm>
            <a:off x="6183682" y="3026965"/>
            <a:ext cx="5181600" cy="879225"/>
          </a:xfrm>
          <a:prstGeom prst="rect">
            <a:avLst/>
          </a:prstGeom>
          <a:noFill/>
          <a:ln>
            <a:noFill/>
          </a:ln>
        </p:spPr>
        <p:txBody>
          <a:bodyPr anchorCtr="0" anchor="t" bIns="45700" lIns="91425" spcFirstLastPara="1" rIns="91425" wrap="square" tIns="45700">
            <a:normAutofit/>
          </a:bodyPr>
          <a:lstStyle/>
          <a:p>
            <a:pPr indent="-2349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99"/>
                </a:solidFill>
                <a:latin typeface="Calibri"/>
                <a:ea typeface="Calibri"/>
                <a:cs typeface="Calibri"/>
                <a:sym typeface="Calibri"/>
              </a:rPr>
              <a:t>routing:</a:t>
            </a:r>
            <a:r>
              <a:rPr b="0" i="0" lang="en-US" sz="2800" u="none" cap="none" strike="noStrike">
                <a:solidFill>
                  <a:srgbClr val="000000"/>
                </a:solidFill>
                <a:latin typeface="Calibri"/>
                <a:ea typeface="Calibri"/>
                <a:cs typeface="Calibri"/>
                <a:sym typeface="Calibri"/>
              </a:rPr>
              <a:t> process of planning trip from source to destination</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35" name="Google Shape;735;p4"/>
          <p:cNvSpPr txBox="1"/>
          <p:nvPr/>
        </p:nvSpPr>
        <p:spPr>
          <a:xfrm>
            <a:off x="880044" y="3441526"/>
            <a:ext cx="5181600" cy="1856984"/>
          </a:xfrm>
          <a:prstGeom prst="rect">
            <a:avLst/>
          </a:prstGeom>
          <a:noFill/>
          <a:ln>
            <a:noFill/>
          </a:ln>
        </p:spPr>
        <p:txBody>
          <a:bodyPr anchorCtr="0" anchor="t" bIns="45700" lIns="91425" spcFirstLastPara="1" rIns="91425" wrap="square" tIns="45700">
            <a:normAutofit/>
          </a:bodyPr>
          <a:lstStyle/>
          <a:p>
            <a:pPr indent="-2349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99"/>
                </a:solidFill>
                <a:latin typeface="Calibri"/>
                <a:ea typeface="Calibri"/>
                <a:cs typeface="Calibri"/>
                <a:sym typeface="Calibri"/>
              </a:rPr>
              <a:t>routing:</a:t>
            </a:r>
            <a:r>
              <a:rPr b="0" i="0" lang="en-US" sz="2800" u="none" cap="none" strike="noStrike">
                <a:solidFill>
                  <a:srgbClr val="000000"/>
                </a:solidFill>
                <a:latin typeface="Calibri"/>
                <a:ea typeface="Calibri"/>
                <a:cs typeface="Calibri"/>
                <a:sym typeface="Calibri"/>
              </a:rPr>
              <a:t> determine route taken by packets from source to destination</a:t>
            </a:r>
            <a:endParaRPr/>
          </a:p>
          <a:p>
            <a:pPr indent="-231775" lvl="1" marL="695325" marR="0" rtl="0" algn="l">
              <a:lnSpc>
                <a:spcPct val="90000"/>
              </a:lnSpc>
              <a:spcBef>
                <a:spcPts val="6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routing algorithms</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36" name="Google Shape;736;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500"/>
                                        <p:tgtEl>
                                          <p:spTgt spid="7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500"/>
                                        <p:tgtEl>
                                          <p:spTgt spid="727"/>
                                        </p:tgtEl>
                                      </p:cBhvr>
                                    </p:animEffect>
                                  </p:childTnLst>
                                </p:cTn>
                              </p:par>
                              <p:par>
                                <p:cTn fill="hold" nodeType="with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500"/>
                                        <p:tgtEl>
                                          <p:spTgt spid="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500"/>
                                        <p:tgtEl>
                                          <p:spTgt spid="734"/>
                                        </p:tgtEl>
                                      </p:cBhvr>
                                    </p:animEffect>
                                  </p:childTnLst>
                                </p:cTn>
                              </p:par>
                              <p:par>
                                <p:cTn fill="hold" nodeType="with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500"/>
                                        <p:tgtEl>
                                          <p:spTgt spid="7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 layer: data plane, control plane</a:t>
            </a:r>
            <a:endParaRPr/>
          </a:p>
        </p:txBody>
      </p:sp>
      <p:sp>
        <p:nvSpPr>
          <p:cNvPr id="743" name="Google Shape;743;p5"/>
          <p:cNvSpPr txBox="1"/>
          <p:nvPr>
            <p:ph idx="1" type="body"/>
          </p:nvPr>
        </p:nvSpPr>
        <p:spPr>
          <a:xfrm>
            <a:off x="771938" y="1534078"/>
            <a:ext cx="4621697"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Font typeface="Noto Sans Symbols"/>
              <a:buNone/>
            </a:pPr>
            <a:r>
              <a:rPr lang="en-US" sz="3200">
                <a:solidFill>
                  <a:srgbClr val="CC0000"/>
                </a:solidFill>
              </a:rPr>
              <a:t>Data plane:</a:t>
            </a:r>
            <a:endParaRPr/>
          </a:p>
          <a:p>
            <a:pPr indent="-292100" lvl="0" marL="292100" rtl="0" algn="l">
              <a:lnSpc>
                <a:spcPct val="90000"/>
              </a:lnSpc>
              <a:spcBef>
                <a:spcPts val="600"/>
              </a:spcBef>
              <a:spcAft>
                <a:spcPts val="0"/>
              </a:spcAft>
              <a:buSzPts val="2800"/>
              <a:buFont typeface="Noto Sans Symbols"/>
              <a:buChar char="▪"/>
            </a:pPr>
            <a:r>
              <a:rPr i="1" lang="en-US">
                <a:solidFill>
                  <a:srgbClr val="0000A3"/>
                </a:solidFill>
              </a:rPr>
              <a:t>local</a:t>
            </a:r>
            <a:r>
              <a:rPr lang="en-US"/>
              <a:t>, per-router function</a:t>
            </a:r>
            <a:endParaRPr/>
          </a:p>
          <a:p>
            <a:pPr indent="-292100" lvl="0" marL="292100" rtl="0" algn="l">
              <a:lnSpc>
                <a:spcPct val="90000"/>
              </a:lnSpc>
              <a:spcBef>
                <a:spcPts val="600"/>
              </a:spcBef>
              <a:spcAft>
                <a:spcPts val="0"/>
              </a:spcAft>
              <a:buSzPts val="2800"/>
              <a:buFont typeface="Noto Sans Symbols"/>
              <a:buChar char="▪"/>
            </a:pPr>
            <a:r>
              <a:rPr lang="en-US"/>
              <a:t>determines how datagram arriving on router input port is forwarded to router output port</a:t>
            </a:r>
            <a:endParaRPr/>
          </a:p>
          <a:p>
            <a:pPr indent="0" lvl="0" marL="130175" rtl="0" algn="l">
              <a:lnSpc>
                <a:spcPct val="90000"/>
              </a:lnSpc>
              <a:spcBef>
                <a:spcPts val="1000"/>
              </a:spcBef>
              <a:spcAft>
                <a:spcPts val="0"/>
              </a:spcAft>
              <a:buSzPts val="2800"/>
              <a:buNone/>
            </a:pPr>
            <a:r>
              <a:t/>
            </a:r>
            <a:endParaRPr/>
          </a:p>
        </p:txBody>
      </p:sp>
      <p:sp>
        <p:nvSpPr>
          <p:cNvPr id="744" name="Google Shape;744;p5"/>
          <p:cNvSpPr txBox="1"/>
          <p:nvPr>
            <p:ph idx="2" type="body"/>
          </p:nvPr>
        </p:nvSpPr>
        <p:spPr>
          <a:xfrm>
            <a:off x="6278216" y="1547331"/>
            <a:ext cx="5502965" cy="46149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Font typeface="Noto Sans Symbols"/>
              <a:buNone/>
            </a:pPr>
            <a:r>
              <a:rPr lang="en-US" sz="3200">
                <a:solidFill>
                  <a:srgbClr val="CC0000"/>
                </a:solidFill>
              </a:rPr>
              <a:t>Control plane</a:t>
            </a:r>
            <a:endParaRPr/>
          </a:p>
          <a:p>
            <a:pPr indent="-228600" lvl="0" marL="228600" rtl="0" algn="l">
              <a:lnSpc>
                <a:spcPct val="90000"/>
              </a:lnSpc>
              <a:spcBef>
                <a:spcPts val="600"/>
              </a:spcBef>
              <a:spcAft>
                <a:spcPts val="0"/>
              </a:spcAft>
              <a:buSzPts val="2800"/>
              <a:buChar char="▪"/>
            </a:pPr>
            <a:r>
              <a:rPr i="1" lang="en-US">
                <a:solidFill>
                  <a:srgbClr val="0000A3"/>
                </a:solidFill>
              </a:rPr>
              <a:t>network-wide</a:t>
            </a:r>
            <a:r>
              <a:rPr lang="en-US"/>
              <a:t> logic</a:t>
            </a:r>
            <a:endParaRPr/>
          </a:p>
          <a:p>
            <a:pPr indent="-228600" lvl="0" marL="228600" rtl="0" algn="l">
              <a:lnSpc>
                <a:spcPct val="90000"/>
              </a:lnSpc>
              <a:spcBef>
                <a:spcPts val="600"/>
              </a:spcBef>
              <a:spcAft>
                <a:spcPts val="0"/>
              </a:spcAft>
              <a:buSzPts val="2800"/>
              <a:buChar char="▪"/>
            </a:pPr>
            <a:r>
              <a:rPr lang="en-US"/>
              <a:t>determines how datagram is routed among routers along end-end path from source host to destination host</a:t>
            </a:r>
            <a:endParaRPr/>
          </a:p>
          <a:p>
            <a:pPr indent="-44450" lvl="0" marL="352425" rtl="0" algn="l">
              <a:lnSpc>
                <a:spcPct val="90000"/>
              </a:lnSpc>
              <a:spcBef>
                <a:spcPts val="1000"/>
              </a:spcBef>
              <a:spcAft>
                <a:spcPts val="0"/>
              </a:spcAft>
              <a:buSzPts val="2800"/>
              <a:buNone/>
            </a:pPr>
            <a:r>
              <a:t/>
            </a:r>
            <a:endParaRPr/>
          </a:p>
        </p:txBody>
      </p:sp>
      <p:grpSp>
        <p:nvGrpSpPr>
          <p:cNvPr id="745" name="Google Shape;745;p5"/>
          <p:cNvGrpSpPr/>
          <p:nvPr/>
        </p:nvGrpSpPr>
        <p:grpSpPr>
          <a:xfrm>
            <a:off x="1181100" y="4260145"/>
            <a:ext cx="3643313" cy="1582738"/>
            <a:chOff x="842050" y="4767952"/>
            <a:chExt cx="3644169" cy="1582996"/>
          </a:xfrm>
        </p:grpSpPr>
        <p:sp>
          <p:nvSpPr>
            <p:cNvPr id="746" name="Google Shape;746;p5"/>
            <p:cNvSpPr/>
            <p:nvPr/>
          </p:nvSpPr>
          <p:spPr>
            <a:xfrm>
              <a:off x="2591886" y="5436399"/>
              <a:ext cx="1894333" cy="914549"/>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a:gsLst>
                <a:gs pos="0">
                  <a:srgbClr val="66CCFF"/>
                </a:gs>
                <a:gs pos="50000">
                  <a:srgbClr val="FFFF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47" name="Google Shape;747;p5"/>
            <p:cNvCxnSpPr/>
            <p:nvPr/>
          </p:nvCxnSpPr>
          <p:spPr>
            <a:xfrm flipH="1" rot="10800000">
              <a:off x="3261968" y="5558656"/>
              <a:ext cx="500180" cy="157189"/>
            </a:xfrm>
            <a:prstGeom prst="straightConnector1">
              <a:avLst/>
            </a:prstGeom>
            <a:noFill/>
            <a:ln cap="flat" cmpd="sng" w="12700">
              <a:solidFill>
                <a:srgbClr val="000000"/>
              </a:solidFill>
              <a:prstDash val="solid"/>
              <a:round/>
              <a:headEnd len="sm" w="sm" type="none"/>
              <a:tailEnd len="sm" w="sm" type="none"/>
            </a:ln>
          </p:spPr>
        </p:cxnSp>
        <p:cxnSp>
          <p:nvCxnSpPr>
            <p:cNvPr id="748" name="Google Shape;748;p5"/>
            <p:cNvCxnSpPr/>
            <p:nvPr/>
          </p:nvCxnSpPr>
          <p:spPr>
            <a:xfrm>
              <a:off x="3111121" y="5774591"/>
              <a:ext cx="862215" cy="104792"/>
            </a:xfrm>
            <a:prstGeom prst="straightConnector1">
              <a:avLst/>
            </a:prstGeom>
            <a:noFill/>
            <a:ln cap="flat" cmpd="sng" w="12700">
              <a:solidFill>
                <a:srgbClr val="000000"/>
              </a:solidFill>
              <a:prstDash val="solid"/>
              <a:round/>
              <a:headEnd len="sm" w="sm" type="none"/>
              <a:tailEnd len="sm" w="sm" type="none"/>
            </a:ln>
          </p:spPr>
        </p:cxnSp>
        <p:cxnSp>
          <p:nvCxnSpPr>
            <p:cNvPr id="749" name="Google Shape;749;p5"/>
            <p:cNvCxnSpPr/>
            <p:nvPr/>
          </p:nvCxnSpPr>
          <p:spPr>
            <a:xfrm>
              <a:off x="3123824" y="5880971"/>
              <a:ext cx="714543" cy="274682"/>
            </a:xfrm>
            <a:prstGeom prst="straightConnector1">
              <a:avLst/>
            </a:prstGeom>
            <a:noFill/>
            <a:ln cap="flat" cmpd="sng" w="12700">
              <a:solidFill>
                <a:srgbClr val="000000"/>
              </a:solidFill>
              <a:prstDash val="solid"/>
              <a:round/>
              <a:headEnd len="sm" w="sm" type="none"/>
              <a:tailEnd len="sm" w="sm" type="none"/>
            </a:ln>
          </p:spPr>
        </p:cxnSp>
        <p:cxnSp>
          <p:nvCxnSpPr>
            <p:cNvPr id="750" name="Google Shape;750;p5"/>
            <p:cNvCxnSpPr/>
            <p:nvPr/>
          </p:nvCxnSpPr>
          <p:spPr>
            <a:xfrm flipH="1">
              <a:off x="1283479" y="5801583"/>
              <a:ext cx="1506892" cy="1587"/>
            </a:xfrm>
            <a:prstGeom prst="straightConnector1">
              <a:avLst/>
            </a:prstGeom>
            <a:noFill/>
            <a:ln cap="flat" cmpd="sng" w="9525">
              <a:solidFill>
                <a:srgbClr val="000000"/>
              </a:solidFill>
              <a:prstDash val="solid"/>
              <a:round/>
              <a:headEnd len="sm" w="sm" type="none"/>
              <a:tailEnd len="sm" w="sm" type="none"/>
            </a:ln>
          </p:spPr>
        </p:cxnSp>
        <p:sp>
          <p:nvSpPr>
            <p:cNvPr id="751" name="Google Shape;751;p5"/>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752" name="Google Shape;752;p5"/>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753" name="Google Shape;753;p5"/>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grpSp>
          <p:nvGrpSpPr>
            <p:cNvPr id="754" name="Google Shape;754;p5"/>
            <p:cNvGrpSpPr/>
            <p:nvPr/>
          </p:nvGrpSpPr>
          <p:grpSpPr>
            <a:xfrm>
              <a:off x="938213" y="5237163"/>
              <a:ext cx="1616075" cy="487362"/>
              <a:chOff x="-4079003" y="2717403"/>
              <a:chExt cx="1616718" cy="488475"/>
            </a:xfrm>
          </p:grpSpPr>
          <p:sp>
            <p:nvSpPr>
              <p:cNvPr id="755" name="Google Shape;755;p5"/>
              <p:cNvSpPr/>
              <p:nvPr/>
            </p:nvSpPr>
            <p:spPr>
              <a:xfrm>
                <a:off x="-4052413" y="2965119"/>
                <a:ext cx="1290538" cy="208750"/>
              </a:xfrm>
              <a:prstGeom prst="rect">
                <a:avLst/>
              </a:prstGeom>
              <a:solidFill>
                <a:srgbClr val="8080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6" name="Google Shape;756;p5"/>
              <p:cNvSpPr/>
              <p:nvPr/>
            </p:nvSpPr>
            <p:spPr>
              <a:xfrm>
                <a:off x="-4079003" y="2985994"/>
                <a:ext cx="1281675" cy="208750"/>
              </a:xfrm>
              <a:prstGeom prst="rect">
                <a:avLst/>
              </a:prstGeom>
              <a:solidFill>
                <a:srgbClr val="3333CC"/>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757" name="Google Shape;757;p5"/>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758" name="Google Shape;758;p5"/>
              <p:cNvSpPr/>
              <p:nvPr/>
            </p:nvSpPr>
            <p:spPr>
              <a:xfrm>
                <a:off x="-3377007" y="2988777"/>
                <a:ext cx="476861" cy="210142"/>
              </a:xfrm>
              <a:prstGeom prst="rect">
                <a:avLst/>
              </a:prstGeom>
              <a:solidFill>
                <a:srgbClr val="00CC99"/>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9" name="Google Shape;759;p5"/>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760" name="Google Shape;760;p5"/>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761" name="Google Shape;761;p5"/>
            <p:cNvSpPr txBox="1"/>
            <p:nvPr/>
          </p:nvSpPr>
          <p:spPr>
            <a:xfrm>
              <a:off x="842050" y="4767952"/>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nvGrpSpPr>
            <p:cNvPr id="762" name="Google Shape;762;p5"/>
            <p:cNvGrpSpPr/>
            <p:nvPr/>
          </p:nvGrpSpPr>
          <p:grpSpPr>
            <a:xfrm>
              <a:off x="2714153" y="5658685"/>
              <a:ext cx="565283" cy="293735"/>
              <a:chOff x="1870334" y="1575177"/>
              <a:chExt cx="1128637" cy="437933"/>
            </a:xfrm>
          </p:grpSpPr>
          <p:sp>
            <p:nvSpPr>
              <p:cNvPr id="763" name="Google Shape;763;p5"/>
              <p:cNvSpPr/>
              <p:nvPr/>
            </p:nvSpPr>
            <p:spPr>
              <a:xfrm flipH="1" rot="10800000">
                <a:off x="1873504" y="1693538"/>
                <a:ext cx="1125467" cy="319572"/>
              </a:xfrm>
              <a:prstGeom prst="ellipse">
                <a:avLst/>
              </a:prstGeom>
              <a:gradFill>
                <a:gsLst>
                  <a:gs pos="0">
                    <a:srgbClr val="262699"/>
                  </a:gs>
                  <a:gs pos="53000">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64" name="Google Shape;764;p5"/>
              <p:cNvSpPr/>
              <p:nvPr/>
            </p:nvSpPr>
            <p:spPr>
              <a:xfrm>
                <a:off x="1870334" y="1738514"/>
                <a:ext cx="1128637" cy="115994"/>
              </a:xfrm>
              <a:prstGeom prst="rect">
                <a:avLst/>
              </a:prstGeom>
              <a:gradFill>
                <a:gsLst>
                  <a:gs pos="0">
                    <a:srgbClr val="262699"/>
                  </a:gs>
                  <a:gs pos="53000">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65" name="Google Shape;765;p5"/>
              <p:cNvSpPr/>
              <p:nvPr/>
            </p:nvSpPr>
            <p:spPr>
              <a:xfrm flipH="1" rot="10800000">
                <a:off x="1870334" y="1575177"/>
                <a:ext cx="1125465" cy="319572"/>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66" name="Google Shape;766;p5"/>
              <p:cNvSpPr/>
              <p:nvPr/>
            </p:nvSpPr>
            <p:spPr>
              <a:xfrm>
                <a:off x="2158833" y="1672232"/>
                <a:ext cx="548468" cy="16097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67" name="Google Shape;767;p5"/>
              <p:cNvSpPr/>
              <p:nvPr/>
            </p:nvSpPr>
            <p:spPr>
              <a:xfrm>
                <a:off x="2101767" y="1631990"/>
                <a:ext cx="662599" cy="111258"/>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68" name="Google Shape;768;p5"/>
              <p:cNvSpPr/>
              <p:nvPr/>
            </p:nvSpPr>
            <p:spPr>
              <a:xfrm>
                <a:off x="2536103" y="1726678"/>
                <a:ext cx="244114" cy="97055"/>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69" name="Google Shape;769;p5"/>
              <p:cNvSpPr/>
              <p:nvPr/>
            </p:nvSpPr>
            <p:spPr>
              <a:xfrm>
                <a:off x="2089086" y="1729045"/>
                <a:ext cx="240945" cy="9705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70" name="Google Shape;770;p5"/>
              <p:cNvCxnSpPr>
                <a:endCxn id="765" idx="2"/>
              </p:cNvCxnSpPr>
              <p:nvPr/>
            </p:nvCxnSpPr>
            <p:spPr>
              <a:xfrm rot="10800000">
                <a:off x="1870334" y="1734963"/>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8039"/>
                  </a:srgbClr>
                </a:outerShdw>
              </a:effectLst>
            </p:spPr>
          </p:cxnSp>
          <p:cxnSp>
            <p:nvCxnSpPr>
              <p:cNvPr id="771" name="Google Shape;771;p5"/>
              <p:cNvCxnSpPr/>
              <p:nvPr/>
            </p:nvCxnSpPr>
            <p:spPr>
              <a:xfrm rot="10800000">
                <a:off x="2995800" y="1733779"/>
                <a:ext cx="3171" cy="12309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8039"/>
                  </a:srgbClr>
                </a:outerShdw>
              </a:effectLst>
            </p:spPr>
          </p:cxnSp>
        </p:grpSp>
        <p:sp>
          <p:nvSpPr>
            <p:cNvPr id="772" name="Google Shape;772;p5"/>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773" name="Google Shape;773;p5"/>
          <p:cNvSpPr txBox="1"/>
          <p:nvPr/>
        </p:nvSpPr>
        <p:spPr>
          <a:xfrm>
            <a:off x="6255252" y="4142307"/>
            <a:ext cx="5502965" cy="209565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control-plane approaches: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0"/>
                </a:solidFill>
                <a:latin typeface="Calibri"/>
                <a:ea typeface="Calibri"/>
                <a:cs typeface="Calibri"/>
                <a:sym typeface="Calibri"/>
              </a:rPr>
              <a:t>traditional routing algorithms: </a:t>
            </a:r>
            <a:r>
              <a:rPr b="0" i="0" lang="en-US" sz="2400" u="none" cap="none" strike="noStrike">
                <a:solidFill>
                  <a:srgbClr val="000000"/>
                </a:solidFill>
                <a:latin typeface="Calibri"/>
                <a:ea typeface="Calibri"/>
                <a:cs typeface="Calibri"/>
                <a:sym typeface="Calibri"/>
              </a:rPr>
              <a:t>implemented in routers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0"/>
                </a:solidFill>
                <a:latin typeface="Calibri"/>
                <a:ea typeface="Calibri"/>
                <a:cs typeface="Calibri"/>
                <a:sym typeface="Calibri"/>
              </a:rPr>
              <a:t>software-defined networking (SDN)</a:t>
            </a:r>
            <a:r>
              <a:rPr b="0" i="0" lang="en-US" sz="2400" u="none" cap="none" strike="noStrike">
                <a:solidFill>
                  <a:srgbClr val="000000"/>
                </a:solidFill>
                <a:latin typeface="Calibri"/>
                <a:ea typeface="Calibri"/>
                <a:cs typeface="Calibri"/>
                <a:sym typeface="Calibri"/>
              </a:rPr>
              <a:t>: implemented in (remote) servers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74" name="Google Shape;774;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500"/>
                                        <p:tgtEl>
                                          <p:spTgt spid="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500"/>
                                        <p:tgtEl>
                                          <p:spTgt spid="7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781" name="Google Shape;781;p6"/>
          <p:cNvSpPr/>
          <p:nvPr/>
        </p:nvSpPr>
        <p:spPr>
          <a:xfrm>
            <a:off x="2275508" y="1518548"/>
            <a:ext cx="4568825" cy="1836737"/>
          </a:xfrm>
          <a:prstGeom prst="rect">
            <a:avLst/>
          </a:prstGeom>
          <a:solidFill>
            <a:srgbClr val="FFFFFF"/>
          </a:solidFill>
          <a:ln cap="flat" cmpd="sng" w="19050">
            <a:solidFill>
              <a:srgbClr val="5F5F5F"/>
            </a:solidFill>
            <a:prstDash val="solid"/>
            <a:miter lim="8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2" name="Google Shape;782;p6"/>
          <p:cNvSpPr/>
          <p:nvPr/>
        </p:nvSpPr>
        <p:spPr>
          <a:xfrm>
            <a:off x="2431083" y="2032898"/>
            <a:ext cx="1417638" cy="828675"/>
          </a:xfrm>
          <a:prstGeom prst="rect">
            <a:avLst/>
          </a:prstGeom>
          <a:solidFill>
            <a:srgbClr val="FFFFFF"/>
          </a:solidFill>
          <a:ln cap="flat" cmpd="sng" w="28575">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783" name="Google Shape;783;p6"/>
          <p:cNvSpPr/>
          <p:nvPr/>
        </p:nvSpPr>
        <p:spPr>
          <a:xfrm>
            <a:off x="5406058" y="1655073"/>
            <a:ext cx="1247775" cy="1504950"/>
          </a:xfrm>
          <a:prstGeom prst="rect">
            <a:avLst/>
          </a:prstGeom>
          <a:solidFill>
            <a:srgbClr val="FFFFFF"/>
          </a:solidFill>
          <a:ln cap="flat"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784" name="Google Shape;784;p6"/>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785" name="Google Shape;785;p6"/>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cxnSp>
        <p:nvCxnSpPr>
          <p:cNvPr id="786" name="Google Shape;786;p6"/>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787" name="Google Shape;787;p6"/>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sp>
        <p:nvSpPr>
          <p:cNvPr id="788" name="Google Shape;788;p6"/>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sp>
        <p:nvSpPr>
          <p:cNvPr id="789" name="Google Shape;789;p6"/>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destination-based forwarding: </a:t>
            </a:r>
            <a:r>
              <a:rPr b="0" i="0" lang="en-US" sz="2400" u="none" cap="none" strike="noStrike">
                <a:solidFill>
                  <a:srgbClr val="000000"/>
                </a:solidFill>
                <a:latin typeface="Calibri"/>
                <a:ea typeface="Calibri"/>
                <a:cs typeface="Calibri"/>
                <a:sym typeface="Calibri"/>
              </a:rPr>
              <a:t>forward based only on destination IP address (traditional)</a:t>
            </a:r>
            <a:endParaRPr b="0" i="0" sz="2400" u="none" cap="none" strike="noStrike">
              <a:solidFill>
                <a:srgbClr val="000000"/>
              </a:solidFill>
              <a:latin typeface="Calibri"/>
              <a:ea typeface="Calibri"/>
              <a:cs typeface="Calibri"/>
              <a:sym typeface="Calibri"/>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generalized forwarding: </a:t>
            </a:r>
            <a:r>
              <a:rPr b="0" i="0" lang="en-US" sz="2400" u="none" cap="none" strike="noStrike">
                <a:solidFill>
                  <a:srgbClr val="000000"/>
                </a:solidFill>
                <a:latin typeface="Calibri"/>
                <a:ea typeface="Calibri"/>
                <a:cs typeface="Calibri"/>
                <a:sym typeface="Calibri"/>
              </a:rPr>
              <a:t>forward based on any set of header field values</a:t>
            </a:r>
            <a:endParaRPr/>
          </a:p>
        </p:txBody>
      </p:sp>
      <p:sp>
        <p:nvSpPr>
          <p:cNvPr id="790" name="Google Shape;790;p6"/>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791" name="Google Shape;791;p6"/>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792" name="Google Shape;792;p6"/>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793" name="Google Shape;793;p6"/>
          <p:cNvGrpSpPr/>
          <p:nvPr/>
        </p:nvGrpSpPr>
        <p:grpSpPr>
          <a:xfrm>
            <a:off x="5533058" y="2274198"/>
            <a:ext cx="993775" cy="468312"/>
            <a:chOff x="310" y="3526"/>
            <a:chExt cx="1040" cy="457"/>
          </a:xfrm>
        </p:grpSpPr>
        <p:sp>
          <p:nvSpPr>
            <p:cNvPr id="794" name="Google Shape;794;p6"/>
            <p:cNvSpPr/>
            <p:nvPr/>
          </p:nvSpPr>
          <p:spPr>
            <a:xfrm>
              <a:off x="310" y="3526"/>
              <a:ext cx="1040" cy="457"/>
            </a:xfrm>
            <a:prstGeom prst="rect">
              <a:avLst/>
            </a:prstGeom>
            <a:solidFill>
              <a:srgbClr val="FF0000"/>
            </a:solidFill>
            <a:ln cap="flat" cmpd="sng" w="381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795" name="Google Shape;795;p6"/>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796" name="Google Shape;796;p6"/>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797" name="Google Shape;797;p6"/>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798" name="Google Shape;798;p6"/>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799" name="Google Shape;799;p6"/>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800" name="Google Shape;800;p6"/>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801" name="Google Shape;801;p6"/>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802" name="Google Shape;802;p6"/>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cxnSp>
        <p:nvCxnSpPr>
          <p:cNvPr id="803" name="Google Shape;803;p6"/>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cxnSp>
        <p:nvCxnSpPr>
          <p:cNvPr id="804" name="Google Shape;804;p6"/>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nvGrpSpPr>
          <p:cNvPr id="805" name="Google Shape;805;p6"/>
          <p:cNvGrpSpPr/>
          <p:nvPr/>
        </p:nvGrpSpPr>
        <p:grpSpPr>
          <a:xfrm>
            <a:off x="871146" y="1664528"/>
            <a:ext cx="4336475" cy="3729630"/>
            <a:chOff x="871146" y="1664528"/>
            <a:chExt cx="4336475" cy="3729630"/>
          </a:xfrm>
        </p:grpSpPr>
        <p:sp>
          <p:nvSpPr>
            <p:cNvPr id="806" name="Google Shape;806;p6"/>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807" name="Google Shape;807;p6"/>
            <p:cNvGrpSpPr/>
            <p:nvPr/>
          </p:nvGrpSpPr>
          <p:grpSpPr>
            <a:xfrm>
              <a:off x="871146" y="1664528"/>
              <a:ext cx="4336475" cy="3729630"/>
              <a:chOff x="871146" y="1664528"/>
              <a:chExt cx="4336475" cy="3729630"/>
            </a:xfrm>
          </p:grpSpPr>
          <p:sp>
            <p:nvSpPr>
              <p:cNvPr id="808" name="Google Shape;808;p6"/>
              <p:cNvSpPr/>
              <p:nvPr/>
            </p:nvSpPr>
            <p:spPr>
              <a:xfrm>
                <a:off x="4055096" y="1664528"/>
                <a:ext cx="1152525" cy="1409700"/>
              </a:xfrm>
              <a:prstGeom prst="rect">
                <a:avLst/>
              </a:prstGeom>
              <a:noFill/>
              <a:ln cap="flat" cmpd="sng" w="2857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09" name="Google Shape;809;p6"/>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810" name="Google Shape;810;p6"/>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811" name="Google Shape;811;p6"/>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sp>
        <p:nvSpPr>
          <p:cNvPr id="812" name="Google Shape;81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7"/>
          <p:cNvSpPr txBox="1"/>
          <p:nvPr/>
        </p:nvSpPr>
        <p:spPr>
          <a:xfrm>
            <a:off x="1188002" y="6033604"/>
            <a:ext cx="73207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Q:</a:t>
            </a:r>
            <a:r>
              <a:rPr b="0" i="0" lang="en-US" sz="2400" u="none" cap="none" strike="noStrike">
                <a:solidFill>
                  <a:srgbClr val="000000"/>
                </a:solidFill>
                <a:latin typeface="Calibri"/>
                <a:ea typeface="Calibri"/>
                <a:cs typeface="Calibri"/>
                <a:sym typeface="Calibri"/>
              </a:rPr>
              <a:t> but what happens if ranges don’t divide up so nicely? </a:t>
            </a:r>
            <a:endParaRPr b="0" i="0" sz="2400" u="none" cap="none" strike="noStrike">
              <a:solidFill>
                <a:srgbClr val="000000"/>
              </a:solidFill>
              <a:latin typeface="Calibri"/>
              <a:ea typeface="Calibri"/>
              <a:cs typeface="Calibri"/>
              <a:sym typeface="Calibri"/>
            </a:endParaRPr>
          </a:p>
        </p:txBody>
      </p:sp>
      <p:pic>
        <p:nvPicPr>
          <p:cNvPr id="819" name="Google Shape;819;p7"/>
          <p:cNvPicPr preferRelativeResize="0"/>
          <p:nvPr/>
        </p:nvPicPr>
        <p:blipFill rotWithShape="1">
          <a:blip r:embed="rId3">
            <a:alphaModFix/>
          </a:blip>
          <a:srcRect b="0" l="0" r="0" t="0"/>
          <a:stretch/>
        </p:blipFill>
        <p:spPr>
          <a:xfrm>
            <a:off x="1056411" y="3154505"/>
            <a:ext cx="9375866" cy="2779571"/>
          </a:xfrm>
          <a:prstGeom prst="rect">
            <a:avLst/>
          </a:prstGeom>
          <a:noFill/>
          <a:ln>
            <a:noFill/>
          </a:ln>
        </p:spPr>
      </p:pic>
      <p:grpSp>
        <p:nvGrpSpPr>
          <p:cNvPr id="820" name="Google Shape;820;p7"/>
          <p:cNvGrpSpPr/>
          <p:nvPr/>
        </p:nvGrpSpPr>
        <p:grpSpPr>
          <a:xfrm>
            <a:off x="898734" y="1108364"/>
            <a:ext cx="9699993" cy="2044580"/>
            <a:chOff x="898734" y="1108364"/>
            <a:chExt cx="9699993" cy="2044580"/>
          </a:xfrm>
        </p:grpSpPr>
        <p:pic>
          <p:nvPicPr>
            <p:cNvPr id="821" name="Google Shape;821;p7"/>
            <p:cNvPicPr preferRelativeResize="0"/>
            <p:nvPr/>
          </p:nvPicPr>
          <p:blipFill rotWithShape="1">
            <a:blip r:embed="rId4">
              <a:alphaModFix/>
            </a:blip>
            <a:srcRect b="0" l="0" r="0" t="0"/>
            <a:stretch/>
          </p:blipFill>
          <p:spPr>
            <a:xfrm>
              <a:off x="898734" y="1186912"/>
              <a:ext cx="9594790" cy="1966032"/>
            </a:xfrm>
            <a:prstGeom prst="rect">
              <a:avLst/>
            </a:prstGeom>
            <a:noFill/>
            <a:ln>
              <a:noFill/>
            </a:ln>
          </p:spPr>
        </p:pic>
        <p:sp>
          <p:nvSpPr>
            <p:cNvPr id="822" name="Google Shape;822;p7"/>
            <p:cNvSpPr/>
            <p:nvPr/>
          </p:nvSpPr>
          <p:spPr>
            <a:xfrm>
              <a:off x="1039091" y="1108364"/>
              <a:ext cx="9559636" cy="2355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823" name="Google Shape;823;p7"/>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Destination-based forwarding</a:t>
            </a:r>
            <a:endParaRPr/>
          </a:p>
        </p:txBody>
      </p:sp>
      <p:grpSp>
        <p:nvGrpSpPr>
          <p:cNvPr id="824" name="Google Shape;824;p7"/>
          <p:cNvGrpSpPr/>
          <p:nvPr/>
        </p:nvGrpSpPr>
        <p:grpSpPr>
          <a:xfrm>
            <a:off x="1038514" y="2679128"/>
            <a:ext cx="9093336" cy="1283278"/>
            <a:chOff x="1038514" y="2679128"/>
            <a:chExt cx="9093336" cy="1283278"/>
          </a:xfrm>
        </p:grpSpPr>
        <p:pic>
          <p:nvPicPr>
            <p:cNvPr id="825" name="Google Shape;825;p7"/>
            <p:cNvPicPr preferRelativeResize="0"/>
            <p:nvPr/>
          </p:nvPicPr>
          <p:blipFill rotWithShape="1">
            <a:blip r:embed="rId5">
              <a:alphaModFix/>
            </a:blip>
            <a:srcRect b="0" l="0" r="0" t="0"/>
            <a:stretch/>
          </p:blipFill>
          <p:spPr>
            <a:xfrm>
              <a:off x="1038514" y="2679128"/>
              <a:ext cx="9093336" cy="1283278"/>
            </a:xfrm>
            <a:prstGeom prst="rect">
              <a:avLst/>
            </a:prstGeom>
            <a:noFill/>
            <a:ln>
              <a:noFill/>
            </a:ln>
          </p:spPr>
        </p:pic>
        <p:sp>
          <p:nvSpPr>
            <p:cNvPr id="826" name="Google Shape;826;p7"/>
            <p:cNvSpPr txBox="1"/>
            <p:nvPr/>
          </p:nvSpPr>
          <p:spPr>
            <a:xfrm>
              <a:off x="8451272" y="3131128"/>
              <a:ext cx="886691" cy="4308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3</a:t>
              </a:r>
              <a:endParaRPr/>
            </a:p>
          </p:txBody>
        </p:sp>
      </p:grpSp>
      <p:sp>
        <p:nvSpPr>
          <p:cNvPr id="827" name="Google Shape;827;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500"/>
                                        <p:tgtEl>
                                          <p:spTgt spid="8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8"/>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834" name="Google Shape;834;p8"/>
          <p:cNvSpPr/>
          <p:nvPr/>
        </p:nvSpPr>
        <p:spPr>
          <a:xfrm>
            <a:off x="991564" y="1533870"/>
            <a:ext cx="9199355" cy="1620147"/>
          </a:xfrm>
          <a:prstGeom prst="rect">
            <a:avLst/>
          </a:prstGeom>
          <a:solidFill>
            <a:schemeClr val="lt1"/>
          </a:solidFill>
          <a:ln cap="flat" cmpd="sng" w="19050">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5" name="Google Shape;835;p8"/>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836" name="Google Shape;836;p8"/>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grpSp>
        <p:nvGrpSpPr>
          <p:cNvPr id="837" name="Google Shape;837;p8"/>
          <p:cNvGrpSpPr/>
          <p:nvPr/>
        </p:nvGrpSpPr>
        <p:grpSpPr>
          <a:xfrm>
            <a:off x="2674601" y="3416024"/>
            <a:ext cx="7479325" cy="2180038"/>
            <a:chOff x="2674601" y="3416024"/>
            <a:chExt cx="7479325" cy="2180038"/>
          </a:xfrm>
        </p:grpSpPr>
        <p:sp>
          <p:nvSpPr>
            <p:cNvPr id="838" name="Google Shape;838;p8"/>
            <p:cNvSpPr/>
            <p:nvPr/>
          </p:nvSpPr>
          <p:spPr>
            <a:xfrm>
              <a:off x="2674601" y="3464838"/>
              <a:ext cx="4941530" cy="2131224"/>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839" name="Google Shape;839;p8"/>
            <p:cNvSpPr/>
            <p:nvPr/>
          </p:nvSpPr>
          <p:spPr>
            <a:xfrm>
              <a:off x="2675214" y="3473174"/>
              <a:ext cx="7459662" cy="2106613"/>
            </a:xfrm>
            <a:prstGeom prst="rect">
              <a:avLst/>
            </a:prstGeom>
            <a:noFill/>
            <a:ln cap="flat" cmpd="sng" w="19050">
              <a:solidFill>
                <a:srgbClr val="0000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40" name="Google Shape;840;p8"/>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841" name="Google Shape;841;p8"/>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842" name="Google Shape;842;p8"/>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843" name="Google Shape;843;p8"/>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844" name="Google Shape;844;p8"/>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845" name="Google Shape;845;p8"/>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846" name="Google Shape;846;p8"/>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47" name="Google Shape;847;p8"/>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48" name="Google Shape;848;p8"/>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49" name="Google Shape;849;p8"/>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50" name="Google Shape;850;p8"/>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grpSp>
      <p:grpSp>
        <p:nvGrpSpPr>
          <p:cNvPr id="851" name="Google Shape;851;p8"/>
          <p:cNvGrpSpPr/>
          <p:nvPr/>
        </p:nvGrpSpPr>
        <p:grpSpPr>
          <a:xfrm>
            <a:off x="789703" y="5747609"/>
            <a:ext cx="9305341" cy="903606"/>
            <a:chOff x="789703" y="5747609"/>
            <a:chExt cx="9305341" cy="903606"/>
          </a:xfrm>
        </p:grpSpPr>
        <p:sp>
          <p:nvSpPr>
            <p:cNvPr id="852" name="Google Shape;852;p8"/>
            <p:cNvSpPr/>
            <p:nvPr/>
          </p:nvSpPr>
          <p:spPr>
            <a:xfrm>
              <a:off x="2672981" y="6281883"/>
              <a:ext cx="556113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853" name="Google Shape;853;p8"/>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854" name="Google Shape;854;p8"/>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855" name="Google Shape;855;p8"/>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856" name="Google Shape;856;p8"/>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sp>
        <p:nvSpPr>
          <p:cNvPr id="857" name="Google Shape;857;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500"/>
                                        <p:tgtEl>
                                          <p:spTgt spid="8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500"/>
                                        <p:tgtEl>
                                          <p:spTgt spid="8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9"/>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864" name="Google Shape;864;p9"/>
          <p:cNvSpPr/>
          <p:nvPr/>
        </p:nvSpPr>
        <p:spPr>
          <a:xfrm>
            <a:off x="991564" y="1533870"/>
            <a:ext cx="9199355" cy="1620147"/>
          </a:xfrm>
          <a:prstGeom prst="rect">
            <a:avLst/>
          </a:prstGeom>
          <a:solidFill>
            <a:schemeClr val="lt1"/>
          </a:solidFill>
          <a:ln cap="flat" cmpd="sng" w="19050">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5" name="Google Shape;865;p9"/>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866" name="Google Shape;866;p9"/>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867" name="Google Shape;867;p9"/>
          <p:cNvSpPr/>
          <p:nvPr/>
        </p:nvSpPr>
        <p:spPr>
          <a:xfrm>
            <a:off x="2674601" y="3464838"/>
            <a:ext cx="4941530" cy="2131224"/>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868" name="Google Shape;868;p9"/>
          <p:cNvSpPr/>
          <p:nvPr/>
        </p:nvSpPr>
        <p:spPr>
          <a:xfrm>
            <a:off x="2675214" y="3473174"/>
            <a:ext cx="7459662" cy="2106613"/>
          </a:xfrm>
          <a:prstGeom prst="rect">
            <a:avLst/>
          </a:prstGeom>
          <a:noFill/>
          <a:ln cap="flat" cmpd="sng" w="19050">
            <a:solidFill>
              <a:srgbClr val="0000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69" name="Google Shape;869;p9"/>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870" name="Google Shape;870;p9"/>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871" name="Google Shape;871;p9"/>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872" name="Google Shape;872;p9"/>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873" name="Google Shape;873;p9"/>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874" name="Google Shape;874;p9"/>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875" name="Google Shape;875;p9"/>
          <p:cNvSpPr/>
          <p:nvPr/>
        </p:nvSpPr>
        <p:spPr>
          <a:xfrm>
            <a:off x="2672981" y="6281883"/>
            <a:ext cx="556113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876" name="Google Shape;876;p9"/>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877" name="Google Shape;877;p9"/>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878" name="Google Shape;878;p9"/>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879" name="Google Shape;879;p9"/>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80" name="Google Shape;880;p9"/>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81" name="Google Shape;881;p9"/>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82" name="Google Shape;882;p9"/>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83" name="Google Shape;883;p9"/>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884" name="Google Shape;884;p9"/>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885" name="Google Shape;885;p9"/>
          <p:cNvGrpSpPr/>
          <p:nvPr/>
        </p:nvGrpSpPr>
        <p:grpSpPr>
          <a:xfrm>
            <a:off x="803563" y="3297382"/>
            <a:ext cx="9670473" cy="3560618"/>
            <a:chOff x="803563" y="3297382"/>
            <a:chExt cx="9670473" cy="3560618"/>
          </a:xfrm>
        </p:grpSpPr>
        <p:sp>
          <p:nvSpPr>
            <p:cNvPr id="886" name="Google Shape;886;p9"/>
            <p:cNvSpPr/>
            <p:nvPr/>
          </p:nvSpPr>
          <p:spPr>
            <a:xfrm>
              <a:off x="845127" y="3297382"/>
              <a:ext cx="9628909" cy="1122218"/>
            </a:xfrm>
            <a:custGeom>
              <a:rect b="b" l="l" r="r" t="t"/>
              <a:pathLst>
                <a:path extrusionOk="0" h="1122218" w="9628909">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lt1">
                <a:alpha val="8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7" name="Google Shape;887;p9"/>
            <p:cNvSpPr/>
            <p:nvPr/>
          </p:nvSpPr>
          <p:spPr>
            <a:xfrm>
              <a:off x="1634837" y="4364180"/>
              <a:ext cx="8756072" cy="1399309"/>
            </a:xfrm>
            <a:prstGeom prst="rect">
              <a:avLst/>
            </a:prstGeom>
            <a:solidFill>
              <a:schemeClr val="lt1">
                <a:alpha val="8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8" name="Google Shape;888;p9"/>
            <p:cNvSpPr/>
            <p:nvPr/>
          </p:nvSpPr>
          <p:spPr>
            <a:xfrm flipH="1" rot="10800000">
              <a:off x="803563" y="5735782"/>
              <a:ext cx="9628909" cy="1122218"/>
            </a:xfrm>
            <a:custGeom>
              <a:rect b="b" l="l" r="r" t="t"/>
              <a:pathLst>
                <a:path extrusionOk="0" h="1122218" w="9628909">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89" name="Google Shape;889;p9"/>
          <p:cNvGrpSpPr/>
          <p:nvPr/>
        </p:nvGrpSpPr>
        <p:grpSpPr>
          <a:xfrm>
            <a:off x="2701636" y="3972790"/>
            <a:ext cx="3505199" cy="2150919"/>
            <a:chOff x="2701636" y="3972790"/>
            <a:chExt cx="3505199" cy="2150919"/>
          </a:xfrm>
        </p:grpSpPr>
        <p:sp>
          <p:nvSpPr>
            <p:cNvPr id="890" name="Google Shape;890;p9"/>
            <p:cNvSpPr/>
            <p:nvPr/>
          </p:nvSpPr>
          <p:spPr>
            <a:xfrm>
              <a:off x="2701636" y="5791200"/>
              <a:ext cx="3491346" cy="332509"/>
            </a:xfrm>
            <a:prstGeom prst="rect">
              <a:avLst/>
            </a:prstGeom>
            <a:noFill/>
            <a:ln cap="flat" cmpd="sng" w="381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 name="Google Shape;891;p9"/>
            <p:cNvSpPr/>
            <p:nvPr/>
          </p:nvSpPr>
          <p:spPr>
            <a:xfrm>
              <a:off x="2715489" y="3972790"/>
              <a:ext cx="3491346" cy="332509"/>
            </a:xfrm>
            <a:prstGeom prst="rect">
              <a:avLst/>
            </a:prstGeom>
            <a:noFill/>
            <a:ln cap="flat" cmpd="sng" w="381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2" name="Google Shape;892;p9"/>
            <p:cNvSpPr/>
            <p:nvPr/>
          </p:nvSpPr>
          <p:spPr>
            <a:xfrm>
              <a:off x="4419600" y="4350327"/>
              <a:ext cx="290946" cy="142701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3" name="Google Shape;893;p9"/>
            <p:cNvSpPr txBox="1"/>
            <p:nvPr/>
          </p:nvSpPr>
          <p:spPr>
            <a:xfrm>
              <a:off x="4031673" y="4738255"/>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894" name="Google Shape;894;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500"/>
                                        <p:tgtEl>
                                          <p:spTgt spid="889"/>
                                        </p:tgtEl>
                                      </p:cBhvr>
                                    </p:animEffect>
                                  </p:childTnLst>
                                </p:cTn>
                              </p:par>
                              <p:par>
                                <p:cTn fill="hold" nodeType="with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500"/>
                                        <p:tgtEl>
                                          <p:spTgt spid="8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0"/>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901" name="Google Shape;901;p10"/>
          <p:cNvSpPr/>
          <p:nvPr/>
        </p:nvSpPr>
        <p:spPr>
          <a:xfrm>
            <a:off x="991564" y="1533870"/>
            <a:ext cx="9199355" cy="1620147"/>
          </a:xfrm>
          <a:prstGeom prst="rect">
            <a:avLst/>
          </a:prstGeom>
          <a:solidFill>
            <a:schemeClr val="lt1"/>
          </a:solidFill>
          <a:ln cap="flat" cmpd="sng" w="19050">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2" name="Google Shape;902;p10"/>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903" name="Google Shape;903;p10"/>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904" name="Google Shape;904;p10"/>
          <p:cNvSpPr/>
          <p:nvPr/>
        </p:nvSpPr>
        <p:spPr>
          <a:xfrm>
            <a:off x="2674601" y="3464838"/>
            <a:ext cx="4941530" cy="2131224"/>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905" name="Google Shape;905;p10"/>
          <p:cNvSpPr/>
          <p:nvPr/>
        </p:nvSpPr>
        <p:spPr>
          <a:xfrm>
            <a:off x="2675214" y="3473174"/>
            <a:ext cx="7459662" cy="2106613"/>
          </a:xfrm>
          <a:prstGeom prst="rect">
            <a:avLst/>
          </a:prstGeom>
          <a:noFill/>
          <a:ln cap="flat" cmpd="sng" w="19050">
            <a:solidFill>
              <a:srgbClr val="0000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906" name="Google Shape;906;p10"/>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907" name="Google Shape;907;p10"/>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908" name="Google Shape;908;p10"/>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909" name="Google Shape;909;p10"/>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910" name="Google Shape;910;p10"/>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911" name="Google Shape;911;p10"/>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912" name="Google Shape;912;p10"/>
          <p:cNvSpPr/>
          <p:nvPr/>
        </p:nvSpPr>
        <p:spPr>
          <a:xfrm>
            <a:off x="2672981" y="6281883"/>
            <a:ext cx="556113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913" name="Google Shape;913;p10"/>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914" name="Google Shape;914;p10"/>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915" name="Google Shape;915;p10"/>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916" name="Google Shape;916;p10"/>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17" name="Google Shape;917;p10"/>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18" name="Google Shape;918;p10"/>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19" name="Google Shape;919;p10"/>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20" name="Google Shape;920;p10"/>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21" name="Google Shape;921;p10"/>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922" name="Google Shape;922;p10"/>
          <p:cNvGrpSpPr/>
          <p:nvPr/>
        </p:nvGrpSpPr>
        <p:grpSpPr>
          <a:xfrm>
            <a:off x="858982" y="3297383"/>
            <a:ext cx="9628910" cy="3560617"/>
            <a:chOff x="858982" y="3297383"/>
            <a:chExt cx="9628910" cy="3560617"/>
          </a:xfrm>
        </p:grpSpPr>
        <p:sp>
          <p:nvSpPr>
            <p:cNvPr id="923" name="Google Shape;923;p10"/>
            <p:cNvSpPr/>
            <p:nvPr/>
          </p:nvSpPr>
          <p:spPr>
            <a:xfrm>
              <a:off x="858982" y="3297383"/>
              <a:ext cx="9628910" cy="1944054"/>
            </a:xfrm>
            <a:custGeom>
              <a:rect b="b" l="l" r="r" t="t"/>
              <a:pathLst>
                <a:path extrusionOk="0" h="1944054" w="9628910">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lt1">
                <a:alpha val="8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 name="Google Shape;924;p10"/>
            <p:cNvSpPr/>
            <p:nvPr/>
          </p:nvSpPr>
          <p:spPr>
            <a:xfrm>
              <a:off x="2299855" y="5112326"/>
              <a:ext cx="8118764" cy="1052948"/>
            </a:xfrm>
            <a:prstGeom prst="rect">
              <a:avLst/>
            </a:prstGeom>
            <a:solidFill>
              <a:schemeClr val="lt1">
                <a:alpha val="8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5" name="Google Shape;925;p10"/>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926" name="Google Shape;926;p10"/>
          <p:cNvGrpSpPr/>
          <p:nvPr/>
        </p:nvGrpSpPr>
        <p:grpSpPr>
          <a:xfrm>
            <a:off x="2701636" y="4804081"/>
            <a:ext cx="3505199" cy="1804550"/>
            <a:chOff x="2701636" y="4319159"/>
            <a:chExt cx="3505199" cy="1804550"/>
          </a:xfrm>
        </p:grpSpPr>
        <p:sp>
          <p:nvSpPr>
            <p:cNvPr id="927" name="Google Shape;927;p10"/>
            <p:cNvSpPr/>
            <p:nvPr/>
          </p:nvSpPr>
          <p:spPr>
            <a:xfrm>
              <a:off x="2701636" y="5791200"/>
              <a:ext cx="3491346" cy="332509"/>
            </a:xfrm>
            <a:prstGeom prst="rect">
              <a:avLst/>
            </a:prstGeom>
            <a:noFill/>
            <a:ln cap="flat" cmpd="sng" w="381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8" name="Google Shape;928;p10"/>
            <p:cNvSpPr/>
            <p:nvPr/>
          </p:nvSpPr>
          <p:spPr>
            <a:xfrm>
              <a:off x="2715489" y="4319159"/>
              <a:ext cx="3491346" cy="332509"/>
            </a:xfrm>
            <a:prstGeom prst="rect">
              <a:avLst/>
            </a:prstGeom>
            <a:noFill/>
            <a:ln cap="flat" cmpd="sng" w="381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9" name="Google Shape;929;p10"/>
            <p:cNvSpPr/>
            <p:nvPr/>
          </p:nvSpPr>
          <p:spPr>
            <a:xfrm>
              <a:off x="4419600" y="4682823"/>
              <a:ext cx="290945" cy="1094521"/>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0" name="Google Shape;930;p10"/>
            <p:cNvSpPr txBox="1"/>
            <p:nvPr/>
          </p:nvSpPr>
          <p:spPr>
            <a:xfrm>
              <a:off x="4031673" y="502920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931" name="Google Shape;931;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500"/>
                                        <p:tgtEl>
                                          <p:spTgt spid="926"/>
                                        </p:tgtEl>
                                      </p:cBhvr>
                                    </p:animEffect>
                                  </p:childTnLst>
                                </p:cTn>
                              </p:par>
                              <p:par>
                                <p:cTn fill="hold" nodeType="withEffect" presetClass="entr" presetID="10" presetSubtype="0">
                                  <p:stCondLst>
                                    <p:cond delay="0"/>
                                  </p:stCondLst>
                                  <p:childTnLst>
                                    <p:set>
                                      <p:cBhvr>
                                        <p:cTn dur="1" fill="hold">
                                          <p:stCondLst>
                                            <p:cond delay="0"/>
                                          </p:stCondLst>
                                        </p:cTn>
                                        <p:tgtEl>
                                          <p:spTgt spid="922"/>
                                        </p:tgtEl>
                                        <p:attrNameLst>
                                          <p:attrName>style.visibility</p:attrName>
                                        </p:attrNameLst>
                                      </p:cBhvr>
                                      <p:to>
                                        <p:strVal val="visible"/>
                                      </p:to>
                                    </p:set>
                                    <p:animEffect filter="fade" transition="in">
                                      <p:cBhvr>
                                        <p:cTn dur="500"/>
                                        <p:tgtEl>
                                          <p:spTgt spid="9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1"/>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938" name="Google Shape;938;p11"/>
          <p:cNvSpPr/>
          <p:nvPr/>
        </p:nvSpPr>
        <p:spPr>
          <a:xfrm>
            <a:off x="991564" y="1533870"/>
            <a:ext cx="9199355" cy="1620147"/>
          </a:xfrm>
          <a:prstGeom prst="rect">
            <a:avLst/>
          </a:prstGeom>
          <a:solidFill>
            <a:schemeClr val="lt1"/>
          </a:solidFill>
          <a:ln cap="flat" cmpd="sng" w="19050">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9" name="Google Shape;939;p11"/>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940" name="Google Shape;940;p11"/>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941" name="Google Shape;941;p11"/>
          <p:cNvSpPr/>
          <p:nvPr/>
        </p:nvSpPr>
        <p:spPr>
          <a:xfrm>
            <a:off x="2674601" y="3464838"/>
            <a:ext cx="4941530" cy="2131224"/>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942" name="Google Shape;942;p11"/>
          <p:cNvSpPr/>
          <p:nvPr/>
        </p:nvSpPr>
        <p:spPr>
          <a:xfrm>
            <a:off x="2675214" y="3473174"/>
            <a:ext cx="7459662" cy="2106613"/>
          </a:xfrm>
          <a:prstGeom prst="rect">
            <a:avLst/>
          </a:prstGeom>
          <a:noFill/>
          <a:ln cap="flat" cmpd="sng" w="19050">
            <a:solidFill>
              <a:srgbClr val="0000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943" name="Google Shape;943;p11"/>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944" name="Google Shape;944;p11"/>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945" name="Google Shape;945;p11"/>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946" name="Google Shape;946;p11"/>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947" name="Google Shape;947;p11"/>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948" name="Google Shape;948;p11"/>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949" name="Google Shape;949;p11"/>
          <p:cNvSpPr/>
          <p:nvPr/>
        </p:nvSpPr>
        <p:spPr>
          <a:xfrm>
            <a:off x="2672981" y="6281883"/>
            <a:ext cx="556113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950" name="Google Shape;950;p11"/>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951" name="Google Shape;951;p11"/>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952" name="Google Shape;952;p11"/>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953" name="Google Shape;953;p11"/>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54" name="Google Shape;954;p11"/>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55" name="Google Shape;955;p11"/>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56" name="Google Shape;956;p11"/>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57" name="Google Shape;957;p11"/>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958" name="Google Shape;958;p11"/>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959" name="Google Shape;959;p11"/>
          <p:cNvGrpSpPr/>
          <p:nvPr/>
        </p:nvGrpSpPr>
        <p:grpSpPr>
          <a:xfrm>
            <a:off x="858981" y="3297382"/>
            <a:ext cx="9615055" cy="3560618"/>
            <a:chOff x="858981" y="3297382"/>
            <a:chExt cx="9615055" cy="3560618"/>
          </a:xfrm>
        </p:grpSpPr>
        <p:sp>
          <p:nvSpPr>
            <p:cNvPr id="960" name="Google Shape;960;p11"/>
            <p:cNvSpPr/>
            <p:nvPr/>
          </p:nvSpPr>
          <p:spPr>
            <a:xfrm>
              <a:off x="858981" y="3297382"/>
              <a:ext cx="9615055" cy="1884218"/>
            </a:xfrm>
            <a:custGeom>
              <a:rect b="b" l="l" r="r" t="t"/>
              <a:pathLst>
                <a:path extrusionOk="0" h="1884218" w="9615055">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lt1">
                <a:alpha val="8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1" name="Google Shape;961;p11"/>
            <p:cNvSpPr/>
            <p:nvPr/>
          </p:nvSpPr>
          <p:spPr>
            <a:xfrm>
              <a:off x="2299855" y="4764472"/>
              <a:ext cx="8118764" cy="1343892"/>
            </a:xfrm>
            <a:prstGeom prst="rect">
              <a:avLst/>
            </a:prstGeom>
            <a:solidFill>
              <a:schemeClr val="lt1">
                <a:alpha val="8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2" name="Google Shape;962;p11"/>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963" name="Google Shape;963;p11"/>
          <p:cNvGrpSpPr/>
          <p:nvPr/>
        </p:nvGrpSpPr>
        <p:grpSpPr>
          <a:xfrm>
            <a:off x="2701635" y="4388439"/>
            <a:ext cx="3934692" cy="2261743"/>
            <a:chOff x="2701635" y="3903517"/>
            <a:chExt cx="3934692" cy="2261743"/>
          </a:xfrm>
        </p:grpSpPr>
        <p:sp>
          <p:nvSpPr>
            <p:cNvPr id="964" name="Google Shape;964;p11"/>
            <p:cNvSpPr/>
            <p:nvPr/>
          </p:nvSpPr>
          <p:spPr>
            <a:xfrm>
              <a:off x="2701635" y="5791200"/>
              <a:ext cx="3934691" cy="374060"/>
            </a:xfrm>
            <a:prstGeom prst="rect">
              <a:avLst/>
            </a:prstGeom>
            <a:noFill/>
            <a:ln cap="flat" cmpd="sng" w="381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5" name="Google Shape;965;p11"/>
            <p:cNvSpPr/>
            <p:nvPr/>
          </p:nvSpPr>
          <p:spPr>
            <a:xfrm>
              <a:off x="2715489" y="3903517"/>
              <a:ext cx="3920838" cy="349816"/>
            </a:xfrm>
            <a:prstGeom prst="rect">
              <a:avLst/>
            </a:prstGeom>
            <a:noFill/>
            <a:ln cap="flat" cmpd="sng" w="381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6" name="Google Shape;966;p11"/>
            <p:cNvSpPr/>
            <p:nvPr/>
          </p:nvSpPr>
          <p:spPr>
            <a:xfrm>
              <a:off x="4419600" y="4294897"/>
              <a:ext cx="346364" cy="148244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7" name="Google Shape;967;p11"/>
            <p:cNvSpPr txBox="1"/>
            <p:nvPr/>
          </p:nvSpPr>
          <p:spPr>
            <a:xfrm>
              <a:off x="4045528" y="480753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968" name="Google Shape;968;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500"/>
                                        <p:tgtEl>
                                          <p:spTgt spid="963"/>
                                        </p:tgtEl>
                                      </p:cBhvr>
                                    </p:animEffect>
                                  </p:childTnLst>
                                </p:cTn>
                              </p:par>
                              <p:par>
                                <p:cTn fill="hold" nodeType="with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500"/>
                                        <p:tgtEl>
                                          <p:spTgt spid="9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2"/>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Char char="▪"/>
            </a:pPr>
            <a:r>
              <a:rPr lang="en-US" sz="3200"/>
              <a:t>we’ll see</a:t>
            </a:r>
            <a:r>
              <a:rPr i="1" lang="en-US" sz="3200">
                <a:solidFill>
                  <a:srgbClr val="000090"/>
                </a:solidFill>
              </a:rPr>
              <a:t> why </a:t>
            </a:r>
            <a:r>
              <a:rPr lang="en-US" sz="3200"/>
              <a:t>longest prefix matching is used shortly, when we study addressing</a:t>
            </a:r>
            <a:endParaRPr/>
          </a:p>
          <a:p>
            <a:pPr indent="-287338" lvl="0" marL="352425" rtl="0" algn="l">
              <a:lnSpc>
                <a:spcPct val="90000"/>
              </a:lnSpc>
              <a:spcBef>
                <a:spcPts val="1000"/>
              </a:spcBef>
              <a:spcAft>
                <a:spcPts val="0"/>
              </a:spcAft>
              <a:buSzPts val="3200"/>
              <a:buChar char="▪"/>
            </a:pPr>
            <a:r>
              <a:rPr lang="en-US" sz="3200"/>
              <a:t>longest prefix matching: often performed using ternary content addressable memories (TCAMs)</a:t>
            </a:r>
            <a:endParaRPr/>
          </a:p>
          <a:p>
            <a:pPr indent="-231775" lvl="1" marL="695325" rtl="0" algn="l">
              <a:lnSpc>
                <a:spcPct val="90000"/>
              </a:lnSpc>
              <a:spcBef>
                <a:spcPts val="500"/>
              </a:spcBef>
              <a:spcAft>
                <a:spcPts val="0"/>
              </a:spcAft>
              <a:buSzPts val="2800"/>
              <a:buChar char="•"/>
            </a:pPr>
            <a:r>
              <a:rPr i="1" lang="en-US" sz="2800">
                <a:solidFill>
                  <a:srgbClr val="CC0000"/>
                </a:solidFill>
              </a:rPr>
              <a:t>content addressable: </a:t>
            </a:r>
            <a:r>
              <a:rPr lang="en-US" sz="2800"/>
              <a:t>present address to TCAM: retrieve address in one clock cycle, regardless of table size</a:t>
            </a:r>
            <a:endParaRPr/>
          </a:p>
          <a:p>
            <a:pPr indent="-231775" lvl="1" marL="695325" rtl="0" algn="l">
              <a:lnSpc>
                <a:spcPct val="90000"/>
              </a:lnSpc>
              <a:spcBef>
                <a:spcPts val="500"/>
              </a:spcBef>
              <a:spcAft>
                <a:spcPts val="0"/>
              </a:spcAft>
              <a:buSzPts val="2800"/>
              <a:buChar char="•"/>
            </a:pPr>
            <a:r>
              <a:rPr lang="en-US" sz="2800"/>
              <a:t>Cisco Catalyst:  ~1M routing table entries in TCAM</a:t>
            </a:r>
            <a:endParaRPr/>
          </a:p>
          <a:p>
            <a:pPr indent="-44450" lvl="0" marL="352425" rtl="0" algn="l">
              <a:lnSpc>
                <a:spcPct val="90000"/>
              </a:lnSpc>
              <a:spcBef>
                <a:spcPts val="1000"/>
              </a:spcBef>
              <a:spcAft>
                <a:spcPts val="0"/>
              </a:spcAft>
              <a:buSzPts val="2800"/>
              <a:buNone/>
            </a:pPr>
            <a:r>
              <a:t/>
            </a:r>
            <a:endParaRPr/>
          </a:p>
        </p:txBody>
      </p:sp>
      <p:sp>
        <p:nvSpPr>
          <p:cNvPr id="975" name="Google Shape;975;p1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976" name="Google Shape;976;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Network Layer: Internet</a:t>
            </a:r>
            <a:endParaRPr/>
          </a:p>
        </p:txBody>
      </p:sp>
      <p:sp>
        <p:nvSpPr>
          <p:cNvPr id="983" name="Google Shape;983;p13"/>
          <p:cNvSpPr/>
          <p:nvPr/>
        </p:nvSpPr>
        <p:spPr>
          <a:xfrm>
            <a:off x="3137317" y="2215552"/>
            <a:ext cx="7370788" cy="4076700"/>
          </a:xfrm>
          <a:prstGeom prst="rect">
            <a:avLst/>
          </a:prstGeom>
          <a:solidFill>
            <a:srgbClr val="FFFFFF"/>
          </a:solidFill>
          <a:ln cap="flat" cmpd="sng" w="19050">
            <a:solidFill>
              <a:srgbClr val="000000"/>
            </a:solidFill>
            <a:prstDash val="solid"/>
            <a:miter lim="8000"/>
            <a:headEnd len="sm" w="sm" type="none"/>
            <a:tailEnd len="sm" w="sm" type="none"/>
          </a:ln>
          <a:effectLst>
            <a:outerShdw blurRad="1651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984" name="Google Shape;984;p13"/>
          <p:cNvSpPr txBox="1"/>
          <p:nvPr/>
        </p:nvSpPr>
        <p:spPr>
          <a:xfrm>
            <a:off x="888584" y="1413891"/>
            <a:ext cx="7534275" cy="438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000000"/>
                </a:solidFill>
                <a:latin typeface="Calibri"/>
                <a:ea typeface="Calibri"/>
                <a:cs typeface="Calibri"/>
                <a:sym typeface="Calibri"/>
              </a:rPr>
              <a:t>host, router network layer functions:</a:t>
            </a:r>
            <a:endParaRPr/>
          </a:p>
        </p:txBody>
      </p:sp>
      <p:cxnSp>
        <p:nvCxnSpPr>
          <p:cNvPr id="985" name="Google Shape;985;p13"/>
          <p:cNvCxnSpPr/>
          <p:nvPr/>
        </p:nvCxnSpPr>
        <p:spPr>
          <a:xfrm flipH="1" rot="10800000">
            <a:off x="3127792" y="5768661"/>
            <a:ext cx="7395303" cy="10828"/>
          </a:xfrm>
          <a:prstGeom prst="straightConnector1">
            <a:avLst/>
          </a:prstGeom>
          <a:noFill/>
          <a:ln cap="flat" cmpd="sng" w="19050">
            <a:solidFill>
              <a:srgbClr val="000000"/>
            </a:solidFill>
            <a:prstDash val="solid"/>
            <a:round/>
            <a:headEnd len="med" w="med" type="none"/>
            <a:tailEnd len="med" w="med" type="none"/>
          </a:ln>
        </p:spPr>
      </p:cxnSp>
      <p:cxnSp>
        <p:nvCxnSpPr>
          <p:cNvPr id="986" name="Google Shape;986;p13"/>
          <p:cNvCxnSpPr/>
          <p:nvPr/>
        </p:nvCxnSpPr>
        <p:spPr>
          <a:xfrm flipH="1" rot="10800000">
            <a:off x="3156367" y="5244860"/>
            <a:ext cx="7366728" cy="10754"/>
          </a:xfrm>
          <a:prstGeom prst="straightConnector1">
            <a:avLst/>
          </a:prstGeom>
          <a:noFill/>
          <a:ln cap="flat" cmpd="sng" w="19050">
            <a:solidFill>
              <a:srgbClr val="000000"/>
            </a:solidFill>
            <a:prstDash val="solid"/>
            <a:round/>
            <a:headEnd len="med" w="med" type="none"/>
            <a:tailEnd len="med" w="med" type="none"/>
          </a:ln>
        </p:spPr>
      </p:cxnSp>
      <p:grpSp>
        <p:nvGrpSpPr>
          <p:cNvPr id="987" name="Google Shape;987;p13"/>
          <p:cNvGrpSpPr/>
          <p:nvPr/>
        </p:nvGrpSpPr>
        <p:grpSpPr>
          <a:xfrm>
            <a:off x="7184669" y="2927915"/>
            <a:ext cx="3136903" cy="1276350"/>
            <a:chOff x="102" y="1294"/>
            <a:chExt cx="1976" cy="804"/>
          </a:xfrm>
        </p:grpSpPr>
        <p:sp>
          <p:nvSpPr>
            <p:cNvPr id="988" name="Google Shape;988;p13"/>
            <p:cNvSpPr/>
            <p:nvPr/>
          </p:nvSpPr>
          <p:spPr>
            <a:xfrm>
              <a:off x="102" y="1314"/>
              <a:ext cx="1976" cy="784"/>
            </a:xfrm>
            <a:prstGeom prst="rect">
              <a:avLst/>
            </a:prstGeom>
            <a:solidFill>
              <a:srgbClr val="FFFFFF"/>
            </a:solidFill>
            <a:ln cap="flat" cmpd="sng" w="19050">
              <a:solidFill>
                <a:srgbClr val="000000"/>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989" name="Google Shape;989;p13"/>
            <p:cNvSpPr txBox="1"/>
            <p:nvPr/>
          </p:nvSpPr>
          <p:spPr>
            <a:xfrm>
              <a:off x="131" y="1294"/>
              <a:ext cx="1918" cy="7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IP protocol</a:t>
              </a:r>
              <a:endParaRPr b="0" i="0" sz="1800" u="none" cap="none" strike="noStrike">
                <a:solidFill>
                  <a:srgbClr val="000000"/>
                </a:solidFill>
                <a:latin typeface="Calibri"/>
                <a:ea typeface="Calibri"/>
                <a:cs typeface="Calibri"/>
                <a:sym typeface="Calibri"/>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datagram format</a:t>
              </a:r>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addressing</a:t>
              </a:r>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packet handling conventions</a:t>
              </a:r>
              <a:endParaRPr b="0" i="0" sz="2000" u="none" cap="none" strike="noStrike">
                <a:solidFill>
                  <a:srgbClr val="000000"/>
                </a:solidFill>
                <a:latin typeface="Calibri"/>
                <a:ea typeface="Calibri"/>
                <a:cs typeface="Calibri"/>
                <a:sym typeface="Calibri"/>
              </a:endParaRPr>
            </a:p>
          </p:txBody>
        </p:sp>
      </p:grpSp>
      <p:sp>
        <p:nvSpPr>
          <p:cNvPr id="990" name="Google Shape;990;p13"/>
          <p:cNvSpPr/>
          <p:nvPr/>
        </p:nvSpPr>
        <p:spPr>
          <a:xfrm>
            <a:off x="7723368" y="4279825"/>
            <a:ext cx="2376099" cy="885011"/>
          </a:xfrm>
          <a:prstGeom prst="rect">
            <a:avLst/>
          </a:prstGeom>
          <a:solidFill>
            <a:srgbClr val="FFFFFF"/>
          </a:solidFill>
          <a:ln cap="flat" cmpd="sng" w="19050">
            <a:solidFill>
              <a:srgbClr val="000000"/>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991" name="Google Shape;991;p13"/>
          <p:cNvSpPr txBox="1"/>
          <p:nvPr/>
        </p:nvSpPr>
        <p:spPr>
          <a:xfrm>
            <a:off x="7779352" y="4233489"/>
            <a:ext cx="2455380" cy="969496"/>
          </a:xfrm>
          <a:prstGeom prst="rect">
            <a:avLst/>
          </a:prstGeom>
          <a:noFill/>
          <a:ln>
            <a:noFill/>
          </a:ln>
        </p:spPr>
        <p:txBody>
          <a:bodyPr anchorCtr="0" anchor="t" bIns="45700" lIns="91425" spcFirstLastPara="1" rIns="91425" wrap="square" tIns="45700">
            <a:spAutoFit/>
          </a:bodyPr>
          <a:lstStyle/>
          <a:p>
            <a:pPr indent="0" lvl="0" marL="0" marR="0" rtl="0" algn="l">
              <a:lnSpc>
                <a:spcPct val="9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ICMP protocol</a:t>
            </a:r>
            <a:endParaRPr/>
          </a:p>
          <a:p>
            <a:pPr indent="-114300" lvl="0" marL="0" marR="0" rtl="0" algn="l">
              <a:lnSpc>
                <a:spcPct val="95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 error reporting</a:t>
            </a:r>
            <a:endParaRPr/>
          </a:p>
          <a:p>
            <a:pPr indent="-114300" lvl="0" marL="0" marR="0" rtl="0" algn="l">
              <a:lnSpc>
                <a:spcPct val="95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 router “signaling”</a:t>
            </a:r>
            <a:endParaRPr b="0" i="0" sz="2000" u="none" cap="none" strike="noStrike">
              <a:solidFill>
                <a:srgbClr val="000000"/>
              </a:solidFill>
              <a:latin typeface="Calibri"/>
              <a:ea typeface="Calibri"/>
              <a:cs typeface="Calibri"/>
              <a:sym typeface="Calibri"/>
            </a:endParaRPr>
          </a:p>
        </p:txBody>
      </p:sp>
      <p:cxnSp>
        <p:nvCxnSpPr>
          <p:cNvPr id="992" name="Google Shape;992;p13"/>
          <p:cNvCxnSpPr/>
          <p:nvPr/>
        </p:nvCxnSpPr>
        <p:spPr>
          <a:xfrm flipH="1" rot="10800000">
            <a:off x="3156367" y="2825510"/>
            <a:ext cx="7366728" cy="10754"/>
          </a:xfrm>
          <a:prstGeom prst="straightConnector1">
            <a:avLst/>
          </a:prstGeom>
          <a:noFill/>
          <a:ln cap="flat" cmpd="sng" w="19050">
            <a:solidFill>
              <a:srgbClr val="000000"/>
            </a:solidFill>
            <a:prstDash val="solid"/>
            <a:round/>
            <a:headEnd len="med" w="med" type="none"/>
            <a:tailEnd len="med" w="med" type="none"/>
          </a:ln>
        </p:spPr>
      </p:cxnSp>
      <p:sp>
        <p:nvSpPr>
          <p:cNvPr id="993" name="Google Shape;993;p13"/>
          <p:cNvSpPr txBox="1"/>
          <p:nvPr/>
        </p:nvSpPr>
        <p:spPr>
          <a:xfrm>
            <a:off x="5347325" y="2318922"/>
            <a:ext cx="283763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transport layer: TCP, UDP</a:t>
            </a:r>
            <a:endParaRPr b="0" i="0" sz="2000" u="none" cap="none" strike="noStrike">
              <a:solidFill>
                <a:srgbClr val="000000"/>
              </a:solidFill>
              <a:latin typeface="Calibri"/>
              <a:ea typeface="Calibri"/>
              <a:cs typeface="Calibri"/>
              <a:sym typeface="Calibri"/>
            </a:endParaRPr>
          </a:p>
        </p:txBody>
      </p:sp>
      <p:sp>
        <p:nvSpPr>
          <p:cNvPr id="994" name="Google Shape;994;p13"/>
          <p:cNvSpPr txBox="1"/>
          <p:nvPr/>
        </p:nvSpPr>
        <p:spPr>
          <a:xfrm>
            <a:off x="6161947" y="5335692"/>
            <a:ext cx="112883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link layer</a:t>
            </a:r>
            <a:endParaRPr b="0" i="0" sz="2000" u="none" cap="none" strike="noStrike">
              <a:solidFill>
                <a:srgbClr val="000000"/>
              </a:solidFill>
              <a:latin typeface="Calibri"/>
              <a:ea typeface="Calibri"/>
              <a:cs typeface="Calibri"/>
              <a:sym typeface="Calibri"/>
            </a:endParaRPr>
          </a:p>
        </p:txBody>
      </p:sp>
      <p:sp>
        <p:nvSpPr>
          <p:cNvPr id="995" name="Google Shape;995;p13"/>
          <p:cNvSpPr txBox="1"/>
          <p:nvPr/>
        </p:nvSpPr>
        <p:spPr>
          <a:xfrm>
            <a:off x="6039527" y="5844577"/>
            <a:ext cx="159530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physical layer</a:t>
            </a:r>
            <a:endParaRPr b="0" i="0" sz="2000" u="none" cap="none" strike="noStrike">
              <a:solidFill>
                <a:srgbClr val="000000"/>
              </a:solidFill>
              <a:latin typeface="Calibri"/>
              <a:ea typeface="Calibri"/>
              <a:cs typeface="Calibri"/>
              <a:sym typeface="Calibri"/>
            </a:endParaRPr>
          </a:p>
        </p:txBody>
      </p:sp>
      <p:sp>
        <p:nvSpPr>
          <p:cNvPr id="996" name="Google Shape;996;p13"/>
          <p:cNvSpPr txBox="1"/>
          <p:nvPr/>
        </p:nvSpPr>
        <p:spPr>
          <a:xfrm>
            <a:off x="1664488" y="3618902"/>
            <a:ext cx="1406154" cy="9541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network</a:t>
            </a:r>
            <a:endParaRPr/>
          </a:p>
          <a:p>
            <a:pPr indent="0" lvl="0" marL="0" marR="0" rtl="0" algn="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layer</a:t>
            </a:r>
            <a:endParaRPr b="0" i="0" sz="2000" u="none" cap="none" strike="noStrike">
              <a:solidFill>
                <a:srgbClr val="CC0000"/>
              </a:solidFill>
              <a:latin typeface="Calibri"/>
              <a:ea typeface="Calibri"/>
              <a:cs typeface="Calibri"/>
              <a:sym typeface="Calibri"/>
            </a:endParaRPr>
          </a:p>
        </p:txBody>
      </p:sp>
      <p:cxnSp>
        <p:nvCxnSpPr>
          <p:cNvPr id="997" name="Google Shape;997;p13"/>
          <p:cNvCxnSpPr/>
          <p:nvPr/>
        </p:nvCxnSpPr>
        <p:spPr>
          <a:xfrm rot="10800000">
            <a:off x="2880142" y="2845789"/>
            <a:ext cx="0" cy="742950"/>
          </a:xfrm>
          <a:prstGeom prst="straightConnector1">
            <a:avLst/>
          </a:prstGeom>
          <a:noFill/>
          <a:ln cap="flat" cmpd="sng" w="28575">
            <a:solidFill>
              <a:srgbClr val="CC0000"/>
            </a:solidFill>
            <a:prstDash val="solid"/>
            <a:round/>
            <a:headEnd len="med" w="med" type="none"/>
            <a:tailEnd len="med" w="med" type="triangle"/>
          </a:ln>
        </p:spPr>
      </p:cxnSp>
      <p:cxnSp>
        <p:nvCxnSpPr>
          <p:cNvPr id="998" name="Google Shape;998;p13"/>
          <p:cNvCxnSpPr/>
          <p:nvPr/>
        </p:nvCxnSpPr>
        <p:spPr>
          <a:xfrm>
            <a:off x="2894578" y="4512664"/>
            <a:ext cx="0" cy="742950"/>
          </a:xfrm>
          <a:prstGeom prst="straightConnector1">
            <a:avLst/>
          </a:prstGeom>
          <a:noFill/>
          <a:ln cap="flat" cmpd="sng" w="28575">
            <a:solidFill>
              <a:srgbClr val="CC0000"/>
            </a:solidFill>
            <a:prstDash val="solid"/>
            <a:round/>
            <a:headEnd len="med" w="med" type="none"/>
            <a:tailEnd len="med" w="med" type="triangle"/>
          </a:ln>
        </p:spPr>
      </p:cxnSp>
      <p:grpSp>
        <p:nvGrpSpPr>
          <p:cNvPr id="999" name="Google Shape;999;p13"/>
          <p:cNvGrpSpPr/>
          <p:nvPr/>
        </p:nvGrpSpPr>
        <p:grpSpPr>
          <a:xfrm>
            <a:off x="3407866" y="3093438"/>
            <a:ext cx="3656521" cy="1988228"/>
            <a:chOff x="3407866" y="3093438"/>
            <a:chExt cx="3656521" cy="1988228"/>
          </a:xfrm>
        </p:grpSpPr>
        <p:grpSp>
          <p:nvGrpSpPr>
            <p:cNvPr id="1000" name="Google Shape;1000;p13"/>
            <p:cNvGrpSpPr/>
            <p:nvPr/>
          </p:nvGrpSpPr>
          <p:grpSpPr>
            <a:xfrm>
              <a:off x="5731569" y="3657572"/>
              <a:ext cx="1332818" cy="1171575"/>
              <a:chOff x="3972" y="2910"/>
              <a:chExt cx="649" cy="738"/>
            </a:xfrm>
          </p:grpSpPr>
          <p:sp>
            <p:nvSpPr>
              <p:cNvPr id="1001" name="Google Shape;1001;p13"/>
              <p:cNvSpPr/>
              <p:nvPr/>
            </p:nvSpPr>
            <p:spPr>
              <a:xfrm>
                <a:off x="3996" y="2910"/>
                <a:ext cx="582" cy="738"/>
              </a:xfrm>
              <a:prstGeom prst="rect">
                <a:avLst/>
              </a:prstGeom>
              <a:solidFill>
                <a:srgbClr val="FFFFFF"/>
              </a:solidFill>
              <a:ln cap="flat" cmpd="sng" w="19050">
                <a:solidFill>
                  <a:srgbClr val="000000"/>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1002" name="Google Shape;1002;p13"/>
              <p:cNvSpPr txBox="1"/>
              <p:nvPr/>
            </p:nvSpPr>
            <p:spPr>
              <a:xfrm>
                <a:off x="3972" y="3071"/>
                <a:ext cx="649"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forwarding</a:t>
                </a:r>
                <a:endParaRPr/>
              </a:p>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table</a:t>
                </a:r>
                <a:endParaRPr/>
              </a:p>
            </p:txBody>
          </p:sp>
          <p:cxnSp>
            <p:nvCxnSpPr>
              <p:cNvPr id="1003" name="Google Shape;1003;p13"/>
              <p:cNvCxnSpPr/>
              <p:nvPr/>
            </p:nvCxnSpPr>
            <p:spPr>
              <a:xfrm>
                <a:off x="4065" y="2994"/>
                <a:ext cx="435" cy="0"/>
              </a:xfrm>
              <a:prstGeom prst="straightConnector1">
                <a:avLst/>
              </a:prstGeom>
              <a:noFill/>
              <a:ln cap="flat" cmpd="sng" w="19050">
                <a:solidFill>
                  <a:srgbClr val="000000"/>
                </a:solidFill>
                <a:prstDash val="solid"/>
                <a:round/>
                <a:headEnd len="med" w="med" type="none"/>
                <a:tailEnd len="med" w="med" type="none"/>
              </a:ln>
            </p:spPr>
          </p:cxnSp>
          <p:cxnSp>
            <p:nvCxnSpPr>
              <p:cNvPr id="1004" name="Google Shape;1004;p13"/>
              <p:cNvCxnSpPr/>
              <p:nvPr/>
            </p:nvCxnSpPr>
            <p:spPr>
              <a:xfrm>
                <a:off x="4071" y="3048"/>
                <a:ext cx="435" cy="0"/>
              </a:xfrm>
              <a:prstGeom prst="straightConnector1">
                <a:avLst/>
              </a:prstGeom>
              <a:noFill/>
              <a:ln cap="flat" cmpd="sng" w="19050">
                <a:solidFill>
                  <a:srgbClr val="000000"/>
                </a:solidFill>
                <a:prstDash val="solid"/>
                <a:round/>
                <a:headEnd len="med" w="med" type="none"/>
                <a:tailEnd len="med" w="med" type="none"/>
              </a:ln>
            </p:spPr>
          </p:cxnSp>
          <p:cxnSp>
            <p:nvCxnSpPr>
              <p:cNvPr id="1005" name="Google Shape;1005;p13"/>
              <p:cNvCxnSpPr/>
              <p:nvPr/>
            </p:nvCxnSpPr>
            <p:spPr>
              <a:xfrm>
                <a:off x="4074" y="3102"/>
                <a:ext cx="435" cy="0"/>
              </a:xfrm>
              <a:prstGeom prst="straightConnector1">
                <a:avLst/>
              </a:prstGeom>
              <a:noFill/>
              <a:ln cap="flat" cmpd="sng" w="19050">
                <a:solidFill>
                  <a:srgbClr val="000000"/>
                </a:solidFill>
                <a:prstDash val="solid"/>
                <a:round/>
                <a:headEnd len="med" w="med" type="none"/>
                <a:tailEnd len="med" w="med" type="none"/>
              </a:ln>
            </p:spPr>
          </p:cxnSp>
          <p:cxnSp>
            <p:nvCxnSpPr>
              <p:cNvPr id="1006" name="Google Shape;1006;p13"/>
              <p:cNvCxnSpPr/>
              <p:nvPr/>
            </p:nvCxnSpPr>
            <p:spPr>
              <a:xfrm>
                <a:off x="4065" y="3477"/>
                <a:ext cx="435" cy="0"/>
              </a:xfrm>
              <a:prstGeom prst="straightConnector1">
                <a:avLst/>
              </a:prstGeom>
              <a:noFill/>
              <a:ln cap="flat" cmpd="sng" w="19050">
                <a:solidFill>
                  <a:srgbClr val="000000"/>
                </a:solidFill>
                <a:prstDash val="solid"/>
                <a:round/>
                <a:headEnd len="med" w="med" type="none"/>
                <a:tailEnd len="med" w="med" type="none"/>
              </a:ln>
            </p:spPr>
          </p:cxnSp>
          <p:cxnSp>
            <p:nvCxnSpPr>
              <p:cNvPr id="1007" name="Google Shape;1007;p13"/>
              <p:cNvCxnSpPr/>
              <p:nvPr/>
            </p:nvCxnSpPr>
            <p:spPr>
              <a:xfrm>
                <a:off x="4068" y="3528"/>
                <a:ext cx="435" cy="0"/>
              </a:xfrm>
              <a:prstGeom prst="straightConnector1">
                <a:avLst/>
              </a:prstGeom>
              <a:noFill/>
              <a:ln cap="flat" cmpd="sng" w="19050">
                <a:solidFill>
                  <a:srgbClr val="000000"/>
                </a:solidFill>
                <a:prstDash val="solid"/>
                <a:round/>
                <a:headEnd len="med" w="med" type="none"/>
                <a:tailEnd len="med" w="med" type="none"/>
              </a:ln>
            </p:spPr>
          </p:cxnSp>
          <p:cxnSp>
            <p:nvCxnSpPr>
              <p:cNvPr id="1008" name="Google Shape;1008;p13"/>
              <p:cNvCxnSpPr/>
              <p:nvPr/>
            </p:nvCxnSpPr>
            <p:spPr>
              <a:xfrm>
                <a:off x="4071" y="3579"/>
                <a:ext cx="435" cy="0"/>
              </a:xfrm>
              <a:prstGeom prst="straightConnector1">
                <a:avLst/>
              </a:prstGeom>
              <a:noFill/>
              <a:ln cap="flat" cmpd="sng" w="19050">
                <a:solidFill>
                  <a:srgbClr val="000000"/>
                </a:solidFill>
                <a:prstDash val="solid"/>
                <a:round/>
                <a:headEnd len="med" w="med" type="none"/>
                <a:tailEnd len="med" w="med" type="none"/>
              </a:ln>
            </p:spPr>
          </p:cxnSp>
        </p:grpSp>
        <p:sp>
          <p:nvSpPr>
            <p:cNvPr id="1009" name="Google Shape;1009;p13"/>
            <p:cNvSpPr/>
            <p:nvPr/>
          </p:nvSpPr>
          <p:spPr>
            <a:xfrm>
              <a:off x="3407866" y="3093438"/>
              <a:ext cx="2048551" cy="1988228"/>
            </a:xfrm>
            <a:prstGeom prst="rect">
              <a:avLst/>
            </a:prstGeom>
            <a:solidFill>
              <a:srgbClr val="FFFFFF"/>
            </a:solidFill>
            <a:ln cap="flat" cmpd="sng" w="19050">
              <a:solidFill>
                <a:srgbClr val="000000"/>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1010" name="Google Shape;1010;p13"/>
            <p:cNvSpPr txBox="1"/>
            <p:nvPr/>
          </p:nvSpPr>
          <p:spPr>
            <a:xfrm>
              <a:off x="3446596" y="3128879"/>
              <a:ext cx="2125210" cy="18466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Path-selection  algorithms: </a:t>
              </a:r>
              <a:r>
                <a:rPr b="0" i="0" lang="en-US" sz="2000" u="none" cap="none" strike="noStrike">
                  <a:solidFill>
                    <a:srgbClr val="000000"/>
                  </a:solidFill>
                  <a:latin typeface="Calibri"/>
                  <a:ea typeface="Calibri"/>
                  <a:cs typeface="Calibri"/>
                  <a:sym typeface="Calibri"/>
                </a:rPr>
                <a:t>implemented in </a:t>
              </a:r>
              <a:endParaRPr/>
            </a:p>
            <a:p>
              <a:pPr indent="-171450" lvl="0" marL="228600" marR="0" rtl="0" algn="l">
                <a:lnSpc>
                  <a:spcPct val="100000"/>
                </a:lnSpc>
                <a:spcBef>
                  <a:spcPts val="0"/>
                </a:spcBef>
                <a:spcAft>
                  <a:spcPts val="0"/>
                </a:spcAft>
                <a:buClr>
                  <a:srgbClr val="0000A3"/>
                </a:buClr>
                <a:buSzPts val="1800"/>
                <a:buFont typeface="Arial"/>
                <a:buChar char="•"/>
              </a:pPr>
              <a:r>
                <a:rPr b="0" i="0" lang="en-US" sz="1800" u="none" cap="none" strike="noStrike">
                  <a:solidFill>
                    <a:srgbClr val="000000"/>
                  </a:solidFill>
                  <a:latin typeface="Calibri"/>
                  <a:ea typeface="Calibri"/>
                  <a:cs typeface="Calibri"/>
                  <a:sym typeface="Calibri"/>
                </a:rPr>
                <a:t>routing protocols (OSPF, BGP)</a:t>
              </a:r>
              <a:endParaRPr/>
            </a:p>
            <a:p>
              <a:pPr indent="-171450" lvl="0" marL="228600" marR="0" rtl="0" algn="l">
                <a:lnSpc>
                  <a:spcPct val="100000"/>
                </a:lnSpc>
                <a:spcBef>
                  <a:spcPts val="0"/>
                </a:spcBef>
                <a:spcAft>
                  <a:spcPts val="0"/>
                </a:spcAft>
                <a:buClr>
                  <a:srgbClr val="0000A3"/>
                </a:buClr>
                <a:buSzPts val="1800"/>
                <a:buFont typeface="Arial"/>
                <a:buChar char="•"/>
              </a:pPr>
              <a:r>
                <a:rPr b="0" i="0" lang="en-US" sz="1800" u="none" cap="none" strike="noStrike">
                  <a:solidFill>
                    <a:srgbClr val="000000"/>
                  </a:solidFill>
                  <a:latin typeface="Calibri"/>
                  <a:ea typeface="Calibri"/>
                  <a:cs typeface="Calibri"/>
                  <a:sym typeface="Calibri"/>
                </a:rPr>
                <a:t>SDN controller</a:t>
              </a:r>
              <a:endParaRPr b="0" i="0" sz="2000" u="none" cap="none" strike="noStrike">
                <a:solidFill>
                  <a:srgbClr val="000000"/>
                </a:solidFill>
                <a:latin typeface="Calibri"/>
                <a:ea typeface="Calibri"/>
                <a:cs typeface="Calibri"/>
                <a:sym typeface="Calibri"/>
              </a:endParaRPr>
            </a:p>
          </p:txBody>
        </p:sp>
        <p:sp>
          <p:nvSpPr>
            <p:cNvPr id="1011" name="Google Shape;1011;p13"/>
            <p:cNvSpPr/>
            <p:nvPr/>
          </p:nvSpPr>
          <p:spPr>
            <a:xfrm rot="5400000">
              <a:off x="5728412" y="2923460"/>
              <a:ext cx="479687" cy="868680"/>
            </a:xfrm>
            <a:prstGeom prst="bentArrow">
              <a:avLst>
                <a:gd fmla="val 25000" name="adj1"/>
                <a:gd fmla="val 25000" name="adj2"/>
                <a:gd fmla="val 25000" name="adj3"/>
                <a:gd fmla="val 43750" name="adj4"/>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12" name="Google Shape;1012;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500"/>
                                        <p:tgtEl>
                                          <p:spTgt spid="9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500"/>
                                        <p:tgtEl>
                                          <p:spTgt spid="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500"/>
                                        <p:tgtEl>
                                          <p:spTgt spid="990"/>
                                        </p:tgtEl>
                                      </p:cBhvr>
                                    </p:animEffect>
                                  </p:childTnLst>
                                </p:cTn>
                              </p:par>
                              <p:par>
                                <p:cTn fill="hold" nodeType="with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500"/>
                                        <p:tgtEl>
                                          <p:spTgt spid="9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4"/>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Datagram format</a:t>
            </a:r>
            <a:endParaRPr/>
          </a:p>
        </p:txBody>
      </p:sp>
      <p:grpSp>
        <p:nvGrpSpPr>
          <p:cNvPr id="1019" name="Google Shape;1019;p14"/>
          <p:cNvGrpSpPr/>
          <p:nvPr/>
        </p:nvGrpSpPr>
        <p:grpSpPr>
          <a:xfrm>
            <a:off x="4441383" y="1263416"/>
            <a:ext cx="4040188" cy="5326062"/>
            <a:chOff x="1929" y="607"/>
            <a:chExt cx="2545" cy="3355"/>
          </a:xfrm>
        </p:grpSpPr>
        <p:sp>
          <p:nvSpPr>
            <p:cNvPr id="1020" name="Google Shape;1020;p14"/>
            <p:cNvSpPr/>
            <p:nvPr/>
          </p:nvSpPr>
          <p:spPr>
            <a:xfrm>
              <a:off x="1980" y="935"/>
              <a:ext cx="2489" cy="3027"/>
            </a:xfrm>
            <a:prstGeom prst="rect">
              <a:avLst/>
            </a:prstGeom>
            <a:solidFill>
              <a:srgbClr val="FFFFFF"/>
            </a:solidFill>
            <a:ln cap="flat" cmpd="sng" w="19050">
              <a:solidFill>
                <a:srgbClr val="000000"/>
              </a:solidFill>
              <a:prstDash val="solid"/>
              <a:miter lim="8000"/>
              <a:headEnd len="sm" w="sm" type="none"/>
              <a:tailEnd len="sm" w="sm" type="none"/>
            </a:ln>
            <a:effectLst>
              <a:outerShdw blurRad="1397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1" name="Google Shape;1021;p14"/>
            <p:cNvSpPr txBox="1"/>
            <p:nvPr/>
          </p:nvSpPr>
          <p:spPr>
            <a:xfrm>
              <a:off x="1954" y="973"/>
              <a:ext cx="31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ver</a:t>
              </a:r>
              <a:endParaRPr b="0" i="0" sz="2400" u="none" cap="none" strike="noStrike">
                <a:solidFill>
                  <a:srgbClr val="000000"/>
                </a:solidFill>
                <a:latin typeface="Arial"/>
                <a:ea typeface="Arial"/>
                <a:cs typeface="Arial"/>
                <a:sym typeface="Arial"/>
              </a:endParaRPr>
            </a:p>
          </p:txBody>
        </p:sp>
        <p:sp>
          <p:nvSpPr>
            <p:cNvPr id="1022" name="Google Shape;1022;p14"/>
            <p:cNvSpPr txBox="1"/>
            <p:nvPr/>
          </p:nvSpPr>
          <p:spPr>
            <a:xfrm>
              <a:off x="3529" y="1012"/>
              <a:ext cx="50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p:txBody>
        </p:sp>
        <p:cxnSp>
          <p:nvCxnSpPr>
            <p:cNvPr id="1023" name="Google Shape;1023;p14"/>
            <p:cNvCxnSpPr/>
            <p:nvPr/>
          </p:nvCxnSpPr>
          <p:spPr>
            <a:xfrm>
              <a:off x="1988" y="1261"/>
              <a:ext cx="2486" cy="3"/>
            </a:xfrm>
            <a:prstGeom prst="straightConnector1">
              <a:avLst/>
            </a:prstGeom>
            <a:noFill/>
            <a:ln cap="flat" cmpd="sng" w="19050">
              <a:solidFill>
                <a:srgbClr val="000000"/>
              </a:solidFill>
              <a:prstDash val="solid"/>
              <a:round/>
              <a:headEnd len="med" w="med" type="none"/>
              <a:tailEnd len="med" w="med" type="none"/>
            </a:ln>
          </p:spPr>
        </p:cxnSp>
        <p:cxnSp>
          <p:nvCxnSpPr>
            <p:cNvPr id="1024" name="Google Shape;1024;p14"/>
            <p:cNvCxnSpPr/>
            <p:nvPr/>
          </p:nvCxnSpPr>
          <p:spPr>
            <a:xfrm rot="10800000">
              <a:off x="3210" y="941"/>
              <a:ext cx="0" cy="319"/>
            </a:xfrm>
            <a:prstGeom prst="straightConnector1">
              <a:avLst/>
            </a:prstGeom>
            <a:noFill/>
            <a:ln cap="flat" cmpd="sng" w="19050">
              <a:solidFill>
                <a:srgbClr val="000000"/>
              </a:solidFill>
              <a:prstDash val="solid"/>
              <a:round/>
              <a:headEnd len="med" w="med" type="none"/>
              <a:tailEnd len="med" w="med" type="none"/>
            </a:ln>
          </p:spPr>
        </p:cxnSp>
        <p:sp>
          <p:nvSpPr>
            <p:cNvPr id="1025" name="Google Shape;1025;p14"/>
            <p:cNvSpPr txBox="1"/>
            <p:nvPr/>
          </p:nvSpPr>
          <p:spPr>
            <a:xfrm>
              <a:off x="2922" y="607"/>
              <a:ext cx="5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1026" name="Google Shape;1026;p14"/>
            <p:cNvCxnSpPr/>
            <p:nvPr/>
          </p:nvCxnSpPr>
          <p:spPr>
            <a:xfrm>
              <a:off x="3552" y="762"/>
              <a:ext cx="899" cy="3"/>
            </a:xfrm>
            <a:prstGeom prst="straightConnector1">
              <a:avLst/>
            </a:prstGeom>
            <a:noFill/>
            <a:ln cap="flat" cmpd="sng" w="19050">
              <a:solidFill>
                <a:srgbClr val="000000"/>
              </a:solidFill>
              <a:prstDash val="solid"/>
              <a:round/>
              <a:headEnd len="med" w="med" type="none"/>
              <a:tailEnd len="med" w="med" type="triangle"/>
            </a:ln>
          </p:spPr>
        </p:cxnSp>
        <p:cxnSp>
          <p:nvCxnSpPr>
            <p:cNvPr id="1027" name="Google Shape;1027;p14"/>
            <p:cNvCxnSpPr/>
            <p:nvPr/>
          </p:nvCxnSpPr>
          <p:spPr>
            <a:xfrm rot="10800000">
              <a:off x="1972" y="769"/>
              <a:ext cx="845" cy="0"/>
            </a:xfrm>
            <a:prstGeom prst="straightConnector1">
              <a:avLst/>
            </a:prstGeom>
            <a:noFill/>
            <a:ln cap="flat" cmpd="sng" w="19050">
              <a:solidFill>
                <a:srgbClr val="000000"/>
              </a:solidFill>
              <a:prstDash val="solid"/>
              <a:round/>
              <a:headEnd len="med" w="med" type="none"/>
              <a:tailEnd len="med" w="med" type="triangle"/>
            </a:ln>
          </p:spPr>
        </p:cxnSp>
        <p:sp>
          <p:nvSpPr>
            <p:cNvPr id="1028" name="Google Shape;1028;p14"/>
            <p:cNvSpPr txBox="1"/>
            <p:nvPr/>
          </p:nvSpPr>
          <p:spPr>
            <a:xfrm>
              <a:off x="2578" y="2943"/>
              <a:ext cx="1351" cy="8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payload 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typically a TCP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 UDP segment)</a:t>
              </a:r>
              <a:endParaRPr b="0" i="0" sz="2400" u="none" cap="none" strike="noStrike">
                <a:solidFill>
                  <a:srgbClr val="000000"/>
                </a:solidFill>
                <a:latin typeface="Arial"/>
                <a:ea typeface="Arial"/>
                <a:cs typeface="Arial"/>
                <a:sym typeface="Arial"/>
              </a:endParaRPr>
            </a:p>
          </p:txBody>
        </p:sp>
        <p:sp>
          <p:nvSpPr>
            <p:cNvPr id="1029" name="Google Shape;1029;p14"/>
            <p:cNvSpPr txBox="1"/>
            <p:nvPr/>
          </p:nvSpPr>
          <p:spPr>
            <a:xfrm>
              <a:off x="1929" y="1320"/>
              <a:ext cx="135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16-bit identifier</a:t>
              </a:r>
              <a:endParaRPr b="0" i="0" sz="2000" u="none" cap="none" strike="noStrike">
                <a:solidFill>
                  <a:srgbClr val="000000"/>
                </a:solidFill>
                <a:latin typeface="Arial"/>
                <a:ea typeface="Arial"/>
                <a:cs typeface="Arial"/>
                <a:sym typeface="Arial"/>
              </a:endParaRPr>
            </a:p>
          </p:txBody>
        </p:sp>
        <p:cxnSp>
          <p:nvCxnSpPr>
            <p:cNvPr id="1030" name="Google Shape;1030;p14"/>
            <p:cNvCxnSpPr/>
            <p:nvPr/>
          </p:nvCxnSpPr>
          <p:spPr>
            <a:xfrm>
              <a:off x="1984" y="2205"/>
              <a:ext cx="2489" cy="0"/>
            </a:xfrm>
            <a:prstGeom prst="straightConnector1">
              <a:avLst/>
            </a:prstGeom>
            <a:noFill/>
            <a:ln cap="flat" cmpd="sng" w="19050">
              <a:solidFill>
                <a:srgbClr val="000000"/>
              </a:solidFill>
              <a:prstDash val="solid"/>
              <a:round/>
              <a:headEnd len="med" w="med" type="none"/>
              <a:tailEnd len="med" w="med" type="none"/>
            </a:ln>
          </p:spPr>
        </p:cxnSp>
        <p:cxnSp>
          <p:nvCxnSpPr>
            <p:cNvPr id="1031" name="Google Shape;1031;p14"/>
            <p:cNvCxnSpPr/>
            <p:nvPr/>
          </p:nvCxnSpPr>
          <p:spPr>
            <a:xfrm>
              <a:off x="1984" y="2505"/>
              <a:ext cx="2489" cy="0"/>
            </a:xfrm>
            <a:prstGeom prst="straightConnector1">
              <a:avLst/>
            </a:prstGeom>
            <a:noFill/>
            <a:ln cap="flat" cmpd="sng" w="19050">
              <a:solidFill>
                <a:srgbClr val="000000"/>
              </a:solidFill>
              <a:prstDash val="solid"/>
              <a:round/>
              <a:headEnd len="med" w="med" type="none"/>
              <a:tailEnd len="med" w="med" type="none"/>
            </a:ln>
          </p:spPr>
        </p:cxnSp>
        <p:sp>
          <p:nvSpPr>
            <p:cNvPr id="1032" name="Google Shape;1032;p14"/>
            <p:cNvSpPr txBox="1"/>
            <p:nvPr/>
          </p:nvSpPr>
          <p:spPr>
            <a:xfrm>
              <a:off x="3464" y="1549"/>
              <a:ext cx="80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checksum</a:t>
              </a:r>
              <a:endParaRPr/>
            </a:p>
          </p:txBody>
        </p:sp>
        <p:sp>
          <p:nvSpPr>
            <p:cNvPr id="1033" name="Google Shape;1033;p14"/>
            <p:cNvSpPr txBox="1"/>
            <p:nvPr/>
          </p:nvSpPr>
          <p:spPr>
            <a:xfrm>
              <a:off x="2008" y="1531"/>
              <a:ext cx="54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 to</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live</a:t>
              </a:r>
              <a:endParaRPr/>
            </a:p>
          </p:txBody>
        </p:sp>
        <p:sp>
          <p:nvSpPr>
            <p:cNvPr id="1034" name="Google Shape;1034;p14"/>
            <p:cNvSpPr txBox="1"/>
            <p:nvPr/>
          </p:nvSpPr>
          <p:spPr>
            <a:xfrm>
              <a:off x="2539" y="1959"/>
              <a:ext cx="1328"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source IP address</a:t>
              </a:r>
              <a:endParaRPr b="0" i="0" sz="2400" u="none" cap="none" strike="noStrike">
                <a:solidFill>
                  <a:srgbClr val="000000"/>
                </a:solidFill>
                <a:latin typeface="Arial"/>
                <a:ea typeface="Arial"/>
                <a:cs typeface="Arial"/>
                <a:sym typeface="Arial"/>
              </a:endParaRPr>
            </a:p>
          </p:txBody>
        </p:sp>
        <p:sp>
          <p:nvSpPr>
            <p:cNvPr id="1035" name="Google Shape;1035;p14"/>
            <p:cNvSpPr txBox="1"/>
            <p:nvPr/>
          </p:nvSpPr>
          <p:spPr>
            <a:xfrm>
              <a:off x="2222" y="907"/>
              <a:ext cx="47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a:t>
              </a:r>
              <a:endParaRPr b="0" i="0" sz="2400" u="none" cap="none" strike="noStrike">
                <a:solidFill>
                  <a:srgbClr val="000000"/>
                </a:solidFill>
                <a:latin typeface="Arial"/>
                <a:ea typeface="Arial"/>
                <a:cs typeface="Arial"/>
                <a:sym typeface="Arial"/>
              </a:endParaRPr>
            </a:p>
          </p:txBody>
        </p:sp>
        <p:sp>
          <p:nvSpPr>
            <p:cNvPr id="1036" name="Google Shape;1036;p14"/>
            <p:cNvSpPr txBox="1"/>
            <p:nvPr/>
          </p:nvSpPr>
          <p:spPr>
            <a:xfrm>
              <a:off x="2646" y="901"/>
              <a:ext cx="572"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type of</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service</a:t>
              </a:r>
              <a:endParaRPr b="0" i="0" sz="2400" u="none" cap="none" strike="noStrike">
                <a:solidFill>
                  <a:srgbClr val="000000"/>
                </a:solidFill>
                <a:latin typeface="Arial"/>
                <a:ea typeface="Arial"/>
                <a:cs typeface="Arial"/>
                <a:sym typeface="Arial"/>
              </a:endParaRPr>
            </a:p>
          </p:txBody>
        </p:sp>
        <p:cxnSp>
          <p:nvCxnSpPr>
            <p:cNvPr id="1037" name="Google Shape;1037;p14"/>
            <p:cNvCxnSpPr/>
            <p:nvPr/>
          </p:nvCxnSpPr>
          <p:spPr>
            <a:xfrm rot="10800000">
              <a:off x="2646" y="938"/>
              <a:ext cx="0" cy="319"/>
            </a:xfrm>
            <a:prstGeom prst="straightConnector1">
              <a:avLst/>
            </a:prstGeom>
            <a:noFill/>
            <a:ln cap="flat" cmpd="sng" w="19050">
              <a:solidFill>
                <a:srgbClr val="000000"/>
              </a:solidFill>
              <a:prstDash val="solid"/>
              <a:round/>
              <a:headEnd len="med" w="med" type="none"/>
              <a:tailEnd len="med" w="med" type="none"/>
            </a:ln>
          </p:spPr>
        </p:cxnSp>
        <p:cxnSp>
          <p:nvCxnSpPr>
            <p:cNvPr id="1038" name="Google Shape;1038;p14"/>
            <p:cNvCxnSpPr/>
            <p:nvPr/>
          </p:nvCxnSpPr>
          <p:spPr>
            <a:xfrm rot="10800000">
              <a:off x="2259" y="944"/>
              <a:ext cx="0" cy="319"/>
            </a:xfrm>
            <a:prstGeom prst="straightConnector1">
              <a:avLst/>
            </a:prstGeom>
            <a:noFill/>
            <a:ln cap="flat" cmpd="sng" w="19050">
              <a:solidFill>
                <a:srgbClr val="000000"/>
              </a:solidFill>
              <a:prstDash val="solid"/>
              <a:round/>
              <a:headEnd len="med" w="med" type="none"/>
              <a:tailEnd len="med" w="med" type="none"/>
            </a:ln>
          </p:spPr>
        </p:cxnSp>
        <p:cxnSp>
          <p:nvCxnSpPr>
            <p:cNvPr id="1039" name="Google Shape;1039;p14"/>
            <p:cNvCxnSpPr/>
            <p:nvPr/>
          </p:nvCxnSpPr>
          <p:spPr>
            <a:xfrm rot="10800000">
              <a:off x="3210" y="1265"/>
              <a:ext cx="0" cy="319"/>
            </a:xfrm>
            <a:prstGeom prst="straightConnector1">
              <a:avLst/>
            </a:prstGeom>
            <a:noFill/>
            <a:ln cap="flat" cmpd="sng" w="19050">
              <a:solidFill>
                <a:srgbClr val="000000"/>
              </a:solidFill>
              <a:prstDash val="solid"/>
              <a:round/>
              <a:headEnd len="med" w="med" type="none"/>
              <a:tailEnd len="med" w="med" type="none"/>
            </a:ln>
          </p:spPr>
        </p:cxnSp>
        <p:sp>
          <p:nvSpPr>
            <p:cNvPr id="1040" name="Google Shape;1040;p14"/>
            <p:cNvSpPr txBox="1"/>
            <p:nvPr/>
          </p:nvSpPr>
          <p:spPr>
            <a:xfrm>
              <a:off x="3117" y="1314"/>
              <a:ext cx="48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flgs</a:t>
              </a:r>
              <a:endParaRPr b="0" i="0" sz="2000" u="none" cap="none" strike="noStrike">
                <a:solidFill>
                  <a:srgbClr val="000000"/>
                </a:solidFill>
                <a:latin typeface="Arial"/>
                <a:ea typeface="Arial"/>
                <a:cs typeface="Arial"/>
                <a:sym typeface="Arial"/>
              </a:endParaRPr>
            </a:p>
          </p:txBody>
        </p:sp>
        <p:cxnSp>
          <p:nvCxnSpPr>
            <p:cNvPr id="1041" name="Google Shape;1041;p14"/>
            <p:cNvCxnSpPr/>
            <p:nvPr/>
          </p:nvCxnSpPr>
          <p:spPr>
            <a:xfrm rot="10800000">
              <a:off x="3504" y="1259"/>
              <a:ext cx="0" cy="319"/>
            </a:xfrm>
            <a:prstGeom prst="straightConnector1">
              <a:avLst/>
            </a:prstGeom>
            <a:noFill/>
            <a:ln cap="flat" cmpd="sng" w="19050">
              <a:solidFill>
                <a:srgbClr val="000000"/>
              </a:solidFill>
              <a:prstDash val="solid"/>
              <a:round/>
              <a:headEnd len="med" w="med" type="none"/>
              <a:tailEnd len="med" w="med" type="none"/>
            </a:ln>
          </p:spPr>
        </p:cxnSp>
        <p:sp>
          <p:nvSpPr>
            <p:cNvPr id="1042" name="Google Shape;1042;p14"/>
            <p:cNvSpPr txBox="1"/>
            <p:nvPr/>
          </p:nvSpPr>
          <p:spPr>
            <a:xfrm>
              <a:off x="3531" y="1230"/>
              <a:ext cx="900"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fragment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offset</a:t>
              </a:r>
              <a:endParaRPr b="0" i="0" sz="2000" u="none" cap="none" strike="noStrike">
                <a:solidFill>
                  <a:srgbClr val="000000"/>
                </a:solidFill>
                <a:latin typeface="Arial"/>
                <a:ea typeface="Arial"/>
                <a:cs typeface="Arial"/>
                <a:sym typeface="Arial"/>
              </a:endParaRPr>
            </a:p>
          </p:txBody>
        </p:sp>
        <p:cxnSp>
          <p:nvCxnSpPr>
            <p:cNvPr id="1043" name="Google Shape;1043;p14"/>
            <p:cNvCxnSpPr/>
            <p:nvPr/>
          </p:nvCxnSpPr>
          <p:spPr>
            <a:xfrm>
              <a:off x="1984" y="1581"/>
              <a:ext cx="2489" cy="0"/>
            </a:xfrm>
            <a:prstGeom prst="straightConnector1">
              <a:avLst/>
            </a:prstGeom>
            <a:noFill/>
            <a:ln cap="flat" cmpd="sng" w="19050">
              <a:solidFill>
                <a:srgbClr val="000000"/>
              </a:solidFill>
              <a:prstDash val="solid"/>
              <a:round/>
              <a:headEnd len="med" w="med" type="none"/>
              <a:tailEnd len="med" w="med" type="none"/>
            </a:ln>
          </p:spPr>
        </p:cxnSp>
        <p:cxnSp>
          <p:nvCxnSpPr>
            <p:cNvPr id="1044" name="Google Shape;1044;p14"/>
            <p:cNvCxnSpPr/>
            <p:nvPr/>
          </p:nvCxnSpPr>
          <p:spPr>
            <a:xfrm rot="10800000">
              <a:off x="3210" y="1583"/>
              <a:ext cx="0" cy="319"/>
            </a:xfrm>
            <a:prstGeom prst="straightConnector1">
              <a:avLst/>
            </a:prstGeom>
            <a:noFill/>
            <a:ln cap="flat" cmpd="sng" w="19050">
              <a:solidFill>
                <a:srgbClr val="000000"/>
              </a:solidFill>
              <a:prstDash val="solid"/>
              <a:round/>
              <a:headEnd len="med" w="med" type="none"/>
              <a:tailEnd len="med" w="med" type="none"/>
            </a:ln>
          </p:spPr>
        </p:cxnSp>
        <p:cxnSp>
          <p:nvCxnSpPr>
            <p:cNvPr id="1045" name="Google Shape;1045;p14"/>
            <p:cNvCxnSpPr/>
            <p:nvPr/>
          </p:nvCxnSpPr>
          <p:spPr>
            <a:xfrm>
              <a:off x="1972" y="1905"/>
              <a:ext cx="2489" cy="0"/>
            </a:xfrm>
            <a:prstGeom prst="straightConnector1">
              <a:avLst/>
            </a:prstGeom>
            <a:noFill/>
            <a:ln cap="flat" cmpd="sng" w="19050">
              <a:solidFill>
                <a:srgbClr val="000000"/>
              </a:solidFill>
              <a:prstDash val="solid"/>
              <a:round/>
              <a:headEnd len="med" w="med" type="none"/>
              <a:tailEnd len="med" w="med" type="none"/>
            </a:ln>
          </p:spPr>
        </p:cxnSp>
        <p:sp>
          <p:nvSpPr>
            <p:cNvPr id="1046" name="Google Shape;1046;p14"/>
            <p:cNvSpPr txBox="1"/>
            <p:nvPr/>
          </p:nvSpPr>
          <p:spPr>
            <a:xfrm>
              <a:off x="2668" y="1525"/>
              <a:ext cx="48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upper</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layer</a:t>
              </a:r>
              <a:endParaRPr/>
            </a:p>
          </p:txBody>
        </p:sp>
        <p:cxnSp>
          <p:nvCxnSpPr>
            <p:cNvPr id="1047" name="Google Shape;1047;p14"/>
            <p:cNvCxnSpPr/>
            <p:nvPr/>
          </p:nvCxnSpPr>
          <p:spPr>
            <a:xfrm rot="10800000">
              <a:off x="2610" y="1589"/>
              <a:ext cx="0" cy="319"/>
            </a:xfrm>
            <a:prstGeom prst="straightConnector1">
              <a:avLst/>
            </a:prstGeom>
            <a:noFill/>
            <a:ln cap="flat" cmpd="sng" w="19050">
              <a:solidFill>
                <a:srgbClr val="000000"/>
              </a:solidFill>
              <a:prstDash val="solid"/>
              <a:round/>
              <a:headEnd len="med" w="med" type="none"/>
              <a:tailEnd len="med" w="med" type="none"/>
            </a:ln>
          </p:spPr>
        </p:cxnSp>
        <p:sp>
          <p:nvSpPr>
            <p:cNvPr id="1048" name="Google Shape;1048;p14"/>
            <p:cNvSpPr txBox="1"/>
            <p:nvPr/>
          </p:nvSpPr>
          <p:spPr>
            <a:xfrm>
              <a:off x="2450" y="2235"/>
              <a:ext cx="1554"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IP address</a:t>
              </a:r>
              <a:endParaRPr b="0" i="0" sz="2400" u="none" cap="none" strike="noStrike">
                <a:solidFill>
                  <a:srgbClr val="000000"/>
                </a:solidFill>
                <a:latin typeface="Arial"/>
                <a:ea typeface="Arial"/>
                <a:cs typeface="Arial"/>
                <a:sym typeface="Arial"/>
              </a:endParaRPr>
            </a:p>
          </p:txBody>
        </p:sp>
        <p:cxnSp>
          <p:nvCxnSpPr>
            <p:cNvPr id="1049" name="Google Shape;1049;p14"/>
            <p:cNvCxnSpPr/>
            <p:nvPr/>
          </p:nvCxnSpPr>
          <p:spPr>
            <a:xfrm>
              <a:off x="1984" y="2787"/>
              <a:ext cx="2489" cy="0"/>
            </a:xfrm>
            <a:prstGeom prst="straightConnector1">
              <a:avLst/>
            </a:prstGeom>
            <a:noFill/>
            <a:ln cap="flat" cmpd="sng" w="19050">
              <a:solidFill>
                <a:srgbClr val="000000"/>
              </a:solidFill>
              <a:prstDash val="solid"/>
              <a:round/>
              <a:headEnd len="med" w="med" type="none"/>
              <a:tailEnd len="med" w="med" type="none"/>
            </a:ln>
          </p:spPr>
        </p:cxnSp>
        <p:sp>
          <p:nvSpPr>
            <p:cNvPr id="1050" name="Google Shape;1050;p14"/>
            <p:cNvSpPr txBox="1"/>
            <p:nvPr/>
          </p:nvSpPr>
          <p:spPr>
            <a:xfrm>
              <a:off x="2673" y="2529"/>
              <a:ext cx="106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options (if any)</a:t>
              </a:r>
              <a:endParaRPr b="0" i="0" sz="2400" u="none" cap="none" strike="noStrike">
                <a:solidFill>
                  <a:srgbClr val="000000"/>
                </a:solidFill>
                <a:latin typeface="Arial"/>
                <a:ea typeface="Arial"/>
                <a:cs typeface="Arial"/>
                <a:sym typeface="Arial"/>
              </a:endParaRPr>
            </a:p>
          </p:txBody>
        </p:sp>
      </p:grpSp>
      <p:grpSp>
        <p:nvGrpSpPr>
          <p:cNvPr id="1051" name="Google Shape;1051;p14"/>
          <p:cNvGrpSpPr/>
          <p:nvPr/>
        </p:nvGrpSpPr>
        <p:grpSpPr>
          <a:xfrm>
            <a:off x="1064770" y="1650761"/>
            <a:ext cx="3598863" cy="369886"/>
            <a:chOff x="-198" y="851"/>
            <a:chExt cx="2267" cy="233"/>
          </a:xfrm>
        </p:grpSpPr>
        <p:sp>
          <p:nvSpPr>
            <p:cNvPr id="1052" name="Google Shape;1052;p14"/>
            <p:cNvSpPr txBox="1"/>
            <p:nvPr/>
          </p:nvSpPr>
          <p:spPr>
            <a:xfrm>
              <a:off x="-198" y="851"/>
              <a:ext cx="1965"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 protocol version number</a:t>
              </a:r>
              <a:endParaRPr b="0" i="0" sz="1000" u="none" cap="none" strike="noStrike">
                <a:solidFill>
                  <a:srgbClr val="000000"/>
                </a:solidFill>
                <a:latin typeface="Arial"/>
                <a:ea typeface="Arial"/>
                <a:cs typeface="Arial"/>
                <a:sym typeface="Arial"/>
              </a:endParaRPr>
            </a:p>
          </p:txBody>
        </p:sp>
        <p:cxnSp>
          <p:nvCxnSpPr>
            <p:cNvPr id="1053" name="Google Shape;1053;p14"/>
            <p:cNvCxnSpPr/>
            <p:nvPr/>
          </p:nvCxnSpPr>
          <p:spPr>
            <a:xfrm>
              <a:off x="1740" y="996"/>
              <a:ext cx="329" cy="0"/>
            </a:xfrm>
            <a:prstGeom prst="straightConnector1">
              <a:avLst/>
            </a:prstGeom>
            <a:noFill/>
            <a:ln cap="flat" cmpd="sng" w="19050">
              <a:solidFill>
                <a:srgbClr val="C00000"/>
              </a:solidFill>
              <a:prstDash val="solid"/>
              <a:round/>
              <a:headEnd len="med" w="med" type="none"/>
              <a:tailEnd len="med" w="med" type="none"/>
            </a:ln>
          </p:spPr>
        </p:cxnSp>
      </p:grpSp>
      <p:grpSp>
        <p:nvGrpSpPr>
          <p:cNvPr id="1054" name="Google Shape;1054;p14"/>
          <p:cNvGrpSpPr/>
          <p:nvPr/>
        </p:nvGrpSpPr>
        <p:grpSpPr>
          <a:xfrm>
            <a:off x="1228282" y="2004782"/>
            <a:ext cx="3817939" cy="369888"/>
            <a:chOff x="-95" y="1074"/>
            <a:chExt cx="2405" cy="233"/>
          </a:xfrm>
        </p:grpSpPr>
        <p:sp>
          <p:nvSpPr>
            <p:cNvPr id="1055" name="Google Shape;1055;p14"/>
            <p:cNvSpPr txBox="1"/>
            <p:nvPr/>
          </p:nvSpPr>
          <p:spPr>
            <a:xfrm>
              <a:off x="-95" y="1074"/>
              <a:ext cx="1855"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 length(bytes)</a:t>
              </a:r>
              <a:endParaRPr b="0" i="0" sz="1000" u="none" cap="none" strike="noStrike">
                <a:solidFill>
                  <a:srgbClr val="000000"/>
                </a:solidFill>
                <a:latin typeface="Arial"/>
                <a:ea typeface="Arial"/>
                <a:cs typeface="Arial"/>
                <a:sym typeface="Arial"/>
              </a:endParaRPr>
            </a:p>
          </p:txBody>
        </p:sp>
        <p:cxnSp>
          <p:nvCxnSpPr>
            <p:cNvPr id="1056" name="Google Shape;1056;p14"/>
            <p:cNvCxnSpPr/>
            <p:nvPr/>
          </p:nvCxnSpPr>
          <p:spPr>
            <a:xfrm>
              <a:off x="1748" y="1184"/>
              <a:ext cx="562" cy="0"/>
            </a:xfrm>
            <a:prstGeom prst="straightConnector1">
              <a:avLst/>
            </a:prstGeom>
            <a:noFill/>
            <a:ln cap="flat" cmpd="sng" w="19050">
              <a:solidFill>
                <a:srgbClr val="C00000"/>
              </a:solidFill>
              <a:prstDash val="solid"/>
              <a:round/>
              <a:headEnd len="med" w="med" type="none"/>
              <a:tailEnd len="med" w="med" type="none"/>
            </a:ln>
          </p:spPr>
        </p:cxnSp>
      </p:grpSp>
      <p:grpSp>
        <p:nvGrpSpPr>
          <p:cNvPr id="1057" name="Google Shape;1057;p14"/>
          <p:cNvGrpSpPr/>
          <p:nvPr/>
        </p:nvGrpSpPr>
        <p:grpSpPr>
          <a:xfrm>
            <a:off x="151955" y="3111541"/>
            <a:ext cx="5535615" cy="1247776"/>
            <a:chOff x="-773" y="1434"/>
            <a:chExt cx="3487" cy="786"/>
          </a:xfrm>
        </p:grpSpPr>
        <p:sp>
          <p:nvSpPr>
            <p:cNvPr id="1058" name="Google Shape;1058;p14"/>
            <p:cNvSpPr txBox="1"/>
            <p:nvPr/>
          </p:nvSpPr>
          <p:spPr>
            <a:xfrm>
              <a:off x="-773" y="1987"/>
              <a:ext cx="2568"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upper layer protocol </a:t>
              </a:r>
              <a:r>
                <a:rPr b="0" i="0" lang="en-US" sz="1600" u="none" cap="none" strike="noStrike">
                  <a:solidFill>
                    <a:srgbClr val="000000"/>
                  </a:solidFill>
                  <a:latin typeface="Arial"/>
                  <a:ea typeface="Arial"/>
                  <a:cs typeface="Arial"/>
                  <a:sym typeface="Arial"/>
                </a:rPr>
                <a:t>(e.g., TCP or UDP)</a:t>
              </a:r>
              <a:endParaRPr b="0" i="0" sz="1800" u="none" cap="none" strike="noStrike">
                <a:solidFill>
                  <a:srgbClr val="000000"/>
                </a:solidFill>
                <a:latin typeface="Arial"/>
                <a:ea typeface="Arial"/>
                <a:cs typeface="Arial"/>
                <a:sym typeface="Arial"/>
              </a:endParaRPr>
            </a:p>
          </p:txBody>
        </p:sp>
        <p:cxnSp>
          <p:nvCxnSpPr>
            <p:cNvPr id="1059" name="Google Shape;1059;p14"/>
            <p:cNvCxnSpPr/>
            <p:nvPr/>
          </p:nvCxnSpPr>
          <p:spPr>
            <a:xfrm flipH="1" rot="10800000">
              <a:off x="1766" y="1434"/>
              <a:ext cx="948" cy="672"/>
            </a:xfrm>
            <a:prstGeom prst="straightConnector1">
              <a:avLst/>
            </a:prstGeom>
            <a:noFill/>
            <a:ln cap="flat" cmpd="sng" w="19050">
              <a:solidFill>
                <a:srgbClr val="C00000"/>
              </a:solidFill>
              <a:prstDash val="solid"/>
              <a:round/>
              <a:headEnd len="med" w="med" type="none"/>
              <a:tailEnd len="med" w="med" type="none"/>
            </a:ln>
          </p:spPr>
        </p:cxnSp>
      </p:grpSp>
      <p:grpSp>
        <p:nvGrpSpPr>
          <p:cNvPr id="1060" name="Google Shape;1060;p14"/>
          <p:cNvGrpSpPr/>
          <p:nvPr/>
        </p:nvGrpSpPr>
        <p:grpSpPr>
          <a:xfrm>
            <a:off x="8102158" y="1652352"/>
            <a:ext cx="2322512" cy="641350"/>
            <a:chOff x="4235" y="852"/>
            <a:chExt cx="1463" cy="404"/>
          </a:xfrm>
        </p:grpSpPr>
        <p:sp>
          <p:nvSpPr>
            <p:cNvPr id="1061" name="Google Shape;1061;p14"/>
            <p:cNvSpPr txBox="1"/>
            <p:nvPr/>
          </p:nvSpPr>
          <p:spPr>
            <a:xfrm>
              <a:off x="4662" y="852"/>
              <a:ext cx="1036"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total datagram</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 (bytes)</a:t>
              </a:r>
              <a:endParaRPr/>
            </a:p>
          </p:txBody>
        </p:sp>
        <p:cxnSp>
          <p:nvCxnSpPr>
            <p:cNvPr id="1062" name="Google Shape;1062;p14"/>
            <p:cNvCxnSpPr/>
            <p:nvPr/>
          </p:nvCxnSpPr>
          <p:spPr>
            <a:xfrm rot="10800000">
              <a:off x="4235" y="1149"/>
              <a:ext cx="429" cy="0"/>
            </a:xfrm>
            <a:prstGeom prst="straightConnector1">
              <a:avLst/>
            </a:prstGeom>
            <a:noFill/>
            <a:ln cap="flat" cmpd="sng" w="19050">
              <a:solidFill>
                <a:srgbClr val="C00000"/>
              </a:solidFill>
              <a:prstDash val="solid"/>
              <a:round/>
              <a:headEnd len="med" w="med" type="none"/>
              <a:tailEnd len="med" w="med" type="none"/>
            </a:ln>
          </p:spPr>
        </p:cxnSp>
      </p:grpSp>
      <p:grpSp>
        <p:nvGrpSpPr>
          <p:cNvPr id="1063" name="Google Shape;1063;p14"/>
          <p:cNvGrpSpPr/>
          <p:nvPr/>
        </p:nvGrpSpPr>
        <p:grpSpPr>
          <a:xfrm>
            <a:off x="2323661" y="2060348"/>
            <a:ext cx="3378202" cy="1452568"/>
            <a:chOff x="595" y="1109"/>
            <a:chExt cx="2128" cy="915"/>
          </a:xfrm>
        </p:grpSpPr>
        <p:sp>
          <p:nvSpPr>
            <p:cNvPr id="1064" name="Google Shape;1064;p14"/>
            <p:cNvSpPr txBox="1"/>
            <p:nvPr/>
          </p:nvSpPr>
          <p:spPr>
            <a:xfrm>
              <a:off x="595" y="1307"/>
              <a:ext cx="1202" cy="7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“type” of service:</a:t>
              </a:r>
              <a:endParaRPr/>
            </a:p>
            <a:p>
              <a:pPr indent="-165100" lvl="0" marL="285750" marR="0" rtl="0" algn="l">
                <a:lnSpc>
                  <a:spcPct val="100000"/>
                </a:lnSpc>
                <a:spcBef>
                  <a:spcPts val="0"/>
                </a:spcBef>
                <a:spcAft>
                  <a:spcPts val="0"/>
                </a:spcAft>
                <a:buClr>
                  <a:srgbClr val="0000A8"/>
                </a:buClr>
                <a:buSzPts val="1600"/>
                <a:buFont typeface="Noto Sans Symbols"/>
                <a:buChar char="▪"/>
              </a:pPr>
              <a:r>
                <a:rPr b="0" i="0" lang="en-US" sz="1600" u="none" cap="none" strike="noStrike">
                  <a:solidFill>
                    <a:srgbClr val="000000"/>
                  </a:solidFill>
                  <a:latin typeface="Arial"/>
                  <a:ea typeface="Arial"/>
                  <a:cs typeface="Arial"/>
                  <a:sym typeface="Arial"/>
                </a:rPr>
                <a:t>diffserv (0:5)</a:t>
              </a:r>
              <a:endParaRPr/>
            </a:p>
            <a:p>
              <a:pPr indent="-165100" lvl="0" marL="285750" marR="0" rtl="0" algn="l">
                <a:lnSpc>
                  <a:spcPct val="100000"/>
                </a:lnSpc>
                <a:spcBef>
                  <a:spcPts val="0"/>
                </a:spcBef>
                <a:spcAft>
                  <a:spcPts val="0"/>
                </a:spcAft>
                <a:buClr>
                  <a:srgbClr val="0000A8"/>
                </a:buClr>
                <a:buSzPts val="1600"/>
                <a:buFont typeface="Noto Sans Symbols"/>
                <a:buChar char="▪"/>
              </a:pPr>
              <a:r>
                <a:rPr b="0" i="0" lang="en-US" sz="1600" u="none" cap="none" strike="noStrike">
                  <a:solidFill>
                    <a:srgbClr val="000000"/>
                  </a:solidFill>
                  <a:latin typeface="Arial"/>
                  <a:ea typeface="Arial"/>
                  <a:cs typeface="Arial"/>
                  <a:sym typeface="Arial"/>
                </a:rPr>
                <a:t>ECN (6:7)</a:t>
              </a:r>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p:txBody>
        </p:sp>
        <p:cxnSp>
          <p:nvCxnSpPr>
            <p:cNvPr id="1065" name="Google Shape;1065;p14"/>
            <p:cNvCxnSpPr/>
            <p:nvPr/>
          </p:nvCxnSpPr>
          <p:spPr>
            <a:xfrm flipH="1" rot="10800000">
              <a:off x="1746" y="1109"/>
              <a:ext cx="977" cy="320"/>
            </a:xfrm>
            <a:prstGeom prst="straightConnector1">
              <a:avLst/>
            </a:prstGeom>
            <a:noFill/>
            <a:ln cap="flat" cmpd="sng" w="19050">
              <a:solidFill>
                <a:srgbClr val="C00000"/>
              </a:solidFill>
              <a:prstDash val="solid"/>
              <a:round/>
              <a:headEnd len="med" w="med" type="none"/>
              <a:tailEnd len="med" w="med" type="none"/>
            </a:ln>
          </p:spPr>
        </p:cxnSp>
      </p:grpSp>
      <p:grpSp>
        <p:nvGrpSpPr>
          <p:cNvPr id="1066" name="Google Shape;1066;p14"/>
          <p:cNvGrpSpPr/>
          <p:nvPr/>
        </p:nvGrpSpPr>
        <p:grpSpPr>
          <a:xfrm>
            <a:off x="6330509" y="2273066"/>
            <a:ext cx="4110038" cy="646113"/>
            <a:chOff x="3119" y="1243"/>
            <a:chExt cx="2589" cy="407"/>
          </a:xfrm>
        </p:grpSpPr>
        <p:sp>
          <p:nvSpPr>
            <p:cNvPr id="1067" name="Google Shape;1067;p14"/>
            <p:cNvSpPr txBox="1"/>
            <p:nvPr/>
          </p:nvSpPr>
          <p:spPr>
            <a:xfrm>
              <a:off x="4663" y="1243"/>
              <a:ext cx="1045"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fragmentation/</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reassembly</a:t>
              </a:r>
              <a:endParaRPr/>
            </a:p>
          </p:txBody>
        </p:sp>
        <p:cxnSp>
          <p:nvCxnSpPr>
            <p:cNvPr id="1068" name="Google Shape;1068;p14"/>
            <p:cNvCxnSpPr/>
            <p:nvPr/>
          </p:nvCxnSpPr>
          <p:spPr>
            <a:xfrm flipH="1">
              <a:off x="3443" y="1358"/>
              <a:ext cx="1228" cy="177"/>
            </a:xfrm>
            <a:prstGeom prst="straightConnector1">
              <a:avLst/>
            </a:prstGeom>
            <a:noFill/>
            <a:ln cap="flat" cmpd="sng" w="19050">
              <a:solidFill>
                <a:srgbClr val="C00000"/>
              </a:solidFill>
              <a:prstDash val="solid"/>
              <a:round/>
              <a:headEnd len="med" w="med" type="none"/>
              <a:tailEnd len="med" w="med" type="none"/>
            </a:ln>
          </p:spPr>
        </p:cxnSp>
        <p:cxnSp>
          <p:nvCxnSpPr>
            <p:cNvPr id="1069" name="Google Shape;1069;p14"/>
            <p:cNvCxnSpPr/>
            <p:nvPr/>
          </p:nvCxnSpPr>
          <p:spPr>
            <a:xfrm rot="10800000">
              <a:off x="4301" y="1349"/>
              <a:ext cx="381" cy="2"/>
            </a:xfrm>
            <a:prstGeom prst="straightConnector1">
              <a:avLst/>
            </a:prstGeom>
            <a:noFill/>
            <a:ln cap="flat" cmpd="sng" w="19050">
              <a:solidFill>
                <a:srgbClr val="C00000"/>
              </a:solidFill>
              <a:prstDash val="solid"/>
              <a:round/>
              <a:headEnd len="med" w="med" type="none"/>
              <a:tailEnd len="med" w="med" type="none"/>
            </a:ln>
          </p:spPr>
        </p:cxnSp>
        <p:cxnSp>
          <p:nvCxnSpPr>
            <p:cNvPr id="1070" name="Google Shape;1070;p14"/>
            <p:cNvCxnSpPr/>
            <p:nvPr/>
          </p:nvCxnSpPr>
          <p:spPr>
            <a:xfrm flipH="1">
              <a:off x="3119" y="1354"/>
              <a:ext cx="1555" cy="103"/>
            </a:xfrm>
            <a:prstGeom prst="straightConnector1">
              <a:avLst/>
            </a:prstGeom>
            <a:noFill/>
            <a:ln cap="flat" cmpd="sng" w="19050">
              <a:solidFill>
                <a:srgbClr val="C00000"/>
              </a:solidFill>
              <a:prstDash val="solid"/>
              <a:round/>
              <a:headEnd len="med" w="med" type="none"/>
              <a:tailEnd len="med" w="med" type="none"/>
            </a:ln>
          </p:spPr>
        </p:cxnSp>
      </p:grpSp>
      <p:grpSp>
        <p:nvGrpSpPr>
          <p:cNvPr id="1071" name="Google Shape;1071;p14"/>
          <p:cNvGrpSpPr/>
          <p:nvPr/>
        </p:nvGrpSpPr>
        <p:grpSpPr>
          <a:xfrm>
            <a:off x="786919" y="3200477"/>
            <a:ext cx="3975103" cy="723900"/>
            <a:chOff x="-366" y="1483"/>
            <a:chExt cx="2504" cy="456"/>
          </a:xfrm>
        </p:grpSpPr>
        <p:sp>
          <p:nvSpPr>
            <p:cNvPr id="1072" name="Google Shape;1072;p14"/>
            <p:cNvSpPr txBox="1"/>
            <p:nvPr/>
          </p:nvSpPr>
          <p:spPr>
            <a:xfrm>
              <a:off x="-366" y="1551"/>
              <a:ext cx="2144" cy="3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TTL: remaining  max hops</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(decremented at each router)</a:t>
              </a:r>
              <a:endParaRPr/>
            </a:p>
          </p:txBody>
        </p:sp>
        <p:cxnSp>
          <p:nvCxnSpPr>
            <p:cNvPr id="1073" name="Google Shape;1073;p14"/>
            <p:cNvCxnSpPr/>
            <p:nvPr/>
          </p:nvCxnSpPr>
          <p:spPr>
            <a:xfrm flipH="1" rot="10800000">
              <a:off x="1753" y="1483"/>
              <a:ext cx="385" cy="277"/>
            </a:xfrm>
            <a:prstGeom prst="straightConnector1">
              <a:avLst/>
            </a:prstGeom>
            <a:noFill/>
            <a:ln cap="flat" cmpd="sng" w="19050">
              <a:solidFill>
                <a:srgbClr val="C00000"/>
              </a:solidFill>
              <a:prstDash val="solid"/>
              <a:round/>
              <a:headEnd len="med" w="med" type="none"/>
              <a:tailEnd len="med" w="med" type="none"/>
            </a:ln>
          </p:spPr>
        </p:cxnSp>
      </p:grpSp>
      <p:grpSp>
        <p:nvGrpSpPr>
          <p:cNvPr id="1074" name="Google Shape;1074;p14"/>
          <p:cNvGrpSpPr/>
          <p:nvPr/>
        </p:nvGrpSpPr>
        <p:grpSpPr>
          <a:xfrm>
            <a:off x="1134317" y="4446414"/>
            <a:ext cx="2823045" cy="2083632"/>
            <a:chOff x="419725" y="4467070"/>
            <a:chExt cx="2823045" cy="2083632"/>
          </a:xfrm>
        </p:grpSpPr>
        <p:sp>
          <p:nvSpPr>
            <p:cNvPr id="1075" name="Google Shape;1075;p14"/>
            <p:cNvSpPr/>
            <p:nvPr/>
          </p:nvSpPr>
          <p:spPr>
            <a:xfrm>
              <a:off x="437293" y="4954788"/>
              <a:ext cx="2805477" cy="1465471"/>
            </a:xfrm>
            <a:prstGeom prst="rect">
              <a:avLst/>
            </a:prstGeom>
            <a:noFill/>
            <a:ln>
              <a:noFill/>
            </a:ln>
          </p:spPr>
          <p:txBody>
            <a:bodyPr anchorCtr="0" anchor="t" bIns="45700" lIns="91425" spcFirstLastPara="1" rIns="91425" wrap="square" tIns="45700">
              <a:noAutofit/>
            </a:bodyPr>
            <a:lstStyle/>
            <a:p>
              <a:pPr indent="-223838" lvl="0" marL="342900" marR="0" rtl="0" algn="l">
                <a:lnSpc>
                  <a:spcPct val="85000"/>
                </a:lnSpc>
                <a:spcBef>
                  <a:spcPts val="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20 bytes of TCP</a:t>
              </a:r>
              <a:endParaRPr/>
            </a:p>
            <a:p>
              <a:pPr indent="-223838" lvl="0" marL="342900" marR="0" rtl="0" algn="l">
                <a:lnSpc>
                  <a:spcPct val="85000"/>
                </a:lnSpc>
                <a:spcBef>
                  <a:spcPts val="40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20 bytes of IP</a:t>
              </a:r>
              <a:endParaRPr/>
            </a:p>
            <a:p>
              <a:pPr indent="-223838" lvl="0" marL="342900" marR="0" rtl="0" algn="l">
                <a:lnSpc>
                  <a:spcPct val="95000"/>
                </a:lnSpc>
                <a:spcBef>
                  <a:spcPts val="40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 40 bytes + app layer overhead for TCP+IP</a:t>
              </a:r>
              <a:endParaRPr/>
            </a:p>
          </p:txBody>
        </p:sp>
        <p:sp>
          <p:nvSpPr>
            <p:cNvPr id="1076" name="Google Shape;1076;p14"/>
            <p:cNvSpPr/>
            <p:nvPr/>
          </p:nvSpPr>
          <p:spPr>
            <a:xfrm>
              <a:off x="419725" y="4751882"/>
              <a:ext cx="2683239" cy="1798820"/>
            </a:xfrm>
            <a:prstGeom prst="rect">
              <a:avLst/>
            </a:prstGeom>
            <a:noFill/>
            <a:ln cap="flat" cmpd="sng" w="254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7" name="Google Shape;1077;p14"/>
            <p:cNvSpPr txBox="1"/>
            <p:nvPr/>
          </p:nvSpPr>
          <p:spPr>
            <a:xfrm>
              <a:off x="599607" y="4467070"/>
              <a:ext cx="1561325"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overhead</a:t>
              </a:r>
              <a:endParaRPr/>
            </a:p>
          </p:txBody>
        </p:sp>
      </p:grpSp>
      <p:grpSp>
        <p:nvGrpSpPr>
          <p:cNvPr id="1078" name="Google Shape;1078;p14"/>
          <p:cNvGrpSpPr/>
          <p:nvPr/>
        </p:nvGrpSpPr>
        <p:grpSpPr>
          <a:xfrm>
            <a:off x="7719934" y="4348085"/>
            <a:ext cx="3971903" cy="646113"/>
            <a:chOff x="7719934" y="4348085"/>
            <a:chExt cx="3971903" cy="646113"/>
          </a:xfrm>
        </p:grpSpPr>
        <p:sp>
          <p:nvSpPr>
            <p:cNvPr id="1079" name="Google Shape;1079;p14"/>
            <p:cNvSpPr txBox="1"/>
            <p:nvPr/>
          </p:nvSpPr>
          <p:spPr>
            <a:xfrm>
              <a:off x="8778774" y="4348085"/>
              <a:ext cx="2913063" cy="646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 timestamp, record route taken</a:t>
              </a:r>
              <a:endParaRPr/>
            </a:p>
          </p:txBody>
        </p:sp>
        <p:cxnSp>
          <p:nvCxnSpPr>
            <p:cNvPr id="1080" name="Google Shape;1080;p14"/>
            <p:cNvCxnSpPr/>
            <p:nvPr/>
          </p:nvCxnSpPr>
          <p:spPr>
            <a:xfrm>
              <a:off x="7719934" y="4542020"/>
              <a:ext cx="989350" cy="0"/>
            </a:xfrm>
            <a:prstGeom prst="straightConnector1">
              <a:avLst/>
            </a:prstGeom>
            <a:noFill/>
            <a:ln cap="flat" cmpd="sng" w="19050">
              <a:solidFill>
                <a:srgbClr val="C00000"/>
              </a:solidFill>
              <a:prstDash val="solid"/>
              <a:miter lim="8000"/>
              <a:headEnd len="sm" w="sm" type="none"/>
              <a:tailEnd len="sm" w="sm" type="none"/>
            </a:ln>
          </p:spPr>
        </p:cxnSp>
      </p:grpSp>
      <p:grpSp>
        <p:nvGrpSpPr>
          <p:cNvPr id="1081" name="Google Shape;1081;p14"/>
          <p:cNvGrpSpPr/>
          <p:nvPr/>
        </p:nvGrpSpPr>
        <p:grpSpPr>
          <a:xfrm>
            <a:off x="7739650" y="3384606"/>
            <a:ext cx="3971903" cy="369332"/>
            <a:chOff x="7719934" y="4348085"/>
            <a:chExt cx="3971903" cy="369332"/>
          </a:xfrm>
        </p:grpSpPr>
        <p:sp>
          <p:nvSpPr>
            <p:cNvPr id="1082" name="Google Shape;1082;p14"/>
            <p:cNvSpPr txBox="1"/>
            <p:nvPr/>
          </p:nvSpPr>
          <p:spPr>
            <a:xfrm>
              <a:off x="8778774" y="4348085"/>
              <a:ext cx="29130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32-bit source IP address</a:t>
              </a:r>
              <a:endParaRPr/>
            </a:p>
          </p:txBody>
        </p:sp>
        <p:cxnSp>
          <p:nvCxnSpPr>
            <p:cNvPr id="1083" name="Google Shape;1083;p14"/>
            <p:cNvCxnSpPr/>
            <p:nvPr/>
          </p:nvCxnSpPr>
          <p:spPr>
            <a:xfrm>
              <a:off x="7719934" y="4542020"/>
              <a:ext cx="989350" cy="0"/>
            </a:xfrm>
            <a:prstGeom prst="straightConnector1">
              <a:avLst/>
            </a:prstGeom>
            <a:noFill/>
            <a:ln cap="flat" cmpd="sng" w="19050">
              <a:solidFill>
                <a:srgbClr val="C00000"/>
              </a:solidFill>
              <a:prstDash val="solid"/>
              <a:miter lim="8000"/>
              <a:headEnd len="sm" w="sm" type="none"/>
              <a:tailEnd len="sm" w="sm" type="none"/>
            </a:ln>
          </p:spPr>
        </p:cxnSp>
      </p:grpSp>
      <p:grpSp>
        <p:nvGrpSpPr>
          <p:cNvPr id="1084" name="Google Shape;1084;p14"/>
          <p:cNvGrpSpPr/>
          <p:nvPr/>
        </p:nvGrpSpPr>
        <p:grpSpPr>
          <a:xfrm>
            <a:off x="7721569" y="3862471"/>
            <a:ext cx="4181130" cy="369332"/>
            <a:chOff x="7719934" y="4348085"/>
            <a:chExt cx="4181130" cy="369332"/>
          </a:xfrm>
        </p:grpSpPr>
        <p:sp>
          <p:nvSpPr>
            <p:cNvPr id="1085" name="Google Shape;1085;p14"/>
            <p:cNvSpPr txBox="1"/>
            <p:nvPr/>
          </p:nvSpPr>
          <p:spPr>
            <a:xfrm>
              <a:off x="8778774" y="4348085"/>
              <a:ext cx="312229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32-bit destination IP address</a:t>
              </a:r>
              <a:endParaRPr/>
            </a:p>
          </p:txBody>
        </p:sp>
        <p:cxnSp>
          <p:nvCxnSpPr>
            <p:cNvPr id="1086" name="Google Shape;1086;p14"/>
            <p:cNvCxnSpPr/>
            <p:nvPr/>
          </p:nvCxnSpPr>
          <p:spPr>
            <a:xfrm>
              <a:off x="7719934" y="4542020"/>
              <a:ext cx="989350" cy="0"/>
            </a:xfrm>
            <a:prstGeom prst="straightConnector1">
              <a:avLst/>
            </a:prstGeom>
            <a:noFill/>
            <a:ln cap="flat" cmpd="sng" w="19050">
              <a:solidFill>
                <a:srgbClr val="C00000"/>
              </a:solidFill>
              <a:prstDash val="solid"/>
              <a:miter lim="8000"/>
              <a:headEnd len="sm" w="sm" type="none"/>
              <a:tailEnd len="sm" w="sm" type="none"/>
            </a:ln>
          </p:spPr>
        </p:cxnSp>
      </p:grpSp>
      <p:grpSp>
        <p:nvGrpSpPr>
          <p:cNvPr id="1087" name="Google Shape;1087;p14"/>
          <p:cNvGrpSpPr/>
          <p:nvPr/>
        </p:nvGrpSpPr>
        <p:grpSpPr>
          <a:xfrm>
            <a:off x="7737066" y="2920899"/>
            <a:ext cx="3971903" cy="369332"/>
            <a:chOff x="7719934" y="4348085"/>
            <a:chExt cx="3971903" cy="369332"/>
          </a:xfrm>
        </p:grpSpPr>
        <p:sp>
          <p:nvSpPr>
            <p:cNvPr id="1088" name="Google Shape;1088;p14"/>
            <p:cNvSpPr txBox="1"/>
            <p:nvPr/>
          </p:nvSpPr>
          <p:spPr>
            <a:xfrm>
              <a:off x="8778774" y="4348085"/>
              <a:ext cx="29130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 checksum</a:t>
              </a:r>
              <a:endParaRPr/>
            </a:p>
          </p:txBody>
        </p:sp>
        <p:cxnSp>
          <p:nvCxnSpPr>
            <p:cNvPr id="1089" name="Google Shape;1089;p14"/>
            <p:cNvCxnSpPr/>
            <p:nvPr/>
          </p:nvCxnSpPr>
          <p:spPr>
            <a:xfrm>
              <a:off x="7719934" y="4542020"/>
              <a:ext cx="989350" cy="0"/>
            </a:xfrm>
            <a:prstGeom prst="straightConnector1">
              <a:avLst/>
            </a:prstGeom>
            <a:noFill/>
            <a:ln cap="flat" cmpd="sng" w="19050">
              <a:solidFill>
                <a:srgbClr val="C00000"/>
              </a:solidFill>
              <a:prstDash val="solid"/>
              <a:miter lim="8000"/>
              <a:headEnd len="sm" w="sm" type="none"/>
              <a:tailEnd len="sm" w="sm" type="none"/>
            </a:ln>
          </p:spPr>
        </p:cxnSp>
      </p:grpSp>
      <p:grpSp>
        <p:nvGrpSpPr>
          <p:cNvPr id="1090" name="Google Shape;1090;p14"/>
          <p:cNvGrpSpPr/>
          <p:nvPr/>
        </p:nvGrpSpPr>
        <p:grpSpPr>
          <a:xfrm>
            <a:off x="8948060" y="1758043"/>
            <a:ext cx="2808718" cy="4833257"/>
            <a:chOff x="9209324" y="1834243"/>
            <a:chExt cx="2808718" cy="4833257"/>
          </a:xfrm>
        </p:grpSpPr>
        <p:cxnSp>
          <p:nvCxnSpPr>
            <p:cNvPr id="1091" name="Google Shape;1091;p14"/>
            <p:cNvCxnSpPr/>
            <p:nvPr/>
          </p:nvCxnSpPr>
          <p:spPr>
            <a:xfrm>
              <a:off x="11097988" y="1834243"/>
              <a:ext cx="0" cy="4833257"/>
            </a:xfrm>
            <a:prstGeom prst="straightConnector1">
              <a:avLst/>
            </a:prstGeom>
            <a:noFill/>
            <a:ln cap="flat" cmpd="sng" w="44450">
              <a:solidFill>
                <a:srgbClr val="C00000"/>
              </a:solidFill>
              <a:prstDash val="solid"/>
              <a:miter lim="8000"/>
              <a:headEnd len="med" w="med" type="triangle"/>
              <a:tailEnd len="med" w="med" type="triangle"/>
            </a:ln>
          </p:spPr>
        </p:cxnSp>
        <p:cxnSp>
          <p:nvCxnSpPr>
            <p:cNvPr id="1092" name="Google Shape;1092;p14"/>
            <p:cNvCxnSpPr/>
            <p:nvPr/>
          </p:nvCxnSpPr>
          <p:spPr>
            <a:xfrm>
              <a:off x="10823536" y="1839686"/>
              <a:ext cx="600364" cy="0"/>
            </a:xfrm>
            <a:prstGeom prst="straightConnector1">
              <a:avLst/>
            </a:prstGeom>
            <a:noFill/>
            <a:ln cap="flat" cmpd="sng" w="44450">
              <a:solidFill>
                <a:srgbClr val="C00000"/>
              </a:solidFill>
              <a:prstDash val="solid"/>
              <a:miter lim="8000"/>
              <a:headEnd len="sm" w="sm" type="none"/>
              <a:tailEnd len="sm" w="sm" type="none"/>
            </a:ln>
          </p:spPr>
        </p:cxnSp>
        <p:cxnSp>
          <p:nvCxnSpPr>
            <p:cNvPr id="1093" name="Google Shape;1093;p14"/>
            <p:cNvCxnSpPr/>
            <p:nvPr/>
          </p:nvCxnSpPr>
          <p:spPr>
            <a:xfrm>
              <a:off x="10828978" y="6645729"/>
              <a:ext cx="600364" cy="0"/>
            </a:xfrm>
            <a:prstGeom prst="straightConnector1">
              <a:avLst/>
            </a:prstGeom>
            <a:noFill/>
            <a:ln cap="flat" cmpd="sng" w="44450">
              <a:solidFill>
                <a:srgbClr val="C00000"/>
              </a:solidFill>
              <a:prstDash val="solid"/>
              <a:miter lim="8000"/>
              <a:headEnd len="sm" w="sm" type="none"/>
              <a:tailEnd len="sm" w="sm" type="none"/>
            </a:ln>
          </p:spPr>
        </p:cxnSp>
        <p:sp>
          <p:nvSpPr>
            <p:cNvPr id="1094" name="Google Shape;1094;p14"/>
            <p:cNvSpPr txBox="1"/>
            <p:nvPr/>
          </p:nvSpPr>
          <p:spPr>
            <a:xfrm>
              <a:off x="9209324" y="3788229"/>
              <a:ext cx="2808718"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Maximum length: 64K bytes</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Typically: 1500 bytes or less</a:t>
              </a:r>
              <a:endParaRPr/>
            </a:p>
          </p:txBody>
        </p:sp>
      </p:grpSp>
      <p:sp>
        <p:nvSpPr>
          <p:cNvPr id="1095" name="Google Shape;1095;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500"/>
                                        <p:tgtEl>
                                          <p:spTgt spid="10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500"/>
                                        <p:tgtEl>
                                          <p:spTgt spid="10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500"/>
                                        <p:tgtEl>
                                          <p:spTgt spid="10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500"/>
                                        <p:tgtEl>
                                          <p:spTgt spid="10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90"/>
                                        </p:tgtEl>
                                      </p:cBhvr>
                                    </p:animEffect>
                                    <p:set>
                                      <p:cBhvr>
                                        <p:cTn dur="1" fill="hold">
                                          <p:stCondLst>
                                            <p:cond delay="500"/>
                                          </p:stCondLst>
                                        </p:cTn>
                                        <p:tgtEl>
                                          <p:spTgt spid="109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500"/>
                                        <p:tgtEl>
                                          <p:spTgt spid="10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500"/>
                                        <p:tgtEl>
                                          <p:spTgt spid="10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gtEl>
                                        <p:attrNameLst>
                                          <p:attrName>style.visibility</p:attrName>
                                        </p:attrNameLst>
                                      </p:cBhvr>
                                      <p:to>
                                        <p:strVal val="visible"/>
                                      </p:to>
                                    </p:set>
                                    <p:animEffect filter="fade" transition="in">
                                      <p:cBhvr>
                                        <p:cTn dur="500"/>
                                        <p:tgtEl>
                                          <p:spTgt spid="1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7"/>
                                        </p:tgtEl>
                                        <p:attrNameLst>
                                          <p:attrName>style.visibility</p:attrName>
                                        </p:attrNameLst>
                                      </p:cBhvr>
                                      <p:to>
                                        <p:strVal val="visible"/>
                                      </p:to>
                                    </p:set>
                                    <p:animEffect filter="fade" transition="in">
                                      <p:cBhvr>
                                        <p:cTn dur="500"/>
                                        <p:tgtEl>
                                          <p:spTgt spid="10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500"/>
                                        <p:tgtEl>
                                          <p:spTgt spid="1081"/>
                                        </p:tgtEl>
                                      </p:cBhvr>
                                    </p:animEffect>
                                  </p:childTnLst>
                                </p:cTn>
                              </p:par>
                              <p:par>
                                <p:cTn fill="hold" nodeType="withEffect" presetClass="entr" presetID="10" presetSubtype="0">
                                  <p:stCondLst>
                                    <p:cond delay="0"/>
                                  </p:stCondLst>
                                  <p:childTnLst>
                                    <p:set>
                                      <p:cBhvr>
                                        <p:cTn dur="1" fill="hold">
                                          <p:stCondLst>
                                            <p:cond delay="0"/>
                                          </p:stCondLst>
                                        </p:cTn>
                                        <p:tgtEl>
                                          <p:spTgt spid="1084"/>
                                        </p:tgtEl>
                                        <p:attrNameLst>
                                          <p:attrName>style.visibility</p:attrName>
                                        </p:attrNameLst>
                                      </p:cBhvr>
                                      <p:to>
                                        <p:strVal val="visible"/>
                                      </p:to>
                                    </p:set>
                                    <p:animEffect filter="fade" transition="in">
                                      <p:cBhvr>
                                        <p:cTn dur="500"/>
                                        <p:tgtEl>
                                          <p:spTgt spid="10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500"/>
                                        <p:tgtEl>
                                          <p:spTgt spid="10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500"/>
                                        <p:tgtEl>
                                          <p:spTgt spid="1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5"/>
          <p:cNvSpPr txBox="1"/>
          <p:nvPr>
            <p:ph idx="1" type="body"/>
          </p:nvPr>
        </p:nvSpPr>
        <p:spPr>
          <a:xfrm>
            <a:off x="872790" y="1409001"/>
            <a:ext cx="5557988" cy="4841896"/>
          </a:xfrm>
          <a:prstGeom prst="rect">
            <a:avLst/>
          </a:prstGeom>
          <a:noFill/>
          <a:ln>
            <a:noFill/>
          </a:ln>
        </p:spPr>
        <p:txBody>
          <a:bodyPr anchorCtr="0" anchor="t" bIns="45700" lIns="91425" spcFirstLastPara="1" rIns="91425" wrap="square" tIns="45700">
            <a:normAutofit/>
          </a:bodyPr>
          <a:lstStyle/>
          <a:p>
            <a:pPr indent="-293688" lvl="0" marL="352425" rtl="0" algn="l">
              <a:lnSpc>
                <a:spcPct val="90000"/>
              </a:lnSpc>
              <a:spcBef>
                <a:spcPts val="0"/>
              </a:spcBef>
              <a:spcAft>
                <a:spcPts val="0"/>
              </a:spcAft>
              <a:buSzPts val="3200"/>
              <a:buChar char="▪"/>
            </a:pPr>
            <a:r>
              <a:rPr lang="en-US" sz="3200">
                <a:solidFill>
                  <a:srgbClr val="C00000"/>
                </a:solidFill>
              </a:rPr>
              <a:t>IP address:</a:t>
            </a:r>
            <a:r>
              <a:rPr lang="en-US">
                <a:solidFill>
                  <a:srgbClr val="C00000"/>
                </a:solidFill>
              </a:rPr>
              <a:t> </a:t>
            </a:r>
            <a:r>
              <a:rPr lang="en-US"/>
              <a:t>32-bit identifier associated with each host or router </a:t>
            </a:r>
            <a:r>
              <a:rPr i="1" lang="en-US">
                <a:solidFill>
                  <a:srgbClr val="0000A3"/>
                </a:solidFill>
              </a:rPr>
              <a:t>interface</a:t>
            </a:r>
            <a:r>
              <a:rPr lang="en-US"/>
              <a:t> </a:t>
            </a:r>
            <a:endParaRPr/>
          </a:p>
          <a:p>
            <a:pPr indent="-293688" lvl="0" marL="352425" rtl="0" algn="l">
              <a:lnSpc>
                <a:spcPct val="90000"/>
              </a:lnSpc>
              <a:spcBef>
                <a:spcPts val="1000"/>
              </a:spcBef>
              <a:spcAft>
                <a:spcPts val="0"/>
              </a:spcAft>
              <a:buSzPts val="3200"/>
              <a:buChar char="▪"/>
            </a:pPr>
            <a:r>
              <a:rPr lang="en-US" sz="3200">
                <a:solidFill>
                  <a:srgbClr val="CC0000"/>
                </a:solidFill>
              </a:rPr>
              <a:t>interface:</a:t>
            </a:r>
            <a:r>
              <a:rPr lang="en-US"/>
              <a:t> connection between host/router and physical link</a:t>
            </a:r>
            <a:endParaRPr/>
          </a:p>
          <a:p>
            <a:pPr indent="-298450" lvl="1" marL="522288" rtl="0" algn="l">
              <a:lnSpc>
                <a:spcPct val="90000"/>
              </a:lnSpc>
              <a:spcBef>
                <a:spcPts val="500"/>
              </a:spcBef>
              <a:spcAft>
                <a:spcPts val="0"/>
              </a:spcAft>
              <a:buSzPts val="2800"/>
              <a:buChar char="•"/>
            </a:pPr>
            <a:r>
              <a:rPr lang="en-US" sz="2800"/>
              <a:t>router’s typically have multiple interfaces</a:t>
            </a:r>
            <a:endParaRPr/>
          </a:p>
          <a:p>
            <a:pPr indent="-298450" lvl="1" marL="522288" rtl="0" algn="l">
              <a:lnSpc>
                <a:spcPct val="90000"/>
              </a:lnSpc>
              <a:spcBef>
                <a:spcPts val="500"/>
              </a:spcBef>
              <a:spcAft>
                <a:spcPts val="0"/>
              </a:spcAft>
              <a:buSzPts val="2800"/>
              <a:buChar char="•"/>
            </a:pPr>
            <a:r>
              <a:rPr lang="en-US" sz="2800"/>
              <a:t>host typically has one or two interfaces </a:t>
            </a:r>
            <a:r>
              <a:rPr lang="en-US"/>
              <a:t>(e.g., wired Ethernet, wireless 802.11)</a:t>
            </a:r>
            <a:endParaRPr/>
          </a:p>
          <a:p>
            <a:pPr indent="0" lvl="0" marL="298450" rtl="0" algn="l">
              <a:lnSpc>
                <a:spcPct val="90000"/>
              </a:lnSpc>
              <a:spcBef>
                <a:spcPts val="1000"/>
              </a:spcBef>
              <a:spcAft>
                <a:spcPts val="0"/>
              </a:spcAft>
              <a:buSzPts val="3200"/>
              <a:buNone/>
            </a:pPr>
            <a:r>
              <a:t/>
            </a:r>
            <a:endParaRPr sz="3200"/>
          </a:p>
        </p:txBody>
      </p:sp>
      <p:sp>
        <p:nvSpPr>
          <p:cNvPr id="1102" name="Google Shape;1102;p1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1103" name="Google Shape;1103;p15"/>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04" name="Google Shape;1104;p15"/>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05" name="Google Shape;1105;p15"/>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06" name="Google Shape;1106;p15"/>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1107" name="Google Shape;1107;p15"/>
          <p:cNvGrpSpPr/>
          <p:nvPr/>
        </p:nvGrpSpPr>
        <p:grpSpPr>
          <a:xfrm>
            <a:off x="6557963" y="2093236"/>
            <a:ext cx="920750" cy="276225"/>
            <a:chOff x="3251" y="608"/>
            <a:chExt cx="580" cy="174"/>
          </a:xfrm>
        </p:grpSpPr>
        <p:sp>
          <p:nvSpPr>
            <p:cNvPr id="1108" name="Google Shape;1108;p15"/>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109" name="Google Shape;1109;p15"/>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1110" name="Google Shape;1110;p15"/>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1111" name="Google Shape;1111;p15"/>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1112" name="Google Shape;1112;p15"/>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1113" name="Google Shape;1113;p15"/>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1114" name="Google Shape;1114;p15"/>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1115" name="Google Shape;1115;p15"/>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1116" name="Google Shape;1116;p15"/>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1117" name="Google Shape;1117;p15"/>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1118" name="Google Shape;1118;p15"/>
          <p:cNvGrpSpPr/>
          <p:nvPr/>
        </p:nvGrpSpPr>
        <p:grpSpPr>
          <a:xfrm>
            <a:off x="8885238" y="2996523"/>
            <a:ext cx="912812" cy="276225"/>
            <a:chOff x="4550" y="1257"/>
            <a:chExt cx="575" cy="174"/>
          </a:xfrm>
        </p:grpSpPr>
        <p:sp>
          <p:nvSpPr>
            <p:cNvPr id="1119" name="Google Shape;1119;p15"/>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120" name="Google Shape;1120;p15"/>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1121" name="Google Shape;1121;p15"/>
          <p:cNvGrpSpPr/>
          <p:nvPr/>
        </p:nvGrpSpPr>
        <p:grpSpPr>
          <a:xfrm>
            <a:off x="6858453" y="5763539"/>
            <a:ext cx="5043488" cy="947504"/>
            <a:chOff x="6727825" y="5192036"/>
            <a:chExt cx="5043488" cy="822325"/>
          </a:xfrm>
        </p:grpSpPr>
        <p:sp>
          <p:nvSpPr>
            <p:cNvPr id="1122" name="Google Shape;1122;p15"/>
            <p:cNvSpPr txBox="1"/>
            <p:nvPr/>
          </p:nvSpPr>
          <p:spPr>
            <a:xfrm>
              <a:off x="6727825" y="5192036"/>
              <a:ext cx="5043488"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223.1.1.1 = 11011111 00000001 00000001 00000001</a:t>
              </a:r>
              <a:endParaRPr b="0" i="0" sz="1800" u="none" cap="none" strike="noStrike">
                <a:solidFill>
                  <a:srgbClr val="000000"/>
                </a:solidFill>
                <a:latin typeface="Comic Sans MS"/>
                <a:ea typeface="Comic Sans MS"/>
                <a:cs typeface="Comic Sans MS"/>
                <a:sym typeface="Comic Sans MS"/>
              </a:endParaRPr>
            </a:p>
          </p:txBody>
        </p:sp>
        <p:sp>
          <p:nvSpPr>
            <p:cNvPr id="1123" name="Google Shape;1123;p15"/>
            <p:cNvSpPr/>
            <p:nvPr/>
          </p:nvSpPr>
          <p:spPr>
            <a:xfrm>
              <a:off x="7905750" y="5447623"/>
              <a:ext cx="892175" cy="92075"/>
            </a:xfrm>
            <a:custGeom>
              <a:rect b="b" l="l" r="r" t="t"/>
              <a:pathLst>
                <a:path extrusionOk="0" h="58" w="562">
                  <a:moveTo>
                    <a:pt x="0" y="0"/>
                  </a:moveTo>
                  <a:lnTo>
                    <a:pt x="0" y="58"/>
                  </a:lnTo>
                  <a:lnTo>
                    <a:pt x="562" y="58"/>
                  </a:lnTo>
                  <a:lnTo>
                    <a:pt x="562" y="16"/>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24" name="Google Shape;1124;p15"/>
            <p:cNvSpPr/>
            <p:nvPr/>
          </p:nvSpPr>
          <p:spPr>
            <a:xfrm>
              <a:off x="8867775" y="5466673"/>
              <a:ext cx="892175"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25" name="Google Shape;1125;p15"/>
            <p:cNvSpPr/>
            <p:nvPr/>
          </p:nvSpPr>
          <p:spPr>
            <a:xfrm>
              <a:off x="9832975" y="5469848"/>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26" name="Google Shape;1126;p15"/>
            <p:cNvSpPr/>
            <p:nvPr/>
          </p:nvSpPr>
          <p:spPr>
            <a:xfrm>
              <a:off x="10798175" y="5473023"/>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27" name="Google Shape;1127;p15"/>
            <p:cNvSpPr txBox="1"/>
            <p:nvPr/>
          </p:nvSpPr>
          <p:spPr>
            <a:xfrm>
              <a:off x="8104188" y="5668286"/>
              <a:ext cx="52228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223</a:t>
              </a:r>
              <a:endParaRPr b="0" i="0" sz="1800" u="none" cap="none" strike="noStrike">
                <a:solidFill>
                  <a:srgbClr val="000000"/>
                </a:solidFill>
                <a:latin typeface="Comic Sans MS"/>
                <a:ea typeface="Comic Sans MS"/>
                <a:cs typeface="Comic Sans MS"/>
                <a:sym typeface="Comic Sans MS"/>
              </a:endParaRPr>
            </a:p>
          </p:txBody>
        </p:sp>
        <p:sp>
          <p:nvSpPr>
            <p:cNvPr id="1128" name="Google Shape;1128;p15"/>
            <p:cNvSpPr txBox="1"/>
            <p:nvPr/>
          </p:nvSpPr>
          <p:spPr>
            <a:xfrm>
              <a:off x="9147175" y="5677811"/>
              <a:ext cx="296863"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1129" name="Google Shape;1129;p15"/>
            <p:cNvSpPr txBox="1"/>
            <p:nvPr/>
          </p:nvSpPr>
          <p:spPr>
            <a:xfrm>
              <a:off x="11104563"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1130" name="Google Shape;1130;p15"/>
            <p:cNvSpPr txBox="1"/>
            <p:nvPr/>
          </p:nvSpPr>
          <p:spPr>
            <a:xfrm>
              <a:off x="10085388"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grpSp>
      <p:grpSp>
        <p:nvGrpSpPr>
          <p:cNvPr id="1131" name="Google Shape;1131;p15"/>
          <p:cNvGrpSpPr/>
          <p:nvPr/>
        </p:nvGrpSpPr>
        <p:grpSpPr>
          <a:xfrm>
            <a:off x="7116763" y="1378861"/>
            <a:ext cx="641350" cy="558800"/>
            <a:chOff x="-44" y="1473"/>
            <a:chExt cx="981" cy="1105"/>
          </a:xfrm>
        </p:grpSpPr>
        <p:pic>
          <p:nvPicPr>
            <p:cNvPr descr="desktop_computer_stylized_medium" id="1132" name="Google Shape;1132;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33" name="Google Shape;1133;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134" name="Google Shape;1134;p15"/>
          <p:cNvGrpSpPr/>
          <p:nvPr/>
        </p:nvGrpSpPr>
        <p:grpSpPr>
          <a:xfrm>
            <a:off x="7112000" y="1977348"/>
            <a:ext cx="641350" cy="558800"/>
            <a:chOff x="-44" y="1473"/>
            <a:chExt cx="981" cy="1105"/>
          </a:xfrm>
        </p:grpSpPr>
        <p:pic>
          <p:nvPicPr>
            <p:cNvPr descr="desktop_computer_stylized_medium" id="1135" name="Google Shape;1135;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36" name="Google Shape;1136;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137" name="Google Shape;1137;p15"/>
          <p:cNvGrpSpPr/>
          <p:nvPr/>
        </p:nvGrpSpPr>
        <p:grpSpPr>
          <a:xfrm>
            <a:off x="7140575" y="2586948"/>
            <a:ext cx="641350" cy="558800"/>
            <a:chOff x="-44" y="1473"/>
            <a:chExt cx="981" cy="1105"/>
          </a:xfrm>
        </p:grpSpPr>
        <p:pic>
          <p:nvPicPr>
            <p:cNvPr descr="desktop_computer_stylized_medium" id="1138" name="Google Shape;1138;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39" name="Google Shape;1139;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140" name="Google Shape;1140;p15"/>
          <p:cNvGrpSpPr/>
          <p:nvPr/>
        </p:nvGrpSpPr>
        <p:grpSpPr>
          <a:xfrm flipH="1">
            <a:off x="10799763" y="1536023"/>
            <a:ext cx="641350" cy="558800"/>
            <a:chOff x="-44" y="1473"/>
            <a:chExt cx="981" cy="1105"/>
          </a:xfrm>
        </p:grpSpPr>
        <p:pic>
          <p:nvPicPr>
            <p:cNvPr descr="desktop_computer_stylized_medium" id="1141" name="Google Shape;1141;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42" name="Google Shape;1142;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143" name="Google Shape;1143;p15"/>
          <p:cNvGrpSpPr/>
          <p:nvPr/>
        </p:nvGrpSpPr>
        <p:grpSpPr>
          <a:xfrm flipH="1">
            <a:off x="10814050" y="2815548"/>
            <a:ext cx="641350" cy="558800"/>
            <a:chOff x="-44" y="1473"/>
            <a:chExt cx="981" cy="1105"/>
          </a:xfrm>
        </p:grpSpPr>
        <p:pic>
          <p:nvPicPr>
            <p:cNvPr descr="desktop_computer_stylized_medium" id="1144" name="Google Shape;1144;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45" name="Google Shape;1145;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146" name="Google Shape;1146;p15"/>
          <p:cNvGrpSpPr/>
          <p:nvPr/>
        </p:nvGrpSpPr>
        <p:grpSpPr>
          <a:xfrm flipH="1">
            <a:off x="9715500" y="4339548"/>
            <a:ext cx="641350" cy="558800"/>
            <a:chOff x="-44" y="1473"/>
            <a:chExt cx="981" cy="1105"/>
          </a:xfrm>
        </p:grpSpPr>
        <p:pic>
          <p:nvPicPr>
            <p:cNvPr descr="desktop_computer_stylized_medium" id="1147" name="Google Shape;1147;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48" name="Google Shape;1148;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149" name="Google Shape;1149;p15"/>
          <p:cNvGrpSpPr/>
          <p:nvPr/>
        </p:nvGrpSpPr>
        <p:grpSpPr>
          <a:xfrm flipH="1">
            <a:off x="8551863" y="4380823"/>
            <a:ext cx="641350" cy="558800"/>
            <a:chOff x="-44" y="1473"/>
            <a:chExt cx="981" cy="1105"/>
          </a:xfrm>
        </p:grpSpPr>
        <p:pic>
          <p:nvPicPr>
            <p:cNvPr descr="desktop_computer_stylized_medium" id="1150" name="Google Shape;1150;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51" name="Google Shape;1151;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cxnSp>
        <p:nvCxnSpPr>
          <p:cNvPr id="1152" name="Google Shape;1152;p15"/>
          <p:cNvCxnSpPr/>
          <p:nvPr/>
        </p:nvCxnSpPr>
        <p:spPr>
          <a:xfrm>
            <a:off x="7697391" y="1785938"/>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153" name="Google Shape;1153;p15"/>
          <p:cNvCxnSpPr/>
          <p:nvPr/>
        </p:nvCxnSpPr>
        <p:spPr>
          <a:xfrm>
            <a:off x="7706916" y="2384823"/>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154" name="Google Shape;1154;p15"/>
          <p:cNvCxnSpPr/>
          <p:nvPr/>
        </p:nvCxnSpPr>
        <p:spPr>
          <a:xfrm>
            <a:off x="7734301" y="2997995"/>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155" name="Google Shape;1155;p15"/>
          <p:cNvCxnSpPr/>
          <p:nvPr/>
        </p:nvCxnSpPr>
        <p:spPr>
          <a:xfrm>
            <a:off x="8364512" y="2578622"/>
            <a:ext cx="794264" cy="0"/>
          </a:xfrm>
          <a:prstGeom prst="straightConnector1">
            <a:avLst/>
          </a:prstGeom>
          <a:noFill/>
          <a:ln cap="flat" cmpd="sng" w="19050">
            <a:solidFill>
              <a:schemeClr val="dk1"/>
            </a:solidFill>
            <a:prstDash val="solid"/>
            <a:miter lim="8000"/>
            <a:headEnd len="sm" w="sm" type="none"/>
            <a:tailEnd len="sm" w="sm" type="none"/>
          </a:ln>
        </p:spPr>
      </p:cxnSp>
      <p:cxnSp>
        <p:nvCxnSpPr>
          <p:cNvPr id="1156" name="Google Shape;1156;p15"/>
          <p:cNvCxnSpPr/>
          <p:nvPr/>
        </p:nvCxnSpPr>
        <p:spPr>
          <a:xfrm>
            <a:off x="9547622" y="2584574"/>
            <a:ext cx="975473" cy="0"/>
          </a:xfrm>
          <a:prstGeom prst="straightConnector1">
            <a:avLst/>
          </a:prstGeom>
          <a:noFill/>
          <a:ln cap="flat" cmpd="sng" w="19050">
            <a:solidFill>
              <a:schemeClr val="dk1"/>
            </a:solidFill>
            <a:prstDash val="solid"/>
            <a:miter lim="8000"/>
            <a:headEnd len="sm" w="sm" type="none"/>
            <a:tailEnd len="sm" w="sm" type="none"/>
          </a:ln>
        </p:spPr>
      </p:cxnSp>
      <p:grpSp>
        <p:nvGrpSpPr>
          <p:cNvPr id="1157" name="Google Shape;1157;p15"/>
          <p:cNvGrpSpPr/>
          <p:nvPr/>
        </p:nvGrpSpPr>
        <p:grpSpPr>
          <a:xfrm>
            <a:off x="9053641" y="2438501"/>
            <a:ext cx="632991" cy="300938"/>
            <a:chOff x="7493876" y="2774731"/>
            <a:chExt cx="1481958" cy="894622"/>
          </a:xfrm>
        </p:grpSpPr>
        <p:sp>
          <p:nvSpPr>
            <p:cNvPr id="1158" name="Google Shape;1158;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159" name="Google Shape;1159;p15"/>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160" name="Google Shape;1160;p15"/>
            <p:cNvGrpSpPr/>
            <p:nvPr/>
          </p:nvGrpSpPr>
          <p:grpSpPr>
            <a:xfrm>
              <a:off x="7713663" y="2848339"/>
              <a:ext cx="1042107" cy="425543"/>
              <a:chOff x="7786941" y="2884917"/>
              <a:chExt cx="897649" cy="353919"/>
            </a:xfrm>
          </p:grpSpPr>
          <p:sp>
            <p:nvSpPr>
              <p:cNvPr id="1161" name="Google Shape;1161;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62" name="Google Shape;1162;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63" name="Google Shape;1163;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64" name="Google Shape;1164;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cxnSp>
        <p:nvCxnSpPr>
          <p:cNvPr id="1165" name="Google Shape;1165;p15"/>
          <p:cNvCxnSpPr/>
          <p:nvPr/>
        </p:nvCxnSpPr>
        <p:spPr>
          <a:xfrm>
            <a:off x="10629900" y="1942421"/>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166" name="Google Shape;1166;p15"/>
          <p:cNvCxnSpPr/>
          <p:nvPr/>
        </p:nvCxnSpPr>
        <p:spPr>
          <a:xfrm>
            <a:off x="10631261" y="3225575"/>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167" name="Google Shape;1167;p15"/>
          <p:cNvCxnSpPr/>
          <p:nvPr/>
        </p:nvCxnSpPr>
        <p:spPr>
          <a:xfrm>
            <a:off x="8740878" y="4181988"/>
            <a:ext cx="0" cy="232696"/>
          </a:xfrm>
          <a:prstGeom prst="straightConnector1">
            <a:avLst/>
          </a:prstGeom>
          <a:noFill/>
          <a:ln cap="flat" cmpd="sng" w="19050">
            <a:solidFill>
              <a:schemeClr val="dk1"/>
            </a:solidFill>
            <a:prstDash val="solid"/>
            <a:miter lim="8000"/>
            <a:headEnd len="sm" w="sm" type="none"/>
            <a:tailEnd len="sm" w="sm" type="none"/>
          </a:ln>
        </p:spPr>
      </p:cxnSp>
      <p:cxnSp>
        <p:nvCxnSpPr>
          <p:cNvPr id="1168" name="Google Shape;1168;p15"/>
          <p:cNvCxnSpPr/>
          <p:nvPr/>
        </p:nvCxnSpPr>
        <p:spPr>
          <a:xfrm>
            <a:off x="9886336" y="4144298"/>
            <a:ext cx="0" cy="232696"/>
          </a:xfrm>
          <a:prstGeom prst="straightConnector1">
            <a:avLst/>
          </a:prstGeom>
          <a:noFill/>
          <a:ln cap="flat" cmpd="sng" w="19050">
            <a:solidFill>
              <a:schemeClr val="dk1"/>
            </a:solidFill>
            <a:prstDash val="solid"/>
            <a:miter lim="8000"/>
            <a:headEnd len="sm" w="sm" type="none"/>
            <a:tailEnd len="sm" w="sm" type="none"/>
          </a:ln>
        </p:spPr>
      </p:cxnSp>
      <p:sp>
        <p:nvSpPr>
          <p:cNvPr id="1169" name="Google Shape;1169;p15"/>
          <p:cNvSpPr txBox="1"/>
          <p:nvPr/>
        </p:nvSpPr>
        <p:spPr>
          <a:xfrm>
            <a:off x="6841671" y="5290457"/>
            <a:ext cx="465306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dotted-decimal IP address notation:</a:t>
            </a:r>
            <a:endParaRPr/>
          </a:p>
        </p:txBody>
      </p:sp>
      <p:sp>
        <p:nvSpPr>
          <p:cNvPr id="1170" name="Google Shape;1170;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xEl>
                                              <p:pRg end="0" st="0"/>
                                            </p:txEl>
                                          </p:spTgt>
                                        </p:tgtEl>
                                        <p:attrNameLst>
                                          <p:attrName>style.visibility</p:attrName>
                                        </p:attrNameLst>
                                      </p:cBhvr>
                                      <p:to>
                                        <p:strVal val="visible"/>
                                      </p:to>
                                    </p:set>
                                    <p:animEffect filter="fade" transition="in">
                                      <p:cBhvr>
                                        <p:cTn dur="500"/>
                                        <p:tgtEl>
                                          <p:spTgt spid="11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xEl>
                                              <p:pRg end="1" st="1"/>
                                            </p:txEl>
                                          </p:spTgt>
                                        </p:tgtEl>
                                        <p:attrNameLst>
                                          <p:attrName>style.visibility</p:attrName>
                                        </p:attrNameLst>
                                      </p:cBhvr>
                                      <p:to>
                                        <p:strVal val="visible"/>
                                      </p:to>
                                    </p:set>
                                    <p:animEffect filter="fade" transition="in">
                                      <p:cBhvr>
                                        <p:cTn dur="500"/>
                                        <p:tgtEl>
                                          <p:spTgt spid="11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xEl>
                                              <p:pRg end="2" st="2"/>
                                            </p:txEl>
                                          </p:spTgt>
                                        </p:tgtEl>
                                        <p:attrNameLst>
                                          <p:attrName>style.visibility</p:attrName>
                                        </p:attrNameLst>
                                      </p:cBhvr>
                                      <p:to>
                                        <p:strVal val="visible"/>
                                      </p:to>
                                    </p:set>
                                    <p:animEffect filter="fade" transition="in">
                                      <p:cBhvr>
                                        <p:cTn dur="500"/>
                                        <p:tgtEl>
                                          <p:spTgt spid="11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xEl>
                                              <p:pRg end="3" st="3"/>
                                            </p:txEl>
                                          </p:spTgt>
                                        </p:tgtEl>
                                        <p:attrNameLst>
                                          <p:attrName>style.visibility</p:attrName>
                                        </p:attrNameLst>
                                      </p:cBhvr>
                                      <p:to>
                                        <p:strVal val="visible"/>
                                      </p:to>
                                    </p:set>
                                    <p:animEffect filter="fade" transition="in">
                                      <p:cBhvr>
                                        <p:cTn dur="500"/>
                                        <p:tgtEl>
                                          <p:spTgt spid="11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xEl>
                                              <p:pRg end="4" st="4"/>
                                            </p:txEl>
                                          </p:spTgt>
                                        </p:tgtEl>
                                        <p:attrNameLst>
                                          <p:attrName>style.visibility</p:attrName>
                                        </p:attrNameLst>
                                      </p:cBhvr>
                                      <p:to>
                                        <p:strVal val="visible"/>
                                      </p:to>
                                    </p:set>
                                    <p:animEffect filter="fade" transition="in">
                                      <p:cBhvr>
                                        <p:cTn dur="500"/>
                                        <p:tgtEl>
                                          <p:spTgt spid="11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500"/>
                                        <p:tgtEl>
                                          <p:spTgt spid="1121"/>
                                        </p:tgtEl>
                                      </p:cBhvr>
                                    </p:animEffect>
                                  </p:childTnLst>
                                </p:cTn>
                              </p:par>
                              <p:par>
                                <p:cTn fill="hold" nodeType="with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500"/>
                                        <p:tgtEl>
                                          <p:spTgt spid="1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6"/>
          <p:cNvSpPr txBox="1"/>
          <p:nvPr>
            <p:ph idx="1" type="body"/>
          </p:nvPr>
        </p:nvSpPr>
        <p:spPr>
          <a:xfrm>
            <a:off x="872790" y="1409001"/>
            <a:ext cx="5557988" cy="4841896"/>
          </a:xfrm>
          <a:prstGeom prst="rect">
            <a:avLst/>
          </a:prstGeom>
          <a:noFill/>
          <a:ln>
            <a:noFill/>
          </a:ln>
        </p:spPr>
        <p:txBody>
          <a:bodyPr anchorCtr="0" anchor="t" bIns="45700" lIns="91425" spcFirstLastPara="1" rIns="91425" wrap="square" tIns="45700">
            <a:normAutofit/>
          </a:bodyPr>
          <a:lstStyle/>
          <a:p>
            <a:pPr indent="-293688" lvl="0" marL="352425" rtl="0" algn="l">
              <a:lnSpc>
                <a:spcPct val="90000"/>
              </a:lnSpc>
              <a:spcBef>
                <a:spcPts val="0"/>
              </a:spcBef>
              <a:spcAft>
                <a:spcPts val="0"/>
              </a:spcAft>
              <a:buSzPts val="3200"/>
              <a:buChar char="▪"/>
            </a:pPr>
            <a:r>
              <a:rPr lang="en-US" sz="3200">
                <a:solidFill>
                  <a:srgbClr val="C00000"/>
                </a:solidFill>
              </a:rPr>
              <a:t>IP address:</a:t>
            </a:r>
            <a:r>
              <a:rPr lang="en-US">
                <a:solidFill>
                  <a:srgbClr val="C00000"/>
                </a:solidFill>
              </a:rPr>
              <a:t> </a:t>
            </a:r>
            <a:r>
              <a:rPr lang="en-US"/>
              <a:t>32-bit identifier associated with each host or router </a:t>
            </a:r>
            <a:r>
              <a:rPr i="1" lang="en-US">
                <a:solidFill>
                  <a:srgbClr val="0000A3"/>
                </a:solidFill>
              </a:rPr>
              <a:t>interface</a:t>
            </a:r>
            <a:r>
              <a:rPr lang="en-US"/>
              <a:t> </a:t>
            </a:r>
            <a:endParaRPr/>
          </a:p>
          <a:p>
            <a:pPr indent="-293688" lvl="0" marL="352425" rtl="0" algn="l">
              <a:lnSpc>
                <a:spcPct val="90000"/>
              </a:lnSpc>
              <a:spcBef>
                <a:spcPts val="1000"/>
              </a:spcBef>
              <a:spcAft>
                <a:spcPts val="0"/>
              </a:spcAft>
              <a:buSzPts val="3200"/>
              <a:buChar char="▪"/>
            </a:pPr>
            <a:r>
              <a:rPr lang="en-US" sz="3200">
                <a:solidFill>
                  <a:srgbClr val="CC0000"/>
                </a:solidFill>
              </a:rPr>
              <a:t>interface:</a:t>
            </a:r>
            <a:r>
              <a:rPr lang="en-US"/>
              <a:t> connection between host/router and physical link</a:t>
            </a:r>
            <a:endParaRPr/>
          </a:p>
          <a:p>
            <a:pPr indent="-298450" lvl="1" marL="522288" rtl="0" algn="l">
              <a:lnSpc>
                <a:spcPct val="90000"/>
              </a:lnSpc>
              <a:spcBef>
                <a:spcPts val="500"/>
              </a:spcBef>
              <a:spcAft>
                <a:spcPts val="0"/>
              </a:spcAft>
              <a:buSzPts val="2800"/>
              <a:buChar char="•"/>
            </a:pPr>
            <a:r>
              <a:rPr lang="en-US" sz="2800"/>
              <a:t>router’s typically have multiple interfaces</a:t>
            </a:r>
            <a:endParaRPr/>
          </a:p>
          <a:p>
            <a:pPr indent="-298450" lvl="1" marL="522288" rtl="0" algn="l">
              <a:lnSpc>
                <a:spcPct val="90000"/>
              </a:lnSpc>
              <a:spcBef>
                <a:spcPts val="500"/>
              </a:spcBef>
              <a:spcAft>
                <a:spcPts val="0"/>
              </a:spcAft>
              <a:buSzPts val="2800"/>
              <a:buChar char="•"/>
            </a:pPr>
            <a:r>
              <a:rPr lang="en-US" sz="2800"/>
              <a:t>host typically has one or two interfaces </a:t>
            </a:r>
            <a:r>
              <a:rPr lang="en-US"/>
              <a:t>(e.g., wired Ethernet, wireless 802.11)</a:t>
            </a:r>
            <a:endParaRPr/>
          </a:p>
          <a:p>
            <a:pPr indent="0" lvl="0" marL="298450" rtl="0" algn="l">
              <a:lnSpc>
                <a:spcPct val="90000"/>
              </a:lnSpc>
              <a:spcBef>
                <a:spcPts val="1000"/>
              </a:spcBef>
              <a:spcAft>
                <a:spcPts val="0"/>
              </a:spcAft>
              <a:buSzPts val="3200"/>
              <a:buNone/>
            </a:pPr>
            <a:r>
              <a:t/>
            </a:r>
            <a:endParaRPr sz="3200"/>
          </a:p>
        </p:txBody>
      </p:sp>
      <p:sp>
        <p:nvSpPr>
          <p:cNvPr id="1177" name="Google Shape;1177;p1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1178" name="Google Shape;1178;p16"/>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79" name="Google Shape;1179;p16"/>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80" name="Google Shape;1180;p16"/>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81" name="Google Shape;1181;p16"/>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1182" name="Google Shape;1182;p16"/>
          <p:cNvGrpSpPr/>
          <p:nvPr/>
        </p:nvGrpSpPr>
        <p:grpSpPr>
          <a:xfrm>
            <a:off x="6557963" y="2093236"/>
            <a:ext cx="920750" cy="276225"/>
            <a:chOff x="3251" y="608"/>
            <a:chExt cx="580" cy="174"/>
          </a:xfrm>
        </p:grpSpPr>
        <p:sp>
          <p:nvSpPr>
            <p:cNvPr id="1183" name="Google Shape;1183;p16"/>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184" name="Google Shape;1184;p16"/>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1185" name="Google Shape;1185;p16"/>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1186" name="Google Shape;1186;p16"/>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1187" name="Google Shape;1187;p16"/>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1188" name="Google Shape;1188;p16"/>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1189" name="Google Shape;1189;p16"/>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1190" name="Google Shape;1190;p16"/>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1191" name="Google Shape;1191;p16"/>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1192" name="Google Shape;1192;p16"/>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1193" name="Google Shape;1193;p16"/>
          <p:cNvGrpSpPr/>
          <p:nvPr/>
        </p:nvGrpSpPr>
        <p:grpSpPr>
          <a:xfrm>
            <a:off x="8885238" y="2996523"/>
            <a:ext cx="912812" cy="276225"/>
            <a:chOff x="4550" y="1257"/>
            <a:chExt cx="575" cy="174"/>
          </a:xfrm>
        </p:grpSpPr>
        <p:sp>
          <p:nvSpPr>
            <p:cNvPr id="1194" name="Google Shape;1194;p16"/>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195" name="Google Shape;1195;p16"/>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1196" name="Google Shape;1196;p16"/>
          <p:cNvGrpSpPr/>
          <p:nvPr/>
        </p:nvGrpSpPr>
        <p:grpSpPr>
          <a:xfrm>
            <a:off x="6858453" y="5763539"/>
            <a:ext cx="5043488" cy="947504"/>
            <a:chOff x="6727825" y="5192036"/>
            <a:chExt cx="5043488" cy="822325"/>
          </a:xfrm>
        </p:grpSpPr>
        <p:sp>
          <p:nvSpPr>
            <p:cNvPr id="1197" name="Google Shape;1197;p16"/>
            <p:cNvSpPr txBox="1"/>
            <p:nvPr/>
          </p:nvSpPr>
          <p:spPr>
            <a:xfrm>
              <a:off x="6727825" y="5192036"/>
              <a:ext cx="5043488"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223.1.1.1 = 11011111 00000001 00000001 00000001</a:t>
              </a:r>
              <a:endParaRPr b="0" i="0" sz="1800" u="none" cap="none" strike="noStrike">
                <a:solidFill>
                  <a:srgbClr val="000000"/>
                </a:solidFill>
                <a:latin typeface="Comic Sans MS"/>
                <a:ea typeface="Comic Sans MS"/>
                <a:cs typeface="Comic Sans MS"/>
                <a:sym typeface="Comic Sans MS"/>
              </a:endParaRPr>
            </a:p>
          </p:txBody>
        </p:sp>
        <p:sp>
          <p:nvSpPr>
            <p:cNvPr id="1198" name="Google Shape;1198;p16"/>
            <p:cNvSpPr/>
            <p:nvPr/>
          </p:nvSpPr>
          <p:spPr>
            <a:xfrm>
              <a:off x="7905750" y="5447623"/>
              <a:ext cx="892175" cy="92075"/>
            </a:xfrm>
            <a:custGeom>
              <a:rect b="b" l="l" r="r" t="t"/>
              <a:pathLst>
                <a:path extrusionOk="0" h="58" w="562">
                  <a:moveTo>
                    <a:pt x="0" y="0"/>
                  </a:moveTo>
                  <a:lnTo>
                    <a:pt x="0" y="58"/>
                  </a:lnTo>
                  <a:lnTo>
                    <a:pt x="562" y="58"/>
                  </a:lnTo>
                  <a:lnTo>
                    <a:pt x="562" y="16"/>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99" name="Google Shape;1199;p16"/>
            <p:cNvSpPr/>
            <p:nvPr/>
          </p:nvSpPr>
          <p:spPr>
            <a:xfrm>
              <a:off x="8867775" y="5466673"/>
              <a:ext cx="892175"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200" name="Google Shape;1200;p16"/>
            <p:cNvSpPr/>
            <p:nvPr/>
          </p:nvSpPr>
          <p:spPr>
            <a:xfrm>
              <a:off x="9832975" y="5469848"/>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201" name="Google Shape;1201;p16"/>
            <p:cNvSpPr/>
            <p:nvPr/>
          </p:nvSpPr>
          <p:spPr>
            <a:xfrm>
              <a:off x="10798175" y="5473023"/>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202" name="Google Shape;1202;p16"/>
            <p:cNvSpPr txBox="1"/>
            <p:nvPr/>
          </p:nvSpPr>
          <p:spPr>
            <a:xfrm>
              <a:off x="8104188" y="5668286"/>
              <a:ext cx="52228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223</a:t>
              </a:r>
              <a:endParaRPr b="0" i="0" sz="1800" u="none" cap="none" strike="noStrike">
                <a:solidFill>
                  <a:srgbClr val="000000"/>
                </a:solidFill>
                <a:latin typeface="Comic Sans MS"/>
                <a:ea typeface="Comic Sans MS"/>
                <a:cs typeface="Comic Sans MS"/>
                <a:sym typeface="Comic Sans MS"/>
              </a:endParaRPr>
            </a:p>
          </p:txBody>
        </p:sp>
        <p:sp>
          <p:nvSpPr>
            <p:cNvPr id="1203" name="Google Shape;1203;p16"/>
            <p:cNvSpPr txBox="1"/>
            <p:nvPr/>
          </p:nvSpPr>
          <p:spPr>
            <a:xfrm>
              <a:off x="9147175" y="5677811"/>
              <a:ext cx="296863"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1204" name="Google Shape;1204;p16"/>
            <p:cNvSpPr txBox="1"/>
            <p:nvPr/>
          </p:nvSpPr>
          <p:spPr>
            <a:xfrm>
              <a:off x="11104563"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1205" name="Google Shape;1205;p16"/>
            <p:cNvSpPr txBox="1"/>
            <p:nvPr/>
          </p:nvSpPr>
          <p:spPr>
            <a:xfrm>
              <a:off x="10085388"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grpSp>
      <p:grpSp>
        <p:nvGrpSpPr>
          <p:cNvPr id="1206" name="Google Shape;1206;p16"/>
          <p:cNvGrpSpPr/>
          <p:nvPr/>
        </p:nvGrpSpPr>
        <p:grpSpPr>
          <a:xfrm>
            <a:off x="7116763" y="1378861"/>
            <a:ext cx="641350" cy="558800"/>
            <a:chOff x="-44" y="1473"/>
            <a:chExt cx="981" cy="1105"/>
          </a:xfrm>
        </p:grpSpPr>
        <p:pic>
          <p:nvPicPr>
            <p:cNvPr descr="desktop_computer_stylized_medium" id="1207" name="Google Shape;1207;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08" name="Google Shape;1208;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09" name="Google Shape;1209;p16"/>
          <p:cNvGrpSpPr/>
          <p:nvPr/>
        </p:nvGrpSpPr>
        <p:grpSpPr>
          <a:xfrm>
            <a:off x="7112000" y="1977348"/>
            <a:ext cx="641350" cy="558800"/>
            <a:chOff x="-44" y="1473"/>
            <a:chExt cx="981" cy="1105"/>
          </a:xfrm>
        </p:grpSpPr>
        <p:pic>
          <p:nvPicPr>
            <p:cNvPr descr="desktop_computer_stylized_medium" id="1210" name="Google Shape;1210;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11" name="Google Shape;1211;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12" name="Google Shape;1212;p16"/>
          <p:cNvGrpSpPr/>
          <p:nvPr/>
        </p:nvGrpSpPr>
        <p:grpSpPr>
          <a:xfrm>
            <a:off x="7140575" y="2586948"/>
            <a:ext cx="641350" cy="558800"/>
            <a:chOff x="-44" y="1473"/>
            <a:chExt cx="981" cy="1105"/>
          </a:xfrm>
        </p:grpSpPr>
        <p:pic>
          <p:nvPicPr>
            <p:cNvPr descr="desktop_computer_stylized_medium" id="1213" name="Google Shape;1213;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14" name="Google Shape;1214;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15" name="Google Shape;1215;p16"/>
          <p:cNvGrpSpPr/>
          <p:nvPr/>
        </p:nvGrpSpPr>
        <p:grpSpPr>
          <a:xfrm flipH="1">
            <a:off x="10799763" y="1536023"/>
            <a:ext cx="641350" cy="558800"/>
            <a:chOff x="-44" y="1473"/>
            <a:chExt cx="981" cy="1105"/>
          </a:xfrm>
        </p:grpSpPr>
        <p:pic>
          <p:nvPicPr>
            <p:cNvPr descr="desktop_computer_stylized_medium" id="1216" name="Google Shape;1216;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17" name="Google Shape;1217;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18" name="Google Shape;1218;p16"/>
          <p:cNvGrpSpPr/>
          <p:nvPr/>
        </p:nvGrpSpPr>
        <p:grpSpPr>
          <a:xfrm flipH="1">
            <a:off x="10814050" y="2815548"/>
            <a:ext cx="641350" cy="558800"/>
            <a:chOff x="-44" y="1473"/>
            <a:chExt cx="981" cy="1105"/>
          </a:xfrm>
        </p:grpSpPr>
        <p:pic>
          <p:nvPicPr>
            <p:cNvPr descr="desktop_computer_stylized_medium" id="1219" name="Google Shape;1219;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20" name="Google Shape;1220;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21" name="Google Shape;1221;p16"/>
          <p:cNvGrpSpPr/>
          <p:nvPr/>
        </p:nvGrpSpPr>
        <p:grpSpPr>
          <a:xfrm flipH="1">
            <a:off x="9715500" y="4339548"/>
            <a:ext cx="641350" cy="558800"/>
            <a:chOff x="-44" y="1473"/>
            <a:chExt cx="981" cy="1105"/>
          </a:xfrm>
        </p:grpSpPr>
        <p:pic>
          <p:nvPicPr>
            <p:cNvPr descr="desktop_computer_stylized_medium" id="1222" name="Google Shape;1222;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23" name="Google Shape;1223;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24" name="Google Shape;1224;p16"/>
          <p:cNvGrpSpPr/>
          <p:nvPr/>
        </p:nvGrpSpPr>
        <p:grpSpPr>
          <a:xfrm flipH="1">
            <a:off x="8551863" y="4380823"/>
            <a:ext cx="641350" cy="558800"/>
            <a:chOff x="-44" y="1473"/>
            <a:chExt cx="981" cy="1105"/>
          </a:xfrm>
        </p:grpSpPr>
        <p:pic>
          <p:nvPicPr>
            <p:cNvPr descr="desktop_computer_stylized_medium" id="1225" name="Google Shape;1225;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26" name="Google Shape;1226;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cxnSp>
        <p:nvCxnSpPr>
          <p:cNvPr id="1227" name="Google Shape;1227;p16"/>
          <p:cNvCxnSpPr/>
          <p:nvPr/>
        </p:nvCxnSpPr>
        <p:spPr>
          <a:xfrm>
            <a:off x="7697391" y="1785938"/>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228" name="Google Shape;1228;p16"/>
          <p:cNvCxnSpPr/>
          <p:nvPr/>
        </p:nvCxnSpPr>
        <p:spPr>
          <a:xfrm>
            <a:off x="7706916" y="2384823"/>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229" name="Google Shape;1229;p16"/>
          <p:cNvCxnSpPr/>
          <p:nvPr/>
        </p:nvCxnSpPr>
        <p:spPr>
          <a:xfrm>
            <a:off x="7734301" y="2997995"/>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230" name="Google Shape;1230;p16"/>
          <p:cNvCxnSpPr/>
          <p:nvPr/>
        </p:nvCxnSpPr>
        <p:spPr>
          <a:xfrm>
            <a:off x="8364512" y="2578622"/>
            <a:ext cx="794264" cy="0"/>
          </a:xfrm>
          <a:prstGeom prst="straightConnector1">
            <a:avLst/>
          </a:prstGeom>
          <a:noFill/>
          <a:ln cap="flat" cmpd="sng" w="19050">
            <a:solidFill>
              <a:schemeClr val="dk1"/>
            </a:solidFill>
            <a:prstDash val="solid"/>
            <a:miter lim="8000"/>
            <a:headEnd len="sm" w="sm" type="none"/>
            <a:tailEnd len="sm" w="sm" type="none"/>
          </a:ln>
        </p:spPr>
      </p:cxnSp>
      <p:cxnSp>
        <p:nvCxnSpPr>
          <p:cNvPr id="1231" name="Google Shape;1231;p16"/>
          <p:cNvCxnSpPr/>
          <p:nvPr/>
        </p:nvCxnSpPr>
        <p:spPr>
          <a:xfrm>
            <a:off x="9547622" y="2584574"/>
            <a:ext cx="975473" cy="0"/>
          </a:xfrm>
          <a:prstGeom prst="straightConnector1">
            <a:avLst/>
          </a:prstGeom>
          <a:noFill/>
          <a:ln cap="flat" cmpd="sng" w="19050">
            <a:solidFill>
              <a:schemeClr val="dk1"/>
            </a:solidFill>
            <a:prstDash val="solid"/>
            <a:miter lim="8000"/>
            <a:headEnd len="sm" w="sm" type="none"/>
            <a:tailEnd len="sm" w="sm" type="none"/>
          </a:ln>
        </p:spPr>
      </p:cxnSp>
      <p:grpSp>
        <p:nvGrpSpPr>
          <p:cNvPr id="1232" name="Google Shape;1232;p16"/>
          <p:cNvGrpSpPr/>
          <p:nvPr/>
        </p:nvGrpSpPr>
        <p:grpSpPr>
          <a:xfrm>
            <a:off x="9053641" y="2438501"/>
            <a:ext cx="632991" cy="300938"/>
            <a:chOff x="7493876" y="2774731"/>
            <a:chExt cx="1481958" cy="894622"/>
          </a:xfrm>
        </p:grpSpPr>
        <p:sp>
          <p:nvSpPr>
            <p:cNvPr id="1233" name="Google Shape;1233;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234" name="Google Shape;1234;p16"/>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235" name="Google Shape;1235;p16"/>
            <p:cNvGrpSpPr/>
            <p:nvPr/>
          </p:nvGrpSpPr>
          <p:grpSpPr>
            <a:xfrm>
              <a:off x="7713663" y="2848339"/>
              <a:ext cx="1042107" cy="425543"/>
              <a:chOff x="7786941" y="2884917"/>
              <a:chExt cx="897649" cy="353919"/>
            </a:xfrm>
          </p:grpSpPr>
          <p:sp>
            <p:nvSpPr>
              <p:cNvPr id="1236" name="Google Shape;1236;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37" name="Google Shape;1237;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38" name="Google Shape;1238;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39" name="Google Shape;1239;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cxnSp>
        <p:nvCxnSpPr>
          <p:cNvPr id="1240" name="Google Shape;1240;p16"/>
          <p:cNvCxnSpPr/>
          <p:nvPr/>
        </p:nvCxnSpPr>
        <p:spPr>
          <a:xfrm>
            <a:off x="10629900" y="1942421"/>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241" name="Google Shape;1241;p16"/>
          <p:cNvCxnSpPr/>
          <p:nvPr/>
        </p:nvCxnSpPr>
        <p:spPr>
          <a:xfrm>
            <a:off x="10631261" y="3225575"/>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242" name="Google Shape;1242;p16"/>
          <p:cNvCxnSpPr/>
          <p:nvPr/>
        </p:nvCxnSpPr>
        <p:spPr>
          <a:xfrm>
            <a:off x="8740878" y="4181988"/>
            <a:ext cx="0" cy="232696"/>
          </a:xfrm>
          <a:prstGeom prst="straightConnector1">
            <a:avLst/>
          </a:prstGeom>
          <a:noFill/>
          <a:ln cap="flat" cmpd="sng" w="19050">
            <a:solidFill>
              <a:schemeClr val="dk1"/>
            </a:solidFill>
            <a:prstDash val="solid"/>
            <a:miter lim="8000"/>
            <a:headEnd len="sm" w="sm" type="none"/>
            <a:tailEnd len="sm" w="sm" type="none"/>
          </a:ln>
        </p:spPr>
      </p:cxnSp>
      <p:cxnSp>
        <p:nvCxnSpPr>
          <p:cNvPr id="1243" name="Google Shape;1243;p16"/>
          <p:cNvCxnSpPr/>
          <p:nvPr/>
        </p:nvCxnSpPr>
        <p:spPr>
          <a:xfrm>
            <a:off x="9886336" y="4144298"/>
            <a:ext cx="0" cy="232696"/>
          </a:xfrm>
          <a:prstGeom prst="straightConnector1">
            <a:avLst/>
          </a:prstGeom>
          <a:noFill/>
          <a:ln cap="flat" cmpd="sng" w="19050">
            <a:solidFill>
              <a:schemeClr val="dk1"/>
            </a:solidFill>
            <a:prstDash val="solid"/>
            <a:miter lim="8000"/>
            <a:headEnd len="sm" w="sm" type="none"/>
            <a:tailEnd len="sm" w="sm" type="none"/>
          </a:ln>
        </p:spPr>
      </p:cxnSp>
      <p:sp>
        <p:nvSpPr>
          <p:cNvPr id="1244" name="Google Shape;1244;p16"/>
          <p:cNvSpPr txBox="1"/>
          <p:nvPr/>
        </p:nvSpPr>
        <p:spPr>
          <a:xfrm>
            <a:off x="6841671" y="5290457"/>
            <a:ext cx="465306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dotted-decimal IP address notation:</a:t>
            </a:r>
            <a:endParaRPr/>
          </a:p>
        </p:txBody>
      </p:sp>
      <p:sp>
        <p:nvSpPr>
          <p:cNvPr id="1245" name="Google Shape;1245;p16"/>
          <p:cNvSpPr/>
          <p:nvPr/>
        </p:nvSpPr>
        <p:spPr>
          <a:xfrm>
            <a:off x="587829" y="1257300"/>
            <a:ext cx="5878285" cy="519248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46" name="Google Shape;1246;p16"/>
          <p:cNvSpPr/>
          <p:nvPr/>
        </p:nvSpPr>
        <p:spPr>
          <a:xfrm>
            <a:off x="6014358" y="5165271"/>
            <a:ext cx="5878285" cy="1692729"/>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47" name="Google Shape;1247;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1000"/>
                                        <p:tgtEl>
                                          <p:spTgt spid="1245"/>
                                        </p:tgtEl>
                                      </p:cBhvr>
                                    </p:animEffect>
                                  </p:childTnLst>
                                </p:cTn>
                              </p:par>
                              <p:par>
                                <p:cTn fill="hold" nodeType="withEffect" presetClass="entr" presetID="10" presetSubtype="0">
                                  <p:stCondLst>
                                    <p:cond delay="0"/>
                                  </p:stCondLst>
                                  <p:childTnLst>
                                    <p:set>
                                      <p:cBhvr>
                                        <p:cTn dur="1" fill="hold">
                                          <p:stCondLst>
                                            <p:cond delay="0"/>
                                          </p:stCondLst>
                                        </p:cTn>
                                        <p:tgtEl>
                                          <p:spTgt spid="1246"/>
                                        </p:tgtEl>
                                        <p:attrNameLst>
                                          <p:attrName>style.visibility</p:attrName>
                                        </p:attrNameLst>
                                      </p:cBhvr>
                                      <p:to>
                                        <p:strVal val="visible"/>
                                      </p:to>
                                    </p:set>
                                    <p:animEffect filter="fade" transition="in">
                                      <p:cBhvr>
                                        <p:cTn dur="1000"/>
                                        <p:tgtEl>
                                          <p:spTgt spid="1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1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1254" name="Google Shape;1254;p17"/>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255" name="Google Shape;1255;p17"/>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256" name="Google Shape;1256;p17"/>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257" name="Google Shape;1257;p17"/>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1258" name="Google Shape;1258;p17"/>
          <p:cNvGrpSpPr/>
          <p:nvPr/>
        </p:nvGrpSpPr>
        <p:grpSpPr>
          <a:xfrm>
            <a:off x="6557963" y="2093236"/>
            <a:ext cx="920750" cy="276225"/>
            <a:chOff x="3251" y="608"/>
            <a:chExt cx="580" cy="174"/>
          </a:xfrm>
        </p:grpSpPr>
        <p:sp>
          <p:nvSpPr>
            <p:cNvPr id="1259" name="Google Shape;1259;p17"/>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260" name="Google Shape;1260;p17"/>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1261" name="Google Shape;1261;p17"/>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1262" name="Google Shape;1262;p17"/>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1263" name="Google Shape;1263;p17"/>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1264" name="Google Shape;1264;p17"/>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1265" name="Google Shape;1265;p17"/>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1266" name="Google Shape;1266;p17"/>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1267" name="Google Shape;1267;p17"/>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1268" name="Google Shape;1268;p17"/>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1269" name="Google Shape;1269;p17"/>
          <p:cNvGrpSpPr/>
          <p:nvPr/>
        </p:nvGrpSpPr>
        <p:grpSpPr>
          <a:xfrm>
            <a:off x="8885238" y="2996523"/>
            <a:ext cx="912812" cy="276225"/>
            <a:chOff x="4550" y="1257"/>
            <a:chExt cx="575" cy="174"/>
          </a:xfrm>
        </p:grpSpPr>
        <p:sp>
          <p:nvSpPr>
            <p:cNvPr id="1270" name="Google Shape;1270;p17"/>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271" name="Google Shape;1271;p17"/>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1272" name="Google Shape;1272;p17"/>
          <p:cNvGrpSpPr/>
          <p:nvPr/>
        </p:nvGrpSpPr>
        <p:grpSpPr>
          <a:xfrm>
            <a:off x="7116763" y="1378861"/>
            <a:ext cx="641350" cy="558800"/>
            <a:chOff x="-44" y="1473"/>
            <a:chExt cx="981" cy="1105"/>
          </a:xfrm>
        </p:grpSpPr>
        <p:pic>
          <p:nvPicPr>
            <p:cNvPr descr="desktop_computer_stylized_medium" id="1273" name="Google Shape;1273;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74" name="Google Shape;1274;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75" name="Google Shape;1275;p17"/>
          <p:cNvGrpSpPr/>
          <p:nvPr/>
        </p:nvGrpSpPr>
        <p:grpSpPr>
          <a:xfrm>
            <a:off x="7112000" y="1977348"/>
            <a:ext cx="641350" cy="558800"/>
            <a:chOff x="-44" y="1473"/>
            <a:chExt cx="981" cy="1105"/>
          </a:xfrm>
        </p:grpSpPr>
        <p:pic>
          <p:nvPicPr>
            <p:cNvPr descr="desktop_computer_stylized_medium" id="1276" name="Google Shape;1276;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77" name="Google Shape;1277;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78" name="Google Shape;1278;p17"/>
          <p:cNvGrpSpPr/>
          <p:nvPr/>
        </p:nvGrpSpPr>
        <p:grpSpPr>
          <a:xfrm>
            <a:off x="7140575" y="2586948"/>
            <a:ext cx="641350" cy="558800"/>
            <a:chOff x="-44" y="1473"/>
            <a:chExt cx="981" cy="1105"/>
          </a:xfrm>
        </p:grpSpPr>
        <p:pic>
          <p:nvPicPr>
            <p:cNvPr descr="desktop_computer_stylized_medium" id="1279" name="Google Shape;1279;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80" name="Google Shape;1280;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81" name="Google Shape;1281;p17"/>
          <p:cNvGrpSpPr/>
          <p:nvPr/>
        </p:nvGrpSpPr>
        <p:grpSpPr>
          <a:xfrm flipH="1">
            <a:off x="10799763" y="1536023"/>
            <a:ext cx="641350" cy="558800"/>
            <a:chOff x="-44" y="1473"/>
            <a:chExt cx="981" cy="1105"/>
          </a:xfrm>
        </p:grpSpPr>
        <p:pic>
          <p:nvPicPr>
            <p:cNvPr descr="desktop_computer_stylized_medium" id="1282" name="Google Shape;1282;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83" name="Google Shape;1283;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84" name="Google Shape;1284;p17"/>
          <p:cNvGrpSpPr/>
          <p:nvPr/>
        </p:nvGrpSpPr>
        <p:grpSpPr>
          <a:xfrm flipH="1">
            <a:off x="10814050" y="2815548"/>
            <a:ext cx="641350" cy="558800"/>
            <a:chOff x="-44" y="1473"/>
            <a:chExt cx="981" cy="1105"/>
          </a:xfrm>
        </p:grpSpPr>
        <p:pic>
          <p:nvPicPr>
            <p:cNvPr descr="desktop_computer_stylized_medium" id="1285" name="Google Shape;1285;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86" name="Google Shape;1286;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87" name="Google Shape;1287;p17"/>
          <p:cNvGrpSpPr/>
          <p:nvPr/>
        </p:nvGrpSpPr>
        <p:grpSpPr>
          <a:xfrm flipH="1">
            <a:off x="9715500" y="4339548"/>
            <a:ext cx="641350" cy="558800"/>
            <a:chOff x="-44" y="1473"/>
            <a:chExt cx="981" cy="1105"/>
          </a:xfrm>
        </p:grpSpPr>
        <p:pic>
          <p:nvPicPr>
            <p:cNvPr descr="desktop_computer_stylized_medium" id="1288" name="Google Shape;1288;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89" name="Google Shape;1289;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290" name="Google Shape;1290;p17"/>
          <p:cNvGrpSpPr/>
          <p:nvPr/>
        </p:nvGrpSpPr>
        <p:grpSpPr>
          <a:xfrm flipH="1">
            <a:off x="8551863" y="4380823"/>
            <a:ext cx="641350" cy="558800"/>
            <a:chOff x="-44" y="1473"/>
            <a:chExt cx="981" cy="1105"/>
          </a:xfrm>
        </p:grpSpPr>
        <p:pic>
          <p:nvPicPr>
            <p:cNvPr descr="desktop_computer_stylized_medium" id="1291" name="Google Shape;1291;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92" name="Google Shape;1292;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cxnSp>
        <p:nvCxnSpPr>
          <p:cNvPr id="1293" name="Google Shape;1293;p17"/>
          <p:cNvCxnSpPr/>
          <p:nvPr/>
        </p:nvCxnSpPr>
        <p:spPr>
          <a:xfrm>
            <a:off x="7697391" y="1785938"/>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294" name="Google Shape;1294;p17"/>
          <p:cNvCxnSpPr/>
          <p:nvPr/>
        </p:nvCxnSpPr>
        <p:spPr>
          <a:xfrm>
            <a:off x="7698824" y="2384823"/>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295" name="Google Shape;1295;p17"/>
          <p:cNvCxnSpPr/>
          <p:nvPr/>
        </p:nvCxnSpPr>
        <p:spPr>
          <a:xfrm>
            <a:off x="7705979" y="2997995"/>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296" name="Google Shape;1296;p17"/>
          <p:cNvCxnSpPr/>
          <p:nvPr/>
        </p:nvCxnSpPr>
        <p:spPr>
          <a:xfrm>
            <a:off x="10629900" y="1942421"/>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297" name="Google Shape;1297;p17"/>
          <p:cNvCxnSpPr/>
          <p:nvPr/>
        </p:nvCxnSpPr>
        <p:spPr>
          <a:xfrm>
            <a:off x="10631261" y="3221529"/>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298" name="Google Shape;1298;p17"/>
          <p:cNvCxnSpPr/>
          <p:nvPr/>
        </p:nvCxnSpPr>
        <p:spPr>
          <a:xfrm>
            <a:off x="8740878" y="4181988"/>
            <a:ext cx="0" cy="232696"/>
          </a:xfrm>
          <a:prstGeom prst="straightConnector1">
            <a:avLst/>
          </a:prstGeom>
          <a:noFill/>
          <a:ln cap="flat" cmpd="sng" w="19050">
            <a:solidFill>
              <a:schemeClr val="dk1"/>
            </a:solidFill>
            <a:prstDash val="solid"/>
            <a:miter lim="8000"/>
            <a:headEnd len="sm" w="sm" type="none"/>
            <a:tailEnd len="sm" w="sm" type="none"/>
          </a:ln>
        </p:spPr>
      </p:cxnSp>
      <p:cxnSp>
        <p:nvCxnSpPr>
          <p:cNvPr id="1299" name="Google Shape;1299;p17"/>
          <p:cNvCxnSpPr/>
          <p:nvPr/>
        </p:nvCxnSpPr>
        <p:spPr>
          <a:xfrm>
            <a:off x="9886336" y="4144298"/>
            <a:ext cx="0" cy="232696"/>
          </a:xfrm>
          <a:prstGeom prst="straightConnector1">
            <a:avLst/>
          </a:prstGeom>
          <a:noFill/>
          <a:ln cap="flat" cmpd="sng" w="19050">
            <a:solidFill>
              <a:schemeClr val="dk1"/>
            </a:solidFill>
            <a:prstDash val="solid"/>
            <a:miter lim="8000"/>
            <a:headEnd len="sm" w="sm" type="none"/>
            <a:tailEnd len="sm" w="sm" type="none"/>
          </a:ln>
        </p:spPr>
      </p:cxnSp>
      <p:sp>
        <p:nvSpPr>
          <p:cNvPr id="1300" name="Google Shape;1300;p17"/>
          <p:cNvSpPr txBox="1"/>
          <p:nvPr/>
        </p:nvSpPr>
        <p:spPr>
          <a:xfrm>
            <a:off x="879206" y="1475622"/>
            <a:ext cx="3496144" cy="1681163"/>
          </a:xfrm>
          <a:prstGeom prst="rect">
            <a:avLst/>
          </a:prstGeom>
          <a:noFill/>
          <a:ln>
            <a:noFill/>
          </a:ln>
        </p:spPr>
        <p:txBody>
          <a:bodyPr anchorCtr="0" anchor="t" bIns="45700" lIns="91425" spcFirstLastPara="1" rIns="91425" wrap="square" tIns="45700">
            <a:normAutofit/>
          </a:bodyPr>
          <a:lstStyle/>
          <a:p>
            <a:pPr indent="-403225" lvl="0" marL="4032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Q: how are interfaces actually connected?</a:t>
            </a:r>
            <a:endParaRPr/>
          </a:p>
        </p:txBody>
      </p:sp>
      <p:grpSp>
        <p:nvGrpSpPr>
          <p:cNvPr id="1301" name="Google Shape;1301;p17"/>
          <p:cNvGrpSpPr/>
          <p:nvPr/>
        </p:nvGrpSpPr>
        <p:grpSpPr>
          <a:xfrm>
            <a:off x="4691921" y="2355418"/>
            <a:ext cx="3185855" cy="1323439"/>
            <a:chOff x="4692210" y="2354697"/>
            <a:chExt cx="3185636" cy="1323881"/>
          </a:xfrm>
        </p:grpSpPr>
        <p:sp>
          <p:nvSpPr>
            <p:cNvPr id="1302" name="Google Shape;1302;p17"/>
            <p:cNvSpPr txBox="1"/>
            <p:nvPr/>
          </p:nvSpPr>
          <p:spPr>
            <a:xfrm>
              <a:off x="4692210" y="2354697"/>
              <a:ext cx="2548153" cy="1323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Arial"/>
                  <a:ea typeface="Arial"/>
                  <a:cs typeface="Arial"/>
                  <a:sym typeface="Arial"/>
                </a:rPr>
                <a:t>A: </a:t>
              </a:r>
              <a:r>
                <a:rPr b="0" i="0" lang="en-US" sz="2000" u="none" cap="none" strike="noStrike">
                  <a:solidFill>
                    <a:srgbClr val="000000"/>
                  </a:solidFill>
                  <a:latin typeface="Arial"/>
                  <a:ea typeface="Arial"/>
                  <a:cs typeface="Arial"/>
                  <a:sym typeface="Arial"/>
                </a:rPr>
                <a:t>wired </a:t>
              </a:r>
              <a:endParaRPr/>
            </a:p>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Ethernet interfaces connected by Ethernet switches</a:t>
              </a:r>
              <a:endParaRPr/>
            </a:p>
          </p:txBody>
        </p:sp>
        <p:cxnSp>
          <p:nvCxnSpPr>
            <p:cNvPr id="1303" name="Google Shape;1303;p17"/>
            <p:cNvCxnSpPr/>
            <p:nvPr/>
          </p:nvCxnSpPr>
          <p:spPr>
            <a:xfrm rot="10800000">
              <a:off x="5801407" y="2510599"/>
              <a:ext cx="2076439" cy="0"/>
            </a:xfrm>
            <a:prstGeom prst="straightConnector1">
              <a:avLst/>
            </a:prstGeom>
            <a:noFill/>
            <a:ln cap="flat" cmpd="sng" w="9525">
              <a:solidFill>
                <a:srgbClr val="C00000"/>
              </a:solidFill>
              <a:prstDash val="solid"/>
              <a:round/>
              <a:headEnd len="med" w="med" type="none"/>
              <a:tailEnd len="med" w="med" type="none"/>
            </a:ln>
          </p:spPr>
        </p:cxnSp>
      </p:grpSp>
      <p:grpSp>
        <p:nvGrpSpPr>
          <p:cNvPr id="1304" name="Google Shape;1304;p17"/>
          <p:cNvGrpSpPr/>
          <p:nvPr/>
        </p:nvGrpSpPr>
        <p:grpSpPr>
          <a:xfrm>
            <a:off x="7689955" y="3656040"/>
            <a:ext cx="4167265" cy="2436076"/>
            <a:chOff x="5036498" y="3790332"/>
            <a:chExt cx="4168379" cy="2435958"/>
          </a:xfrm>
        </p:grpSpPr>
        <p:pic>
          <p:nvPicPr>
            <p:cNvPr descr="access_point_stylized_small" id="1305" name="Google Shape;1305;p17"/>
            <p:cNvPicPr preferRelativeResize="0"/>
            <p:nvPr/>
          </p:nvPicPr>
          <p:blipFill rotWithShape="1">
            <a:blip r:embed="rId4">
              <a:alphaModFix/>
            </a:blip>
            <a:srcRect b="0" l="0" r="0" t="0"/>
            <a:stretch/>
          </p:blipFill>
          <p:spPr>
            <a:xfrm>
              <a:off x="6312411" y="3790332"/>
              <a:ext cx="587569" cy="486906"/>
            </a:xfrm>
            <a:prstGeom prst="rect">
              <a:avLst/>
            </a:prstGeom>
            <a:noFill/>
            <a:ln>
              <a:noFill/>
            </a:ln>
          </p:spPr>
        </p:pic>
        <p:sp>
          <p:nvSpPr>
            <p:cNvPr id="1306" name="Google Shape;1306;p17"/>
            <p:cNvSpPr txBox="1"/>
            <p:nvPr/>
          </p:nvSpPr>
          <p:spPr>
            <a:xfrm>
              <a:off x="5036498" y="5518438"/>
              <a:ext cx="4168379" cy="7078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Arial"/>
                  <a:ea typeface="Arial"/>
                  <a:cs typeface="Arial"/>
                  <a:sym typeface="Arial"/>
                </a:rPr>
                <a:t>A: </a:t>
              </a:r>
              <a:r>
                <a:rPr b="0" i="0" lang="en-US" sz="2000" u="none" cap="none" strike="noStrike">
                  <a:solidFill>
                    <a:srgbClr val="000000"/>
                  </a:solidFill>
                  <a:latin typeface="Arial"/>
                  <a:ea typeface="Arial"/>
                  <a:cs typeface="Arial"/>
                  <a:sym typeface="Arial"/>
                </a:rPr>
                <a:t>wireless WiFi interfaces connected by WiFi base station</a:t>
              </a:r>
              <a:endParaRPr/>
            </a:p>
          </p:txBody>
        </p:sp>
        <p:cxnSp>
          <p:nvCxnSpPr>
            <p:cNvPr id="1307" name="Google Shape;1307;p17"/>
            <p:cNvCxnSpPr/>
            <p:nvPr/>
          </p:nvCxnSpPr>
          <p:spPr>
            <a:xfrm rot="10800000">
              <a:off x="6850795" y="4241577"/>
              <a:ext cx="0" cy="1289090"/>
            </a:xfrm>
            <a:prstGeom prst="straightConnector1">
              <a:avLst/>
            </a:prstGeom>
            <a:noFill/>
            <a:ln cap="flat" cmpd="sng" w="12700">
              <a:solidFill>
                <a:srgbClr val="C00000"/>
              </a:solidFill>
              <a:prstDash val="solid"/>
              <a:round/>
              <a:headEnd len="med" w="med" type="none"/>
              <a:tailEnd len="med" w="med" type="none"/>
            </a:ln>
          </p:spPr>
        </p:cxnSp>
      </p:grpSp>
      <p:sp>
        <p:nvSpPr>
          <p:cNvPr id="1308" name="Google Shape;1308;p17"/>
          <p:cNvSpPr txBox="1"/>
          <p:nvPr/>
        </p:nvSpPr>
        <p:spPr>
          <a:xfrm>
            <a:off x="1329751" y="4355476"/>
            <a:ext cx="432153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rgbClr val="CC0000"/>
                </a:solidFill>
                <a:latin typeface="Calibri"/>
                <a:ea typeface="Calibri"/>
                <a:cs typeface="Calibri"/>
                <a:sym typeface="Calibri"/>
              </a:rPr>
              <a:t>For now: </a:t>
            </a:r>
            <a:r>
              <a:rPr b="0" i="0" lang="en-US" sz="2400" u="none" cap="none" strike="noStrike">
                <a:solidFill>
                  <a:srgbClr val="000000"/>
                </a:solidFill>
                <a:latin typeface="Calibri"/>
                <a:ea typeface="Calibri"/>
                <a:cs typeface="Calibri"/>
                <a:sym typeface="Calibri"/>
              </a:rPr>
              <a:t>don’t need to worry about how one interface is connected to another (with no intervening router) </a:t>
            </a:r>
            <a:endParaRPr b="0" i="0" sz="2400" u="none" cap="none" strike="noStrike">
              <a:solidFill>
                <a:srgbClr val="000000"/>
              </a:solidFill>
              <a:latin typeface="Calibri"/>
              <a:ea typeface="Calibri"/>
              <a:cs typeface="Calibri"/>
              <a:sym typeface="Calibri"/>
            </a:endParaRPr>
          </a:p>
        </p:txBody>
      </p:sp>
      <p:cxnSp>
        <p:nvCxnSpPr>
          <p:cNvPr id="1309" name="Google Shape;1309;p17"/>
          <p:cNvCxnSpPr/>
          <p:nvPr/>
        </p:nvCxnSpPr>
        <p:spPr>
          <a:xfrm>
            <a:off x="8364512" y="2578622"/>
            <a:ext cx="794264" cy="0"/>
          </a:xfrm>
          <a:prstGeom prst="straightConnector1">
            <a:avLst/>
          </a:prstGeom>
          <a:noFill/>
          <a:ln cap="flat" cmpd="sng" w="19050">
            <a:solidFill>
              <a:schemeClr val="dk1"/>
            </a:solidFill>
            <a:prstDash val="solid"/>
            <a:miter lim="8000"/>
            <a:headEnd len="sm" w="sm" type="none"/>
            <a:tailEnd len="sm" w="sm" type="none"/>
          </a:ln>
        </p:spPr>
      </p:cxnSp>
      <p:cxnSp>
        <p:nvCxnSpPr>
          <p:cNvPr id="1310" name="Google Shape;1310;p17"/>
          <p:cNvCxnSpPr/>
          <p:nvPr/>
        </p:nvCxnSpPr>
        <p:spPr>
          <a:xfrm>
            <a:off x="9547622" y="2584574"/>
            <a:ext cx="975473" cy="0"/>
          </a:xfrm>
          <a:prstGeom prst="straightConnector1">
            <a:avLst/>
          </a:prstGeom>
          <a:noFill/>
          <a:ln cap="flat" cmpd="sng" w="19050">
            <a:solidFill>
              <a:schemeClr val="dk1"/>
            </a:solidFill>
            <a:prstDash val="solid"/>
            <a:miter lim="8000"/>
            <a:headEnd len="sm" w="sm" type="none"/>
            <a:tailEnd len="sm" w="sm" type="none"/>
          </a:ln>
        </p:spPr>
      </p:cxnSp>
      <p:grpSp>
        <p:nvGrpSpPr>
          <p:cNvPr id="1311" name="Google Shape;1311;p17"/>
          <p:cNvGrpSpPr/>
          <p:nvPr/>
        </p:nvGrpSpPr>
        <p:grpSpPr>
          <a:xfrm>
            <a:off x="9053641" y="2438501"/>
            <a:ext cx="632991" cy="300938"/>
            <a:chOff x="7493876" y="2774731"/>
            <a:chExt cx="1481958" cy="894622"/>
          </a:xfrm>
        </p:grpSpPr>
        <p:sp>
          <p:nvSpPr>
            <p:cNvPr id="1312" name="Google Shape;1312;p1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313" name="Google Shape;1313;p1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314" name="Google Shape;1314;p17"/>
            <p:cNvGrpSpPr/>
            <p:nvPr/>
          </p:nvGrpSpPr>
          <p:grpSpPr>
            <a:xfrm>
              <a:off x="7713663" y="2848339"/>
              <a:ext cx="1042107" cy="425543"/>
              <a:chOff x="7786941" y="2884917"/>
              <a:chExt cx="897649" cy="353919"/>
            </a:xfrm>
          </p:grpSpPr>
          <p:sp>
            <p:nvSpPr>
              <p:cNvPr id="1315" name="Google Shape;1315;p1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16" name="Google Shape;1316;p1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17" name="Google Shape;1317;p1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18" name="Google Shape;1318;p1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1319" name="Google Shape;1319;p17"/>
          <p:cNvGrpSpPr/>
          <p:nvPr/>
        </p:nvGrpSpPr>
        <p:grpSpPr>
          <a:xfrm>
            <a:off x="7865822" y="1784294"/>
            <a:ext cx="3069150" cy="1444428"/>
            <a:chOff x="7865822" y="1784294"/>
            <a:chExt cx="3069150" cy="1444428"/>
          </a:xfrm>
        </p:grpSpPr>
        <p:cxnSp>
          <p:nvCxnSpPr>
            <p:cNvPr id="1320" name="Google Shape;1320;p17"/>
            <p:cNvCxnSpPr/>
            <p:nvPr/>
          </p:nvCxnSpPr>
          <p:spPr>
            <a:xfrm>
              <a:off x="8043483" y="1784294"/>
              <a:ext cx="0" cy="1217851"/>
            </a:xfrm>
            <a:prstGeom prst="straightConnector1">
              <a:avLst/>
            </a:prstGeom>
            <a:noFill/>
            <a:ln cap="flat" cmpd="sng" w="19050">
              <a:solidFill>
                <a:schemeClr val="dk1"/>
              </a:solidFill>
              <a:prstDash val="solid"/>
              <a:miter lim="8000"/>
              <a:headEnd len="sm" w="sm" type="none"/>
              <a:tailEnd len="sm" w="sm" type="none"/>
            </a:ln>
          </p:spPr>
        </p:cxnSp>
        <p:grpSp>
          <p:nvGrpSpPr>
            <p:cNvPr id="1321" name="Google Shape;1321;p17"/>
            <p:cNvGrpSpPr/>
            <p:nvPr/>
          </p:nvGrpSpPr>
          <p:grpSpPr>
            <a:xfrm>
              <a:off x="7865822" y="2488367"/>
              <a:ext cx="618612" cy="329734"/>
              <a:chOff x="3668110" y="2448910"/>
              <a:chExt cx="3794234" cy="2165130"/>
            </a:xfrm>
          </p:grpSpPr>
          <p:sp>
            <p:nvSpPr>
              <p:cNvPr id="1322" name="Google Shape;1322;p1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23" name="Google Shape;1323;p1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1324" name="Google Shape;1324;p17"/>
              <p:cNvGrpSpPr/>
              <p:nvPr/>
            </p:nvGrpSpPr>
            <p:grpSpPr>
              <a:xfrm>
                <a:off x="3941378" y="2603243"/>
                <a:ext cx="3202061" cy="1066110"/>
                <a:chOff x="7939341" y="3037317"/>
                <a:chExt cx="897649" cy="353919"/>
              </a:xfrm>
            </p:grpSpPr>
            <p:sp>
              <p:nvSpPr>
                <p:cNvPr id="1325" name="Google Shape;1325;p1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26" name="Google Shape;1326;p1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27" name="Google Shape;1327;p1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28" name="Google Shape;1328;p1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cxnSp>
          <p:nvCxnSpPr>
            <p:cNvPr id="1329" name="Google Shape;1329;p17"/>
            <p:cNvCxnSpPr/>
            <p:nvPr/>
          </p:nvCxnSpPr>
          <p:spPr>
            <a:xfrm>
              <a:off x="10631585" y="1932648"/>
              <a:ext cx="0" cy="1296074"/>
            </a:xfrm>
            <a:prstGeom prst="straightConnector1">
              <a:avLst/>
            </a:prstGeom>
            <a:noFill/>
            <a:ln cap="flat" cmpd="sng" w="19050">
              <a:solidFill>
                <a:schemeClr val="dk1"/>
              </a:solidFill>
              <a:prstDash val="solid"/>
              <a:miter lim="8000"/>
              <a:headEnd len="sm" w="sm" type="none"/>
              <a:tailEnd len="sm" w="sm" type="none"/>
            </a:ln>
          </p:spPr>
        </p:cxnSp>
        <p:grpSp>
          <p:nvGrpSpPr>
            <p:cNvPr id="1330" name="Google Shape;1330;p17"/>
            <p:cNvGrpSpPr/>
            <p:nvPr/>
          </p:nvGrpSpPr>
          <p:grpSpPr>
            <a:xfrm>
              <a:off x="10316360" y="2442512"/>
              <a:ext cx="618612" cy="329734"/>
              <a:chOff x="3668110" y="2448910"/>
              <a:chExt cx="3794234" cy="2165130"/>
            </a:xfrm>
          </p:grpSpPr>
          <p:sp>
            <p:nvSpPr>
              <p:cNvPr id="1331" name="Google Shape;1331;p1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32" name="Google Shape;1332;p1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1333" name="Google Shape;1333;p17"/>
              <p:cNvGrpSpPr/>
              <p:nvPr/>
            </p:nvGrpSpPr>
            <p:grpSpPr>
              <a:xfrm>
                <a:off x="3941378" y="2603243"/>
                <a:ext cx="3202061" cy="1066110"/>
                <a:chOff x="7939341" y="3037317"/>
                <a:chExt cx="897649" cy="353919"/>
              </a:xfrm>
            </p:grpSpPr>
            <p:sp>
              <p:nvSpPr>
                <p:cNvPr id="1334" name="Google Shape;1334;p1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35" name="Google Shape;1335;p1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36" name="Google Shape;1336;p1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37" name="Google Shape;1337;p1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sp>
        <p:nvSpPr>
          <p:cNvPr id="1338" name="Google Shape;1338;p17"/>
          <p:cNvSpPr txBox="1"/>
          <p:nvPr/>
        </p:nvSpPr>
        <p:spPr>
          <a:xfrm>
            <a:off x="884650" y="2297495"/>
            <a:ext cx="3496144" cy="1066192"/>
          </a:xfrm>
          <a:prstGeom prst="rect">
            <a:avLst/>
          </a:prstGeom>
          <a:noFill/>
          <a:ln>
            <a:noFill/>
          </a:ln>
        </p:spPr>
        <p:txBody>
          <a:bodyPr anchorCtr="0" anchor="t" bIns="45700" lIns="91425" spcFirstLastPara="1" rIns="91425" wrap="square" tIns="45700">
            <a:normAutofit/>
          </a:bodyPr>
          <a:lstStyle/>
          <a:p>
            <a:pPr indent="-388938" lvl="0" marL="4032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we’ll learn about that in chapters 6, 7</a:t>
            </a:r>
            <a:endParaRPr/>
          </a:p>
        </p:txBody>
      </p:sp>
      <p:sp>
        <p:nvSpPr>
          <p:cNvPr id="1339" name="Google Shape;1339;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500"/>
                                        <p:tgtEl>
                                          <p:spTgt spid="1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par>
                                <p:cTn fill="hold" nodeType="with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gtEl>
                                        <p:attrNameLst>
                                          <p:attrName>style.visibility</p:attrName>
                                        </p:attrNameLst>
                                      </p:cBhvr>
                                      <p:to>
                                        <p:strVal val="visible"/>
                                      </p:to>
                                    </p:set>
                                    <p:animEffect filter="fade" transition="in">
                                      <p:cBhvr>
                                        <p:cTn dur="500"/>
                                        <p:tgtEl>
                                          <p:spTgt spid="1308"/>
                                        </p:tgtEl>
                                      </p:cBhvr>
                                    </p:animEffect>
                                  </p:childTnLst>
                                </p:cTn>
                              </p:par>
                              <p:par>
                                <p:cTn fill="hold" nodeType="withEffect" presetClass="exit" presetID="10" presetSubtype="0">
                                  <p:stCondLst>
                                    <p:cond delay="0"/>
                                  </p:stCondLst>
                                  <p:childTnLst>
                                    <p:animEffect filter="fade" transition="out">
                                      <p:cBhvr>
                                        <p:cTn dur="500"/>
                                        <p:tgtEl>
                                          <p:spTgt spid="1301"/>
                                        </p:tgtEl>
                                      </p:cBhvr>
                                    </p:animEffect>
                                    <p:set>
                                      <p:cBhvr>
                                        <p:cTn dur="1" fill="hold">
                                          <p:stCondLst>
                                            <p:cond delay="500"/>
                                          </p:stCondLst>
                                        </p:cTn>
                                        <p:tgtEl>
                                          <p:spTgt spid="130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04"/>
                                        </p:tgtEl>
                                      </p:cBhvr>
                                    </p:animEffect>
                                    <p:set>
                                      <p:cBhvr>
                                        <p:cTn dur="1" fill="hold">
                                          <p:stCondLst>
                                            <p:cond delay="500"/>
                                          </p:stCondLst>
                                        </p:cTn>
                                        <p:tgtEl>
                                          <p:spTgt spid="130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19"/>
                                        </p:tgtEl>
                                      </p:cBhvr>
                                    </p:animEffect>
                                    <p:set>
                                      <p:cBhvr>
                                        <p:cTn dur="1" fill="hold">
                                          <p:stCondLst>
                                            <p:cond delay="500"/>
                                          </p:stCondLst>
                                        </p:cTn>
                                        <p:tgtEl>
                                          <p:spTgt spid="13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1346" name="Google Shape;1346;p18"/>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347" name="Google Shape;1347;p18"/>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348" name="Google Shape;1348;p18"/>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349" name="Google Shape;1349;p18"/>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1350" name="Google Shape;1350;p18"/>
          <p:cNvGrpSpPr/>
          <p:nvPr/>
        </p:nvGrpSpPr>
        <p:grpSpPr>
          <a:xfrm>
            <a:off x="6557963" y="2093236"/>
            <a:ext cx="920750" cy="276225"/>
            <a:chOff x="3251" y="608"/>
            <a:chExt cx="580" cy="174"/>
          </a:xfrm>
        </p:grpSpPr>
        <p:sp>
          <p:nvSpPr>
            <p:cNvPr id="1351" name="Google Shape;1351;p18"/>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352" name="Google Shape;1352;p18"/>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1353" name="Google Shape;1353;p18"/>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1354" name="Google Shape;1354;p18"/>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1355" name="Google Shape;1355;p18"/>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1356" name="Google Shape;1356;p18"/>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1357" name="Google Shape;1357;p18"/>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1358" name="Google Shape;1358;p18"/>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1359" name="Google Shape;1359;p18"/>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1360" name="Google Shape;1360;p18"/>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1361" name="Google Shape;1361;p18"/>
          <p:cNvGrpSpPr/>
          <p:nvPr/>
        </p:nvGrpSpPr>
        <p:grpSpPr>
          <a:xfrm>
            <a:off x="8885238" y="2996523"/>
            <a:ext cx="912812" cy="276225"/>
            <a:chOff x="4550" y="1257"/>
            <a:chExt cx="575" cy="174"/>
          </a:xfrm>
        </p:grpSpPr>
        <p:sp>
          <p:nvSpPr>
            <p:cNvPr id="1362" name="Google Shape;1362;p18"/>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363" name="Google Shape;1363;p18"/>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1364" name="Google Shape;1364;p18"/>
          <p:cNvGrpSpPr/>
          <p:nvPr/>
        </p:nvGrpSpPr>
        <p:grpSpPr>
          <a:xfrm>
            <a:off x="7116763" y="1378861"/>
            <a:ext cx="641350" cy="558800"/>
            <a:chOff x="-44" y="1473"/>
            <a:chExt cx="981" cy="1105"/>
          </a:xfrm>
        </p:grpSpPr>
        <p:pic>
          <p:nvPicPr>
            <p:cNvPr descr="desktop_computer_stylized_medium" id="1365" name="Google Shape;1365;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66" name="Google Shape;1366;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367" name="Google Shape;1367;p18"/>
          <p:cNvGrpSpPr/>
          <p:nvPr/>
        </p:nvGrpSpPr>
        <p:grpSpPr>
          <a:xfrm>
            <a:off x="7112000" y="1977348"/>
            <a:ext cx="641350" cy="558800"/>
            <a:chOff x="-44" y="1473"/>
            <a:chExt cx="981" cy="1105"/>
          </a:xfrm>
        </p:grpSpPr>
        <p:pic>
          <p:nvPicPr>
            <p:cNvPr descr="desktop_computer_stylized_medium" id="1368" name="Google Shape;1368;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69" name="Google Shape;1369;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370" name="Google Shape;1370;p18"/>
          <p:cNvGrpSpPr/>
          <p:nvPr/>
        </p:nvGrpSpPr>
        <p:grpSpPr>
          <a:xfrm>
            <a:off x="7140575" y="2586948"/>
            <a:ext cx="641350" cy="558800"/>
            <a:chOff x="-44" y="1473"/>
            <a:chExt cx="981" cy="1105"/>
          </a:xfrm>
        </p:grpSpPr>
        <p:pic>
          <p:nvPicPr>
            <p:cNvPr descr="desktop_computer_stylized_medium" id="1371" name="Google Shape;1371;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72" name="Google Shape;1372;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373" name="Google Shape;1373;p18"/>
          <p:cNvGrpSpPr/>
          <p:nvPr/>
        </p:nvGrpSpPr>
        <p:grpSpPr>
          <a:xfrm flipH="1">
            <a:off x="10799763" y="1536023"/>
            <a:ext cx="641350" cy="558800"/>
            <a:chOff x="-44" y="1473"/>
            <a:chExt cx="981" cy="1105"/>
          </a:xfrm>
        </p:grpSpPr>
        <p:pic>
          <p:nvPicPr>
            <p:cNvPr descr="desktop_computer_stylized_medium" id="1374" name="Google Shape;1374;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75" name="Google Shape;1375;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376" name="Google Shape;1376;p18"/>
          <p:cNvGrpSpPr/>
          <p:nvPr/>
        </p:nvGrpSpPr>
        <p:grpSpPr>
          <a:xfrm flipH="1">
            <a:off x="10814050" y="2815548"/>
            <a:ext cx="641350" cy="558800"/>
            <a:chOff x="-44" y="1473"/>
            <a:chExt cx="981" cy="1105"/>
          </a:xfrm>
        </p:grpSpPr>
        <p:pic>
          <p:nvPicPr>
            <p:cNvPr descr="desktop_computer_stylized_medium" id="1377" name="Google Shape;1377;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78" name="Google Shape;1378;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379" name="Google Shape;1379;p18"/>
          <p:cNvGrpSpPr/>
          <p:nvPr/>
        </p:nvGrpSpPr>
        <p:grpSpPr>
          <a:xfrm flipH="1">
            <a:off x="9715500" y="4339548"/>
            <a:ext cx="641350" cy="558800"/>
            <a:chOff x="-44" y="1473"/>
            <a:chExt cx="981" cy="1105"/>
          </a:xfrm>
        </p:grpSpPr>
        <p:pic>
          <p:nvPicPr>
            <p:cNvPr descr="desktop_computer_stylized_medium" id="1380" name="Google Shape;1380;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81" name="Google Shape;1381;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382" name="Google Shape;1382;p18"/>
          <p:cNvGrpSpPr/>
          <p:nvPr/>
        </p:nvGrpSpPr>
        <p:grpSpPr>
          <a:xfrm flipH="1">
            <a:off x="8551863" y="4380823"/>
            <a:ext cx="641350" cy="558800"/>
            <a:chOff x="-44" y="1473"/>
            <a:chExt cx="981" cy="1105"/>
          </a:xfrm>
        </p:grpSpPr>
        <p:pic>
          <p:nvPicPr>
            <p:cNvPr descr="desktop_computer_stylized_medium" id="1383" name="Google Shape;1383;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84" name="Google Shape;1384;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cxnSp>
        <p:nvCxnSpPr>
          <p:cNvPr id="1385" name="Google Shape;1385;p18"/>
          <p:cNvCxnSpPr/>
          <p:nvPr/>
        </p:nvCxnSpPr>
        <p:spPr>
          <a:xfrm>
            <a:off x="7697391" y="1785938"/>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386" name="Google Shape;1386;p18"/>
          <p:cNvCxnSpPr/>
          <p:nvPr/>
        </p:nvCxnSpPr>
        <p:spPr>
          <a:xfrm>
            <a:off x="7698824" y="2384823"/>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387" name="Google Shape;1387;p18"/>
          <p:cNvCxnSpPr/>
          <p:nvPr/>
        </p:nvCxnSpPr>
        <p:spPr>
          <a:xfrm>
            <a:off x="7705979" y="2997995"/>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388" name="Google Shape;1388;p18"/>
          <p:cNvCxnSpPr/>
          <p:nvPr/>
        </p:nvCxnSpPr>
        <p:spPr>
          <a:xfrm>
            <a:off x="10629900" y="1942421"/>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389" name="Google Shape;1389;p18"/>
          <p:cNvCxnSpPr/>
          <p:nvPr/>
        </p:nvCxnSpPr>
        <p:spPr>
          <a:xfrm>
            <a:off x="10631261" y="3221529"/>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390" name="Google Shape;1390;p18"/>
          <p:cNvCxnSpPr/>
          <p:nvPr/>
        </p:nvCxnSpPr>
        <p:spPr>
          <a:xfrm>
            <a:off x="8740878" y="4181988"/>
            <a:ext cx="0" cy="232696"/>
          </a:xfrm>
          <a:prstGeom prst="straightConnector1">
            <a:avLst/>
          </a:prstGeom>
          <a:noFill/>
          <a:ln cap="flat" cmpd="sng" w="19050">
            <a:solidFill>
              <a:schemeClr val="dk1"/>
            </a:solidFill>
            <a:prstDash val="solid"/>
            <a:miter lim="8000"/>
            <a:headEnd len="sm" w="sm" type="none"/>
            <a:tailEnd len="sm" w="sm" type="none"/>
          </a:ln>
        </p:spPr>
      </p:cxnSp>
      <p:cxnSp>
        <p:nvCxnSpPr>
          <p:cNvPr id="1391" name="Google Shape;1391;p18"/>
          <p:cNvCxnSpPr/>
          <p:nvPr/>
        </p:nvCxnSpPr>
        <p:spPr>
          <a:xfrm>
            <a:off x="9886336" y="4144298"/>
            <a:ext cx="0" cy="232696"/>
          </a:xfrm>
          <a:prstGeom prst="straightConnector1">
            <a:avLst/>
          </a:prstGeom>
          <a:noFill/>
          <a:ln cap="flat" cmpd="sng" w="19050">
            <a:solidFill>
              <a:schemeClr val="dk1"/>
            </a:solidFill>
            <a:prstDash val="solid"/>
            <a:miter lim="8000"/>
            <a:headEnd len="sm" w="sm" type="none"/>
            <a:tailEnd len="sm" w="sm" type="none"/>
          </a:ln>
        </p:spPr>
      </p:cxnSp>
      <p:sp>
        <p:nvSpPr>
          <p:cNvPr id="1392" name="Google Shape;1392;p18"/>
          <p:cNvSpPr txBox="1"/>
          <p:nvPr/>
        </p:nvSpPr>
        <p:spPr>
          <a:xfrm>
            <a:off x="910964" y="1504586"/>
            <a:ext cx="5504825" cy="2215008"/>
          </a:xfrm>
          <a:prstGeom prst="rect">
            <a:avLst/>
          </a:prstGeom>
          <a:noFill/>
          <a:ln>
            <a:noFill/>
          </a:ln>
        </p:spPr>
        <p:txBody>
          <a:bodyPr anchorCtr="0" anchor="t" bIns="45700" lIns="91425" spcFirstLastPara="1" rIns="91425" wrap="square" tIns="45700">
            <a:normAutofit/>
          </a:bodyPr>
          <a:lstStyle/>
          <a:p>
            <a:pPr indent="-234950" lvl="0" marL="23495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000099"/>
                </a:solidFill>
                <a:latin typeface="Calibri"/>
                <a:ea typeface="Calibri"/>
                <a:cs typeface="Calibri"/>
                <a:sym typeface="Calibri"/>
              </a:rPr>
              <a:t>What’s a subnet ?</a:t>
            </a:r>
            <a:endParaRPr/>
          </a:p>
          <a:p>
            <a:pPr indent="-233363"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device interfaces that can physically reach each other </a:t>
            </a:r>
            <a:r>
              <a:rPr b="0" i="0" lang="en-US" sz="2800" u="none" cap="none" strike="noStrike">
                <a:solidFill>
                  <a:srgbClr val="C00000"/>
                </a:solidFill>
                <a:latin typeface="Calibri"/>
                <a:ea typeface="Calibri"/>
                <a:cs typeface="Calibri"/>
                <a:sym typeface="Calibri"/>
              </a:rPr>
              <a:t>without passing through an intervening router</a:t>
            </a:r>
            <a:endParaRPr b="0" i="1" sz="2800" u="none" cap="none" strike="noStrike">
              <a:solidFill>
                <a:srgbClr val="CC0000"/>
              </a:solidFill>
              <a:latin typeface="Calibri"/>
              <a:ea typeface="Calibri"/>
              <a:cs typeface="Calibri"/>
              <a:sym typeface="Calibri"/>
            </a:endParaRPr>
          </a:p>
          <a:p>
            <a:pPr indent="-55563"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cxnSp>
        <p:nvCxnSpPr>
          <p:cNvPr id="1393" name="Google Shape;1393;p18"/>
          <p:cNvCxnSpPr/>
          <p:nvPr/>
        </p:nvCxnSpPr>
        <p:spPr>
          <a:xfrm>
            <a:off x="8364512" y="2578622"/>
            <a:ext cx="794264" cy="0"/>
          </a:xfrm>
          <a:prstGeom prst="straightConnector1">
            <a:avLst/>
          </a:prstGeom>
          <a:noFill/>
          <a:ln cap="flat" cmpd="sng" w="19050">
            <a:solidFill>
              <a:schemeClr val="dk1"/>
            </a:solidFill>
            <a:prstDash val="solid"/>
            <a:miter lim="8000"/>
            <a:headEnd len="sm" w="sm" type="none"/>
            <a:tailEnd len="sm" w="sm" type="none"/>
          </a:ln>
        </p:spPr>
      </p:cxnSp>
      <p:cxnSp>
        <p:nvCxnSpPr>
          <p:cNvPr id="1394" name="Google Shape;1394;p18"/>
          <p:cNvCxnSpPr/>
          <p:nvPr/>
        </p:nvCxnSpPr>
        <p:spPr>
          <a:xfrm>
            <a:off x="9547622" y="2584574"/>
            <a:ext cx="975473" cy="0"/>
          </a:xfrm>
          <a:prstGeom prst="straightConnector1">
            <a:avLst/>
          </a:prstGeom>
          <a:noFill/>
          <a:ln cap="flat" cmpd="sng" w="19050">
            <a:solidFill>
              <a:schemeClr val="dk1"/>
            </a:solidFill>
            <a:prstDash val="solid"/>
            <a:miter lim="8000"/>
            <a:headEnd len="sm" w="sm" type="none"/>
            <a:tailEnd len="sm" w="sm" type="none"/>
          </a:ln>
        </p:spPr>
      </p:cxnSp>
      <p:grpSp>
        <p:nvGrpSpPr>
          <p:cNvPr id="1395" name="Google Shape;1395;p18"/>
          <p:cNvGrpSpPr/>
          <p:nvPr/>
        </p:nvGrpSpPr>
        <p:grpSpPr>
          <a:xfrm>
            <a:off x="9053641" y="2438501"/>
            <a:ext cx="632991" cy="300938"/>
            <a:chOff x="7493876" y="2774731"/>
            <a:chExt cx="1481958" cy="894622"/>
          </a:xfrm>
        </p:grpSpPr>
        <p:sp>
          <p:nvSpPr>
            <p:cNvPr id="1396" name="Google Shape;1396;p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397" name="Google Shape;1397;p18"/>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398" name="Google Shape;1398;p18"/>
            <p:cNvGrpSpPr/>
            <p:nvPr/>
          </p:nvGrpSpPr>
          <p:grpSpPr>
            <a:xfrm>
              <a:off x="7713663" y="2848339"/>
              <a:ext cx="1042107" cy="425543"/>
              <a:chOff x="7786941" y="2884917"/>
              <a:chExt cx="897649" cy="353919"/>
            </a:xfrm>
          </p:grpSpPr>
          <p:sp>
            <p:nvSpPr>
              <p:cNvPr id="1399" name="Google Shape;1399;p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00" name="Google Shape;1400;p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01" name="Google Shape;1401;p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02" name="Google Shape;1402;p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sp>
        <p:nvSpPr>
          <p:cNvPr id="1403" name="Google Shape;1403;p18"/>
          <p:cNvSpPr txBox="1"/>
          <p:nvPr/>
        </p:nvSpPr>
        <p:spPr>
          <a:xfrm>
            <a:off x="7810084" y="5139102"/>
            <a:ext cx="372427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network consisting of 3 subnets</a:t>
            </a:r>
            <a:endParaRPr/>
          </a:p>
        </p:txBody>
      </p:sp>
      <p:sp>
        <p:nvSpPr>
          <p:cNvPr id="1404" name="Google Shape;1404;p18"/>
          <p:cNvSpPr txBox="1"/>
          <p:nvPr/>
        </p:nvSpPr>
        <p:spPr>
          <a:xfrm>
            <a:off x="923879" y="3718261"/>
            <a:ext cx="6050358" cy="2667042"/>
          </a:xfrm>
          <a:prstGeom prst="rect">
            <a:avLst/>
          </a:prstGeom>
          <a:noFill/>
          <a:ln>
            <a:noFill/>
          </a:ln>
        </p:spPr>
        <p:txBody>
          <a:bodyPr anchorCtr="0" anchor="t" bIns="45700" lIns="91425" spcFirstLastPara="1" rIns="91425" wrap="square" tIns="45700">
            <a:normAutofit/>
          </a:bodyPr>
          <a:lstStyle/>
          <a:p>
            <a:pPr indent="-234950" lvl="0" marL="2349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IP addresses have structure:</a:t>
            </a:r>
            <a:r>
              <a:rPr b="0" i="0" lang="en-US" sz="3200" u="none" cap="none" strike="noStrike">
                <a:solidFill>
                  <a:srgbClr val="000000"/>
                </a:solidFill>
                <a:latin typeface="Calibri"/>
                <a:ea typeface="Calibri"/>
                <a:cs typeface="Calibri"/>
                <a:sym typeface="Calibri"/>
              </a:rPr>
              <a:t> </a:t>
            </a:r>
            <a:endParaRPr/>
          </a:p>
          <a:p>
            <a:pPr indent="-233363"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subnet part: </a:t>
            </a:r>
            <a:r>
              <a:rPr b="0" i="0" lang="en-US" sz="2800" u="none" cap="none" strike="noStrike">
                <a:solidFill>
                  <a:srgbClr val="000000"/>
                </a:solidFill>
                <a:latin typeface="Calibri"/>
                <a:ea typeface="Calibri"/>
                <a:cs typeface="Calibri"/>
                <a:sym typeface="Calibri"/>
              </a:rPr>
              <a:t>devices in same subnet have common high order bits</a:t>
            </a:r>
            <a:endParaRPr/>
          </a:p>
          <a:p>
            <a:pPr indent="-233363"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host part: remaining</a:t>
            </a:r>
            <a:r>
              <a:rPr b="0" i="0" lang="en-US" sz="2800" u="none" cap="none" strike="noStrike">
                <a:solidFill>
                  <a:srgbClr val="000000"/>
                </a:solidFill>
                <a:latin typeface="Calibri"/>
                <a:ea typeface="Calibri"/>
                <a:cs typeface="Calibri"/>
                <a:sym typeface="Calibri"/>
              </a:rPr>
              <a:t> low order bits </a:t>
            </a:r>
            <a:endParaRPr/>
          </a:p>
          <a:p>
            <a:pPr indent="-55563"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1405" name="Google Shape;1405;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2"/>
                                        </p:tgtEl>
                                        <p:attrNameLst>
                                          <p:attrName>style.visibility</p:attrName>
                                        </p:attrNameLst>
                                      </p:cBhvr>
                                      <p:to>
                                        <p:strVal val="visible"/>
                                      </p:to>
                                    </p:set>
                                    <p:animEffect filter="fade" transition="in">
                                      <p:cBhvr>
                                        <p:cTn dur="500"/>
                                        <p:tgtEl>
                                          <p:spTgt spid="1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500"/>
                                        <p:tgtEl>
                                          <p:spTgt spid="1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1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1412" name="Google Shape;1412;p19"/>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413" name="Google Shape;1413;p19"/>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414" name="Google Shape;1414;p19"/>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415" name="Google Shape;1415;p19"/>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1416" name="Google Shape;1416;p19"/>
          <p:cNvGrpSpPr/>
          <p:nvPr/>
        </p:nvGrpSpPr>
        <p:grpSpPr>
          <a:xfrm>
            <a:off x="6557963" y="2093236"/>
            <a:ext cx="920750" cy="276225"/>
            <a:chOff x="3251" y="608"/>
            <a:chExt cx="580" cy="174"/>
          </a:xfrm>
        </p:grpSpPr>
        <p:sp>
          <p:nvSpPr>
            <p:cNvPr id="1417" name="Google Shape;1417;p19"/>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418" name="Google Shape;1418;p19"/>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1419" name="Google Shape;1419;p19"/>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1420" name="Google Shape;1420;p19"/>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1421" name="Google Shape;1421;p19"/>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1422" name="Google Shape;1422;p19"/>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1423" name="Google Shape;1423;p19"/>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1424" name="Google Shape;1424;p19"/>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1425" name="Google Shape;1425;p19"/>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1426" name="Google Shape;1426;p19"/>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1427" name="Google Shape;1427;p19"/>
          <p:cNvGrpSpPr/>
          <p:nvPr/>
        </p:nvGrpSpPr>
        <p:grpSpPr>
          <a:xfrm>
            <a:off x="8885238" y="2996523"/>
            <a:ext cx="912812" cy="276225"/>
            <a:chOff x="4550" y="1257"/>
            <a:chExt cx="575" cy="174"/>
          </a:xfrm>
        </p:grpSpPr>
        <p:sp>
          <p:nvSpPr>
            <p:cNvPr id="1428" name="Google Shape;1428;p19"/>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429" name="Google Shape;1429;p19"/>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cxnSp>
        <p:nvCxnSpPr>
          <p:cNvPr id="1430" name="Google Shape;1430;p19"/>
          <p:cNvCxnSpPr/>
          <p:nvPr/>
        </p:nvCxnSpPr>
        <p:spPr>
          <a:xfrm>
            <a:off x="7697391" y="1785938"/>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431" name="Google Shape;1431;p19"/>
          <p:cNvCxnSpPr/>
          <p:nvPr/>
        </p:nvCxnSpPr>
        <p:spPr>
          <a:xfrm>
            <a:off x="7698824" y="2384823"/>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432" name="Google Shape;1432;p19"/>
          <p:cNvCxnSpPr/>
          <p:nvPr/>
        </p:nvCxnSpPr>
        <p:spPr>
          <a:xfrm>
            <a:off x="7705979" y="2997995"/>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433" name="Google Shape;1433;p19"/>
          <p:cNvCxnSpPr/>
          <p:nvPr/>
        </p:nvCxnSpPr>
        <p:spPr>
          <a:xfrm>
            <a:off x="10629900" y="1942421"/>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434" name="Google Shape;1434;p19"/>
          <p:cNvCxnSpPr/>
          <p:nvPr/>
        </p:nvCxnSpPr>
        <p:spPr>
          <a:xfrm>
            <a:off x="10631261" y="3221529"/>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435" name="Google Shape;1435;p19"/>
          <p:cNvCxnSpPr/>
          <p:nvPr/>
        </p:nvCxnSpPr>
        <p:spPr>
          <a:xfrm>
            <a:off x="8740878" y="4181988"/>
            <a:ext cx="0" cy="232696"/>
          </a:xfrm>
          <a:prstGeom prst="straightConnector1">
            <a:avLst/>
          </a:prstGeom>
          <a:noFill/>
          <a:ln cap="flat" cmpd="sng" w="19050">
            <a:solidFill>
              <a:schemeClr val="dk1"/>
            </a:solidFill>
            <a:prstDash val="solid"/>
            <a:miter lim="8000"/>
            <a:headEnd len="sm" w="sm" type="none"/>
            <a:tailEnd len="sm" w="sm" type="none"/>
          </a:ln>
        </p:spPr>
      </p:cxnSp>
      <p:cxnSp>
        <p:nvCxnSpPr>
          <p:cNvPr id="1436" name="Google Shape;1436;p19"/>
          <p:cNvCxnSpPr/>
          <p:nvPr/>
        </p:nvCxnSpPr>
        <p:spPr>
          <a:xfrm>
            <a:off x="9886336" y="4144298"/>
            <a:ext cx="0" cy="232696"/>
          </a:xfrm>
          <a:prstGeom prst="straightConnector1">
            <a:avLst/>
          </a:prstGeom>
          <a:noFill/>
          <a:ln cap="flat" cmpd="sng" w="19050">
            <a:solidFill>
              <a:schemeClr val="dk1"/>
            </a:solidFill>
            <a:prstDash val="solid"/>
            <a:miter lim="8000"/>
            <a:headEnd len="sm" w="sm" type="none"/>
            <a:tailEnd len="sm" w="sm" type="none"/>
          </a:ln>
        </p:spPr>
      </p:cxnSp>
      <p:sp>
        <p:nvSpPr>
          <p:cNvPr id="1437" name="Google Shape;1437;p19"/>
          <p:cNvSpPr txBox="1"/>
          <p:nvPr/>
        </p:nvSpPr>
        <p:spPr>
          <a:xfrm>
            <a:off x="910964" y="1504585"/>
            <a:ext cx="5504825" cy="498615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Recipe for defining subnets: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detach each interface from its host or router, creating “islands” of isolated networks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isolated network is called a </a:t>
            </a:r>
            <a:r>
              <a:rPr b="0" i="1" lang="en-US" sz="3200" u="none" cap="none" strike="noStrike">
                <a:solidFill>
                  <a:srgbClr val="CC0000"/>
                </a:solidFill>
                <a:latin typeface="Calibri"/>
                <a:ea typeface="Calibri"/>
                <a:cs typeface="Calibri"/>
                <a:sym typeface="Calibri"/>
              </a:rPr>
              <a:t>subnet</a:t>
            </a:r>
            <a:endParaRPr/>
          </a:p>
          <a:p>
            <a:pPr indent="-55563"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cxnSp>
        <p:nvCxnSpPr>
          <p:cNvPr id="1438" name="Google Shape;1438;p19"/>
          <p:cNvCxnSpPr/>
          <p:nvPr/>
        </p:nvCxnSpPr>
        <p:spPr>
          <a:xfrm>
            <a:off x="8364512" y="2578622"/>
            <a:ext cx="794264" cy="0"/>
          </a:xfrm>
          <a:prstGeom prst="straightConnector1">
            <a:avLst/>
          </a:prstGeom>
          <a:noFill/>
          <a:ln cap="flat" cmpd="sng" w="19050">
            <a:solidFill>
              <a:schemeClr val="dk1"/>
            </a:solidFill>
            <a:prstDash val="solid"/>
            <a:miter lim="8000"/>
            <a:headEnd len="sm" w="sm" type="none"/>
            <a:tailEnd len="sm" w="sm" type="none"/>
          </a:ln>
        </p:spPr>
      </p:cxnSp>
      <p:cxnSp>
        <p:nvCxnSpPr>
          <p:cNvPr id="1439" name="Google Shape;1439;p19"/>
          <p:cNvCxnSpPr/>
          <p:nvPr/>
        </p:nvCxnSpPr>
        <p:spPr>
          <a:xfrm>
            <a:off x="9547622" y="2584574"/>
            <a:ext cx="975473" cy="0"/>
          </a:xfrm>
          <a:prstGeom prst="straightConnector1">
            <a:avLst/>
          </a:prstGeom>
          <a:noFill/>
          <a:ln cap="flat" cmpd="sng" w="19050">
            <a:solidFill>
              <a:schemeClr val="dk1"/>
            </a:solidFill>
            <a:prstDash val="solid"/>
            <a:miter lim="8000"/>
            <a:headEnd len="sm" w="sm" type="none"/>
            <a:tailEnd len="sm" w="sm" type="none"/>
          </a:ln>
        </p:spPr>
      </p:cxnSp>
      <p:grpSp>
        <p:nvGrpSpPr>
          <p:cNvPr id="1440" name="Google Shape;1440;p19"/>
          <p:cNvGrpSpPr/>
          <p:nvPr/>
        </p:nvGrpSpPr>
        <p:grpSpPr>
          <a:xfrm>
            <a:off x="7112000" y="1378861"/>
            <a:ext cx="4343400" cy="3560762"/>
            <a:chOff x="7112000" y="1378861"/>
            <a:chExt cx="4343400" cy="3560762"/>
          </a:xfrm>
        </p:grpSpPr>
        <p:grpSp>
          <p:nvGrpSpPr>
            <p:cNvPr id="1441" name="Google Shape;1441;p19"/>
            <p:cNvGrpSpPr/>
            <p:nvPr/>
          </p:nvGrpSpPr>
          <p:grpSpPr>
            <a:xfrm>
              <a:off x="7116763" y="1378861"/>
              <a:ext cx="641350" cy="558800"/>
              <a:chOff x="-44" y="1473"/>
              <a:chExt cx="981" cy="1105"/>
            </a:xfrm>
          </p:grpSpPr>
          <p:pic>
            <p:nvPicPr>
              <p:cNvPr descr="desktop_computer_stylized_medium" id="1442" name="Google Shape;1442;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43" name="Google Shape;1443;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444" name="Google Shape;1444;p19"/>
            <p:cNvGrpSpPr/>
            <p:nvPr/>
          </p:nvGrpSpPr>
          <p:grpSpPr>
            <a:xfrm>
              <a:off x="7112000" y="1977348"/>
              <a:ext cx="641350" cy="558800"/>
              <a:chOff x="-44" y="1473"/>
              <a:chExt cx="981" cy="1105"/>
            </a:xfrm>
          </p:grpSpPr>
          <p:pic>
            <p:nvPicPr>
              <p:cNvPr descr="desktop_computer_stylized_medium" id="1445" name="Google Shape;1445;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46" name="Google Shape;1446;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447" name="Google Shape;1447;p19"/>
            <p:cNvGrpSpPr/>
            <p:nvPr/>
          </p:nvGrpSpPr>
          <p:grpSpPr>
            <a:xfrm>
              <a:off x="7140575" y="2586948"/>
              <a:ext cx="641350" cy="558800"/>
              <a:chOff x="-44" y="1473"/>
              <a:chExt cx="981" cy="1105"/>
            </a:xfrm>
          </p:grpSpPr>
          <p:pic>
            <p:nvPicPr>
              <p:cNvPr descr="desktop_computer_stylized_medium" id="1448" name="Google Shape;1448;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49" name="Google Shape;1449;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450" name="Google Shape;1450;p19"/>
            <p:cNvGrpSpPr/>
            <p:nvPr/>
          </p:nvGrpSpPr>
          <p:grpSpPr>
            <a:xfrm flipH="1">
              <a:off x="10799763" y="1536023"/>
              <a:ext cx="641350" cy="558800"/>
              <a:chOff x="-44" y="1473"/>
              <a:chExt cx="981" cy="1105"/>
            </a:xfrm>
          </p:grpSpPr>
          <p:pic>
            <p:nvPicPr>
              <p:cNvPr descr="desktop_computer_stylized_medium" id="1451" name="Google Shape;1451;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52" name="Google Shape;1452;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453" name="Google Shape;1453;p19"/>
            <p:cNvGrpSpPr/>
            <p:nvPr/>
          </p:nvGrpSpPr>
          <p:grpSpPr>
            <a:xfrm flipH="1">
              <a:off x="10814050" y="2815548"/>
              <a:ext cx="641350" cy="558800"/>
              <a:chOff x="-44" y="1473"/>
              <a:chExt cx="981" cy="1105"/>
            </a:xfrm>
          </p:grpSpPr>
          <p:pic>
            <p:nvPicPr>
              <p:cNvPr descr="desktop_computer_stylized_medium" id="1454" name="Google Shape;1454;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55" name="Google Shape;1455;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456" name="Google Shape;1456;p19"/>
            <p:cNvGrpSpPr/>
            <p:nvPr/>
          </p:nvGrpSpPr>
          <p:grpSpPr>
            <a:xfrm flipH="1">
              <a:off x="9715500" y="4339548"/>
              <a:ext cx="641350" cy="558800"/>
              <a:chOff x="-44" y="1473"/>
              <a:chExt cx="981" cy="1105"/>
            </a:xfrm>
          </p:grpSpPr>
          <p:pic>
            <p:nvPicPr>
              <p:cNvPr descr="desktop_computer_stylized_medium" id="1457" name="Google Shape;1457;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58" name="Google Shape;1458;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459" name="Google Shape;1459;p19"/>
            <p:cNvGrpSpPr/>
            <p:nvPr/>
          </p:nvGrpSpPr>
          <p:grpSpPr>
            <a:xfrm flipH="1">
              <a:off x="8551863" y="4380823"/>
              <a:ext cx="641350" cy="558800"/>
              <a:chOff x="-44" y="1473"/>
              <a:chExt cx="981" cy="1105"/>
            </a:xfrm>
          </p:grpSpPr>
          <p:pic>
            <p:nvPicPr>
              <p:cNvPr descr="desktop_computer_stylized_medium" id="1460" name="Google Shape;1460;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61" name="Google Shape;1461;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462" name="Google Shape;1462;p19"/>
            <p:cNvGrpSpPr/>
            <p:nvPr/>
          </p:nvGrpSpPr>
          <p:grpSpPr>
            <a:xfrm>
              <a:off x="9053641" y="2438501"/>
              <a:ext cx="632991" cy="300938"/>
              <a:chOff x="7493876" y="2774731"/>
              <a:chExt cx="1481958" cy="894622"/>
            </a:xfrm>
          </p:grpSpPr>
          <p:sp>
            <p:nvSpPr>
              <p:cNvPr id="1463" name="Google Shape;1463;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464" name="Google Shape;1464;p19"/>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465" name="Google Shape;1465;p19"/>
              <p:cNvGrpSpPr/>
              <p:nvPr/>
            </p:nvGrpSpPr>
            <p:grpSpPr>
              <a:xfrm>
                <a:off x="7713663" y="2848339"/>
                <a:ext cx="1042107" cy="425543"/>
                <a:chOff x="7786941" y="2884917"/>
                <a:chExt cx="897649" cy="353919"/>
              </a:xfrm>
            </p:grpSpPr>
            <p:sp>
              <p:nvSpPr>
                <p:cNvPr id="1466" name="Google Shape;1466;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67" name="Google Shape;1467;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68" name="Google Shape;1468;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69" name="Google Shape;1469;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sp>
        <p:nvSpPr>
          <p:cNvPr id="1470" name="Google Shape;1470;p19"/>
          <p:cNvSpPr txBox="1"/>
          <p:nvPr/>
        </p:nvSpPr>
        <p:spPr>
          <a:xfrm>
            <a:off x="6282921" y="5092127"/>
            <a:ext cx="5863785"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subnet mask: /24</a:t>
            </a:r>
            <a:endParaRPr/>
          </a:p>
          <a:p>
            <a:pPr indent="0" lvl="0" marL="0" marR="0" rtl="0" algn="ctr">
              <a:spcBef>
                <a:spcPts val="0"/>
              </a:spcBef>
              <a:spcAft>
                <a:spcPts val="0"/>
              </a:spcAft>
              <a:buNone/>
            </a:pPr>
            <a:r>
              <a:rPr b="0" i="0" lang="en-US" sz="2400" u="none" cap="none" strike="noStrike">
                <a:solidFill>
                  <a:srgbClr val="000000"/>
                </a:solidFill>
                <a:latin typeface="Calibri"/>
                <a:ea typeface="Calibri"/>
                <a:cs typeface="Calibri"/>
                <a:sym typeface="Calibri"/>
              </a:rPr>
              <a:t>(high-order 24 bits: subnet part of IP address)</a:t>
            </a:r>
            <a:endParaRPr/>
          </a:p>
        </p:txBody>
      </p:sp>
      <p:grpSp>
        <p:nvGrpSpPr>
          <p:cNvPr id="1471" name="Google Shape;1471;p19"/>
          <p:cNvGrpSpPr/>
          <p:nvPr/>
        </p:nvGrpSpPr>
        <p:grpSpPr>
          <a:xfrm>
            <a:off x="6239437" y="3859589"/>
            <a:ext cx="2574780" cy="707886"/>
            <a:chOff x="6239437" y="3859589"/>
            <a:chExt cx="2574780" cy="707886"/>
          </a:xfrm>
        </p:grpSpPr>
        <p:sp>
          <p:nvSpPr>
            <p:cNvPr id="1472" name="Google Shape;1472;p19"/>
            <p:cNvSpPr txBox="1"/>
            <p:nvPr/>
          </p:nvSpPr>
          <p:spPr>
            <a:xfrm>
              <a:off x="6239437" y="3859589"/>
              <a:ext cx="1608133" cy="70788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2000" u="none" cap="none" strike="noStrike">
                  <a:solidFill>
                    <a:srgbClr val="CC0000"/>
                  </a:solidFill>
                  <a:latin typeface="Arial"/>
                  <a:ea typeface="Arial"/>
                  <a:cs typeface="Arial"/>
                  <a:sym typeface="Arial"/>
                </a:rPr>
                <a:t>subnet</a:t>
              </a:r>
              <a:endParaRPr/>
            </a:p>
            <a:p>
              <a:pPr indent="0" lvl="0" marL="0" marR="0" rtl="0" algn="r">
                <a:spcBef>
                  <a:spcPts val="0"/>
                </a:spcBef>
                <a:spcAft>
                  <a:spcPts val="0"/>
                </a:spcAft>
                <a:buNone/>
              </a:pPr>
              <a:r>
                <a:rPr b="0" i="1" lang="en-US" sz="2000" u="none" cap="none" strike="noStrike">
                  <a:solidFill>
                    <a:srgbClr val="CC0000"/>
                  </a:solidFill>
                  <a:latin typeface="Arial"/>
                  <a:ea typeface="Arial"/>
                  <a:cs typeface="Arial"/>
                  <a:sym typeface="Arial"/>
                </a:rPr>
                <a:t>223.1.3.0/24</a:t>
              </a:r>
              <a:endParaRPr/>
            </a:p>
          </p:txBody>
        </p:sp>
        <p:cxnSp>
          <p:nvCxnSpPr>
            <p:cNvPr id="1473" name="Google Shape;1473;p19"/>
            <p:cNvCxnSpPr/>
            <p:nvPr/>
          </p:nvCxnSpPr>
          <p:spPr>
            <a:xfrm>
              <a:off x="7794885" y="4062334"/>
              <a:ext cx="1019332" cy="0"/>
            </a:xfrm>
            <a:prstGeom prst="straightConnector1">
              <a:avLst/>
            </a:prstGeom>
            <a:noFill/>
            <a:ln cap="flat" cmpd="sng" w="15875">
              <a:solidFill>
                <a:srgbClr val="C00000"/>
              </a:solidFill>
              <a:prstDash val="solid"/>
              <a:miter lim="8000"/>
              <a:headEnd len="sm" w="sm" type="none"/>
              <a:tailEnd len="sm" w="sm" type="none"/>
            </a:ln>
          </p:spPr>
        </p:cxnSp>
      </p:grpSp>
      <p:grpSp>
        <p:nvGrpSpPr>
          <p:cNvPr id="1474" name="Google Shape;1474;p19"/>
          <p:cNvGrpSpPr/>
          <p:nvPr/>
        </p:nvGrpSpPr>
        <p:grpSpPr>
          <a:xfrm>
            <a:off x="7255489" y="607842"/>
            <a:ext cx="2491388" cy="1475790"/>
            <a:chOff x="7255489" y="607842"/>
            <a:chExt cx="2491388" cy="1475790"/>
          </a:xfrm>
        </p:grpSpPr>
        <p:sp>
          <p:nvSpPr>
            <p:cNvPr id="1475" name="Google Shape;1475;p19"/>
            <p:cNvSpPr txBox="1"/>
            <p:nvPr/>
          </p:nvSpPr>
          <p:spPr>
            <a:xfrm>
              <a:off x="7255489" y="607842"/>
              <a:ext cx="249138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Arial"/>
                  <a:ea typeface="Arial"/>
                  <a:cs typeface="Arial"/>
                  <a:sym typeface="Arial"/>
                </a:rPr>
                <a:t>subnet 223.1.1.0/24</a:t>
              </a:r>
              <a:endParaRPr/>
            </a:p>
          </p:txBody>
        </p:sp>
        <p:cxnSp>
          <p:nvCxnSpPr>
            <p:cNvPr id="1476" name="Google Shape;1476;p19"/>
            <p:cNvCxnSpPr/>
            <p:nvPr/>
          </p:nvCxnSpPr>
          <p:spPr>
            <a:xfrm>
              <a:off x="8289561" y="944379"/>
              <a:ext cx="0" cy="1139253"/>
            </a:xfrm>
            <a:prstGeom prst="straightConnector1">
              <a:avLst/>
            </a:prstGeom>
            <a:noFill/>
            <a:ln cap="flat" cmpd="sng" w="19050">
              <a:solidFill>
                <a:srgbClr val="C00000"/>
              </a:solidFill>
              <a:prstDash val="solid"/>
              <a:miter lim="8000"/>
              <a:headEnd len="sm" w="sm" type="none"/>
              <a:tailEnd len="sm" w="sm" type="none"/>
            </a:ln>
          </p:spPr>
        </p:cxnSp>
      </p:grpSp>
      <p:grpSp>
        <p:nvGrpSpPr>
          <p:cNvPr id="1477" name="Google Shape;1477;p19"/>
          <p:cNvGrpSpPr/>
          <p:nvPr/>
        </p:nvGrpSpPr>
        <p:grpSpPr>
          <a:xfrm>
            <a:off x="9531133" y="1000631"/>
            <a:ext cx="2491388" cy="1475243"/>
            <a:chOff x="9531133" y="1000631"/>
            <a:chExt cx="2491388" cy="1475243"/>
          </a:xfrm>
        </p:grpSpPr>
        <p:sp>
          <p:nvSpPr>
            <p:cNvPr id="1478" name="Google Shape;1478;p19"/>
            <p:cNvSpPr txBox="1"/>
            <p:nvPr/>
          </p:nvSpPr>
          <p:spPr>
            <a:xfrm>
              <a:off x="9531133" y="1000631"/>
              <a:ext cx="249138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Arial"/>
                  <a:ea typeface="Arial"/>
                  <a:cs typeface="Arial"/>
                  <a:sym typeface="Arial"/>
                </a:rPr>
                <a:t>subnet 223.1.2.0/24</a:t>
              </a:r>
              <a:endParaRPr/>
            </a:p>
          </p:txBody>
        </p:sp>
        <p:cxnSp>
          <p:nvCxnSpPr>
            <p:cNvPr id="1479" name="Google Shape;1479;p19"/>
            <p:cNvCxnSpPr/>
            <p:nvPr/>
          </p:nvCxnSpPr>
          <p:spPr>
            <a:xfrm>
              <a:off x="10630525" y="1336621"/>
              <a:ext cx="0" cy="1139253"/>
            </a:xfrm>
            <a:prstGeom prst="straightConnector1">
              <a:avLst/>
            </a:prstGeom>
            <a:noFill/>
            <a:ln cap="flat" cmpd="sng" w="19050">
              <a:solidFill>
                <a:srgbClr val="C00000"/>
              </a:solidFill>
              <a:prstDash val="solid"/>
              <a:miter lim="8000"/>
              <a:headEnd len="sm" w="sm" type="none"/>
              <a:tailEnd len="sm" w="sm" type="none"/>
            </a:ln>
          </p:spPr>
        </p:cxnSp>
      </p:grpSp>
      <p:sp>
        <p:nvSpPr>
          <p:cNvPr id="1480" name="Google Shape;1480;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40"/>
                                        </p:tgtEl>
                                      </p:cBhvr>
                                    </p:animEffect>
                                    <p:set>
                                      <p:cBhvr>
                                        <p:cTn dur="1" fill="hold">
                                          <p:stCondLst>
                                            <p:cond delay="500"/>
                                          </p:stCondLst>
                                        </p:cTn>
                                        <p:tgtEl>
                                          <p:spTgt spid="14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1"/>
                                        </p:tgtEl>
                                        <p:attrNameLst>
                                          <p:attrName>style.visibility</p:attrName>
                                        </p:attrNameLst>
                                      </p:cBhvr>
                                      <p:to>
                                        <p:strVal val="visible"/>
                                      </p:to>
                                    </p:set>
                                    <p:animEffect filter="fade" transition="in">
                                      <p:cBhvr>
                                        <p:cTn dur="500"/>
                                        <p:tgtEl>
                                          <p:spTgt spid="1471"/>
                                        </p:tgtEl>
                                      </p:cBhvr>
                                    </p:animEffect>
                                  </p:childTnLst>
                                </p:cTn>
                              </p:par>
                              <p:par>
                                <p:cTn fill="hold" nodeType="withEffect" presetClass="entr" presetID="10" presetSubtype="0">
                                  <p:stCondLst>
                                    <p:cond delay="0"/>
                                  </p:stCondLst>
                                  <p:childTnLst>
                                    <p:set>
                                      <p:cBhvr>
                                        <p:cTn dur="1" fill="hold">
                                          <p:stCondLst>
                                            <p:cond delay="0"/>
                                          </p:stCondLst>
                                        </p:cTn>
                                        <p:tgtEl>
                                          <p:spTgt spid="1470"/>
                                        </p:tgtEl>
                                        <p:attrNameLst>
                                          <p:attrName>style.visibility</p:attrName>
                                        </p:attrNameLst>
                                      </p:cBhvr>
                                      <p:to>
                                        <p:strVal val="visible"/>
                                      </p:to>
                                    </p:set>
                                    <p:animEffect filter="fade" transition="in">
                                      <p:cBhvr>
                                        <p:cTn dur="500"/>
                                        <p:tgtEl>
                                          <p:spTgt spid="1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4"/>
                                        </p:tgtEl>
                                        <p:attrNameLst>
                                          <p:attrName>style.visibility</p:attrName>
                                        </p:attrNameLst>
                                      </p:cBhvr>
                                      <p:to>
                                        <p:strVal val="visible"/>
                                      </p:to>
                                    </p:set>
                                    <p:animEffect filter="fade" transition="in">
                                      <p:cBhvr>
                                        <p:cTn dur="500"/>
                                        <p:tgtEl>
                                          <p:spTgt spid="1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7"/>
                                        </p:tgtEl>
                                        <p:attrNameLst>
                                          <p:attrName>style.visibility</p:attrName>
                                        </p:attrNameLst>
                                      </p:cBhvr>
                                      <p:to>
                                        <p:strVal val="visible"/>
                                      </p:to>
                                    </p:set>
                                    <p:animEffect filter="fade" transition="in">
                                      <p:cBhvr>
                                        <p:cTn dur="500"/>
                                        <p:tgtEl>
                                          <p:spTgt spid="1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20"/>
          <p:cNvSpPr txBox="1"/>
          <p:nvPr>
            <p:ph type="title"/>
          </p:nvPr>
        </p:nvSpPr>
        <p:spPr>
          <a:xfrm>
            <a:off x="838200" y="311144"/>
            <a:ext cx="364385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1487" name="Google Shape;1487;p20"/>
          <p:cNvSpPr txBox="1"/>
          <p:nvPr/>
        </p:nvSpPr>
        <p:spPr>
          <a:xfrm>
            <a:off x="1015714" y="1485533"/>
            <a:ext cx="2992759" cy="2827014"/>
          </a:xfrm>
          <a:prstGeom prst="rect">
            <a:avLst/>
          </a:prstGeom>
          <a:noFill/>
          <a:ln>
            <a:noFill/>
          </a:ln>
        </p:spPr>
        <p:txBody>
          <a:bodyPr anchorCtr="0" anchor="t" bIns="45700" lIns="91425" spcFirstLastPara="1" rIns="91425" wrap="square" tIns="45700">
            <a:normAutofit/>
          </a:bodyPr>
          <a:lstStyle/>
          <a:p>
            <a:pPr indent="-342900" lvl="0" marL="4730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where are the subnets?</a:t>
            </a:r>
            <a:endParaRPr/>
          </a:p>
          <a:p>
            <a:pPr indent="-342900" lvl="0" marL="4730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what are the /24 subnet addresses?</a:t>
            </a:r>
            <a:endParaRPr/>
          </a:p>
          <a:p>
            <a:pPr indent="-55563"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1488" name="Google Shape;1488;p20"/>
          <p:cNvSpPr/>
          <p:nvPr/>
        </p:nvSpPr>
        <p:spPr>
          <a:xfrm>
            <a:off x="7898119" y="2985309"/>
            <a:ext cx="1268413" cy="1463675"/>
          </a:xfrm>
          <a:custGeom>
            <a:rect b="b" l="l" r="r" t="t"/>
            <a:pathLst>
              <a:path extrusionOk="0" h="922" w="799">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89" name="Google Shape;1489;p20"/>
          <p:cNvSpPr/>
          <p:nvPr/>
        </p:nvSpPr>
        <p:spPr>
          <a:xfrm>
            <a:off x="6699842" y="4496609"/>
            <a:ext cx="2098623" cy="361221"/>
          </a:xfrm>
          <a:custGeom>
            <a:rect b="b" l="l" r="r" t="t"/>
            <a:pathLst>
              <a:path extrusionOk="0" h="206" w="1422">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90" name="Google Shape;1490;p20"/>
          <p:cNvSpPr/>
          <p:nvPr/>
        </p:nvSpPr>
        <p:spPr>
          <a:xfrm>
            <a:off x="6345544" y="2909109"/>
            <a:ext cx="1158875" cy="1547813"/>
          </a:xfrm>
          <a:custGeom>
            <a:rect b="b" l="l" r="r" t="t"/>
            <a:pathLst>
              <a:path extrusionOk="0" h="975" w="730">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91" name="Google Shape;1491;p20"/>
          <p:cNvSpPr/>
          <p:nvPr/>
        </p:nvSpPr>
        <p:spPr>
          <a:xfrm rot="5265760">
            <a:off x="7334817" y="866004"/>
            <a:ext cx="1078238" cy="216217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cxnSp>
        <p:nvCxnSpPr>
          <p:cNvPr id="1492" name="Google Shape;1492;p20"/>
          <p:cNvCxnSpPr/>
          <p:nvPr/>
        </p:nvCxnSpPr>
        <p:spPr>
          <a:xfrm flipH="1">
            <a:off x="7639357" y="1956609"/>
            <a:ext cx="3175" cy="592138"/>
          </a:xfrm>
          <a:prstGeom prst="straightConnector1">
            <a:avLst/>
          </a:prstGeom>
          <a:noFill/>
          <a:ln cap="flat" cmpd="sng" w="19050">
            <a:solidFill>
              <a:schemeClr val="dk1"/>
            </a:solidFill>
            <a:prstDash val="solid"/>
            <a:round/>
            <a:headEnd len="med" w="med" type="none"/>
            <a:tailEnd len="med" w="med" type="none"/>
          </a:ln>
        </p:spPr>
      </p:cxnSp>
      <p:sp>
        <p:nvSpPr>
          <p:cNvPr id="1493" name="Google Shape;1493;p20"/>
          <p:cNvSpPr txBox="1"/>
          <p:nvPr/>
        </p:nvSpPr>
        <p:spPr>
          <a:xfrm>
            <a:off x="6099456" y="1403897"/>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223.1.1.1</a:t>
            </a:r>
            <a:endParaRPr b="0" i="0" sz="1800" u="none" cap="none" strike="noStrike">
              <a:solidFill>
                <a:srgbClr val="000000"/>
              </a:solidFill>
              <a:latin typeface="Calibri"/>
              <a:ea typeface="Calibri"/>
              <a:cs typeface="Calibri"/>
              <a:sym typeface="Calibri"/>
            </a:endParaRPr>
          </a:p>
        </p:txBody>
      </p:sp>
      <p:sp>
        <p:nvSpPr>
          <p:cNvPr id="1494" name="Google Shape;1494;p20"/>
          <p:cNvSpPr/>
          <p:nvPr/>
        </p:nvSpPr>
        <p:spPr>
          <a:xfrm>
            <a:off x="7474572" y="2218547"/>
            <a:ext cx="309562"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95" name="Google Shape;1495;p20"/>
          <p:cNvSpPr txBox="1"/>
          <p:nvPr/>
        </p:nvSpPr>
        <p:spPr>
          <a:xfrm>
            <a:off x="7211846" y="2127679"/>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223.1.1.3</a:t>
            </a:r>
            <a:endParaRPr b="0" i="0" sz="1800" u="none" cap="none" strike="noStrike">
              <a:solidFill>
                <a:srgbClr val="000000"/>
              </a:solidFill>
              <a:latin typeface="Calibri"/>
              <a:ea typeface="Calibri"/>
              <a:cs typeface="Calibri"/>
              <a:sym typeface="Calibri"/>
            </a:endParaRPr>
          </a:p>
        </p:txBody>
      </p:sp>
      <p:sp>
        <p:nvSpPr>
          <p:cNvPr id="1496" name="Google Shape;1496;p20"/>
          <p:cNvSpPr txBox="1"/>
          <p:nvPr/>
        </p:nvSpPr>
        <p:spPr>
          <a:xfrm>
            <a:off x="8486925" y="1514459"/>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223.1.1.4</a:t>
            </a:r>
            <a:endParaRPr b="0" i="0" sz="1800" u="none" cap="none" strike="noStrike">
              <a:solidFill>
                <a:srgbClr val="000000"/>
              </a:solidFill>
              <a:latin typeface="Calibri"/>
              <a:ea typeface="Calibri"/>
              <a:cs typeface="Calibri"/>
              <a:sym typeface="Calibri"/>
            </a:endParaRPr>
          </a:p>
        </p:txBody>
      </p:sp>
      <p:sp>
        <p:nvSpPr>
          <p:cNvPr id="1497" name="Google Shape;1497;p20"/>
          <p:cNvSpPr/>
          <p:nvPr/>
        </p:nvSpPr>
        <p:spPr>
          <a:xfrm>
            <a:off x="5405744" y="4847609"/>
            <a:ext cx="1539875" cy="1070265"/>
          </a:xfrm>
          <a:custGeom>
            <a:rect b="b" l="l" r="r" t="t"/>
            <a:pathLst>
              <a:path extrusionOk="0" h="939" w="970">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cxnSp>
        <p:nvCxnSpPr>
          <p:cNvPr id="1498" name="Google Shape;1498;p20"/>
          <p:cNvCxnSpPr/>
          <p:nvPr/>
        </p:nvCxnSpPr>
        <p:spPr>
          <a:xfrm>
            <a:off x="6161394" y="4833159"/>
            <a:ext cx="7938" cy="561975"/>
          </a:xfrm>
          <a:prstGeom prst="straightConnector1">
            <a:avLst/>
          </a:prstGeom>
          <a:noFill/>
          <a:ln cap="flat" cmpd="sng" w="19050">
            <a:solidFill>
              <a:schemeClr val="dk1"/>
            </a:solidFill>
            <a:prstDash val="solid"/>
            <a:round/>
            <a:headEnd len="med" w="med" type="none"/>
            <a:tailEnd len="med" w="med" type="none"/>
          </a:ln>
        </p:spPr>
      </p:cxnSp>
      <p:sp>
        <p:nvSpPr>
          <p:cNvPr id="1499" name="Google Shape;1499;p20"/>
          <p:cNvSpPr txBox="1"/>
          <p:nvPr/>
        </p:nvSpPr>
        <p:spPr>
          <a:xfrm>
            <a:off x="6523633" y="5561966"/>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223.1.2.2</a:t>
            </a:r>
            <a:endParaRPr b="0" i="0" sz="1800" u="none" cap="none" strike="noStrike">
              <a:solidFill>
                <a:srgbClr val="000000"/>
              </a:solidFill>
              <a:latin typeface="Calibri"/>
              <a:ea typeface="Calibri"/>
              <a:cs typeface="Calibri"/>
              <a:sym typeface="Calibri"/>
            </a:endParaRPr>
          </a:p>
        </p:txBody>
      </p:sp>
      <p:sp>
        <p:nvSpPr>
          <p:cNvPr id="1500" name="Google Shape;1500;p20"/>
          <p:cNvSpPr/>
          <p:nvPr/>
        </p:nvSpPr>
        <p:spPr>
          <a:xfrm>
            <a:off x="6109914" y="4958572"/>
            <a:ext cx="128587"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501" name="Google Shape;1501;p20"/>
          <p:cNvSpPr txBox="1"/>
          <p:nvPr/>
        </p:nvSpPr>
        <p:spPr>
          <a:xfrm>
            <a:off x="5577277" y="4875981"/>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223.1.2.6</a:t>
            </a:r>
            <a:endParaRPr b="0" i="0" sz="1800" u="none" cap="none" strike="noStrike">
              <a:solidFill>
                <a:srgbClr val="000000"/>
              </a:solidFill>
              <a:latin typeface="Calibri"/>
              <a:ea typeface="Calibri"/>
              <a:cs typeface="Calibri"/>
              <a:sym typeface="Calibri"/>
            </a:endParaRPr>
          </a:p>
        </p:txBody>
      </p:sp>
      <p:sp>
        <p:nvSpPr>
          <p:cNvPr id="1502" name="Google Shape;1502;p20"/>
          <p:cNvSpPr/>
          <p:nvPr/>
        </p:nvSpPr>
        <p:spPr>
          <a:xfrm>
            <a:off x="8423582" y="4858944"/>
            <a:ext cx="1539875" cy="1129777"/>
          </a:xfrm>
          <a:custGeom>
            <a:rect b="b" l="l" r="r" t="t"/>
            <a:pathLst>
              <a:path extrusionOk="0" h="939" w="970">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cxnSp>
        <p:nvCxnSpPr>
          <p:cNvPr id="1503" name="Google Shape;1503;p20"/>
          <p:cNvCxnSpPr/>
          <p:nvPr/>
        </p:nvCxnSpPr>
        <p:spPr>
          <a:xfrm>
            <a:off x="9190344" y="4852209"/>
            <a:ext cx="1588" cy="520700"/>
          </a:xfrm>
          <a:prstGeom prst="straightConnector1">
            <a:avLst/>
          </a:prstGeom>
          <a:noFill/>
          <a:ln cap="flat" cmpd="sng" w="19050">
            <a:solidFill>
              <a:schemeClr val="dk1"/>
            </a:solidFill>
            <a:prstDash val="solid"/>
            <a:round/>
            <a:headEnd len="med" w="med" type="none"/>
            <a:tailEnd len="med" w="med" type="none"/>
          </a:ln>
        </p:spPr>
      </p:cxnSp>
      <p:sp>
        <p:nvSpPr>
          <p:cNvPr id="1504" name="Google Shape;1504;p20"/>
          <p:cNvSpPr txBox="1"/>
          <p:nvPr/>
        </p:nvSpPr>
        <p:spPr>
          <a:xfrm>
            <a:off x="9708446" y="5757661"/>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223.1.3.2</a:t>
            </a:r>
            <a:endParaRPr b="0" i="0" sz="1800" u="none" cap="none" strike="noStrike">
              <a:solidFill>
                <a:srgbClr val="000000"/>
              </a:solidFill>
              <a:latin typeface="Calibri"/>
              <a:ea typeface="Calibri"/>
              <a:cs typeface="Calibri"/>
              <a:sym typeface="Calibri"/>
            </a:endParaRPr>
          </a:p>
        </p:txBody>
      </p:sp>
      <p:sp>
        <p:nvSpPr>
          <p:cNvPr id="1505" name="Google Shape;1505;p20"/>
          <p:cNvSpPr txBox="1"/>
          <p:nvPr/>
        </p:nvSpPr>
        <p:spPr>
          <a:xfrm>
            <a:off x="7937662" y="5659381"/>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223.1.3.1</a:t>
            </a:r>
            <a:endParaRPr b="0" i="0" sz="1800" u="none" cap="none" strike="noStrike">
              <a:solidFill>
                <a:srgbClr val="000000"/>
              </a:solidFill>
              <a:latin typeface="Calibri"/>
              <a:ea typeface="Calibri"/>
              <a:cs typeface="Calibri"/>
              <a:sym typeface="Calibri"/>
            </a:endParaRPr>
          </a:p>
        </p:txBody>
      </p:sp>
      <p:sp>
        <p:nvSpPr>
          <p:cNvPr id="1506" name="Google Shape;1506;p20"/>
          <p:cNvSpPr/>
          <p:nvPr/>
        </p:nvSpPr>
        <p:spPr>
          <a:xfrm>
            <a:off x="9131607" y="4952222"/>
            <a:ext cx="128587"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507" name="Google Shape;1507;p20"/>
          <p:cNvSpPr txBox="1"/>
          <p:nvPr/>
        </p:nvSpPr>
        <p:spPr>
          <a:xfrm>
            <a:off x="8621888" y="4864398"/>
            <a:ext cx="106792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223.1.3.27</a:t>
            </a:r>
            <a:endParaRPr b="0" i="0" sz="1800" u="none" cap="none" strike="noStrike">
              <a:solidFill>
                <a:srgbClr val="000000"/>
              </a:solidFill>
              <a:latin typeface="Calibri"/>
              <a:ea typeface="Calibri"/>
              <a:cs typeface="Calibri"/>
              <a:sym typeface="Calibri"/>
            </a:endParaRPr>
          </a:p>
        </p:txBody>
      </p:sp>
      <p:sp>
        <p:nvSpPr>
          <p:cNvPr id="1508" name="Google Shape;1508;p20"/>
          <p:cNvSpPr txBox="1"/>
          <p:nvPr/>
        </p:nvSpPr>
        <p:spPr>
          <a:xfrm>
            <a:off x="7401232" y="558232"/>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223.1.1.2</a:t>
            </a:r>
            <a:endParaRPr/>
          </a:p>
        </p:txBody>
      </p:sp>
      <p:cxnSp>
        <p:nvCxnSpPr>
          <p:cNvPr id="1509" name="Google Shape;1509;p20"/>
          <p:cNvCxnSpPr/>
          <p:nvPr/>
        </p:nvCxnSpPr>
        <p:spPr>
          <a:xfrm flipH="1" rot="10800000">
            <a:off x="6374119" y="2928159"/>
            <a:ext cx="1114425" cy="1543050"/>
          </a:xfrm>
          <a:prstGeom prst="straightConnector1">
            <a:avLst/>
          </a:prstGeom>
          <a:noFill/>
          <a:ln cap="flat" cmpd="sng" w="28575">
            <a:solidFill>
              <a:schemeClr val="dk1"/>
            </a:solidFill>
            <a:prstDash val="solid"/>
            <a:round/>
            <a:headEnd len="med" w="med" type="none"/>
            <a:tailEnd len="med" w="med" type="none"/>
          </a:ln>
        </p:spPr>
      </p:cxnSp>
      <p:cxnSp>
        <p:nvCxnSpPr>
          <p:cNvPr id="1510" name="Google Shape;1510;p20"/>
          <p:cNvCxnSpPr/>
          <p:nvPr/>
        </p:nvCxnSpPr>
        <p:spPr>
          <a:xfrm rot="10800000">
            <a:off x="7888594" y="2909109"/>
            <a:ext cx="1276350" cy="1543050"/>
          </a:xfrm>
          <a:prstGeom prst="straightConnector1">
            <a:avLst/>
          </a:prstGeom>
          <a:noFill/>
          <a:ln cap="flat" cmpd="sng" w="28575">
            <a:solidFill>
              <a:schemeClr val="dk1"/>
            </a:solidFill>
            <a:prstDash val="solid"/>
            <a:round/>
            <a:headEnd len="med" w="med" type="none"/>
            <a:tailEnd len="med" w="med" type="none"/>
          </a:ln>
        </p:spPr>
      </p:cxnSp>
      <p:cxnSp>
        <p:nvCxnSpPr>
          <p:cNvPr id="1511" name="Google Shape;1511;p20"/>
          <p:cNvCxnSpPr/>
          <p:nvPr/>
        </p:nvCxnSpPr>
        <p:spPr>
          <a:xfrm rot="10800000">
            <a:off x="6564619" y="4671234"/>
            <a:ext cx="2305050" cy="9525"/>
          </a:xfrm>
          <a:prstGeom prst="straightConnector1">
            <a:avLst/>
          </a:prstGeom>
          <a:noFill/>
          <a:ln cap="flat" cmpd="sng" w="28575">
            <a:solidFill>
              <a:schemeClr val="dk1"/>
            </a:solidFill>
            <a:prstDash val="solid"/>
            <a:round/>
            <a:headEnd len="med" w="med" type="none"/>
            <a:tailEnd len="med" w="med" type="none"/>
          </a:ln>
        </p:spPr>
      </p:cxnSp>
      <p:sp>
        <p:nvSpPr>
          <p:cNvPr id="1512" name="Google Shape;1512;p20"/>
          <p:cNvSpPr txBox="1"/>
          <p:nvPr/>
        </p:nvSpPr>
        <p:spPr>
          <a:xfrm>
            <a:off x="7967969" y="2821797"/>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223.1.7.0</a:t>
            </a:r>
            <a:endParaRPr b="0" i="0" sz="1800" u="none" cap="none" strike="noStrike">
              <a:solidFill>
                <a:srgbClr val="000000"/>
              </a:solidFill>
              <a:latin typeface="Calibri"/>
              <a:ea typeface="Calibri"/>
              <a:cs typeface="Calibri"/>
              <a:sym typeface="Calibri"/>
            </a:endParaRPr>
          </a:p>
        </p:txBody>
      </p:sp>
      <p:sp>
        <p:nvSpPr>
          <p:cNvPr id="1513" name="Google Shape;1513;p20"/>
          <p:cNvSpPr txBox="1"/>
          <p:nvPr/>
        </p:nvSpPr>
        <p:spPr>
          <a:xfrm>
            <a:off x="9044294" y="4107672"/>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223.1.7.1</a:t>
            </a:r>
            <a:endParaRPr b="0" i="0" sz="1800" u="none" cap="none" strike="noStrike">
              <a:solidFill>
                <a:srgbClr val="000000"/>
              </a:solidFill>
              <a:latin typeface="Calibri"/>
              <a:ea typeface="Calibri"/>
              <a:cs typeface="Calibri"/>
              <a:sym typeface="Calibri"/>
            </a:endParaRPr>
          </a:p>
        </p:txBody>
      </p:sp>
      <p:sp>
        <p:nvSpPr>
          <p:cNvPr id="1514" name="Google Shape;1514;p20"/>
          <p:cNvSpPr txBox="1"/>
          <p:nvPr/>
        </p:nvSpPr>
        <p:spPr>
          <a:xfrm>
            <a:off x="7806044" y="4364847"/>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223.1.8.0</a:t>
            </a:r>
            <a:endParaRPr b="0" i="0" sz="1800" u="none" cap="none" strike="noStrike">
              <a:solidFill>
                <a:srgbClr val="000000"/>
              </a:solidFill>
              <a:latin typeface="Calibri"/>
              <a:ea typeface="Calibri"/>
              <a:cs typeface="Calibri"/>
              <a:sym typeface="Calibri"/>
            </a:endParaRPr>
          </a:p>
        </p:txBody>
      </p:sp>
      <p:sp>
        <p:nvSpPr>
          <p:cNvPr id="1515" name="Google Shape;1515;p20"/>
          <p:cNvSpPr txBox="1"/>
          <p:nvPr/>
        </p:nvSpPr>
        <p:spPr>
          <a:xfrm>
            <a:off x="6558269" y="4364847"/>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223.1.8.1</a:t>
            </a:r>
            <a:endParaRPr b="0" i="0" sz="1800" u="none" cap="none" strike="noStrike">
              <a:solidFill>
                <a:srgbClr val="000000"/>
              </a:solidFill>
              <a:latin typeface="Calibri"/>
              <a:ea typeface="Calibri"/>
              <a:cs typeface="Calibri"/>
              <a:sym typeface="Calibri"/>
            </a:endParaRPr>
          </a:p>
        </p:txBody>
      </p:sp>
      <p:sp>
        <p:nvSpPr>
          <p:cNvPr id="1516" name="Google Shape;1516;p20"/>
          <p:cNvSpPr txBox="1"/>
          <p:nvPr/>
        </p:nvSpPr>
        <p:spPr>
          <a:xfrm>
            <a:off x="5481944" y="4069572"/>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223.1.9.1</a:t>
            </a:r>
            <a:endParaRPr b="0" i="0" sz="1800" u="none" cap="none" strike="noStrike">
              <a:solidFill>
                <a:srgbClr val="000000"/>
              </a:solidFill>
              <a:latin typeface="Calibri"/>
              <a:ea typeface="Calibri"/>
              <a:cs typeface="Calibri"/>
              <a:sym typeface="Calibri"/>
            </a:endParaRPr>
          </a:p>
        </p:txBody>
      </p:sp>
      <p:sp>
        <p:nvSpPr>
          <p:cNvPr id="1517" name="Google Shape;1517;p20"/>
          <p:cNvSpPr txBox="1"/>
          <p:nvPr/>
        </p:nvSpPr>
        <p:spPr>
          <a:xfrm>
            <a:off x="6348719" y="2831322"/>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223.1.9.2</a:t>
            </a:r>
            <a:endParaRPr b="0" i="0" sz="1800" u="none" cap="none" strike="noStrike">
              <a:solidFill>
                <a:srgbClr val="000000"/>
              </a:solidFill>
              <a:latin typeface="Calibri"/>
              <a:ea typeface="Calibri"/>
              <a:cs typeface="Calibri"/>
              <a:sym typeface="Calibri"/>
            </a:endParaRPr>
          </a:p>
        </p:txBody>
      </p:sp>
      <p:cxnSp>
        <p:nvCxnSpPr>
          <p:cNvPr id="1518" name="Google Shape;1518;p20"/>
          <p:cNvCxnSpPr/>
          <p:nvPr/>
        </p:nvCxnSpPr>
        <p:spPr>
          <a:xfrm>
            <a:off x="7907727" y="1333593"/>
            <a:ext cx="0" cy="222933"/>
          </a:xfrm>
          <a:prstGeom prst="straightConnector1">
            <a:avLst/>
          </a:prstGeom>
          <a:noFill/>
          <a:ln cap="flat" cmpd="sng" w="19050">
            <a:solidFill>
              <a:schemeClr val="dk1"/>
            </a:solidFill>
            <a:prstDash val="solid"/>
            <a:miter lim="8000"/>
            <a:headEnd len="sm" w="sm" type="none"/>
            <a:tailEnd len="sm" w="sm" type="none"/>
          </a:ln>
        </p:spPr>
      </p:cxnSp>
      <p:cxnSp>
        <p:nvCxnSpPr>
          <p:cNvPr id="1519" name="Google Shape;1519;p20"/>
          <p:cNvCxnSpPr/>
          <p:nvPr/>
        </p:nvCxnSpPr>
        <p:spPr>
          <a:xfrm>
            <a:off x="7077714" y="1391530"/>
            <a:ext cx="0" cy="222933"/>
          </a:xfrm>
          <a:prstGeom prst="straightConnector1">
            <a:avLst/>
          </a:prstGeom>
          <a:noFill/>
          <a:ln cap="flat" cmpd="sng" w="19050">
            <a:solidFill>
              <a:schemeClr val="dk1"/>
            </a:solidFill>
            <a:prstDash val="solid"/>
            <a:miter lim="8000"/>
            <a:headEnd len="sm" w="sm" type="none"/>
            <a:tailEnd len="sm" w="sm" type="none"/>
          </a:ln>
        </p:spPr>
      </p:cxnSp>
      <p:cxnSp>
        <p:nvCxnSpPr>
          <p:cNvPr id="1520" name="Google Shape;1520;p20"/>
          <p:cNvCxnSpPr/>
          <p:nvPr/>
        </p:nvCxnSpPr>
        <p:spPr>
          <a:xfrm>
            <a:off x="8747817" y="1349966"/>
            <a:ext cx="0" cy="222933"/>
          </a:xfrm>
          <a:prstGeom prst="straightConnector1">
            <a:avLst/>
          </a:prstGeom>
          <a:noFill/>
          <a:ln cap="flat" cmpd="sng" w="19050">
            <a:solidFill>
              <a:schemeClr val="dk1"/>
            </a:solidFill>
            <a:prstDash val="solid"/>
            <a:miter lim="8000"/>
            <a:headEnd len="sm" w="sm" type="none"/>
            <a:tailEnd len="sm" w="sm" type="none"/>
          </a:ln>
        </p:spPr>
      </p:cxnSp>
      <p:cxnSp>
        <p:nvCxnSpPr>
          <p:cNvPr id="1521" name="Google Shape;1521;p20"/>
          <p:cNvCxnSpPr/>
          <p:nvPr/>
        </p:nvCxnSpPr>
        <p:spPr>
          <a:xfrm>
            <a:off x="9721099" y="5845766"/>
            <a:ext cx="0" cy="222933"/>
          </a:xfrm>
          <a:prstGeom prst="straightConnector1">
            <a:avLst/>
          </a:prstGeom>
          <a:noFill/>
          <a:ln cap="flat" cmpd="sng" w="19050">
            <a:solidFill>
              <a:schemeClr val="dk1"/>
            </a:solidFill>
            <a:prstDash val="solid"/>
            <a:miter lim="8000"/>
            <a:headEnd len="sm" w="sm" type="none"/>
            <a:tailEnd len="sm" w="sm" type="none"/>
          </a:ln>
        </p:spPr>
      </p:cxnSp>
      <p:cxnSp>
        <p:nvCxnSpPr>
          <p:cNvPr id="1522" name="Google Shape;1522;p20"/>
          <p:cNvCxnSpPr/>
          <p:nvPr/>
        </p:nvCxnSpPr>
        <p:spPr>
          <a:xfrm>
            <a:off x="8855191" y="5831911"/>
            <a:ext cx="0" cy="222933"/>
          </a:xfrm>
          <a:prstGeom prst="straightConnector1">
            <a:avLst/>
          </a:prstGeom>
          <a:noFill/>
          <a:ln cap="flat" cmpd="sng" w="19050">
            <a:solidFill>
              <a:schemeClr val="dk1"/>
            </a:solidFill>
            <a:prstDash val="solid"/>
            <a:miter lim="8000"/>
            <a:headEnd len="sm" w="sm" type="none"/>
            <a:tailEnd len="sm" w="sm" type="none"/>
          </a:ln>
        </p:spPr>
      </p:cxnSp>
      <p:cxnSp>
        <p:nvCxnSpPr>
          <p:cNvPr id="1523" name="Google Shape;1523;p20"/>
          <p:cNvCxnSpPr/>
          <p:nvPr/>
        </p:nvCxnSpPr>
        <p:spPr>
          <a:xfrm>
            <a:off x="6527626" y="5717611"/>
            <a:ext cx="0" cy="222933"/>
          </a:xfrm>
          <a:prstGeom prst="straightConnector1">
            <a:avLst/>
          </a:prstGeom>
          <a:noFill/>
          <a:ln cap="flat" cmpd="sng" w="19050">
            <a:solidFill>
              <a:schemeClr val="dk1"/>
            </a:solidFill>
            <a:prstDash val="solid"/>
            <a:miter lim="8000"/>
            <a:headEnd len="sm" w="sm" type="none"/>
            <a:tailEnd len="sm" w="sm" type="none"/>
          </a:ln>
        </p:spPr>
      </p:cxnSp>
      <p:cxnSp>
        <p:nvCxnSpPr>
          <p:cNvPr id="1524" name="Google Shape;1524;p20"/>
          <p:cNvCxnSpPr/>
          <p:nvPr/>
        </p:nvCxnSpPr>
        <p:spPr>
          <a:xfrm>
            <a:off x="5734453" y="5755711"/>
            <a:ext cx="0" cy="222933"/>
          </a:xfrm>
          <a:prstGeom prst="straightConnector1">
            <a:avLst/>
          </a:prstGeom>
          <a:noFill/>
          <a:ln cap="flat" cmpd="sng" w="19050">
            <a:solidFill>
              <a:schemeClr val="dk1"/>
            </a:solidFill>
            <a:prstDash val="solid"/>
            <a:miter lim="8000"/>
            <a:headEnd len="sm" w="sm" type="none"/>
            <a:tailEnd len="sm" w="sm" type="none"/>
          </a:ln>
        </p:spPr>
      </p:cxnSp>
      <p:grpSp>
        <p:nvGrpSpPr>
          <p:cNvPr id="1525" name="Google Shape;1525;p20"/>
          <p:cNvGrpSpPr/>
          <p:nvPr/>
        </p:nvGrpSpPr>
        <p:grpSpPr>
          <a:xfrm>
            <a:off x="5269942" y="831439"/>
            <a:ext cx="4571749" cy="5747039"/>
            <a:chOff x="3921589" y="800442"/>
            <a:chExt cx="4571749" cy="5747039"/>
          </a:xfrm>
        </p:grpSpPr>
        <p:grpSp>
          <p:nvGrpSpPr>
            <p:cNvPr id="1526" name="Google Shape;1526;p20"/>
            <p:cNvGrpSpPr/>
            <p:nvPr/>
          </p:nvGrpSpPr>
          <p:grpSpPr>
            <a:xfrm>
              <a:off x="6912267" y="813299"/>
              <a:ext cx="641350" cy="558800"/>
              <a:chOff x="-44" y="1473"/>
              <a:chExt cx="981" cy="1105"/>
            </a:xfrm>
          </p:grpSpPr>
          <p:pic>
            <p:nvPicPr>
              <p:cNvPr descr="desktop_computer_stylized_medium" id="1527" name="Google Shape;1527;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28" name="Google Shape;1528;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1529" name="Google Shape;1529;p20"/>
            <p:cNvGrpSpPr/>
            <p:nvPr/>
          </p:nvGrpSpPr>
          <p:grpSpPr>
            <a:xfrm>
              <a:off x="5243214" y="845876"/>
              <a:ext cx="641350" cy="558800"/>
              <a:chOff x="-44" y="1473"/>
              <a:chExt cx="981" cy="1105"/>
            </a:xfrm>
          </p:grpSpPr>
          <p:pic>
            <p:nvPicPr>
              <p:cNvPr descr="desktop_computer_stylized_medium" id="1530" name="Google Shape;1530;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31" name="Google Shape;1531;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1532" name="Google Shape;1532;p20"/>
            <p:cNvGrpSpPr/>
            <p:nvPr/>
          </p:nvGrpSpPr>
          <p:grpSpPr>
            <a:xfrm>
              <a:off x="6075064" y="800442"/>
              <a:ext cx="641350" cy="558800"/>
              <a:chOff x="-44" y="1473"/>
              <a:chExt cx="981" cy="1105"/>
            </a:xfrm>
          </p:grpSpPr>
          <p:pic>
            <p:nvPicPr>
              <p:cNvPr descr="desktop_computer_stylized_medium" id="1533" name="Google Shape;1533;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34" name="Google Shape;1534;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1535" name="Google Shape;1535;p20"/>
            <p:cNvGrpSpPr/>
            <p:nvPr/>
          </p:nvGrpSpPr>
          <p:grpSpPr>
            <a:xfrm>
              <a:off x="5951096" y="2488367"/>
              <a:ext cx="764498" cy="449705"/>
              <a:chOff x="7493876" y="2774731"/>
              <a:chExt cx="1481958" cy="894622"/>
            </a:xfrm>
          </p:grpSpPr>
          <p:sp>
            <p:nvSpPr>
              <p:cNvPr id="1536" name="Google Shape;1536;p2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537" name="Google Shape;1537;p20"/>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538" name="Google Shape;1538;p20"/>
              <p:cNvGrpSpPr/>
              <p:nvPr/>
            </p:nvGrpSpPr>
            <p:grpSpPr>
              <a:xfrm>
                <a:off x="7713663" y="2848339"/>
                <a:ext cx="1042107" cy="425543"/>
                <a:chOff x="7786941" y="2884917"/>
                <a:chExt cx="897649" cy="353919"/>
              </a:xfrm>
            </p:grpSpPr>
            <p:sp>
              <p:nvSpPr>
                <p:cNvPr id="1539" name="Google Shape;1539;p2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40" name="Google Shape;1540;p2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41" name="Google Shape;1541;p2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42" name="Google Shape;1542;p2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1543" name="Google Shape;1543;p20"/>
            <p:cNvGrpSpPr/>
            <p:nvPr/>
          </p:nvGrpSpPr>
          <p:grpSpPr>
            <a:xfrm>
              <a:off x="7452610" y="4364636"/>
              <a:ext cx="764498" cy="449705"/>
              <a:chOff x="7493876" y="2774731"/>
              <a:chExt cx="1481958" cy="894622"/>
            </a:xfrm>
          </p:grpSpPr>
          <p:sp>
            <p:nvSpPr>
              <p:cNvPr id="1544" name="Google Shape;1544;p2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545" name="Google Shape;1545;p20"/>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546" name="Google Shape;1546;p20"/>
              <p:cNvGrpSpPr/>
              <p:nvPr/>
            </p:nvGrpSpPr>
            <p:grpSpPr>
              <a:xfrm>
                <a:off x="7713663" y="2848339"/>
                <a:ext cx="1042107" cy="425543"/>
                <a:chOff x="7786941" y="2884917"/>
                <a:chExt cx="897649" cy="353919"/>
              </a:xfrm>
            </p:grpSpPr>
            <p:sp>
              <p:nvSpPr>
                <p:cNvPr id="1547" name="Google Shape;1547;p2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48" name="Google Shape;1548;p2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49" name="Google Shape;1549;p2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50" name="Google Shape;1550;p2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1551" name="Google Shape;1551;p20"/>
            <p:cNvGrpSpPr/>
            <p:nvPr/>
          </p:nvGrpSpPr>
          <p:grpSpPr>
            <a:xfrm>
              <a:off x="4517036" y="4382125"/>
              <a:ext cx="764498" cy="449705"/>
              <a:chOff x="7493876" y="2774731"/>
              <a:chExt cx="1481958" cy="894622"/>
            </a:xfrm>
          </p:grpSpPr>
          <p:sp>
            <p:nvSpPr>
              <p:cNvPr id="1552" name="Google Shape;1552;p2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553" name="Google Shape;1553;p20"/>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554" name="Google Shape;1554;p20"/>
              <p:cNvGrpSpPr/>
              <p:nvPr/>
            </p:nvGrpSpPr>
            <p:grpSpPr>
              <a:xfrm>
                <a:off x="7713663" y="2848339"/>
                <a:ext cx="1042107" cy="425543"/>
                <a:chOff x="7786941" y="2884917"/>
                <a:chExt cx="897649" cy="353919"/>
              </a:xfrm>
            </p:grpSpPr>
            <p:sp>
              <p:nvSpPr>
                <p:cNvPr id="1555" name="Google Shape;1555;p2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56" name="Google Shape;1556;p2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57" name="Google Shape;1557;p2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58" name="Google Shape;1558;p2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1559" name="Google Shape;1559;p20"/>
            <p:cNvGrpSpPr/>
            <p:nvPr/>
          </p:nvGrpSpPr>
          <p:grpSpPr>
            <a:xfrm>
              <a:off x="7851988" y="5988681"/>
              <a:ext cx="641350" cy="558800"/>
              <a:chOff x="-44" y="1473"/>
              <a:chExt cx="981" cy="1105"/>
            </a:xfrm>
          </p:grpSpPr>
          <p:pic>
            <p:nvPicPr>
              <p:cNvPr descr="desktop_computer_stylized_medium" id="1560" name="Google Shape;1560;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1" name="Google Shape;1561;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1562" name="Google Shape;1562;p20"/>
            <p:cNvGrpSpPr/>
            <p:nvPr/>
          </p:nvGrpSpPr>
          <p:grpSpPr>
            <a:xfrm>
              <a:off x="6916190" y="5955947"/>
              <a:ext cx="641350" cy="558800"/>
              <a:chOff x="-44" y="1473"/>
              <a:chExt cx="981" cy="1105"/>
            </a:xfrm>
          </p:grpSpPr>
          <p:pic>
            <p:nvPicPr>
              <p:cNvPr descr="desktop_computer_stylized_medium" id="1563" name="Google Shape;1563;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4" name="Google Shape;1564;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1565" name="Google Shape;1565;p20"/>
            <p:cNvGrpSpPr/>
            <p:nvPr/>
          </p:nvGrpSpPr>
          <p:grpSpPr>
            <a:xfrm>
              <a:off x="3921589" y="5865644"/>
              <a:ext cx="641350" cy="558800"/>
              <a:chOff x="-44" y="1473"/>
              <a:chExt cx="981" cy="1105"/>
            </a:xfrm>
          </p:grpSpPr>
          <p:pic>
            <p:nvPicPr>
              <p:cNvPr descr="desktop_computer_stylized_medium" id="1566" name="Google Shape;1566;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7" name="Google Shape;1567;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1568" name="Google Shape;1568;p20"/>
            <p:cNvGrpSpPr/>
            <p:nvPr/>
          </p:nvGrpSpPr>
          <p:grpSpPr>
            <a:xfrm>
              <a:off x="4833534" y="5813400"/>
              <a:ext cx="641350" cy="558800"/>
              <a:chOff x="-44" y="1473"/>
              <a:chExt cx="981" cy="1105"/>
            </a:xfrm>
          </p:grpSpPr>
          <p:pic>
            <p:nvPicPr>
              <p:cNvPr descr="desktop_computer_stylized_medium" id="1569" name="Google Shape;1569;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70" name="Google Shape;1570;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sp>
        <p:nvSpPr>
          <p:cNvPr id="1571" name="Google Shape;1571;p20"/>
          <p:cNvSpPr txBox="1"/>
          <p:nvPr/>
        </p:nvSpPr>
        <p:spPr>
          <a:xfrm>
            <a:off x="4790324" y="5542214"/>
            <a:ext cx="9637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223.1.2.1</a:t>
            </a:r>
            <a:endParaRPr b="0" i="0" sz="1800" u="none" cap="none" strike="noStrike">
              <a:solidFill>
                <a:srgbClr val="000000"/>
              </a:solidFill>
              <a:latin typeface="Calibri"/>
              <a:ea typeface="Calibri"/>
              <a:cs typeface="Calibri"/>
              <a:sym typeface="Calibri"/>
            </a:endParaRPr>
          </a:p>
        </p:txBody>
      </p:sp>
      <p:grpSp>
        <p:nvGrpSpPr>
          <p:cNvPr id="1572" name="Google Shape;1572;p20"/>
          <p:cNvGrpSpPr/>
          <p:nvPr/>
        </p:nvGrpSpPr>
        <p:grpSpPr>
          <a:xfrm>
            <a:off x="2970204" y="933306"/>
            <a:ext cx="9056493" cy="4702911"/>
            <a:chOff x="2970204" y="933306"/>
            <a:chExt cx="9056493" cy="4702911"/>
          </a:xfrm>
        </p:grpSpPr>
        <p:grpSp>
          <p:nvGrpSpPr>
            <p:cNvPr id="1573" name="Google Shape;1573;p20"/>
            <p:cNvGrpSpPr/>
            <p:nvPr/>
          </p:nvGrpSpPr>
          <p:grpSpPr>
            <a:xfrm>
              <a:off x="8152109" y="933306"/>
              <a:ext cx="3244327" cy="864497"/>
              <a:chOff x="6090834" y="607842"/>
              <a:chExt cx="3244327" cy="864497"/>
            </a:xfrm>
          </p:grpSpPr>
          <p:sp>
            <p:nvSpPr>
              <p:cNvPr id="1574" name="Google Shape;1574;p20"/>
              <p:cNvSpPr txBox="1"/>
              <p:nvPr/>
            </p:nvSpPr>
            <p:spPr>
              <a:xfrm>
                <a:off x="7255489" y="607842"/>
                <a:ext cx="20796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Calibri"/>
                    <a:ea typeface="Calibri"/>
                    <a:cs typeface="Calibri"/>
                    <a:sym typeface="Calibri"/>
                  </a:rPr>
                  <a:t>subnet 223.1.1/24</a:t>
                </a:r>
                <a:endParaRPr/>
              </a:p>
            </p:txBody>
          </p:sp>
          <p:cxnSp>
            <p:nvCxnSpPr>
              <p:cNvPr id="1575" name="Google Shape;1575;p20"/>
              <p:cNvCxnSpPr/>
              <p:nvPr/>
            </p:nvCxnSpPr>
            <p:spPr>
              <a:xfrm flipH="1">
                <a:off x="6090834" y="866887"/>
                <a:ext cx="1222333" cy="605452"/>
              </a:xfrm>
              <a:prstGeom prst="straightConnector1">
                <a:avLst/>
              </a:prstGeom>
              <a:noFill/>
              <a:ln cap="flat" cmpd="sng" w="19050">
                <a:solidFill>
                  <a:srgbClr val="C00000"/>
                </a:solidFill>
                <a:prstDash val="solid"/>
                <a:miter lim="8000"/>
                <a:headEnd len="sm" w="sm" type="none"/>
                <a:tailEnd len="sm" w="sm" type="none"/>
              </a:ln>
            </p:spPr>
          </p:cxnSp>
        </p:grpSp>
        <p:grpSp>
          <p:nvGrpSpPr>
            <p:cNvPr id="1576" name="Google Shape;1576;p20"/>
            <p:cNvGrpSpPr/>
            <p:nvPr/>
          </p:nvGrpSpPr>
          <p:grpSpPr>
            <a:xfrm>
              <a:off x="8567981" y="2945502"/>
              <a:ext cx="2717381" cy="632023"/>
              <a:chOff x="6090835" y="840316"/>
              <a:chExt cx="2717381" cy="632023"/>
            </a:xfrm>
          </p:grpSpPr>
          <p:sp>
            <p:nvSpPr>
              <p:cNvPr id="1577" name="Google Shape;1577;p20"/>
              <p:cNvSpPr txBox="1"/>
              <p:nvPr/>
            </p:nvSpPr>
            <p:spPr>
              <a:xfrm>
                <a:off x="6728544" y="840316"/>
                <a:ext cx="20796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Calibri"/>
                    <a:ea typeface="Calibri"/>
                    <a:cs typeface="Calibri"/>
                    <a:sym typeface="Calibri"/>
                  </a:rPr>
                  <a:t>subnet 223.1.7/24</a:t>
                </a:r>
                <a:endParaRPr/>
              </a:p>
            </p:txBody>
          </p:sp>
          <p:cxnSp>
            <p:nvCxnSpPr>
              <p:cNvPr id="1578" name="Google Shape;1578;p20"/>
              <p:cNvCxnSpPr/>
              <p:nvPr/>
            </p:nvCxnSpPr>
            <p:spPr>
              <a:xfrm flipH="1">
                <a:off x="6090835" y="1102963"/>
                <a:ext cx="700005" cy="369376"/>
              </a:xfrm>
              <a:prstGeom prst="straightConnector1">
                <a:avLst/>
              </a:prstGeom>
              <a:noFill/>
              <a:ln cap="flat" cmpd="sng" w="19050">
                <a:solidFill>
                  <a:srgbClr val="C00000"/>
                </a:solidFill>
                <a:prstDash val="solid"/>
                <a:miter lim="8000"/>
                <a:headEnd len="sm" w="sm" type="none"/>
                <a:tailEnd len="sm" w="sm" type="none"/>
              </a:ln>
            </p:spPr>
          </p:cxnSp>
        </p:grpSp>
        <p:grpSp>
          <p:nvGrpSpPr>
            <p:cNvPr id="1579" name="Google Shape;1579;p20"/>
            <p:cNvGrpSpPr/>
            <p:nvPr/>
          </p:nvGrpSpPr>
          <p:grpSpPr>
            <a:xfrm>
              <a:off x="9262822" y="5019691"/>
              <a:ext cx="2763875" cy="616526"/>
              <a:chOff x="6090835" y="855813"/>
              <a:chExt cx="2763875" cy="616526"/>
            </a:xfrm>
          </p:grpSpPr>
          <p:sp>
            <p:nvSpPr>
              <p:cNvPr id="1580" name="Google Shape;1580;p20"/>
              <p:cNvSpPr txBox="1"/>
              <p:nvPr/>
            </p:nvSpPr>
            <p:spPr>
              <a:xfrm>
                <a:off x="6775038" y="855813"/>
                <a:ext cx="20796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Calibri"/>
                    <a:ea typeface="Calibri"/>
                    <a:cs typeface="Calibri"/>
                    <a:sym typeface="Calibri"/>
                  </a:rPr>
                  <a:t>subnet 223.1.3/24</a:t>
                </a:r>
                <a:endParaRPr/>
              </a:p>
            </p:txBody>
          </p:sp>
          <p:cxnSp>
            <p:nvCxnSpPr>
              <p:cNvPr id="1581" name="Google Shape;1581;p20"/>
              <p:cNvCxnSpPr/>
              <p:nvPr/>
            </p:nvCxnSpPr>
            <p:spPr>
              <a:xfrm flipH="1">
                <a:off x="6090835" y="1102963"/>
                <a:ext cx="700005" cy="369376"/>
              </a:xfrm>
              <a:prstGeom prst="straightConnector1">
                <a:avLst/>
              </a:prstGeom>
              <a:noFill/>
              <a:ln cap="flat" cmpd="sng" w="19050">
                <a:solidFill>
                  <a:srgbClr val="C00000"/>
                </a:solidFill>
                <a:prstDash val="solid"/>
                <a:miter lim="8000"/>
                <a:headEnd len="sm" w="sm" type="none"/>
                <a:tailEnd len="sm" w="sm" type="none"/>
              </a:ln>
            </p:spPr>
          </p:cxnSp>
        </p:grpSp>
        <p:grpSp>
          <p:nvGrpSpPr>
            <p:cNvPr id="1582" name="Google Shape;1582;p20"/>
            <p:cNvGrpSpPr/>
            <p:nvPr/>
          </p:nvGrpSpPr>
          <p:grpSpPr>
            <a:xfrm>
              <a:off x="2970204" y="4924121"/>
              <a:ext cx="2681511" cy="616523"/>
              <a:chOff x="2350272" y="4955118"/>
              <a:chExt cx="2681511" cy="616523"/>
            </a:xfrm>
          </p:grpSpPr>
          <p:sp>
            <p:nvSpPr>
              <p:cNvPr id="1583" name="Google Shape;1583;p20"/>
              <p:cNvSpPr txBox="1"/>
              <p:nvPr/>
            </p:nvSpPr>
            <p:spPr>
              <a:xfrm>
                <a:off x="2350272" y="4955118"/>
                <a:ext cx="20796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Calibri"/>
                    <a:ea typeface="Calibri"/>
                    <a:cs typeface="Calibri"/>
                    <a:sym typeface="Calibri"/>
                  </a:rPr>
                  <a:t>subnet 223.1.2/24</a:t>
                </a:r>
                <a:endParaRPr/>
              </a:p>
            </p:txBody>
          </p:sp>
          <p:cxnSp>
            <p:nvCxnSpPr>
              <p:cNvPr id="1584" name="Google Shape;1584;p20"/>
              <p:cNvCxnSpPr/>
              <p:nvPr/>
            </p:nvCxnSpPr>
            <p:spPr>
              <a:xfrm>
                <a:off x="4331778" y="5202265"/>
                <a:ext cx="700005" cy="369376"/>
              </a:xfrm>
              <a:prstGeom prst="straightConnector1">
                <a:avLst/>
              </a:prstGeom>
              <a:noFill/>
              <a:ln cap="flat" cmpd="sng" w="19050">
                <a:solidFill>
                  <a:srgbClr val="C00000"/>
                </a:solidFill>
                <a:prstDash val="solid"/>
                <a:miter lim="8000"/>
                <a:headEnd len="sm" w="sm" type="none"/>
                <a:tailEnd len="sm" w="sm" type="none"/>
              </a:ln>
            </p:spPr>
          </p:cxnSp>
        </p:grpSp>
        <p:grpSp>
          <p:nvGrpSpPr>
            <p:cNvPr id="1585" name="Google Shape;1585;p20"/>
            <p:cNvGrpSpPr/>
            <p:nvPr/>
          </p:nvGrpSpPr>
          <p:grpSpPr>
            <a:xfrm>
              <a:off x="4362467" y="3185728"/>
              <a:ext cx="2495532" cy="492537"/>
              <a:chOff x="2536251" y="5079104"/>
              <a:chExt cx="2495532" cy="492537"/>
            </a:xfrm>
          </p:grpSpPr>
          <p:sp>
            <p:nvSpPr>
              <p:cNvPr id="1586" name="Google Shape;1586;p20"/>
              <p:cNvSpPr txBox="1"/>
              <p:nvPr/>
            </p:nvSpPr>
            <p:spPr>
              <a:xfrm>
                <a:off x="2536251" y="5079104"/>
                <a:ext cx="20796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Calibri"/>
                    <a:ea typeface="Calibri"/>
                    <a:cs typeface="Calibri"/>
                    <a:sym typeface="Calibri"/>
                  </a:rPr>
                  <a:t>subnet 223.1.9/24</a:t>
                </a:r>
                <a:endParaRPr/>
              </a:p>
            </p:txBody>
          </p:sp>
          <p:cxnSp>
            <p:nvCxnSpPr>
              <p:cNvPr id="1587" name="Google Shape;1587;p20"/>
              <p:cNvCxnSpPr/>
              <p:nvPr/>
            </p:nvCxnSpPr>
            <p:spPr>
              <a:xfrm>
                <a:off x="4559085" y="5349499"/>
                <a:ext cx="472698" cy="222142"/>
              </a:xfrm>
              <a:prstGeom prst="straightConnector1">
                <a:avLst/>
              </a:prstGeom>
              <a:noFill/>
              <a:ln cap="flat" cmpd="sng" w="19050">
                <a:solidFill>
                  <a:srgbClr val="C00000"/>
                </a:solidFill>
                <a:prstDash val="solid"/>
                <a:miter lim="8000"/>
                <a:headEnd len="sm" w="sm" type="none"/>
                <a:tailEnd len="sm" w="sm" type="none"/>
              </a:ln>
            </p:spPr>
          </p:cxnSp>
        </p:grpSp>
        <p:grpSp>
          <p:nvGrpSpPr>
            <p:cNvPr id="1588" name="Google Shape;1588;p20"/>
            <p:cNvGrpSpPr/>
            <p:nvPr/>
          </p:nvGrpSpPr>
          <p:grpSpPr>
            <a:xfrm>
              <a:off x="6605504" y="4602997"/>
              <a:ext cx="2079672" cy="648084"/>
              <a:chOff x="1320582" y="5594888"/>
              <a:chExt cx="2079672" cy="648084"/>
            </a:xfrm>
          </p:grpSpPr>
          <p:sp>
            <p:nvSpPr>
              <p:cNvPr id="1589" name="Google Shape;1589;p20"/>
              <p:cNvSpPr txBox="1"/>
              <p:nvPr/>
            </p:nvSpPr>
            <p:spPr>
              <a:xfrm>
                <a:off x="1320582" y="5842862"/>
                <a:ext cx="20796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C0000"/>
                    </a:solidFill>
                    <a:latin typeface="Calibri"/>
                    <a:ea typeface="Calibri"/>
                    <a:cs typeface="Calibri"/>
                    <a:sym typeface="Calibri"/>
                  </a:rPr>
                  <a:t>subnet 223.1.8/24</a:t>
                </a:r>
                <a:endParaRPr/>
              </a:p>
            </p:txBody>
          </p:sp>
          <p:cxnSp>
            <p:nvCxnSpPr>
              <p:cNvPr id="1590" name="Google Shape;1590;p20"/>
              <p:cNvCxnSpPr/>
              <p:nvPr/>
            </p:nvCxnSpPr>
            <p:spPr>
              <a:xfrm rot="10800000">
                <a:off x="2355742" y="5594888"/>
                <a:ext cx="0" cy="340963"/>
              </a:xfrm>
              <a:prstGeom prst="straightConnector1">
                <a:avLst/>
              </a:prstGeom>
              <a:noFill/>
              <a:ln cap="flat" cmpd="sng" w="19050">
                <a:solidFill>
                  <a:srgbClr val="C00000"/>
                </a:solidFill>
                <a:prstDash val="solid"/>
                <a:miter lim="8000"/>
                <a:headEnd len="sm" w="sm" type="none"/>
                <a:tailEnd len="sm" w="sm" type="none"/>
              </a:ln>
            </p:spPr>
          </p:cxnSp>
        </p:grpSp>
      </p:grpSp>
      <p:sp>
        <p:nvSpPr>
          <p:cNvPr id="1591" name="Google Shape;1591;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25"/>
                                        </p:tgtEl>
                                      </p:cBhvr>
                                    </p:animEffect>
                                    <p:set>
                                      <p:cBhvr>
                                        <p:cTn dur="1" fill="hold">
                                          <p:stCondLst>
                                            <p:cond delay="500"/>
                                          </p:stCondLst>
                                        </p:cTn>
                                        <p:tgtEl>
                                          <p:spTgt spid="15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2"/>
                                        </p:tgtEl>
                                        <p:attrNameLst>
                                          <p:attrName>style.visibility</p:attrName>
                                        </p:attrNameLst>
                                      </p:cBhvr>
                                      <p:to>
                                        <p:strVal val="visible"/>
                                      </p:to>
                                    </p:set>
                                    <p:animEffect filter="fade" transition="in">
                                      <p:cBhvr>
                                        <p:cTn dur="500"/>
                                        <p:tgtEl>
                                          <p:spTgt spid="1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6" name="Shape 1596"/>
        <p:cNvGrpSpPr/>
        <p:nvPr/>
      </p:nvGrpSpPr>
      <p:grpSpPr>
        <a:xfrm>
          <a:off x="0" y="0"/>
          <a:ext cx="0" cy="0"/>
          <a:chOff x="0" y="0"/>
          <a:chExt cx="0" cy="0"/>
        </a:xfrm>
      </p:grpSpPr>
      <p:sp>
        <p:nvSpPr>
          <p:cNvPr id="1597" name="Google Shape;1597;p2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CIDR</a:t>
            </a:r>
            <a:endParaRPr/>
          </a:p>
        </p:txBody>
      </p:sp>
      <p:sp>
        <p:nvSpPr>
          <p:cNvPr id="1598" name="Google Shape;1598;p21"/>
          <p:cNvSpPr txBox="1"/>
          <p:nvPr/>
        </p:nvSpPr>
        <p:spPr>
          <a:xfrm>
            <a:off x="910964" y="1504586"/>
            <a:ext cx="11096157" cy="207806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600"/>
              <a:buFont typeface="Noto Sans Symbols"/>
              <a:buNone/>
            </a:pPr>
            <a:r>
              <a:rPr b="0" i="0" lang="en-US" sz="3600" u="none" cap="none" strike="noStrike">
                <a:solidFill>
                  <a:srgbClr val="CC0000"/>
                </a:solidFill>
                <a:latin typeface="Calibri"/>
                <a:ea typeface="Calibri"/>
                <a:cs typeface="Calibri"/>
                <a:sym typeface="Calibri"/>
              </a:rPr>
              <a:t>CIDR:</a:t>
            </a:r>
            <a:r>
              <a:rPr b="0" i="0" lang="en-US" sz="3600" u="none" cap="none" strike="noStrike">
                <a:solidFill>
                  <a:srgbClr val="000000"/>
                </a:solidFill>
                <a:latin typeface="Calibri"/>
                <a:ea typeface="Calibri"/>
                <a:cs typeface="Calibri"/>
                <a:sym typeface="Calibri"/>
              </a:rPr>
              <a:t> </a:t>
            </a:r>
            <a:r>
              <a:rPr b="0" i="0" lang="en-US" sz="3600" u="none" cap="none" strike="noStrike">
                <a:solidFill>
                  <a:srgbClr val="CC0000"/>
                </a:solidFill>
                <a:latin typeface="Calibri"/>
                <a:ea typeface="Calibri"/>
                <a:cs typeface="Calibri"/>
                <a:sym typeface="Calibri"/>
              </a:rPr>
              <a:t>C</a:t>
            </a:r>
            <a:r>
              <a:rPr b="0" i="0" lang="en-US" sz="3600" u="none" cap="none" strike="noStrike">
                <a:solidFill>
                  <a:srgbClr val="000000"/>
                </a:solidFill>
                <a:latin typeface="Calibri"/>
                <a:ea typeface="Calibri"/>
                <a:cs typeface="Calibri"/>
                <a:sym typeface="Calibri"/>
              </a:rPr>
              <a:t>lassless </a:t>
            </a:r>
            <a:r>
              <a:rPr b="0" i="0" lang="en-US" sz="3600" u="none" cap="none" strike="noStrike">
                <a:solidFill>
                  <a:srgbClr val="CC0000"/>
                </a:solidFill>
                <a:latin typeface="Calibri"/>
                <a:ea typeface="Calibri"/>
                <a:cs typeface="Calibri"/>
                <a:sym typeface="Calibri"/>
              </a:rPr>
              <a:t>I</a:t>
            </a:r>
            <a:r>
              <a:rPr b="0" i="0" lang="en-US" sz="3600" u="none" cap="none" strike="noStrike">
                <a:solidFill>
                  <a:srgbClr val="000000"/>
                </a:solidFill>
                <a:latin typeface="Calibri"/>
                <a:ea typeface="Calibri"/>
                <a:cs typeface="Calibri"/>
                <a:sym typeface="Calibri"/>
              </a:rPr>
              <a:t>nter</a:t>
            </a:r>
            <a:r>
              <a:rPr b="0" i="0" lang="en-US" sz="3600" u="none" cap="none" strike="noStrike">
                <a:solidFill>
                  <a:srgbClr val="CC0000"/>
                </a:solidFill>
                <a:latin typeface="Calibri"/>
                <a:ea typeface="Calibri"/>
                <a:cs typeface="Calibri"/>
                <a:sym typeface="Calibri"/>
              </a:rPr>
              <a:t>D</a:t>
            </a:r>
            <a:r>
              <a:rPr b="0" i="0" lang="en-US" sz="3600" u="none" cap="none" strike="noStrike">
                <a:solidFill>
                  <a:srgbClr val="000000"/>
                </a:solidFill>
                <a:latin typeface="Calibri"/>
                <a:ea typeface="Calibri"/>
                <a:cs typeface="Calibri"/>
                <a:sym typeface="Calibri"/>
              </a:rPr>
              <a:t>omain </a:t>
            </a:r>
            <a:r>
              <a:rPr b="0" i="0" lang="en-US" sz="3600" u="none" cap="none" strike="noStrike">
                <a:solidFill>
                  <a:srgbClr val="CC0000"/>
                </a:solidFill>
                <a:latin typeface="Calibri"/>
                <a:ea typeface="Calibri"/>
                <a:cs typeface="Calibri"/>
                <a:sym typeface="Calibri"/>
              </a:rPr>
              <a:t>R</a:t>
            </a:r>
            <a:r>
              <a:rPr b="0" i="0" lang="en-US" sz="3600" u="none" cap="none" strike="noStrike">
                <a:solidFill>
                  <a:srgbClr val="000000"/>
                </a:solidFill>
                <a:latin typeface="Calibri"/>
                <a:ea typeface="Calibri"/>
                <a:cs typeface="Calibri"/>
                <a:sym typeface="Calibri"/>
              </a:rPr>
              <a:t>outing </a:t>
            </a:r>
            <a:r>
              <a:rPr b="0" i="0" lang="en-US" sz="2800" u="none" cap="none" strike="noStrike">
                <a:solidFill>
                  <a:srgbClr val="000000"/>
                </a:solidFill>
                <a:latin typeface="Calibri"/>
                <a:ea typeface="Calibri"/>
                <a:cs typeface="Calibri"/>
                <a:sym typeface="Calibri"/>
              </a:rPr>
              <a:t>(pronounced “cider”)</a:t>
            </a:r>
            <a:endParaRPr b="0" i="0" sz="36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subnet portion of address of arbitrary length</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address format: </a:t>
            </a:r>
            <a:r>
              <a:rPr b="0" i="0" lang="en-US" sz="3200" u="none" cap="none" strike="noStrike">
                <a:solidFill>
                  <a:srgbClr val="CC0000"/>
                </a:solidFill>
                <a:latin typeface="Calibri"/>
                <a:ea typeface="Calibri"/>
                <a:cs typeface="Calibri"/>
                <a:sym typeface="Calibri"/>
              </a:rPr>
              <a:t>a.b.c.d/x</a:t>
            </a:r>
            <a:r>
              <a:rPr b="0" i="0" lang="en-US" sz="3200" u="none" cap="none" strike="noStrike">
                <a:solidFill>
                  <a:srgbClr val="000000"/>
                </a:solidFill>
                <a:latin typeface="Calibri"/>
                <a:ea typeface="Calibri"/>
                <a:cs typeface="Calibri"/>
                <a:sym typeface="Calibri"/>
              </a:rPr>
              <a:t>, where x is # bits in subnet portion of address</a:t>
            </a:r>
            <a:endParaRPr/>
          </a:p>
          <a:p>
            <a:pPr indent="-55563"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grpSp>
        <p:nvGrpSpPr>
          <p:cNvPr id="1599" name="Google Shape;1599;p21"/>
          <p:cNvGrpSpPr/>
          <p:nvPr/>
        </p:nvGrpSpPr>
        <p:grpSpPr>
          <a:xfrm>
            <a:off x="3242716" y="3863272"/>
            <a:ext cx="6124575" cy="1624012"/>
            <a:chOff x="3242716" y="3863272"/>
            <a:chExt cx="6124575" cy="1624012"/>
          </a:xfrm>
        </p:grpSpPr>
        <p:sp>
          <p:nvSpPr>
            <p:cNvPr id="1600" name="Google Shape;1600;p21"/>
            <p:cNvSpPr txBox="1"/>
            <p:nvPr/>
          </p:nvSpPr>
          <p:spPr>
            <a:xfrm>
              <a:off x="3242716" y="4444297"/>
              <a:ext cx="61245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99"/>
                  </a:solidFill>
                  <a:latin typeface="Arial"/>
                  <a:ea typeface="Arial"/>
                  <a:cs typeface="Arial"/>
                  <a:sym typeface="Arial"/>
                </a:rPr>
                <a:t>11001000  00010111  0001000</a:t>
              </a:r>
              <a:r>
                <a:rPr b="0" i="0" lang="en-US" sz="2400" u="none" cap="none" strike="noStrike">
                  <a:solidFill>
                    <a:srgbClr val="000000"/>
                  </a:solidFill>
                  <a:latin typeface="Arial"/>
                  <a:ea typeface="Arial"/>
                  <a:cs typeface="Arial"/>
                  <a:sym typeface="Arial"/>
                </a:rPr>
                <a:t>0  00000000</a:t>
              </a:r>
              <a:endParaRPr b="0" i="0" sz="2400" u="none" cap="none" strike="noStrike">
                <a:solidFill>
                  <a:srgbClr val="000000"/>
                </a:solidFill>
                <a:latin typeface="Times New Roman"/>
                <a:ea typeface="Times New Roman"/>
                <a:cs typeface="Times New Roman"/>
                <a:sym typeface="Times New Roman"/>
              </a:endParaRPr>
            </a:p>
          </p:txBody>
        </p:sp>
        <p:sp>
          <p:nvSpPr>
            <p:cNvPr id="1601" name="Google Shape;1601;p21"/>
            <p:cNvSpPr txBox="1"/>
            <p:nvPr/>
          </p:nvSpPr>
          <p:spPr>
            <a:xfrm>
              <a:off x="4904829" y="3899784"/>
              <a:ext cx="869950" cy="641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99"/>
                  </a:solidFill>
                  <a:latin typeface="Arial"/>
                  <a:ea typeface="Arial"/>
                  <a:cs typeface="Arial"/>
                  <a:sym typeface="Arial"/>
                </a:rPr>
                <a:t>subnet</a:t>
              </a:r>
              <a:endParaRPr/>
            </a:p>
            <a:p>
              <a:pPr indent="0" lvl="0" marL="0" marR="0" rtl="0" algn="ctr">
                <a:spcBef>
                  <a:spcPts val="0"/>
                </a:spcBef>
                <a:spcAft>
                  <a:spcPts val="0"/>
                </a:spcAft>
                <a:buNone/>
              </a:pPr>
              <a:r>
                <a:rPr b="0" i="0" lang="en-US" sz="1800" u="none" cap="none" strike="noStrike">
                  <a:solidFill>
                    <a:srgbClr val="000099"/>
                  </a:solidFill>
                  <a:latin typeface="Arial"/>
                  <a:ea typeface="Arial"/>
                  <a:cs typeface="Arial"/>
                  <a:sym typeface="Arial"/>
                </a:rPr>
                <a:t>part</a:t>
              </a:r>
              <a:endParaRPr/>
            </a:p>
          </p:txBody>
        </p:sp>
        <p:sp>
          <p:nvSpPr>
            <p:cNvPr id="1602" name="Google Shape;1602;p21"/>
            <p:cNvSpPr txBox="1"/>
            <p:nvPr/>
          </p:nvSpPr>
          <p:spPr>
            <a:xfrm>
              <a:off x="8184604" y="3863272"/>
              <a:ext cx="615950" cy="641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host</a:t>
              </a:r>
              <a:endParaRPr/>
            </a:p>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part</a:t>
              </a:r>
              <a:endParaRPr/>
            </a:p>
          </p:txBody>
        </p:sp>
        <p:cxnSp>
          <p:nvCxnSpPr>
            <p:cNvPr id="1603" name="Google Shape;1603;p21"/>
            <p:cNvCxnSpPr/>
            <p:nvPr/>
          </p:nvCxnSpPr>
          <p:spPr>
            <a:xfrm>
              <a:off x="5911304" y="4209347"/>
              <a:ext cx="1620837" cy="0"/>
            </a:xfrm>
            <a:prstGeom prst="straightConnector1">
              <a:avLst/>
            </a:prstGeom>
            <a:noFill/>
            <a:ln cap="flat" cmpd="sng" w="28575">
              <a:solidFill>
                <a:srgbClr val="000099"/>
              </a:solidFill>
              <a:prstDash val="solid"/>
              <a:round/>
              <a:headEnd len="med" w="med" type="none"/>
              <a:tailEnd len="med" w="med" type="triangle"/>
            </a:ln>
          </p:spPr>
        </p:cxnSp>
        <p:cxnSp>
          <p:nvCxnSpPr>
            <p:cNvPr id="1604" name="Google Shape;1604;p21"/>
            <p:cNvCxnSpPr/>
            <p:nvPr/>
          </p:nvCxnSpPr>
          <p:spPr>
            <a:xfrm>
              <a:off x="8702129" y="4198234"/>
              <a:ext cx="595312" cy="0"/>
            </a:xfrm>
            <a:prstGeom prst="straightConnector1">
              <a:avLst/>
            </a:prstGeom>
            <a:noFill/>
            <a:ln cap="flat" cmpd="sng" w="28575">
              <a:solidFill>
                <a:schemeClr val="dk1"/>
              </a:solidFill>
              <a:prstDash val="solid"/>
              <a:round/>
              <a:headEnd len="med" w="med" type="none"/>
              <a:tailEnd len="med" w="med" type="triangle"/>
            </a:ln>
          </p:spPr>
        </p:cxnSp>
        <p:sp>
          <p:nvSpPr>
            <p:cNvPr id="1605" name="Google Shape;1605;p21"/>
            <p:cNvSpPr txBox="1"/>
            <p:nvPr/>
          </p:nvSpPr>
          <p:spPr>
            <a:xfrm>
              <a:off x="5179466" y="5030084"/>
              <a:ext cx="22193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cxnSp>
          <p:nvCxnSpPr>
            <p:cNvPr id="1606" name="Google Shape;1606;p21"/>
            <p:cNvCxnSpPr/>
            <p:nvPr/>
          </p:nvCxnSpPr>
          <p:spPr>
            <a:xfrm rot="10800000">
              <a:off x="3312566" y="4199822"/>
              <a:ext cx="1438275" cy="0"/>
            </a:xfrm>
            <a:prstGeom prst="straightConnector1">
              <a:avLst/>
            </a:prstGeom>
            <a:noFill/>
            <a:ln cap="flat" cmpd="sng" w="28575">
              <a:solidFill>
                <a:srgbClr val="000099"/>
              </a:solidFill>
              <a:prstDash val="solid"/>
              <a:round/>
              <a:headEnd len="med" w="med" type="none"/>
              <a:tailEnd len="med" w="med" type="triangle"/>
            </a:ln>
          </p:spPr>
        </p:cxnSp>
        <p:cxnSp>
          <p:nvCxnSpPr>
            <p:cNvPr id="1607" name="Google Shape;1607;p21"/>
            <p:cNvCxnSpPr/>
            <p:nvPr/>
          </p:nvCxnSpPr>
          <p:spPr>
            <a:xfrm rot="10800000">
              <a:off x="7571829" y="4210934"/>
              <a:ext cx="647700" cy="0"/>
            </a:xfrm>
            <a:prstGeom prst="straightConnector1">
              <a:avLst/>
            </a:prstGeom>
            <a:noFill/>
            <a:ln cap="flat" cmpd="sng" w="19050">
              <a:solidFill>
                <a:schemeClr val="dk1"/>
              </a:solidFill>
              <a:prstDash val="solid"/>
              <a:round/>
              <a:headEnd len="med" w="med" type="none"/>
              <a:tailEnd len="med" w="med" type="triangle"/>
            </a:ln>
          </p:spPr>
        </p:cxnSp>
      </p:grpSp>
      <p:sp>
        <p:nvSpPr>
          <p:cNvPr id="1608" name="Google Shape;1608;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9"/>
                                        </p:tgtEl>
                                        <p:attrNameLst>
                                          <p:attrName>style.visibility</p:attrName>
                                        </p:attrNameLst>
                                      </p:cBhvr>
                                      <p:to>
                                        <p:strVal val="visible"/>
                                      </p:to>
                                    </p:set>
                                    <p:animEffect filter="fade" transition="in">
                                      <p:cBhvr>
                                        <p:cTn dur="500"/>
                                        <p:tgtEl>
                                          <p:spTgt spid="15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sp>
        <p:nvSpPr>
          <p:cNvPr id="1614" name="Google Shape;1614;p2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addresses: how to get one?</a:t>
            </a:r>
            <a:endParaRPr/>
          </a:p>
        </p:txBody>
      </p:sp>
      <p:sp>
        <p:nvSpPr>
          <p:cNvPr id="1615" name="Google Shape;1615;p22"/>
          <p:cNvSpPr txBox="1"/>
          <p:nvPr/>
        </p:nvSpPr>
        <p:spPr>
          <a:xfrm>
            <a:off x="910964" y="1504585"/>
            <a:ext cx="11096157" cy="2677671"/>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That’s actually </a:t>
            </a:r>
            <a:r>
              <a:rPr b="0" i="0" lang="en-US" sz="3200" u="none" cap="none" strike="noStrike">
                <a:solidFill>
                  <a:srgbClr val="C00000"/>
                </a:solidFill>
                <a:latin typeface="Calibri"/>
                <a:ea typeface="Calibri"/>
                <a:cs typeface="Calibri"/>
                <a:sym typeface="Calibri"/>
              </a:rPr>
              <a:t>two</a:t>
            </a:r>
            <a:r>
              <a:rPr b="0" i="0" lang="en-US" sz="3200" u="none" cap="none" strike="noStrike">
                <a:solidFill>
                  <a:srgbClr val="000000"/>
                </a:solidFill>
                <a:latin typeface="Calibri"/>
                <a:ea typeface="Calibri"/>
                <a:cs typeface="Calibri"/>
                <a:sym typeface="Calibri"/>
              </a:rPr>
              <a:t> questions:</a:t>
            </a:r>
            <a:endParaRPr/>
          </a:p>
          <a:p>
            <a:pPr indent="-346075" lvl="0" marL="644525" marR="0" rtl="0" algn="l">
              <a:lnSpc>
                <a:spcPct val="90000"/>
              </a:lnSpc>
              <a:spcBef>
                <a:spcPts val="1000"/>
              </a:spcBef>
              <a:spcAft>
                <a:spcPts val="0"/>
              </a:spcAft>
              <a:buClr>
                <a:srgbClr val="0000A3"/>
              </a:buClr>
              <a:buSzPts val="3000"/>
              <a:buFont typeface="Calibri"/>
              <a:buAutoNum type="arabicPeriod"/>
            </a:pPr>
            <a:r>
              <a:rPr b="0" i="0" lang="en-US" sz="3000" u="none" cap="none" strike="noStrike">
                <a:solidFill>
                  <a:srgbClr val="000000"/>
                </a:solidFill>
                <a:latin typeface="Calibri"/>
                <a:ea typeface="Calibri"/>
                <a:cs typeface="Calibri"/>
                <a:sym typeface="Calibri"/>
              </a:rPr>
              <a:t>Q: How does a </a:t>
            </a:r>
            <a:r>
              <a:rPr b="0" i="1" lang="en-US" sz="3000" u="none" cap="none" strike="noStrike">
                <a:solidFill>
                  <a:srgbClr val="000000"/>
                </a:solidFill>
                <a:latin typeface="Calibri"/>
                <a:ea typeface="Calibri"/>
                <a:cs typeface="Calibri"/>
                <a:sym typeface="Calibri"/>
              </a:rPr>
              <a:t>host</a:t>
            </a:r>
            <a:r>
              <a:rPr b="0" i="0" lang="en-US" sz="3000" u="none" cap="none" strike="noStrike">
                <a:solidFill>
                  <a:srgbClr val="000000"/>
                </a:solidFill>
                <a:latin typeface="Calibri"/>
                <a:ea typeface="Calibri"/>
                <a:cs typeface="Calibri"/>
                <a:sym typeface="Calibri"/>
              </a:rPr>
              <a:t> get IP address within its network (host part of address)?</a:t>
            </a:r>
            <a:endParaRPr/>
          </a:p>
          <a:p>
            <a:pPr indent="-346075" lvl="0" marL="644525" marR="0" rtl="0" algn="l">
              <a:lnSpc>
                <a:spcPct val="90000"/>
              </a:lnSpc>
              <a:spcBef>
                <a:spcPts val="1000"/>
              </a:spcBef>
              <a:spcAft>
                <a:spcPts val="0"/>
              </a:spcAft>
              <a:buClr>
                <a:srgbClr val="0000A3"/>
              </a:buClr>
              <a:buSzPts val="3000"/>
              <a:buFont typeface="Calibri"/>
              <a:buAutoNum type="arabicPeriod"/>
            </a:pPr>
            <a:r>
              <a:rPr b="0" i="0" lang="en-US" sz="3000" u="none" cap="none" strike="noStrike">
                <a:solidFill>
                  <a:srgbClr val="000000"/>
                </a:solidFill>
                <a:latin typeface="Calibri"/>
                <a:ea typeface="Calibri"/>
                <a:cs typeface="Calibri"/>
                <a:sym typeface="Calibri"/>
              </a:rPr>
              <a:t>Q: How does a </a:t>
            </a:r>
            <a:r>
              <a:rPr b="0" i="1" lang="en-US" sz="3000" u="none" cap="none" strike="noStrike">
                <a:solidFill>
                  <a:srgbClr val="000000"/>
                </a:solidFill>
                <a:latin typeface="Calibri"/>
                <a:ea typeface="Calibri"/>
                <a:cs typeface="Calibri"/>
                <a:sym typeface="Calibri"/>
              </a:rPr>
              <a:t>network</a:t>
            </a:r>
            <a:r>
              <a:rPr b="0" i="0" lang="en-US" sz="3000" u="none" cap="none" strike="noStrike">
                <a:solidFill>
                  <a:srgbClr val="000000"/>
                </a:solidFill>
                <a:latin typeface="Calibri"/>
                <a:ea typeface="Calibri"/>
                <a:cs typeface="Calibri"/>
                <a:sym typeface="Calibri"/>
              </a:rPr>
              <a:t> get IP address for itself (network part of address)</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1616" name="Google Shape;1616;p22"/>
          <p:cNvSpPr/>
          <p:nvPr/>
        </p:nvSpPr>
        <p:spPr>
          <a:xfrm>
            <a:off x="1104900" y="4234164"/>
            <a:ext cx="10533088"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rgbClr val="000000"/>
                </a:solidFill>
                <a:latin typeface="Calibri"/>
                <a:ea typeface="Calibri"/>
                <a:cs typeface="Calibri"/>
                <a:sym typeface="Calibri"/>
              </a:rPr>
              <a:t>How does </a:t>
            </a:r>
            <a:r>
              <a:rPr b="0" i="1" lang="en-US" sz="3200" u="none" cap="none" strike="noStrike">
                <a:solidFill>
                  <a:srgbClr val="000000"/>
                </a:solidFill>
                <a:latin typeface="Calibri"/>
                <a:ea typeface="Calibri"/>
                <a:cs typeface="Calibri"/>
                <a:sym typeface="Calibri"/>
              </a:rPr>
              <a:t>host</a:t>
            </a:r>
            <a:r>
              <a:rPr b="0" i="0" lang="en-US" sz="3200" u="none" cap="none" strike="noStrike">
                <a:solidFill>
                  <a:srgbClr val="000000"/>
                </a:solidFill>
                <a:latin typeface="Calibri"/>
                <a:ea typeface="Calibri"/>
                <a:cs typeface="Calibri"/>
                <a:sym typeface="Calibri"/>
              </a:rPr>
              <a:t> get IP address?</a:t>
            </a:r>
            <a:endParaRPr/>
          </a:p>
          <a:p>
            <a:pPr indent="-342900" lvl="0" marL="342900" marR="0" rtl="0" algn="l">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hard-coded by sysadmin in config file (e.g., /etc/rc.config in UNIX)</a:t>
            </a:r>
            <a:endParaRPr b="0" i="0" sz="2800" u="none" cap="none" strike="noStrike">
              <a:solidFill>
                <a:srgbClr val="000000"/>
              </a:solidFill>
              <a:latin typeface="Calibri"/>
              <a:ea typeface="Calibri"/>
              <a:cs typeface="Calibri"/>
              <a:sym typeface="Calibri"/>
            </a:endParaRPr>
          </a:p>
          <a:p>
            <a:pPr indent="-342900" lvl="0" marL="342900" marR="0" rtl="0" algn="l">
              <a:spcBef>
                <a:spcPts val="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DHCP:</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ynamic </a:t>
            </a:r>
            <a:r>
              <a:rPr b="0" i="0" lang="en-US" sz="2800" u="none" cap="none" strike="noStrike">
                <a:solidFill>
                  <a:srgbClr val="CC0000"/>
                </a:solidFill>
                <a:latin typeface="Calibri"/>
                <a:ea typeface="Calibri"/>
                <a:cs typeface="Calibri"/>
                <a:sym typeface="Calibri"/>
              </a:rPr>
              <a:t>H</a:t>
            </a:r>
            <a:r>
              <a:rPr b="0" i="0" lang="en-US" sz="2800" u="none" cap="none" strike="noStrike">
                <a:solidFill>
                  <a:srgbClr val="000000"/>
                </a:solidFill>
                <a:latin typeface="Calibri"/>
                <a:ea typeface="Calibri"/>
                <a:cs typeface="Calibri"/>
                <a:sym typeface="Calibri"/>
              </a:rPr>
              <a:t>ost </a:t>
            </a:r>
            <a:r>
              <a:rPr b="0" i="0" lang="en-US" sz="2800" u="none" cap="none" strike="noStrike">
                <a:solidFill>
                  <a:srgbClr val="CC0000"/>
                </a:solidFill>
                <a:latin typeface="Calibri"/>
                <a:ea typeface="Calibri"/>
                <a:cs typeface="Calibri"/>
                <a:sym typeface="Calibri"/>
              </a:rPr>
              <a:t>C</a:t>
            </a:r>
            <a:r>
              <a:rPr b="0" i="0" lang="en-US" sz="2800" u="none" cap="none" strike="noStrike">
                <a:solidFill>
                  <a:srgbClr val="000000"/>
                </a:solidFill>
                <a:latin typeface="Calibri"/>
                <a:ea typeface="Calibri"/>
                <a:cs typeface="Calibri"/>
                <a:sym typeface="Calibri"/>
              </a:rPr>
              <a:t>onfiguration </a:t>
            </a:r>
            <a:r>
              <a:rPr b="0" i="0" lang="en-US" sz="2800" u="none" cap="none" strike="noStrike">
                <a:solidFill>
                  <a:srgbClr val="CC0000"/>
                </a:solidFill>
                <a:latin typeface="Calibri"/>
                <a:ea typeface="Calibri"/>
                <a:cs typeface="Calibri"/>
                <a:sym typeface="Calibri"/>
              </a:rPr>
              <a:t>P</a:t>
            </a:r>
            <a:r>
              <a:rPr b="0" i="0" lang="en-US" sz="2800" u="none" cap="none" strike="noStrike">
                <a:solidFill>
                  <a:srgbClr val="000000"/>
                </a:solidFill>
                <a:latin typeface="Calibri"/>
                <a:ea typeface="Calibri"/>
                <a:cs typeface="Calibri"/>
                <a:sym typeface="Calibri"/>
              </a:rPr>
              <a:t>rotocol: dynamically get address from as server</a:t>
            </a:r>
            <a:endParaRPr/>
          </a:p>
          <a:p>
            <a:pPr indent="-342900" lvl="1" marL="800100" marR="0" rtl="0" algn="l">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“plug-and-play”</a:t>
            </a:r>
            <a:endParaRPr/>
          </a:p>
        </p:txBody>
      </p:sp>
      <p:sp>
        <p:nvSpPr>
          <p:cNvPr id="1617" name="Google Shape;1617;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6"/>
                                        </p:tgtEl>
                                        <p:attrNameLst>
                                          <p:attrName>style.visibility</p:attrName>
                                        </p:attrNameLst>
                                      </p:cBhvr>
                                      <p:to>
                                        <p:strVal val="visible"/>
                                      </p:to>
                                    </p:set>
                                    <p:animEffect filter="fade" transition="in">
                                      <p:cBhvr>
                                        <p:cTn dur="500"/>
                                        <p:tgtEl>
                                          <p:spTgt spid="16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2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Dynamic Host Configuration Protocol</a:t>
            </a:r>
            <a:endParaRPr/>
          </a:p>
        </p:txBody>
      </p:sp>
      <p:sp>
        <p:nvSpPr>
          <p:cNvPr id="1624" name="Google Shape;1624;p23"/>
          <p:cNvSpPr txBox="1"/>
          <p:nvPr/>
        </p:nvSpPr>
        <p:spPr>
          <a:xfrm>
            <a:off x="895974" y="1369673"/>
            <a:ext cx="11096157" cy="231790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goal:</a:t>
            </a:r>
            <a:r>
              <a:rPr b="0" i="0" lang="en-US" sz="2800" u="none" cap="none" strike="noStrike">
                <a:solidFill>
                  <a:srgbClr val="000000"/>
                </a:solidFill>
                <a:latin typeface="Calibri"/>
                <a:ea typeface="Calibri"/>
                <a:cs typeface="Calibri"/>
                <a:sym typeface="Calibri"/>
              </a:rPr>
              <a:t> host </a:t>
            </a:r>
            <a:r>
              <a:rPr b="0" i="1" lang="en-US" sz="2800" u="none" cap="none" strike="noStrike">
                <a:solidFill>
                  <a:srgbClr val="000000"/>
                </a:solidFill>
                <a:latin typeface="Calibri"/>
                <a:ea typeface="Calibri"/>
                <a:cs typeface="Calibri"/>
                <a:sym typeface="Calibri"/>
              </a:rPr>
              <a:t>dynamically </a:t>
            </a:r>
            <a:r>
              <a:rPr b="0" i="0" lang="en-US" sz="2800" u="none" cap="none" strike="noStrike">
                <a:solidFill>
                  <a:srgbClr val="000000"/>
                </a:solidFill>
                <a:latin typeface="Calibri"/>
                <a:ea typeface="Calibri"/>
                <a:cs typeface="Calibri"/>
                <a:sym typeface="Calibri"/>
              </a:rPr>
              <a:t>obtains IP address from network server when it “joins” network</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can renew its lease on address in use</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allows reuse of addresses (only hold address while connected/on)</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support for mobile users who join/leave network </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1625" name="Google Shape;1625;p23"/>
          <p:cNvSpPr txBox="1"/>
          <p:nvPr/>
        </p:nvSpPr>
        <p:spPr>
          <a:xfrm>
            <a:off x="869430" y="3920499"/>
            <a:ext cx="11096157" cy="2345389"/>
          </a:xfrm>
          <a:prstGeom prst="rect">
            <a:avLst/>
          </a:prstGeom>
          <a:noFill/>
          <a:ln>
            <a:noFill/>
          </a:ln>
        </p:spPr>
        <p:txBody>
          <a:bodyPr anchorCtr="0" anchor="t" bIns="45700" lIns="91425" spcFirstLastPara="1" rIns="91425" wrap="square" tIns="45700">
            <a:normAutofit/>
          </a:bodyPr>
          <a:lstStyle/>
          <a:p>
            <a:pPr indent="0" lvl="0" marL="12065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A3"/>
                </a:solidFill>
                <a:latin typeface="Calibri"/>
                <a:ea typeface="Calibri"/>
                <a:cs typeface="Calibri"/>
                <a:sym typeface="Calibri"/>
              </a:rPr>
              <a:t>DHCP overview:</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 broadcasts </a:t>
            </a:r>
            <a:r>
              <a:rPr b="0" i="0" lang="en-US" sz="2800" u="none" cap="none" strike="noStrike">
                <a:solidFill>
                  <a:srgbClr val="CC0000"/>
                </a:solidFill>
                <a:latin typeface="Calibri"/>
                <a:ea typeface="Calibri"/>
                <a:cs typeface="Calibri"/>
                <a:sym typeface="Calibri"/>
              </a:rPr>
              <a:t>DHCP discover</a:t>
            </a:r>
            <a:r>
              <a:rPr b="0" i="0" lang="en-US" sz="2800" u="none" cap="none" strike="noStrike">
                <a:solidFill>
                  <a:srgbClr val="000000"/>
                </a:solidFill>
                <a:latin typeface="Calibri"/>
                <a:ea typeface="Calibri"/>
                <a:cs typeface="Calibri"/>
                <a:sym typeface="Calibri"/>
              </a:rPr>
              <a:t> msg [optional]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DHCP server responds with </a:t>
            </a:r>
            <a:r>
              <a:rPr b="0" i="0" lang="en-US" sz="2800" u="none" cap="none" strike="noStrike">
                <a:solidFill>
                  <a:srgbClr val="CC0000"/>
                </a:solidFill>
                <a:latin typeface="Calibri"/>
                <a:ea typeface="Calibri"/>
                <a:cs typeface="Calibri"/>
                <a:sym typeface="Calibri"/>
              </a:rPr>
              <a:t>DHCP offer</a:t>
            </a:r>
            <a:r>
              <a:rPr b="0" i="0" lang="en-US" sz="2800" u="none" cap="none" strike="noStrike">
                <a:solidFill>
                  <a:srgbClr val="000000"/>
                </a:solidFill>
                <a:latin typeface="Calibri"/>
                <a:ea typeface="Calibri"/>
                <a:cs typeface="Calibri"/>
                <a:sym typeface="Calibri"/>
              </a:rPr>
              <a:t> msg [optional]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 requests IP address: </a:t>
            </a:r>
            <a:r>
              <a:rPr b="0" i="0" lang="en-US" sz="2800" u="none" cap="none" strike="noStrike">
                <a:solidFill>
                  <a:srgbClr val="CC0000"/>
                </a:solidFill>
                <a:latin typeface="Calibri"/>
                <a:ea typeface="Calibri"/>
                <a:cs typeface="Calibri"/>
                <a:sym typeface="Calibri"/>
              </a:rPr>
              <a:t>DHCP request </a:t>
            </a:r>
            <a:r>
              <a:rPr b="0" i="0" lang="en-US" sz="2800" u="none" cap="none" strike="noStrike">
                <a:solidFill>
                  <a:srgbClr val="000000"/>
                </a:solidFill>
                <a:latin typeface="Calibri"/>
                <a:ea typeface="Calibri"/>
                <a:cs typeface="Calibri"/>
                <a:sym typeface="Calibri"/>
              </a:rPr>
              <a:t>msg</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DHCP server sends address: </a:t>
            </a:r>
            <a:r>
              <a:rPr b="0" i="0" lang="en-US" sz="2800" u="none" cap="none" strike="noStrike">
                <a:solidFill>
                  <a:srgbClr val="CC0000"/>
                </a:solidFill>
                <a:latin typeface="Calibri"/>
                <a:ea typeface="Calibri"/>
                <a:cs typeface="Calibri"/>
                <a:sym typeface="Calibri"/>
              </a:rPr>
              <a:t>DHCP ack</a:t>
            </a:r>
            <a:r>
              <a:rPr b="0" i="0" lang="en-US" sz="2800" u="none" cap="none" strike="noStrike">
                <a:solidFill>
                  <a:srgbClr val="000000"/>
                </a:solidFill>
                <a:latin typeface="Calibri"/>
                <a:ea typeface="Calibri"/>
                <a:cs typeface="Calibri"/>
                <a:sym typeface="Calibri"/>
              </a:rPr>
              <a:t> msg </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1626" name="Google Shape;1626;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5"/>
                                        </p:tgtEl>
                                        <p:attrNameLst>
                                          <p:attrName>style.visibility</p:attrName>
                                        </p:attrNameLst>
                                      </p:cBhvr>
                                      <p:to>
                                        <p:strVal val="visible"/>
                                      </p:to>
                                    </p:set>
                                    <p:animEffect filter="fade" transition="in">
                                      <p:cBhvr>
                                        <p:cTn dur="500"/>
                                        <p:tgtEl>
                                          <p:spTgt spid="1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24"/>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client-server scenario</a:t>
            </a:r>
            <a:endParaRPr/>
          </a:p>
        </p:txBody>
      </p:sp>
      <p:sp>
        <p:nvSpPr>
          <p:cNvPr id="1633" name="Google Shape;1633;p24"/>
          <p:cNvSpPr/>
          <p:nvPr/>
        </p:nvSpPr>
        <p:spPr>
          <a:xfrm rot="-5400000">
            <a:off x="3939641" y="4185782"/>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634" name="Google Shape;1634;p24"/>
          <p:cNvSpPr/>
          <p:nvPr/>
        </p:nvSpPr>
        <p:spPr>
          <a:xfrm rot="10800000">
            <a:off x="4937385" y="2859425"/>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635" name="Google Shape;1635;p24"/>
          <p:cNvSpPr/>
          <p:nvPr/>
        </p:nvSpPr>
        <p:spPr>
          <a:xfrm>
            <a:off x="2902210" y="2441913"/>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636" name="Google Shape;1636;p24"/>
          <p:cNvSpPr txBox="1"/>
          <p:nvPr/>
        </p:nvSpPr>
        <p:spPr>
          <a:xfrm>
            <a:off x="2284673" y="2272050"/>
            <a:ext cx="9300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223.1.1.1</a:t>
            </a:r>
            <a:endParaRPr b="0" i="0" sz="1400" u="none" cap="none" strike="noStrike">
              <a:solidFill>
                <a:srgbClr val="000000"/>
              </a:solidFill>
              <a:latin typeface="Comic Sans MS"/>
              <a:ea typeface="Comic Sans MS"/>
              <a:cs typeface="Comic Sans MS"/>
              <a:sym typeface="Comic Sans MS"/>
            </a:endParaRPr>
          </a:p>
        </p:txBody>
      </p:sp>
      <p:grpSp>
        <p:nvGrpSpPr>
          <p:cNvPr id="1637" name="Google Shape;1637;p24"/>
          <p:cNvGrpSpPr/>
          <p:nvPr/>
        </p:nvGrpSpPr>
        <p:grpSpPr>
          <a:xfrm>
            <a:off x="1460763" y="3097551"/>
            <a:ext cx="1011238" cy="393700"/>
            <a:chOff x="3194" y="523"/>
            <a:chExt cx="637" cy="248"/>
          </a:xfrm>
        </p:grpSpPr>
        <p:sp>
          <p:nvSpPr>
            <p:cNvPr id="1638" name="Google Shape;1638;p24"/>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9" name="Google Shape;1639;p24"/>
            <p:cNvSpPr txBox="1"/>
            <p:nvPr/>
          </p:nvSpPr>
          <p:spPr>
            <a:xfrm>
              <a:off x="3194" y="523"/>
              <a:ext cx="586" cy="19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223.1.1.2</a:t>
              </a:r>
              <a:endParaRPr b="0" i="0" sz="1400" u="none" cap="none" strike="noStrike">
                <a:solidFill>
                  <a:srgbClr val="000000"/>
                </a:solidFill>
                <a:latin typeface="Comic Sans MS"/>
                <a:ea typeface="Comic Sans MS"/>
                <a:cs typeface="Comic Sans MS"/>
                <a:sym typeface="Comic Sans MS"/>
              </a:endParaRPr>
            </a:p>
          </p:txBody>
        </p:sp>
      </p:grpSp>
      <p:sp>
        <p:nvSpPr>
          <p:cNvPr id="1640" name="Google Shape;1640;p24"/>
          <p:cNvSpPr txBox="1"/>
          <p:nvPr/>
        </p:nvSpPr>
        <p:spPr>
          <a:xfrm>
            <a:off x="2389448" y="4227850"/>
            <a:ext cx="9300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223.1.1.3</a:t>
            </a:r>
            <a:endParaRPr b="0" i="0" sz="1400" u="none" cap="none" strike="noStrike">
              <a:solidFill>
                <a:srgbClr val="000000"/>
              </a:solidFill>
              <a:latin typeface="Comic Sans MS"/>
              <a:ea typeface="Comic Sans MS"/>
              <a:cs typeface="Comic Sans MS"/>
              <a:sym typeface="Comic Sans MS"/>
            </a:endParaRPr>
          </a:p>
        </p:txBody>
      </p:sp>
      <p:sp>
        <p:nvSpPr>
          <p:cNvPr id="1641" name="Google Shape;1641;p24"/>
          <p:cNvSpPr txBox="1"/>
          <p:nvPr/>
        </p:nvSpPr>
        <p:spPr>
          <a:xfrm>
            <a:off x="3209055" y="3445031"/>
            <a:ext cx="9300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223.1.1.4</a:t>
            </a:r>
            <a:endParaRPr b="0" i="0" sz="1400" u="none" cap="none" strike="noStrike">
              <a:solidFill>
                <a:srgbClr val="000000"/>
              </a:solidFill>
              <a:latin typeface="Comic Sans MS"/>
              <a:ea typeface="Comic Sans MS"/>
              <a:cs typeface="Comic Sans MS"/>
              <a:sym typeface="Comic Sans MS"/>
            </a:endParaRPr>
          </a:p>
        </p:txBody>
      </p:sp>
      <p:sp>
        <p:nvSpPr>
          <p:cNvPr id="1642" name="Google Shape;1642;p24"/>
          <p:cNvSpPr txBox="1"/>
          <p:nvPr/>
        </p:nvSpPr>
        <p:spPr>
          <a:xfrm>
            <a:off x="4572034" y="3416409"/>
            <a:ext cx="9300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223.1.2.9</a:t>
            </a:r>
            <a:endParaRPr b="0" i="0" sz="1400" u="none" cap="none" strike="noStrike">
              <a:solidFill>
                <a:srgbClr val="000000"/>
              </a:solidFill>
              <a:latin typeface="Comic Sans MS"/>
              <a:ea typeface="Comic Sans MS"/>
              <a:cs typeface="Comic Sans MS"/>
              <a:sym typeface="Comic Sans MS"/>
            </a:endParaRPr>
          </a:p>
        </p:txBody>
      </p:sp>
      <p:sp>
        <p:nvSpPr>
          <p:cNvPr id="1643" name="Google Shape;1643;p24"/>
          <p:cNvSpPr txBox="1"/>
          <p:nvPr/>
        </p:nvSpPr>
        <p:spPr>
          <a:xfrm>
            <a:off x="5576206" y="4449327"/>
            <a:ext cx="9300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223.1.2.2</a:t>
            </a:r>
            <a:endParaRPr b="0" i="0" sz="1400" u="none" cap="none" strike="noStrike">
              <a:solidFill>
                <a:srgbClr val="000000"/>
              </a:solidFill>
              <a:latin typeface="Comic Sans MS"/>
              <a:ea typeface="Comic Sans MS"/>
              <a:cs typeface="Comic Sans MS"/>
              <a:sym typeface="Comic Sans MS"/>
            </a:endParaRPr>
          </a:p>
        </p:txBody>
      </p:sp>
      <p:sp>
        <p:nvSpPr>
          <p:cNvPr id="1644" name="Google Shape;1644;p24"/>
          <p:cNvSpPr txBox="1"/>
          <p:nvPr/>
        </p:nvSpPr>
        <p:spPr>
          <a:xfrm>
            <a:off x="5700504" y="2407928"/>
            <a:ext cx="9300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223.1.2.1</a:t>
            </a:r>
            <a:endParaRPr b="0" i="0" sz="1400" u="none" cap="none" strike="noStrike">
              <a:solidFill>
                <a:srgbClr val="000000"/>
              </a:solidFill>
              <a:latin typeface="Comic Sans MS"/>
              <a:ea typeface="Comic Sans MS"/>
              <a:cs typeface="Comic Sans MS"/>
              <a:sym typeface="Comic Sans MS"/>
            </a:endParaRPr>
          </a:p>
        </p:txBody>
      </p:sp>
      <p:cxnSp>
        <p:nvCxnSpPr>
          <p:cNvPr id="1645" name="Google Shape;1645;p24"/>
          <p:cNvCxnSpPr/>
          <p:nvPr/>
        </p:nvCxnSpPr>
        <p:spPr>
          <a:xfrm>
            <a:off x="4353185" y="3874288"/>
            <a:ext cx="0" cy="879025"/>
          </a:xfrm>
          <a:prstGeom prst="straightConnector1">
            <a:avLst/>
          </a:prstGeom>
          <a:noFill/>
          <a:ln cap="flat" cmpd="sng" w="19050">
            <a:solidFill>
              <a:srgbClr val="000000"/>
            </a:solidFill>
            <a:prstDash val="solid"/>
            <a:round/>
            <a:headEnd len="med" w="med" type="none"/>
            <a:tailEnd len="med" w="med" type="none"/>
          </a:ln>
        </p:spPr>
      </p:cxnSp>
      <p:sp>
        <p:nvSpPr>
          <p:cNvPr id="1646" name="Google Shape;1646;p24"/>
          <p:cNvSpPr txBox="1"/>
          <p:nvPr/>
        </p:nvSpPr>
        <p:spPr>
          <a:xfrm>
            <a:off x="4965677" y="5374255"/>
            <a:ext cx="9300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223.1.3.2</a:t>
            </a:r>
            <a:endParaRPr b="0" i="0" sz="1400" u="none" cap="none" strike="noStrike">
              <a:solidFill>
                <a:srgbClr val="000000"/>
              </a:solidFill>
              <a:latin typeface="Comic Sans MS"/>
              <a:ea typeface="Comic Sans MS"/>
              <a:cs typeface="Comic Sans MS"/>
              <a:sym typeface="Comic Sans MS"/>
            </a:endParaRPr>
          </a:p>
        </p:txBody>
      </p:sp>
      <p:sp>
        <p:nvSpPr>
          <p:cNvPr id="1647" name="Google Shape;1647;p24"/>
          <p:cNvSpPr txBox="1"/>
          <p:nvPr/>
        </p:nvSpPr>
        <p:spPr>
          <a:xfrm>
            <a:off x="3900694" y="5359648"/>
            <a:ext cx="9300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223.1.3.1</a:t>
            </a:r>
            <a:endParaRPr b="0" i="0" sz="1400" u="none" cap="none" strike="noStrike">
              <a:solidFill>
                <a:srgbClr val="000000"/>
              </a:solidFill>
              <a:latin typeface="Comic Sans MS"/>
              <a:ea typeface="Comic Sans MS"/>
              <a:cs typeface="Comic Sans MS"/>
              <a:sym typeface="Comic Sans MS"/>
            </a:endParaRPr>
          </a:p>
        </p:txBody>
      </p:sp>
      <p:grpSp>
        <p:nvGrpSpPr>
          <p:cNvPr id="1648" name="Google Shape;1648;p24"/>
          <p:cNvGrpSpPr/>
          <p:nvPr/>
        </p:nvGrpSpPr>
        <p:grpSpPr>
          <a:xfrm>
            <a:off x="3878520" y="4135775"/>
            <a:ext cx="1028699" cy="307975"/>
            <a:chOff x="4550" y="1257"/>
            <a:chExt cx="648" cy="194"/>
          </a:xfrm>
        </p:grpSpPr>
        <p:sp>
          <p:nvSpPr>
            <p:cNvPr id="1649" name="Google Shape;1649;p24"/>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0" name="Google Shape;1650;p24"/>
            <p:cNvSpPr txBox="1"/>
            <p:nvPr/>
          </p:nvSpPr>
          <p:spPr>
            <a:xfrm>
              <a:off x="4550" y="1257"/>
              <a:ext cx="648" cy="19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223.1.3.27</a:t>
              </a:r>
              <a:endParaRPr b="0" i="0" sz="1400" u="none" cap="none" strike="noStrike">
                <a:solidFill>
                  <a:srgbClr val="000000"/>
                </a:solidFill>
                <a:latin typeface="Comic Sans MS"/>
                <a:ea typeface="Comic Sans MS"/>
                <a:cs typeface="Comic Sans MS"/>
                <a:sym typeface="Comic Sans MS"/>
              </a:endParaRPr>
            </a:p>
          </p:txBody>
        </p:sp>
      </p:grpSp>
      <p:grpSp>
        <p:nvGrpSpPr>
          <p:cNvPr id="1651" name="Google Shape;1651;p24"/>
          <p:cNvGrpSpPr/>
          <p:nvPr/>
        </p:nvGrpSpPr>
        <p:grpSpPr>
          <a:xfrm>
            <a:off x="2110048" y="2518113"/>
            <a:ext cx="641350" cy="558800"/>
            <a:chOff x="-44" y="1473"/>
            <a:chExt cx="981" cy="1105"/>
          </a:xfrm>
        </p:grpSpPr>
        <p:pic>
          <p:nvPicPr>
            <p:cNvPr descr="desktop_computer_stylized_medium" id="1652" name="Google Shape;1652;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53" name="Google Shape;1653;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grpSp>
      <p:grpSp>
        <p:nvGrpSpPr>
          <p:cNvPr id="1654" name="Google Shape;1654;p24"/>
          <p:cNvGrpSpPr/>
          <p:nvPr/>
        </p:nvGrpSpPr>
        <p:grpSpPr>
          <a:xfrm>
            <a:off x="2105285" y="3116600"/>
            <a:ext cx="641350" cy="558800"/>
            <a:chOff x="-44" y="1473"/>
            <a:chExt cx="981" cy="1105"/>
          </a:xfrm>
        </p:grpSpPr>
        <p:pic>
          <p:nvPicPr>
            <p:cNvPr descr="desktop_computer_stylized_medium" id="1655" name="Google Shape;1655;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56" name="Google Shape;1656;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grpSp>
      <p:grpSp>
        <p:nvGrpSpPr>
          <p:cNvPr id="1657" name="Google Shape;1657;p24"/>
          <p:cNvGrpSpPr/>
          <p:nvPr/>
        </p:nvGrpSpPr>
        <p:grpSpPr>
          <a:xfrm>
            <a:off x="2133860" y="3726200"/>
            <a:ext cx="641350" cy="558800"/>
            <a:chOff x="-44" y="1473"/>
            <a:chExt cx="981" cy="1105"/>
          </a:xfrm>
        </p:grpSpPr>
        <p:pic>
          <p:nvPicPr>
            <p:cNvPr descr="desktop_computer_stylized_medium" id="1658" name="Google Shape;1658;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59" name="Google Shape;1659;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grpSp>
      <p:grpSp>
        <p:nvGrpSpPr>
          <p:cNvPr id="1660" name="Google Shape;1660;p24"/>
          <p:cNvGrpSpPr/>
          <p:nvPr/>
        </p:nvGrpSpPr>
        <p:grpSpPr>
          <a:xfrm flipH="1">
            <a:off x="5793048" y="2675275"/>
            <a:ext cx="641350" cy="558800"/>
            <a:chOff x="-44" y="1473"/>
            <a:chExt cx="981" cy="1105"/>
          </a:xfrm>
        </p:grpSpPr>
        <p:pic>
          <p:nvPicPr>
            <p:cNvPr descr="desktop_computer_stylized_medium" id="1661" name="Google Shape;1661;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62" name="Google Shape;1662;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grpSp>
      <p:grpSp>
        <p:nvGrpSpPr>
          <p:cNvPr id="1663" name="Google Shape;1663;p24"/>
          <p:cNvGrpSpPr/>
          <p:nvPr/>
        </p:nvGrpSpPr>
        <p:grpSpPr>
          <a:xfrm flipH="1">
            <a:off x="5807335" y="3954800"/>
            <a:ext cx="641350" cy="558800"/>
            <a:chOff x="-44" y="1473"/>
            <a:chExt cx="981" cy="1105"/>
          </a:xfrm>
        </p:grpSpPr>
        <p:pic>
          <p:nvPicPr>
            <p:cNvPr descr="desktop_computer_stylized_medium" id="1664" name="Google Shape;1664;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65" name="Google Shape;1665;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grpSp>
      <p:grpSp>
        <p:nvGrpSpPr>
          <p:cNvPr id="1666" name="Google Shape;1666;p24"/>
          <p:cNvGrpSpPr/>
          <p:nvPr/>
        </p:nvGrpSpPr>
        <p:grpSpPr>
          <a:xfrm flipH="1">
            <a:off x="5193019" y="4884750"/>
            <a:ext cx="641350" cy="558800"/>
            <a:chOff x="-44" y="1473"/>
            <a:chExt cx="981" cy="1105"/>
          </a:xfrm>
        </p:grpSpPr>
        <p:pic>
          <p:nvPicPr>
            <p:cNvPr descr="desktop_computer_stylized_medium" id="1667" name="Google Shape;1667;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68" name="Google Shape;1668;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grpSp>
      <p:grpSp>
        <p:nvGrpSpPr>
          <p:cNvPr id="1669" name="Google Shape;1669;p24"/>
          <p:cNvGrpSpPr/>
          <p:nvPr/>
        </p:nvGrpSpPr>
        <p:grpSpPr>
          <a:xfrm flipH="1">
            <a:off x="3683849" y="5545761"/>
            <a:ext cx="641350" cy="558800"/>
            <a:chOff x="-44" y="1473"/>
            <a:chExt cx="981" cy="1105"/>
          </a:xfrm>
        </p:grpSpPr>
        <p:pic>
          <p:nvPicPr>
            <p:cNvPr descr="desktop_computer_stylized_medium" id="1670" name="Google Shape;1670;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71" name="Google Shape;1671;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grpSp>
      <p:cxnSp>
        <p:nvCxnSpPr>
          <p:cNvPr id="1672" name="Google Shape;1672;p24"/>
          <p:cNvCxnSpPr/>
          <p:nvPr/>
        </p:nvCxnSpPr>
        <p:spPr>
          <a:xfrm>
            <a:off x="2690676" y="2925190"/>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673" name="Google Shape;1673;p24"/>
          <p:cNvCxnSpPr/>
          <p:nvPr/>
        </p:nvCxnSpPr>
        <p:spPr>
          <a:xfrm>
            <a:off x="2692109" y="3524075"/>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674" name="Google Shape;1674;p24"/>
          <p:cNvCxnSpPr/>
          <p:nvPr/>
        </p:nvCxnSpPr>
        <p:spPr>
          <a:xfrm>
            <a:off x="2699264" y="4137247"/>
            <a:ext cx="342900" cy="0"/>
          </a:xfrm>
          <a:prstGeom prst="straightConnector1">
            <a:avLst/>
          </a:prstGeom>
          <a:noFill/>
          <a:ln cap="flat" cmpd="sng" w="19050">
            <a:solidFill>
              <a:schemeClr val="dk1"/>
            </a:solidFill>
            <a:prstDash val="solid"/>
            <a:miter lim="8000"/>
            <a:headEnd len="sm" w="sm" type="none"/>
            <a:tailEnd len="sm" w="sm" type="none"/>
          </a:ln>
        </p:spPr>
      </p:cxnSp>
      <p:cxnSp>
        <p:nvCxnSpPr>
          <p:cNvPr id="1675" name="Google Shape;1675;p24"/>
          <p:cNvCxnSpPr/>
          <p:nvPr/>
        </p:nvCxnSpPr>
        <p:spPr>
          <a:xfrm>
            <a:off x="5623185" y="3081673"/>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676" name="Google Shape;1676;p24"/>
          <p:cNvCxnSpPr/>
          <p:nvPr/>
        </p:nvCxnSpPr>
        <p:spPr>
          <a:xfrm>
            <a:off x="5624546" y="4360781"/>
            <a:ext cx="261087" cy="0"/>
          </a:xfrm>
          <a:prstGeom prst="straightConnector1">
            <a:avLst/>
          </a:prstGeom>
          <a:noFill/>
          <a:ln cap="flat" cmpd="sng" w="19050">
            <a:solidFill>
              <a:schemeClr val="dk1"/>
            </a:solidFill>
            <a:prstDash val="solid"/>
            <a:miter lim="8000"/>
            <a:headEnd len="sm" w="sm" type="none"/>
            <a:tailEnd len="sm" w="sm" type="none"/>
          </a:ln>
        </p:spPr>
      </p:cxnSp>
      <p:cxnSp>
        <p:nvCxnSpPr>
          <p:cNvPr id="1677" name="Google Shape;1677;p24"/>
          <p:cNvCxnSpPr/>
          <p:nvPr/>
        </p:nvCxnSpPr>
        <p:spPr>
          <a:xfrm>
            <a:off x="3883139" y="5341789"/>
            <a:ext cx="0" cy="232696"/>
          </a:xfrm>
          <a:prstGeom prst="straightConnector1">
            <a:avLst/>
          </a:prstGeom>
          <a:noFill/>
          <a:ln cap="flat" cmpd="sng" w="19050">
            <a:solidFill>
              <a:schemeClr val="dk1"/>
            </a:solidFill>
            <a:prstDash val="solid"/>
            <a:miter lim="8000"/>
            <a:headEnd len="sm" w="sm" type="none"/>
            <a:tailEnd len="sm" w="sm" type="none"/>
          </a:ln>
        </p:spPr>
      </p:cxnSp>
      <p:cxnSp>
        <p:nvCxnSpPr>
          <p:cNvPr id="1678" name="Google Shape;1678;p24"/>
          <p:cNvCxnSpPr/>
          <p:nvPr/>
        </p:nvCxnSpPr>
        <p:spPr>
          <a:xfrm>
            <a:off x="4911047" y="5304616"/>
            <a:ext cx="380145" cy="0"/>
          </a:xfrm>
          <a:prstGeom prst="straightConnector1">
            <a:avLst/>
          </a:prstGeom>
          <a:noFill/>
          <a:ln cap="flat" cmpd="sng" w="19050">
            <a:solidFill>
              <a:schemeClr val="dk1"/>
            </a:solidFill>
            <a:prstDash val="solid"/>
            <a:miter lim="8000"/>
            <a:headEnd len="sm" w="sm" type="none"/>
            <a:tailEnd len="sm" w="sm" type="none"/>
          </a:ln>
        </p:spPr>
      </p:cxnSp>
      <p:cxnSp>
        <p:nvCxnSpPr>
          <p:cNvPr id="1679" name="Google Shape;1679;p24"/>
          <p:cNvCxnSpPr/>
          <p:nvPr/>
        </p:nvCxnSpPr>
        <p:spPr>
          <a:xfrm>
            <a:off x="3357797" y="3717874"/>
            <a:ext cx="794264" cy="0"/>
          </a:xfrm>
          <a:prstGeom prst="straightConnector1">
            <a:avLst/>
          </a:prstGeom>
          <a:noFill/>
          <a:ln cap="flat" cmpd="sng" w="19050">
            <a:solidFill>
              <a:schemeClr val="dk1"/>
            </a:solidFill>
            <a:prstDash val="solid"/>
            <a:miter lim="8000"/>
            <a:headEnd len="sm" w="sm" type="none"/>
            <a:tailEnd len="sm" w="sm" type="none"/>
          </a:ln>
        </p:spPr>
      </p:cxnSp>
      <p:cxnSp>
        <p:nvCxnSpPr>
          <p:cNvPr id="1680" name="Google Shape;1680;p24"/>
          <p:cNvCxnSpPr/>
          <p:nvPr/>
        </p:nvCxnSpPr>
        <p:spPr>
          <a:xfrm>
            <a:off x="4540907" y="3723826"/>
            <a:ext cx="975473" cy="0"/>
          </a:xfrm>
          <a:prstGeom prst="straightConnector1">
            <a:avLst/>
          </a:prstGeom>
          <a:noFill/>
          <a:ln cap="flat" cmpd="sng" w="19050">
            <a:solidFill>
              <a:schemeClr val="dk1"/>
            </a:solidFill>
            <a:prstDash val="solid"/>
            <a:miter lim="8000"/>
            <a:headEnd len="sm" w="sm" type="none"/>
            <a:tailEnd len="sm" w="sm" type="none"/>
          </a:ln>
        </p:spPr>
      </p:cxnSp>
      <p:grpSp>
        <p:nvGrpSpPr>
          <p:cNvPr id="1681" name="Google Shape;1681;p24"/>
          <p:cNvGrpSpPr/>
          <p:nvPr/>
        </p:nvGrpSpPr>
        <p:grpSpPr>
          <a:xfrm>
            <a:off x="4046926" y="3577753"/>
            <a:ext cx="632991" cy="300938"/>
            <a:chOff x="7493876" y="2774731"/>
            <a:chExt cx="1481958" cy="894622"/>
          </a:xfrm>
        </p:grpSpPr>
        <p:sp>
          <p:nvSpPr>
            <p:cNvPr id="1682" name="Google Shape;1682;p2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rgbClr val="FFFFFF"/>
                  </a:solidFill>
                  <a:latin typeface="Calibri"/>
                  <a:ea typeface="Calibri"/>
                  <a:cs typeface="Calibri"/>
                  <a:sym typeface="Calibri"/>
                </a:rPr>
                <a:t>                   </a:t>
              </a:r>
              <a:endParaRPr/>
            </a:p>
          </p:txBody>
        </p:sp>
        <p:sp>
          <p:nvSpPr>
            <p:cNvPr id="1683" name="Google Shape;1683;p24"/>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rgbClr val="FFFFFF"/>
                  </a:solidFill>
                  <a:latin typeface="Calibri"/>
                  <a:ea typeface="Calibri"/>
                  <a:cs typeface="Calibri"/>
                  <a:sym typeface="Calibri"/>
                </a:rPr>
                <a:t>              </a:t>
              </a:r>
              <a:endParaRPr/>
            </a:p>
          </p:txBody>
        </p:sp>
        <p:grpSp>
          <p:nvGrpSpPr>
            <p:cNvPr id="1684" name="Google Shape;1684;p24"/>
            <p:cNvGrpSpPr/>
            <p:nvPr/>
          </p:nvGrpSpPr>
          <p:grpSpPr>
            <a:xfrm>
              <a:off x="7713663" y="2848339"/>
              <a:ext cx="1042107" cy="425543"/>
              <a:chOff x="7786941" y="2884917"/>
              <a:chExt cx="897649" cy="353919"/>
            </a:xfrm>
          </p:grpSpPr>
          <p:sp>
            <p:nvSpPr>
              <p:cNvPr id="1685" name="Google Shape;1685;p2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rgbClr val="FFFFFF"/>
                  </a:solidFill>
                  <a:latin typeface="Calibri"/>
                  <a:ea typeface="Calibri"/>
                  <a:cs typeface="Calibri"/>
                  <a:sym typeface="Calibri"/>
                </a:endParaRPr>
              </a:p>
            </p:txBody>
          </p:sp>
          <p:sp>
            <p:nvSpPr>
              <p:cNvPr id="1686" name="Google Shape;1686;p2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rgbClr val="FFFFFF"/>
                  </a:solidFill>
                  <a:latin typeface="Calibri"/>
                  <a:ea typeface="Calibri"/>
                  <a:cs typeface="Calibri"/>
                  <a:sym typeface="Calibri"/>
                </a:endParaRPr>
              </a:p>
            </p:txBody>
          </p:sp>
          <p:sp>
            <p:nvSpPr>
              <p:cNvPr id="1687" name="Google Shape;1687;p2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rgbClr val="FFFFFF"/>
                  </a:solidFill>
                  <a:latin typeface="Calibri"/>
                  <a:ea typeface="Calibri"/>
                  <a:cs typeface="Calibri"/>
                  <a:sym typeface="Calibri"/>
                </a:endParaRPr>
              </a:p>
            </p:txBody>
          </p:sp>
          <p:sp>
            <p:nvSpPr>
              <p:cNvPr id="1688" name="Google Shape;1688;p2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rgbClr val="FFFFFF"/>
                  </a:solidFill>
                  <a:latin typeface="Calibri"/>
                  <a:ea typeface="Calibri"/>
                  <a:cs typeface="Calibri"/>
                  <a:sym typeface="Calibri"/>
                </a:endParaRPr>
              </a:p>
            </p:txBody>
          </p:sp>
        </p:grpSp>
      </p:grpSp>
      <p:grpSp>
        <p:nvGrpSpPr>
          <p:cNvPr id="1689" name="Google Shape;1689;p24"/>
          <p:cNvGrpSpPr/>
          <p:nvPr/>
        </p:nvGrpSpPr>
        <p:grpSpPr>
          <a:xfrm>
            <a:off x="4199467" y="1861963"/>
            <a:ext cx="1778000" cy="1399961"/>
            <a:chOff x="4199467" y="1861963"/>
            <a:chExt cx="1778000" cy="1399961"/>
          </a:xfrm>
        </p:grpSpPr>
        <p:sp>
          <p:nvSpPr>
            <p:cNvPr id="1690" name="Google Shape;1690;p24"/>
            <p:cNvSpPr txBox="1"/>
            <p:nvPr/>
          </p:nvSpPr>
          <p:spPr>
            <a:xfrm>
              <a:off x="4199467" y="1861963"/>
              <a:ext cx="1778000" cy="40902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b="0" i="0" lang="en-US" sz="2400" u="none" cap="none" strike="noStrike">
                  <a:solidFill>
                    <a:srgbClr val="CC0000"/>
                  </a:solidFill>
                  <a:latin typeface="Calibri"/>
                  <a:ea typeface="Calibri"/>
                  <a:cs typeface="Calibri"/>
                  <a:sym typeface="Calibri"/>
                </a:rPr>
                <a:t>DHCP server</a:t>
              </a:r>
              <a:endParaRPr/>
            </a:p>
          </p:txBody>
        </p:sp>
        <p:grpSp>
          <p:nvGrpSpPr>
            <p:cNvPr id="1691" name="Google Shape;1691;p24"/>
            <p:cNvGrpSpPr/>
            <p:nvPr/>
          </p:nvGrpSpPr>
          <p:grpSpPr>
            <a:xfrm>
              <a:off x="4496295" y="2275617"/>
              <a:ext cx="1061308" cy="986307"/>
              <a:chOff x="4496295" y="2275617"/>
              <a:chExt cx="1061308" cy="986307"/>
            </a:xfrm>
          </p:grpSpPr>
          <p:grpSp>
            <p:nvGrpSpPr>
              <p:cNvPr id="1692" name="Google Shape;1692;p24"/>
              <p:cNvGrpSpPr/>
              <p:nvPr/>
            </p:nvGrpSpPr>
            <p:grpSpPr>
              <a:xfrm>
                <a:off x="4733925" y="2275617"/>
                <a:ext cx="365672" cy="681037"/>
                <a:chOff x="4140" y="429"/>
                <a:chExt cx="1425" cy="2396"/>
              </a:xfrm>
            </p:grpSpPr>
            <p:sp>
              <p:nvSpPr>
                <p:cNvPr id="1693" name="Google Shape;1693;p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94" name="Google Shape;1694;p24"/>
                <p:cNvSpPr/>
                <p:nvPr/>
              </p:nvSpPr>
              <p:spPr>
                <a:xfrm>
                  <a:off x="4208"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5" name="Google Shape;1695;p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96" name="Google Shape;1696;p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97" name="Google Shape;1697;p24"/>
                <p:cNvSpPr/>
                <p:nvPr/>
              </p:nvSpPr>
              <p:spPr>
                <a:xfrm>
                  <a:off x="4213" y="691"/>
                  <a:ext cx="597" cy="50"/>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698" name="Google Shape;1698;p24"/>
                <p:cNvGrpSpPr/>
                <p:nvPr/>
              </p:nvGrpSpPr>
              <p:grpSpPr>
                <a:xfrm>
                  <a:off x="4748" y="669"/>
                  <a:ext cx="580" cy="145"/>
                  <a:chOff x="613" y="2569"/>
                  <a:chExt cx="724" cy="139"/>
                </a:xfrm>
              </p:grpSpPr>
              <p:sp>
                <p:nvSpPr>
                  <p:cNvPr id="1699" name="Google Shape;1699;p24"/>
                  <p:cNvSpPr/>
                  <p:nvPr/>
                </p:nvSpPr>
                <p:spPr>
                  <a:xfrm>
                    <a:off x="613" y="2569"/>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0" name="Google Shape;1700;p24"/>
                  <p:cNvSpPr/>
                  <p:nvPr/>
                </p:nvSpPr>
                <p:spPr>
                  <a:xfrm>
                    <a:off x="627" y="2585"/>
                    <a:ext cx="689"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701" name="Google Shape;1701;p24"/>
                <p:cNvSpPr/>
                <p:nvPr/>
              </p:nvSpPr>
              <p:spPr>
                <a:xfrm>
                  <a:off x="4224" y="1021"/>
                  <a:ext cx="597" cy="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702" name="Google Shape;1702;p24"/>
                <p:cNvGrpSpPr/>
                <p:nvPr/>
              </p:nvGrpSpPr>
              <p:grpSpPr>
                <a:xfrm>
                  <a:off x="4749" y="993"/>
                  <a:ext cx="580" cy="134"/>
                  <a:chOff x="616" y="2567"/>
                  <a:chExt cx="724" cy="139"/>
                </a:xfrm>
              </p:grpSpPr>
              <p:sp>
                <p:nvSpPr>
                  <p:cNvPr id="1703" name="Google Shape;1703;p24"/>
                  <p:cNvSpPr/>
                  <p:nvPr/>
                </p:nvSpPr>
                <p:spPr>
                  <a:xfrm>
                    <a:off x="616" y="2567"/>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4" name="Google Shape;1704;p24"/>
                  <p:cNvSpPr/>
                  <p:nvPr/>
                </p:nvSpPr>
                <p:spPr>
                  <a:xfrm>
                    <a:off x="630" y="2584"/>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705" name="Google Shape;1705;p24"/>
                <p:cNvSpPr/>
                <p:nvPr/>
              </p:nvSpPr>
              <p:spPr>
                <a:xfrm>
                  <a:off x="4219" y="1356"/>
                  <a:ext cx="591" cy="50"/>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6" name="Google Shape;1706;p24"/>
                <p:cNvSpPr/>
                <p:nvPr/>
              </p:nvSpPr>
              <p:spPr>
                <a:xfrm>
                  <a:off x="4230" y="1658"/>
                  <a:ext cx="591" cy="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707" name="Google Shape;1707;p24"/>
                <p:cNvGrpSpPr/>
                <p:nvPr/>
              </p:nvGrpSpPr>
              <p:grpSpPr>
                <a:xfrm>
                  <a:off x="4737" y="1636"/>
                  <a:ext cx="580" cy="151"/>
                  <a:chOff x="617" y="2576"/>
                  <a:chExt cx="723" cy="139"/>
                </a:xfrm>
              </p:grpSpPr>
              <p:sp>
                <p:nvSpPr>
                  <p:cNvPr id="1708" name="Google Shape;1708;p24"/>
                  <p:cNvSpPr/>
                  <p:nvPr/>
                </p:nvSpPr>
                <p:spPr>
                  <a:xfrm>
                    <a:off x="617" y="2576"/>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9" name="Google Shape;1709;p24"/>
                  <p:cNvSpPr/>
                  <p:nvPr/>
                </p:nvSpPr>
                <p:spPr>
                  <a:xfrm>
                    <a:off x="631" y="2586"/>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710" name="Google Shape;1710;p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1711" name="Google Shape;1711;p24"/>
                <p:cNvGrpSpPr/>
                <p:nvPr/>
              </p:nvGrpSpPr>
              <p:grpSpPr>
                <a:xfrm>
                  <a:off x="4737" y="1328"/>
                  <a:ext cx="586" cy="140"/>
                  <a:chOff x="612" y="2569"/>
                  <a:chExt cx="730" cy="140"/>
                </a:xfrm>
              </p:grpSpPr>
              <p:sp>
                <p:nvSpPr>
                  <p:cNvPr id="1712" name="Google Shape;1712;p24"/>
                  <p:cNvSpPr/>
                  <p:nvPr/>
                </p:nvSpPr>
                <p:spPr>
                  <a:xfrm>
                    <a:off x="612" y="2569"/>
                    <a:ext cx="730"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3" name="Google Shape;1713;p24"/>
                  <p:cNvSpPr/>
                  <p:nvPr/>
                </p:nvSpPr>
                <p:spPr>
                  <a:xfrm>
                    <a:off x="626"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714" name="Google Shape;1714;p24"/>
                <p:cNvSpPr/>
                <p:nvPr/>
              </p:nvSpPr>
              <p:spPr>
                <a:xfrm>
                  <a:off x="5250"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5" name="Google Shape;1715;p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16" name="Google Shape;1716;p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17" name="Google Shape;1717;p24"/>
                <p:cNvSpPr/>
                <p:nvPr/>
              </p:nvSpPr>
              <p:spPr>
                <a:xfrm>
                  <a:off x="5514" y="2613"/>
                  <a:ext cx="51"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8" name="Google Shape;1718;p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19" name="Google Shape;1719;p24"/>
                <p:cNvSpPr/>
                <p:nvPr/>
              </p:nvSpPr>
              <p:spPr>
                <a:xfrm>
                  <a:off x="4140" y="2680"/>
                  <a:ext cx="1200"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0" name="Google Shape;1720;p24"/>
                <p:cNvSpPr/>
                <p:nvPr/>
              </p:nvSpPr>
              <p:spPr>
                <a:xfrm>
                  <a:off x="4208" y="2713"/>
                  <a:ext cx="1070"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1" name="Google Shape;1721;p24"/>
                <p:cNvSpPr/>
                <p:nvPr/>
              </p:nvSpPr>
              <p:spPr>
                <a:xfrm>
                  <a:off x="4309" y="2384"/>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2" name="Google Shape;1722;p24"/>
                <p:cNvSpPr/>
                <p:nvPr/>
              </p:nvSpPr>
              <p:spPr>
                <a:xfrm>
                  <a:off x="4484" y="2384"/>
                  <a:ext cx="163"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723" name="Google Shape;1723;p24"/>
                <p:cNvSpPr/>
                <p:nvPr/>
              </p:nvSpPr>
              <p:spPr>
                <a:xfrm>
                  <a:off x="4664" y="2384"/>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4" name="Google Shape;1724;p24"/>
                <p:cNvSpPr/>
                <p:nvPr/>
              </p:nvSpPr>
              <p:spPr>
                <a:xfrm>
                  <a:off x="5064" y="1836"/>
                  <a:ext cx="84" cy="760"/>
                </a:xfrm>
                <a:prstGeom prst="rect">
                  <a:avLst/>
                </a:prstGeom>
                <a:solidFill>
                  <a:srgbClr val="29292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cxnSp>
            <p:nvCxnSpPr>
              <p:cNvPr id="1725" name="Google Shape;1725;p24"/>
              <p:cNvCxnSpPr/>
              <p:nvPr/>
            </p:nvCxnSpPr>
            <p:spPr>
              <a:xfrm rot="10800000">
                <a:off x="5013585" y="2937914"/>
                <a:ext cx="544018" cy="0"/>
              </a:xfrm>
              <a:prstGeom prst="straightConnector1">
                <a:avLst/>
              </a:prstGeom>
              <a:noFill/>
              <a:ln cap="flat" cmpd="sng" w="19050">
                <a:solidFill>
                  <a:schemeClr val="dk1"/>
                </a:solidFill>
                <a:prstDash val="solid"/>
                <a:miter lim="8000"/>
                <a:headEnd len="sm" w="sm" type="none"/>
                <a:tailEnd len="sm" w="sm" type="none"/>
              </a:ln>
            </p:spPr>
          </p:cxnSp>
          <p:sp>
            <p:nvSpPr>
              <p:cNvPr id="1726" name="Google Shape;1726;p24"/>
              <p:cNvSpPr txBox="1"/>
              <p:nvPr/>
            </p:nvSpPr>
            <p:spPr>
              <a:xfrm>
                <a:off x="4496295" y="2923370"/>
                <a:ext cx="104067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223.1.2.5</a:t>
                </a:r>
                <a:endParaRPr b="0" i="0" sz="1400" u="none" cap="none" strike="noStrike">
                  <a:solidFill>
                    <a:srgbClr val="000000"/>
                  </a:solidFill>
                  <a:latin typeface="Comic Sans MS"/>
                  <a:ea typeface="Comic Sans MS"/>
                  <a:cs typeface="Comic Sans MS"/>
                  <a:sym typeface="Comic Sans MS"/>
                </a:endParaRPr>
              </a:p>
            </p:txBody>
          </p:sp>
        </p:grpSp>
      </p:grpSp>
      <p:pic>
        <p:nvPicPr>
          <p:cNvPr descr="access_point_stylized_small" id="1727" name="Google Shape;1727;p24"/>
          <p:cNvPicPr preferRelativeResize="0"/>
          <p:nvPr/>
        </p:nvPicPr>
        <p:blipFill rotWithShape="1">
          <a:blip r:embed="rId4">
            <a:alphaModFix/>
          </a:blip>
          <a:srcRect b="0" l="0" r="0" t="0"/>
          <a:stretch/>
        </p:blipFill>
        <p:spPr>
          <a:xfrm>
            <a:off x="5480205" y="3404249"/>
            <a:ext cx="587412" cy="486930"/>
          </a:xfrm>
          <a:prstGeom prst="rect">
            <a:avLst/>
          </a:prstGeom>
          <a:noFill/>
          <a:ln>
            <a:noFill/>
          </a:ln>
        </p:spPr>
      </p:pic>
      <p:grpSp>
        <p:nvGrpSpPr>
          <p:cNvPr id="1728" name="Google Shape;1728;p24"/>
          <p:cNvGrpSpPr/>
          <p:nvPr/>
        </p:nvGrpSpPr>
        <p:grpSpPr>
          <a:xfrm>
            <a:off x="6417296" y="3245381"/>
            <a:ext cx="4688026" cy="1596861"/>
            <a:chOff x="6417296" y="3245381"/>
            <a:chExt cx="4688026" cy="1596861"/>
          </a:xfrm>
        </p:grpSpPr>
        <p:grpSp>
          <p:nvGrpSpPr>
            <p:cNvPr id="1729" name="Google Shape;1729;p24"/>
            <p:cNvGrpSpPr/>
            <p:nvPr/>
          </p:nvGrpSpPr>
          <p:grpSpPr>
            <a:xfrm>
              <a:off x="7290172" y="3245381"/>
              <a:ext cx="1015378" cy="926641"/>
              <a:chOff x="7432700" y="2327293"/>
              <a:chExt cx="534987" cy="414882"/>
            </a:xfrm>
          </p:grpSpPr>
          <p:pic>
            <p:nvPicPr>
              <p:cNvPr descr="antenna_stylized" id="1730" name="Google Shape;1730;p24"/>
              <p:cNvPicPr preferRelativeResize="0"/>
              <p:nvPr/>
            </p:nvPicPr>
            <p:blipFill rotWithShape="1">
              <a:blip r:embed="rId5">
                <a:alphaModFix/>
              </a:blip>
              <a:srcRect b="0" l="0" r="0" t="0"/>
              <a:stretch/>
            </p:blipFill>
            <p:spPr>
              <a:xfrm>
                <a:off x="7432700" y="2327293"/>
                <a:ext cx="530702" cy="223756"/>
              </a:xfrm>
              <a:prstGeom prst="rect">
                <a:avLst/>
              </a:prstGeom>
              <a:noFill/>
              <a:ln>
                <a:noFill/>
              </a:ln>
            </p:spPr>
          </p:pic>
          <p:pic>
            <p:nvPicPr>
              <p:cNvPr descr="laptop_keyboard" id="1731" name="Google Shape;1731;p24"/>
              <p:cNvPicPr preferRelativeResize="0"/>
              <p:nvPr/>
            </p:nvPicPr>
            <p:blipFill rotWithShape="1">
              <a:blip r:embed="rId6">
                <a:alphaModFix/>
              </a:blip>
              <a:srcRect b="0" l="0" r="0" t="0"/>
              <a:stretch/>
            </p:blipFill>
            <p:spPr>
              <a:xfrm flipH="1" rot="109064">
                <a:off x="7458407" y="2575770"/>
                <a:ext cx="437221" cy="159511"/>
              </a:xfrm>
              <a:prstGeom prst="rect">
                <a:avLst/>
              </a:prstGeom>
              <a:noFill/>
              <a:ln>
                <a:noFill/>
              </a:ln>
            </p:spPr>
          </p:pic>
          <p:sp>
            <p:nvSpPr>
              <p:cNvPr id="1732" name="Google Shape;1732;p2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screen" id="1733" name="Google Shape;1733;p24"/>
              <p:cNvPicPr preferRelativeResize="0"/>
              <p:nvPr/>
            </p:nvPicPr>
            <p:blipFill rotWithShape="1">
              <a:blip r:embed="rId7">
                <a:alphaModFix/>
              </a:blip>
              <a:srcRect b="0" l="0" r="0" t="0"/>
              <a:stretch/>
            </p:blipFill>
            <p:spPr>
              <a:xfrm>
                <a:off x="7620637" y="2426338"/>
                <a:ext cx="319785" cy="189429"/>
              </a:xfrm>
              <a:prstGeom prst="rect">
                <a:avLst/>
              </a:prstGeom>
              <a:noFill/>
              <a:ln>
                <a:noFill/>
              </a:ln>
            </p:spPr>
          </p:pic>
          <p:sp>
            <p:nvSpPr>
              <p:cNvPr id="1734" name="Google Shape;1734;p2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35" name="Google Shape;1735;p2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36" name="Google Shape;1736;p2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37" name="Google Shape;1737;p2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38" name="Google Shape;1738;p2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39" name="Google Shape;1739;p2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1740" name="Google Shape;1740;p24"/>
              <p:cNvGrpSpPr/>
              <p:nvPr/>
            </p:nvGrpSpPr>
            <p:grpSpPr>
              <a:xfrm>
                <a:off x="7594735" y="2642220"/>
                <a:ext cx="98740" cy="36846"/>
                <a:chOff x="1740" y="2642"/>
                <a:chExt cx="752" cy="327"/>
              </a:xfrm>
            </p:grpSpPr>
            <p:sp>
              <p:nvSpPr>
                <p:cNvPr id="1741" name="Google Shape;1741;p2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2" name="Google Shape;1742;p2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3" name="Google Shape;1743;p2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4" name="Google Shape;1744;p2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5" name="Google Shape;1745;p2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6" name="Google Shape;1746;p2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sp>
            <p:nvSpPr>
              <p:cNvPr id="1747" name="Google Shape;1747;p2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8" name="Google Shape;1748;p2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9" name="Google Shape;1749;p2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50" name="Google Shape;1750;p2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51" name="Google Shape;1751;p2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52" name="Google Shape;1752;p2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sp>
          <p:nvSpPr>
            <p:cNvPr id="1753" name="Google Shape;1753;p24"/>
            <p:cNvSpPr txBox="1"/>
            <p:nvPr/>
          </p:nvSpPr>
          <p:spPr>
            <a:xfrm>
              <a:off x="7489203" y="4119287"/>
              <a:ext cx="3616119"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b="0" i="0" lang="en-US" sz="2400" u="none" cap="none" strike="noStrike">
                  <a:solidFill>
                    <a:srgbClr val="000000"/>
                  </a:solidFill>
                  <a:latin typeface="Calibri"/>
                  <a:ea typeface="Calibri"/>
                  <a:cs typeface="Calibri"/>
                  <a:sym typeface="Calibri"/>
                </a:rPr>
                <a:t>arriving </a:t>
              </a:r>
              <a:r>
                <a:rPr b="0" i="0" lang="en-US" sz="2400" u="none" cap="none" strike="noStrike">
                  <a:solidFill>
                    <a:srgbClr val="CC0000"/>
                  </a:solidFill>
                  <a:latin typeface="Calibri"/>
                  <a:ea typeface="Calibri"/>
                  <a:cs typeface="Calibri"/>
                  <a:sym typeface="Calibri"/>
                </a:rPr>
                <a:t>DHCP client</a:t>
              </a:r>
              <a:r>
                <a:rPr b="0" i="0" lang="en-US" sz="2400" u="none" cap="none" strike="noStrike">
                  <a:solidFill>
                    <a:srgbClr val="000000"/>
                  </a:solidFill>
                  <a:latin typeface="Calibri"/>
                  <a:ea typeface="Calibri"/>
                  <a:cs typeface="Calibri"/>
                  <a:sym typeface="Calibri"/>
                </a:rPr>
                <a:t> needs </a:t>
              </a:r>
              <a:endParaRPr/>
            </a:p>
            <a:p>
              <a:pPr indent="0" lvl="0" marL="0" marR="0" rtl="0" algn="l">
                <a:lnSpc>
                  <a:spcPct val="85000"/>
                </a:lnSpc>
                <a:spcBef>
                  <a:spcPts val="0"/>
                </a:spcBef>
                <a:spcAft>
                  <a:spcPts val="0"/>
                </a:spcAft>
                <a:buNone/>
              </a:pPr>
              <a:r>
                <a:rPr b="0" i="0" lang="en-US" sz="2400" u="none" cap="none" strike="noStrike">
                  <a:solidFill>
                    <a:srgbClr val="000000"/>
                  </a:solidFill>
                  <a:latin typeface="Calibri"/>
                  <a:ea typeface="Calibri"/>
                  <a:cs typeface="Calibri"/>
                  <a:sym typeface="Calibri"/>
                </a:rPr>
                <a:t>address in this network</a:t>
              </a:r>
              <a:endParaRPr/>
            </a:p>
          </p:txBody>
        </p:sp>
        <p:sp>
          <p:nvSpPr>
            <p:cNvPr id="1754" name="Google Shape;1754;p24"/>
            <p:cNvSpPr/>
            <p:nvPr/>
          </p:nvSpPr>
          <p:spPr>
            <a:xfrm>
              <a:off x="6417296" y="3433832"/>
              <a:ext cx="976312" cy="374650"/>
            </a:xfrm>
            <a:prstGeom prst="leftArrow">
              <a:avLst>
                <a:gd fmla="val 50000" name="adj1"/>
                <a:gd fmla="val 65148" name="adj2"/>
              </a:avLst>
            </a:prstGeom>
            <a:gradFill>
              <a:gsLst>
                <a:gs pos="0">
                  <a:srgbClr val="CC0000"/>
                </a:gs>
                <a:gs pos="100000">
                  <a:srgbClr val="FFFF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1755" name="Google Shape;1755;p24"/>
          <p:cNvSpPr txBox="1"/>
          <p:nvPr/>
        </p:nvSpPr>
        <p:spPr>
          <a:xfrm>
            <a:off x="7145867" y="1456267"/>
            <a:ext cx="469053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Typically, DHCP server will be  co-located in router, serving all subnets to which router is attached</a:t>
            </a:r>
            <a:endParaRPr/>
          </a:p>
        </p:txBody>
      </p:sp>
      <p:sp>
        <p:nvSpPr>
          <p:cNvPr id="1756" name="Google Shape;1756;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9"/>
                                        </p:tgtEl>
                                        <p:attrNameLst>
                                          <p:attrName>style.visibility</p:attrName>
                                        </p:attrNameLst>
                                      </p:cBhvr>
                                      <p:to>
                                        <p:strVal val="visible"/>
                                      </p:to>
                                    </p:set>
                                    <p:animEffect filter="fade" transition="in">
                                      <p:cBhvr>
                                        <p:cTn dur="500"/>
                                        <p:tgtEl>
                                          <p:spTgt spid="1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5"/>
                                        </p:tgtEl>
                                        <p:attrNameLst>
                                          <p:attrName>style.visibility</p:attrName>
                                        </p:attrNameLst>
                                      </p:cBhvr>
                                      <p:to>
                                        <p:strVal val="visible"/>
                                      </p:to>
                                    </p:set>
                                    <p:animEffect filter="fade" transition="in">
                                      <p:cBhvr>
                                        <p:cTn dur="500"/>
                                        <p:tgtEl>
                                          <p:spTgt spid="17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8"/>
                                        </p:tgtEl>
                                        <p:attrNameLst>
                                          <p:attrName>style.visibility</p:attrName>
                                        </p:attrNameLst>
                                      </p:cBhvr>
                                      <p:to>
                                        <p:strVal val="visible"/>
                                      </p:to>
                                    </p:set>
                                    <p:animEffect filter="fade" transition="in">
                                      <p:cBhvr>
                                        <p:cTn dur="500"/>
                                        <p:tgtEl>
                                          <p:spTgt spid="17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sp>
        <p:nvSpPr>
          <p:cNvPr id="1762" name="Google Shape;1762;p2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client-server scenario</a:t>
            </a:r>
            <a:endParaRPr/>
          </a:p>
        </p:txBody>
      </p:sp>
      <p:sp>
        <p:nvSpPr>
          <p:cNvPr id="1763" name="Google Shape;1763;p25"/>
          <p:cNvSpPr txBox="1"/>
          <p:nvPr/>
        </p:nvSpPr>
        <p:spPr>
          <a:xfrm>
            <a:off x="2603536" y="1300439"/>
            <a:ext cx="234218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Calibri"/>
                <a:ea typeface="Calibri"/>
                <a:cs typeface="Calibri"/>
                <a:sym typeface="Calibri"/>
              </a:rPr>
              <a:t>DHCP server: 223.1.2.5</a:t>
            </a:r>
            <a:endParaRPr/>
          </a:p>
        </p:txBody>
      </p:sp>
      <p:sp>
        <p:nvSpPr>
          <p:cNvPr id="1764" name="Google Shape;1764;p25"/>
          <p:cNvSpPr/>
          <p:nvPr/>
        </p:nvSpPr>
        <p:spPr>
          <a:xfrm>
            <a:off x="8680174" y="1466575"/>
            <a:ext cx="2066580"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800" u="none" cap="none" strike="noStrike">
                <a:solidFill>
                  <a:srgbClr val="000000"/>
                </a:solidFill>
                <a:latin typeface="Calibri"/>
                <a:ea typeface="Calibri"/>
                <a:cs typeface="Calibri"/>
                <a:sym typeface="Calibri"/>
              </a:rPr>
              <a:t>Arriving client</a:t>
            </a:r>
            <a:endParaRPr b="0" i="0" sz="1800" u="none" cap="none" strike="noStrike">
              <a:solidFill>
                <a:srgbClr val="000000"/>
              </a:solidFill>
              <a:latin typeface="Calibri"/>
              <a:ea typeface="Calibri"/>
              <a:cs typeface="Calibri"/>
              <a:sym typeface="Calibri"/>
            </a:endParaRPr>
          </a:p>
        </p:txBody>
      </p:sp>
      <p:cxnSp>
        <p:nvCxnSpPr>
          <p:cNvPr id="1765" name="Google Shape;1765;p25"/>
          <p:cNvCxnSpPr/>
          <p:nvPr/>
        </p:nvCxnSpPr>
        <p:spPr>
          <a:xfrm flipH="1">
            <a:off x="4572552" y="2256526"/>
            <a:ext cx="11113" cy="4027487"/>
          </a:xfrm>
          <a:prstGeom prst="straightConnector1">
            <a:avLst/>
          </a:prstGeom>
          <a:noFill/>
          <a:ln cap="flat" cmpd="sng" w="9525">
            <a:solidFill>
              <a:srgbClr val="808080"/>
            </a:solidFill>
            <a:prstDash val="solid"/>
            <a:round/>
            <a:headEnd len="med" w="med" type="none"/>
            <a:tailEnd len="med" w="med" type="triangle"/>
          </a:ln>
        </p:spPr>
      </p:cxnSp>
      <p:cxnSp>
        <p:nvCxnSpPr>
          <p:cNvPr id="1766" name="Google Shape;1766;p25"/>
          <p:cNvCxnSpPr/>
          <p:nvPr/>
        </p:nvCxnSpPr>
        <p:spPr>
          <a:xfrm flipH="1">
            <a:off x="9098515" y="2332726"/>
            <a:ext cx="11112" cy="4140200"/>
          </a:xfrm>
          <a:prstGeom prst="straightConnector1">
            <a:avLst/>
          </a:prstGeom>
          <a:noFill/>
          <a:ln cap="flat" cmpd="sng" w="9525">
            <a:solidFill>
              <a:srgbClr val="808080"/>
            </a:solidFill>
            <a:prstDash val="solid"/>
            <a:round/>
            <a:headEnd len="med" w="med" type="none"/>
            <a:tailEnd len="med" w="med" type="triangle"/>
          </a:ln>
        </p:spPr>
      </p:cxnSp>
      <p:grpSp>
        <p:nvGrpSpPr>
          <p:cNvPr id="1767" name="Google Shape;1767;p25"/>
          <p:cNvGrpSpPr/>
          <p:nvPr/>
        </p:nvGrpSpPr>
        <p:grpSpPr>
          <a:xfrm>
            <a:off x="4617002" y="1435788"/>
            <a:ext cx="4395788" cy="1401763"/>
            <a:chOff x="1860550" y="1343025"/>
            <a:chExt cx="4395788" cy="1401763"/>
          </a:xfrm>
        </p:grpSpPr>
        <p:cxnSp>
          <p:nvCxnSpPr>
            <p:cNvPr id="1768" name="Google Shape;1768;p25"/>
            <p:cNvCxnSpPr/>
            <p:nvPr/>
          </p:nvCxnSpPr>
          <p:spPr>
            <a:xfrm flipH="1">
              <a:off x="1860550" y="2208213"/>
              <a:ext cx="4395788" cy="536575"/>
            </a:xfrm>
            <a:prstGeom prst="straightConnector1">
              <a:avLst/>
            </a:prstGeom>
            <a:noFill/>
            <a:ln cap="flat" cmpd="sng" w="19050">
              <a:solidFill>
                <a:srgbClr val="000000"/>
              </a:solidFill>
              <a:prstDash val="solid"/>
              <a:round/>
              <a:headEnd len="med" w="med" type="none"/>
              <a:tailEnd len="med" w="med" type="triangle"/>
            </a:ln>
          </p:spPr>
        </p:cxnSp>
        <p:grpSp>
          <p:nvGrpSpPr>
            <p:cNvPr id="1769" name="Google Shape;1769;p25"/>
            <p:cNvGrpSpPr/>
            <p:nvPr/>
          </p:nvGrpSpPr>
          <p:grpSpPr>
            <a:xfrm>
              <a:off x="3389313" y="1343025"/>
              <a:ext cx="2673350" cy="1116013"/>
              <a:chOff x="11865" y="3885"/>
              <a:chExt cx="3720" cy="1260"/>
            </a:xfrm>
          </p:grpSpPr>
          <p:sp>
            <p:nvSpPr>
              <p:cNvPr id="1770" name="Google Shape;1770;p25"/>
              <p:cNvSpPr txBox="1"/>
              <p:nvPr/>
            </p:nvSpPr>
            <p:spPr>
              <a:xfrm>
                <a:off x="11865" y="3885"/>
                <a:ext cx="2062" cy="49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000000"/>
                    </a:solidFill>
                    <a:latin typeface="Arial"/>
                    <a:ea typeface="Arial"/>
                    <a:cs typeface="Arial"/>
                    <a:sym typeface="Arial"/>
                  </a:rPr>
                  <a:t>DHCP discover</a:t>
                </a:r>
                <a:endParaRPr b="1" i="0" sz="1200" u="none" cap="none" strike="noStrike">
                  <a:solidFill>
                    <a:srgbClr val="000000"/>
                  </a:solidFill>
                  <a:latin typeface="Comic Sans MS"/>
                  <a:ea typeface="Comic Sans MS"/>
                  <a:cs typeface="Comic Sans MS"/>
                  <a:sym typeface="Comic Sans MS"/>
                </a:endParaRPr>
              </a:p>
            </p:txBody>
          </p:sp>
          <p:sp>
            <p:nvSpPr>
              <p:cNvPr id="1771" name="Google Shape;1771;p25"/>
              <p:cNvSpPr txBox="1"/>
              <p:nvPr/>
            </p:nvSpPr>
            <p:spPr>
              <a:xfrm>
                <a:off x="12015" y="4231"/>
                <a:ext cx="3570" cy="914"/>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src : 0.0.0.0, 68     </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dest.: 255.255.255.255,67</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yiaddr:    0.0.0.0</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transaction ID: 654</a:t>
                </a:r>
                <a:endParaRPr b="0" i="0" sz="1600" u="none" cap="none" strike="noStrike">
                  <a:solidFill>
                    <a:srgbClr val="000000"/>
                  </a:solidFill>
                  <a:latin typeface="Comic Sans MS"/>
                  <a:ea typeface="Comic Sans MS"/>
                  <a:cs typeface="Comic Sans MS"/>
                  <a:sym typeface="Comic Sans MS"/>
                </a:endParaRPr>
              </a:p>
            </p:txBody>
          </p:sp>
        </p:grpSp>
      </p:grpSp>
      <p:cxnSp>
        <p:nvCxnSpPr>
          <p:cNvPr id="1772" name="Google Shape;1772;p25"/>
          <p:cNvCxnSpPr/>
          <p:nvPr/>
        </p:nvCxnSpPr>
        <p:spPr>
          <a:xfrm>
            <a:off x="4659865" y="3286813"/>
            <a:ext cx="4395787" cy="538163"/>
          </a:xfrm>
          <a:prstGeom prst="straightConnector1">
            <a:avLst/>
          </a:prstGeom>
          <a:noFill/>
          <a:ln cap="flat" cmpd="sng" w="19050">
            <a:solidFill>
              <a:srgbClr val="000000"/>
            </a:solidFill>
            <a:prstDash val="solid"/>
            <a:round/>
            <a:headEnd len="med" w="med" type="none"/>
            <a:tailEnd len="med" w="med" type="triangle"/>
          </a:ln>
        </p:spPr>
      </p:cxnSp>
      <p:grpSp>
        <p:nvGrpSpPr>
          <p:cNvPr id="1773" name="Google Shape;1773;p25"/>
          <p:cNvGrpSpPr/>
          <p:nvPr/>
        </p:nvGrpSpPr>
        <p:grpSpPr>
          <a:xfrm>
            <a:off x="6318802" y="2672451"/>
            <a:ext cx="2520950" cy="1217612"/>
            <a:chOff x="3562350" y="2579688"/>
            <a:chExt cx="2520950" cy="1217612"/>
          </a:xfrm>
        </p:grpSpPr>
        <p:sp>
          <p:nvSpPr>
            <p:cNvPr id="1774" name="Google Shape;1774;p25"/>
            <p:cNvSpPr txBox="1"/>
            <p:nvPr/>
          </p:nvSpPr>
          <p:spPr>
            <a:xfrm>
              <a:off x="3562350" y="2579688"/>
              <a:ext cx="1379538" cy="3302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000000"/>
                  </a:solidFill>
                  <a:latin typeface="Arial"/>
                  <a:ea typeface="Arial"/>
                  <a:cs typeface="Arial"/>
                  <a:sym typeface="Arial"/>
                </a:rPr>
                <a:t>DHCP offer</a:t>
              </a:r>
              <a:endParaRPr b="0" i="0" sz="1600" u="none" cap="none" strike="noStrike">
                <a:solidFill>
                  <a:srgbClr val="000000"/>
                </a:solidFill>
                <a:latin typeface="Comic Sans MS"/>
                <a:ea typeface="Comic Sans MS"/>
                <a:cs typeface="Comic Sans MS"/>
                <a:sym typeface="Comic Sans MS"/>
              </a:endParaRPr>
            </a:p>
          </p:txBody>
        </p:sp>
        <p:sp>
          <p:nvSpPr>
            <p:cNvPr id="1775" name="Google Shape;1775;p25"/>
            <p:cNvSpPr txBox="1"/>
            <p:nvPr/>
          </p:nvSpPr>
          <p:spPr>
            <a:xfrm>
              <a:off x="3659188" y="2832100"/>
              <a:ext cx="2424112" cy="965200"/>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src: 223.1.2.5, 67      </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dest:  255.255.255.255, 68</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yiaddr: 223.1.2.4</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transaction ID: 654</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lifetime: 3600 secs</a:t>
              </a:r>
              <a:endParaRPr b="0" i="0" sz="800" u="none" cap="none" strike="noStrike">
                <a:solidFill>
                  <a:srgbClr val="000000"/>
                </a:solidFill>
                <a:latin typeface="Comic Sans MS"/>
                <a:ea typeface="Comic Sans MS"/>
                <a:cs typeface="Comic Sans MS"/>
                <a:sym typeface="Comic Sans MS"/>
              </a:endParaRPr>
            </a:p>
          </p:txBody>
        </p:sp>
      </p:grpSp>
      <p:cxnSp>
        <p:nvCxnSpPr>
          <p:cNvPr id="1776" name="Google Shape;1776;p25"/>
          <p:cNvCxnSpPr/>
          <p:nvPr/>
        </p:nvCxnSpPr>
        <p:spPr>
          <a:xfrm flipH="1">
            <a:off x="4551915" y="4515538"/>
            <a:ext cx="4395787" cy="536575"/>
          </a:xfrm>
          <a:prstGeom prst="straightConnector1">
            <a:avLst/>
          </a:prstGeom>
          <a:noFill/>
          <a:ln cap="flat" cmpd="sng" w="19050">
            <a:solidFill>
              <a:srgbClr val="000000"/>
            </a:solidFill>
            <a:prstDash val="solid"/>
            <a:round/>
            <a:headEnd len="med" w="med" type="none"/>
            <a:tailEnd len="med" w="med" type="triangle"/>
          </a:ln>
        </p:spPr>
      </p:cxnSp>
      <p:grpSp>
        <p:nvGrpSpPr>
          <p:cNvPr id="1777" name="Google Shape;1777;p25"/>
          <p:cNvGrpSpPr/>
          <p:nvPr/>
        </p:nvGrpSpPr>
        <p:grpSpPr>
          <a:xfrm>
            <a:off x="4723365" y="3858313"/>
            <a:ext cx="2887662" cy="1260475"/>
            <a:chOff x="1966913" y="3765550"/>
            <a:chExt cx="2887662" cy="1260475"/>
          </a:xfrm>
        </p:grpSpPr>
        <p:sp>
          <p:nvSpPr>
            <p:cNvPr id="1778" name="Google Shape;1778;p25"/>
            <p:cNvSpPr txBox="1"/>
            <p:nvPr/>
          </p:nvSpPr>
          <p:spPr>
            <a:xfrm>
              <a:off x="1966913" y="3765550"/>
              <a:ext cx="1379537" cy="3286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000000"/>
                  </a:solidFill>
                  <a:latin typeface="Arial"/>
                  <a:ea typeface="Arial"/>
                  <a:cs typeface="Arial"/>
                  <a:sym typeface="Arial"/>
                </a:rPr>
                <a:t>DHCP request</a:t>
              </a:r>
              <a:endParaRPr b="0" i="0" sz="1600" u="none" cap="none" strike="noStrike">
                <a:solidFill>
                  <a:srgbClr val="000000"/>
                </a:solidFill>
                <a:latin typeface="Comic Sans MS"/>
                <a:ea typeface="Comic Sans MS"/>
                <a:cs typeface="Comic Sans MS"/>
                <a:sym typeface="Comic Sans MS"/>
              </a:endParaRPr>
            </a:p>
          </p:txBody>
        </p:sp>
        <p:sp>
          <p:nvSpPr>
            <p:cNvPr id="1779" name="Google Shape;1779;p25"/>
            <p:cNvSpPr txBox="1"/>
            <p:nvPr/>
          </p:nvSpPr>
          <p:spPr>
            <a:xfrm>
              <a:off x="2097088" y="4027488"/>
              <a:ext cx="2757487" cy="998537"/>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src:  0.0.0.0, 68     </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dest::  255.255.255.255, 67</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yiaddr: 223.1.2.4</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transaction ID: 655</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lifetime: 3600 secs</a:t>
              </a:r>
              <a:endParaRPr b="0" i="0" sz="1600" u="none" cap="none" strike="noStrike">
                <a:solidFill>
                  <a:srgbClr val="000000"/>
                </a:solidFill>
                <a:latin typeface="Comic Sans MS"/>
                <a:ea typeface="Comic Sans MS"/>
                <a:cs typeface="Comic Sans MS"/>
                <a:sym typeface="Comic Sans MS"/>
              </a:endParaRPr>
            </a:p>
          </p:txBody>
        </p:sp>
      </p:grpSp>
      <p:cxnSp>
        <p:nvCxnSpPr>
          <p:cNvPr id="1780" name="Google Shape;1780;p25"/>
          <p:cNvCxnSpPr/>
          <p:nvPr/>
        </p:nvCxnSpPr>
        <p:spPr>
          <a:xfrm>
            <a:off x="4637640" y="5545826"/>
            <a:ext cx="4395787" cy="538162"/>
          </a:xfrm>
          <a:prstGeom prst="straightConnector1">
            <a:avLst/>
          </a:prstGeom>
          <a:noFill/>
          <a:ln cap="flat" cmpd="sng" w="19050">
            <a:solidFill>
              <a:srgbClr val="000000"/>
            </a:solidFill>
            <a:prstDash val="solid"/>
            <a:round/>
            <a:headEnd len="med" w="med" type="none"/>
            <a:tailEnd len="med" w="med" type="triangle"/>
          </a:ln>
        </p:spPr>
      </p:cxnSp>
      <p:grpSp>
        <p:nvGrpSpPr>
          <p:cNvPr id="1781" name="Google Shape;1781;p25"/>
          <p:cNvGrpSpPr/>
          <p:nvPr/>
        </p:nvGrpSpPr>
        <p:grpSpPr>
          <a:xfrm>
            <a:off x="6275940" y="5261663"/>
            <a:ext cx="2509837" cy="1271588"/>
            <a:chOff x="3519488" y="5168900"/>
            <a:chExt cx="2509837" cy="1271588"/>
          </a:xfrm>
        </p:grpSpPr>
        <p:sp>
          <p:nvSpPr>
            <p:cNvPr id="1782" name="Google Shape;1782;p25"/>
            <p:cNvSpPr txBox="1"/>
            <p:nvPr/>
          </p:nvSpPr>
          <p:spPr>
            <a:xfrm>
              <a:off x="3519488" y="5168900"/>
              <a:ext cx="1379537" cy="3286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000000"/>
                  </a:solidFill>
                  <a:latin typeface="Arial"/>
                  <a:ea typeface="Arial"/>
                  <a:cs typeface="Arial"/>
                  <a:sym typeface="Arial"/>
                </a:rPr>
                <a:t>DHCP ACK</a:t>
              </a:r>
              <a:endParaRPr b="0" i="0" sz="1600" u="none" cap="none" strike="noStrike">
                <a:solidFill>
                  <a:srgbClr val="000000"/>
                </a:solidFill>
                <a:latin typeface="Comic Sans MS"/>
                <a:ea typeface="Comic Sans MS"/>
                <a:cs typeface="Comic Sans MS"/>
                <a:sym typeface="Comic Sans MS"/>
              </a:endParaRPr>
            </a:p>
          </p:txBody>
        </p:sp>
        <p:sp>
          <p:nvSpPr>
            <p:cNvPr id="1783" name="Google Shape;1783;p25"/>
            <p:cNvSpPr txBox="1"/>
            <p:nvPr/>
          </p:nvSpPr>
          <p:spPr>
            <a:xfrm>
              <a:off x="3616325" y="5421313"/>
              <a:ext cx="2413000" cy="1019175"/>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src: 223.1.2.5, 67      </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dest:  255.255.255.255, 68</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yiaddr: 223.1.2.4</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transaction ID: 655</a:t>
              </a:r>
              <a:endParaRPr/>
            </a:p>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lifetime: 3600 secs</a:t>
              </a:r>
              <a:endParaRPr b="0" i="0" sz="1000" u="none" cap="none" strike="noStrike">
                <a:solidFill>
                  <a:srgbClr val="000000"/>
                </a:solidFill>
                <a:latin typeface="Comic Sans MS"/>
                <a:ea typeface="Comic Sans MS"/>
                <a:cs typeface="Comic Sans MS"/>
                <a:sym typeface="Comic Sans MS"/>
              </a:endParaRPr>
            </a:p>
          </p:txBody>
        </p:sp>
      </p:grpSp>
      <p:grpSp>
        <p:nvGrpSpPr>
          <p:cNvPr id="1784" name="Google Shape;1784;p25"/>
          <p:cNvGrpSpPr/>
          <p:nvPr/>
        </p:nvGrpSpPr>
        <p:grpSpPr>
          <a:xfrm>
            <a:off x="9046441" y="1873938"/>
            <a:ext cx="788674" cy="559230"/>
            <a:chOff x="4417" y="878"/>
            <a:chExt cx="617" cy="466"/>
          </a:xfrm>
        </p:grpSpPr>
        <p:pic>
          <p:nvPicPr>
            <p:cNvPr descr="laptop_keyboard" id="1785" name="Google Shape;1785;p25"/>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1786" name="Google Shape;1786;p25"/>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pic>
          <p:nvPicPr>
            <p:cNvPr descr="screen" id="1787" name="Google Shape;1787;p25"/>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1788" name="Google Shape;1788;p25"/>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89" name="Google Shape;1789;p25"/>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90" name="Google Shape;1790;p25"/>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91" name="Google Shape;1791;p25"/>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92" name="Google Shape;1792;p25"/>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93" name="Google Shape;1793;p25"/>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794" name="Google Shape;1794;p25"/>
            <p:cNvGrpSpPr/>
            <p:nvPr/>
          </p:nvGrpSpPr>
          <p:grpSpPr>
            <a:xfrm>
              <a:off x="4584" y="1203"/>
              <a:ext cx="119" cy="53"/>
              <a:chOff x="1740" y="2642"/>
              <a:chExt cx="752" cy="327"/>
            </a:xfrm>
          </p:grpSpPr>
          <p:sp>
            <p:nvSpPr>
              <p:cNvPr id="1795" name="Google Shape;1795;p2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96" name="Google Shape;1796;p2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97" name="Google Shape;1797;p2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98" name="Google Shape;1798;p2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799" name="Google Shape;1799;p2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00" name="Google Shape;1800;p2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1801" name="Google Shape;1801;p25"/>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02" name="Google Shape;1802;p25"/>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03" name="Google Shape;1803;p25"/>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04" name="Google Shape;1804;p25"/>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05" name="Google Shape;1805;p25"/>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06" name="Google Shape;1806;p25"/>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807" name="Google Shape;1807;p25"/>
          <p:cNvGrpSpPr/>
          <p:nvPr/>
        </p:nvGrpSpPr>
        <p:grpSpPr>
          <a:xfrm>
            <a:off x="4474127" y="1683438"/>
            <a:ext cx="334963" cy="536575"/>
            <a:chOff x="4140" y="429"/>
            <a:chExt cx="1425" cy="2396"/>
          </a:xfrm>
        </p:grpSpPr>
        <p:sp>
          <p:nvSpPr>
            <p:cNvPr id="1808" name="Google Shape;1808;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09" name="Google Shape;1809;p25"/>
            <p:cNvSpPr/>
            <p:nvPr/>
          </p:nvSpPr>
          <p:spPr>
            <a:xfrm>
              <a:off x="4208" y="429"/>
              <a:ext cx="1047"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10" name="Google Shape;1810;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11" name="Google Shape;1811;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12" name="Google Shape;1812;p25"/>
            <p:cNvSpPr/>
            <p:nvPr/>
          </p:nvSpPr>
          <p:spPr>
            <a:xfrm>
              <a:off x="4214" y="691"/>
              <a:ext cx="594" cy="50"/>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grpSp>
          <p:nvGrpSpPr>
            <p:cNvPr id="1813" name="Google Shape;1813;p25"/>
            <p:cNvGrpSpPr/>
            <p:nvPr/>
          </p:nvGrpSpPr>
          <p:grpSpPr>
            <a:xfrm>
              <a:off x="4748" y="670"/>
              <a:ext cx="581" cy="142"/>
              <a:chOff x="613" y="2570"/>
              <a:chExt cx="725" cy="136"/>
            </a:xfrm>
          </p:grpSpPr>
          <p:sp>
            <p:nvSpPr>
              <p:cNvPr id="1814" name="Google Shape;1814;p25"/>
              <p:cNvSpPr/>
              <p:nvPr/>
            </p:nvSpPr>
            <p:spPr>
              <a:xfrm>
                <a:off x="613" y="2570"/>
                <a:ext cx="725"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15" name="Google Shape;1815;p25"/>
              <p:cNvSpPr/>
              <p:nvPr/>
            </p:nvSpPr>
            <p:spPr>
              <a:xfrm>
                <a:off x="629" y="2584"/>
                <a:ext cx="691"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grpSp>
        <p:sp>
          <p:nvSpPr>
            <p:cNvPr id="1816" name="Google Shape;1816;p25"/>
            <p:cNvSpPr/>
            <p:nvPr/>
          </p:nvSpPr>
          <p:spPr>
            <a:xfrm>
              <a:off x="4221" y="1017"/>
              <a:ext cx="601" cy="50"/>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grpSp>
          <p:nvGrpSpPr>
            <p:cNvPr id="1817" name="Google Shape;1817;p25"/>
            <p:cNvGrpSpPr/>
            <p:nvPr/>
          </p:nvGrpSpPr>
          <p:grpSpPr>
            <a:xfrm>
              <a:off x="4748" y="996"/>
              <a:ext cx="581" cy="135"/>
              <a:chOff x="615" y="2570"/>
              <a:chExt cx="725" cy="140"/>
            </a:xfrm>
          </p:grpSpPr>
          <p:sp>
            <p:nvSpPr>
              <p:cNvPr id="1818" name="Google Shape;1818;p25"/>
              <p:cNvSpPr/>
              <p:nvPr/>
            </p:nvSpPr>
            <p:spPr>
              <a:xfrm>
                <a:off x="615" y="2570"/>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19" name="Google Shape;1819;p25"/>
              <p:cNvSpPr/>
              <p:nvPr/>
            </p:nvSpPr>
            <p:spPr>
              <a:xfrm>
                <a:off x="632" y="2585"/>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grpSp>
        <p:sp>
          <p:nvSpPr>
            <p:cNvPr id="1820" name="Google Shape;1820;p25"/>
            <p:cNvSpPr/>
            <p:nvPr/>
          </p:nvSpPr>
          <p:spPr>
            <a:xfrm>
              <a:off x="4214" y="1358"/>
              <a:ext cx="601" cy="50"/>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21" name="Google Shape;1821;p25"/>
            <p:cNvSpPr/>
            <p:nvPr/>
          </p:nvSpPr>
          <p:spPr>
            <a:xfrm>
              <a:off x="4228" y="1655"/>
              <a:ext cx="594" cy="50"/>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grpSp>
          <p:nvGrpSpPr>
            <p:cNvPr id="1822" name="Google Shape;1822;p25"/>
            <p:cNvGrpSpPr/>
            <p:nvPr/>
          </p:nvGrpSpPr>
          <p:grpSpPr>
            <a:xfrm>
              <a:off x="4734" y="1627"/>
              <a:ext cx="581" cy="149"/>
              <a:chOff x="613" y="2568"/>
              <a:chExt cx="724" cy="137"/>
            </a:xfrm>
          </p:grpSpPr>
          <p:sp>
            <p:nvSpPr>
              <p:cNvPr id="1823" name="Google Shape;1823;p25"/>
              <p:cNvSpPr/>
              <p:nvPr/>
            </p:nvSpPr>
            <p:spPr>
              <a:xfrm>
                <a:off x="613" y="2568"/>
                <a:ext cx="724"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24" name="Google Shape;1824;p25"/>
              <p:cNvSpPr/>
              <p:nvPr/>
            </p:nvSpPr>
            <p:spPr>
              <a:xfrm>
                <a:off x="630" y="2581"/>
                <a:ext cx="690"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grpSp>
        <p:sp>
          <p:nvSpPr>
            <p:cNvPr id="1825" name="Google Shape;1825;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826" name="Google Shape;1826;p25"/>
            <p:cNvGrpSpPr/>
            <p:nvPr/>
          </p:nvGrpSpPr>
          <p:grpSpPr>
            <a:xfrm>
              <a:off x="4741" y="1329"/>
              <a:ext cx="581" cy="135"/>
              <a:chOff x="617" y="2570"/>
              <a:chExt cx="724" cy="135"/>
            </a:xfrm>
          </p:grpSpPr>
          <p:sp>
            <p:nvSpPr>
              <p:cNvPr id="1827" name="Google Shape;1827;p25"/>
              <p:cNvSpPr/>
              <p:nvPr/>
            </p:nvSpPr>
            <p:spPr>
              <a:xfrm>
                <a:off x="617" y="2570"/>
                <a:ext cx="724"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28" name="Google Shape;1828;p25"/>
              <p:cNvSpPr/>
              <p:nvPr/>
            </p:nvSpPr>
            <p:spPr>
              <a:xfrm>
                <a:off x="633" y="2584"/>
                <a:ext cx="690"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grpSp>
        <p:sp>
          <p:nvSpPr>
            <p:cNvPr id="1829" name="Google Shape;1829;p25"/>
            <p:cNvSpPr/>
            <p:nvPr/>
          </p:nvSpPr>
          <p:spPr>
            <a:xfrm>
              <a:off x="5248" y="429"/>
              <a:ext cx="68"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30" name="Google Shape;1830;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31" name="Google Shape;1831;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32" name="Google Shape;1832;p25"/>
            <p:cNvSpPr/>
            <p:nvPr/>
          </p:nvSpPr>
          <p:spPr>
            <a:xfrm>
              <a:off x="5518" y="2612"/>
              <a:ext cx="47"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33" name="Google Shape;1833;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34" name="Google Shape;1834;p25"/>
            <p:cNvSpPr/>
            <p:nvPr/>
          </p:nvSpPr>
          <p:spPr>
            <a:xfrm>
              <a:off x="4140" y="2676"/>
              <a:ext cx="1202"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35" name="Google Shape;1835;p25"/>
            <p:cNvSpPr/>
            <p:nvPr/>
          </p:nvSpPr>
          <p:spPr>
            <a:xfrm>
              <a:off x="4208" y="2712"/>
              <a:ext cx="1067"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36" name="Google Shape;1836;p25"/>
            <p:cNvSpPr/>
            <p:nvPr/>
          </p:nvSpPr>
          <p:spPr>
            <a:xfrm>
              <a:off x="4309" y="2385"/>
              <a:ext cx="155"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37" name="Google Shape;1837;p25"/>
            <p:cNvSpPr/>
            <p:nvPr/>
          </p:nvSpPr>
          <p:spPr>
            <a:xfrm>
              <a:off x="4484" y="2385"/>
              <a:ext cx="162"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FF0000"/>
                </a:solidFill>
                <a:latin typeface="Tahoma"/>
                <a:ea typeface="Tahoma"/>
                <a:cs typeface="Tahoma"/>
                <a:sym typeface="Tahoma"/>
              </a:endParaRPr>
            </a:p>
          </p:txBody>
        </p:sp>
        <p:sp>
          <p:nvSpPr>
            <p:cNvPr id="1838" name="Google Shape;1838;p25"/>
            <p:cNvSpPr/>
            <p:nvPr/>
          </p:nvSpPr>
          <p:spPr>
            <a:xfrm>
              <a:off x="4660" y="2378"/>
              <a:ext cx="162"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39" name="Google Shape;1839;p25"/>
            <p:cNvSpPr/>
            <p:nvPr/>
          </p:nvSpPr>
          <p:spPr>
            <a:xfrm>
              <a:off x="5065" y="1833"/>
              <a:ext cx="81" cy="766"/>
            </a:xfrm>
            <a:prstGeom prst="rect">
              <a:avLst/>
            </a:prstGeom>
            <a:solidFill>
              <a:srgbClr val="292929"/>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grpSp>
      <p:grpSp>
        <p:nvGrpSpPr>
          <p:cNvPr id="1840" name="Google Shape;1840;p25"/>
          <p:cNvGrpSpPr/>
          <p:nvPr/>
        </p:nvGrpSpPr>
        <p:grpSpPr>
          <a:xfrm>
            <a:off x="6261653" y="1756463"/>
            <a:ext cx="2540000" cy="733425"/>
            <a:chOff x="7333086" y="2736938"/>
            <a:chExt cx="2539755" cy="733428"/>
          </a:xfrm>
        </p:grpSpPr>
        <p:sp>
          <p:nvSpPr>
            <p:cNvPr id="1841" name="Google Shape;1841;p25"/>
            <p:cNvSpPr/>
            <p:nvPr/>
          </p:nvSpPr>
          <p:spPr>
            <a:xfrm>
              <a:off x="7333086" y="2736938"/>
              <a:ext cx="2521866" cy="73342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42" name="Google Shape;1842;p25"/>
            <p:cNvSpPr txBox="1"/>
            <p:nvPr/>
          </p:nvSpPr>
          <p:spPr>
            <a:xfrm>
              <a:off x="7344918" y="2797391"/>
              <a:ext cx="2527923" cy="58477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FF0000"/>
                  </a:solidFill>
                  <a:latin typeface="Tahoma"/>
                  <a:ea typeface="Tahoma"/>
                  <a:cs typeface="Tahoma"/>
                  <a:sym typeface="Tahoma"/>
                </a:rPr>
                <a:t>Broadcast: is there a DHCP server out there?</a:t>
              </a:r>
              <a:endParaRPr/>
            </a:p>
          </p:txBody>
        </p:sp>
      </p:grpSp>
      <p:grpSp>
        <p:nvGrpSpPr>
          <p:cNvPr id="1843" name="Google Shape;1843;p25"/>
          <p:cNvGrpSpPr/>
          <p:nvPr/>
        </p:nvGrpSpPr>
        <p:grpSpPr>
          <a:xfrm>
            <a:off x="6441502" y="2979300"/>
            <a:ext cx="2528888" cy="884237"/>
            <a:chOff x="9144000" y="3229217"/>
            <a:chExt cx="2527923" cy="885135"/>
          </a:xfrm>
        </p:grpSpPr>
        <p:sp>
          <p:nvSpPr>
            <p:cNvPr id="1844" name="Google Shape;1844;p25"/>
            <p:cNvSpPr/>
            <p:nvPr/>
          </p:nvSpPr>
          <p:spPr>
            <a:xfrm>
              <a:off x="9144000" y="3229217"/>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45" name="Google Shape;1845;p25"/>
            <p:cNvSpPr txBox="1"/>
            <p:nvPr/>
          </p:nvSpPr>
          <p:spPr>
            <a:xfrm>
              <a:off x="9144000" y="3271783"/>
              <a:ext cx="2527923"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FF0000"/>
                  </a:solidFill>
                  <a:latin typeface="Tahoma"/>
                  <a:ea typeface="Tahoma"/>
                  <a:cs typeface="Tahoma"/>
                  <a:sym typeface="Tahoma"/>
                </a:rPr>
                <a:t>Broadcast: I’m a DHCP server! Here’s an IP address you can use </a:t>
              </a:r>
              <a:endParaRPr/>
            </a:p>
          </p:txBody>
        </p:sp>
      </p:grpSp>
      <p:grpSp>
        <p:nvGrpSpPr>
          <p:cNvPr id="1846" name="Google Shape;1846;p25"/>
          <p:cNvGrpSpPr/>
          <p:nvPr/>
        </p:nvGrpSpPr>
        <p:grpSpPr>
          <a:xfrm>
            <a:off x="4900288" y="4175353"/>
            <a:ext cx="2625219" cy="884237"/>
            <a:chOff x="8858631" y="4615923"/>
            <a:chExt cx="2625866" cy="885135"/>
          </a:xfrm>
        </p:grpSpPr>
        <p:sp>
          <p:nvSpPr>
            <p:cNvPr id="1847" name="Google Shape;1847;p25"/>
            <p:cNvSpPr/>
            <p:nvPr/>
          </p:nvSpPr>
          <p:spPr>
            <a:xfrm>
              <a:off x="8956574" y="4615923"/>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48" name="Google Shape;1848;p25"/>
            <p:cNvSpPr txBox="1"/>
            <p:nvPr/>
          </p:nvSpPr>
          <p:spPr>
            <a:xfrm>
              <a:off x="8858631" y="4765817"/>
              <a:ext cx="2625866" cy="5853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FF0000"/>
                  </a:solidFill>
                  <a:latin typeface="Tahoma"/>
                  <a:ea typeface="Tahoma"/>
                  <a:cs typeface="Tahoma"/>
                  <a:sym typeface="Tahoma"/>
                </a:rPr>
                <a:t>Broadcast: OK.  I would like to use this IP address!</a:t>
              </a:r>
              <a:endParaRPr/>
            </a:p>
          </p:txBody>
        </p:sp>
      </p:grpSp>
      <p:grpSp>
        <p:nvGrpSpPr>
          <p:cNvPr id="1849" name="Google Shape;1849;p25"/>
          <p:cNvGrpSpPr/>
          <p:nvPr/>
        </p:nvGrpSpPr>
        <p:grpSpPr>
          <a:xfrm>
            <a:off x="6424038" y="5588022"/>
            <a:ext cx="2528887" cy="885825"/>
            <a:chOff x="9144000" y="5555417"/>
            <a:chExt cx="2527923" cy="885135"/>
          </a:xfrm>
        </p:grpSpPr>
        <p:sp>
          <p:nvSpPr>
            <p:cNvPr id="1850" name="Google Shape;1850;p25"/>
            <p:cNvSpPr/>
            <p:nvPr/>
          </p:nvSpPr>
          <p:spPr>
            <a:xfrm>
              <a:off x="9144000" y="5555417"/>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000000"/>
                </a:solidFill>
                <a:latin typeface="Tahoma"/>
                <a:ea typeface="Tahoma"/>
                <a:cs typeface="Tahoma"/>
                <a:sym typeface="Tahoma"/>
              </a:endParaRPr>
            </a:p>
          </p:txBody>
        </p:sp>
        <p:sp>
          <p:nvSpPr>
            <p:cNvPr id="1851" name="Google Shape;1851;p25"/>
            <p:cNvSpPr txBox="1"/>
            <p:nvPr/>
          </p:nvSpPr>
          <p:spPr>
            <a:xfrm>
              <a:off x="9144000" y="5705311"/>
              <a:ext cx="2527923" cy="58477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FF0000"/>
                  </a:solidFill>
                  <a:latin typeface="Tahoma"/>
                  <a:ea typeface="Tahoma"/>
                  <a:cs typeface="Tahoma"/>
                  <a:sym typeface="Tahoma"/>
                </a:rPr>
                <a:t>Broadcast: OK.  You’ve got that IP address!</a:t>
              </a:r>
              <a:endParaRPr/>
            </a:p>
          </p:txBody>
        </p:sp>
      </p:grpSp>
      <p:sp>
        <p:nvSpPr>
          <p:cNvPr id="1852" name="Google Shape;1852;p25"/>
          <p:cNvSpPr txBox="1"/>
          <p:nvPr/>
        </p:nvSpPr>
        <p:spPr>
          <a:xfrm>
            <a:off x="9296400" y="3522133"/>
            <a:ext cx="2455333"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The two steps above can be skipped “if a client remembers and wishes to reuse a previously allocated network address” </a:t>
            </a:r>
            <a:r>
              <a:rPr b="0" i="0" lang="en-US" sz="1400" u="none" cap="none" strike="noStrike">
                <a:solidFill>
                  <a:srgbClr val="000000"/>
                </a:solidFill>
                <a:latin typeface="Calibri"/>
                <a:ea typeface="Calibri"/>
                <a:cs typeface="Calibri"/>
                <a:sym typeface="Calibri"/>
              </a:rPr>
              <a:t>[RFC 2131]</a:t>
            </a:r>
            <a:endParaRPr b="0" i="0" sz="1600" u="none" cap="none" strike="noStrike">
              <a:solidFill>
                <a:srgbClr val="000000"/>
              </a:solidFill>
              <a:latin typeface="Calibri"/>
              <a:ea typeface="Calibri"/>
              <a:cs typeface="Calibri"/>
              <a:sym typeface="Calibri"/>
            </a:endParaRPr>
          </a:p>
        </p:txBody>
      </p:sp>
      <p:sp>
        <p:nvSpPr>
          <p:cNvPr id="1853" name="Google Shape;1853;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7"/>
                                        </p:tgtEl>
                                        <p:attrNameLst>
                                          <p:attrName>style.visibility</p:attrName>
                                        </p:attrNameLst>
                                      </p:cBhvr>
                                      <p:to>
                                        <p:strVal val="visible"/>
                                      </p:to>
                                    </p:set>
                                    <p:animEffect filter="fade" transition="in">
                                      <p:cBhvr>
                                        <p:cTn dur="500"/>
                                        <p:tgtEl>
                                          <p:spTgt spid="1767"/>
                                        </p:tgtEl>
                                      </p:cBhvr>
                                    </p:animEffect>
                                  </p:childTnLst>
                                </p:cTn>
                              </p:par>
                              <p:par>
                                <p:cTn fill="hold" nodeType="withEffect" presetClass="entr" presetID="10" presetSubtype="0">
                                  <p:stCondLst>
                                    <p:cond delay="0"/>
                                  </p:stCondLst>
                                  <p:childTnLst>
                                    <p:set>
                                      <p:cBhvr>
                                        <p:cTn dur="1" fill="hold">
                                          <p:stCondLst>
                                            <p:cond delay="0"/>
                                          </p:stCondLst>
                                        </p:cTn>
                                        <p:tgtEl>
                                          <p:spTgt spid="1840"/>
                                        </p:tgtEl>
                                        <p:attrNameLst>
                                          <p:attrName>style.visibility</p:attrName>
                                        </p:attrNameLst>
                                      </p:cBhvr>
                                      <p:to>
                                        <p:strVal val="visible"/>
                                      </p:to>
                                    </p:set>
                                    <p:animEffect filter="fade" transition="in">
                                      <p:cBhvr>
                                        <p:cTn dur="500"/>
                                        <p:tgtEl>
                                          <p:spTgt spid="18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40"/>
                                        </p:tgtEl>
                                      </p:cBhvr>
                                    </p:animEffect>
                                    <p:set>
                                      <p:cBhvr>
                                        <p:cTn dur="1" fill="hold">
                                          <p:stCondLst>
                                            <p:cond delay="500"/>
                                          </p:stCondLst>
                                        </p:cTn>
                                        <p:tgtEl>
                                          <p:spTgt spid="18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3"/>
                                        </p:tgtEl>
                                        <p:attrNameLst>
                                          <p:attrName>style.visibility</p:attrName>
                                        </p:attrNameLst>
                                      </p:cBhvr>
                                      <p:to>
                                        <p:strVal val="visible"/>
                                      </p:to>
                                    </p:set>
                                    <p:animEffect filter="fade" transition="in">
                                      <p:cBhvr>
                                        <p:cTn dur="500"/>
                                        <p:tgtEl>
                                          <p:spTgt spid="1773"/>
                                        </p:tgtEl>
                                      </p:cBhvr>
                                    </p:animEffect>
                                  </p:childTnLst>
                                </p:cTn>
                              </p:par>
                              <p:par>
                                <p:cTn fill="hold" nodeType="withEffect" presetClass="entr" presetID="10" presetSubtype="0">
                                  <p:stCondLst>
                                    <p:cond delay="0"/>
                                  </p:stCondLst>
                                  <p:childTnLst>
                                    <p:set>
                                      <p:cBhvr>
                                        <p:cTn dur="1" fill="hold">
                                          <p:stCondLst>
                                            <p:cond delay="0"/>
                                          </p:stCondLst>
                                        </p:cTn>
                                        <p:tgtEl>
                                          <p:spTgt spid="1772"/>
                                        </p:tgtEl>
                                        <p:attrNameLst>
                                          <p:attrName>style.visibility</p:attrName>
                                        </p:attrNameLst>
                                      </p:cBhvr>
                                      <p:to>
                                        <p:strVal val="visible"/>
                                      </p:to>
                                    </p:set>
                                    <p:animEffect filter="fade" transition="in">
                                      <p:cBhvr>
                                        <p:cTn dur="500"/>
                                        <p:tgtEl>
                                          <p:spTgt spid="1772"/>
                                        </p:tgtEl>
                                      </p:cBhvr>
                                    </p:animEffect>
                                  </p:childTnLst>
                                </p:cTn>
                              </p:par>
                              <p:par>
                                <p:cTn fill="hold" nodeType="withEffect" presetClass="entr" presetID="10" presetSubtype="0">
                                  <p:stCondLst>
                                    <p:cond delay="0"/>
                                  </p:stCondLst>
                                  <p:childTnLst>
                                    <p:set>
                                      <p:cBhvr>
                                        <p:cTn dur="1" fill="hold">
                                          <p:stCondLst>
                                            <p:cond delay="0"/>
                                          </p:stCondLst>
                                        </p:cTn>
                                        <p:tgtEl>
                                          <p:spTgt spid="1843"/>
                                        </p:tgtEl>
                                        <p:attrNameLst>
                                          <p:attrName>style.visibility</p:attrName>
                                        </p:attrNameLst>
                                      </p:cBhvr>
                                      <p:to>
                                        <p:strVal val="visible"/>
                                      </p:to>
                                    </p:set>
                                    <p:animEffect filter="fade" transition="in">
                                      <p:cBhvr>
                                        <p:cTn dur="500"/>
                                        <p:tgtEl>
                                          <p:spTgt spid="18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43"/>
                                        </p:tgtEl>
                                      </p:cBhvr>
                                    </p:animEffect>
                                    <p:set>
                                      <p:cBhvr>
                                        <p:cTn dur="1" fill="hold">
                                          <p:stCondLst>
                                            <p:cond delay="500"/>
                                          </p:stCondLst>
                                        </p:cTn>
                                        <p:tgtEl>
                                          <p:spTgt spid="18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2"/>
                                        </p:tgtEl>
                                        <p:attrNameLst>
                                          <p:attrName>style.visibility</p:attrName>
                                        </p:attrNameLst>
                                      </p:cBhvr>
                                      <p:to>
                                        <p:strVal val="visible"/>
                                      </p:to>
                                    </p:set>
                                    <p:animEffect filter="fade" transition="in">
                                      <p:cBhvr>
                                        <p:cTn dur="500"/>
                                        <p:tgtEl>
                                          <p:spTgt spid="1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7"/>
                                        </p:tgtEl>
                                        <p:attrNameLst>
                                          <p:attrName>style.visibility</p:attrName>
                                        </p:attrNameLst>
                                      </p:cBhvr>
                                      <p:to>
                                        <p:strVal val="visible"/>
                                      </p:to>
                                    </p:set>
                                    <p:animEffect filter="fade" transition="in">
                                      <p:cBhvr>
                                        <p:cTn dur="500"/>
                                        <p:tgtEl>
                                          <p:spTgt spid="1777"/>
                                        </p:tgtEl>
                                      </p:cBhvr>
                                    </p:animEffect>
                                  </p:childTnLst>
                                </p:cTn>
                              </p:par>
                              <p:par>
                                <p:cTn fill="hold" nodeType="withEffect" presetClass="exit" presetID="10" presetSubtype="0">
                                  <p:stCondLst>
                                    <p:cond delay="0"/>
                                  </p:stCondLst>
                                  <p:childTnLst>
                                    <p:animEffect filter="fade" transition="out">
                                      <p:cBhvr>
                                        <p:cTn dur="500"/>
                                        <p:tgtEl>
                                          <p:spTgt spid="1852"/>
                                        </p:tgtEl>
                                      </p:cBhvr>
                                    </p:animEffect>
                                    <p:set>
                                      <p:cBhvr>
                                        <p:cTn dur="1" fill="hold">
                                          <p:stCondLst>
                                            <p:cond delay="500"/>
                                          </p:stCondLst>
                                        </p:cTn>
                                        <p:tgtEl>
                                          <p:spTgt spid="185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776"/>
                                        </p:tgtEl>
                                        <p:attrNameLst>
                                          <p:attrName>style.visibility</p:attrName>
                                        </p:attrNameLst>
                                      </p:cBhvr>
                                      <p:to>
                                        <p:strVal val="visible"/>
                                      </p:to>
                                    </p:set>
                                    <p:animEffect filter="fade" transition="in">
                                      <p:cBhvr>
                                        <p:cTn dur="500"/>
                                        <p:tgtEl>
                                          <p:spTgt spid="1776"/>
                                        </p:tgtEl>
                                      </p:cBhvr>
                                    </p:animEffect>
                                  </p:childTnLst>
                                </p:cTn>
                              </p:par>
                              <p:par>
                                <p:cTn fill="hold" nodeType="withEffect" presetClass="entr" presetID="10" presetSubtype="0">
                                  <p:stCondLst>
                                    <p:cond delay="0"/>
                                  </p:stCondLst>
                                  <p:childTnLst>
                                    <p:set>
                                      <p:cBhvr>
                                        <p:cTn dur="1" fill="hold">
                                          <p:stCondLst>
                                            <p:cond delay="0"/>
                                          </p:stCondLst>
                                        </p:cTn>
                                        <p:tgtEl>
                                          <p:spTgt spid="1846"/>
                                        </p:tgtEl>
                                        <p:attrNameLst>
                                          <p:attrName>style.visibility</p:attrName>
                                        </p:attrNameLst>
                                      </p:cBhvr>
                                      <p:to>
                                        <p:strVal val="visible"/>
                                      </p:to>
                                    </p:set>
                                    <p:animEffect filter="fade" transition="in">
                                      <p:cBhvr>
                                        <p:cTn dur="500"/>
                                        <p:tgtEl>
                                          <p:spTgt spid="1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46"/>
                                        </p:tgtEl>
                                      </p:cBhvr>
                                    </p:animEffect>
                                    <p:set>
                                      <p:cBhvr>
                                        <p:cTn dur="1" fill="hold">
                                          <p:stCondLst>
                                            <p:cond delay="500"/>
                                          </p:stCondLst>
                                        </p:cTn>
                                        <p:tgtEl>
                                          <p:spTgt spid="18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1"/>
                                        </p:tgtEl>
                                        <p:attrNameLst>
                                          <p:attrName>style.visibility</p:attrName>
                                        </p:attrNameLst>
                                      </p:cBhvr>
                                      <p:to>
                                        <p:strVal val="visible"/>
                                      </p:to>
                                    </p:set>
                                    <p:animEffect filter="fade" transition="in">
                                      <p:cBhvr>
                                        <p:cTn dur="500"/>
                                        <p:tgtEl>
                                          <p:spTgt spid="1781"/>
                                        </p:tgtEl>
                                      </p:cBhvr>
                                    </p:animEffect>
                                  </p:childTnLst>
                                </p:cTn>
                              </p:par>
                              <p:par>
                                <p:cTn fill="hold" nodeType="withEffect" presetClass="entr" presetID="10" presetSubtype="0">
                                  <p:stCondLst>
                                    <p:cond delay="0"/>
                                  </p:stCondLst>
                                  <p:childTnLst>
                                    <p:set>
                                      <p:cBhvr>
                                        <p:cTn dur="1" fill="hold">
                                          <p:stCondLst>
                                            <p:cond delay="0"/>
                                          </p:stCondLst>
                                        </p:cTn>
                                        <p:tgtEl>
                                          <p:spTgt spid="1780"/>
                                        </p:tgtEl>
                                        <p:attrNameLst>
                                          <p:attrName>style.visibility</p:attrName>
                                        </p:attrNameLst>
                                      </p:cBhvr>
                                      <p:to>
                                        <p:strVal val="visible"/>
                                      </p:to>
                                    </p:set>
                                    <p:animEffect filter="fade" transition="in">
                                      <p:cBhvr>
                                        <p:cTn dur="500"/>
                                        <p:tgtEl>
                                          <p:spTgt spid="1780"/>
                                        </p:tgtEl>
                                      </p:cBhvr>
                                    </p:animEffect>
                                  </p:childTnLst>
                                </p:cTn>
                              </p:par>
                              <p:par>
                                <p:cTn fill="hold" nodeType="withEffect" presetClass="entr" presetID="10" presetSubtype="0">
                                  <p:stCondLst>
                                    <p:cond delay="0"/>
                                  </p:stCondLst>
                                  <p:childTnLst>
                                    <p:set>
                                      <p:cBhvr>
                                        <p:cTn dur="1" fill="hold">
                                          <p:stCondLst>
                                            <p:cond delay="0"/>
                                          </p:stCondLst>
                                        </p:cTn>
                                        <p:tgtEl>
                                          <p:spTgt spid="1849"/>
                                        </p:tgtEl>
                                        <p:attrNameLst>
                                          <p:attrName>style.visibility</p:attrName>
                                        </p:attrNameLst>
                                      </p:cBhvr>
                                      <p:to>
                                        <p:strVal val="visible"/>
                                      </p:to>
                                    </p:set>
                                    <p:animEffect filter="fade" transition="in">
                                      <p:cBhvr>
                                        <p:cTn dur="500"/>
                                        <p:tgtEl>
                                          <p:spTgt spid="1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49"/>
                                        </p:tgtEl>
                                      </p:cBhvr>
                                    </p:animEffect>
                                    <p:set>
                                      <p:cBhvr>
                                        <p:cTn dur="1" fill="hold">
                                          <p:stCondLst>
                                            <p:cond delay="500"/>
                                          </p:stCondLst>
                                        </p:cTn>
                                        <p:tgtEl>
                                          <p:spTgt spid="184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8" name="Shape 1858"/>
        <p:cNvGrpSpPr/>
        <p:nvPr/>
      </p:nvGrpSpPr>
      <p:grpSpPr>
        <a:xfrm>
          <a:off x="0" y="0"/>
          <a:ext cx="0" cy="0"/>
          <a:chOff x="0" y="0"/>
          <a:chExt cx="0" cy="0"/>
        </a:xfrm>
      </p:grpSpPr>
      <p:sp>
        <p:nvSpPr>
          <p:cNvPr id="1859" name="Google Shape;1859;p2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more than IP addresses</a:t>
            </a:r>
            <a:endParaRPr/>
          </a:p>
        </p:txBody>
      </p:sp>
      <p:sp>
        <p:nvSpPr>
          <p:cNvPr id="1860" name="Google Shape;1860;p26"/>
          <p:cNvSpPr txBox="1"/>
          <p:nvPr/>
        </p:nvSpPr>
        <p:spPr>
          <a:xfrm>
            <a:off x="895974" y="1369673"/>
            <a:ext cx="10751383" cy="439502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DHCP can return more than just allocated IP address on subnet:</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address of first-hop router for client</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name and IP address of DNS sever</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network mask (indicating network versus host portion of address)</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1861" name="Google Shape;1861;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6" name="Shape 1866"/>
        <p:cNvGrpSpPr/>
        <p:nvPr/>
      </p:nvGrpSpPr>
      <p:grpSpPr>
        <a:xfrm>
          <a:off x="0" y="0"/>
          <a:ext cx="0" cy="0"/>
          <a:chOff x="0" y="0"/>
          <a:chExt cx="0" cy="0"/>
        </a:xfrm>
      </p:grpSpPr>
      <p:sp>
        <p:nvSpPr>
          <p:cNvPr id="1867" name="Google Shape;1867;p27"/>
          <p:cNvSpPr/>
          <p:nvPr/>
        </p:nvSpPr>
        <p:spPr>
          <a:xfrm>
            <a:off x="1867395" y="18184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868" name="Google Shape;1868;p27"/>
          <p:cNvGrpSpPr/>
          <p:nvPr/>
        </p:nvGrpSpPr>
        <p:grpSpPr>
          <a:xfrm>
            <a:off x="3772175" y="3890885"/>
            <a:ext cx="1040553" cy="431082"/>
            <a:chOff x="7493876" y="2774731"/>
            <a:chExt cx="1481958" cy="894622"/>
          </a:xfrm>
        </p:grpSpPr>
        <p:sp>
          <p:nvSpPr>
            <p:cNvPr id="1869" name="Google Shape;1869;p2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1870" name="Google Shape;1870;p2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1871" name="Google Shape;1871;p27"/>
            <p:cNvGrpSpPr/>
            <p:nvPr/>
          </p:nvGrpSpPr>
          <p:grpSpPr>
            <a:xfrm>
              <a:off x="7713663" y="2848339"/>
              <a:ext cx="1042107" cy="425543"/>
              <a:chOff x="7786941" y="2884917"/>
              <a:chExt cx="897649" cy="353919"/>
            </a:xfrm>
          </p:grpSpPr>
          <p:sp>
            <p:nvSpPr>
              <p:cNvPr id="1872" name="Google Shape;1872;p2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3" name="Google Shape;1873;p2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4" name="Google Shape;1874;p2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5" name="Google Shape;1875;p2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1876" name="Google Shape;1876;p27"/>
          <p:cNvGrpSpPr/>
          <p:nvPr/>
        </p:nvGrpSpPr>
        <p:grpSpPr>
          <a:xfrm>
            <a:off x="4283172" y="2940116"/>
            <a:ext cx="918415" cy="390629"/>
            <a:chOff x="3668110" y="2448910"/>
            <a:chExt cx="3794234" cy="2165130"/>
          </a:xfrm>
        </p:grpSpPr>
        <p:sp>
          <p:nvSpPr>
            <p:cNvPr id="1877" name="Google Shape;1877;p2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8" name="Google Shape;1878;p2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1879" name="Google Shape;1879;p27"/>
            <p:cNvGrpSpPr/>
            <p:nvPr/>
          </p:nvGrpSpPr>
          <p:grpSpPr>
            <a:xfrm>
              <a:off x="3941378" y="2603243"/>
              <a:ext cx="3202061" cy="1066110"/>
              <a:chOff x="7939341" y="3037317"/>
              <a:chExt cx="897649" cy="353919"/>
            </a:xfrm>
          </p:grpSpPr>
          <p:sp>
            <p:nvSpPr>
              <p:cNvPr id="1880" name="Google Shape;1880;p2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81" name="Google Shape;1881;p2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82" name="Google Shape;1882;p2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83" name="Google Shape;1883;p2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cxnSp>
        <p:nvCxnSpPr>
          <p:cNvPr id="1884" name="Google Shape;1884;p27"/>
          <p:cNvCxnSpPr/>
          <p:nvPr/>
        </p:nvCxnSpPr>
        <p:spPr>
          <a:xfrm flipH="1" rot="10800000">
            <a:off x="4391025" y="3324223"/>
            <a:ext cx="460375" cy="571501"/>
          </a:xfrm>
          <a:prstGeom prst="straightConnector1">
            <a:avLst/>
          </a:prstGeom>
          <a:noFill/>
          <a:ln cap="flat" cmpd="sng" w="9525">
            <a:solidFill>
              <a:srgbClr val="000000"/>
            </a:solidFill>
            <a:prstDash val="solid"/>
            <a:round/>
            <a:headEnd len="med" w="med" type="none"/>
            <a:tailEnd len="med" w="med" type="none"/>
          </a:ln>
        </p:spPr>
      </p:cxnSp>
      <p:sp>
        <p:nvSpPr>
          <p:cNvPr id="1885" name="Google Shape;1885;p2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example</a:t>
            </a:r>
            <a:endParaRPr/>
          </a:p>
        </p:txBody>
      </p:sp>
      <p:sp>
        <p:nvSpPr>
          <p:cNvPr id="1886" name="Google Shape;1886;p27"/>
          <p:cNvSpPr txBox="1"/>
          <p:nvPr/>
        </p:nvSpPr>
        <p:spPr>
          <a:xfrm>
            <a:off x="6131419" y="1674030"/>
            <a:ext cx="4751439" cy="1262062"/>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Connecting laptop will use DHCP to get IP address, address of first-hop router, address of DNS server.</a:t>
            </a:r>
            <a:endParaRPr/>
          </a:p>
        </p:txBody>
      </p:sp>
      <p:cxnSp>
        <p:nvCxnSpPr>
          <p:cNvPr id="1887" name="Google Shape;1887;p27"/>
          <p:cNvCxnSpPr/>
          <p:nvPr/>
        </p:nvCxnSpPr>
        <p:spPr>
          <a:xfrm flipH="1" rot="10800000">
            <a:off x="3759695" y="3062253"/>
            <a:ext cx="562325" cy="839"/>
          </a:xfrm>
          <a:prstGeom prst="straightConnector1">
            <a:avLst/>
          </a:prstGeom>
          <a:noFill/>
          <a:ln cap="flat" cmpd="sng" w="9525">
            <a:solidFill>
              <a:srgbClr val="000000"/>
            </a:solidFill>
            <a:prstDash val="solid"/>
            <a:round/>
            <a:headEnd len="med" w="med" type="none"/>
            <a:tailEnd len="med" w="med" type="none"/>
          </a:ln>
        </p:spPr>
      </p:cxnSp>
      <p:sp>
        <p:nvSpPr>
          <p:cNvPr id="1888" name="Google Shape;1888;p27"/>
          <p:cNvSpPr txBox="1"/>
          <p:nvPr/>
        </p:nvSpPr>
        <p:spPr>
          <a:xfrm>
            <a:off x="3656507" y="4356905"/>
            <a:ext cx="2025650" cy="915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000000"/>
                </a:solidFill>
                <a:latin typeface="Arial"/>
                <a:ea typeface="Arial"/>
                <a:cs typeface="Arial"/>
                <a:sym typeface="Arial"/>
              </a:rPr>
              <a:t>router with DHCP </a:t>
            </a:r>
            <a:endParaRPr/>
          </a:p>
          <a:p>
            <a:pPr indent="0" lvl="0" marL="0" marR="0" rtl="0" algn="l">
              <a:spcBef>
                <a:spcPts val="0"/>
              </a:spcBef>
              <a:spcAft>
                <a:spcPts val="0"/>
              </a:spcAft>
              <a:buNone/>
            </a:pPr>
            <a:r>
              <a:rPr b="0" i="1" lang="en-US" sz="1800" u="none" cap="none" strike="noStrike">
                <a:solidFill>
                  <a:srgbClr val="000000"/>
                </a:solidFill>
                <a:latin typeface="Arial"/>
                <a:ea typeface="Arial"/>
                <a:cs typeface="Arial"/>
                <a:sym typeface="Arial"/>
              </a:rPr>
              <a:t>server built into </a:t>
            </a:r>
            <a:endParaRPr/>
          </a:p>
          <a:p>
            <a:pPr indent="0" lvl="0" marL="0" marR="0" rtl="0" algn="l">
              <a:spcBef>
                <a:spcPts val="0"/>
              </a:spcBef>
              <a:spcAft>
                <a:spcPts val="0"/>
              </a:spcAft>
              <a:buNone/>
            </a:pPr>
            <a:r>
              <a:rPr b="0" i="1" lang="en-US" sz="1800" u="none" cap="none" strike="noStrike">
                <a:solidFill>
                  <a:srgbClr val="000000"/>
                </a:solidFill>
                <a:latin typeface="Arial"/>
                <a:ea typeface="Arial"/>
                <a:cs typeface="Arial"/>
                <a:sym typeface="Arial"/>
              </a:rPr>
              <a:t>router</a:t>
            </a:r>
            <a:endParaRPr/>
          </a:p>
        </p:txBody>
      </p:sp>
      <p:sp>
        <p:nvSpPr>
          <p:cNvPr id="1889" name="Google Shape;1889;p27"/>
          <p:cNvSpPr/>
          <p:nvPr/>
        </p:nvSpPr>
        <p:spPr>
          <a:xfrm>
            <a:off x="6131420" y="2964667"/>
            <a:ext cx="5406278" cy="1306513"/>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DHCP REQUEST message encapsulated in UDP, encapsulated in IP, encapsulated in Ethernet</a:t>
            </a:r>
            <a:endParaRPr/>
          </a:p>
        </p:txBody>
      </p:sp>
      <p:sp>
        <p:nvSpPr>
          <p:cNvPr id="1890" name="Google Shape;1890;p27"/>
          <p:cNvSpPr/>
          <p:nvPr/>
        </p:nvSpPr>
        <p:spPr>
          <a:xfrm>
            <a:off x="6150469" y="4210855"/>
            <a:ext cx="5450375" cy="1563687"/>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Ethernet frame broadcast (dest: </a:t>
            </a:r>
            <a:r>
              <a:rPr b="0" i="0" lang="en-US" sz="1800" u="none" cap="none" strike="noStrike">
                <a:solidFill>
                  <a:srgbClr val="000000"/>
                </a:solidFill>
                <a:latin typeface="Calibri"/>
                <a:ea typeface="Calibri"/>
                <a:cs typeface="Calibri"/>
                <a:sym typeface="Calibri"/>
              </a:rPr>
              <a:t>FFFFFFFFFFFF</a:t>
            </a:r>
            <a:r>
              <a:rPr b="0" i="0" lang="en-US" sz="2400" u="none" cap="none" strike="noStrike">
                <a:solidFill>
                  <a:srgbClr val="000000"/>
                </a:solidFill>
                <a:latin typeface="Calibri"/>
                <a:ea typeface="Calibri"/>
                <a:cs typeface="Calibri"/>
                <a:sym typeface="Calibri"/>
              </a:rPr>
              <a:t>) on LAN, received at router running DHCP server</a:t>
            </a:r>
            <a:endParaRPr/>
          </a:p>
        </p:txBody>
      </p:sp>
      <p:sp>
        <p:nvSpPr>
          <p:cNvPr id="1891" name="Google Shape;1891;p27"/>
          <p:cNvSpPr/>
          <p:nvPr/>
        </p:nvSpPr>
        <p:spPr>
          <a:xfrm>
            <a:off x="6128245" y="5547530"/>
            <a:ext cx="5280602" cy="1292225"/>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Ethernet de-mux’ed to IP de-mux’ed, UDP de-mux’ed to DHCP </a:t>
            </a:r>
            <a:endParaRPr/>
          </a:p>
        </p:txBody>
      </p:sp>
      <p:sp>
        <p:nvSpPr>
          <p:cNvPr id="1892" name="Google Shape;1892;p27"/>
          <p:cNvSpPr txBox="1"/>
          <p:nvPr/>
        </p:nvSpPr>
        <p:spPr>
          <a:xfrm>
            <a:off x="4421682" y="3674280"/>
            <a:ext cx="1047750" cy="5175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168.1.1.1</a:t>
            </a:r>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893" name="Google Shape;1893;p27"/>
          <p:cNvGrpSpPr/>
          <p:nvPr/>
        </p:nvGrpSpPr>
        <p:grpSpPr>
          <a:xfrm>
            <a:off x="3067479" y="2685267"/>
            <a:ext cx="855728" cy="627114"/>
            <a:chOff x="4417" y="878"/>
            <a:chExt cx="617" cy="466"/>
          </a:xfrm>
        </p:grpSpPr>
        <p:pic>
          <p:nvPicPr>
            <p:cNvPr descr="laptop_keyboard" id="1894" name="Google Shape;1894;p27"/>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1895" name="Google Shape;1895;p27"/>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pic>
          <p:nvPicPr>
            <p:cNvPr descr="screen" id="1896" name="Google Shape;1896;p27"/>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1897" name="Google Shape;1897;p27"/>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98" name="Google Shape;1898;p27"/>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899" name="Google Shape;1899;p27"/>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00" name="Google Shape;1900;p27"/>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01" name="Google Shape;1901;p27"/>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02" name="Google Shape;1902;p27"/>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903" name="Google Shape;1903;p27"/>
            <p:cNvGrpSpPr/>
            <p:nvPr/>
          </p:nvGrpSpPr>
          <p:grpSpPr>
            <a:xfrm>
              <a:off x="4584" y="1203"/>
              <a:ext cx="119" cy="53"/>
              <a:chOff x="1740" y="2642"/>
              <a:chExt cx="752" cy="327"/>
            </a:xfrm>
          </p:grpSpPr>
          <p:sp>
            <p:nvSpPr>
              <p:cNvPr id="1904" name="Google Shape;1904;p27"/>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05" name="Google Shape;1905;p27"/>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06" name="Google Shape;1906;p27"/>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07" name="Google Shape;1907;p27"/>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08" name="Google Shape;1908;p27"/>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09" name="Google Shape;1909;p27"/>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1910" name="Google Shape;1910;p27"/>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11" name="Google Shape;1911;p27"/>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12" name="Google Shape;1912;p27"/>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13" name="Google Shape;1913;p27"/>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14" name="Google Shape;1914;p27"/>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15" name="Google Shape;1915;p27"/>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1916" name="Google Shape;1916;p27"/>
          <p:cNvSpPr/>
          <p:nvPr/>
        </p:nvSpPr>
        <p:spPr>
          <a:xfrm>
            <a:off x="1924545" y="2812267"/>
            <a:ext cx="976312" cy="485775"/>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917" name="Google Shape;1917;p27"/>
          <p:cNvGrpSpPr/>
          <p:nvPr/>
        </p:nvGrpSpPr>
        <p:grpSpPr>
          <a:xfrm>
            <a:off x="2289670" y="1648630"/>
            <a:ext cx="976312" cy="1460500"/>
            <a:chOff x="651" y="681"/>
            <a:chExt cx="615" cy="920"/>
          </a:xfrm>
        </p:grpSpPr>
        <p:sp>
          <p:nvSpPr>
            <p:cNvPr id="1918" name="Google Shape;1918;p27"/>
            <p:cNvSpPr/>
            <p:nvPr/>
          </p:nvSpPr>
          <p:spPr>
            <a:xfrm>
              <a:off x="662" y="698"/>
              <a:ext cx="604" cy="903"/>
            </a:xfrm>
            <a:custGeom>
              <a:rect b="b" l="l" r="r" t="t"/>
              <a:pathLst>
                <a:path extrusionOk="0" h="903" w="604">
                  <a:moveTo>
                    <a:pt x="496" y="0"/>
                  </a:moveTo>
                  <a:lnTo>
                    <a:pt x="604" y="903"/>
                  </a:lnTo>
                  <a:lnTo>
                    <a:pt x="0" y="788"/>
                  </a:lnTo>
                  <a:lnTo>
                    <a:pt x="456" y="750"/>
                  </a:lnTo>
                  <a:lnTo>
                    <a:pt x="496" y="0"/>
                  </a:lnTo>
                  <a:close/>
                </a:path>
              </a:pathLst>
            </a:custGeom>
            <a:gradFill>
              <a:gsLst>
                <a:gs pos="0">
                  <a:srgbClr val="FFFFFF">
                    <a:alpha val="65882"/>
                  </a:srgbClr>
                </a:gs>
                <a:gs pos="100000">
                  <a:srgbClr val="000099">
                    <a:alpha val="67059"/>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919" name="Google Shape;1919;p27"/>
            <p:cNvGrpSpPr/>
            <p:nvPr/>
          </p:nvGrpSpPr>
          <p:grpSpPr>
            <a:xfrm>
              <a:off x="651" y="681"/>
              <a:ext cx="501" cy="828"/>
              <a:chOff x="569" y="2954"/>
              <a:chExt cx="501" cy="828"/>
            </a:xfrm>
          </p:grpSpPr>
          <p:sp>
            <p:nvSpPr>
              <p:cNvPr id="1920" name="Google Shape;1920;p27"/>
              <p:cNvSpPr/>
              <p:nvPr/>
            </p:nvSpPr>
            <p:spPr>
              <a:xfrm>
                <a:off x="576" y="2973"/>
                <a:ext cx="493" cy="790"/>
              </a:xfrm>
              <a:prstGeom prst="rect">
                <a:avLst/>
              </a:prstGeom>
              <a:solidFill>
                <a:srgbClr val="FFFFFF"/>
              </a:solidFill>
              <a:ln cap="flat" cmpd="sng" w="9525">
                <a:solidFill>
                  <a:srgbClr val="000000"/>
                </a:solidFill>
                <a:prstDash val="solid"/>
                <a:miter lim="8000"/>
                <a:headEnd len="sm" w="sm" type="none"/>
                <a:tailEnd len="sm" w="sm" type="none"/>
              </a:ln>
              <a:effectLst>
                <a:outerShdw blurRad="50800" rotWithShape="0" algn="bl" dir="18900000" dist="38100">
                  <a:schemeClr val="dk1">
                    <a:alpha val="40000"/>
                  </a:scheme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21" name="Google Shape;1921;p27"/>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DHCP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UDP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IP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Eth</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Phy</a:t>
                </a:r>
                <a:endParaRPr/>
              </a:p>
            </p:txBody>
          </p:sp>
          <p:cxnSp>
            <p:nvCxnSpPr>
              <p:cNvPr id="1922" name="Google Shape;1922;p27"/>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923" name="Google Shape;1923;p27"/>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924" name="Google Shape;1924;p27"/>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925" name="Google Shape;1925;p27"/>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926" name="Google Shape;1926;p27"/>
          <p:cNvGrpSpPr/>
          <p:nvPr/>
        </p:nvGrpSpPr>
        <p:grpSpPr>
          <a:xfrm>
            <a:off x="1614982" y="1707367"/>
            <a:ext cx="544513" cy="244475"/>
            <a:chOff x="844" y="3337"/>
            <a:chExt cx="343" cy="154"/>
          </a:xfrm>
        </p:grpSpPr>
        <p:sp>
          <p:nvSpPr>
            <p:cNvPr id="1927" name="Google Shape;1927;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28" name="Google Shape;1928;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1929" name="Google Shape;1929;p27"/>
          <p:cNvGrpSpPr/>
          <p:nvPr/>
        </p:nvGrpSpPr>
        <p:grpSpPr>
          <a:xfrm>
            <a:off x="1160957" y="1726417"/>
            <a:ext cx="1081088" cy="1166813"/>
            <a:chOff x="42" y="744"/>
            <a:chExt cx="681" cy="735"/>
          </a:xfrm>
        </p:grpSpPr>
        <p:grpSp>
          <p:nvGrpSpPr>
            <p:cNvPr id="1930" name="Google Shape;1930;p27"/>
            <p:cNvGrpSpPr/>
            <p:nvPr/>
          </p:nvGrpSpPr>
          <p:grpSpPr>
            <a:xfrm>
              <a:off x="42" y="886"/>
              <a:ext cx="681" cy="468"/>
              <a:chOff x="42" y="886"/>
              <a:chExt cx="681" cy="468"/>
            </a:xfrm>
          </p:grpSpPr>
          <p:grpSp>
            <p:nvGrpSpPr>
              <p:cNvPr id="1931" name="Google Shape;1931;p27"/>
              <p:cNvGrpSpPr/>
              <p:nvPr/>
            </p:nvGrpSpPr>
            <p:grpSpPr>
              <a:xfrm>
                <a:off x="278" y="886"/>
                <a:ext cx="397" cy="154"/>
                <a:chOff x="740" y="3209"/>
                <a:chExt cx="397" cy="154"/>
              </a:xfrm>
            </p:grpSpPr>
            <p:grpSp>
              <p:nvGrpSpPr>
                <p:cNvPr id="1932" name="Google Shape;1932;p27"/>
                <p:cNvGrpSpPr/>
                <p:nvPr/>
              </p:nvGrpSpPr>
              <p:grpSpPr>
                <a:xfrm>
                  <a:off x="794" y="3209"/>
                  <a:ext cx="343" cy="154"/>
                  <a:chOff x="844" y="3337"/>
                  <a:chExt cx="343" cy="154"/>
                </a:xfrm>
              </p:grpSpPr>
              <p:sp>
                <p:nvSpPr>
                  <p:cNvPr id="1933" name="Google Shape;1933;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34" name="Google Shape;1934;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sp>
              <p:nvSpPr>
                <p:cNvPr id="1935" name="Google Shape;1935;p27"/>
                <p:cNvSpPr/>
                <p:nvPr/>
              </p:nvSpPr>
              <p:spPr>
                <a:xfrm>
                  <a:off x="750" y="3244"/>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36" name="Google Shape;1936;p27"/>
                <p:cNvSpPr/>
                <p:nvPr/>
              </p:nvSpPr>
              <p:spPr>
                <a:xfrm>
                  <a:off x="740" y="3238"/>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937" name="Google Shape;1937;p27"/>
              <p:cNvGrpSpPr/>
              <p:nvPr/>
            </p:nvGrpSpPr>
            <p:grpSpPr>
              <a:xfrm>
                <a:off x="278" y="1034"/>
                <a:ext cx="397" cy="154"/>
                <a:chOff x="836" y="3305"/>
                <a:chExt cx="397" cy="154"/>
              </a:xfrm>
            </p:grpSpPr>
            <p:grpSp>
              <p:nvGrpSpPr>
                <p:cNvPr id="1938" name="Google Shape;1938;p27"/>
                <p:cNvGrpSpPr/>
                <p:nvPr/>
              </p:nvGrpSpPr>
              <p:grpSpPr>
                <a:xfrm>
                  <a:off x="890" y="3305"/>
                  <a:ext cx="343" cy="154"/>
                  <a:chOff x="844" y="3337"/>
                  <a:chExt cx="343" cy="154"/>
                </a:xfrm>
              </p:grpSpPr>
              <p:sp>
                <p:nvSpPr>
                  <p:cNvPr id="1939" name="Google Shape;1939;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40" name="Google Shape;1940;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1941" name="Google Shape;1941;p27"/>
                <p:cNvGrpSpPr/>
                <p:nvPr/>
              </p:nvGrpSpPr>
              <p:grpSpPr>
                <a:xfrm>
                  <a:off x="836" y="3334"/>
                  <a:ext cx="354" cy="94"/>
                  <a:chOff x="836" y="3334"/>
                  <a:chExt cx="354" cy="94"/>
                </a:xfrm>
              </p:grpSpPr>
              <p:sp>
                <p:nvSpPr>
                  <p:cNvPr id="1942" name="Google Shape;1942;p27"/>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43" name="Google Shape;1943;p27"/>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grpSp>
            <p:nvGrpSpPr>
              <p:cNvPr id="1944" name="Google Shape;1944;p27"/>
              <p:cNvGrpSpPr/>
              <p:nvPr/>
            </p:nvGrpSpPr>
            <p:grpSpPr>
              <a:xfrm>
                <a:off x="165" y="1054"/>
                <a:ext cx="480" cy="112"/>
                <a:chOff x="627" y="3377"/>
                <a:chExt cx="480" cy="112"/>
              </a:xfrm>
            </p:grpSpPr>
            <p:sp>
              <p:nvSpPr>
                <p:cNvPr id="1945" name="Google Shape;1945;p2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46" name="Google Shape;1946;p27"/>
                <p:cNvSpPr/>
                <p:nvPr/>
              </p:nvSpPr>
              <p:spPr>
                <a:xfrm>
                  <a:off x="627" y="3377"/>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947" name="Google Shape;1947;p27"/>
              <p:cNvGrpSpPr/>
              <p:nvPr/>
            </p:nvGrpSpPr>
            <p:grpSpPr>
              <a:xfrm>
                <a:off x="42" y="1200"/>
                <a:ext cx="681" cy="154"/>
                <a:chOff x="504" y="3523"/>
                <a:chExt cx="681" cy="154"/>
              </a:xfrm>
            </p:grpSpPr>
            <p:grpSp>
              <p:nvGrpSpPr>
                <p:cNvPr id="1948" name="Google Shape;1948;p27"/>
                <p:cNvGrpSpPr/>
                <p:nvPr/>
              </p:nvGrpSpPr>
              <p:grpSpPr>
                <a:xfrm>
                  <a:off x="623" y="3523"/>
                  <a:ext cx="510" cy="154"/>
                  <a:chOff x="723" y="3453"/>
                  <a:chExt cx="510" cy="154"/>
                </a:xfrm>
              </p:grpSpPr>
              <p:grpSp>
                <p:nvGrpSpPr>
                  <p:cNvPr id="1949" name="Google Shape;1949;p27"/>
                  <p:cNvGrpSpPr/>
                  <p:nvPr/>
                </p:nvGrpSpPr>
                <p:grpSpPr>
                  <a:xfrm>
                    <a:off x="836" y="3453"/>
                    <a:ext cx="397" cy="154"/>
                    <a:chOff x="836" y="3305"/>
                    <a:chExt cx="397" cy="154"/>
                  </a:xfrm>
                </p:grpSpPr>
                <p:grpSp>
                  <p:nvGrpSpPr>
                    <p:cNvPr id="1950" name="Google Shape;1950;p27"/>
                    <p:cNvGrpSpPr/>
                    <p:nvPr/>
                  </p:nvGrpSpPr>
                  <p:grpSpPr>
                    <a:xfrm>
                      <a:off x="890" y="3305"/>
                      <a:ext cx="343" cy="154"/>
                      <a:chOff x="844" y="3337"/>
                      <a:chExt cx="343" cy="154"/>
                    </a:xfrm>
                  </p:grpSpPr>
                  <p:sp>
                    <p:nvSpPr>
                      <p:cNvPr id="1951" name="Google Shape;1951;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52" name="Google Shape;1952;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1953" name="Google Shape;1953;p27"/>
                    <p:cNvGrpSpPr/>
                    <p:nvPr/>
                  </p:nvGrpSpPr>
                  <p:grpSpPr>
                    <a:xfrm>
                      <a:off x="836" y="3334"/>
                      <a:ext cx="354" cy="94"/>
                      <a:chOff x="836" y="3334"/>
                      <a:chExt cx="354" cy="94"/>
                    </a:xfrm>
                  </p:grpSpPr>
                  <p:sp>
                    <p:nvSpPr>
                      <p:cNvPr id="1954" name="Google Shape;1954;p27"/>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55" name="Google Shape;1955;p27"/>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1956" name="Google Shape;1956;p2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57" name="Google Shape;1957;p27"/>
                  <p:cNvSpPr/>
                  <p:nvPr/>
                </p:nvSpPr>
                <p:spPr>
                  <a:xfrm>
                    <a:off x="723" y="3473"/>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1958" name="Google Shape;1958;p27"/>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59" name="Google Shape;1959;p27"/>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60" name="Google Shape;1960;p27"/>
                <p:cNvSpPr/>
                <p:nvPr/>
              </p:nvSpPr>
              <p:spPr>
                <a:xfrm>
                  <a:off x="504" y="3529"/>
                  <a:ext cx="681" cy="138"/>
                </a:xfrm>
                <a:prstGeom prst="rect">
                  <a:avLst/>
                </a:pr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1961" name="Google Shape;1961;p27"/>
            <p:cNvSpPr/>
            <p:nvPr/>
          </p:nvSpPr>
          <p:spPr>
            <a:xfrm>
              <a:off x="384" y="744"/>
              <a:ext cx="240" cy="735"/>
            </a:xfrm>
            <a:prstGeom prst="downArrow">
              <a:avLst>
                <a:gd fmla="val 54167" name="adj1"/>
                <a:gd fmla="val 49170" name="adj2"/>
              </a:avLst>
            </a:prstGeom>
            <a:gradFill>
              <a:gsLst>
                <a:gs pos="0">
                  <a:srgbClr val="FF0000">
                    <a:alpha val="25098"/>
                  </a:srgbClr>
                </a:gs>
                <a:gs pos="100000">
                  <a:srgbClr val="FF0000">
                    <a:alpha val="25098"/>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962" name="Google Shape;1962;p27"/>
          <p:cNvGrpSpPr/>
          <p:nvPr/>
        </p:nvGrpSpPr>
        <p:grpSpPr>
          <a:xfrm>
            <a:off x="1745157" y="2934505"/>
            <a:ext cx="1081088" cy="244475"/>
            <a:chOff x="504" y="3523"/>
            <a:chExt cx="681" cy="154"/>
          </a:xfrm>
        </p:grpSpPr>
        <p:grpSp>
          <p:nvGrpSpPr>
            <p:cNvPr id="1963" name="Google Shape;1963;p27"/>
            <p:cNvGrpSpPr/>
            <p:nvPr/>
          </p:nvGrpSpPr>
          <p:grpSpPr>
            <a:xfrm>
              <a:off x="623" y="3523"/>
              <a:ext cx="510" cy="154"/>
              <a:chOff x="723" y="3453"/>
              <a:chExt cx="510" cy="154"/>
            </a:xfrm>
          </p:grpSpPr>
          <p:grpSp>
            <p:nvGrpSpPr>
              <p:cNvPr id="1964" name="Google Shape;1964;p27"/>
              <p:cNvGrpSpPr/>
              <p:nvPr/>
            </p:nvGrpSpPr>
            <p:grpSpPr>
              <a:xfrm>
                <a:off x="836" y="3453"/>
                <a:ext cx="397" cy="154"/>
                <a:chOff x="836" y="3305"/>
                <a:chExt cx="397" cy="154"/>
              </a:xfrm>
            </p:grpSpPr>
            <p:grpSp>
              <p:nvGrpSpPr>
                <p:cNvPr id="1965" name="Google Shape;1965;p27"/>
                <p:cNvGrpSpPr/>
                <p:nvPr/>
              </p:nvGrpSpPr>
              <p:grpSpPr>
                <a:xfrm>
                  <a:off x="890" y="3305"/>
                  <a:ext cx="343" cy="154"/>
                  <a:chOff x="844" y="3337"/>
                  <a:chExt cx="343" cy="154"/>
                </a:xfrm>
              </p:grpSpPr>
              <p:sp>
                <p:nvSpPr>
                  <p:cNvPr id="1966" name="Google Shape;1966;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67" name="Google Shape;1967;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1968" name="Google Shape;1968;p27"/>
                <p:cNvGrpSpPr/>
                <p:nvPr/>
              </p:nvGrpSpPr>
              <p:grpSpPr>
                <a:xfrm>
                  <a:off x="836" y="3334"/>
                  <a:ext cx="354" cy="94"/>
                  <a:chOff x="836" y="3334"/>
                  <a:chExt cx="354" cy="94"/>
                </a:xfrm>
              </p:grpSpPr>
              <p:sp>
                <p:nvSpPr>
                  <p:cNvPr id="1969" name="Google Shape;1969;p27"/>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70" name="Google Shape;1970;p27"/>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1971" name="Google Shape;1971;p2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72" name="Google Shape;1972;p27"/>
              <p:cNvSpPr/>
              <p:nvPr/>
            </p:nvSpPr>
            <p:spPr>
              <a:xfrm>
                <a:off x="723" y="3473"/>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1973" name="Google Shape;1973;p27"/>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74" name="Google Shape;1974;p27"/>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75" name="Google Shape;1975;p27"/>
            <p:cNvSpPr/>
            <p:nvPr/>
          </p:nvSpPr>
          <p:spPr>
            <a:xfrm>
              <a:off x="504" y="3529"/>
              <a:ext cx="681" cy="138"/>
            </a:xfrm>
            <a:prstGeom prst="rect">
              <a:avLst/>
            </a:pr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976" name="Google Shape;1976;p27"/>
          <p:cNvGrpSpPr/>
          <p:nvPr/>
        </p:nvGrpSpPr>
        <p:grpSpPr>
          <a:xfrm>
            <a:off x="2572245" y="3626655"/>
            <a:ext cx="1316037" cy="1314450"/>
            <a:chOff x="931" y="1941"/>
            <a:chExt cx="829" cy="828"/>
          </a:xfrm>
        </p:grpSpPr>
        <p:sp>
          <p:nvSpPr>
            <p:cNvPr id="1977" name="Google Shape;1977;p27"/>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FFFFFF">
                    <a:alpha val="65098"/>
                  </a:srgbClr>
                </a:gs>
                <a:gs pos="100000">
                  <a:srgbClr val="000099">
                    <a:alpha val="65098"/>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978" name="Google Shape;1978;p27"/>
            <p:cNvGrpSpPr/>
            <p:nvPr/>
          </p:nvGrpSpPr>
          <p:grpSpPr>
            <a:xfrm>
              <a:off x="931" y="1941"/>
              <a:ext cx="501" cy="828"/>
              <a:chOff x="569" y="2954"/>
              <a:chExt cx="501" cy="828"/>
            </a:xfrm>
          </p:grpSpPr>
          <p:sp>
            <p:nvSpPr>
              <p:cNvPr id="1979" name="Google Shape;1979;p27"/>
              <p:cNvSpPr/>
              <p:nvPr/>
            </p:nvSpPr>
            <p:spPr>
              <a:xfrm>
                <a:off x="576" y="2973"/>
                <a:ext cx="493" cy="790"/>
              </a:xfrm>
              <a:prstGeom prst="rect">
                <a:avLst/>
              </a:prstGeom>
              <a:solidFill>
                <a:srgbClr val="FFFFFF"/>
              </a:solidFill>
              <a:ln cap="flat" cmpd="sng" w="9525">
                <a:solidFill>
                  <a:srgbClr val="000000"/>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80" name="Google Shape;1980;p27"/>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DHCP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UDP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IP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Eth</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Phy</a:t>
                </a:r>
                <a:endParaRPr/>
              </a:p>
            </p:txBody>
          </p:sp>
          <p:cxnSp>
            <p:nvCxnSpPr>
              <p:cNvPr id="1981" name="Google Shape;1981;p27"/>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982" name="Google Shape;1982;p27"/>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983" name="Google Shape;1983;p27"/>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984" name="Google Shape;1984;p27"/>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985" name="Google Shape;1985;p27"/>
          <p:cNvGrpSpPr/>
          <p:nvPr/>
        </p:nvGrpSpPr>
        <p:grpSpPr>
          <a:xfrm>
            <a:off x="1434007" y="3526642"/>
            <a:ext cx="1081088" cy="1217613"/>
            <a:chOff x="1404" y="3105"/>
            <a:chExt cx="681" cy="767"/>
          </a:xfrm>
        </p:grpSpPr>
        <p:grpSp>
          <p:nvGrpSpPr>
            <p:cNvPr id="1986" name="Google Shape;1986;p27"/>
            <p:cNvGrpSpPr/>
            <p:nvPr/>
          </p:nvGrpSpPr>
          <p:grpSpPr>
            <a:xfrm>
              <a:off x="1404" y="3355"/>
              <a:ext cx="681" cy="468"/>
              <a:chOff x="42" y="886"/>
              <a:chExt cx="681" cy="468"/>
            </a:xfrm>
          </p:grpSpPr>
          <p:grpSp>
            <p:nvGrpSpPr>
              <p:cNvPr id="1987" name="Google Shape;1987;p27"/>
              <p:cNvGrpSpPr/>
              <p:nvPr/>
            </p:nvGrpSpPr>
            <p:grpSpPr>
              <a:xfrm>
                <a:off x="278" y="886"/>
                <a:ext cx="397" cy="154"/>
                <a:chOff x="740" y="3209"/>
                <a:chExt cx="397" cy="154"/>
              </a:xfrm>
            </p:grpSpPr>
            <p:grpSp>
              <p:nvGrpSpPr>
                <p:cNvPr id="1988" name="Google Shape;1988;p27"/>
                <p:cNvGrpSpPr/>
                <p:nvPr/>
              </p:nvGrpSpPr>
              <p:grpSpPr>
                <a:xfrm>
                  <a:off x="794" y="3209"/>
                  <a:ext cx="343" cy="154"/>
                  <a:chOff x="844" y="3337"/>
                  <a:chExt cx="343" cy="154"/>
                </a:xfrm>
              </p:grpSpPr>
              <p:sp>
                <p:nvSpPr>
                  <p:cNvPr id="1989" name="Google Shape;1989;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90" name="Google Shape;1990;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sp>
              <p:nvSpPr>
                <p:cNvPr id="1991" name="Google Shape;1991;p27"/>
                <p:cNvSpPr/>
                <p:nvPr/>
              </p:nvSpPr>
              <p:spPr>
                <a:xfrm>
                  <a:off x="750" y="3244"/>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92" name="Google Shape;1992;p27"/>
                <p:cNvSpPr/>
                <p:nvPr/>
              </p:nvSpPr>
              <p:spPr>
                <a:xfrm>
                  <a:off x="740" y="3238"/>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1993" name="Google Shape;1993;p27"/>
              <p:cNvGrpSpPr/>
              <p:nvPr/>
            </p:nvGrpSpPr>
            <p:grpSpPr>
              <a:xfrm>
                <a:off x="278" y="1034"/>
                <a:ext cx="397" cy="154"/>
                <a:chOff x="836" y="3305"/>
                <a:chExt cx="397" cy="154"/>
              </a:xfrm>
            </p:grpSpPr>
            <p:grpSp>
              <p:nvGrpSpPr>
                <p:cNvPr id="1994" name="Google Shape;1994;p27"/>
                <p:cNvGrpSpPr/>
                <p:nvPr/>
              </p:nvGrpSpPr>
              <p:grpSpPr>
                <a:xfrm>
                  <a:off x="890" y="3305"/>
                  <a:ext cx="343" cy="154"/>
                  <a:chOff x="844" y="3337"/>
                  <a:chExt cx="343" cy="154"/>
                </a:xfrm>
              </p:grpSpPr>
              <p:sp>
                <p:nvSpPr>
                  <p:cNvPr id="1995" name="Google Shape;1995;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96" name="Google Shape;1996;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1997" name="Google Shape;1997;p27"/>
                <p:cNvGrpSpPr/>
                <p:nvPr/>
              </p:nvGrpSpPr>
              <p:grpSpPr>
                <a:xfrm>
                  <a:off x="836" y="3334"/>
                  <a:ext cx="354" cy="94"/>
                  <a:chOff x="836" y="3334"/>
                  <a:chExt cx="354" cy="94"/>
                </a:xfrm>
              </p:grpSpPr>
              <p:sp>
                <p:nvSpPr>
                  <p:cNvPr id="1998" name="Google Shape;1998;p27"/>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999" name="Google Shape;1999;p27"/>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grpSp>
            <p:nvGrpSpPr>
              <p:cNvPr id="2000" name="Google Shape;2000;p27"/>
              <p:cNvGrpSpPr/>
              <p:nvPr/>
            </p:nvGrpSpPr>
            <p:grpSpPr>
              <a:xfrm>
                <a:off x="165" y="1054"/>
                <a:ext cx="480" cy="112"/>
                <a:chOff x="627" y="3377"/>
                <a:chExt cx="480" cy="112"/>
              </a:xfrm>
            </p:grpSpPr>
            <p:sp>
              <p:nvSpPr>
                <p:cNvPr id="2001" name="Google Shape;2001;p2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02" name="Google Shape;2002;p27"/>
                <p:cNvSpPr/>
                <p:nvPr/>
              </p:nvSpPr>
              <p:spPr>
                <a:xfrm>
                  <a:off x="627" y="3377"/>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2003" name="Google Shape;2003;p27"/>
              <p:cNvGrpSpPr/>
              <p:nvPr/>
            </p:nvGrpSpPr>
            <p:grpSpPr>
              <a:xfrm>
                <a:off x="42" y="1200"/>
                <a:ext cx="681" cy="154"/>
                <a:chOff x="504" y="3523"/>
                <a:chExt cx="681" cy="154"/>
              </a:xfrm>
            </p:grpSpPr>
            <p:grpSp>
              <p:nvGrpSpPr>
                <p:cNvPr id="2004" name="Google Shape;2004;p27"/>
                <p:cNvGrpSpPr/>
                <p:nvPr/>
              </p:nvGrpSpPr>
              <p:grpSpPr>
                <a:xfrm>
                  <a:off x="623" y="3523"/>
                  <a:ext cx="510" cy="154"/>
                  <a:chOff x="723" y="3453"/>
                  <a:chExt cx="510" cy="154"/>
                </a:xfrm>
              </p:grpSpPr>
              <p:grpSp>
                <p:nvGrpSpPr>
                  <p:cNvPr id="2005" name="Google Shape;2005;p27"/>
                  <p:cNvGrpSpPr/>
                  <p:nvPr/>
                </p:nvGrpSpPr>
                <p:grpSpPr>
                  <a:xfrm>
                    <a:off x="836" y="3453"/>
                    <a:ext cx="397" cy="154"/>
                    <a:chOff x="836" y="3305"/>
                    <a:chExt cx="397" cy="154"/>
                  </a:xfrm>
                </p:grpSpPr>
                <p:grpSp>
                  <p:nvGrpSpPr>
                    <p:cNvPr id="2006" name="Google Shape;2006;p27"/>
                    <p:cNvGrpSpPr/>
                    <p:nvPr/>
                  </p:nvGrpSpPr>
                  <p:grpSpPr>
                    <a:xfrm>
                      <a:off x="890" y="3305"/>
                      <a:ext cx="343" cy="154"/>
                      <a:chOff x="844" y="3337"/>
                      <a:chExt cx="343" cy="154"/>
                    </a:xfrm>
                  </p:grpSpPr>
                  <p:sp>
                    <p:nvSpPr>
                      <p:cNvPr id="2007" name="Google Shape;2007;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08" name="Google Shape;2008;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2009" name="Google Shape;2009;p27"/>
                    <p:cNvGrpSpPr/>
                    <p:nvPr/>
                  </p:nvGrpSpPr>
                  <p:grpSpPr>
                    <a:xfrm>
                      <a:off x="836" y="3334"/>
                      <a:ext cx="354" cy="94"/>
                      <a:chOff x="836" y="3334"/>
                      <a:chExt cx="354" cy="94"/>
                    </a:xfrm>
                  </p:grpSpPr>
                  <p:sp>
                    <p:nvSpPr>
                      <p:cNvPr id="2010" name="Google Shape;2010;p27"/>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11" name="Google Shape;2011;p27"/>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2012" name="Google Shape;2012;p2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13" name="Google Shape;2013;p27"/>
                  <p:cNvSpPr/>
                  <p:nvPr/>
                </p:nvSpPr>
                <p:spPr>
                  <a:xfrm>
                    <a:off x="723" y="3473"/>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014" name="Google Shape;2014;p27"/>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15" name="Google Shape;2015;p27"/>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16" name="Google Shape;2016;p27"/>
                <p:cNvSpPr/>
                <p:nvPr/>
              </p:nvSpPr>
              <p:spPr>
                <a:xfrm>
                  <a:off x="504" y="3529"/>
                  <a:ext cx="681" cy="138"/>
                </a:xfrm>
                <a:prstGeom prst="rect">
                  <a:avLst/>
                </a:pr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2017" name="Google Shape;2017;p27"/>
            <p:cNvSpPr/>
            <p:nvPr/>
          </p:nvSpPr>
          <p:spPr>
            <a:xfrm rot="10800000">
              <a:off x="1727" y="3105"/>
              <a:ext cx="240" cy="767"/>
            </a:xfrm>
            <a:prstGeom prst="downArrow">
              <a:avLst>
                <a:gd fmla="val 54167" name="adj1"/>
                <a:gd fmla="val 51311" name="adj2"/>
              </a:avLst>
            </a:prstGeom>
            <a:gradFill>
              <a:gsLst>
                <a:gs pos="0">
                  <a:srgbClr val="FF0000">
                    <a:alpha val="25098"/>
                  </a:srgbClr>
                </a:gs>
                <a:gs pos="100000">
                  <a:srgbClr val="FF0000">
                    <a:alpha val="25098"/>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018" name="Google Shape;2018;p27"/>
            <p:cNvGrpSpPr/>
            <p:nvPr/>
          </p:nvGrpSpPr>
          <p:grpSpPr>
            <a:xfrm>
              <a:off x="1695" y="3227"/>
              <a:ext cx="343" cy="154"/>
              <a:chOff x="844" y="3337"/>
              <a:chExt cx="343" cy="154"/>
            </a:xfrm>
          </p:grpSpPr>
          <p:sp>
            <p:nvSpPr>
              <p:cNvPr id="2019" name="Google Shape;2019;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20" name="Google Shape;2020;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grpSp>
        <p:nvGrpSpPr>
          <p:cNvPr id="2021" name="Google Shape;2021;p27"/>
          <p:cNvGrpSpPr/>
          <p:nvPr/>
        </p:nvGrpSpPr>
        <p:grpSpPr>
          <a:xfrm>
            <a:off x="1897557" y="3723492"/>
            <a:ext cx="544513" cy="244475"/>
            <a:chOff x="844" y="3337"/>
            <a:chExt cx="343" cy="154"/>
          </a:xfrm>
        </p:grpSpPr>
        <p:sp>
          <p:nvSpPr>
            <p:cNvPr id="2022" name="Google Shape;2022;p27"/>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23" name="Google Shape;2023;p27"/>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2024" name="Google Shape;2024;p27"/>
          <p:cNvGrpSpPr/>
          <p:nvPr/>
        </p:nvGrpSpPr>
        <p:grpSpPr>
          <a:xfrm>
            <a:off x="3800970" y="3720317"/>
            <a:ext cx="423862" cy="647700"/>
            <a:chOff x="4140" y="429"/>
            <a:chExt cx="1425" cy="2396"/>
          </a:xfrm>
        </p:grpSpPr>
        <p:sp>
          <p:nvSpPr>
            <p:cNvPr id="2025" name="Google Shape;2025;p2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26" name="Google Shape;2026;p27"/>
            <p:cNvSpPr/>
            <p:nvPr/>
          </p:nvSpPr>
          <p:spPr>
            <a:xfrm>
              <a:off x="4204" y="429"/>
              <a:ext cx="1051"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27" name="Google Shape;2027;p2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28" name="Google Shape;2028;p2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29" name="Google Shape;2029;p27"/>
            <p:cNvSpPr/>
            <p:nvPr/>
          </p:nvSpPr>
          <p:spPr>
            <a:xfrm>
              <a:off x="4209" y="693"/>
              <a:ext cx="598" cy="47"/>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030" name="Google Shape;2030;p27"/>
            <p:cNvGrpSpPr/>
            <p:nvPr/>
          </p:nvGrpSpPr>
          <p:grpSpPr>
            <a:xfrm>
              <a:off x="4748" y="670"/>
              <a:ext cx="582" cy="141"/>
              <a:chOff x="613" y="2570"/>
              <a:chExt cx="726" cy="135"/>
            </a:xfrm>
          </p:grpSpPr>
          <p:sp>
            <p:nvSpPr>
              <p:cNvPr id="2031" name="Google Shape;2031;p27"/>
              <p:cNvSpPr/>
              <p:nvPr/>
            </p:nvSpPr>
            <p:spPr>
              <a:xfrm>
                <a:off x="613" y="2570"/>
                <a:ext cx="726"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32" name="Google Shape;2032;p27"/>
              <p:cNvSpPr/>
              <p:nvPr/>
            </p:nvSpPr>
            <p:spPr>
              <a:xfrm>
                <a:off x="627" y="2587"/>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033" name="Google Shape;2033;p27"/>
            <p:cNvSpPr/>
            <p:nvPr/>
          </p:nvSpPr>
          <p:spPr>
            <a:xfrm>
              <a:off x="4225" y="1016"/>
              <a:ext cx="592" cy="47"/>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034" name="Google Shape;2034;p27"/>
            <p:cNvGrpSpPr/>
            <p:nvPr/>
          </p:nvGrpSpPr>
          <p:grpSpPr>
            <a:xfrm>
              <a:off x="4749" y="993"/>
              <a:ext cx="582" cy="135"/>
              <a:chOff x="616" y="2567"/>
              <a:chExt cx="726" cy="140"/>
            </a:xfrm>
          </p:grpSpPr>
          <p:sp>
            <p:nvSpPr>
              <p:cNvPr id="2035" name="Google Shape;2035;p27"/>
              <p:cNvSpPr/>
              <p:nvPr/>
            </p:nvSpPr>
            <p:spPr>
              <a:xfrm>
                <a:off x="616" y="2567"/>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36" name="Google Shape;2036;p27"/>
              <p:cNvSpPr/>
              <p:nvPr/>
            </p:nvSpPr>
            <p:spPr>
              <a:xfrm>
                <a:off x="629" y="2585"/>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037" name="Google Shape;2037;p27"/>
            <p:cNvSpPr/>
            <p:nvPr/>
          </p:nvSpPr>
          <p:spPr>
            <a:xfrm>
              <a:off x="4215" y="1357"/>
              <a:ext cx="598" cy="47"/>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38" name="Google Shape;2038;p27"/>
            <p:cNvSpPr/>
            <p:nvPr/>
          </p:nvSpPr>
          <p:spPr>
            <a:xfrm>
              <a:off x="4225" y="1656"/>
              <a:ext cx="598" cy="47"/>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039" name="Google Shape;2039;p27"/>
            <p:cNvGrpSpPr/>
            <p:nvPr/>
          </p:nvGrpSpPr>
          <p:grpSpPr>
            <a:xfrm>
              <a:off x="4733" y="1627"/>
              <a:ext cx="587" cy="153"/>
              <a:chOff x="611" y="2568"/>
              <a:chExt cx="731" cy="141"/>
            </a:xfrm>
          </p:grpSpPr>
          <p:sp>
            <p:nvSpPr>
              <p:cNvPr id="2040" name="Google Shape;2040;p27"/>
              <p:cNvSpPr/>
              <p:nvPr/>
            </p:nvSpPr>
            <p:spPr>
              <a:xfrm>
                <a:off x="611" y="2568"/>
                <a:ext cx="731"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41" name="Google Shape;2041;p27"/>
              <p:cNvSpPr/>
              <p:nvPr/>
            </p:nvSpPr>
            <p:spPr>
              <a:xfrm>
                <a:off x="624" y="2584"/>
                <a:ext cx="69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042" name="Google Shape;2042;p2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043" name="Google Shape;2043;p27"/>
            <p:cNvGrpSpPr/>
            <p:nvPr/>
          </p:nvGrpSpPr>
          <p:grpSpPr>
            <a:xfrm>
              <a:off x="4737" y="1328"/>
              <a:ext cx="582" cy="147"/>
              <a:chOff x="612" y="2569"/>
              <a:chExt cx="725" cy="147"/>
            </a:xfrm>
          </p:grpSpPr>
          <p:sp>
            <p:nvSpPr>
              <p:cNvPr id="2044" name="Google Shape;2044;p27"/>
              <p:cNvSpPr/>
              <p:nvPr/>
            </p:nvSpPr>
            <p:spPr>
              <a:xfrm>
                <a:off x="612" y="2569"/>
                <a:ext cx="725" cy="14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45" name="Google Shape;2045;p27"/>
              <p:cNvSpPr/>
              <p:nvPr/>
            </p:nvSpPr>
            <p:spPr>
              <a:xfrm>
                <a:off x="626" y="2586"/>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046" name="Google Shape;2046;p27"/>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47" name="Google Shape;2047;p2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48" name="Google Shape;2048;p2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49" name="Google Shape;2049;p27"/>
            <p:cNvSpPr/>
            <p:nvPr/>
          </p:nvSpPr>
          <p:spPr>
            <a:xfrm>
              <a:off x="5517" y="2614"/>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50" name="Google Shape;2050;p2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51" name="Google Shape;2051;p27"/>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52" name="Google Shape;2052;p27"/>
            <p:cNvSpPr/>
            <p:nvPr/>
          </p:nvSpPr>
          <p:spPr>
            <a:xfrm>
              <a:off x="4204" y="2713"/>
              <a:ext cx="1073"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53" name="Google Shape;2053;p27"/>
            <p:cNvSpPr/>
            <p:nvPr/>
          </p:nvSpPr>
          <p:spPr>
            <a:xfrm>
              <a:off x="4305" y="2385"/>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54" name="Google Shape;2054;p27"/>
            <p:cNvSpPr/>
            <p:nvPr/>
          </p:nvSpPr>
          <p:spPr>
            <a:xfrm>
              <a:off x="4487" y="2385"/>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0000"/>
                </a:solidFill>
                <a:latin typeface="Arial"/>
                <a:ea typeface="Arial"/>
                <a:cs typeface="Arial"/>
                <a:sym typeface="Arial"/>
              </a:endParaRPr>
            </a:p>
          </p:txBody>
        </p:sp>
        <p:sp>
          <p:nvSpPr>
            <p:cNvPr id="2055" name="Google Shape;2055;p27"/>
            <p:cNvSpPr/>
            <p:nvPr/>
          </p:nvSpPr>
          <p:spPr>
            <a:xfrm>
              <a:off x="4663" y="2379"/>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56" name="Google Shape;2056;p27"/>
            <p:cNvSpPr/>
            <p:nvPr/>
          </p:nvSpPr>
          <p:spPr>
            <a:xfrm>
              <a:off x="5063" y="1833"/>
              <a:ext cx="85" cy="763"/>
            </a:xfrm>
            <a:prstGeom prst="rect">
              <a:avLst/>
            </a:prstGeom>
            <a:solidFill>
              <a:srgbClr val="292929"/>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057" name="Google Shape;2057;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6"/>
                                        </p:tgtEl>
                                        <p:attrNameLst>
                                          <p:attrName>style.visibility</p:attrName>
                                        </p:attrNameLst>
                                      </p:cBhvr>
                                      <p:to>
                                        <p:strVal val="visible"/>
                                      </p:to>
                                    </p:set>
                                    <p:animEffect filter="fade" transition="in">
                                      <p:cBhvr>
                                        <p:cTn dur="500"/>
                                        <p:tgtEl>
                                          <p:spTgt spid="1916"/>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916"/>
                                        </p:tgtEl>
                                      </p:cBhvr>
                                    </p:animEffect>
                                    <p:set>
                                      <p:cBhvr>
                                        <p:cTn dur="1" fill="hold">
                                          <p:stCondLst>
                                            <p:cond delay="500"/>
                                          </p:stCondLst>
                                        </p:cTn>
                                        <p:tgtEl>
                                          <p:spTgt spid="19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7"/>
                                        </p:tgtEl>
                                        <p:attrNameLst>
                                          <p:attrName>style.visibility</p:attrName>
                                        </p:attrNameLst>
                                      </p:cBhvr>
                                      <p:to>
                                        <p:strVal val="visible"/>
                                      </p:to>
                                    </p:set>
                                    <p:animEffect filter="fade" transition="in">
                                      <p:cBhvr>
                                        <p:cTn dur="500"/>
                                        <p:tgtEl>
                                          <p:spTgt spid="19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26"/>
                                        </p:tgtEl>
                                        <p:attrNameLst>
                                          <p:attrName>style.visibility</p:attrName>
                                        </p:attrNameLst>
                                      </p:cBhvr>
                                      <p:to>
                                        <p:strVal val="visible"/>
                                      </p:to>
                                    </p:set>
                                    <p:animEffect filter="fade" transition="in">
                                      <p:cBhvr>
                                        <p:cTn dur="500"/>
                                        <p:tgtEl>
                                          <p:spTgt spid="1926"/>
                                        </p:tgtEl>
                                      </p:cBhvr>
                                    </p:animEffect>
                                  </p:childTnLst>
                                </p:cTn>
                              </p:par>
                              <p:par>
                                <p:cTn fill="hold" nodeType="withEffect" presetClass="entr" presetID="1" presetSubtype="0">
                                  <p:stCondLst>
                                    <p:cond delay="0"/>
                                  </p:stCondLst>
                                  <p:childTnLst>
                                    <p:set>
                                      <p:cBhvr>
                                        <p:cTn dur="1" fill="hold">
                                          <p:stCondLst>
                                            <p:cond delay="0"/>
                                          </p:stCondLst>
                                        </p:cTn>
                                        <p:tgtEl>
                                          <p:spTgt spid="18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9"/>
                                        </p:tgtEl>
                                        <p:attrNameLst>
                                          <p:attrName>style.visibility</p:attrName>
                                        </p:attrNameLst>
                                      </p:cBhvr>
                                      <p:to>
                                        <p:strVal val="visible"/>
                                      </p:to>
                                    </p:set>
                                    <p:animEffect filter="fade" transition="in">
                                      <p:cBhvr>
                                        <p:cTn dur="500"/>
                                        <p:tgtEl>
                                          <p:spTgt spid="1929"/>
                                        </p:tgtEl>
                                      </p:cBhvr>
                                    </p:animEffect>
                                  </p:childTnLst>
                                </p:cTn>
                              </p:par>
                              <p:par>
                                <p:cTn fill="hold" nodeType="withEffect" presetClass="entr" presetID="1" presetSubtype="0">
                                  <p:stCondLst>
                                    <p:cond delay="0"/>
                                  </p:stCondLst>
                                  <p:childTnLst>
                                    <p:set>
                                      <p:cBhvr>
                                        <p:cTn dur="1" fill="hold">
                                          <p:stCondLst>
                                            <p:cond delay="0"/>
                                          </p:stCondLst>
                                        </p:cTn>
                                        <p:tgtEl>
                                          <p:spTgt spid="1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2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192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9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0"/>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500"/>
                                        <p:tgtEl>
                                          <p:spTgt spid="1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5"/>
                                        </p:tgtEl>
                                        <p:attrNameLst>
                                          <p:attrName>style.visibility</p:attrName>
                                        </p:attrNameLst>
                                      </p:cBhvr>
                                      <p:to>
                                        <p:strVal val="visible"/>
                                      </p:to>
                                    </p:set>
                                    <p:animEffect filter="fade" transition="in">
                                      <p:cBhvr>
                                        <p:cTn dur="1000"/>
                                        <p:tgtEl>
                                          <p:spTgt spid="1985"/>
                                        </p:tgtEl>
                                      </p:cBhvr>
                                    </p:animEffect>
                                  </p:childTnLst>
                                </p:cTn>
                              </p:par>
                              <p:par>
                                <p:cTn fill="hold" nodeType="withEffect" presetClass="exit" presetID="1" presetSubtype="0">
                                  <p:stCondLst>
                                    <p:cond delay="0"/>
                                  </p:stCondLst>
                                  <p:childTnLst>
                                    <p:set>
                                      <p:cBhvr>
                                        <p:cTn dur="1" fill="hold">
                                          <p:stCondLst>
                                            <p:cond delay="1"/>
                                          </p:stCondLst>
                                        </p:cTn>
                                        <p:tgtEl>
                                          <p:spTgt spid="1962"/>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 presetSubtype="0">
                                  <p:stCondLst>
                                    <p:cond delay="1000"/>
                                  </p:stCondLst>
                                  <p:childTnLst>
                                    <p:set>
                                      <p:cBhvr>
                                        <p:cTn dur="1" fill="hold">
                                          <p:stCondLst>
                                            <p:cond delay="1"/>
                                          </p:stCondLst>
                                        </p:cTn>
                                        <p:tgtEl>
                                          <p:spTgt spid="198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91"/>
                                        </p:tgtEl>
                                        <p:attrNameLst>
                                          <p:attrName>style.visibility</p:attrName>
                                        </p:attrNameLst>
                                      </p:cBhvr>
                                      <p:to>
                                        <p:strVal val="visible"/>
                                      </p:to>
                                    </p:set>
                                  </p:childTnLst>
                                </p:cTn>
                              </p:par>
                              <p:par>
                                <p:cTn fill="hold" nodeType="withEffect" presetClass="entr" presetID="1" presetSubtype="0">
                                  <p:stCondLst>
                                    <p:cond delay="1000"/>
                                  </p:stCondLst>
                                  <p:childTnLst>
                                    <p:set>
                                      <p:cBhvr>
                                        <p:cTn dur="1" fill="hold">
                                          <p:stCondLst>
                                            <p:cond delay="0"/>
                                          </p:stCondLst>
                                        </p:cTn>
                                        <p:tgtEl>
                                          <p:spTgt spid="20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2" name="Shape 2062"/>
        <p:cNvGrpSpPr/>
        <p:nvPr/>
      </p:nvGrpSpPr>
      <p:grpSpPr>
        <a:xfrm>
          <a:off x="0" y="0"/>
          <a:ext cx="0" cy="0"/>
          <a:chOff x="0" y="0"/>
          <a:chExt cx="0" cy="0"/>
        </a:xfrm>
      </p:grpSpPr>
      <p:sp>
        <p:nvSpPr>
          <p:cNvPr id="2063" name="Google Shape;2063;p28"/>
          <p:cNvSpPr/>
          <p:nvPr/>
        </p:nvSpPr>
        <p:spPr>
          <a:xfrm>
            <a:off x="1867395" y="1818495"/>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064" name="Google Shape;2064;p28"/>
          <p:cNvGrpSpPr/>
          <p:nvPr/>
        </p:nvGrpSpPr>
        <p:grpSpPr>
          <a:xfrm>
            <a:off x="4283172" y="2940116"/>
            <a:ext cx="918415" cy="390629"/>
            <a:chOff x="3668110" y="2448910"/>
            <a:chExt cx="3794234" cy="2165130"/>
          </a:xfrm>
        </p:grpSpPr>
        <p:sp>
          <p:nvSpPr>
            <p:cNvPr id="2065" name="Google Shape;2065;p2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66" name="Google Shape;2066;p2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2067" name="Google Shape;2067;p28"/>
            <p:cNvGrpSpPr/>
            <p:nvPr/>
          </p:nvGrpSpPr>
          <p:grpSpPr>
            <a:xfrm>
              <a:off x="3941378" y="2603243"/>
              <a:ext cx="3202061" cy="1066110"/>
              <a:chOff x="7939341" y="3037317"/>
              <a:chExt cx="897649" cy="353919"/>
            </a:xfrm>
          </p:grpSpPr>
          <p:sp>
            <p:nvSpPr>
              <p:cNvPr id="2068" name="Google Shape;2068;p2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69" name="Google Shape;2069;p2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70" name="Google Shape;2070;p2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71" name="Google Shape;2071;p2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2072" name="Google Shape;2072;p28"/>
          <p:cNvGrpSpPr/>
          <p:nvPr/>
        </p:nvGrpSpPr>
        <p:grpSpPr>
          <a:xfrm>
            <a:off x="3772175" y="3890885"/>
            <a:ext cx="1040553" cy="431082"/>
            <a:chOff x="7493876" y="2774731"/>
            <a:chExt cx="1481958" cy="894622"/>
          </a:xfrm>
        </p:grpSpPr>
        <p:sp>
          <p:nvSpPr>
            <p:cNvPr id="2073" name="Google Shape;2073;p2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2074" name="Google Shape;2074;p28"/>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2075" name="Google Shape;2075;p28"/>
            <p:cNvGrpSpPr/>
            <p:nvPr/>
          </p:nvGrpSpPr>
          <p:grpSpPr>
            <a:xfrm>
              <a:off x="7713663" y="2848339"/>
              <a:ext cx="1042107" cy="425543"/>
              <a:chOff x="7786941" y="2884917"/>
              <a:chExt cx="897649" cy="353919"/>
            </a:xfrm>
          </p:grpSpPr>
          <p:sp>
            <p:nvSpPr>
              <p:cNvPr id="2076" name="Google Shape;2076;p2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77" name="Google Shape;2077;p2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78" name="Google Shape;2078;p2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79" name="Google Shape;2079;p2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sp>
        <p:nvSpPr>
          <p:cNvPr id="2080" name="Google Shape;2080;p2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example</a:t>
            </a:r>
            <a:endParaRPr/>
          </a:p>
        </p:txBody>
      </p:sp>
      <p:sp>
        <p:nvSpPr>
          <p:cNvPr id="2081" name="Google Shape;2081;p28"/>
          <p:cNvSpPr txBox="1"/>
          <p:nvPr/>
        </p:nvSpPr>
        <p:spPr>
          <a:xfrm>
            <a:off x="6131420" y="1548620"/>
            <a:ext cx="5216134" cy="1573213"/>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DCP server formulates DHCP ACK containing client’s IP address, IP address of first-hop router for client, name &amp; IP address of DNS server</a:t>
            </a:r>
            <a:endParaRPr/>
          </a:p>
          <a:p>
            <a:pPr indent="-106363" lvl="0" marL="233363" marR="0" rtl="0" algn="l">
              <a:lnSpc>
                <a:spcPct val="85000"/>
              </a:lnSpc>
              <a:spcBef>
                <a:spcPts val="400"/>
              </a:spcBef>
              <a:spcAft>
                <a:spcPts val="0"/>
              </a:spcAft>
              <a:buClr>
                <a:srgbClr val="000099"/>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cxnSp>
        <p:nvCxnSpPr>
          <p:cNvPr id="2082" name="Google Shape;2082;p28"/>
          <p:cNvCxnSpPr/>
          <p:nvPr/>
        </p:nvCxnSpPr>
        <p:spPr>
          <a:xfrm>
            <a:off x="3759695" y="3063094"/>
            <a:ext cx="555747" cy="2447"/>
          </a:xfrm>
          <a:prstGeom prst="straightConnector1">
            <a:avLst/>
          </a:prstGeom>
          <a:noFill/>
          <a:ln cap="flat" cmpd="sng" w="9525">
            <a:solidFill>
              <a:srgbClr val="000000"/>
            </a:solidFill>
            <a:prstDash val="solid"/>
            <a:round/>
            <a:headEnd len="med" w="med" type="none"/>
            <a:tailEnd len="med" w="med" type="none"/>
          </a:ln>
        </p:spPr>
      </p:cxnSp>
      <p:cxnSp>
        <p:nvCxnSpPr>
          <p:cNvPr id="2083" name="Google Shape;2083;p28"/>
          <p:cNvCxnSpPr/>
          <p:nvPr/>
        </p:nvCxnSpPr>
        <p:spPr>
          <a:xfrm flipH="1" rot="10800000">
            <a:off x="4391025" y="3324223"/>
            <a:ext cx="460375" cy="571501"/>
          </a:xfrm>
          <a:prstGeom prst="straightConnector1">
            <a:avLst/>
          </a:prstGeom>
          <a:noFill/>
          <a:ln cap="flat" cmpd="sng" w="9525">
            <a:solidFill>
              <a:srgbClr val="000000"/>
            </a:solidFill>
            <a:prstDash val="solid"/>
            <a:round/>
            <a:headEnd len="med" w="med" type="none"/>
            <a:tailEnd len="med" w="med" type="none"/>
          </a:ln>
        </p:spPr>
      </p:cxnSp>
      <p:sp>
        <p:nvSpPr>
          <p:cNvPr id="2084" name="Google Shape;2084;p28"/>
          <p:cNvSpPr/>
          <p:nvPr/>
        </p:nvSpPr>
        <p:spPr>
          <a:xfrm>
            <a:off x="6125069" y="3320270"/>
            <a:ext cx="5201651" cy="13620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encapsulated DHCP server reply forwarded to client, de-muxing up to DHCP at client</a:t>
            </a:r>
            <a:endParaRPr/>
          </a:p>
        </p:txBody>
      </p:sp>
      <p:grpSp>
        <p:nvGrpSpPr>
          <p:cNvPr id="2085" name="Google Shape;2085;p28"/>
          <p:cNvGrpSpPr/>
          <p:nvPr/>
        </p:nvGrpSpPr>
        <p:grpSpPr>
          <a:xfrm>
            <a:off x="3067479" y="2685270"/>
            <a:ext cx="855728" cy="627114"/>
            <a:chOff x="4417" y="878"/>
            <a:chExt cx="617" cy="466"/>
          </a:xfrm>
        </p:grpSpPr>
        <p:pic>
          <p:nvPicPr>
            <p:cNvPr descr="laptop_keyboard" id="2086" name="Google Shape;2086;p28"/>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2087" name="Google Shape;2087;p28"/>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pic>
          <p:nvPicPr>
            <p:cNvPr descr="screen" id="2088" name="Google Shape;2088;p28"/>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2089" name="Google Shape;2089;p28"/>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90" name="Google Shape;2090;p28"/>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91" name="Google Shape;2091;p28"/>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92" name="Google Shape;2092;p28"/>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93" name="Google Shape;2093;p28"/>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94" name="Google Shape;2094;p28"/>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095" name="Google Shape;2095;p28"/>
            <p:cNvGrpSpPr/>
            <p:nvPr/>
          </p:nvGrpSpPr>
          <p:grpSpPr>
            <a:xfrm>
              <a:off x="4584" y="1203"/>
              <a:ext cx="119" cy="53"/>
              <a:chOff x="1740" y="2642"/>
              <a:chExt cx="752" cy="327"/>
            </a:xfrm>
          </p:grpSpPr>
          <p:sp>
            <p:nvSpPr>
              <p:cNvPr id="2096" name="Google Shape;2096;p2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97" name="Google Shape;2097;p2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98" name="Google Shape;2098;p2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099" name="Google Shape;2099;p2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00" name="Google Shape;2100;p2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01" name="Google Shape;2101;p2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102" name="Google Shape;2102;p28"/>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03" name="Google Shape;2103;p28"/>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04" name="Google Shape;2104;p28"/>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05" name="Google Shape;2105;p28"/>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06" name="Google Shape;2106;p28"/>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07" name="Google Shape;2107;p28"/>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108" name="Google Shape;2108;p28"/>
          <p:cNvSpPr txBox="1"/>
          <p:nvPr/>
        </p:nvSpPr>
        <p:spPr>
          <a:xfrm>
            <a:off x="3656507" y="4356908"/>
            <a:ext cx="2025650" cy="915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000000"/>
                </a:solidFill>
                <a:latin typeface="Arial"/>
                <a:ea typeface="Arial"/>
                <a:cs typeface="Arial"/>
                <a:sym typeface="Arial"/>
              </a:rPr>
              <a:t>router with DHCP </a:t>
            </a:r>
            <a:endParaRPr/>
          </a:p>
          <a:p>
            <a:pPr indent="0" lvl="0" marL="0" marR="0" rtl="0" algn="l">
              <a:spcBef>
                <a:spcPts val="0"/>
              </a:spcBef>
              <a:spcAft>
                <a:spcPts val="0"/>
              </a:spcAft>
              <a:buNone/>
            </a:pPr>
            <a:r>
              <a:rPr b="0" i="1" lang="en-US" sz="1800" u="none" cap="none" strike="noStrike">
                <a:solidFill>
                  <a:srgbClr val="000000"/>
                </a:solidFill>
                <a:latin typeface="Arial"/>
                <a:ea typeface="Arial"/>
                <a:cs typeface="Arial"/>
                <a:sym typeface="Arial"/>
              </a:rPr>
              <a:t>server built into </a:t>
            </a:r>
            <a:endParaRPr/>
          </a:p>
          <a:p>
            <a:pPr indent="0" lvl="0" marL="0" marR="0" rtl="0" algn="l">
              <a:spcBef>
                <a:spcPts val="0"/>
              </a:spcBef>
              <a:spcAft>
                <a:spcPts val="0"/>
              </a:spcAft>
              <a:buNone/>
            </a:pPr>
            <a:r>
              <a:rPr b="0" i="1" lang="en-US" sz="1800" u="none" cap="none" strike="noStrike">
                <a:solidFill>
                  <a:srgbClr val="000000"/>
                </a:solidFill>
                <a:latin typeface="Arial"/>
                <a:ea typeface="Arial"/>
                <a:cs typeface="Arial"/>
                <a:sym typeface="Arial"/>
              </a:rPr>
              <a:t>router</a:t>
            </a:r>
            <a:endParaRPr/>
          </a:p>
        </p:txBody>
      </p:sp>
      <p:grpSp>
        <p:nvGrpSpPr>
          <p:cNvPr id="2109" name="Google Shape;2109;p28"/>
          <p:cNvGrpSpPr/>
          <p:nvPr/>
        </p:nvGrpSpPr>
        <p:grpSpPr>
          <a:xfrm>
            <a:off x="1446707" y="3709208"/>
            <a:ext cx="1081088" cy="1166812"/>
            <a:chOff x="42" y="744"/>
            <a:chExt cx="681" cy="735"/>
          </a:xfrm>
        </p:grpSpPr>
        <p:grpSp>
          <p:nvGrpSpPr>
            <p:cNvPr id="2110" name="Google Shape;2110;p28"/>
            <p:cNvGrpSpPr/>
            <p:nvPr/>
          </p:nvGrpSpPr>
          <p:grpSpPr>
            <a:xfrm>
              <a:off x="42" y="886"/>
              <a:ext cx="681" cy="468"/>
              <a:chOff x="42" y="886"/>
              <a:chExt cx="681" cy="468"/>
            </a:xfrm>
          </p:grpSpPr>
          <p:grpSp>
            <p:nvGrpSpPr>
              <p:cNvPr id="2111" name="Google Shape;2111;p28"/>
              <p:cNvGrpSpPr/>
              <p:nvPr/>
            </p:nvGrpSpPr>
            <p:grpSpPr>
              <a:xfrm>
                <a:off x="278" y="886"/>
                <a:ext cx="397" cy="154"/>
                <a:chOff x="740" y="3209"/>
                <a:chExt cx="397" cy="154"/>
              </a:xfrm>
            </p:grpSpPr>
            <p:grpSp>
              <p:nvGrpSpPr>
                <p:cNvPr id="2112" name="Google Shape;2112;p28"/>
                <p:cNvGrpSpPr/>
                <p:nvPr/>
              </p:nvGrpSpPr>
              <p:grpSpPr>
                <a:xfrm>
                  <a:off x="794" y="3209"/>
                  <a:ext cx="343" cy="154"/>
                  <a:chOff x="844" y="3337"/>
                  <a:chExt cx="343" cy="154"/>
                </a:xfrm>
              </p:grpSpPr>
              <p:sp>
                <p:nvSpPr>
                  <p:cNvPr id="2113" name="Google Shape;2113;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14" name="Google Shape;2114;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sp>
              <p:nvSpPr>
                <p:cNvPr id="2115" name="Google Shape;2115;p28"/>
                <p:cNvSpPr/>
                <p:nvPr/>
              </p:nvSpPr>
              <p:spPr>
                <a:xfrm>
                  <a:off x="750" y="3244"/>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16" name="Google Shape;2116;p28"/>
                <p:cNvSpPr/>
                <p:nvPr/>
              </p:nvSpPr>
              <p:spPr>
                <a:xfrm>
                  <a:off x="740" y="3238"/>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2117" name="Google Shape;2117;p28"/>
              <p:cNvGrpSpPr/>
              <p:nvPr/>
            </p:nvGrpSpPr>
            <p:grpSpPr>
              <a:xfrm>
                <a:off x="278" y="1034"/>
                <a:ext cx="397" cy="154"/>
                <a:chOff x="836" y="3305"/>
                <a:chExt cx="397" cy="154"/>
              </a:xfrm>
            </p:grpSpPr>
            <p:grpSp>
              <p:nvGrpSpPr>
                <p:cNvPr id="2118" name="Google Shape;2118;p28"/>
                <p:cNvGrpSpPr/>
                <p:nvPr/>
              </p:nvGrpSpPr>
              <p:grpSpPr>
                <a:xfrm>
                  <a:off x="890" y="3305"/>
                  <a:ext cx="343" cy="154"/>
                  <a:chOff x="844" y="3337"/>
                  <a:chExt cx="343" cy="154"/>
                </a:xfrm>
              </p:grpSpPr>
              <p:sp>
                <p:nvSpPr>
                  <p:cNvPr id="2119" name="Google Shape;2119;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20" name="Google Shape;2120;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2121" name="Google Shape;2121;p28"/>
                <p:cNvGrpSpPr/>
                <p:nvPr/>
              </p:nvGrpSpPr>
              <p:grpSpPr>
                <a:xfrm>
                  <a:off x="836" y="3334"/>
                  <a:ext cx="354" cy="94"/>
                  <a:chOff x="836" y="3334"/>
                  <a:chExt cx="354" cy="94"/>
                </a:xfrm>
              </p:grpSpPr>
              <p:sp>
                <p:nvSpPr>
                  <p:cNvPr id="2122" name="Google Shape;2122;p28"/>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23" name="Google Shape;2123;p28"/>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grpSp>
            <p:nvGrpSpPr>
              <p:cNvPr id="2124" name="Google Shape;2124;p28"/>
              <p:cNvGrpSpPr/>
              <p:nvPr/>
            </p:nvGrpSpPr>
            <p:grpSpPr>
              <a:xfrm>
                <a:off x="165" y="1054"/>
                <a:ext cx="480" cy="112"/>
                <a:chOff x="627" y="3377"/>
                <a:chExt cx="480" cy="112"/>
              </a:xfrm>
            </p:grpSpPr>
            <p:sp>
              <p:nvSpPr>
                <p:cNvPr id="2125" name="Google Shape;2125;p28"/>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26" name="Google Shape;2126;p28"/>
                <p:cNvSpPr/>
                <p:nvPr/>
              </p:nvSpPr>
              <p:spPr>
                <a:xfrm>
                  <a:off x="627" y="3377"/>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2127" name="Google Shape;2127;p28"/>
              <p:cNvGrpSpPr/>
              <p:nvPr/>
            </p:nvGrpSpPr>
            <p:grpSpPr>
              <a:xfrm>
                <a:off x="42" y="1200"/>
                <a:ext cx="681" cy="154"/>
                <a:chOff x="504" y="3523"/>
                <a:chExt cx="681" cy="154"/>
              </a:xfrm>
            </p:grpSpPr>
            <p:grpSp>
              <p:nvGrpSpPr>
                <p:cNvPr id="2128" name="Google Shape;2128;p28"/>
                <p:cNvGrpSpPr/>
                <p:nvPr/>
              </p:nvGrpSpPr>
              <p:grpSpPr>
                <a:xfrm>
                  <a:off x="623" y="3523"/>
                  <a:ext cx="510" cy="154"/>
                  <a:chOff x="723" y="3453"/>
                  <a:chExt cx="510" cy="154"/>
                </a:xfrm>
              </p:grpSpPr>
              <p:grpSp>
                <p:nvGrpSpPr>
                  <p:cNvPr id="2129" name="Google Shape;2129;p28"/>
                  <p:cNvGrpSpPr/>
                  <p:nvPr/>
                </p:nvGrpSpPr>
                <p:grpSpPr>
                  <a:xfrm>
                    <a:off x="836" y="3453"/>
                    <a:ext cx="397" cy="154"/>
                    <a:chOff x="836" y="3305"/>
                    <a:chExt cx="397" cy="154"/>
                  </a:xfrm>
                </p:grpSpPr>
                <p:grpSp>
                  <p:nvGrpSpPr>
                    <p:cNvPr id="2130" name="Google Shape;2130;p28"/>
                    <p:cNvGrpSpPr/>
                    <p:nvPr/>
                  </p:nvGrpSpPr>
                  <p:grpSpPr>
                    <a:xfrm>
                      <a:off x="890" y="3305"/>
                      <a:ext cx="343" cy="154"/>
                      <a:chOff x="844" y="3337"/>
                      <a:chExt cx="343" cy="154"/>
                    </a:xfrm>
                  </p:grpSpPr>
                  <p:sp>
                    <p:nvSpPr>
                      <p:cNvPr id="2131" name="Google Shape;2131;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32" name="Google Shape;2132;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2133" name="Google Shape;2133;p28"/>
                    <p:cNvGrpSpPr/>
                    <p:nvPr/>
                  </p:nvGrpSpPr>
                  <p:grpSpPr>
                    <a:xfrm>
                      <a:off x="836" y="3334"/>
                      <a:ext cx="354" cy="94"/>
                      <a:chOff x="836" y="3334"/>
                      <a:chExt cx="354" cy="94"/>
                    </a:xfrm>
                  </p:grpSpPr>
                  <p:sp>
                    <p:nvSpPr>
                      <p:cNvPr id="2134" name="Google Shape;2134;p28"/>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35" name="Google Shape;2135;p28"/>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2136" name="Google Shape;2136;p28"/>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37" name="Google Shape;2137;p28"/>
                  <p:cNvSpPr/>
                  <p:nvPr/>
                </p:nvSpPr>
                <p:spPr>
                  <a:xfrm>
                    <a:off x="723" y="3473"/>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138" name="Google Shape;2138;p28"/>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39" name="Google Shape;2139;p28"/>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40" name="Google Shape;2140;p28"/>
                <p:cNvSpPr/>
                <p:nvPr/>
              </p:nvSpPr>
              <p:spPr>
                <a:xfrm>
                  <a:off x="504" y="3529"/>
                  <a:ext cx="681" cy="138"/>
                </a:xfrm>
                <a:prstGeom prst="rect">
                  <a:avLst/>
                </a:pr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2141" name="Google Shape;2141;p28"/>
            <p:cNvSpPr/>
            <p:nvPr/>
          </p:nvSpPr>
          <p:spPr>
            <a:xfrm>
              <a:off x="384" y="744"/>
              <a:ext cx="240" cy="735"/>
            </a:xfrm>
            <a:prstGeom prst="downArrow">
              <a:avLst>
                <a:gd fmla="val 54167" name="adj1"/>
                <a:gd fmla="val 49170" name="adj2"/>
              </a:avLst>
            </a:prstGeom>
            <a:gradFill>
              <a:gsLst>
                <a:gs pos="0">
                  <a:srgbClr val="FF0000">
                    <a:alpha val="25098"/>
                  </a:srgbClr>
                </a:gs>
                <a:gs pos="100000">
                  <a:srgbClr val="FF0000">
                    <a:alpha val="25098"/>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2142" name="Google Shape;2142;p28"/>
          <p:cNvGrpSpPr/>
          <p:nvPr/>
        </p:nvGrpSpPr>
        <p:grpSpPr>
          <a:xfrm>
            <a:off x="1543545" y="4795058"/>
            <a:ext cx="1081087" cy="244475"/>
            <a:chOff x="504" y="3523"/>
            <a:chExt cx="681" cy="154"/>
          </a:xfrm>
        </p:grpSpPr>
        <p:grpSp>
          <p:nvGrpSpPr>
            <p:cNvPr id="2143" name="Google Shape;2143;p28"/>
            <p:cNvGrpSpPr/>
            <p:nvPr/>
          </p:nvGrpSpPr>
          <p:grpSpPr>
            <a:xfrm>
              <a:off x="623" y="3523"/>
              <a:ext cx="510" cy="154"/>
              <a:chOff x="723" y="3453"/>
              <a:chExt cx="510" cy="154"/>
            </a:xfrm>
          </p:grpSpPr>
          <p:grpSp>
            <p:nvGrpSpPr>
              <p:cNvPr id="2144" name="Google Shape;2144;p28"/>
              <p:cNvGrpSpPr/>
              <p:nvPr/>
            </p:nvGrpSpPr>
            <p:grpSpPr>
              <a:xfrm>
                <a:off x="836" y="3453"/>
                <a:ext cx="397" cy="154"/>
                <a:chOff x="836" y="3305"/>
                <a:chExt cx="397" cy="154"/>
              </a:xfrm>
            </p:grpSpPr>
            <p:grpSp>
              <p:nvGrpSpPr>
                <p:cNvPr id="2145" name="Google Shape;2145;p28"/>
                <p:cNvGrpSpPr/>
                <p:nvPr/>
              </p:nvGrpSpPr>
              <p:grpSpPr>
                <a:xfrm>
                  <a:off x="890" y="3305"/>
                  <a:ext cx="343" cy="154"/>
                  <a:chOff x="844" y="3337"/>
                  <a:chExt cx="343" cy="154"/>
                </a:xfrm>
              </p:grpSpPr>
              <p:sp>
                <p:nvSpPr>
                  <p:cNvPr id="2146" name="Google Shape;2146;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47" name="Google Shape;2147;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2148" name="Google Shape;2148;p28"/>
                <p:cNvGrpSpPr/>
                <p:nvPr/>
              </p:nvGrpSpPr>
              <p:grpSpPr>
                <a:xfrm>
                  <a:off x="836" y="3334"/>
                  <a:ext cx="354" cy="94"/>
                  <a:chOff x="836" y="3334"/>
                  <a:chExt cx="354" cy="94"/>
                </a:xfrm>
              </p:grpSpPr>
              <p:sp>
                <p:nvSpPr>
                  <p:cNvPr id="2149" name="Google Shape;2149;p28"/>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50" name="Google Shape;2150;p28"/>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2151" name="Google Shape;2151;p28"/>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52" name="Google Shape;2152;p28"/>
              <p:cNvSpPr/>
              <p:nvPr/>
            </p:nvSpPr>
            <p:spPr>
              <a:xfrm>
                <a:off x="723" y="3473"/>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153" name="Google Shape;2153;p28"/>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54" name="Google Shape;2154;p28"/>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55" name="Google Shape;2155;p28"/>
            <p:cNvSpPr/>
            <p:nvPr/>
          </p:nvSpPr>
          <p:spPr>
            <a:xfrm>
              <a:off x="504" y="3529"/>
              <a:ext cx="681" cy="138"/>
            </a:xfrm>
            <a:prstGeom prst="rect">
              <a:avLst/>
            </a:pr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2156" name="Google Shape;2156;p28"/>
          <p:cNvGrpSpPr/>
          <p:nvPr/>
        </p:nvGrpSpPr>
        <p:grpSpPr>
          <a:xfrm>
            <a:off x="2572245" y="3626658"/>
            <a:ext cx="1316037" cy="1314450"/>
            <a:chOff x="931" y="1941"/>
            <a:chExt cx="829" cy="828"/>
          </a:xfrm>
        </p:grpSpPr>
        <p:sp>
          <p:nvSpPr>
            <p:cNvPr id="2157" name="Google Shape;2157;p28"/>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FFFFFF">
                    <a:alpha val="65882"/>
                  </a:srgbClr>
                </a:gs>
                <a:gs pos="100000">
                  <a:srgbClr val="000099">
                    <a:alpha val="65882"/>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158" name="Google Shape;2158;p28"/>
            <p:cNvGrpSpPr/>
            <p:nvPr/>
          </p:nvGrpSpPr>
          <p:grpSpPr>
            <a:xfrm>
              <a:off x="931" y="1941"/>
              <a:ext cx="501" cy="828"/>
              <a:chOff x="569" y="2954"/>
              <a:chExt cx="501" cy="828"/>
            </a:xfrm>
          </p:grpSpPr>
          <p:sp>
            <p:nvSpPr>
              <p:cNvPr id="2159" name="Google Shape;2159;p28"/>
              <p:cNvSpPr/>
              <p:nvPr/>
            </p:nvSpPr>
            <p:spPr>
              <a:xfrm>
                <a:off x="576" y="2973"/>
                <a:ext cx="493" cy="790"/>
              </a:xfrm>
              <a:prstGeom prst="rect">
                <a:avLst/>
              </a:prstGeom>
              <a:solidFill>
                <a:srgbClr val="FFFFFF"/>
              </a:solidFill>
              <a:ln cap="flat" cmpd="sng" w="9525">
                <a:solidFill>
                  <a:srgbClr val="000000"/>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60" name="Google Shape;2160;p28"/>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DHCP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UDP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IP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Eth</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Phy</a:t>
                </a:r>
                <a:endParaRPr/>
              </a:p>
            </p:txBody>
          </p:sp>
          <p:cxnSp>
            <p:nvCxnSpPr>
              <p:cNvPr id="2161" name="Google Shape;2161;p28"/>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2162" name="Google Shape;2162;p28"/>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2163" name="Google Shape;2163;p28"/>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2164" name="Google Shape;2164;p28"/>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2165" name="Google Shape;2165;p28"/>
          <p:cNvGrpSpPr/>
          <p:nvPr/>
        </p:nvGrpSpPr>
        <p:grpSpPr>
          <a:xfrm>
            <a:off x="1897557" y="3734608"/>
            <a:ext cx="544513" cy="244475"/>
            <a:chOff x="844" y="3337"/>
            <a:chExt cx="343" cy="154"/>
          </a:xfrm>
        </p:grpSpPr>
        <p:sp>
          <p:nvSpPr>
            <p:cNvPr id="2166" name="Google Shape;2166;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67" name="Google Shape;2167;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2168" name="Google Shape;2168;p28"/>
          <p:cNvGrpSpPr/>
          <p:nvPr/>
        </p:nvGrpSpPr>
        <p:grpSpPr>
          <a:xfrm>
            <a:off x="2289670" y="1637520"/>
            <a:ext cx="976312" cy="1460500"/>
            <a:chOff x="651" y="681"/>
            <a:chExt cx="615" cy="920"/>
          </a:xfrm>
        </p:grpSpPr>
        <p:sp>
          <p:nvSpPr>
            <p:cNvPr id="2169" name="Google Shape;2169;p28"/>
            <p:cNvSpPr/>
            <p:nvPr/>
          </p:nvSpPr>
          <p:spPr>
            <a:xfrm>
              <a:off x="662" y="698"/>
              <a:ext cx="604" cy="903"/>
            </a:xfrm>
            <a:custGeom>
              <a:rect b="b" l="l" r="r" t="t"/>
              <a:pathLst>
                <a:path extrusionOk="0" h="903" w="604">
                  <a:moveTo>
                    <a:pt x="496" y="0"/>
                  </a:moveTo>
                  <a:lnTo>
                    <a:pt x="604" y="903"/>
                  </a:lnTo>
                  <a:lnTo>
                    <a:pt x="0" y="788"/>
                  </a:lnTo>
                  <a:lnTo>
                    <a:pt x="456" y="750"/>
                  </a:lnTo>
                  <a:lnTo>
                    <a:pt x="496" y="0"/>
                  </a:lnTo>
                  <a:close/>
                </a:path>
              </a:pathLst>
            </a:custGeom>
            <a:gradFill>
              <a:gsLst>
                <a:gs pos="0">
                  <a:srgbClr val="FFFFFF">
                    <a:alpha val="65882"/>
                  </a:srgbClr>
                </a:gs>
                <a:gs pos="100000">
                  <a:srgbClr val="000099">
                    <a:alpha val="65882"/>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170" name="Google Shape;2170;p28"/>
            <p:cNvGrpSpPr/>
            <p:nvPr/>
          </p:nvGrpSpPr>
          <p:grpSpPr>
            <a:xfrm>
              <a:off x="651" y="681"/>
              <a:ext cx="501" cy="828"/>
              <a:chOff x="569" y="2954"/>
              <a:chExt cx="501" cy="828"/>
            </a:xfrm>
          </p:grpSpPr>
          <p:sp>
            <p:nvSpPr>
              <p:cNvPr id="2171" name="Google Shape;2171;p28"/>
              <p:cNvSpPr/>
              <p:nvPr/>
            </p:nvSpPr>
            <p:spPr>
              <a:xfrm>
                <a:off x="576" y="2973"/>
                <a:ext cx="493" cy="790"/>
              </a:xfrm>
              <a:prstGeom prst="rect">
                <a:avLst/>
              </a:prstGeom>
              <a:solidFill>
                <a:srgbClr val="FFFFFF"/>
              </a:solidFill>
              <a:ln cap="flat" cmpd="sng" w="9525">
                <a:solidFill>
                  <a:srgbClr val="000000"/>
                </a:solidFill>
                <a:prstDash val="solid"/>
                <a:miter lim="8000"/>
                <a:headEnd len="sm" w="sm" type="none"/>
                <a:tailEnd len="sm" w="sm" type="none"/>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72" name="Google Shape;2172;p28"/>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DHCP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UDP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IP</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Eth</a:t>
                </a:r>
                <a:endParaRPr/>
              </a:p>
              <a:p>
                <a:pPr indent="0" lvl="0" marL="0" marR="0" rtl="0" algn="ctr">
                  <a:spcBef>
                    <a:spcPts val="0"/>
                  </a:spcBef>
                  <a:spcAft>
                    <a:spcPts val="0"/>
                  </a:spcAft>
                  <a:buNone/>
                </a:pPr>
                <a:r>
                  <a:rPr b="0" i="0" lang="en-US" sz="1600" u="none" cap="none" strike="noStrike">
                    <a:solidFill>
                      <a:srgbClr val="000000"/>
                    </a:solidFill>
                    <a:latin typeface="Arial"/>
                    <a:ea typeface="Arial"/>
                    <a:cs typeface="Arial"/>
                    <a:sym typeface="Arial"/>
                  </a:rPr>
                  <a:t>Phy</a:t>
                </a:r>
                <a:endParaRPr/>
              </a:p>
            </p:txBody>
          </p:sp>
          <p:cxnSp>
            <p:nvCxnSpPr>
              <p:cNvPr id="2173" name="Google Shape;2173;p28"/>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2174" name="Google Shape;2174;p28"/>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2175" name="Google Shape;2175;p28"/>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2176" name="Google Shape;2176;p28"/>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2177" name="Google Shape;2177;p28"/>
          <p:cNvGrpSpPr/>
          <p:nvPr/>
        </p:nvGrpSpPr>
        <p:grpSpPr>
          <a:xfrm>
            <a:off x="1165720" y="1526395"/>
            <a:ext cx="1081087" cy="1217613"/>
            <a:chOff x="1404" y="3105"/>
            <a:chExt cx="681" cy="767"/>
          </a:xfrm>
        </p:grpSpPr>
        <p:grpSp>
          <p:nvGrpSpPr>
            <p:cNvPr id="2178" name="Google Shape;2178;p28"/>
            <p:cNvGrpSpPr/>
            <p:nvPr/>
          </p:nvGrpSpPr>
          <p:grpSpPr>
            <a:xfrm>
              <a:off x="1404" y="3355"/>
              <a:ext cx="681" cy="468"/>
              <a:chOff x="42" y="886"/>
              <a:chExt cx="681" cy="468"/>
            </a:xfrm>
          </p:grpSpPr>
          <p:grpSp>
            <p:nvGrpSpPr>
              <p:cNvPr id="2179" name="Google Shape;2179;p28"/>
              <p:cNvGrpSpPr/>
              <p:nvPr/>
            </p:nvGrpSpPr>
            <p:grpSpPr>
              <a:xfrm>
                <a:off x="278" y="886"/>
                <a:ext cx="397" cy="154"/>
                <a:chOff x="740" y="3209"/>
                <a:chExt cx="397" cy="154"/>
              </a:xfrm>
            </p:grpSpPr>
            <p:grpSp>
              <p:nvGrpSpPr>
                <p:cNvPr id="2180" name="Google Shape;2180;p28"/>
                <p:cNvGrpSpPr/>
                <p:nvPr/>
              </p:nvGrpSpPr>
              <p:grpSpPr>
                <a:xfrm>
                  <a:off x="794" y="3209"/>
                  <a:ext cx="343" cy="154"/>
                  <a:chOff x="844" y="3337"/>
                  <a:chExt cx="343" cy="154"/>
                </a:xfrm>
              </p:grpSpPr>
              <p:sp>
                <p:nvSpPr>
                  <p:cNvPr id="2181" name="Google Shape;2181;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82" name="Google Shape;2182;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sp>
              <p:nvSpPr>
                <p:cNvPr id="2183" name="Google Shape;2183;p28"/>
                <p:cNvSpPr/>
                <p:nvPr/>
              </p:nvSpPr>
              <p:spPr>
                <a:xfrm>
                  <a:off x="750" y="3244"/>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84" name="Google Shape;2184;p28"/>
                <p:cNvSpPr/>
                <p:nvPr/>
              </p:nvSpPr>
              <p:spPr>
                <a:xfrm>
                  <a:off x="740" y="3238"/>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2185" name="Google Shape;2185;p28"/>
              <p:cNvGrpSpPr/>
              <p:nvPr/>
            </p:nvGrpSpPr>
            <p:grpSpPr>
              <a:xfrm>
                <a:off x="278" y="1034"/>
                <a:ext cx="397" cy="154"/>
                <a:chOff x="836" y="3305"/>
                <a:chExt cx="397" cy="154"/>
              </a:xfrm>
            </p:grpSpPr>
            <p:grpSp>
              <p:nvGrpSpPr>
                <p:cNvPr id="2186" name="Google Shape;2186;p28"/>
                <p:cNvGrpSpPr/>
                <p:nvPr/>
              </p:nvGrpSpPr>
              <p:grpSpPr>
                <a:xfrm>
                  <a:off x="890" y="3305"/>
                  <a:ext cx="343" cy="154"/>
                  <a:chOff x="844" y="3337"/>
                  <a:chExt cx="343" cy="154"/>
                </a:xfrm>
              </p:grpSpPr>
              <p:sp>
                <p:nvSpPr>
                  <p:cNvPr id="2187" name="Google Shape;2187;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88" name="Google Shape;2188;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2189" name="Google Shape;2189;p28"/>
                <p:cNvGrpSpPr/>
                <p:nvPr/>
              </p:nvGrpSpPr>
              <p:grpSpPr>
                <a:xfrm>
                  <a:off x="836" y="3334"/>
                  <a:ext cx="354" cy="94"/>
                  <a:chOff x="836" y="3334"/>
                  <a:chExt cx="354" cy="94"/>
                </a:xfrm>
              </p:grpSpPr>
              <p:sp>
                <p:nvSpPr>
                  <p:cNvPr id="2190" name="Google Shape;2190;p28"/>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91" name="Google Shape;2191;p28"/>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grpSp>
            <p:nvGrpSpPr>
              <p:cNvPr id="2192" name="Google Shape;2192;p28"/>
              <p:cNvGrpSpPr/>
              <p:nvPr/>
            </p:nvGrpSpPr>
            <p:grpSpPr>
              <a:xfrm>
                <a:off x="165" y="1054"/>
                <a:ext cx="480" cy="112"/>
                <a:chOff x="627" y="3377"/>
                <a:chExt cx="480" cy="112"/>
              </a:xfrm>
            </p:grpSpPr>
            <p:sp>
              <p:nvSpPr>
                <p:cNvPr id="2193" name="Google Shape;2193;p28"/>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194" name="Google Shape;2194;p28"/>
                <p:cNvSpPr/>
                <p:nvPr/>
              </p:nvSpPr>
              <p:spPr>
                <a:xfrm>
                  <a:off x="627" y="3377"/>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nvGrpSpPr>
              <p:cNvPr id="2195" name="Google Shape;2195;p28"/>
              <p:cNvGrpSpPr/>
              <p:nvPr/>
            </p:nvGrpSpPr>
            <p:grpSpPr>
              <a:xfrm>
                <a:off x="42" y="1200"/>
                <a:ext cx="681" cy="154"/>
                <a:chOff x="504" y="3523"/>
                <a:chExt cx="681" cy="154"/>
              </a:xfrm>
            </p:grpSpPr>
            <p:grpSp>
              <p:nvGrpSpPr>
                <p:cNvPr id="2196" name="Google Shape;2196;p28"/>
                <p:cNvGrpSpPr/>
                <p:nvPr/>
              </p:nvGrpSpPr>
              <p:grpSpPr>
                <a:xfrm>
                  <a:off x="623" y="3523"/>
                  <a:ext cx="510" cy="154"/>
                  <a:chOff x="723" y="3453"/>
                  <a:chExt cx="510" cy="154"/>
                </a:xfrm>
              </p:grpSpPr>
              <p:grpSp>
                <p:nvGrpSpPr>
                  <p:cNvPr id="2197" name="Google Shape;2197;p28"/>
                  <p:cNvGrpSpPr/>
                  <p:nvPr/>
                </p:nvGrpSpPr>
                <p:grpSpPr>
                  <a:xfrm>
                    <a:off x="836" y="3453"/>
                    <a:ext cx="397" cy="154"/>
                    <a:chOff x="836" y="3305"/>
                    <a:chExt cx="397" cy="154"/>
                  </a:xfrm>
                </p:grpSpPr>
                <p:grpSp>
                  <p:nvGrpSpPr>
                    <p:cNvPr id="2198" name="Google Shape;2198;p28"/>
                    <p:cNvGrpSpPr/>
                    <p:nvPr/>
                  </p:nvGrpSpPr>
                  <p:grpSpPr>
                    <a:xfrm>
                      <a:off x="890" y="3305"/>
                      <a:ext cx="343" cy="154"/>
                      <a:chOff x="844" y="3337"/>
                      <a:chExt cx="343" cy="154"/>
                    </a:xfrm>
                  </p:grpSpPr>
                  <p:sp>
                    <p:nvSpPr>
                      <p:cNvPr id="2199" name="Google Shape;2199;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00" name="Google Shape;2200;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nvGrpSpPr>
                    <p:cNvPr id="2201" name="Google Shape;2201;p28"/>
                    <p:cNvGrpSpPr/>
                    <p:nvPr/>
                  </p:nvGrpSpPr>
                  <p:grpSpPr>
                    <a:xfrm>
                      <a:off x="836" y="3334"/>
                      <a:ext cx="354" cy="94"/>
                      <a:chOff x="836" y="3334"/>
                      <a:chExt cx="354" cy="94"/>
                    </a:xfrm>
                  </p:grpSpPr>
                  <p:sp>
                    <p:nvSpPr>
                      <p:cNvPr id="2202" name="Google Shape;2202;p28"/>
                      <p:cNvSpPr/>
                      <p:nvPr/>
                    </p:nvSpPr>
                    <p:spPr>
                      <a:xfrm>
                        <a:off x="846" y="3340"/>
                        <a:ext cx="88" cy="82"/>
                      </a:xfrm>
                      <a:prstGeom prst="rect">
                        <a:avLst/>
                      </a:prstGeom>
                      <a:solidFill>
                        <a:srgbClr val="00CC99"/>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03" name="Google Shape;2203;p28"/>
                      <p:cNvSpPr/>
                      <p:nvPr/>
                    </p:nvSpPr>
                    <p:spPr>
                      <a:xfrm>
                        <a:off x="836" y="3334"/>
                        <a:ext cx="354" cy="94"/>
                      </a:xfrm>
                      <a:prstGeom prst="rect">
                        <a:avLst/>
                      </a:prstGeom>
                      <a:noFill/>
                      <a:ln cap="flat" cmpd="sng" w="9525">
                        <a:solidFill>
                          <a:srgbClr val="00CC9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2204" name="Google Shape;2204;p28"/>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05" name="Google Shape;2205;p28"/>
                  <p:cNvSpPr/>
                  <p:nvPr/>
                </p:nvSpPr>
                <p:spPr>
                  <a:xfrm>
                    <a:off x="723" y="3473"/>
                    <a:ext cx="480" cy="112"/>
                  </a:xfrm>
                  <a:prstGeom prst="rect">
                    <a:avLst/>
                  </a:prstGeom>
                  <a:noFill/>
                  <a:ln cap="flat" cmpd="sng" w="9525">
                    <a:solidFill>
                      <a:srgbClr val="3333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206" name="Google Shape;2206;p28"/>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07" name="Google Shape;2207;p28"/>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08" name="Google Shape;2208;p28"/>
                <p:cNvSpPr/>
                <p:nvPr/>
              </p:nvSpPr>
              <p:spPr>
                <a:xfrm>
                  <a:off x="504" y="3529"/>
                  <a:ext cx="681" cy="138"/>
                </a:xfrm>
                <a:prstGeom prst="rect">
                  <a:avLst/>
                </a:pr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grpSp>
        <p:sp>
          <p:nvSpPr>
            <p:cNvPr id="2209" name="Google Shape;2209;p28"/>
            <p:cNvSpPr/>
            <p:nvPr/>
          </p:nvSpPr>
          <p:spPr>
            <a:xfrm rot="10800000">
              <a:off x="1727" y="3105"/>
              <a:ext cx="240" cy="767"/>
            </a:xfrm>
            <a:prstGeom prst="downArrow">
              <a:avLst>
                <a:gd fmla="val 54167" name="adj1"/>
                <a:gd fmla="val 51311" name="adj2"/>
              </a:avLst>
            </a:prstGeom>
            <a:gradFill>
              <a:gsLst>
                <a:gs pos="0">
                  <a:srgbClr val="FF0000">
                    <a:alpha val="25098"/>
                  </a:srgbClr>
                </a:gs>
                <a:gs pos="100000">
                  <a:srgbClr val="FF0000">
                    <a:alpha val="25098"/>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210" name="Google Shape;2210;p28"/>
            <p:cNvGrpSpPr/>
            <p:nvPr/>
          </p:nvGrpSpPr>
          <p:grpSpPr>
            <a:xfrm>
              <a:off x="1695" y="3227"/>
              <a:ext cx="343" cy="154"/>
              <a:chOff x="844" y="3337"/>
              <a:chExt cx="343" cy="154"/>
            </a:xfrm>
          </p:grpSpPr>
          <p:sp>
            <p:nvSpPr>
              <p:cNvPr id="2211" name="Google Shape;2211;p28"/>
              <p:cNvSpPr/>
              <p:nvPr/>
            </p:nvSpPr>
            <p:spPr>
              <a:xfrm>
                <a:off x="889" y="3370"/>
                <a:ext cx="245" cy="86"/>
              </a:xfrm>
              <a:prstGeom prst="rect">
                <a:avLst/>
              </a:prstGeom>
              <a:solidFill>
                <a:srgbClr val="FF0000"/>
              </a:solid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12" name="Google Shape;2212;p28"/>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Arial"/>
                    <a:ea typeface="Arial"/>
                    <a:cs typeface="Arial"/>
                    <a:sym typeface="Arial"/>
                  </a:rPr>
                  <a:t>DHCP</a:t>
                </a:r>
                <a:endParaRPr/>
              </a:p>
            </p:txBody>
          </p:sp>
        </p:grpSp>
      </p:grpSp>
      <p:sp>
        <p:nvSpPr>
          <p:cNvPr id="2213" name="Google Shape;2213;p28"/>
          <p:cNvSpPr/>
          <p:nvPr/>
        </p:nvSpPr>
        <p:spPr>
          <a:xfrm>
            <a:off x="6120307" y="4620433"/>
            <a:ext cx="5201653" cy="13620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client now knows its IP address, name and IP address of DNS server, IP address of its first-hop router</a:t>
            </a:r>
            <a:endParaRPr/>
          </a:p>
          <a:p>
            <a:pPr indent="-243840" lvl="0" marL="342900" marR="0" rtl="0" algn="l">
              <a:lnSpc>
                <a:spcPct val="85000"/>
              </a:lnSpc>
              <a:spcBef>
                <a:spcPts val="48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p:txBody>
      </p:sp>
      <p:grpSp>
        <p:nvGrpSpPr>
          <p:cNvPr id="2214" name="Google Shape;2214;p28"/>
          <p:cNvGrpSpPr/>
          <p:nvPr/>
        </p:nvGrpSpPr>
        <p:grpSpPr>
          <a:xfrm>
            <a:off x="3800970" y="3720320"/>
            <a:ext cx="423862" cy="647700"/>
            <a:chOff x="4140" y="429"/>
            <a:chExt cx="1425" cy="2396"/>
          </a:xfrm>
        </p:grpSpPr>
        <p:sp>
          <p:nvSpPr>
            <p:cNvPr id="2215" name="Google Shape;2215;p2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16" name="Google Shape;2216;p28"/>
            <p:cNvSpPr/>
            <p:nvPr/>
          </p:nvSpPr>
          <p:spPr>
            <a:xfrm>
              <a:off x="4204" y="429"/>
              <a:ext cx="1051"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17" name="Google Shape;2217;p2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18" name="Google Shape;2218;p2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19" name="Google Shape;2219;p28"/>
            <p:cNvSpPr/>
            <p:nvPr/>
          </p:nvSpPr>
          <p:spPr>
            <a:xfrm>
              <a:off x="4209" y="693"/>
              <a:ext cx="598" cy="47"/>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220" name="Google Shape;2220;p28"/>
            <p:cNvGrpSpPr/>
            <p:nvPr/>
          </p:nvGrpSpPr>
          <p:grpSpPr>
            <a:xfrm>
              <a:off x="4748" y="670"/>
              <a:ext cx="582" cy="141"/>
              <a:chOff x="613" y="2570"/>
              <a:chExt cx="726" cy="135"/>
            </a:xfrm>
          </p:grpSpPr>
          <p:sp>
            <p:nvSpPr>
              <p:cNvPr id="2221" name="Google Shape;2221;p28"/>
              <p:cNvSpPr/>
              <p:nvPr/>
            </p:nvSpPr>
            <p:spPr>
              <a:xfrm>
                <a:off x="613" y="2570"/>
                <a:ext cx="726"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22" name="Google Shape;2222;p28"/>
              <p:cNvSpPr/>
              <p:nvPr/>
            </p:nvSpPr>
            <p:spPr>
              <a:xfrm>
                <a:off x="627" y="2587"/>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223" name="Google Shape;2223;p28"/>
            <p:cNvSpPr/>
            <p:nvPr/>
          </p:nvSpPr>
          <p:spPr>
            <a:xfrm>
              <a:off x="4225" y="1016"/>
              <a:ext cx="592" cy="47"/>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224" name="Google Shape;2224;p28"/>
            <p:cNvGrpSpPr/>
            <p:nvPr/>
          </p:nvGrpSpPr>
          <p:grpSpPr>
            <a:xfrm>
              <a:off x="4749" y="993"/>
              <a:ext cx="582" cy="135"/>
              <a:chOff x="616" y="2567"/>
              <a:chExt cx="726" cy="140"/>
            </a:xfrm>
          </p:grpSpPr>
          <p:sp>
            <p:nvSpPr>
              <p:cNvPr id="2225" name="Google Shape;2225;p28"/>
              <p:cNvSpPr/>
              <p:nvPr/>
            </p:nvSpPr>
            <p:spPr>
              <a:xfrm>
                <a:off x="616" y="2567"/>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26" name="Google Shape;2226;p28"/>
              <p:cNvSpPr/>
              <p:nvPr/>
            </p:nvSpPr>
            <p:spPr>
              <a:xfrm>
                <a:off x="629" y="2585"/>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227" name="Google Shape;2227;p28"/>
            <p:cNvSpPr/>
            <p:nvPr/>
          </p:nvSpPr>
          <p:spPr>
            <a:xfrm>
              <a:off x="4215" y="1357"/>
              <a:ext cx="598" cy="47"/>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28" name="Google Shape;2228;p28"/>
            <p:cNvSpPr/>
            <p:nvPr/>
          </p:nvSpPr>
          <p:spPr>
            <a:xfrm>
              <a:off x="4225" y="1656"/>
              <a:ext cx="598" cy="47"/>
            </a:xfrm>
            <a:prstGeom prst="rect">
              <a:avLst/>
            </a:prstGeom>
            <a:solidFill>
              <a:srgbClr val="000000"/>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229" name="Google Shape;2229;p28"/>
            <p:cNvGrpSpPr/>
            <p:nvPr/>
          </p:nvGrpSpPr>
          <p:grpSpPr>
            <a:xfrm>
              <a:off x="4733" y="1627"/>
              <a:ext cx="587" cy="153"/>
              <a:chOff x="611" y="2568"/>
              <a:chExt cx="731" cy="141"/>
            </a:xfrm>
          </p:grpSpPr>
          <p:sp>
            <p:nvSpPr>
              <p:cNvPr id="2230" name="Google Shape;2230;p28"/>
              <p:cNvSpPr/>
              <p:nvPr/>
            </p:nvSpPr>
            <p:spPr>
              <a:xfrm>
                <a:off x="611" y="2568"/>
                <a:ext cx="731"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31" name="Google Shape;2231;p28"/>
              <p:cNvSpPr/>
              <p:nvPr/>
            </p:nvSpPr>
            <p:spPr>
              <a:xfrm>
                <a:off x="624" y="2584"/>
                <a:ext cx="69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232" name="Google Shape;2232;p2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233" name="Google Shape;2233;p28"/>
            <p:cNvGrpSpPr/>
            <p:nvPr/>
          </p:nvGrpSpPr>
          <p:grpSpPr>
            <a:xfrm>
              <a:off x="4737" y="1328"/>
              <a:ext cx="582" cy="147"/>
              <a:chOff x="612" y="2569"/>
              <a:chExt cx="725" cy="147"/>
            </a:xfrm>
          </p:grpSpPr>
          <p:sp>
            <p:nvSpPr>
              <p:cNvPr id="2234" name="Google Shape;2234;p28"/>
              <p:cNvSpPr/>
              <p:nvPr/>
            </p:nvSpPr>
            <p:spPr>
              <a:xfrm>
                <a:off x="612" y="2569"/>
                <a:ext cx="725" cy="14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35" name="Google Shape;2235;p28"/>
              <p:cNvSpPr/>
              <p:nvPr/>
            </p:nvSpPr>
            <p:spPr>
              <a:xfrm>
                <a:off x="626" y="2586"/>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236" name="Google Shape;2236;p28"/>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37" name="Google Shape;2237;p2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38" name="Google Shape;2238;p2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39" name="Google Shape;2239;p28"/>
            <p:cNvSpPr/>
            <p:nvPr/>
          </p:nvSpPr>
          <p:spPr>
            <a:xfrm>
              <a:off x="5517" y="2614"/>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40" name="Google Shape;2240;p2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41" name="Google Shape;2241;p2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42" name="Google Shape;2242;p28"/>
            <p:cNvSpPr/>
            <p:nvPr/>
          </p:nvSpPr>
          <p:spPr>
            <a:xfrm>
              <a:off x="4204" y="2713"/>
              <a:ext cx="1073"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43" name="Google Shape;2243;p28"/>
            <p:cNvSpPr/>
            <p:nvPr/>
          </p:nvSpPr>
          <p:spPr>
            <a:xfrm>
              <a:off x="4305" y="2385"/>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44" name="Google Shape;2244;p28"/>
            <p:cNvSpPr/>
            <p:nvPr/>
          </p:nvSpPr>
          <p:spPr>
            <a:xfrm>
              <a:off x="4487" y="2385"/>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0000"/>
                </a:solidFill>
                <a:latin typeface="Arial"/>
                <a:ea typeface="Arial"/>
                <a:cs typeface="Arial"/>
                <a:sym typeface="Arial"/>
              </a:endParaRPr>
            </a:p>
          </p:txBody>
        </p:sp>
        <p:sp>
          <p:nvSpPr>
            <p:cNvPr id="2245" name="Google Shape;2245;p28"/>
            <p:cNvSpPr/>
            <p:nvPr/>
          </p:nvSpPr>
          <p:spPr>
            <a:xfrm>
              <a:off x="4663" y="2379"/>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46" name="Google Shape;2246;p28"/>
            <p:cNvSpPr/>
            <p:nvPr/>
          </p:nvSpPr>
          <p:spPr>
            <a:xfrm>
              <a:off x="5063" y="1833"/>
              <a:ext cx="85" cy="763"/>
            </a:xfrm>
            <a:prstGeom prst="rect">
              <a:avLst/>
            </a:prstGeom>
            <a:solidFill>
              <a:srgbClr val="292929"/>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sp>
        <p:nvSpPr>
          <p:cNvPr id="2247" name="Google Shape;2247;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1">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9"/>
                                        </p:tgtEl>
                                        <p:attrNameLst>
                                          <p:attrName>style.visibility</p:attrName>
                                        </p:attrNameLst>
                                      </p:cBhvr>
                                      <p:to>
                                        <p:strVal val="visible"/>
                                      </p:to>
                                    </p:set>
                                    <p:animEffect filter="fade" transition="in">
                                      <p:cBhvr>
                                        <p:cTn dur="500"/>
                                        <p:tgtEl>
                                          <p:spTgt spid="2109"/>
                                        </p:tgtEl>
                                      </p:cBhvr>
                                    </p:animEffect>
                                  </p:childTnLst>
                                </p:cTn>
                              </p:par>
                              <p:par>
                                <p:cTn fill="hold" nodeType="withEffect" presetClass="entr" presetID="1" presetSubtype="0">
                                  <p:stCondLst>
                                    <p:cond delay="0"/>
                                  </p:stCondLst>
                                  <p:childTnLst>
                                    <p:set>
                                      <p:cBhvr>
                                        <p:cTn dur="1" fill="hold">
                                          <p:stCondLst>
                                            <p:cond delay="0"/>
                                          </p:stCondLst>
                                        </p:cTn>
                                        <p:tgtEl>
                                          <p:spTgt spid="2084">
                                            <p:txEl>
                                              <p:pRg end="0" st="0"/>
                                            </p:txEl>
                                          </p:spTgt>
                                        </p:tgtEl>
                                        <p:attrNameLst>
                                          <p:attrName>style.visibility</p:attrName>
                                        </p:attrNameLst>
                                      </p:cBhvr>
                                      <p:to>
                                        <p:strVal val="visible"/>
                                      </p:to>
                                    </p:se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142"/>
                                        </p:tgtEl>
                                        <p:attrNameLst>
                                          <p:attrName>style.visibility</p:attrName>
                                        </p:attrNameLst>
                                      </p:cBhvr>
                                      <p:to>
                                        <p:strVal val="visible"/>
                                      </p:to>
                                    </p:set>
                                  </p:childTnLst>
                                </p:cTn>
                              </p:par>
                            </p:childTnLst>
                          </p:cTn>
                        </p:par>
                        <p:par>
                          <p:cTn fill="hold">
                            <p:stCondLst>
                              <p:cond delay="501"/>
                            </p:stCondLst>
                            <p:childTnLst>
                              <p:par>
                                <p:cTn fill="hold" nodeType="afterEffect" presetClass="exit" presetID="1" presetSubtype="0">
                                  <p:stCondLst>
                                    <p:cond delay="0"/>
                                  </p:stCondLst>
                                  <p:childTnLst>
                                    <p:set>
                                      <p:cBhvr>
                                        <p:cTn dur="1" fill="hold">
                                          <p:stCondLst>
                                            <p:cond delay="1"/>
                                          </p:stCondLst>
                                        </p:cTn>
                                        <p:tgtEl>
                                          <p:spTgt spid="215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16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109"/>
                                        </p:tgtEl>
                                        <p:attrNameLst>
                                          <p:attrName>style.visibility</p:attrName>
                                        </p:attrNameLst>
                                      </p:cBhvr>
                                      <p:to>
                                        <p:strVal val="hidden"/>
                                      </p:to>
                                    </p:set>
                                  </p:childTnLst>
                                </p:cTn>
                              </p:par>
                            </p:childTnLst>
                          </p:cTn>
                        </p:par>
                        <p:par>
                          <p:cTn fill="hold">
                            <p:stCondLst>
                              <p:cond delay="502"/>
                            </p:stCondLst>
                            <p:childTnLst>
                              <p:par>
                                <p:cTn fill="hold" nodeType="afterEffect" presetClass="entr" presetID="10" presetSubtype="0">
                                  <p:stCondLst>
                                    <p:cond delay="0"/>
                                  </p:stCondLst>
                                  <p:childTnLst>
                                    <p:set>
                                      <p:cBhvr>
                                        <p:cTn dur="1" fill="hold">
                                          <p:stCondLst>
                                            <p:cond delay="0"/>
                                          </p:stCondLst>
                                        </p:cTn>
                                        <p:tgtEl>
                                          <p:spTgt spid="2168"/>
                                        </p:tgtEl>
                                        <p:attrNameLst>
                                          <p:attrName>style.visibility</p:attrName>
                                        </p:attrNameLst>
                                      </p:cBhvr>
                                      <p:to>
                                        <p:strVal val="visible"/>
                                      </p:to>
                                    </p:set>
                                    <p:animEffect filter="fade" transition="in">
                                      <p:cBhvr>
                                        <p:cTn dur="500"/>
                                        <p:tgtEl>
                                          <p:spTgt spid="2168"/>
                                        </p:tgtEl>
                                      </p:cBhvr>
                                    </p:animEffect>
                                  </p:childTnLst>
                                </p:cTn>
                              </p:par>
                            </p:childTnLst>
                          </p:cTn>
                        </p:par>
                        <p:par>
                          <p:cTn fill="hold">
                            <p:stCondLst>
                              <p:cond delay="1002"/>
                            </p:stCondLst>
                            <p:childTnLst>
                              <p:par>
                                <p:cTn fill="hold" nodeType="afterEffect" presetClass="entr" presetID="10" presetSubtype="0">
                                  <p:stCondLst>
                                    <p:cond delay="0"/>
                                  </p:stCondLst>
                                  <p:childTnLst>
                                    <p:set>
                                      <p:cBhvr>
                                        <p:cTn dur="1" fill="hold">
                                          <p:stCondLst>
                                            <p:cond delay="0"/>
                                          </p:stCondLst>
                                        </p:cTn>
                                        <p:tgtEl>
                                          <p:spTgt spid="2177"/>
                                        </p:tgtEl>
                                        <p:attrNameLst>
                                          <p:attrName>style.visibility</p:attrName>
                                        </p:attrNameLst>
                                      </p:cBhvr>
                                      <p:to>
                                        <p:strVal val="visible"/>
                                      </p:to>
                                    </p:set>
                                    <p:animEffect filter="fade" transition="in">
                                      <p:cBhvr>
                                        <p:cTn dur="1000"/>
                                        <p:tgtEl>
                                          <p:spTgt spid="2177"/>
                                        </p:tgtEl>
                                      </p:cBhvr>
                                    </p:animEffect>
                                  </p:childTnLst>
                                </p:cTn>
                              </p:par>
                              <p:par>
                                <p:cTn fill="hold" nodeType="withEffect" presetClass="exit" presetID="1" presetSubtype="0">
                                  <p:stCondLst>
                                    <p:cond delay="0"/>
                                  </p:stCondLst>
                                  <p:childTnLst>
                                    <p:set>
                                      <p:cBhvr>
                                        <p:cTn dur="1" fill="hold">
                                          <p:stCondLst>
                                            <p:cond delay="1"/>
                                          </p:stCondLst>
                                        </p:cTn>
                                        <p:tgtEl>
                                          <p:spTgt spid="21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2" name="Shape 2252"/>
        <p:cNvGrpSpPr/>
        <p:nvPr/>
      </p:nvGrpSpPr>
      <p:grpSpPr>
        <a:xfrm>
          <a:off x="0" y="0"/>
          <a:ext cx="0" cy="0"/>
          <a:chOff x="0" y="0"/>
          <a:chExt cx="0" cy="0"/>
        </a:xfrm>
      </p:grpSpPr>
      <p:sp>
        <p:nvSpPr>
          <p:cNvPr id="2253" name="Google Shape;2253;p2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addresses: how to get one?</a:t>
            </a:r>
            <a:endParaRPr/>
          </a:p>
        </p:txBody>
      </p:sp>
      <p:sp>
        <p:nvSpPr>
          <p:cNvPr id="2254" name="Google Shape;2254;p29"/>
          <p:cNvSpPr txBox="1"/>
          <p:nvPr/>
        </p:nvSpPr>
        <p:spPr>
          <a:xfrm>
            <a:off x="837133" y="1343025"/>
            <a:ext cx="11354867" cy="180975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how does </a:t>
            </a:r>
            <a:r>
              <a:rPr b="0" i="1" lang="en-US" sz="3200" u="none" cap="none" strike="noStrike">
                <a:solidFill>
                  <a:srgbClr val="000000"/>
                </a:solidFill>
                <a:latin typeface="Calibri"/>
                <a:ea typeface="Calibri"/>
                <a:cs typeface="Calibri"/>
                <a:sym typeface="Calibri"/>
              </a:rPr>
              <a:t>network</a:t>
            </a:r>
            <a:r>
              <a:rPr b="0" i="0" lang="en-US" sz="3200" u="none" cap="none" strike="noStrike">
                <a:solidFill>
                  <a:srgbClr val="000000"/>
                </a:solidFill>
                <a:latin typeface="Calibri"/>
                <a:ea typeface="Calibri"/>
                <a:cs typeface="Calibri"/>
                <a:sym typeface="Calibri"/>
              </a:rPr>
              <a:t> get subnet part of IP address?</a:t>
            </a:r>
            <a:endParaRPr/>
          </a:p>
          <a:p>
            <a:pPr indent="-222250" lvl="0" marL="352425" marR="0" rtl="0" algn="l">
              <a:lnSpc>
                <a:spcPct val="90000"/>
              </a:lnSpc>
              <a:spcBef>
                <a:spcPts val="100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a:t>
            </a:r>
            <a:r>
              <a:rPr b="0" i="0" lang="en-US" sz="3200" u="none" cap="none" strike="noStrike">
                <a:solidFill>
                  <a:srgbClr val="000000"/>
                </a:solidFill>
                <a:latin typeface="Calibri"/>
                <a:ea typeface="Calibri"/>
                <a:cs typeface="Calibri"/>
                <a:sym typeface="Calibri"/>
              </a:rPr>
              <a:t> gets allocated portion of its provider ISP’s address space</a:t>
            </a:r>
            <a:endParaRPr b="0" i="0" sz="2800" u="none" cap="none" strike="noStrike">
              <a:solidFill>
                <a:srgbClr val="000000"/>
              </a:solidFill>
              <a:latin typeface="Calibri"/>
              <a:ea typeface="Calibri"/>
              <a:cs typeface="Calibri"/>
              <a:sym typeface="Calibri"/>
            </a:endParaRPr>
          </a:p>
        </p:txBody>
      </p:sp>
      <p:sp>
        <p:nvSpPr>
          <p:cNvPr id="2255" name="Google Shape;2255;p29"/>
          <p:cNvSpPr txBox="1"/>
          <p:nvPr/>
        </p:nvSpPr>
        <p:spPr>
          <a:xfrm>
            <a:off x="1371628" y="2739402"/>
            <a:ext cx="1021577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99"/>
                </a:solidFill>
                <a:latin typeface="Arial"/>
                <a:ea typeface="Arial"/>
                <a:cs typeface="Arial"/>
                <a:sym typeface="Arial"/>
              </a:rPr>
              <a:t>ISP's block          </a:t>
            </a:r>
            <a:r>
              <a:rPr b="0" i="0" lang="en-US" sz="2000" u="sng" cap="none" strike="noStrike">
                <a:solidFill>
                  <a:srgbClr val="000099"/>
                </a:solidFill>
                <a:latin typeface="Arial"/>
                <a:ea typeface="Arial"/>
                <a:cs typeface="Arial"/>
                <a:sym typeface="Arial"/>
              </a:rPr>
              <a:t>11001000  00010111  0001</a:t>
            </a:r>
            <a:r>
              <a:rPr b="0" i="0" lang="en-US" sz="2000" u="none" cap="none" strike="noStrike">
                <a:solidFill>
                  <a:srgbClr val="000099"/>
                </a:solidFill>
                <a:latin typeface="Arial"/>
                <a:ea typeface="Arial"/>
                <a:cs typeface="Arial"/>
                <a:sym typeface="Arial"/>
              </a:rPr>
              <a:t>0000  00000000    200.23.16.0/20</a:t>
            </a:r>
            <a:r>
              <a:rPr b="0" i="0" lang="en-US" sz="2000" u="none" cap="none" strike="noStrike">
                <a:solidFill>
                  <a:srgbClr val="ED7D31"/>
                </a:solidFill>
                <a:latin typeface="Arial"/>
                <a:ea typeface="Arial"/>
                <a:cs typeface="Arial"/>
                <a:sym typeface="Arial"/>
              </a:rPr>
              <a:t> </a:t>
            </a:r>
            <a:endParaRPr/>
          </a:p>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2000" u="none" cap="none" strike="noStrike">
              <a:solidFill>
                <a:srgbClr val="000000"/>
              </a:solidFill>
              <a:latin typeface="Comic Sans MS"/>
              <a:ea typeface="Comic Sans MS"/>
              <a:cs typeface="Comic Sans MS"/>
              <a:sym typeface="Comic Sans MS"/>
            </a:endParaRPr>
          </a:p>
        </p:txBody>
      </p:sp>
      <p:sp>
        <p:nvSpPr>
          <p:cNvPr id="2256" name="Google Shape;2256;p29"/>
          <p:cNvSpPr txBox="1"/>
          <p:nvPr/>
        </p:nvSpPr>
        <p:spPr>
          <a:xfrm>
            <a:off x="1371600" y="3687667"/>
            <a:ext cx="10215770"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0000"/>
                </a:solidFill>
                <a:latin typeface="Calibri"/>
                <a:ea typeface="Calibri"/>
                <a:cs typeface="Calibri"/>
                <a:sym typeface="Calibri"/>
              </a:rPr>
              <a:t>ISP can then allocate out its address space in 8 blocks: </a:t>
            </a:r>
            <a:endParaRPr/>
          </a:p>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Organization 0    </a:t>
            </a:r>
            <a:r>
              <a:rPr b="0" i="0" lang="en-US" sz="2000" u="sng" cap="none" strike="noStrike">
                <a:solidFill>
                  <a:srgbClr val="000000"/>
                </a:solidFill>
                <a:latin typeface="Arial"/>
                <a:ea typeface="Arial"/>
                <a:cs typeface="Arial"/>
                <a:sym typeface="Arial"/>
              </a:rPr>
              <a:t>11001000  00010111  0001000</a:t>
            </a:r>
            <a:r>
              <a:rPr b="0" i="0" lang="en-US" sz="2000" u="none" cap="none" strike="noStrike">
                <a:solidFill>
                  <a:srgbClr val="000000"/>
                </a:solidFill>
                <a:latin typeface="Arial"/>
                <a:ea typeface="Arial"/>
                <a:cs typeface="Arial"/>
                <a:sym typeface="Arial"/>
              </a:rPr>
              <a:t>0  00000000    200.23.16.0/23 </a:t>
            </a:r>
            <a:endParaRPr/>
          </a:p>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Organization 1    </a:t>
            </a:r>
            <a:r>
              <a:rPr b="0" i="0" lang="en-US" sz="2000" u="sng" cap="none" strike="noStrike">
                <a:solidFill>
                  <a:srgbClr val="000000"/>
                </a:solidFill>
                <a:latin typeface="Arial"/>
                <a:ea typeface="Arial"/>
                <a:cs typeface="Arial"/>
                <a:sym typeface="Arial"/>
              </a:rPr>
              <a:t>11001000  00010111  0001001</a:t>
            </a:r>
            <a:r>
              <a:rPr b="0" i="0" lang="en-US" sz="2000" u="none" cap="none" strike="noStrike">
                <a:solidFill>
                  <a:srgbClr val="000000"/>
                </a:solidFill>
                <a:latin typeface="Arial"/>
                <a:ea typeface="Arial"/>
                <a:cs typeface="Arial"/>
                <a:sym typeface="Arial"/>
              </a:rPr>
              <a:t>0  00000000    200.23.18.0/23 </a:t>
            </a:r>
            <a:endParaRPr/>
          </a:p>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Organization 2    </a:t>
            </a:r>
            <a:r>
              <a:rPr b="0" i="0" lang="en-US" sz="2000" u="sng" cap="none" strike="noStrike">
                <a:solidFill>
                  <a:srgbClr val="000000"/>
                </a:solidFill>
                <a:latin typeface="Arial"/>
                <a:ea typeface="Arial"/>
                <a:cs typeface="Arial"/>
                <a:sym typeface="Arial"/>
              </a:rPr>
              <a:t>11001000  00010111  0001010</a:t>
            </a:r>
            <a:r>
              <a:rPr b="0" i="0" lang="en-US" sz="2000" u="none" cap="none" strike="noStrike">
                <a:solidFill>
                  <a:srgbClr val="000000"/>
                </a:solidFill>
                <a:latin typeface="Arial"/>
                <a:ea typeface="Arial"/>
                <a:cs typeface="Arial"/>
                <a:sym typeface="Arial"/>
              </a:rPr>
              <a:t>0  00000000    200.23.20.0/23 </a:t>
            </a:r>
            <a:endParaRPr/>
          </a:p>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   ...                                          …..                                   ….                ….</a:t>
            </a:r>
            <a:endParaRPr/>
          </a:p>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Organization 7    </a:t>
            </a:r>
            <a:r>
              <a:rPr b="0" i="0" lang="en-US" sz="2000" u="sng" cap="none" strike="noStrike">
                <a:solidFill>
                  <a:srgbClr val="000000"/>
                </a:solidFill>
                <a:latin typeface="Arial"/>
                <a:ea typeface="Arial"/>
                <a:cs typeface="Arial"/>
                <a:sym typeface="Arial"/>
              </a:rPr>
              <a:t>11001000  00010111  0001111</a:t>
            </a:r>
            <a:r>
              <a:rPr b="0" i="0" lang="en-US" sz="2000" u="none" cap="none" strike="noStrike">
                <a:solidFill>
                  <a:srgbClr val="000000"/>
                </a:solidFill>
                <a:latin typeface="Arial"/>
                <a:ea typeface="Arial"/>
                <a:cs typeface="Arial"/>
                <a:sym typeface="Arial"/>
              </a:rPr>
              <a:t>0   00000000    200.23.30.0/23</a:t>
            </a:r>
            <a:r>
              <a:rPr b="0" i="0" lang="en-US" sz="2800" u="none" cap="none" strike="noStrike">
                <a:solidFill>
                  <a:srgbClr val="000000"/>
                </a:solidFill>
                <a:latin typeface="Times New Roman"/>
                <a:ea typeface="Times New Roman"/>
                <a:cs typeface="Times New Roman"/>
                <a:sym typeface="Times New Roman"/>
              </a:rPr>
              <a:t> </a:t>
            </a:r>
            <a:endParaRPr/>
          </a:p>
          <a:p>
            <a:pPr indent="0" lvl="0" marL="0" marR="0" rtl="0" algn="l">
              <a:spcBef>
                <a:spcPts val="0"/>
              </a:spcBef>
              <a:spcAft>
                <a:spcPts val="0"/>
              </a:spcAft>
              <a:buNone/>
            </a:pPr>
            <a:r>
              <a:t/>
            </a:r>
            <a:endParaRPr b="0" i="0" sz="2000" u="none" cap="none" strike="noStrike">
              <a:solidFill>
                <a:srgbClr val="000000"/>
              </a:solidFill>
              <a:latin typeface="Comic Sans MS"/>
              <a:ea typeface="Comic Sans MS"/>
              <a:cs typeface="Comic Sans MS"/>
              <a:sym typeface="Comic Sans MS"/>
            </a:endParaRPr>
          </a:p>
        </p:txBody>
      </p:sp>
      <p:sp>
        <p:nvSpPr>
          <p:cNvPr id="2257" name="Google Shape;2257;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6"/>
                                        </p:tgtEl>
                                        <p:attrNameLst>
                                          <p:attrName>style.visibility</p:attrName>
                                        </p:attrNameLst>
                                      </p:cBhvr>
                                      <p:to>
                                        <p:strVal val="visible"/>
                                      </p:to>
                                    </p:set>
                                    <p:animEffect filter="fade" transition="in">
                                      <p:cBhvr>
                                        <p:cTn dur="500"/>
                                        <p:tgtEl>
                                          <p:spTgt spid="2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2" name="Shape 2262"/>
        <p:cNvGrpSpPr/>
        <p:nvPr/>
      </p:nvGrpSpPr>
      <p:grpSpPr>
        <a:xfrm>
          <a:off x="0" y="0"/>
          <a:ext cx="0" cy="0"/>
          <a:chOff x="0" y="0"/>
          <a:chExt cx="0" cy="0"/>
        </a:xfrm>
      </p:grpSpPr>
      <p:sp>
        <p:nvSpPr>
          <p:cNvPr id="2263" name="Google Shape;2263;p30"/>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Hierarchical addressing: route aggregation</a:t>
            </a:r>
            <a:endParaRPr sz="4800"/>
          </a:p>
        </p:txBody>
      </p:sp>
      <p:sp>
        <p:nvSpPr>
          <p:cNvPr id="2264" name="Google Shape;2264;p30"/>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265" name="Google Shape;2265;p30"/>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2266" name="Google Shape;2266;p30"/>
          <p:cNvCxnSpPr/>
          <p:nvPr/>
        </p:nvCxnSpPr>
        <p:spPr>
          <a:xfrm>
            <a:off x="3939967" y="3858666"/>
            <a:ext cx="752475" cy="171450"/>
          </a:xfrm>
          <a:prstGeom prst="straightConnector1">
            <a:avLst/>
          </a:prstGeom>
          <a:noFill/>
          <a:ln cap="flat" cmpd="sng" w="19050">
            <a:solidFill>
              <a:srgbClr val="000000"/>
            </a:solidFill>
            <a:prstDash val="solid"/>
            <a:round/>
            <a:headEnd len="med" w="med" type="none"/>
            <a:tailEnd len="med" w="med" type="none"/>
          </a:ln>
        </p:spPr>
      </p:cxnSp>
      <p:cxnSp>
        <p:nvCxnSpPr>
          <p:cNvPr id="2267" name="Google Shape;2267;p30"/>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2268" name="Google Shape;2268;p30"/>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69" name="Google Shape;2269;p30"/>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“Send me anything</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with addresses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beginning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2270" name="Google Shape;2270;p30"/>
          <p:cNvGrpSpPr/>
          <p:nvPr/>
        </p:nvGrpSpPr>
        <p:grpSpPr>
          <a:xfrm>
            <a:off x="1838117" y="2850604"/>
            <a:ext cx="2338388" cy="404812"/>
            <a:chOff x="1004" y="1639"/>
            <a:chExt cx="1473" cy="255"/>
          </a:xfrm>
        </p:grpSpPr>
        <p:sp>
          <p:nvSpPr>
            <p:cNvPr id="2271" name="Google Shape;2271;p30"/>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72" name="Google Shape;2272;p30"/>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2273" name="Google Shape;2273;p30"/>
          <p:cNvGrpSpPr/>
          <p:nvPr/>
        </p:nvGrpSpPr>
        <p:grpSpPr>
          <a:xfrm>
            <a:off x="1866692" y="3441154"/>
            <a:ext cx="2338388" cy="404812"/>
            <a:chOff x="1004" y="1639"/>
            <a:chExt cx="1473" cy="255"/>
          </a:xfrm>
        </p:grpSpPr>
        <p:sp>
          <p:nvSpPr>
            <p:cNvPr id="2274" name="Google Shape;2274;p30"/>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75" name="Google Shape;2275;p30"/>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grpSp>
        <p:nvGrpSpPr>
          <p:cNvPr id="2276" name="Google Shape;2276;p30"/>
          <p:cNvGrpSpPr/>
          <p:nvPr/>
        </p:nvGrpSpPr>
        <p:grpSpPr>
          <a:xfrm>
            <a:off x="1780967" y="4860379"/>
            <a:ext cx="2338388" cy="404812"/>
            <a:chOff x="1004" y="1639"/>
            <a:chExt cx="1473" cy="255"/>
          </a:xfrm>
        </p:grpSpPr>
        <p:sp>
          <p:nvSpPr>
            <p:cNvPr id="2277" name="Google Shape;2277;p30"/>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78" name="Google Shape;2278;p30"/>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2279" name="Google Shape;2279;p30"/>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2280" name="Google Shape;2280;p30"/>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81" name="Google Shape;2281;p30"/>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0</a:t>
            </a:r>
            <a:endParaRPr/>
          </a:p>
        </p:txBody>
      </p:sp>
      <p:sp>
        <p:nvSpPr>
          <p:cNvPr id="2282" name="Google Shape;2282;p30"/>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7</a:t>
            </a:r>
            <a:endParaRPr/>
          </a:p>
        </p:txBody>
      </p:sp>
      <p:sp>
        <p:nvSpPr>
          <p:cNvPr id="2283" name="Google Shape;2283;p30"/>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Internet</a:t>
            </a:r>
            <a:endParaRPr/>
          </a:p>
        </p:txBody>
      </p:sp>
      <p:sp>
        <p:nvSpPr>
          <p:cNvPr id="2284" name="Google Shape;2284;p30"/>
          <p:cNvSpPr txBox="1"/>
          <p:nvPr/>
        </p:nvSpPr>
        <p:spPr>
          <a:xfrm>
            <a:off x="1847642" y="3241129"/>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1</a:t>
            </a:r>
            <a:endParaRPr/>
          </a:p>
        </p:txBody>
      </p:sp>
      <p:sp>
        <p:nvSpPr>
          <p:cNvPr id="2285" name="Google Shape;2285;p30"/>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86" name="Google Shape;2286;p30"/>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2287" name="Google Shape;2287;p30"/>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288" name="Google Shape;2288;p30"/>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2289" name="Google Shape;2289;p30"/>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2290" name="Google Shape;2290;p30"/>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2291" name="Google Shape;2291;p30"/>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“Send me anything</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with addresses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beginning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2292" name="Google Shape;2292;p30"/>
          <p:cNvGrpSpPr/>
          <p:nvPr/>
        </p:nvGrpSpPr>
        <p:grpSpPr>
          <a:xfrm>
            <a:off x="1885742" y="4031704"/>
            <a:ext cx="2338388" cy="404812"/>
            <a:chOff x="1004" y="1639"/>
            <a:chExt cx="1473" cy="255"/>
          </a:xfrm>
        </p:grpSpPr>
        <p:sp>
          <p:nvSpPr>
            <p:cNvPr id="2293" name="Google Shape;2293;p30"/>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294" name="Google Shape;2294;p30"/>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2295" name="Google Shape;2295;p30"/>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2</a:t>
            </a:r>
            <a:endParaRPr/>
          </a:p>
        </p:txBody>
      </p:sp>
      <p:grpSp>
        <p:nvGrpSpPr>
          <p:cNvPr id="2296" name="Google Shape;2296;p30"/>
          <p:cNvGrpSpPr/>
          <p:nvPr/>
        </p:nvGrpSpPr>
        <p:grpSpPr>
          <a:xfrm>
            <a:off x="3235117" y="4288879"/>
            <a:ext cx="257175" cy="663575"/>
            <a:chOff x="870" y="2941"/>
            <a:chExt cx="162" cy="418"/>
          </a:xfrm>
        </p:grpSpPr>
        <p:sp>
          <p:nvSpPr>
            <p:cNvPr id="2297" name="Google Shape;2297;p30"/>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298" name="Google Shape;2298;p30"/>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299" name="Google Shape;2299;p30"/>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2300" name="Google Shape;2300;p30"/>
          <p:cNvGrpSpPr/>
          <p:nvPr/>
        </p:nvGrpSpPr>
        <p:grpSpPr>
          <a:xfrm>
            <a:off x="4263817" y="3993604"/>
            <a:ext cx="257175" cy="663575"/>
            <a:chOff x="870" y="2941"/>
            <a:chExt cx="162" cy="418"/>
          </a:xfrm>
        </p:grpSpPr>
        <p:sp>
          <p:nvSpPr>
            <p:cNvPr id="2301" name="Google Shape;2301;p30"/>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302" name="Google Shape;2302;p30"/>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303" name="Google Shape;2303;p30"/>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2304" name="Google Shape;2304;p30"/>
          <p:cNvSpPr txBox="1"/>
          <p:nvPr/>
        </p:nvSpPr>
        <p:spPr>
          <a:xfrm>
            <a:off x="794480" y="1297352"/>
            <a:ext cx="10717966"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3200" u="none" cap="none" strike="noStrike">
                <a:solidFill>
                  <a:srgbClr val="000000"/>
                </a:solidFill>
                <a:latin typeface="Calibri"/>
                <a:ea typeface="Calibri"/>
                <a:cs typeface="Calibri"/>
                <a:sym typeface="Calibri"/>
              </a:rPr>
              <a:t>hierarchical addressing allows efficient advertisement of routing  information:</a:t>
            </a:r>
            <a:endParaRPr/>
          </a:p>
        </p:txBody>
      </p:sp>
      <p:sp>
        <p:nvSpPr>
          <p:cNvPr id="2305" name="Google Shape;2305;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0" name="Shape 2310"/>
        <p:cNvGrpSpPr/>
        <p:nvPr/>
      </p:nvGrpSpPr>
      <p:grpSpPr>
        <a:xfrm>
          <a:off x="0" y="0"/>
          <a:ext cx="0" cy="0"/>
          <a:chOff x="0" y="0"/>
          <a:chExt cx="0" cy="0"/>
        </a:xfrm>
      </p:grpSpPr>
      <p:sp>
        <p:nvSpPr>
          <p:cNvPr id="2311" name="Google Shape;2311;p31"/>
          <p:cNvSpPr txBox="1"/>
          <p:nvPr>
            <p:ph type="title"/>
          </p:nvPr>
        </p:nvSpPr>
        <p:spPr>
          <a:xfrm>
            <a:off x="703287" y="281163"/>
            <a:ext cx="11078981"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900"/>
              <a:buFont typeface="Calibri"/>
              <a:buNone/>
            </a:pPr>
            <a:r>
              <a:rPr lang="en-US" sz="4900"/>
              <a:t>Hierarchical addressing</a:t>
            </a:r>
            <a:r>
              <a:rPr lang="en-US" sz="4800"/>
              <a:t>: more specific routes</a:t>
            </a:r>
            <a:endParaRPr/>
          </a:p>
        </p:txBody>
      </p:sp>
      <p:sp>
        <p:nvSpPr>
          <p:cNvPr id="2312" name="Google Shape;2312;p31"/>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313" name="Google Shape;2313;p31"/>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2314" name="Google Shape;2314;p31"/>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2315" name="Google Shape;2315;p31"/>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16" name="Google Shape;2316;p31"/>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“Send me anything</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with addresses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beginning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2317" name="Google Shape;2317;p31"/>
          <p:cNvGrpSpPr/>
          <p:nvPr/>
        </p:nvGrpSpPr>
        <p:grpSpPr>
          <a:xfrm>
            <a:off x="1838117" y="2850604"/>
            <a:ext cx="2338388" cy="404812"/>
            <a:chOff x="1004" y="1639"/>
            <a:chExt cx="1473" cy="255"/>
          </a:xfrm>
        </p:grpSpPr>
        <p:sp>
          <p:nvSpPr>
            <p:cNvPr id="2318" name="Google Shape;2318;p31"/>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19" name="Google Shape;2319;p31"/>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2320" name="Google Shape;2320;p31"/>
          <p:cNvGrpSpPr/>
          <p:nvPr/>
        </p:nvGrpSpPr>
        <p:grpSpPr>
          <a:xfrm>
            <a:off x="1780967" y="4860379"/>
            <a:ext cx="2338388" cy="404812"/>
            <a:chOff x="1004" y="1639"/>
            <a:chExt cx="1473" cy="255"/>
          </a:xfrm>
        </p:grpSpPr>
        <p:sp>
          <p:nvSpPr>
            <p:cNvPr id="2321" name="Google Shape;2321;p31"/>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22" name="Google Shape;2322;p31"/>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2323" name="Google Shape;2323;p31"/>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2324" name="Google Shape;2324;p31"/>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25" name="Google Shape;2325;p31"/>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0</a:t>
            </a:r>
            <a:endParaRPr/>
          </a:p>
        </p:txBody>
      </p:sp>
      <p:sp>
        <p:nvSpPr>
          <p:cNvPr id="2326" name="Google Shape;2326;p31"/>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7</a:t>
            </a:r>
            <a:endParaRPr/>
          </a:p>
        </p:txBody>
      </p:sp>
      <p:sp>
        <p:nvSpPr>
          <p:cNvPr id="2327" name="Google Shape;2327;p31"/>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Internet</a:t>
            </a:r>
            <a:endParaRPr/>
          </a:p>
        </p:txBody>
      </p:sp>
      <p:grpSp>
        <p:nvGrpSpPr>
          <p:cNvPr id="2328" name="Google Shape;2328;p31"/>
          <p:cNvGrpSpPr/>
          <p:nvPr/>
        </p:nvGrpSpPr>
        <p:grpSpPr>
          <a:xfrm>
            <a:off x="1847642" y="3241129"/>
            <a:ext cx="2844800" cy="788987"/>
            <a:chOff x="1847642" y="3241129"/>
            <a:chExt cx="2844800" cy="788987"/>
          </a:xfrm>
        </p:grpSpPr>
        <p:cxnSp>
          <p:nvCxnSpPr>
            <p:cNvPr id="2329" name="Google Shape;2329;p31"/>
            <p:cNvCxnSpPr/>
            <p:nvPr/>
          </p:nvCxnSpPr>
          <p:spPr>
            <a:xfrm>
              <a:off x="3939967" y="3858666"/>
              <a:ext cx="752475" cy="171450"/>
            </a:xfrm>
            <a:prstGeom prst="straightConnector1">
              <a:avLst/>
            </a:prstGeom>
            <a:noFill/>
            <a:ln cap="flat" cmpd="sng" w="19050">
              <a:solidFill>
                <a:srgbClr val="000000"/>
              </a:solidFill>
              <a:prstDash val="solid"/>
              <a:round/>
              <a:headEnd len="med" w="med" type="none"/>
              <a:tailEnd len="med" w="med" type="none"/>
            </a:ln>
          </p:spPr>
        </p:cxnSp>
        <p:grpSp>
          <p:nvGrpSpPr>
            <p:cNvPr id="2330" name="Google Shape;2330;p31"/>
            <p:cNvGrpSpPr/>
            <p:nvPr/>
          </p:nvGrpSpPr>
          <p:grpSpPr>
            <a:xfrm>
              <a:off x="1866692" y="3441154"/>
              <a:ext cx="2338388" cy="404812"/>
              <a:chOff x="1004" y="1639"/>
              <a:chExt cx="1473" cy="255"/>
            </a:xfrm>
          </p:grpSpPr>
          <p:sp>
            <p:nvSpPr>
              <p:cNvPr id="2331" name="Google Shape;2331;p31"/>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32" name="Google Shape;2332;p31"/>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2333" name="Google Shape;2333;p31"/>
            <p:cNvSpPr txBox="1"/>
            <p:nvPr/>
          </p:nvSpPr>
          <p:spPr>
            <a:xfrm>
              <a:off x="1847642" y="3241129"/>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1</a:t>
              </a:r>
              <a:endParaRPr/>
            </a:p>
          </p:txBody>
        </p:sp>
      </p:grpSp>
      <p:sp>
        <p:nvSpPr>
          <p:cNvPr id="2334" name="Google Shape;2334;p31"/>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35" name="Google Shape;2335;p31"/>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2336" name="Google Shape;2336;p31"/>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337" name="Google Shape;2337;p31"/>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2338" name="Google Shape;2338;p31"/>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2339" name="Google Shape;2339;p31"/>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2340" name="Google Shape;2340;p31"/>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“Send me anything</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with addresses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beginning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2341" name="Google Shape;2341;p31"/>
          <p:cNvGrpSpPr/>
          <p:nvPr/>
        </p:nvGrpSpPr>
        <p:grpSpPr>
          <a:xfrm>
            <a:off x="1885742" y="4031704"/>
            <a:ext cx="2338388" cy="404812"/>
            <a:chOff x="1004" y="1639"/>
            <a:chExt cx="1473" cy="255"/>
          </a:xfrm>
        </p:grpSpPr>
        <p:sp>
          <p:nvSpPr>
            <p:cNvPr id="2342" name="Google Shape;2342;p31"/>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43" name="Google Shape;2343;p31"/>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2344" name="Google Shape;2344;p31"/>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2</a:t>
            </a:r>
            <a:endParaRPr/>
          </a:p>
        </p:txBody>
      </p:sp>
      <p:grpSp>
        <p:nvGrpSpPr>
          <p:cNvPr id="2345" name="Google Shape;2345;p31"/>
          <p:cNvGrpSpPr/>
          <p:nvPr/>
        </p:nvGrpSpPr>
        <p:grpSpPr>
          <a:xfrm>
            <a:off x="3235117" y="4288879"/>
            <a:ext cx="257175" cy="663575"/>
            <a:chOff x="870" y="2941"/>
            <a:chExt cx="162" cy="418"/>
          </a:xfrm>
        </p:grpSpPr>
        <p:sp>
          <p:nvSpPr>
            <p:cNvPr id="2346" name="Google Shape;2346;p31"/>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347" name="Google Shape;2347;p31"/>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348" name="Google Shape;2348;p31"/>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2349" name="Google Shape;2349;p31"/>
          <p:cNvGrpSpPr/>
          <p:nvPr/>
        </p:nvGrpSpPr>
        <p:grpSpPr>
          <a:xfrm>
            <a:off x="4263817" y="3993604"/>
            <a:ext cx="257175" cy="663575"/>
            <a:chOff x="870" y="2941"/>
            <a:chExt cx="162" cy="418"/>
          </a:xfrm>
        </p:grpSpPr>
        <p:sp>
          <p:nvSpPr>
            <p:cNvPr id="2350" name="Google Shape;2350;p31"/>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351" name="Google Shape;2351;p31"/>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352" name="Google Shape;2352;p31"/>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2353" name="Google Shape;2353;p31"/>
          <p:cNvSpPr txBox="1"/>
          <p:nvPr/>
        </p:nvSpPr>
        <p:spPr>
          <a:xfrm>
            <a:off x="741737" y="1253772"/>
            <a:ext cx="11002779" cy="107721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Organization 1 </a:t>
            </a:r>
            <a:r>
              <a:rPr b="0" i="0" lang="en-US" sz="3200" u="none" cap="none" strike="noStrike">
                <a:solidFill>
                  <a:srgbClr val="000000"/>
                </a:solidFill>
                <a:latin typeface="Calibri"/>
                <a:ea typeface="Calibri"/>
                <a:cs typeface="Calibri"/>
                <a:sym typeface="Calibri"/>
              </a:rPr>
              <a:t>moves from Fly-By-Night-ISP to ISPs-R-Us</a:t>
            </a:r>
            <a:endParaRPr/>
          </a:p>
          <a:p>
            <a:pPr indent="-342900" lvl="0" marL="342900" marR="0" rtl="0" algn="l">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ISPs-R-Us now advertises a more specific route to </a:t>
            </a:r>
            <a:r>
              <a:rPr b="0" i="0" lang="en-US" sz="2800" u="none" cap="none" strike="noStrike">
                <a:solidFill>
                  <a:srgbClr val="000000"/>
                </a:solidFill>
                <a:latin typeface="Calibri"/>
                <a:ea typeface="Calibri"/>
                <a:cs typeface="Calibri"/>
                <a:sym typeface="Calibri"/>
              </a:rPr>
              <a:t>Organization 1</a:t>
            </a:r>
            <a:endParaRPr b="0" i="0" sz="3200" u="none" cap="none" strike="noStrike">
              <a:solidFill>
                <a:srgbClr val="000000"/>
              </a:solidFill>
              <a:latin typeface="Calibri"/>
              <a:ea typeface="Calibri"/>
              <a:cs typeface="Calibri"/>
              <a:sym typeface="Calibri"/>
            </a:endParaRPr>
          </a:p>
        </p:txBody>
      </p:sp>
      <p:cxnSp>
        <p:nvCxnSpPr>
          <p:cNvPr id="2354" name="Google Shape;2354;p31"/>
          <p:cNvCxnSpPr/>
          <p:nvPr/>
        </p:nvCxnSpPr>
        <p:spPr>
          <a:xfrm flipH="1" rot="10800000">
            <a:off x="4303322" y="5787297"/>
            <a:ext cx="333375" cy="247650"/>
          </a:xfrm>
          <a:prstGeom prst="straightConnector1">
            <a:avLst/>
          </a:prstGeom>
          <a:noFill/>
          <a:ln cap="flat" cmpd="sng" w="19050">
            <a:solidFill>
              <a:schemeClr val="dk1"/>
            </a:solidFill>
            <a:prstDash val="solid"/>
            <a:round/>
            <a:headEnd len="med" w="med" type="none"/>
            <a:tailEnd len="med" w="med" type="none"/>
          </a:ln>
        </p:spPr>
      </p:cxnSp>
      <p:grpSp>
        <p:nvGrpSpPr>
          <p:cNvPr id="2355" name="Google Shape;2355;p31"/>
          <p:cNvGrpSpPr/>
          <p:nvPr/>
        </p:nvGrpSpPr>
        <p:grpSpPr>
          <a:xfrm>
            <a:off x="2073587" y="5735794"/>
            <a:ext cx="2342448" cy="619828"/>
            <a:chOff x="2073587" y="5735794"/>
            <a:chExt cx="2342448" cy="619828"/>
          </a:xfrm>
        </p:grpSpPr>
        <p:grpSp>
          <p:nvGrpSpPr>
            <p:cNvPr id="2356" name="Google Shape;2356;p31"/>
            <p:cNvGrpSpPr/>
            <p:nvPr/>
          </p:nvGrpSpPr>
          <p:grpSpPr>
            <a:xfrm>
              <a:off x="2077647" y="5950810"/>
              <a:ext cx="2338388" cy="404812"/>
              <a:chOff x="1004" y="1639"/>
              <a:chExt cx="1473" cy="255"/>
            </a:xfrm>
          </p:grpSpPr>
          <p:sp>
            <p:nvSpPr>
              <p:cNvPr id="2357" name="Google Shape;2357;p31"/>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358" name="Google Shape;2358;p31"/>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2359" name="Google Shape;2359;p31"/>
            <p:cNvSpPr txBox="1"/>
            <p:nvPr/>
          </p:nvSpPr>
          <p:spPr>
            <a:xfrm>
              <a:off x="2073587" y="5735794"/>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1</a:t>
              </a:r>
              <a:endParaRPr/>
            </a:p>
          </p:txBody>
        </p:sp>
      </p:grpSp>
      <p:sp>
        <p:nvSpPr>
          <p:cNvPr id="2360" name="Google Shape;2360;p31"/>
          <p:cNvSpPr txBox="1"/>
          <p:nvPr/>
        </p:nvSpPr>
        <p:spPr>
          <a:xfrm>
            <a:off x="6580161" y="6089469"/>
            <a:ext cx="173957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 </a:t>
            </a:r>
            <a:r>
              <a:rPr b="0" i="0" lang="en-US" sz="1400" u="sng" cap="none" strike="noStrike">
                <a:solidFill>
                  <a:srgbClr val="CC0000"/>
                </a:solidFill>
                <a:latin typeface="Arial"/>
                <a:ea typeface="Arial"/>
                <a:cs typeface="Arial"/>
                <a:sym typeface="Arial"/>
              </a:rPr>
              <a:t>200.23.18.0/23</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361" name="Google Shape;2361;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328"/>
                                        </p:tgtEl>
                                      </p:cBhvr>
                                    </p:animEffect>
                                    <p:set>
                                      <p:cBhvr>
                                        <p:cTn dur="1" fill="hold">
                                          <p:stCondLst>
                                            <p:cond delay="500"/>
                                          </p:stCondLst>
                                        </p:cTn>
                                        <p:tgtEl>
                                          <p:spTgt spid="23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5"/>
                                        </p:tgtEl>
                                        <p:attrNameLst>
                                          <p:attrName>style.visibility</p:attrName>
                                        </p:attrNameLst>
                                      </p:cBhvr>
                                      <p:to>
                                        <p:strVal val="visible"/>
                                      </p:to>
                                    </p:set>
                                    <p:animEffect filter="fade" transition="in">
                                      <p:cBhvr>
                                        <p:cTn dur="500"/>
                                        <p:tgtEl>
                                          <p:spTgt spid="2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0"/>
                                        </p:tgtEl>
                                        <p:attrNameLst>
                                          <p:attrName>style.visibility</p:attrName>
                                        </p:attrNameLst>
                                      </p:cBhvr>
                                      <p:to>
                                        <p:strVal val="visible"/>
                                      </p:to>
                                    </p:set>
                                    <p:animEffect filter="fade" transition="in">
                                      <p:cBhvr>
                                        <p:cTn dur="500"/>
                                        <p:tgtEl>
                                          <p:spTgt spid="2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6" name="Shape 2366"/>
        <p:cNvGrpSpPr/>
        <p:nvPr/>
      </p:nvGrpSpPr>
      <p:grpSpPr>
        <a:xfrm>
          <a:off x="0" y="0"/>
          <a:ext cx="0" cy="0"/>
          <a:chOff x="0" y="0"/>
          <a:chExt cx="0" cy="0"/>
        </a:xfrm>
      </p:grpSpPr>
      <p:sp>
        <p:nvSpPr>
          <p:cNvPr id="2367" name="Google Shape;2367;p32"/>
          <p:cNvSpPr txBox="1"/>
          <p:nvPr>
            <p:ph type="title"/>
          </p:nvPr>
        </p:nvSpPr>
        <p:spPr>
          <a:xfrm>
            <a:off x="703287" y="281163"/>
            <a:ext cx="11078981"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900"/>
              <a:buFont typeface="Calibri"/>
              <a:buNone/>
            </a:pPr>
            <a:r>
              <a:rPr lang="en-US" sz="4900"/>
              <a:t>Hierarchical addressing</a:t>
            </a:r>
            <a:r>
              <a:rPr lang="en-US" sz="4800"/>
              <a:t>: more specific routes</a:t>
            </a:r>
            <a:endParaRPr/>
          </a:p>
        </p:txBody>
      </p:sp>
      <p:sp>
        <p:nvSpPr>
          <p:cNvPr id="2368" name="Google Shape;2368;p32"/>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369" name="Google Shape;2369;p32"/>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2370" name="Google Shape;2370;p32"/>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2371" name="Google Shape;2371;p32"/>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72" name="Google Shape;2372;p32"/>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“Send me anything</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with addresses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beginning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2373" name="Google Shape;2373;p32"/>
          <p:cNvGrpSpPr/>
          <p:nvPr/>
        </p:nvGrpSpPr>
        <p:grpSpPr>
          <a:xfrm>
            <a:off x="1838117" y="2850604"/>
            <a:ext cx="2338388" cy="404812"/>
            <a:chOff x="1004" y="1639"/>
            <a:chExt cx="1473" cy="255"/>
          </a:xfrm>
        </p:grpSpPr>
        <p:sp>
          <p:nvSpPr>
            <p:cNvPr id="2374" name="Google Shape;2374;p32"/>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75" name="Google Shape;2375;p32"/>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2376" name="Google Shape;2376;p32"/>
          <p:cNvGrpSpPr/>
          <p:nvPr/>
        </p:nvGrpSpPr>
        <p:grpSpPr>
          <a:xfrm>
            <a:off x="1780967" y="4860379"/>
            <a:ext cx="2338388" cy="404812"/>
            <a:chOff x="1004" y="1639"/>
            <a:chExt cx="1473" cy="255"/>
          </a:xfrm>
        </p:grpSpPr>
        <p:sp>
          <p:nvSpPr>
            <p:cNvPr id="2377" name="Google Shape;2377;p32"/>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78" name="Google Shape;2378;p32"/>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2379" name="Google Shape;2379;p32"/>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2380" name="Google Shape;2380;p32"/>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81" name="Google Shape;2381;p32"/>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0</a:t>
            </a:r>
            <a:endParaRPr/>
          </a:p>
        </p:txBody>
      </p:sp>
      <p:sp>
        <p:nvSpPr>
          <p:cNvPr id="2382" name="Google Shape;2382;p32"/>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7</a:t>
            </a:r>
            <a:endParaRPr/>
          </a:p>
        </p:txBody>
      </p:sp>
      <p:sp>
        <p:nvSpPr>
          <p:cNvPr id="2383" name="Google Shape;2383;p32"/>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Internet</a:t>
            </a:r>
            <a:endParaRPr/>
          </a:p>
        </p:txBody>
      </p:sp>
      <p:sp>
        <p:nvSpPr>
          <p:cNvPr id="2384" name="Google Shape;2384;p32"/>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85" name="Google Shape;2385;p32"/>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2386" name="Google Shape;2386;p32"/>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387" name="Google Shape;2387;p32"/>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2388" name="Google Shape;2388;p32"/>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2389" name="Google Shape;2389;p32"/>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2390" name="Google Shape;2390;p32"/>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“Send me anything</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with addresses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beginning </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2391" name="Google Shape;2391;p32"/>
          <p:cNvGrpSpPr/>
          <p:nvPr/>
        </p:nvGrpSpPr>
        <p:grpSpPr>
          <a:xfrm>
            <a:off x="1885742" y="4031704"/>
            <a:ext cx="2338388" cy="404812"/>
            <a:chOff x="1004" y="1639"/>
            <a:chExt cx="1473" cy="255"/>
          </a:xfrm>
        </p:grpSpPr>
        <p:sp>
          <p:nvSpPr>
            <p:cNvPr id="2392" name="Google Shape;2392;p32"/>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393" name="Google Shape;2393;p32"/>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2394" name="Google Shape;2394;p32"/>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2</a:t>
            </a:r>
            <a:endParaRPr/>
          </a:p>
        </p:txBody>
      </p:sp>
      <p:grpSp>
        <p:nvGrpSpPr>
          <p:cNvPr id="2395" name="Google Shape;2395;p32"/>
          <p:cNvGrpSpPr/>
          <p:nvPr/>
        </p:nvGrpSpPr>
        <p:grpSpPr>
          <a:xfrm>
            <a:off x="3235117" y="4288879"/>
            <a:ext cx="257175" cy="663575"/>
            <a:chOff x="870" y="2941"/>
            <a:chExt cx="162" cy="418"/>
          </a:xfrm>
        </p:grpSpPr>
        <p:sp>
          <p:nvSpPr>
            <p:cNvPr id="2396" name="Google Shape;2396;p32"/>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397" name="Google Shape;2397;p32"/>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398" name="Google Shape;2398;p32"/>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2399" name="Google Shape;2399;p32"/>
          <p:cNvGrpSpPr/>
          <p:nvPr/>
        </p:nvGrpSpPr>
        <p:grpSpPr>
          <a:xfrm>
            <a:off x="4263817" y="3993604"/>
            <a:ext cx="257175" cy="663575"/>
            <a:chOff x="870" y="2941"/>
            <a:chExt cx="162" cy="418"/>
          </a:xfrm>
        </p:grpSpPr>
        <p:sp>
          <p:nvSpPr>
            <p:cNvPr id="2400" name="Google Shape;2400;p32"/>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401" name="Google Shape;2401;p32"/>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402" name="Google Shape;2402;p32"/>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2403" name="Google Shape;2403;p32"/>
          <p:cNvSpPr txBox="1"/>
          <p:nvPr/>
        </p:nvSpPr>
        <p:spPr>
          <a:xfrm>
            <a:off x="741737" y="1253772"/>
            <a:ext cx="11002779" cy="107721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Organization 1 </a:t>
            </a:r>
            <a:r>
              <a:rPr b="0" i="0" lang="en-US" sz="3200" u="none" cap="none" strike="noStrike">
                <a:solidFill>
                  <a:srgbClr val="000000"/>
                </a:solidFill>
                <a:latin typeface="Calibri"/>
                <a:ea typeface="Calibri"/>
                <a:cs typeface="Calibri"/>
                <a:sym typeface="Calibri"/>
              </a:rPr>
              <a:t>moves from Fly-By-Night-ISP to ISPs-R-Us</a:t>
            </a:r>
            <a:endParaRPr/>
          </a:p>
          <a:p>
            <a:pPr indent="-342900" lvl="0" marL="342900" marR="0" rtl="0" algn="l">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ISPs-R-Us now advertises a more specific route to </a:t>
            </a:r>
            <a:r>
              <a:rPr b="0" i="0" lang="en-US" sz="2800" u="none" cap="none" strike="noStrike">
                <a:solidFill>
                  <a:srgbClr val="000000"/>
                </a:solidFill>
                <a:latin typeface="Calibri"/>
                <a:ea typeface="Calibri"/>
                <a:cs typeface="Calibri"/>
                <a:sym typeface="Calibri"/>
              </a:rPr>
              <a:t>Organization 1</a:t>
            </a:r>
            <a:endParaRPr b="0" i="0" sz="3200" u="none" cap="none" strike="noStrike">
              <a:solidFill>
                <a:srgbClr val="000000"/>
              </a:solidFill>
              <a:latin typeface="Calibri"/>
              <a:ea typeface="Calibri"/>
              <a:cs typeface="Calibri"/>
              <a:sym typeface="Calibri"/>
            </a:endParaRPr>
          </a:p>
        </p:txBody>
      </p:sp>
      <p:cxnSp>
        <p:nvCxnSpPr>
          <p:cNvPr id="2404" name="Google Shape;2404;p32"/>
          <p:cNvCxnSpPr/>
          <p:nvPr/>
        </p:nvCxnSpPr>
        <p:spPr>
          <a:xfrm flipH="1" rot="10800000">
            <a:off x="4303322" y="5787297"/>
            <a:ext cx="333375" cy="247650"/>
          </a:xfrm>
          <a:prstGeom prst="straightConnector1">
            <a:avLst/>
          </a:prstGeom>
          <a:noFill/>
          <a:ln cap="flat" cmpd="sng" w="19050">
            <a:solidFill>
              <a:schemeClr val="dk1"/>
            </a:solidFill>
            <a:prstDash val="solid"/>
            <a:round/>
            <a:headEnd len="med" w="med" type="none"/>
            <a:tailEnd len="med" w="med" type="none"/>
          </a:ln>
        </p:spPr>
      </p:cxnSp>
      <p:grpSp>
        <p:nvGrpSpPr>
          <p:cNvPr id="2405" name="Google Shape;2405;p32"/>
          <p:cNvGrpSpPr/>
          <p:nvPr/>
        </p:nvGrpSpPr>
        <p:grpSpPr>
          <a:xfrm>
            <a:off x="2073587" y="5735794"/>
            <a:ext cx="2342448" cy="619828"/>
            <a:chOff x="2073587" y="5735794"/>
            <a:chExt cx="2342448" cy="619828"/>
          </a:xfrm>
        </p:grpSpPr>
        <p:grpSp>
          <p:nvGrpSpPr>
            <p:cNvPr id="2406" name="Google Shape;2406;p32"/>
            <p:cNvGrpSpPr/>
            <p:nvPr/>
          </p:nvGrpSpPr>
          <p:grpSpPr>
            <a:xfrm>
              <a:off x="2077647" y="5950810"/>
              <a:ext cx="2338388" cy="404812"/>
              <a:chOff x="1004" y="1639"/>
              <a:chExt cx="1473" cy="255"/>
            </a:xfrm>
          </p:grpSpPr>
          <p:sp>
            <p:nvSpPr>
              <p:cNvPr id="2407" name="Google Shape;2407;p32"/>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408" name="Google Shape;2408;p32"/>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2409" name="Google Shape;2409;p32"/>
            <p:cNvSpPr txBox="1"/>
            <p:nvPr/>
          </p:nvSpPr>
          <p:spPr>
            <a:xfrm>
              <a:off x="2073587" y="5735794"/>
              <a:ext cx="13366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Organization 1</a:t>
              </a:r>
              <a:endParaRPr/>
            </a:p>
          </p:txBody>
        </p:sp>
      </p:grpSp>
      <p:sp>
        <p:nvSpPr>
          <p:cNvPr id="2410" name="Google Shape;2410;p32"/>
          <p:cNvSpPr txBox="1"/>
          <p:nvPr/>
        </p:nvSpPr>
        <p:spPr>
          <a:xfrm>
            <a:off x="6580161" y="6089469"/>
            <a:ext cx="173957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“or </a:t>
            </a:r>
            <a:r>
              <a:rPr b="0" i="0" lang="en-US" sz="1400" u="sng" cap="none" strike="noStrike">
                <a:solidFill>
                  <a:srgbClr val="CC0000"/>
                </a:solidFill>
                <a:latin typeface="Arial"/>
                <a:ea typeface="Arial"/>
                <a:cs typeface="Arial"/>
                <a:sym typeface="Arial"/>
              </a:rPr>
              <a:t>200.23.18.0/23</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411" name="Google Shape;2411;p32"/>
          <p:cNvSpPr/>
          <p:nvPr/>
        </p:nvSpPr>
        <p:spPr>
          <a:xfrm>
            <a:off x="4049486" y="4865915"/>
            <a:ext cx="5274129" cy="1257299"/>
          </a:xfrm>
          <a:custGeom>
            <a:rect b="b" l="l" r="r" t="t"/>
            <a:pathLst>
              <a:path extrusionOk="0" h="1257299" w="5274129">
                <a:moveTo>
                  <a:pt x="5274129" y="0"/>
                </a:moveTo>
                <a:lnTo>
                  <a:pt x="849085" y="718457"/>
                </a:lnTo>
                <a:lnTo>
                  <a:pt x="0" y="1257299"/>
                </a:lnTo>
              </a:path>
            </a:pathLst>
          </a:custGeom>
          <a:noFill/>
          <a:ln cap="flat" cmpd="sng" w="76200">
            <a:solidFill>
              <a:srgbClr val="3333CC"/>
            </a:solidFill>
            <a:prstDash val="solid"/>
            <a:miter lim="8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412" name="Google Shape;2412;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1"/>
                                        </p:tgtEl>
                                        <p:attrNameLst>
                                          <p:attrName>style.visibility</p:attrName>
                                        </p:attrNameLst>
                                      </p:cBhvr>
                                      <p:to>
                                        <p:strVal val="visible"/>
                                      </p:to>
                                    </p:set>
                                    <p:animEffect filter="fade" transition="in">
                                      <p:cBhvr>
                                        <p:cTn dur="1000"/>
                                        <p:tgtEl>
                                          <p:spTgt spid="2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7" name="Shape 2417"/>
        <p:cNvGrpSpPr/>
        <p:nvPr/>
      </p:nvGrpSpPr>
      <p:grpSpPr>
        <a:xfrm>
          <a:off x="0" y="0"/>
          <a:ext cx="0" cy="0"/>
          <a:chOff x="0" y="0"/>
          <a:chExt cx="0" cy="0"/>
        </a:xfrm>
      </p:grpSpPr>
      <p:sp>
        <p:nvSpPr>
          <p:cNvPr id="2418" name="Google Shape;2418;p33"/>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 addressing: last words ...</a:t>
            </a:r>
            <a:endParaRPr sz="4800"/>
          </a:p>
        </p:txBody>
      </p:sp>
      <p:sp>
        <p:nvSpPr>
          <p:cNvPr id="2419" name="Google Shape;2419;p33"/>
          <p:cNvSpPr txBox="1"/>
          <p:nvPr/>
        </p:nvSpPr>
        <p:spPr>
          <a:xfrm>
            <a:off x="519278" y="1328204"/>
            <a:ext cx="5815260" cy="5099099"/>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how does an ISP get block of addresses?</a:t>
            </a:r>
            <a:endParaRPr/>
          </a:p>
          <a:p>
            <a:pPr indent="-222250" lvl="0" marL="352425" marR="0" rtl="0" algn="l">
              <a:lnSpc>
                <a:spcPct val="90000"/>
              </a:lnSpc>
              <a:spcBef>
                <a:spcPts val="100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A:</a:t>
            </a:r>
            <a:r>
              <a:rPr b="0" i="0" lang="en-US" sz="2800" u="none" cap="none" strike="noStrike">
                <a:solidFill>
                  <a:srgbClr val="FF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ICANN</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nternet </a:t>
            </a:r>
            <a:r>
              <a:rPr b="0" i="0" lang="en-US" sz="2800" u="none" cap="none" strike="noStrike">
                <a:solidFill>
                  <a:srgbClr val="000099"/>
                </a:solidFill>
                <a:latin typeface="Calibri"/>
                <a:ea typeface="Calibri"/>
                <a:cs typeface="Calibri"/>
                <a:sym typeface="Calibri"/>
              </a:rPr>
              <a:t>C</a:t>
            </a:r>
            <a:r>
              <a:rPr b="0" i="0" lang="en-US" sz="2800" u="none" cap="none" strike="noStrike">
                <a:solidFill>
                  <a:srgbClr val="000000"/>
                </a:solidFill>
                <a:latin typeface="Calibri"/>
                <a:ea typeface="Calibri"/>
                <a:cs typeface="Calibri"/>
                <a:sym typeface="Calibri"/>
              </a:rPr>
              <a:t>orporation for </a:t>
            </a:r>
            <a:r>
              <a:rPr b="0" i="0" lang="en-US" sz="2800" u="none" cap="none" strike="noStrike">
                <a:solidFill>
                  <a:srgbClr val="000099"/>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ssigned  </a:t>
            </a:r>
            <a:r>
              <a:rPr b="0" i="0" lang="en-US" sz="2800" u="none" cap="none" strike="noStrike">
                <a:solidFill>
                  <a:srgbClr val="000099"/>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ames and </a:t>
            </a:r>
            <a:r>
              <a:rPr b="0" i="0" lang="en-US" sz="2800" u="none" cap="none" strike="noStrike">
                <a:solidFill>
                  <a:srgbClr val="000099"/>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umbers http://www.icann.org/</a:t>
            </a:r>
            <a:endParaRPr/>
          </a:p>
          <a:p>
            <a:pPr indent="-234950" lvl="1" marL="57467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allocates IP addresses, through </a:t>
            </a:r>
            <a:r>
              <a:rPr b="0" i="0" lang="en-US" sz="2800" u="none" cap="none" strike="noStrike">
                <a:solidFill>
                  <a:srgbClr val="0000A3"/>
                </a:solidFill>
                <a:latin typeface="Calibri"/>
                <a:ea typeface="Calibri"/>
                <a:cs typeface="Calibri"/>
                <a:sym typeface="Calibri"/>
              </a:rPr>
              <a:t>5 regional registries (RRs) </a:t>
            </a:r>
            <a:r>
              <a:rPr b="0" i="0" lang="en-US" sz="2400" u="none" cap="none" strike="noStrike">
                <a:solidFill>
                  <a:srgbClr val="000000"/>
                </a:solidFill>
                <a:latin typeface="Calibri"/>
                <a:ea typeface="Calibri"/>
                <a:cs typeface="Calibri"/>
                <a:sym typeface="Calibri"/>
              </a:rPr>
              <a:t>(who may then allocate to local registries)</a:t>
            </a:r>
            <a:endParaRPr/>
          </a:p>
          <a:p>
            <a:pPr indent="-234950" lvl="1" marL="57467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manages DNS root zone, including delegation of individual TLD (.com, .edu , …) management </a:t>
            </a:r>
            <a:endParaRPr/>
          </a:p>
          <a:p>
            <a:pPr indent="0" lvl="1" marL="463550"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2420" name="Google Shape;2420;p33"/>
          <p:cNvSpPr txBox="1"/>
          <p:nvPr/>
        </p:nvSpPr>
        <p:spPr>
          <a:xfrm>
            <a:off x="6780931" y="1374589"/>
            <a:ext cx="5040009" cy="363473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are there enough 32-bit IP addresses?</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ICANN allocated last chunk of IPv4 addresses to RRs in 2011</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NAT (next) helps IPv4 address space exhaustion</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IPv6 has 128-bit address space</a:t>
            </a:r>
            <a:endParaRPr/>
          </a:p>
        </p:txBody>
      </p:sp>
      <p:sp>
        <p:nvSpPr>
          <p:cNvPr id="2421" name="Google Shape;2421;p33"/>
          <p:cNvSpPr txBox="1"/>
          <p:nvPr/>
        </p:nvSpPr>
        <p:spPr>
          <a:xfrm flipH="1">
            <a:off x="7150541" y="5049079"/>
            <a:ext cx="4511372"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00"/>
                </a:solidFill>
                <a:latin typeface="Calibri"/>
                <a:ea typeface="Calibri"/>
                <a:cs typeface="Calibri"/>
                <a:sym typeface="Calibri"/>
              </a:rPr>
              <a:t>"Who the hell knew how much address space we needed?"  Vint Cerf (reflecting on decision to make IPv4 address 32 bits long)</a:t>
            </a:r>
            <a:endParaRPr/>
          </a:p>
        </p:txBody>
      </p:sp>
      <p:sp>
        <p:nvSpPr>
          <p:cNvPr id="2422" name="Google Shape;2422;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9">
                                            <p:txEl>
                                              <p:pRg end="0" st="0"/>
                                            </p:txEl>
                                          </p:spTgt>
                                        </p:tgtEl>
                                        <p:attrNameLst>
                                          <p:attrName>style.visibility</p:attrName>
                                        </p:attrNameLst>
                                      </p:cBhvr>
                                      <p:to>
                                        <p:strVal val="visible"/>
                                      </p:to>
                                    </p:set>
                                    <p:animEffect filter="fade" transition="in">
                                      <p:cBhvr>
                                        <p:cTn dur="500"/>
                                        <p:tgtEl>
                                          <p:spTgt spid="24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9">
                                            <p:txEl>
                                              <p:pRg end="1" st="1"/>
                                            </p:txEl>
                                          </p:spTgt>
                                        </p:tgtEl>
                                        <p:attrNameLst>
                                          <p:attrName>style.visibility</p:attrName>
                                        </p:attrNameLst>
                                      </p:cBhvr>
                                      <p:to>
                                        <p:strVal val="visible"/>
                                      </p:to>
                                    </p:set>
                                    <p:animEffect filter="fade" transition="in">
                                      <p:cBhvr>
                                        <p:cTn dur="500"/>
                                        <p:tgtEl>
                                          <p:spTgt spid="24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9">
                                            <p:txEl>
                                              <p:pRg end="2" st="2"/>
                                            </p:txEl>
                                          </p:spTgt>
                                        </p:tgtEl>
                                        <p:attrNameLst>
                                          <p:attrName>style.visibility</p:attrName>
                                        </p:attrNameLst>
                                      </p:cBhvr>
                                      <p:to>
                                        <p:strVal val="visible"/>
                                      </p:to>
                                    </p:set>
                                    <p:animEffect filter="fade" transition="in">
                                      <p:cBhvr>
                                        <p:cTn dur="500"/>
                                        <p:tgtEl>
                                          <p:spTgt spid="24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9">
                                            <p:txEl>
                                              <p:pRg end="3" st="3"/>
                                            </p:txEl>
                                          </p:spTgt>
                                        </p:tgtEl>
                                        <p:attrNameLst>
                                          <p:attrName>style.visibility</p:attrName>
                                        </p:attrNameLst>
                                      </p:cBhvr>
                                      <p:to>
                                        <p:strVal val="visible"/>
                                      </p:to>
                                    </p:set>
                                    <p:animEffect filter="fade" transition="in">
                                      <p:cBhvr>
                                        <p:cTn dur="500"/>
                                        <p:tgtEl>
                                          <p:spTgt spid="24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9">
                                            <p:txEl>
                                              <p:pRg end="4" st="4"/>
                                            </p:txEl>
                                          </p:spTgt>
                                        </p:tgtEl>
                                        <p:attrNameLst>
                                          <p:attrName>style.visibility</p:attrName>
                                        </p:attrNameLst>
                                      </p:cBhvr>
                                      <p:to>
                                        <p:strVal val="visible"/>
                                      </p:to>
                                    </p:set>
                                    <p:animEffect filter="fade" transition="in">
                                      <p:cBhvr>
                                        <p:cTn dur="500"/>
                                        <p:tgtEl>
                                          <p:spTgt spid="24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xEl>
                                              <p:pRg end="0" st="0"/>
                                            </p:txEl>
                                          </p:spTgt>
                                        </p:tgtEl>
                                        <p:attrNameLst>
                                          <p:attrName>style.visibility</p:attrName>
                                        </p:attrNameLst>
                                      </p:cBhvr>
                                      <p:to>
                                        <p:strVal val="visible"/>
                                      </p:to>
                                    </p:set>
                                    <p:animEffect filter="fade" transition="in">
                                      <p:cBhvr>
                                        <p:cTn dur="500"/>
                                        <p:tgtEl>
                                          <p:spTgt spid="24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xEl>
                                              <p:pRg end="1" st="1"/>
                                            </p:txEl>
                                          </p:spTgt>
                                        </p:tgtEl>
                                        <p:attrNameLst>
                                          <p:attrName>style.visibility</p:attrName>
                                        </p:attrNameLst>
                                      </p:cBhvr>
                                      <p:to>
                                        <p:strVal val="visible"/>
                                      </p:to>
                                    </p:set>
                                    <p:animEffect filter="fade" transition="in">
                                      <p:cBhvr>
                                        <p:cTn dur="500"/>
                                        <p:tgtEl>
                                          <p:spTgt spid="24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xEl>
                                              <p:pRg end="2" st="2"/>
                                            </p:txEl>
                                          </p:spTgt>
                                        </p:tgtEl>
                                        <p:attrNameLst>
                                          <p:attrName>style.visibility</p:attrName>
                                        </p:attrNameLst>
                                      </p:cBhvr>
                                      <p:to>
                                        <p:strVal val="visible"/>
                                      </p:to>
                                    </p:set>
                                    <p:animEffect filter="fade" transition="in">
                                      <p:cBhvr>
                                        <p:cTn dur="500"/>
                                        <p:tgtEl>
                                          <p:spTgt spid="24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xEl>
                                              <p:pRg end="3" st="3"/>
                                            </p:txEl>
                                          </p:spTgt>
                                        </p:tgtEl>
                                        <p:attrNameLst>
                                          <p:attrName>style.visibility</p:attrName>
                                        </p:attrNameLst>
                                      </p:cBhvr>
                                      <p:to>
                                        <p:strVal val="visible"/>
                                      </p:to>
                                    </p:set>
                                    <p:animEffect filter="fade" transition="in">
                                      <p:cBhvr>
                                        <p:cTn dur="500"/>
                                        <p:tgtEl>
                                          <p:spTgt spid="24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1"/>
                                        </p:tgtEl>
                                        <p:attrNameLst>
                                          <p:attrName>style.visibility</p:attrName>
                                        </p:attrNameLst>
                                      </p:cBhvr>
                                      <p:to>
                                        <p:strVal val="visible"/>
                                      </p:to>
                                    </p:set>
                                    <p:animEffect filter="fade" transition="in">
                                      <p:cBhvr>
                                        <p:cTn dur="500"/>
                                        <p:tgtEl>
                                          <p:spTgt spid="24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7" name="Shape 2427"/>
        <p:cNvGrpSpPr/>
        <p:nvPr/>
      </p:nvGrpSpPr>
      <p:grpSpPr>
        <a:xfrm>
          <a:off x="0" y="0"/>
          <a:ext cx="0" cy="0"/>
          <a:chOff x="0" y="0"/>
          <a:chExt cx="0" cy="0"/>
        </a:xfrm>
      </p:grpSpPr>
      <p:sp>
        <p:nvSpPr>
          <p:cNvPr id="2428" name="Google Shape;2428;p34"/>
          <p:cNvSpPr/>
          <p:nvPr/>
        </p:nvSpPr>
        <p:spPr>
          <a:xfrm>
            <a:off x="6624872" y="2978590"/>
            <a:ext cx="3273778" cy="2294055"/>
          </a:xfrm>
          <a:custGeom>
            <a:rect b="b" l="l" r="r" t="t"/>
            <a:pathLst>
              <a:path extrusionOk="0" h="1699" w="2355">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429" name="Google Shape;2429;p34"/>
          <p:cNvSpPr txBox="1"/>
          <p:nvPr/>
        </p:nvSpPr>
        <p:spPr>
          <a:xfrm>
            <a:off x="9236240" y="3264692"/>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10.0.0.1</a:t>
            </a:r>
            <a:endParaRPr/>
          </a:p>
        </p:txBody>
      </p:sp>
      <p:sp>
        <p:nvSpPr>
          <p:cNvPr id="2430" name="Google Shape;2430;p34"/>
          <p:cNvSpPr txBox="1"/>
          <p:nvPr/>
        </p:nvSpPr>
        <p:spPr>
          <a:xfrm>
            <a:off x="9181489" y="3988217"/>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10.0.0.2</a:t>
            </a:r>
            <a:endParaRPr/>
          </a:p>
        </p:txBody>
      </p:sp>
      <p:sp>
        <p:nvSpPr>
          <p:cNvPr id="2431" name="Google Shape;2431;p34"/>
          <p:cNvSpPr txBox="1"/>
          <p:nvPr/>
        </p:nvSpPr>
        <p:spPr>
          <a:xfrm>
            <a:off x="9155136" y="4742372"/>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10.0.0.3</a:t>
            </a:r>
            <a:endParaRPr/>
          </a:p>
        </p:txBody>
      </p:sp>
      <p:sp>
        <p:nvSpPr>
          <p:cNvPr id="2432" name="Google Shape;2432;p34"/>
          <p:cNvSpPr txBox="1"/>
          <p:nvPr/>
        </p:nvSpPr>
        <p:spPr>
          <a:xfrm>
            <a:off x="6464854" y="3424079"/>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10.0.0.4</a:t>
            </a:r>
            <a:endParaRPr/>
          </a:p>
        </p:txBody>
      </p:sp>
      <p:cxnSp>
        <p:nvCxnSpPr>
          <p:cNvPr id="2433" name="Google Shape;2433;p34"/>
          <p:cNvCxnSpPr/>
          <p:nvPr/>
        </p:nvCxnSpPr>
        <p:spPr>
          <a:xfrm>
            <a:off x="6820885" y="3727909"/>
            <a:ext cx="2090" cy="358873"/>
          </a:xfrm>
          <a:prstGeom prst="straightConnector1">
            <a:avLst/>
          </a:prstGeom>
          <a:noFill/>
          <a:ln cap="flat" cmpd="sng" w="19050">
            <a:solidFill>
              <a:srgbClr val="000000"/>
            </a:solidFill>
            <a:prstDash val="solid"/>
            <a:round/>
            <a:headEnd len="med" w="med" type="none"/>
            <a:tailEnd len="med" w="med" type="triangle"/>
          </a:ln>
        </p:spPr>
      </p:cxnSp>
      <p:sp>
        <p:nvSpPr>
          <p:cNvPr id="2434" name="Google Shape;2434;p34"/>
          <p:cNvSpPr txBox="1"/>
          <p:nvPr/>
        </p:nvSpPr>
        <p:spPr>
          <a:xfrm>
            <a:off x="6679771" y="2473869"/>
            <a:ext cx="2802851" cy="569468"/>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local network (e.g., home network) 10.0.0/24</a:t>
            </a:r>
            <a:endParaRPr/>
          </a:p>
        </p:txBody>
      </p:sp>
      <p:cxnSp>
        <p:nvCxnSpPr>
          <p:cNvPr id="2435" name="Google Shape;2435;p34"/>
          <p:cNvCxnSpPr/>
          <p:nvPr/>
        </p:nvCxnSpPr>
        <p:spPr>
          <a:xfrm>
            <a:off x="9417628" y="2709128"/>
            <a:ext cx="1124665" cy="0"/>
          </a:xfrm>
          <a:prstGeom prst="straightConnector1">
            <a:avLst/>
          </a:prstGeom>
          <a:noFill/>
          <a:ln cap="flat" cmpd="sng" w="9525">
            <a:solidFill>
              <a:srgbClr val="000000"/>
            </a:solidFill>
            <a:prstDash val="solid"/>
            <a:round/>
            <a:headEnd len="med" w="med" type="none"/>
            <a:tailEnd len="med" w="med" type="triangle"/>
          </a:ln>
        </p:spPr>
      </p:cxnSp>
      <p:cxnSp>
        <p:nvCxnSpPr>
          <p:cNvPr id="2436" name="Google Shape;2436;p34"/>
          <p:cNvCxnSpPr/>
          <p:nvPr/>
        </p:nvCxnSpPr>
        <p:spPr>
          <a:xfrm>
            <a:off x="6205244" y="2589251"/>
            <a:ext cx="0" cy="1128251"/>
          </a:xfrm>
          <a:prstGeom prst="straightConnector1">
            <a:avLst/>
          </a:prstGeom>
          <a:noFill/>
          <a:ln cap="flat" cmpd="sng" w="9525">
            <a:solidFill>
              <a:srgbClr val="000000"/>
            </a:solidFill>
            <a:prstDash val="solid"/>
            <a:round/>
            <a:headEnd len="med" w="med" type="none"/>
            <a:tailEnd len="med" w="med" type="none"/>
          </a:ln>
        </p:spPr>
      </p:cxnSp>
      <p:cxnSp>
        <p:nvCxnSpPr>
          <p:cNvPr id="2437" name="Google Shape;2437;p34"/>
          <p:cNvCxnSpPr/>
          <p:nvPr/>
        </p:nvCxnSpPr>
        <p:spPr>
          <a:xfrm rot="10800000">
            <a:off x="6344943" y="2721791"/>
            <a:ext cx="427910" cy="4474"/>
          </a:xfrm>
          <a:prstGeom prst="straightConnector1">
            <a:avLst/>
          </a:prstGeom>
          <a:noFill/>
          <a:ln cap="flat" cmpd="sng" w="9525">
            <a:solidFill>
              <a:srgbClr val="000000"/>
            </a:solidFill>
            <a:prstDash val="solid"/>
            <a:round/>
            <a:headEnd len="med" w="med" type="none"/>
            <a:tailEnd len="med" w="med" type="triangle"/>
          </a:ln>
        </p:spPr>
      </p:cxnSp>
      <p:grpSp>
        <p:nvGrpSpPr>
          <p:cNvPr id="2438" name="Google Shape;2438;p34"/>
          <p:cNvGrpSpPr/>
          <p:nvPr/>
        </p:nvGrpSpPr>
        <p:grpSpPr>
          <a:xfrm flipH="1">
            <a:off x="9988255" y="3097875"/>
            <a:ext cx="641350" cy="583178"/>
            <a:chOff x="-44" y="1473"/>
            <a:chExt cx="981" cy="1105"/>
          </a:xfrm>
        </p:grpSpPr>
        <p:pic>
          <p:nvPicPr>
            <p:cNvPr descr="desktop_computer_stylized_medium" id="2439" name="Google Shape;2439;p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440" name="Google Shape;2440;p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441" name="Google Shape;2441;p34"/>
          <p:cNvGrpSpPr/>
          <p:nvPr/>
        </p:nvGrpSpPr>
        <p:grpSpPr>
          <a:xfrm flipH="1">
            <a:off x="9915055" y="3818933"/>
            <a:ext cx="641350" cy="583178"/>
            <a:chOff x="-44" y="1473"/>
            <a:chExt cx="981" cy="1105"/>
          </a:xfrm>
        </p:grpSpPr>
        <p:pic>
          <p:nvPicPr>
            <p:cNvPr descr="desktop_computer_stylized_medium" id="2442" name="Google Shape;2442;p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443" name="Google Shape;2443;p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444" name="Google Shape;2444;p34"/>
          <p:cNvGrpSpPr/>
          <p:nvPr/>
        </p:nvGrpSpPr>
        <p:grpSpPr>
          <a:xfrm flipH="1">
            <a:off x="9934281" y="4558766"/>
            <a:ext cx="641350" cy="583178"/>
            <a:chOff x="-44" y="1473"/>
            <a:chExt cx="981" cy="1105"/>
          </a:xfrm>
        </p:grpSpPr>
        <p:pic>
          <p:nvPicPr>
            <p:cNvPr descr="desktop_computer_stylized_medium" id="2445" name="Google Shape;2445;p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446" name="Google Shape;2446;p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447" name="Google Shape;2447;p34"/>
          <p:cNvGrpSpPr/>
          <p:nvPr/>
        </p:nvGrpSpPr>
        <p:grpSpPr>
          <a:xfrm>
            <a:off x="2171406" y="2486532"/>
            <a:ext cx="3963988" cy="2445373"/>
            <a:chOff x="2171406" y="2486532"/>
            <a:chExt cx="3963988" cy="2445373"/>
          </a:xfrm>
        </p:grpSpPr>
        <p:sp>
          <p:nvSpPr>
            <p:cNvPr id="2448" name="Google Shape;2448;p34"/>
            <p:cNvSpPr/>
            <p:nvPr/>
          </p:nvSpPr>
          <p:spPr>
            <a:xfrm>
              <a:off x="2171406" y="3444138"/>
              <a:ext cx="3640666" cy="1487767"/>
            </a:xfrm>
            <a:custGeom>
              <a:rect b="b" l="l" r="r" t="t"/>
              <a:pathLst>
                <a:path extrusionOk="0" h="898" w="2425">
                  <a:moveTo>
                    <a:pt x="2056" y="289"/>
                  </a:moveTo>
                  <a:cubicBezTo>
                    <a:pt x="1826" y="223"/>
                    <a:pt x="1133" y="113"/>
                    <a:pt x="810" y="75"/>
                  </a:cubicBezTo>
                  <a:cubicBezTo>
                    <a:pt x="487" y="37"/>
                    <a:pt x="230" y="0"/>
                    <a:pt x="115" y="60"/>
                  </a:cubicBezTo>
                  <a:cubicBezTo>
                    <a:pt x="0" y="120"/>
                    <a:pt x="121" y="301"/>
                    <a:pt x="121" y="433"/>
                  </a:cubicBezTo>
                  <a:cubicBezTo>
                    <a:pt x="121" y="565"/>
                    <a:pt x="25" y="802"/>
                    <a:pt x="115" y="850"/>
                  </a:cubicBezTo>
                  <a:cubicBezTo>
                    <a:pt x="205" y="898"/>
                    <a:pt x="316" y="784"/>
                    <a:pt x="662" y="721"/>
                  </a:cubicBezTo>
                  <a:cubicBezTo>
                    <a:pt x="1008" y="658"/>
                    <a:pt x="1961" y="544"/>
                    <a:pt x="2193" y="472"/>
                  </a:cubicBezTo>
                  <a:cubicBezTo>
                    <a:pt x="2425" y="400"/>
                    <a:pt x="2292" y="327"/>
                    <a:pt x="2056" y="289"/>
                  </a:cubicBezTo>
                  <a:close/>
                </a:path>
              </a:pathLst>
            </a:custGeom>
            <a:gradFill>
              <a:gsLst>
                <a:gs pos="0">
                  <a:srgbClr val="FFFFFF">
                    <a:alpha val="98039"/>
                  </a:srgbClr>
                </a:gs>
                <a:gs pos="100000">
                  <a:srgbClr val="66CC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449" name="Google Shape;2449;p34"/>
            <p:cNvSpPr txBox="1"/>
            <p:nvPr/>
          </p:nvSpPr>
          <p:spPr>
            <a:xfrm>
              <a:off x="4504384" y="3410471"/>
              <a:ext cx="1172116"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138.76.29.7</a:t>
              </a:r>
              <a:endParaRPr/>
            </a:p>
          </p:txBody>
        </p:sp>
        <p:cxnSp>
          <p:nvCxnSpPr>
            <p:cNvPr id="2450" name="Google Shape;2450;p34"/>
            <p:cNvCxnSpPr/>
            <p:nvPr/>
          </p:nvCxnSpPr>
          <p:spPr>
            <a:xfrm rot="10800000">
              <a:off x="5504641" y="3720817"/>
              <a:ext cx="4440" cy="356700"/>
            </a:xfrm>
            <a:prstGeom prst="straightConnector1">
              <a:avLst/>
            </a:prstGeom>
            <a:noFill/>
            <a:ln cap="flat" cmpd="sng" w="19050">
              <a:solidFill>
                <a:srgbClr val="000000"/>
              </a:solidFill>
              <a:prstDash val="solid"/>
              <a:round/>
              <a:headEnd len="med" w="med" type="triangle"/>
              <a:tailEnd len="med" w="med" type="none"/>
            </a:ln>
          </p:spPr>
        </p:cxnSp>
        <p:cxnSp>
          <p:nvCxnSpPr>
            <p:cNvPr id="2451" name="Google Shape;2451;p34"/>
            <p:cNvCxnSpPr/>
            <p:nvPr/>
          </p:nvCxnSpPr>
          <p:spPr>
            <a:xfrm>
              <a:off x="4749506" y="2735046"/>
              <a:ext cx="1385888" cy="0"/>
            </a:xfrm>
            <a:prstGeom prst="straightConnector1">
              <a:avLst/>
            </a:prstGeom>
            <a:noFill/>
            <a:ln cap="flat" cmpd="sng" w="9525">
              <a:solidFill>
                <a:srgbClr val="000000"/>
              </a:solidFill>
              <a:prstDash val="solid"/>
              <a:round/>
              <a:headEnd len="med" w="med" type="none"/>
              <a:tailEnd len="med" w="med" type="triangle"/>
            </a:ln>
          </p:spPr>
        </p:cxnSp>
        <p:cxnSp>
          <p:nvCxnSpPr>
            <p:cNvPr id="2452" name="Google Shape;2452;p34"/>
            <p:cNvCxnSpPr/>
            <p:nvPr/>
          </p:nvCxnSpPr>
          <p:spPr>
            <a:xfrm rot="10800000">
              <a:off x="2938169" y="2721792"/>
              <a:ext cx="898525" cy="0"/>
            </a:xfrm>
            <a:prstGeom prst="straightConnector1">
              <a:avLst/>
            </a:prstGeom>
            <a:noFill/>
            <a:ln cap="flat" cmpd="sng" w="9525">
              <a:solidFill>
                <a:srgbClr val="000000"/>
              </a:solidFill>
              <a:prstDash val="solid"/>
              <a:round/>
              <a:headEnd len="med" w="med" type="none"/>
              <a:tailEnd len="med" w="med" type="triangle"/>
            </a:ln>
          </p:spPr>
        </p:cxnSp>
        <p:sp>
          <p:nvSpPr>
            <p:cNvPr id="2453" name="Google Shape;2453;p34"/>
            <p:cNvSpPr txBox="1"/>
            <p:nvPr/>
          </p:nvSpPr>
          <p:spPr>
            <a:xfrm>
              <a:off x="3829555" y="2486532"/>
              <a:ext cx="950901" cy="61671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rest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a:t>
              </a:r>
              <a:endParaRPr/>
            </a:p>
          </p:txBody>
        </p:sp>
        <p:cxnSp>
          <p:nvCxnSpPr>
            <p:cNvPr id="2454" name="Google Shape;2454;p34"/>
            <p:cNvCxnSpPr/>
            <p:nvPr/>
          </p:nvCxnSpPr>
          <p:spPr>
            <a:xfrm>
              <a:off x="2743200" y="4135538"/>
              <a:ext cx="2943752" cy="0"/>
            </a:xfrm>
            <a:prstGeom prst="straightConnector1">
              <a:avLst/>
            </a:prstGeom>
            <a:noFill/>
            <a:ln cap="flat" cmpd="sng" w="25400">
              <a:solidFill>
                <a:schemeClr val="dk1"/>
              </a:solidFill>
              <a:prstDash val="solid"/>
              <a:miter lim="8000"/>
              <a:headEnd len="sm" w="sm" type="none"/>
              <a:tailEnd len="sm" w="sm" type="none"/>
            </a:ln>
          </p:spPr>
        </p:cxnSp>
      </p:grpSp>
      <p:grpSp>
        <p:nvGrpSpPr>
          <p:cNvPr id="2455" name="Google Shape;2455;p34"/>
          <p:cNvGrpSpPr/>
          <p:nvPr/>
        </p:nvGrpSpPr>
        <p:grpSpPr>
          <a:xfrm>
            <a:off x="5685800" y="3913064"/>
            <a:ext cx="1040553" cy="449888"/>
            <a:chOff x="7493876" y="2774731"/>
            <a:chExt cx="1481958" cy="894622"/>
          </a:xfrm>
        </p:grpSpPr>
        <p:sp>
          <p:nvSpPr>
            <p:cNvPr id="2456" name="Google Shape;2456;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57" name="Google Shape;2457;p34"/>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58" name="Google Shape;2458;p34"/>
            <p:cNvGrpSpPr/>
            <p:nvPr/>
          </p:nvGrpSpPr>
          <p:grpSpPr>
            <a:xfrm>
              <a:off x="7713663" y="2848339"/>
              <a:ext cx="1042107" cy="425543"/>
              <a:chOff x="7786941" y="2884917"/>
              <a:chExt cx="897649" cy="353919"/>
            </a:xfrm>
          </p:grpSpPr>
          <p:sp>
            <p:nvSpPr>
              <p:cNvPr id="2459" name="Google Shape;2459;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0" name="Google Shape;2460;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1" name="Google Shape;2461;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2" name="Google Shape;2462;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2463" name="Google Shape;2463;p34"/>
          <p:cNvCxnSpPr/>
          <p:nvPr/>
        </p:nvCxnSpPr>
        <p:spPr>
          <a:xfrm>
            <a:off x="9757680" y="3564123"/>
            <a:ext cx="293511" cy="0"/>
          </a:xfrm>
          <a:prstGeom prst="straightConnector1">
            <a:avLst/>
          </a:prstGeom>
          <a:noFill/>
          <a:ln cap="flat" cmpd="sng" w="19050">
            <a:solidFill>
              <a:schemeClr val="dk1"/>
            </a:solidFill>
            <a:prstDash val="solid"/>
            <a:miter lim="8000"/>
            <a:headEnd len="sm" w="sm" type="none"/>
            <a:tailEnd len="sm" w="sm" type="none"/>
          </a:ln>
        </p:spPr>
      </p:cxnSp>
      <p:cxnSp>
        <p:nvCxnSpPr>
          <p:cNvPr id="2464" name="Google Shape;2464;p34"/>
          <p:cNvCxnSpPr/>
          <p:nvPr/>
        </p:nvCxnSpPr>
        <p:spPr>
          <a:xfrm>
            <a:off x="9685290" y="4279842"/>
            <a:ext cx="293511" cy="0"/>
          </a:xfrm>
          <a:prstGeom prst="straightConnector1">
            <a:avLst/>
          </a:prstGeom>
          <a:noFill/>
          <a:ln cap="flat" cmpd="sng" w="19050">
            <a:solidFill>
              <a:schemeClr val="dk1"/>
            </a:solidFill>
            <a:prstDash val="solid"/>
            <a:miter lim="8000"/>
            <a:headEnd len="sm" w="sm" type="none"/>
            <a:tailEnd len="sm" w="sm" type="none"/>
          </a:ln>
        </p:spPr>
      </p:cxnSp>
      <p:cxnSp>
        <p:nvCxnSpPr>
          <p:cNvPr id="2465" name="Google Shape;2465;p34"/>
          <p:cNvCxnSpPr/>
          <p:nvPr/>
        </p:nvCxnSpPr>
        <p:spPr>
          <a:xfrm>
            <a:off x="9704340" y="5027371"/>
            <a:ext cx="293511" cy="0"/>
          </a:xfrm>
          <a:prstGeom prst="straightConnector1">
            <a:avLst/>
          </a:prstGeom>
          <a:noFill/>
          <a:ln cap="flat" cmpd="sng" w="19050">
            <a:solidFill>
              <a:schemeClr val="dk1"/>
            </a:solidFill>
            <a:prstDash val="solid"/>
            <a:miter lim="8000"/>
            <a:headEnd len="sm" w="sm" type="none"/>
            <a:tailEnd len="sm" w="sm" type="none"/>
          </a:ln>
        </p:spPr>
      </p:cxnSp>
      <p:sp>
        <p:nvSpPr>
          <p:cNvPr id="2466" name="Google Shape;2466;p34"/>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grpSp>
        <p:nvGrpSpPr>
          <p:cNvPr id="2467" name="Google Shape;2467;p34"/>
          <p:cNvGrpSpPr/>
          <p:nvPr/>
        </p:nvGrpSpPr>
        <p:grpSpPr>
          <a:xfrm>
            <a:off x="6231591" y="4144216"/>
            <a:ext cx="5475817" cy="2433887"/>
            <a:chOff x="6191250" y="3243263"/>
            <a:chExt cx="5475817" cy="2433887"/>
          </a:xfrm>
        </p:grpSpPr>
        <p:sp>
          <p:nvSpPr>
            <p:cNvPr id="2468" name="Google Shape;2468;p34"/>
            <p:cNvSpPr txBox="1"/>
            <p:nvPr/>
          </p:nvSpPr>
          <p:spPr>
            <a:xfrm>
              <a:off x="6191250" y="4640263"/>
              <a:ext cx="5475817" cy="1036887"/>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datagrams with source or destination in this network have 10.0.0/24 address for  source, destination (as usual)</a:t>
              </a:r>
              <a:endParaRPr/>
            </a:p>
          </p:txBody>
        </p:sp>
        <p:cxnSp>
          <p:nvCxnSpPr>
            <p:cNvPr id="2469" name="Google Shape;2469;p34"/>
            <p:cNvCxnSpPr/>
            <p:nvPr/>
          </p:nvCxnSpPr>
          <p:spPr>
            <a:xfrm flipH="1" rot="10800000">
              <a:off x="6731530" y="3243263"/>
              <a:ext cx="668337" cy="1427162"/>
            </a:xfrm>
            <a:prstGeom prst="straightConnector1">
              <a:avLst/>
            </a:prstGeom>
            <a:noFill/>
            <a:ln cap="flat" cmpd="sng" w="9525">
              <a:solidFill>
                <a:srgbClr val="CC0000"/>
              </a:solidFill>
              <a:prstDash val="solid"/>
              <a:round/>
              <a:headEnd len="med" w="med" type="none"/>
              <a:tailEnd len="med" w="med" type="none"/>
            </a:ln>
          </p:spPr>
        </p:cxnSp>
      </p:grpSp>
      <p:grpSp>
        <p:nvGrpSpPr>
          <p:cNvPr id="2470" name="Google Shape;2470;p34"/>
          <p:cNvGrpSpPr/>
          <p:nvPr/>
        </p:nvGrpSpPr>
        <p:grpSpPr>
          <a:xfrm>
            <a:off x="380010" y="4107703"/>
            <a:ext cx="5528261" cy="2475162"/>
            <a:chOff x="339669" y="3206750"/>
            <a:chExt cx="5528261" cy="2475162"/>
          </a:xfrm>
        </p:grpSpPr>
        <p:sp>
          <p:nvSpPr>
            <p:cNvPr id="2471" name="Google Shape;2471;p34"/>
            <p:cNvSpPr txBox="1"/>
            <p:nvPr/>
          </p:nvSpPr>
          <p:spPr>
            <a:xfrm>
              <a:off x="339669" y="4645025"/>
              <a:ext cx="5528261" cy="1036887"/>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all</a:t>
              </a:r>
              <a:r>
                <a:rPr b="0" i="0" lang="en-US" sz="2400" u="none" cap="none" strike="noStrike">
                  <a:solidFill>
                    <a:srgbClr val="CC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datagrams </a:t>
              </a:r>
              <a:r>
                <a:rPr b="0" i="1" lang="en-US" sz="2400" u="none" cap="none" strike="noStrike">
                  <a:solidFill>
                    <a:srgbClr val="CC0000"/>
                  </a:solidFill>
                  <a:latin typeface="Calibri"/>
                  <a:ea typeface="Calibri"/>
                  <a:cs typeface="Calibri"/>
                  <a:sym typeface="Calibri"/>
                </a:rPr>
                <a:t>leaving</a:t>
              </a:r>
              <a:r>
                <a:rPr b="0" i="0" lang="en-US" sz="2400" u="none" cap="none" strike="noStrike">
                  <a:solidFill>
                    <a:srgbClr val="000000"/>
                  </a:solidFill>
                  <a:latin typeface="Calibri"/>
                  <a:ea typeface="Calibri"/>
                  <a:cs typeface="Calibri"/>
                  <a:sym typeface="Calibri"/>
                </a:rPr>
                <a:t> local network have </a:t>
              </a:r>
              <a:r>
                <a:rPr b="0" i="1" lang="en-US" sz="2400" u="none" cap="none" strike="noStrike">
                  <a:solidFill>
                    <a:srgbClr val="CC0000"/>
                  </a:solidFill>
                  <a:latin typeface="Calibri"/>
                  <a:ea typeface="Calibri"/>
                  <a:cs typeface="Calibri"/>
                  <a:sym typeface="Calibri"/>
                </a:rPr>
                <a:t>same</a:t>
              </a:r>
              <a:r>
                <a:rPr b="0" i="0" lang="en-US" sz="2400" u="none" cap="none" strike="noStrike">
                  <a:solidFill>
                    <a:srgbClr val="000000"/>
                  </a:solidFill>
                  <a:latin typeface="Calibri"/>
                  <a:ea typeface="Calibri"/>
                  <a:cs typeface="Calibri"/>
                  <a:sym typeface="Calibri"/>
                </a:rPr>
                <a:t> source NAT IP address: 138.76.29.7,  but </a:t>
              </a:r>
              <a:r>
                <a:rPr b="0" i="1" lang="en-US" sz="2400" u="none" cap="none" strike="noStrike">
                  <a:solidFill>
                    <a:srgbClr val="000000"/>
                  </a:solidFill>
                  <a:latin typeface="Calibri"/>
                  <a:ea typeface="Calibri"/>
                  <a:cs typeface="Calibri"/>
                  <a:sym typeface="Calibri"/>
                </a:rPr>
                <a:t>different</a:t>
              </a:r>
              <a:r>
                <a:rPr b="0" i="0" lang="en-US" sz="2400" u="none" cap="none" strike="noStrike">
                  <a:solidFill>
                    <a:srgbClr val="000000"/>
                  </a:solidFill>
                  <a:latin typeface="Calibri"/>
                  <a:ea typeface="Calibri"/>
                  <a:cs typeface="Calibri"/>
                  <a:sym typeface="Calibri"/>
                </a:rPr>
                <a:t> source port numbers</a:t>
              </a:r>
              <a:endParaRPr/>
            </a:p>
          </p:txBody>
        </p:sp>
        <p:cxnSp>
          <p:nvCxnSpPr>
            <p:cNvPr id="2472" name="Google Shape;2472;p34"/>
            <p:cNvCxnSpPr/>
            <p:nvPr/>
          </p:nvCxnSpPr>
          <p:spPr>
            <a:xfrm flipH="1" rot="10800000">
              <a:off x="4620155" y="3206750"/>
              <a:ext cx="668337" cy="1427163"/>
            </a:xfrm>
            <a:prstGeom prst="straightConnector1">
              <a:avLst/>
            </a:prstGeom>
            <a:noFill/>
            <a:ln cap="flat" cmpd="sng" w="9525">
              <a:solidFill>
                <a:srgbClr val="CC0000"/>
              </a:solidFill>
              <a:prstDash val="solid"/>
              <a:round/>
              <a:headEnd len="med" w="med" type="none"/>
              <a:tailEnd len="med" w="med" type="none"/>
            </a:ln>
          </p:spPr>
        </p:cxnSp>
      </p:grpSp>
      <p:sp>
        <p:nvSpPr>
          <p:cNvPr id="2473" name="Google Shape;2473;p34"/>
          <p:cNvSpPr/>
          <p:nvPr/>
        </p:nvSpPr>
        <p:spPr>
          <a:xfrm>
            <a:off x="438310" y="1328747"/>
            <a:ext cx="11125200" cy="1034129"/>
          </a:xfrm>
          <a:prstGeom prst="rect">
            <a:avLst/>
          </a:prstGeom>
          <a:noFill/>
          <a:ln>
            <a:noFill/>
          </a:ln>
        </p:spPr>
        <p:txBody>
          <a:bodyPr anchorCtr="0" anchor="t" bIns="45700" lIns="91425" spcFirstLastPara="1" rIns="91425" wrap="square" tIns="45700">
            <a:spAutoFit/>
          </a:bodyPr>
          <a:lstStyle/>
          <a:p>
            <a:pPr indent="0" lvl="0" marL="239713" marR="0" rtl="0" algn="l">
              <a:lnSpc>
                <a:spcPct val="90000"/>
              </a:lnSpc>
              <a:spcBef>
                <a:spcPts val="0"/>
              </a:spcBef>
              <a:spcAft>
                <a:spcPts val="0"/>
              </a:spcAft>
              <a:buClr>
                <a:srgbClr val="0000A3"/>
              </a:buClr>
              <a:buSzPts val="3600"/>
              <a:buFont typeface="Calibri"/>
              <a:buNone/>
            </a:pPr>
            <a:r>
              <a:rPr b="0" i="0" lang="en-US" sz="3600" u="none" cap="none" strike="noStrike">
                <a:solidFill>
                  <a:srgbClr val="CC0000"/>
                </a:solidFill>
                <a:latin typeface="Calibri"/>
                <a:ea typeface="Calibri"/>
                <a:cs typeface="Calibri"/>
                <a:sym typeface="Calibri"/>
              </a:rPr>
              <a:t>NAT:</a:t>
            </a:r>
            <a:r>
              <a:rPr b="0" i="0" lang="en-US" sz="36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all devices in local network share just </a:t>
            </a:r>
            <a:r>
              <a:rPr b="0" i="0" lang="en-US" sz="3200" u="none" cap="none" strike="noStrike">
                <a:solidFill>
                  <a:srgbClr val="C00000"/>
                </a:solidFill>
                <a:latin typeface="Calibri"/>
                <a:ea typeface="Calibri"/>
                <a:cs typeface="Calibri"/>
                <a:sym typeface="Calibri"/>
              </a:rPr>
              <a:t>one</a:t>
            </a:r>
            <a:r>
              <a:rPr b="0" i="0" lang="en-US" sz="3200" u="none" cap="none" strike="noStrike">
                <a:solidFill>
                  <a:srgbClr val="000000"/>
                </a:solidFill>
                <a:latin typeface="Calibri"/>
                <a:ea typeface="Calibri"/>
                <a:cs typeface="Calibri"/>
                <a:sym typeface="Calibri"/>
              </a:rPr>
              <a:t> IPv4 address as far as outside world is concerned</a:t>
            </a:r>
            <a:endParaRPr/>
          </a:p>
        </p:txBody>
      </p:sp>
      <p:cxnSp>
        <p:nvCxnSpPr>
          <p:cNvPr id="2474" name="Google Shape;2474;p34"/>
          <p:cNvCxnSpPr/>
          <p:nvPr/>
        </p:nvCxnSpPr>
        <p:spPr>
          <a:xfrm>
            <a:off x="6743699" y="4124653"/>
            <a:ext cx="548895" cy="0"/>
          </a:xfrm>
          <a:prstGeom prst="straightConnector1">
            <a:avLst/>
          </a:prstGeom>
          <a:noFill/>
          <a:ln cap="flat" cmpd="sng" w="25400">
            <a:solidFill>
              <a:schemeClr val="dk1"/>
            </a:solidFill>
            <a:prstDash val="solid"/>
            <a:miter lim="8000"/>
            <a:headEnd len="sm" w="sm" type="none"/>
            <a:tailEnd len="sm" w="sm" type="none"/>
          </a:ln>
        </p:spPr>
      </p:cxnSp>
      <p:sp>
        <p:nvSpPr>
          <p:cNvPr id="2475" name="Google Shape;2475;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7"/>
                                        </p:tgtEl>
                                        <p:attrNameLst>
                                          <p:attrName>style.visibility</p:attrName>
                                        </p:attrNameLst>
                                      </p:cBhvr>
                                      <p:to>
                                        <p:strVal val="visible"/>
                                      </p:to>
                                    </p:set>
                                    <p:animEffect filter="fade" transition="in">
                                      <p:cBhvr>
                                        <p:cTn dur="500"/>
                                        <p:tgtEl>
                                          <p:spTgt spid="2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0"/>
                                        </p:tgtEl>
                                        <p:attrNameLst>
                                          <p:attrName>style.visibility</p:attrName>
                                        </p:attrNameLst>
                                      </p:cBhvr>
                                      <p:to>
                                        <p:strVal val="visible"/>
                                      </p:to>
                                    </p:set>
                                    <p:animEffect filter="fade" transition="in">
                                      <p:cBhvr>
                                        <p:cTn dur="500"/>
                                        <p:tgtEl>
                                          <p:spTgt spid="2470"/>
                                        </p:tgtEl>
                                      </p:cBhvr>
                                    </p:animEffect>
                                  </p:childTnLst>
                                </p:cTn>
                              </p:par>
                              <p:par>
                                <p:cTn fill="hold" nodeType="withEffect" presetClass="entr" presetID="10" presetSubtype="0">
                                  <p:stCondLst>
                                    <p:cond delay="0"/>
                                  </p:stCondLst>
                                  <p:childTnLst>
                                    <p:set>
                                      <p:cBhvr>
                                        <p:cTn dur="1" fill="hold">
                                          <p:stCondLst>
                                            <p:cond delay="0"/>
                                          </p:stCondLst>
                                        </p:cTn>
                                        <p:tgtEl>
                                          <p:spTgt spid="2447"/>
                                        </p:tgtEl>
                                        <p:attrNameLst>
                                          <p:attrName>style.visibility</p:attrName>
                                        </p:attrNameLst>
                                      </p:cBhvr>
                                      <p:to>
                                        <p:strVal val="visible"/>
                                      </p:to>
                                    </p:set>
                                    <p:animEffect filter="fade" transition="in">
                                      <p:cBhvr>
                                        <p:cTn dur="500"/>
                                        <p:tgtEl>
                                          <p:spTgt spid="2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0" name="Shape 2480"/>
        <p:cNvGrpSpPr/>
        <p:nvPr/>
      </p:nvGrpSpPr>
      <p:grpSpPr>
        <a:xfrm>
          <a:off x="0" y="0"/>
          <a:ext cx="0" cy="0"/>
          <a:chOff x="0" y="0"/>
          <a:chExt cx="0" cy="0"/>
        </a:xfrm>
      </p:grpSpPr>
      <p:sp>
        <p:nvSpPr>
          <p:cNvPr id="2481" name="Google Shape;2481;p35"/>
          <p:cNvSpPr txBox="1"/>
          <p:nvPr/>
        </p:nvSpPr>
        <p:spPr>
          <a:xfrm>
            <a:off x="475014" y="1411941"/>
            <a:ext cx="10603804" cy="5284694"/>
          </a:xfrm>
          <a:prstGeom prst="rect">
            <a:avLst/>
          </a:prstGeom>
          <a:noFill/>
          <a:ln>
            <a:noFill/>
          </a:ln>
        </p:spPr>
        <p:txBody>
          <a:bodyPr anchorCtr="0" anchor="t" bIns="45700" lIns="91425" spcFirstLastPara="1" rIns="91425" wrap="square" tIns="45700">
            <a:normAutofit/>
          </a:bodyPr>
          <a:lstStyle/>
          <a:p>
            <a:pPr indent="-290513" lvl="1" marL="695325"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all devices in local network have 32-bit addresses in a “private” IP address space (10/8, 172.16/12, 192.168/16 prefixes) that can only be used in local network</a:t>
            </a:r>
            <a:endParaRPr/>
          </a:p>
          <a:p>
            <a:pPr indent="-290513"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advantages:</a:t>
            </a:r>
            <a:endParaRPr/>
          </a:p>
          <a:p>
            <a:pPr indent="-290513" lvl="2" marL="1143000" marR="0" rtl="0" algn="l">
              <a:lnSpc>
                <a:spcPct val="90000"/>
              </a:lnSpc>
              <a:spcBef>
                <a:spcPts val="5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just </a:t>
            </a:r>
            <a:r>
              <a:rPr b="0" i="0" lang="en-US" sz="2800" u="none" cap="none" strike="noStrike">
                <a:solidFill>
                  <a:srgbClr val="C00000"/>
                </a:solidFill>
                <a:latin typeface="Calibri"/>
                <a:ea typeface="Calibri"/>
                <a:cs typeface="Calibri"/>
                <a:sym typeface="Calibri"/>
              </a:rPr>
              <a:t>one</a:t>
            </a:r>
            <a:r>
              <a:rPr b="0" i="0" lang="en-US" sz="2800" u="none" cap="none" strike="noStrike">
                <a:solidFill>
                  <a:srgbClr val="000000"/>
                </a:solidFill>
                <a:latin typeface="Calibri"/>
                <a:ea typeface="Calibri"/>
                <a:cs typeface="Calibri"/>
                <a:sym typeface="Calibri"/>
              </a:rPr>
              <a:t> IP address needed from provider ISP for </a:t>
            </a:r>
            <a:r>
              <a:rPr b="0" i="1" lang="en-US" sz="2800" u="none" cap="none" strike="noStrike">
                <a:solidFill>
                  <a:srgbClr val="0000A3"/>
                </a:solidFill>
                <a:latin typeface="Calibri"/>
                <a:ea typeface="Calibri"/>
                <a:cs typeface="Calibri"/>
                <a:sym typeface="Calibri"/>
              </a:rPr>
              <a:t>all</a:t>
            </a:r>
            <a:r>
              <a:rPr b="0" i="0" lang="en-US" sz="2800" u="none" cap="none" strike="noStrike">
                <a:solidFill>
                  <a:srgbClr val="000000"/>
                </a:solidFill>
                <a:latin typeface="Calibri"/>
                <a:ea typeface="Calibri"/>
                <a:cs typeface="Calibri"/>
                <a:sym typeface="Calibri"/>
              </a:rPr>
              <a:t> devices</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can change addresses of host in local network without notifying outside world</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can change ISP without changing addresses of devices in local network</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security: devices inside local net not directly addressable, visible by outside world</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2482" name="Google Shape;2482;p35"/>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2483" name="Google Shape;2483;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1">
                                            <p:txEl>
                                              <p:pRg end="0" st="0"/>
                                            </p:txEl>
                                          </p:spTgt>
                                        </p:tgtEl>
                                        <p:attrNameLst>
                                          <p:attrName>style.visibility</p:attrName>
                                        </p:attrNameLst>
                                      </p:cBhvr>
                                      <p:to>
                                        <p:strVal val="visible"/>
                                      </p:to>
                                    </p:set>
                                    <p:animEffect filter="fade" transition="in">
                                      <p:cBhvr>
                                        <p:cTn dur="500"/>
                                        <p:tgtEl>
                                          <p:spTgt spid="24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1">
                                            <p:txEl>
                                              <p:pRg end="1" st="1"/>
                                            </p:txEl>
                                          </p:spTgt>
                                        </p:tgtEl>
                                        <p:attrNameLst>
                                          <p:attrName>style.visibility</p:attrName>
                                        </p:attrNameLst>
                                      </p:cBhvr>
                                      <p:to>
                                        <p:strVal val="visible"/>
                                      </p:to>
                                    </p:set>
                                    <p:animEffect filter="fade" transition="in">
                                      <p:cBhvr>
                                        <p:cTn dur="500"/>
                                        <p:tgtEl>
                                          <p:spTgt spid="24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1">
                                            <p:txEl>
                                              <p:pRg end="2" st="2"/>
                                            </p:txEl>
                                          </p:spTgt>
                                        </p:tgtEl>
                                        <p:attrNameLst>
                                          <p:attrName>style.visibility</p:attrName>
                                        </p:attrNameLst>
                                      </p:cBhvr>
                                      <p:to>
                                        <p:strVal val="visible"/>
                                      </p:to>
                                    </p:set>
                                    <p:animEffect filter="fade" transition="in">
                                      <p:cBhvr>
                                        <p:cTn dur="500"/>
                                        <p:tgtEl>
                                          <p:spTgt spid="24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1">
                                            <p:txEl>
                                              <p:pRg end="3" st="3"/>
                                            </p:txEl>
                                          </p:spTgt>
                                        </p:tgtEl>
                                        <p:attrNameLst>
                                          <p:attrName>style.visibility</p:attrName>
                                        </p:attrNameLst>
                                      </p:cBhvr>
                                      <p:to>
                                        <p:strVal val="visible"/>
                                      </p:to>
                                    </p:set>
                                    <p:animEffect filter="fade" transition="in">
                                      <p:cBhvr>
                                        <p:cTn dur="500"/>
                                        <p:tgtEl>
                                          <p:spTgt spid="24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1">
                                            <p:txEl>
                                              <p:pRg end="4" st="4"/>
                                            </p:txEl>
                                          </p:spTgt>
                                        </p:tgtEl>
                                        <p:attrNameLst>
                                          <p:attrName>style.visibility</p:attrName>
                                        </p:attrNameLst>
                                      </p:cBhvr>
                                      <p:to>
                                        <p:strVal val="visible"/>
                                      </p:to>
                                    </p:set>
                                    <p:animEffect filter="fade" transition="in">
                                      <p:cBhvr>
                                        <p:cTn dur="500"/>
                                        <p:tgtEl>
                                          <p:spTgt spid="24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1">
                                            <p:txEl>
                                              <p:pRg end="5" st="5"/>
                                            </p:txEl>
                                          </p:spTgt>
                                        </p:tgtEl>
                                        <p:attrNameLst>
                                          <p:attrName>style.visibility</p:attrName>
                                        </p:attrNameLst>
                                      </p:cBhvr>
                                      <p:to>
                                        <p:strVal val="visible"/>
                                      </p:to>
                                    </p:set>
                                    <p:animEffect filter="fade" transition="in">
                                      <p:cBhvr>
                                        <p:cTn dur="500"/>
                                        <p:tgtEl>
                                          <p:spTgt spid="248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1">
                                            <p:txEl>
                                              <p:pRg end="6" st="6"/>
                                            </p:txEl>
                                          </p:spTgt>
                                        </p:tgtEl>
                                        <p:attrNameLst>
                                          <p:attrName>style.visibility</p:attrName>
                                        </p:attrNameLst>
                                      </p:cBhvr>
                                      <p:to>
                                        <p:strVal val="visible"/>
                                      </p:to>
                                    </p:set>
                                    <p:animEffect filter="fade" transition="in">
                                      <p:cBhvr>
                                        <p:cTn dur="500"/>
                                        <p:tgtEl>
                                          <p:spTgt spid="248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8" name="Shape 2488"/>
        <p:cNvGrpSpPr/>
        <p:nvPr/>
      </p:nvGrpSpPr>
      <p:grpSpPr>
        <a:xfrm>
          <a:off x="0" y="0"/>
          <a:ext cx="0" cy="0"/>
          <a:chOff x="0" y="0"/>
          <a:chExt cx="0" cy="0"/>
        </a:xfrm>
      </p:grpSpPr>
      <p:sp>
        <p:nvSpPr>
          <p:cNvPr id="2489" name="Google Shape;2489;p36"/>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FF0000"/>
                </a:solidFill>
                <a:latin typeface="Calibri"/>
                <a:ea typeface="Calibri"/>
                <a:cs typeface="Calibri"/>
                <a:sym typeface="Calibri"/>
              </a:rPr>
              <a:t> </a:t>
            </a:r>
            <a:r>
              <a:rPr b="0" i="0" lang="en-US" sz="3200" u="none" cap="none" strike="noStrike">
                <a:solidFill>
                  <a:srgbClr val="CC0000"/>
                </a:solidFill>
                <a:latin typeface="Calibri"/>
                <a:ea typeface="Calibri"/>
                <a:cs typeface="Calibri"/>
                <a:sym typeface="Calibri"/>
              </a:rPr>
              <a:t>implementation:</a:t>
            </a:r>
            <a:r>
              <a:rPr b="0" i="0" lang="en-US" sz="3200" u="none" cap="none" strike="noStrike">
                <a:solidFill>
                  <a:srgbClr val="000000"/>
                </a:solidFill>
                <a:latin typeface="Calibri"/>
                <a:ea typeface="Calibri"/>
                <a:cs typeface="Calibri"/>
                <a:sym typeface="Calibri"/>
              </a:rPr>
              <a:t> NAT router must (transparently):</a:t>
            </a:r>
            <a:endParaRPr b="0" i="0" sz="2800" u="none" cap="none" strike="noStrike">
              <a:solidFill>
                <a:srgbClr val="000000"/>
              </a:solidFill>
              <a:latin typeface="Calibri"/>
              <a:ea typeface="Calibri"/>
              <a:cs typeface="Calibri"/>
              <a:sym typeface="Calibri"/>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outgoing datagrams: replace</a:t>
            </a:r>
            <a:r>
              <a:rPr b="0" i="0" lang="en-US" sz="2800" u="none" cap="none" strike="noStrike">
                <a:solidFill>
                  <a:srgbClr val="000000"/>
                </a:solidFill>
                <a:latin typeface="Calibri"/>
                <a:ea typeface="Calibri"/>
                <a:cs typeface="Calibri"/>
                <a:sym typeface="Calibri"/>
              </a:rPr>
              <a:t> (source IP address, port #) of every outgoing datagram to (NAT IP address, new port #)</a:t>
            </a:r>
            <a:endParaRPr/>
          </a:p>
          <a:p>
            <a:pPr indent="-287338" lvl="3" marL="1150938" marR="0" rtl="0" algn="l">
              <a:lnSpc>
                <a:spcPct val="100000"/>
              </a:lnSpc>
              <a:spcBef>
                <a:spcPts val="11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remote clients/servers will respond using (NAT IP address, new port #) as destination address</a:t>
            </a:r>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remember (in NAT translation table)</a:t>
            </a:r>
            <a:r>
              <a:rPr b="0" i="0" lang="en-US" sz="2800" u="none" cap="none" strike="noStrike">
                <a:solidFill>
                  <a:srgbClr val="ED7D31"/>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every (source IP address, port #)  to (NAT IP address, new port #) translation pair</a:t>
            </a:r>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incoming datagrams: replace</a:t>
            </a:r>
            <a:r>
              <a:rPr b="0" i="0" lang="en-US" sz="2800" u="none" cap="none" strike="noStrike">
                <a:solidFill>
                  <a:srgbClr val="000000"/>
                </a:solidFill>
                <a:latin typeface="Calibri"/>
                <a:ea typeface="Calibri"/>
                <a:cs typeface="Calibri"/>
                <a:sym typeface="Calibri"/>
              </a:rPr>
              <a:t> (NAT IP address, new port #) in destination fields of every incoming datagram with corresponding (source IP address, port #) stored in NAT table</a:t>
            </a:r>
            <a:endParaRPr b="0" i="1" sz="3200" u="none" cap="none" strike="noStrike">
              <a:solidFill>
                <a:srgbClr val="CC0000"/>
              </a:solidFill>
              <a:latin typeface="Calibri"/>
              <a:ea typeface="Calibri"/>
              <a:cs typeface="Calibri"/>
              <a:sym typeface="Calibri"/>
            </a:endParaRPr>
          </a:p>
        </p:txBody>
      </p:sp>
      <p:sp>
        <p:nvSpPr>
          <p:cNvPr id="2490" name="Google Shape;2490;p36"/>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2491" name="Google Shape;2491;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6" name="Shape 2496"/>
        <p:cNvGrpSpPr/>
        <p:nvPr/>
      </p:nvGrpSpPr>
      <p:grpSpPr>
        <a:xfrm>
          <a:off x="0" y="0"/>
          <a:ext cx="0" cy="0"/>
          <a:chOff x="0" y="0"/>
          <a:chExt cx="0" cy="0"/>
        </a:xfrm>
      </p:grpSpPr>
      <p:sp>
        <p:nvSpPr>
          <p:cNvPr id="2497" name="Google Shape;2497;p37"/>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2498" name="Google Shape;2498;p37"/>
          <p:cNvSpPr/>
          <p:nvPr/>
        </p:nvSpPr>
        <p:spPr>
          <a:xfrm>
            <a:off x="2061197" y="3850033"/>
            <a:ext cx="4089400" cy="1355725"/>
          </a:xfrm>
          <a:custGeom>
            <a:rect b="b" l="l" r="r" t="t"/>
            <a:pathLst>
              <a:path extrusionOk="0" h="854" w="2269">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a:gsLst>
              <a:gs pos="0">
                <a:srgbClr val="FFFFFF">
                  <a:alpha val="98039"/>
                </a:srgbClr>
              </a:gs>
              <a:gs pos="100000">
                <a:srgbClr val="66CC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99" name="Google Shape;2499;p37"/>
          <p:cNvSpPr/>
          <p:nvPr/>
        </p:nvSpPr>
        <p:spPr>
          <a:xfrm>
            <a:off x="6350622" y="3121371"/>
            <a:ext cx="3738562" cy="2697162"/>
          </a:xfrm>
          <a:custGeom>
            <a:rect b="b" l="l" r="r" t="t"/>
            <a:pathLst>
              <a:path extrusionOk="0" h="1699" w="2355">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500" name="Google Shape;2500;p37"/>
          <p:cNvGrpSpPr/>
          <p:nvPr/>
        </p:nvGrpSpPr>
        <p:grpSpPr>
          <a:xfrm>
            <a:off x="7512672" y="3054696"/>
            <a:ext cx="1871662" cy="1033462"/>
            <a:chOff x="3550" y="2055"/>
            <a:chExt cx="1179" cy="651"/>
          </a:xfrm>
        </p:grpSpPr>
        <p:grpSp>
          <p:nvGrpSpPr>
            <p:cNvPr id="2501" name="Google Shape;2501;p37"/>
            <p:cNvGrpSpPr/>
            <p:nvPr/>
          </p:nvGrpSpPr>
          <p:grpSpPr>
            <a:xfrm>
              <a:off x="3550" y="2055"/>
              <a:ext cx="1179" cy="357"/>
              <a:chOff x="4381" y="786"/>
              <a:chExt cx="1108" cy="357"/>
            </a:xfrm>
          </p:grpSpPr>
          <p:sp>
            <p:nvSpPr>
              <p:cNvPr id="2502" name="Google Shape;2502;p37"/>
              <p:cNvSpPr/>
              <p:nvPr/>
            </p:nvSpPr>
            <p:spPr>
              <a:xfrm>
                <a:off x="4385" y="830"/>
                <a:ext cx="1104" cy="256"/>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03" name="Google Shape;2503;p37"/>
              <p:cNvSpPr txBox="1"/>
              <p:nvPr/>
            </p:nvSpPr>
            <p:spPr>
              <a:xfrm>
                <a:off x="4381" y="813"/>
                <a:ext cx="104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10.0.0.1, 3345</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128.119.40.186, 80</a:t>
                </a:r>
                <a:endParaRPr/>
              </a:p>
            </p:txBody>
          </p:sp>
          <p:grpSp>
            <p:nvGrpSpPr>
              <p:cNvPr id="2504" name="Google Shape;2504;p37"/>
              <p:cNvGrpSpPr/>
              <p:nvPr/>
            </p:nvGrpSpPr>
            <p:grpSpPr>
              <a:xfrm>
                <a:off x="5394" y="786"/>
                <a:ext cx="48" cy="99"/>
                <a:chOff x="5508" y="1599"/>
                <a:chExt cx="48" cy="99"/>
              </a:xfrm>
            </p:grpSpPr>
            <p:sp>
              <p:nvSpPr>
                <p:cNvPr id="2505" name="Google Shape;2505;p37"/>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06" name="Google Shape;2506;p37"/>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2507" name="Google Shape;2507;p37"/>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2508" name="Google Shape;2508;p37"/>
              <p:cNvGrpSpPr/>
              <p:nvPr/>
            </p:nvGrpSpPr>
            <p:grpSpPr>
              <a:xfrm>
                <a:off x="5382" y="1044"/>
                <a:ext cx="48" cy="99"/>
                <a:chOff x="5508" y="1599"/>
                <a:chExt cx="48" cy="99"/>
              </a:xfrm>
            </p:grpSpPr>
            <p:sp>
              <p:nvSpPr>
                <p:cNvPr id="2509" name="Google Shape;2509;p37"/>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10" name="Google Shape;2510;p37"/>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2511" name="Google Shape;2511;p37"/>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sp>
          <p:nvSpPr>
            <p:cNvPr id="2512" name="Google Shape;2512;p37"/>
            <p:cNvSpPr/>
            <p:nvPr/>
          </p:nvSpPr>
          <p:spPr>
            <a:xfrm>
              <a:off x="3573" y="2364"/>
              <a:ext cx="564" cy="342"/>
            </a:xfrm>
            <a:custGeom>
              <a:rect b="b" l="l" r="r" t="t"/>
              <a:pathLst>
                <a:path extrusionOk="0" h="264" w="417">
                  <a:moveTo>
                    <a:pt x="0" y="264"/>
                  </a:moveTo>
                  <a:lnTo>
                    <a:pt x="417" y="264"/>
                  </a:lnTo>
                  <a:lnTo>
                    <a:pt x="417" y="0"/>
                  </a:lnTo>
                </a:path>
              </a:pathLst>
            </a:custGeom>
            <a:noFill/>
            <a:ln cap="flat" cmpd="sng" w="2857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513" name="Google Shape;2513;p37"/>
            <p:cNvGrpSpPr/>
            <p:nvPr/>
          </p:nvGrpSpPr>
          <p:grpSpPr>
            <a:xfrm>
              <a:off x="4032" y="2416"/>
              <a:ext cx="218" cy="231"/>
              <a:chOff x="5140" y="400"/>
              <a:chExt cx="218" cy="231"/>
            </a:xfrm>
          </p:grpSpPr>
          <p:sp>
            <p:nvSpPr>
              <p:cNvPr id="2514" name="Google Shape;2514;p37"/>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15" name="Google Shape;2515;p37"/>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1</a:t>
                </a:r>
                <a:endParaRPr/>
              </a:p>
            </p:txBody>
          </p:sp>
        </p:grpSp>
      </p:grpSp>
      <p:sp>
        <p:nvSpPr>
          <p:cNvPr id="2516" name="Google Shape;2516;p37"/>
          <p:cNvSpPr txBox="1"/>
          <p:nvPr/>
        </p:nvSpPr>
        <p:spPr>
          <a:xfrm>
            <a:off x="6542534" y="403628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10.0.0.4</a:t>
            </a:r>
            <a:endParaRPr/>
          </a:p>
        </p:txBody>
      </p:sp>
      <p:sp>
        <p:nvSpPr>
          <p:cNvPr id="2517" name="Google Shape;2517;p37"/>
          <p:cNvSpPr txBox="1"/>
          <p:nvPr/>
        </p:nvSpPr>
        <p:spPr>
          <a:xfrm>
            <a:off x="4572494" y="4525035"/>
            <a:ext cx="117211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138.76.29.7</a:t>
            </a:r>
            <a:endParaRPr/>
          </a:p>
        </p:txBody>
      </p:sp>
      <p:grpSp>
        <p:nvGrpSpPr>
          <p:cNvPr id="2518" name="Google Shape;2518;p37"/>
          <p:cNvGrpSpPr/>
          <p:nvPr/>
        </p:nvGrpSpPr>
        <p:grpSpPr>
          <a:xfrm>
            <a:off x="8350874" y="1768821"/>
            <a:ext cx="3351213" cy="1389062"/>
            <a:chOff x="3944" y="989"/>
            <a:chExt cx="2111" cy="875"/>
          </a:xfrm>
        </p:grpSpPr>
        <p:sp>
          <p:nvSpPr>
            <p:cNvPr id="2519" name="Google Shape;2519;p37"/>
            <p:cNvSpPr txBox="1"/>
            <p:nvPr/>
          </p:nvSpPr>
          <p:spPr>
            <a:xfrm>
              <a:off x="4121" y="989"/>
              <a:ext cx="1934" cy="55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1:</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host 10.0.0.1 sends datagram to 128.119.40.186, 80</a:t>
              </a:r>
              <a:endParaRPr/>
            </a:p>
          </p:txBody>
        </p:sp>
        <p:cxnSp>
          <p:nvCxnSpPr>
            <p:cNvPr id="2520" name="Google Shape;2520;p37"/>
            <p:cNvCxnSpPr/>
            <p:nvPr/>
          </p:nvCxnSpPr>
          <p:spPr>
            <a:xfrm flipH="1">
              <a:off x="3944" y="1105"/>
              <a:ext cx="197" cy="759"/>
            </a:xfrm>
            <a:prstGeom prst="straightConnector1">
              <a:avLst/>
            </a:prstGeom>
            <a:noFill/>
            <a:ln cap="flat" cmpd="sng" w="12700">
              <a:solidFill>
                <a:srgbClr val="CC0000"/>
              </a:solidFill>
              <a:prstDash val="solid"/>
              <a:round/>
              <a:headEnd len="med" w="med" type="none"/>
              <a:tailEnd len="med" w="med" type="none"/>
            </a:ln>
          </p:spPr>
        </p:cxnSp>
      </p:grpSp>
      <p:sp>
        <p:nvSpPr>
          <p:cNvPr id="2521" name="Google Shape;2521;p37"/>
          <p:cNvSpPr/>
          <p:nvPr/>
        </p:nvSpPr>
        <p:spPr>
          <a:xfrm>
            <a:off x="4226547" y="2826096"/>
            <a:ext cx="3862387" cy="1531937"/>
          </a:xfrm>
          <a:custGeom>
            <a:rect b="b" l="l" r="r" t="t"/>
            <a:pathLst>
              <a:path extrusionOk="0" h="965" w="2433">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a:gsLst>
              <a:gs pos="0">
                <a:srgbClr val="BFBFBF"/>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22" name="Google Shape;2522;p37"/>
          <p:cNvSpPr/>
          <p:nvPr/>
        </p:nvSpPr>
        <p:spPr>
          <a:xfrm>
            <a:off x="4226547" y="1573558"/>
            <a:ext cx="3784600" cy="1354138"/>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23" name="Google Shape;2523;p37"/>
          <p:cNvSpPr txBox="1"/>
          <p:nvPr/>
        </p:nvSpPr>
        <p:spPr>
          <a:xfrm>
            <a:off x="4280166" y="1578252"/>
            <a:ext cx="365196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NAT translation table</a:t>
            </a:r>
            <a:endParaRPr/>
          </a:p>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WAN side addr        LAN side addr</a:t>
            </a:r>
            <a:endParaRPr/>
          </a:p>
        </p:txBody>
      </p:sp>
      <p:cxnSp>
        <p:nvCxnSpPr>
          <p:cNvPr id="2524" name="Google Shape;2524;p37"/>
          <p:cNvCxnSpPr/>
          <p:nvPr/>
        </p:nvCxnSpPr>
        <p:spPr>
          <a:xfrm flipH="1" rot="10800000">
            <a:off x="4226547" y="1946621"/>
            <a:ext cx="3790950" cy="11112"/>
          </a:xfrm>
          <a:prstGeom prst="straightConnector1">
            <a:avLst/>
          </a:prstGeom>
          <a:noFill/>
          <a:ln cap="flat" cmpd="sng" w="9525">
            <a:solidFill>
              <a:srgbClr val="000000"/>
            </a:solidFill>
            <a:prstDash val="solid"/>
            <a:round/>
            <a:headEnd len="med" w="med" type="none"/>
            <a:tailEnd len="med" w="med" type="none"/>
          </a:ln>
        </p:spPr>
      </p:cxnSp>
      <p:cxnSp>
        <p:nvCxnSpPr>
          <p:cNvPr id="2525" name="Google Shape;2525;p37"/>
          <p:cNvCxnSpPr/>
          <p:nvPr/>
        </p:nvCxnSpPr>
        <p:spPr>
          <a:xfrm flipH="1" rot="10800000">
            <a:off x="4240834" y="2224433"/>
            <a:ext cx="3749675" cy="11113"/>
          </a:xfrm>
          <a:prstGeom prst="straightConnector1">
            <a:avLst/>
          </a:prstGeom>
          <a:noFill/>
          <a:ln cap="flat" cmpd="sng" w="9525">
            <a:solidFill>
              <a:srgbClr val="000000"/>
            </a:solidFill>
            <a:prstDash val="solid"/>
            <a:round/>
            <a:headEnd len="med" w="med" type="none"/>
            <a:tailEnd len="med" w="med" type="none"/>
          </a:ln>
        </p:spPr>
      </p:cxnSp>
      <p:cxnSp>
        <p:nvCxnSpPr>
          <p:cNvPr id="2526" name="Google Shape;2526;p37"/>
          <p:cNvCxnSpPr/>
          <p:nvPr/>
        </p:nvCxnSpPr>
        <p:spPr>
          <a:xfrm>
            <a:off x="6350622" y="1968846"/>
            <a:ext cx="3175" cy="955675"/>
          </a:xfrm>
          <a:prstGeom prst="straightConnector1">
            <a:avLst/>
          </a:prstGeom>
          <a:noFill/>
          <a:ln cap="flat" cmpd="sng" w="9525">
            <a:solidFill>
              <a:srgbClr val="000000"/>
            </a:solidFill>
            <a:prstDash val="solid"/>
            <a:round/>
            <a:headEnd len="med" w="med" type="none"/>
            <a:tailEnd len="med" w="med" type="none"/>
          </a:ln>
        </p:spPr>
      </p:cxnSp>
      <p:sp>
        <p:nvSpPr>
          <p:cNvPr id="2527" name="Google Shape;2527;p37"/>
          <p:cNvSpPr txBox="1"/>
          <p:nvPr/>
        </p:nvSpPr>
        <p:spPr>
          <a:xfrm>
            <a:off x="4450607" y="2243483"/>
            <a:ext cx="336823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138.76.29.7, 5001   10.0.0.1, 3345</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2528" name="Google Shape;2528;p37"/>
          <p:cNvGrpSpPr/>
          <p:nvPr/>
        </p:nvGrpSpPr>
        <p:grpSpPr>
          <a:xfrm>
            <a:off x="6647484" y="3634133"/>
            <a:ext cx="2784475" cy="1638300"/>
            <a:chOff x="3002" y="2417"/>
            <a:chExt cx="1754" cy="1032"/>
          </a:xfrm>
        </p:grpSpPr>
        <p:sp>
          <p:nvSpPr>
            <p:cNvPr id="2529" name="Google Shape;2529;p37"/>
            <p:cNvSpPr/>
            <p:nvPr/>
          </p:nvSpPr>
          <p:spPr>
            <a:xfrm>
              <a:off x="3002" y="3051"/>
              <a:ext cx="1175" cy="256"/>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30" name="Google Shape;2530;p37"/>
            <p:cNvSpPr txBox="1"/>
            <p:nvPr/>
          </p:nvSpPr>
          <p:spPr>
            <a:xfrm>
              <a:off x="3104" y="3042"/>
              <a:ext cx="1112"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128.119.40.186, 80 </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10.0.0.1, 3345</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2531" name="Google Shape;2531;p37"/>
            <p:cNvGrpSpPr/>
            <p:nvPr/>
          </p:nvGrpSpPr>
          <p:grpSpPr>
            <a:xfrm>
              <a:off x="3054" y="3007"/>
              <a:ext cx="51" cy="99"/>
              <a:chOff x="5508" y="1599"/>
              <a:chExt cx="48" cy="99"/>
            </a:xfrm>
          </p:grpSpPr>
          <p:sp>
            <p:nvSpPr>
              <p:cNvPr id="2532" name="Google Shape;2532;p37"/>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33" name="Google Shape;2533;p37"/>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2534" name="Google Shape;2534;p37"/>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2535" name="Google Shape;2535;p37"/>
            <p:cNvGrpSpPr/>
            <p:nvPr/>
          </p:nvGrpSpPr>
          <p:grpSpPr>
            <a:xfrm>
              <a:off x="3059" y="3248"/>
              <a:ext cx="51" cy="99"/>
              <a:chOff x="5508" y="1599"/>
              <a:chExt cx="48" cy="99"/>
            </a:xfrm>
          </p:grpSpPr>
          <p:sp>
            <p:nvSpPr>
              <p:cNvPr id="2536" name="Google Shape;2536;p37"/>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37" name="Google Shape;2537;p37"/>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2538" name="Google Shape;2538;p37"/>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sp>
          <p:nvSpPr>
            <p:cNvPr id="2539" name="Google Shape;2539;p37"/>
            <p:cNvSpPr/>
            <p:nvPr/>
          </p:nvSpPr>
          <p:spPr>
            <a:xfrm>
              <a:off x="4179" y="2417"/>
              <a:ext cx="577" cy="768"/>
            </a:xfrm>
            <a:custGeom>
              <a:rect b="b" l="l" r="r" t="t"/>
              <a:pathLst>
                <a:path extrusionOk="0" h="768" w="577">
                  <a:moveTo>
                    <a:pt x="577" y="0"/>
                  </a:moveTo>
                  <a:lnTo>
                    <a:pt x="342" y="0"/>
                  </a:lnTo>
                  <a:lnTo>
                    <a:pt x="342" y="768"/>
                  </a:lnTo>
                  <a:lnTo>
                    <a:pt x="0" y="760"/>
                  </a:lnTo>
                </a:path>
              </a:pathLst>
            </a:custGeom>
            <a:noFill/>
            <a:ln cap="flat" cmpd="sng" w="2857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540" name="Google Shape;2540;p37"/>
            <p:cNvGrpSpPr/>
            <p:nvPr/>
          </p:nvGrpSpPr>
          <p:grpSpPr>
            <a:xfrm>
              <a:off x="4240" y="3061"/>
              <a:ext cx="218" cy="231"/>
              <a:chOff x="5140" y="400"/>
              <a:chExt cx="218" cy="231"/>
            </a:xfrm>
          </p:grpSpPr>
          <p:sp>
            <p:nvSpPr>
              <p:cNvPr id="2541" name="Google Shape;2541;p37"/>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42" name="Google Shape;2542;p37"/>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4</a:t>
                </a:r>
                <a:endParaRPr/>
              </a:p>
            </p:txBody>
          </p:sp>
        </p:grpSp>
      </p:grpSp>
      <p:grpSp>
        <p:nvGrpSpPr>
          <p:cNvPr id="2543" name="Google Shape;2543;p37"/>
          <p:cNvGrpSpPr/>
          <p:nvPr/>
        </p:nvGrpSpPr>
        <p:grpSpPr>
          <a:xfrm>
            <a:off x="3413747" y="3851621"/>
            <a:ext cx="2497137" cy="566737"/>
            <a:chOff x="1026" y="3559"/>
            <a:chExt cx="1573" cy="357"/>
          </a:xfrm>
        </p:grpSpPr>
        <p:grpSp>
          <p:nvGrpSpPr>
            <p:cNvPr id="2544" name="Google Shape;2544;p37"/>
            <p:cNvGrpSpPr/>
            <p:nvPr/>
          </p:nvGrpSpPr>
          <p:grpSpPr>
            <a:xfrm>
              <a:off x="1412" y="3559"/>
              <a:ext cx="1187" cy="357"/>
              <a:chOff x="4381" y="786"/>
              <a:chExt cx="1108" cy="357"/>
            </a:xfrm>
          </p:grpSpPr>
          <p:sp>
            <p:nvSpPr>
              <p:cNvPr id="2545" name="Google Shape;2545;p37"/>
              <p:cNvSpPr/>
              <p:nvPr/>
            </p:nvSpPr>
            <p:spPr>
              <a:xfrm>
                <a:off x="4385" y="830"/>
                <a:ext cx="1104" cy="256"/>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46" name="Google Shape;2546;p37"/>
              <p:cNvSpPr txBox="1"/>
              <p:nvPr/>
            </p:nvSpPr>
            <p:spPr>
              <a:xfrm>
                <a:off x="4381" y="813"/>
                <a:ext cx="104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138.76.29.7, 5001</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128.119.40.186, 80</a:t>
                </a:r>
                <a:endParaRPr/>
              </a:p>
            </p:txBody>
          </p:sp>
          <p:grpSp>
            <p:nvGrpSpPr>
              <p:cNvPr id="2547" name="Google Shape;2547;p37"/>
              <p:cNvGrpSpPr/>
              <p:nvPr/>
            </p:nvGrpSpPr>
            <p:grpSpPr>
              <a:xfrm>
                <a:off x="5394" y="786"/>
                <a:ext cx="49" cy="99"/>
                <a:chOff x="5508" y="1599"/>
                <a:chExt cx="49" cy="99"/>
              </a:xfrm>
            </p:grpSpPr>
            <p:sp>
              <p:nvSpPr>
                <p:cNvPr id="2548" name="Google Shape;2548;p37"/>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49" name="Google Shape;2549;p37"/>
                <p:cNvCxnSpPr/>
                <p:nvPr/>
              </p:nvCxnSpPr>
              <p:spPr>
                <a:xfrm flipH="1">
                  <a:off x="5512" y="1608"/>
                  <a:ext cx="21" cy="68"/>
                </a:xfrm>
                <a:prstGeom prst="straightConnector1">
                  <a:avLst/>
                </a:prstGeom>
                <a:noFill/>
                <a:ln cap="flat" cmpd="sng" w="9525">
                  <a:solidFill>
                    <a:srgbClr val="000000"/>
                  </a:solidFill>
                  <a:prstDash val="solid"/>
                  <a:round/>
                  <a:headEnd len="med" w="med" type="none"/>
                  <a:tailEnd len="med" w="med" type="none"/>
                </a:ln>
              </p:spPr>
            </p:cxnSp>
            <p:cxnSp>
              <p:nvCxnSpPr>
                <p:cNvPr id="2550" name="Google Shape;2550;p37"/>
                <p:cNvCxnSpPr/>
                <p:nvPr/>
              </p:nvCxnSpPr>
              <p:spPr>
                <a:xfrm flipH="1">
                  <a:off x="5536" y="1620"/>
                  <a:ext cx="21" cy="68"/>
                </a:xfrm>
                <a:prstGeom prst="straightConnector1">
                  <a:avLst/>
                </a:prstGeom>
                <a:noFill/>
                <a:ln cap="flat" cmpd="sng" w="9525">
                  <a:solidFill>
                    <a:srgbClr val="000000"/>
                  </a:solidFill>
                  <a:prstDash val="solid"/>
                  <a:round/>
                  <a:headEnd len="med" w="med" type="none"/>
                  <a:tailEnd len="med" w="med" type="none"/>
                </a:ln>
              </p:spPr>
            </p:cxnSp>
          </p:grpSp>
          <p:grpSp>
            <p:nvGrpSpPr>
              <p:cNvPr id="2551" name="Google Shape;2551;p37"/>
              <p:cNvGrpSpPr/>
              <p:nvPr/>
            </p:nvGrpSpPr>
            <p:grpSpPr>
              <a:xfrm>
                <a:off x="5382" y="1044"/>
                <a:ext cx="49" cy="99"/>
                <a:chOff x="5508" y="1599"/>
                <a:chExt cx="49" cy="99"/>
              </a:xfrm>
            </p:grpSpPr>
            <p:sp>
              <p:nvSpPr>
                <p:cNvPr id="2552" name="Google Shape;2552;p37"/>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53" name="Google Shape;2553;p37"/>
                <p:cNvCxnSpPr/>
                <p:nvPr/>
              </p:nvCxnSpPr>
              <p:spPr>
                <a:xfrm flipH="1">
                  <a:off x="5510" y="1608"/>
                  <a:ext cx="21" cy="68"/>
                </a:xfrm>
                <a:prstGeom prst="straightConnector1">
                  <a:avLst/>
                </a:prstGeom>
                <a:noFill/>
                <a:ln cap="flat" cmpd="sng" w="9525">
                  <a:solidFill>
                    <a:srgbClr val="000000"/>
                  </a:solidFill>
                  <a:prstDash val="solid"/>
                  <a:round/>
                  <a:headEnd len="med" w="med" type="none"/>
                  <a:tailEnd len="med" w="med" type="none"/>
                </a:ln>
              </p:spPr>
            </p:cxnSp>
            <p:cxnSp>
              <p:nvCxnSpPr>
                <p:cNvPr id="2554" name="Google Shape;2554;p37"/>
                <p:cNvCxnSpPr/>
                <p:nvPr/>
              </p:nvCxnSpPr>
              <p:spPr>
                <a:xfrm flipH="1">
                  <a:off x="5536" y="1620"/>
                  <a:ext cx="21" cy="68"/>
                </a:xfrm>
                <a:prstGeom prst="straightConnector1">
                  <a:avLst/>
                </a:prstGeom>
                <a:noFill/>
                <a:ln cap="flat" cmpd="sng" w="9525">
                  <a:solidFill>
                    <a:srgbClr val="000000"/>
                  </a:solidFill>
                  <a:prstDash val="solid"/>
                  <a:round/>
                  <a:headEnd len="med" w="med" type="none"/>
                  <a:tailEnd len="med" w="med" type="none"/>
                </a:ln>
              </p:spPr>
            </p:cxnSp>
          </p:grpSp>
        </p:grpSp>
        <p:cxnSp>
          <p:nvCxnSpPr>
            <p:cNvPr id="2555" name="Google Shape;2555;p37"/>
            <p:cNvCxnSpPr/>
            <p:nvPr/>
          </p:nvCxnSpPr>
          <p:spPr>
            <a:xfrm rot="10800000">
              <a:off x="1026" y="3729"/>
              <a:ext cx="376" cy="0"/>
            </a:xfrm>
            <a:prstGeom prst="straightConnector1">
              <a:avLst/>
            </a:prstGeom>
            <a:noFill/>
            <a:ln cap="flat" cmpd="sng" w="19050">
              <a:solidFill>
                <a:srgbClr val="000000"/>
              </a:solidFill>
              <a:prstDash val="solid"/>
              <a:round/>
              <a:headEnd len="med" w="med" type="none"/>
              <a:tailEnd len="med" w="med" type="triangle"/>
            </a:ln>
          </p:spPr>
        </p:cxnSp>
        <p:grpSp>
          <p:nvGrpSpPr>
            <p:cNvPr id="2556" name="Google Shape;2556;p37"/>
            <p:cNvGrpSpPr/>
            <p:nvPr/>
          </p:nvGrpSpPr>
          <p:grpSpPr>
            <a:xfrm>
              <a:off x="1143" y="3613"/>
              <a:ext cx="218" cy="231"/>
              <a:chOff x="5140" y="400"/>
              <a:chExt cx="218" cy="231"/>
            </a:xfrm>
          </p:grpSpPr>
          <p:sp>
            <p:nvSpPr>
              <p:cNvPr id="2557" name="Google Shape;2557;p37"/>
              <p:cNvSpPr/>
              <p:nvPr/>
            </p:nvSpPr>
            <p:spPr>
              <a:xfrm>
                <a:off x="5140" y="410"/>
                <a:ext cx="218" cy="218"/>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58" name="Google Shape;2558;p37"/>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2</a:t>
                </a:r>
                <a:endParaRPr/>
              </a:p>
            </p:txBody>
          </p:sp>
        </p:grpSp>
      </p:grpSp>
      <p:grpSp>
        <p:nvGrpSpPr>
          <p:cNvPr id="2559" name="Google Shape;2559;p37"/>
          <p:cNvGrpSpPr/>
          <p:nvPr/>
        </p:nvGrpSpPr>
        <p:grpSpPr>
          <a:xfrm>
            <a:off x="570534" y="1870421"/>
            <a:ext cx="6465888" cy="2052637"/>
            <a:chOff x="-826" y="1306"/>
            <a:chExt cx="4073" cy="1293"/>
          </a:xfrm>
        </p:grpSpPr>
        <p:sp>
          <p:nvSpPr>
            <p:cNvPr id="2560" name="Google Shape;2560;p37"/>
            <p:cNvSpPr txBox="1"/>
            <p:nvPr/>
          </p:nvSpPr>
          <p:spPr>
            <a:xfrm>
              <a:off x="-826" y="1306"/>
              <a:ext cx="1986" cy="88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2:</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NAT router changes datagram source address from 10.0.0.1, 3345 to 138.76.29.7, 5001,</a:t>
              </a:r>
              <a:endParaRPr/>
            </a:p>
            <a:p>
              <a:pPr indent="0" lvl="0" marL="0" marR="0" rtl="0" algn="l">
                <a:lnSpc>
                  <a:spcPct val="85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updates table</a:t>
              </a:r>
              <a:endParaRPr b="0" i="0" sz="1800" u="none" cap="none" strike="noStrike">
                <a:solidFill>
                  <a:srgbClr val="000099"/>
                </a:solidFill>
                <a:latin typeface="Calibri"/>
                <a:ea typeface="Calibri"/>
                <a:cs typeface="Calibri"/>
                <a:sym typeface="Calibri"/>
              </a:endParaRPr>
            </a:p>
          </p:txBody>
        </p:sp>
        <p:cxnSp>
          <p:nvCxnSpPr>
            <p:cNvPr id="2561" name="Google Shape;2561;p37"/>
            <p:cNvCxnSpPr/>
            <p:nvPr/>
          </p:nvCxnSpPr>
          <p:spPr>
            <a:xfrm>
              <a:off x="1285" y="2243"/>
              <a:ext cx="147" cy="356"/>
            </a:xfrm>
            <a:prstGeom prst="straightConnector1">
              <a:avLst/>
            </a:prstGeom>
            <a:noFill/>
            <a:ln cap="flat" cmpd="sng" w="12700">
              <a:solidFill>
                <a:srgbClr val="CC0000"/>
              </a:solidFill>
              <a:prstDash val="solid"/>
              <a:round/>
              <a:headEnd len="med" w="med" type="none"/>
              <a:tailEnd len="med" w="med" type="none"/>
            </a:ln>
          </p:spPr>
        </p:cxnSp>
        <p:cxnSp>
          <p:nvCxnSpPr>
            <p:cNvPr id="2562" name="Google Shape;2562;p37"/>
            <p:cNvCxnSpPr/>
            <p:nvPr/>
          </p:nvCxnSpPr>
          <p:spPr>
            <a:xfrm flipH="1" rot="10800000">
              <a:off x="1275" y="1788"/>
              <a:ext cx="663" cy="455"/>
            </a:xfrm>
            <a:prstGeom prst="straightConnector1">
              <a:avLst/>
            </a:prstGeom>
            <a:noFill/>
            <a:ln cap="flat" cmpd="sng" w="12700">
              <a:solidFill>
                <a:srgbClr val="CC0000"/>
              </a:solidFill>
              <a:prstDash val="solid"/>
              <a:round/>
              <a:headEnd len="med" w="med" type="none"/>
              <a:tailEnd len="med" w="med" type="none"/>
            </a:ln>
          </p:spPr>
        </p:cxnSp>
        <p:cxnSp>
          <p:nvCxnSpPr>
            <p:cNvPr id="2563" name="Google Shape;2563;p37"/>
            <p:cNvCxnSpPr/>
            <p:nvPr/>
          </p:nvCxnSpPr>
          <p:spPr>
            <a:xfrm flipH="1" rot="10800000">
              <a:off x="1275" y="1751"/>
              <a:ext cx="1972" cy="491"/>
            </a:xfrm>
            <a:prstGeom prst="straightConnector1">
              <a:avLst/>
            </a:prstGeom>
            <a:noFill/>
            <a:ln cap="flat" cmpd="sng" w="12700">
              <a:solidFill>
                <a:srgbClr val="CC0000"/>
              </a:solidFill>
              <a:prstDash val="solid"/>
              <a:round/>
              <a:headEnd len="med" w="med" type="none"/>
              <a:tailEnd len="med" w="med" type="none"/>
            </a:ln>
          </p:spPr>
        </p:cxnSp>
      </p:grpSp>
      <p:grpSp>
        <p:nvGrpSpPr>
          <p:cNvPr id="2564" name="Google Shape;2564;p37"/>
          <p:cNvGrpSpPr/>
          <p:nvPr/>
        </p:nvGrpSpPr>
        <p:grpSpPr>
          <a:xfrm>
            <a:off x="3242297" y="4880321"/>
            <a:ext cx="2471737" cy="703262"/>
            <a:chOff x="1163" y="3752"/>
            <a:chExt cx="1557" cy="443"/>
          </a:xfrm>
        </p:grpSpPr>
        <p:sp>
          <p:nvSpPr>
            <p:cNvPr id="2565" name="Google Shape;2565;p37"/>
            <p:cNvSpPr/>
            <p:nvPr/>
          </p:nvSpPr>
          <p:spPr>
            <a:xfrm>
              <a:off x="1163" y="3796"/>
              <a:ext cx="1183" cy="256"/>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66" name="Google Shape;2566;p37"/>
            <p:cNvSpPr txBox="1"/>
            <p:nvPr/>
          </p:nvSpPr>
          <p:spPr>
            <a:xfrm>
              <a:off x="1281" y="3788"/>
              <a:ext cx="112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128.119.40.186, 80 </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138.76.29.7, 5001</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2567" name="Google Shape;2567;p37"/>
            <p:cNvGrpSpPr/>
            <p:nvPr/>
          </p:nvGrpSpPr>
          <p:grpSpPr>
            <a:xfrm>
              <a:off x="1214" y="3752"/>
              <a:ext cx="52" cy="99"/>
              <a:chOff x="5508" y="1599"/>
              <a:chExt cx="48" cy="99"/>
            </a:xfrm>
          </p:grpSpPr>
          <p:sp>
            <p:nvSpPr>
              <p:cNvPr id="2568" name="Google Shape;2568;p37"/>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69" name="Google Shape;2569;p37"/>
              <p:cNvCxnSpPr/>
              <p:nvPr/>
            </p:nvCxnSpPr>
            <p:spPr>
              <a:xfrm flipH="1">
                <a:off x="5512" y="1608"/>
                <a:ext cx="20" cy="68"/>
              </a:xfrm>
              <a:prstGeom prst="straightConnector1">
                <a:avLst/>
              </a:prstGeom>
              <a:noFill/>
              <a:ln cap="flat" cmpd="sng" w="9525">
                <a:solidFill>
                  <a:srgbClr val="000000"/>
                </a:solidFill>
                <a:prstDash val="solid"/>
                <a:round/>
                <a:headEnd len="med" w="med" type="none"/>
                <a:tailEnd len="med" w="med" type="none"/>
              </a:ln>
            </p:spPr>
          </p:cxnSp>
          <p:cxnSp>
            <p:nvCxnSpPr>
              <p:cNvPr id="2570" name="Google Shape;2570;p37"/>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2571" name="Google Shape;2571;p37"/>
            <p:cNvGrpSpPr/>
            <p:nvPr/>
          </p:nvGrpSpPr>
          <p:grpSpPr>
            <a:xfrm>
              <a:off x="1193" y="3984"/>
              <a:ext cx="52" cy="99"/>
              <a:chOff x="5508" y="1599"/>
              <a:chExt cx="48" cy="99"/>
            </a:xfrm>
          </p:grpSpPr>
          <p:sp>
            <p:nvSpPr>
              <p:cNvPr id="2572" name="Google Shape;2572;p37"/>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73" name="Google Shape;2573;p37"/>
              <p:cNvCxnSpPr/>
              <p:nvPr/>
            </p:nvCxnSpPr>
            <p:spPr>
              <a:xfrm flipH="1">
                <a:off x="5512" y="1608"/>
                <a:ext cx="20" cy="68"/>
              </a:xfrm>
              <a:prstGeom prst="straightConnector1">
                <a:avLst/>
              </a:prstGeom>
              <a:noFill/>
              <a:ln cap="flat" cmpd="sng" w="9525">
                <a:solidFill>
                  <a:srgbClr val="000000"/>
                </a:solidFill>
                <a:prstDash val="solid"/>
                <a:round/>
                <a:headEnd len="med" w="med" type="none"/>
                <a:tailEnd len="med" w="med" type="none"/>
              </a:ln>
            </p:spPr>
          </p:cxnSp>
          <p:cxnSp>
            <p:nvCxnSpPr>
              <p:cNvPr id="2574" name="Google Shape;2574;p37"/>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cxnSp>
          <p:nvCxnSpPr>
            <p:cNvPr id="2575" name="Google Shape;2575;p37"/>
            <p:cNvCxnSpPr/>
            <p:nvPr/>
          </p:nvCxnSpPr>
          <p:spPr>
            <a:xfrm rot="10800000">
              <a:off x="2344" y="3931"/>
              <a:ext cx="376" cy="0"/>
            </a:xfrm>
            <a:prstGeom prst="straightConnector1">
              <a:avLst/>
            </a:prstGeom>
            <a:noFill/>
            <a:ln cap="flat" cmpd="sng" w="19050">
              <a:solidFill>
                <a:srgbClr val="000000"/>
              </a:solidFill>
              <a:prstDash val="solid"/>
              <a:round/>
              <a:headEnd len="med" w="med" type="triangle"/>
              <a:tailEnd len="med" w="med" type="none"/>
            </a:ln>
          </p:spPr>
        </p:cxnSp>
        <p:grpSp>
          <p:nvGrpSpPr>
            <p:cNvPr id="2576" name="Google Shape;2576;p37"/>
            <p:cNvGrpSpPr/>
            <p:nvPr/>
          </p:nvGrpSpPr>
          <p:grpSpPr>
            <a:xfrm>
              <a:off x="2409" y="3815"/>
              <a:ext cx="218" cy="231"/>
              <a:chOff x="5140" y="400"/>
              <a:chExt cx="218" cy="231"/>
            </a:xfrm>
          </p:grpSpPr>
          <p:sp>
            <p:nvSpPr>
              <p:cNvPr id="2577" name="Google Shape;2577;p37"/>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78" name="Google Shape;2578;p37"/>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3</a:t>
                </a:r>
                <a:endParaRPr/>
              </a:p>
            </p:txBody>
          </p:sp>
        </p:grpSp>
      </p:grpSp>
      <p:sp>
        <p:nvSpPr>
          <p:cNvPr id="2579" name="Google Shape;2579;p37"/>
          <p:cNvSpPr txBox="1"/>
          <p:nvPr/>
        </p:nvSpPr>
        <p:spPr>
          <a:xfrm>
            <a:off x="3146424" y="5435532"/>
            <a:ext cx="3559175"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3:</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reply arrives, destination address: 138.76.29.7, 5001</a:t>
            </a:r>
            <a:endParaRPr/>
          </a:p>
        </p:txBody>
      </p:sp>
      <p:sp>
        <p:nvSpPr>
          <p:cNvPr id="2580" name="Google Shape;2580;p37"/>
          <p:cNvSpPr txBox="1"/>
          <p:nvPr/>
        </p:nvSpPr>
        <p:spPr>
          <a:xfrm>
            <a:off x="9442128" y="3445831"/>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10.0.0.1</a:t>
            </a:r>
            <a:endParaRPr/>
          </a:p>
        </p:txBody>
      </p:sp>
      <p:sp>
        <p:nvSpPr>
          <p:cNvPr id="2581" name="Google Shape;2581;p37"/>
          <p:cNvSpPr txBox="1"/>
          <p:nvPr/>
        </p:nvSpPr>
        <p:spPr>
          <a:xfrm>
            <a:off x="9387377" y="413911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10.0.0.2</a:t>
            </a:r>
            <a:endParaRPr/>
          </a:p>
        </p:txBody>
      </p:sp>
      <p:sp>
        <p:nvSpPr>
          <p:cNvPr id="2582" name="Google Shape;2582;p37"/>
          <p:cNvSpPr txBox="1"/>
          <p:nvPr/>
        </p:nvSpPr>
        <p:spPr>
          <a:xfrm>
            <a:off x="9361024" y="486174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10.0.0.3</a:t>
            </a:r>
            <a:endParaRPr/>
          </a:p>
        </p:txBody>
      </p:sp>
      <p:grpSp>
        <p:nvGrpSpPr>
          <p:cNvPr id="2583" name="Google Shape;2583;p37"/>
          <p:cNvGrpSpPr/>
          <p:nvPr/>
        </p:nvGrpSpPr>
        <p:grpSpPr>
          <a:xfrm flipH="1">
            <a:off x="10194143" y="3285987"/>
            <a:ext cx="641350" cy="558800"/>
            <a:chOff x="-44" y="1473"/>
            <a:chExt cx="981" cy="1105"/>
          </a:xfrm>
        </p:grpSpPr>
        <p:pic>
          <p:nvPicPr>
            <p:cNvPr descr="desktop_computer_stylized_medium" id="2584" name="Google Shape;2584;p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585" name="Google Shape;2585;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586" name="Google Shape;2586;p37"/>
          <p:cNvGrpSpPr/>
          <p:nvPr/>
        </p:nvGrpSpPr>
        <p:grpSpPr>
          <a:xfrm flipH="1">
            <a:off x="10120943" y="3976903"/>
            <a:ext cx="641350" cy="558800"/>
            <a:chOff x="-44" y="1473"/>
            <a:chExt cx="981" cy="1105"/>
          </a:xfrm>
        </p:grpSpPr>
        <p:pic>
          <p:nvPicPr>
            <p:cNvPr descr="desktop_computer_stylized_medium" id="2587" name="Google Shape;2587;p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588" name="Google Shape;2588;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589" name="Google Shape;2589;p37"/>
          <p:cNvGrpSpPr/>
          <p:nvPr/>
        </p:nvGrpSpPr>
        <p:grpSpPr>
          <a:xfrm flipH="1">
            <a:off x="10140169" y="4685809"/>
            <a:ext cx="641350" cy="558800"/>
            <a:chOff x="-44" y="1473"/>
            <a:chExt cx="981" cy="1105"/>
          </a:xfrm>
        </p:grpSpPr>
        <p:pic>
          <p:nvPicPr>
            <p:cNvPr descr="desktop_computer_stylized_medium" id="2590" name="Google Shape;2590;p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591" name="Google Shape;2591;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2592" name="Google Shape;2592;p37"/>
          <p:cNvCxnSpPr/>
          <p:nvPr/>
        </p:nvCxnSpPr>
        <p:spPr>
          <a:xfrm>
            <a:off x="9963568" y="3732745"/>
            <a:ext cx="293511" cy="0"/>
          </a:xfrm>
          <a:prstGeom prst="straightConnector1">
            <a:avLst/>
          </a:prstGeom>
          <a:noFill/>
          <a:ln cap="flat" cmpd="sng" w="19050">
            <a:solidFill>
              <a:schemeClr val="dk1"/>
            </a:solidFill>
            <a:prstDash val="solid"/>
            <a:miter lim="8000"/>
            <a:headEnd len="sm" w="sm" type="none"/>
            <a:tailEnd len="sm" w="sm" type="none"/>
          </a:ln>
        </p:spPr>
      </p:cxnSp>
      <p:cxnSp>
        <p:nvCxnSpPr>
          <p:cNvPr id="2593" name="Google Shape;2593;p37"/>
          <p:cNvCxnSpPr/>
          <p:nvPr/>
        </p:nvCxnSpPr>
        <p:spPr>
          <a:xfrm>
            <a:off x="9891178" y="4418545"/>
            <a:ext cx="293511" cy="0"/>
          </a:xfrm>
          <a:prstGeom prst="straightConnector1">
            <a:avLst/>
          </a:prstGeom>
          <a:noFill/>
          <a:ln cap="flat" cmpd="sng" w="19050">
            <a:solidFill>
              <a:schemeClr val="dk1"/>
            </a:solidFill>
            <a:prstDash val="solid"/>
            <a:miter lim="8000"/>
            <a:headEnd len="sm" w="sm" type="none"/>
            <a:tailEnd len="sm" w="sm" type="none"/>
          </a:ln>
        </p:spPr>
      </p:cxnSp>
      <p:cxnSp>
        <p:nvCxnSpPr>
          <p:cNvPr id="2594" name="Google Shape;2594;p37"/>
          <p:cNvCxnSpPr/>
          <p:nvPr/>
        </p:nvCxnSpPr>
        <p:spPr>
          <a:xfrm>
            <a:off x="9910228" y="5134825"/>
            <a:ext cx="293511" cy="0"/>
          </a:xfrm>
          <a:prstGeom prst="straightConnector1">
            <a:avLst/>
          </a:prstGeom>
          <a:noFill/>
          <a:ln cap="flat" cmpd="sng" w="19050">
            <a:solidFill>
              <a:schemeClr val="dk1"/>
            </a:solidFill>
            <a:prstDash val="solid"/>
            <a:miter lim="8000"/>
            <a:headEnd len="sm" w="sm" type="none"/>
            <a:tailEnd len="sm" w="sm" type="none"/>
          </a:ln>
        </p:spPr>
      </p:cxnSp>
      <p:grpSp>
        <p:nvGrpSpPr>
          <p:cNvPr id="2595" name="Google Shape;2595;p37"/>
          <p:cNvGrpSpPr/>
          <p:nvPr/>
        </p:nvGrpSpPr>
        <p:grpSpPr>
          <a:xfrm>
            <a:off x="3937552" y="4333461"/>
            <a:ext cx="3034748" cy="304800"/>
            <a:chOff x="2454675" y="2927412"/>
            <a:chExt cx="4705166" cy="431082"/>
          </a:xfrm>
        </p:grpSpPr>
        <p:cxnSp>
          <p:nvCxnSpPr>
            <p:cNvPr id="2596" name="Google Shape;2596;p37"/>
            <p:cNvCxnSpPr/>
            <p:nvPr/>
          </p:nvCxnSpPr>
          <p:spPr>
            <a:xfrm>
              <a:off x="2454675" y="3124940"/>
              <a:ext cx="4705166" cy="0"/>
            </a:xfrm>
            <a:prstGeom prst="straightConnector1">
              <a:avLst/>
            </a:prstGeom>
            <a:noFill/>
            <a:ln cap="flat" cmpd="sng" w="25400">
              <a:solidFill>
                <a:schemeClr val="dk1"/>
              </a:solidFill>
              <a:prstDash val="solid"/>
              <a:miter lim="8000"/>
              <a:headEnd len="sm" w="sm" type="none"/>
              <a:tailEnd len="sm" w="sm" type="none"/>
            </a:ln>
          </p:spPr>
        </p:cxnSp>
        <p:grpSp>
          <p:nvGrpSpPr>
            <p:cNvPr id="2597" name="Google Shape;2597;p37"/>
            <p:cNvGrpSpPr/>
            <p:nvPr/>
          </p:nvGrpSpPr>
          <p:grpSpPr>
            <a:xfrm>
              <a:off x="5427861" y="2927412"/>
              <a:ext cx="1040553" cy="431082"/>
              <a:chOff x="7493876" y="2774731"/>
              <a:chExt cx="1481958" cy="894622"/>
            </a:xfrm>
          </p:grpSpPr>
          <p:sp>
            <p:nvSpPr>
              <p:cNvPr id="2598" name="Google Shape;2598;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99" name="Google Shape;2599;p3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00" name="Google Shape;2600;p37"/>
              <p:cNvGrpSpPr/>
              <p:nvPr/>
            </p:nvGrpSpPr>
            <p:grpSpPr>
              <a:xfrm>
                <a:off x="7713663" y="2848339"/>
                <a:ext cx="1042107" cy="425543"/>
                <a:chOff x="7786941" y="2884917"/>
                <a:chExt cx="897649" cy="353919"/>
              </a:xfrm>
            </p:grpSpPr>
            <p:sp>
              <p:nvSpPr>
                <p:cNvPr id="2601" name="Google Shape;2601;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2" name="Google Shape;2602;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3" name="Google Shape;2603;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4" name="Google Shape;2604;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2605" name="Google Shape;2605;p37"/>
          <p:cNvCxnSpPr/>
          <p:nvPr/>
        </p:nvCxnSpPr>
        <p:spPr>
          <a:xfrm rot="10800000">
            <a:off x="5701553" y="4503542"/>
            <a:ext cx="0" cy="273831"/>
          </a:xfrm>
          <a:prstGeom prst="straightConnector1">
            <a:avLst/>
          </a:prstGeom>
          <a:noFill/>
          <a:ln cap="flat" cmpd="sng" w="19050">
            <a:solidFill>
              <a:schemeClr val="dk1"/>
            </a:solidFill>
            <a:prstDash val="solid"/>
            <a:miter lim="8000"/>
            <a:headEnd len="sm" w="sm" type="none"/>
            <a:tailEnd len="med" w="med" type="triangle"/>
          </a:ln>
        </p:spPr>
      </p:cxnSp>
      <p:cxnSp>
        <p:nvCxnSpPr>
          <p:cNvPr id="2606" name="Google Shape;2606;p37"/>
          <p:cNvCxnSpPr/>
          <p:nvPr/>
        </p:nvCxnSpPr>
        <p:spPr>
          <a:xfrm>
            <a:off x="6577649" y="4166958"/>
            <a:ext cx="0" cy="273831"/>
          </a:xfrm>
          <a:prstGeom prst="straightConnector1">
            <a:avLst/>
          </a:prstGeom>
          <a:noFill/>
          <a:ln cap="flat" cmpd="sng" w="19050">
            <a:solidFill>
              <a:schemeClr val="dk1"/>
            </a:solidFill>
            <a:prstDash val="solid"/>
            <a:miter lim="8000"/>
            <a:headEnd len="sm" w="sm" type="none"/>
            <a:tailEnd len="med" w="med" type="triangle"/>
          </a:ln>
        </p:spPr>
      </p:cxnSp>
      <p:sp>
        <p:nvSpPr>
          <p:cNvPr id="2607" name="Google Shape;2607;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0"/>
                                        </p:tgtEl>
                                        <p:attrNameLst>
                                          <p:attrName>style.visibility</p:attrName>
                                        </p:attrNameLst>
                                      </p:cBhvr>
                                      <p:to>
                                        <p:strVal val="visible"/>
                                      </p:to>
                                    </p:set>
                                    <p:animEffect filter="fade" transition="in">
                                      <p:cBhvr>
                                        <p:cTn dur="1000"/>
                                        <p:tgtEl>
                                          <p:spTgt spid="2500"/>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25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3"/>
                                        </p:tgtEl>
                                        <p:attrNameLst>
                                          <p:attrName>style.visibility</p:attrName>
                                        </p:attrNameLst>
                                      </p:cBhvr>
                                      <p:to>
                                        <p:strVal val="visible"/>
                                      </p:to>
                                    </p:set>
                                    <p:animEffect filter="fade" transition="in">
                                      <p:cBhvr>
                                        <p:cTn dur="1000"/>
                                        <p:tgtEl>
                                          <p:spTgt spid="2543"/>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2527"/>
                                        </p:tgtEl>
                                        <p:attrNameLst>
                                          <p:attrName>style.visibility</p:attrName>
                                        </p:attrNameLst>
                                      </p:cBhvr>
                                      <p:to>
                                        <p:strVal val="visible"/>
                                      </p:to>
                                    </p:set>
                                  </p:childTnLst>
                                </p:cTn>
                              </p:par>
                            </p:childTnLst>
                          </p:cTn>
                        </p:par>
                        <p:par>
                          <p:cTn fill="hold">
                            <p:stCondLst>
                              <p:cond delay="1001"/>
                            </p:stCondLst>
                            <p:childTnLst>
                              <p:par>
                                <p:cTn fill="hold" nodeType="afterEffect" presetClass="entr" presetID="1" presetSubtype="0">
                                  <p:stCondLst>
                                    <p:cond delay="0"/>
                                  </p:stCondLst>
                                  <p:childTnLst>
                                    <p:set>
                                      <p:cBhvr>
                                        <p:cTn dur="1" fill="hold">
                                          <p:stCondLst>
                                            <p:cond delay="0"/>
                                          </p:stCondLst>
                                        </p:cTn>
                                        <p:tgtEl>
                                          <p:spTgt spid="2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4"/>
                                        </p:tgtEl>
                                        <p:attrNameLst>
                                          <p:attrName>style.visibility</p:attrName>
                                        </p:attrNameLst>
                                      </p:cBhvr>
                                      <p:to>
                                        <p:strVal val="visible"/>
                                      </p:to>
                                    </p:set>
                                    <p:animEffect filter="fade" transition="in">
                                      <p:cBhvr>
                                        <p:cTn dur="1000"/>
                                        <p:tgtEl>
                                          <p:spTgt spid="2564"/>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2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8"/>
                                        </p:tgtEl>
                                        <p:attrNameLst>
                                          <p:attrName>style.visibility</p:attrName>
                                        </p:attrNameLst>
                                      </p:cBhvr>
                                      <p:to>
                                        <p:strVal val="visible"/>
                                      </p:to>
                                    </p:set>
                                    <p:animEffect filter="fade" transition="in">
                                      <p:cBhvr>
                                        <p:cTn dur="1000"/>
                                        <p:tgtEl>
                                          <p:spTgt spid="2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2" name="Shape 2612"/>
        <p:cNvGrpSpPr/>
        <p:nvPr/>
      </p:nvGrpSpPr>
      <p:grpSpPr>
        <a:xfrm>
          <a:off x="0" y="0"/>
          <a:ext cx="0" cy="0"/>
          <a:chOff x="0" y="0"/>
          <a:chExt cx="0" cy="0"/>
        </a:xfrm>
      </p:grpSpPr>
      <p:sp>
        <p:nvSpPr>
          <p:cNvPr id="2613" name="Google Shape;2613;p38"/>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341313" lvl="0" marL="471488"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NAT has been controversial:</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routers “should” only process up to layer 3</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address “shortage” should be solved by IPv6</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violates end-to-end argument </a:t>
            </a:r>
            <a:r>
              <a:rPr b="0" i="0" lang="en-US" sz="2400" u="none" cap="none" strike="noStrike">
                <a:solidFill>
                  <a:srgbClr val="000000"/>
                </a:solidFill>
                <a:latin typeface="Calibri"/>
                <a:ea typeface="Calibri"/>
                <a:cs typeface="Calibri"/>
                <a:sym typeface="Calibri"/>
              </a:rPr>
              <a:t>(port # manipulation by network-layer device)</a:t>
            </a:r>
            <a:endParaRPr b="0" i="0" sz="2800" u="none" cap="none" strike="noStrike">
              <a:solidFill>
                <a:srgbClr val="000000"/>
              </a:solidFill>
              <a:latin typeface="Calibri"/>
              <a:ea typeface="Calibri"/>
              <a:cs typeface="Calibri"/>
              <a:sym typeface="Calibri"/>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NAT traversal: what if client wants to connect to server behind NAT?</a:t>
            </a:r>
            <a:endParaRPr/>
          </a:p>
          <a:p>
            <a:pPr indent="-341313" lvl="0" marL="471488" marR="0" rtl="0" algn="l">
              <a:lnSpc>
                <a:spcPct val="10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but NAT is here to stay:</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extensively used in home and institutional nets, 4G/5G cellular  nets</a:t>
            </a:r>
            <a:endParaRPr/>
          </a:p>
        </p:txBody>
      </p:sp>
      <p:sp>
        <p:nvSpPr>
          <p:cNvPr id="2614" name="Google Shape;2614;p38"/>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2615" name="Google Shape;2615;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xEl>
                                              <p:pRg end="0" st="0"/>
                                            </p:txEl>
                                          </p:spTgt>
                                        </p:tgtEl>
                                        <p:attrNameLst>
                                          <p:attrName>style.visibility</p:attrName>
                                        </p:attrNameLst>
                                      </p:cBhvr>
                                      <p:to>
                                        <p:strVal val="visible"/>
                                      </p:to>
                                    </p:set>
                                    <p:animEffect filter="fade" transition="in">
                                      <p:cBhvr>
                                        <p:cTn dur="500"/>
                                        <p:tgtEl>
                                          <p:spTgt spid="26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xEl>
                                              <p:pRg end="1" st="1"/>
                                            </p:txEl>
                                          </p:spTgt>
                                        </p:tgtEl>
                                        <p:attrNameLst>
                                          <p:attrName>style.visibility</p:attrName>
                                        </p:attrNameLst>
                                      </p:cBhvr>
                                      <p:to>
                                        <p:strVal val="visible"/>
                                      </p:to>
                                    </p:set>
                                    <p:animEffect filter="fade" transition="in">
                                      <p:cBhvr>
                                        <p:cTn dur="500"/>
                                        <p:tgtEl>
                                          <p:spTgt spid="26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xEl>
                                              <p:pRg end="2" st="2"/>
                                            </p:txEl>
                                          </p:spTgt>
                                        </p:tgtEl>
                                        <p:attrNameLst>
                                          <p:attrName>style.visibility</p:attrName>
                                        </p:attrNameLst>
                                      </p:cBhvr>
                                      <p:to>
                                        <p:strVal val="visible"/>
                                      </p:to>
                                    </p:set>
                                    <p:animEffect filter="fade" transition="in">
                                      <p:cBhvr>
                                        <p:cTn dur="500"/>
                                        <p:tgtEl>
                                          <p:spTgt spid="26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xEl>
                                              <p:pRg end="3" st="3"/>
                                            </p:txEl>
                                          </p:spTgt>
                                        </p:tgtEl>
                                        <p:attrNameLst>
                                          <p:attrName>style.visibility</p:attrName>
                                        </p:attrNameLst>
                                      </p:cBhvr>
                                      <p:to>
                                        <p:strVal val="visible"/>
                                      </p:to>
                                    </p:set>
                                    <p:animEffect filter="fade" transition="in">
                                      <p:cBhvr>
                                        <p:cTn dur="500"/>
                                        <p:tgtEl>
                                          <p:spTgt spid="26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xEl>
                                              <p:pRg end="4" st="4"/>
                                            </p:txEl>
                                          </p:spTgt>
                                        </p:tgtEl>
                                        <p:attrNameLst>
                                          <p:attrName>style.visibility</p:attrName>
                                        </p:attrNameLst>
                                      </p:cBhvr>
                                      <p:to>
                                        <p:strVal val="visible"/>
                                      </p:to>
                                    </p:set>
                                    <p:animEffect filter="fade" transition="in">
                                      <p:cBhvr>
                                        <p:cTn dur="500"/>
                                        <p:tgtEl>
                                          <p:spTgt spid="26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xEl>
                                              <p:pRg end="5" st="5"/>
                                            </p:txEl>
                                          </p:spTgt>
                                        </p:tgtEl>
                                        <p:attrNameLst>
                                          <p:attrName>style.visibility</p:attrName>
                                        </p:attrNameLst>
                                      </p:cBhvr>
                                      <p:to>
                                        <p:strVal val="visible"/>
                                      </p:to>
                                    </p:set>
                                    <p:animEffect filter="fade" transition="in">
                                      <p:cBhvr>
                                        <p:cTn dur="500"/>
                                        <p:tgtEl>
                                          <p:spTgt spid="26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xEl>
                                              <p:pRg end="6" st="6"/>
                                            </p:txEl>
                                          </p:spTgt>
                                        </p:tgtEl>
                                        <p:attrNameLst>
                                          <p:attrName>style.visibility</p:attrName>
                                        </p:attrNameLst>
                                      </p:cBhvr>
                                      <p:to>
                                        <p:strVal val="visible"/>
                                      </p:to>
                                    </p:set>
                                    <p:animEffect filter="fade" transition="in">
                                      <p:cBhvr>
                                        <p:cTn dur="500"/>
                                        <p:tgtEl>
                                          <p:spTgt spid="261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0" name="Shape 2620"/>
        <p:cNvGrpSpPr/>
        <p:nvPr/>
      </p:nvGrpSpPr>
      <p:grpSpPr>
        <a:xfrm>
          <a:off x="0" y="0"/>
          <a:ext cx="0" cy="0"/>
          <a:chOff x="0" y="0"/>
          <a:chExt cx="0" cy="0"/>
        </a:xfrm>
      </p:grpSpPr>
      <p:sp>
        <p:nvSpPr>
          <p:cNvPr id="2621" name="Google Shape;2621;p39"/>
          <p:cNvSpPr txBox="1"/>
          <p:nvPr>
            <p:ph idx="1" type="body"/>
          </p:nvPr>
        </p:nvSpPr>
        <p:spPr>
          <a:xfrm>
            <a:off x="722890" y="1409075"/>
            <a:ext cx="5557988" cy="520158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network links have MTU (max. transfer size) - largest possible link-level frame</a:t>
            </a:r>
            <a:endParaRPr/>
          </a:p>
          <a:p>
            <a:pPr indent="-231775" lvl="1" marL="695325" rtl="0" algn="l">
              <a:lnSpc>
                <a:spcPct val="90000"/>
              </a:lnSpc>
              <a:spcBef>
                <a:spcPts val="500"/>
              </a:spcBef>
              <a:spcAft>
                <a:spcPts val="0"/>
              </a:spcAft>
              <a:buSzPts val="2400"/>
              <a:buChar char="•"/>
            </a:pPr>
            <a:r>
              <a:rPr lang="en-US"/>
              <a:t>different link types, different MTUs </a:t>
            </a:r>
            <a:endParaRPr/>
          </a:p>
          <a:p>
            <a:pPr indent="-222250" lvl="0" marL="352425" rtl="0" algn="l">
              <a:lnSpc>
                <a:spcPct val="90000"/>
              </a:lnSpc>
              <a:spcBef>
                <a:spcPts val="1000"/>
              </a:spcBef>
              <a:spcAft>
                <a:spcPts val="0"/>
              </a:spcAft>
              <a:buSzPts val="2800"/>
              <a:buChar char="▪"/>
            </a:pPr>
            <a:r>
              <a:rPr lang="en-US"/>
              <a:t>large IP datagram divided (“fragmented”) within net</a:t>
            </a:r>
            <a:endParaRPr/>
          </a:p>
          <a:p>
            <a:pPr indent="-231775" lvl="1" marL="695325" rtl="0" algn="l">
              <a:lnSpc>
                <a:spcPct val="90000"/>
              </a:lnSpc>
              <a:spcBef>
                <a:spcPts val="500"/>
              </a:spcBef>
              <a:spcAft>
                <a:spcPts val="0"/>
              </a:spcAft>
              <a:buSzPts val="2400"/>
              <a:buChar char="•"/>
            </a:pPr>
            <a:r>
              <a:rPr lang="en-US"/>
              <a:t>one datagram becomes several datagrams</a:t>
            </a:r>
            <a:endParaRPr/>
          </a:p>
          <a:p>
            <a:pPr indent="-231775" lvl="1" marL="695325" rtl="0" algn="l">
              <a:lnSpc>
                <a:spcPct val="90000"/>
              </a:lnSpc>
              <a:spcBef>
                <a:spcPts val="500"/>
              </a:spcBef>
              <a:spcAft>
                <a:spcPts val="0"/>
              </a:spcAft>
              <a:buSzPts val="2400"/>
              <a:buChar char="•"/>
            </a:pPr>
            <a:r>
              <a:rPr lang="en-US"/>
              <a:t>“reassembled” only at </a:t>
            </a:r>
            <a:r>
              <a:rPr i="1" lang="en-US"/>
              <a:t>destination</a:t>
            </a:r>
            <a:endParaRPr/>
          </a:p>
          <a:p>
            <a:pPr indent="-231775" lvl="1" marL="695325" rtl="0" algn="l">
              <a:lnSpc>
                <a:spcPct val="90000"/>
              </a:lnSpc>
              <a:spcBef>
                <a:spcPts val="500"/>
              </a:spcBef>
              <a:spcAft>
                <a:spcPts val="0"/>
              </a:spcAft>
              <a:buSzPts val="2400"/>
              <a:buChar char="•"/>
            </a:pPr>
            <a:r>
              <a:rPr lang="en-US"/>
              <a:t>IP header bits used to identify, order related fragments</a:t>
            </a:r>
            <a:endParaRPr/>
          </a:p>
        </p:txBody>
      </p:sp>
      <p:sp>
        <p:nvSpPr>
          <p:cNvPr id="2622" name="Google Shape;2622;p3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fragmentation/reassembly</a:t>
            </a:r>
            <a:endParaRPr/>
          </a:p>
        </p:txBody>
      </p:sp>
      <p:sp>
        <p:nvSpPr>
          <p:cNvPr id="2623" name="Google Shape;2623;p39"/>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2624" name="Google Shape;2624;p39"/>
          <p:cNvSpPr/>
          <p:nvPr/>
        </p:nvSpPr>
        <p:spPr>
          <a:xfrm>
            <a:off x="7707312" y="1493863"/>
            <a:ext cx="2436813" cy="2255838"/>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625" name="Google Shape;2625;p39"/>
          <p:cNvSpPr/>
          <p:nvPr/>
        </p:nvSpPr>
        <p:spPr>
          <a:xfrm>
            <a:off x="7707312" y="3895751"/>
            <a:ext cx="1976438" cy="1987550"/>
          </a:xfrm>
          <a:custGeom>
            <a:rect b="b" l="l" r="r" t="t"/>
            <a:pathLst>
              <a:path extrusionOk="0" h="940" w="873">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626" name="Google Shape;2626;p39"/>
          <p:cNvCxnSpPr/>
          <p:nvPr/>
        </p:nvCxnSpPr>
        <p:spPr>
          <a:xfrm flipH="1" rot="10800000">
            <a:off x="7780337" y="2449538"/>
            <a:ext cx="127000" cy="3175"/>
          </a:xfrm>
          <a:prstGeom prst="straightConnector1">
            <a:avLst/>
          </a:prstGeom>
          <a:noFill/>
          <a:ln cap="flat" cmpd="sng" w="12700">
            <a:solidFill>
              <a:srgbClr val="000000"/>
            </a:solidFill>
            <a:prstDash val="solid"/>
            <a:round/>
            <a:headEnd len="med" w="med" type="none"/>
            <a:tailEnd len="med" w="med" type="none"/>
          </a:ln>
        </p:spPr>
      </p:cxnSp>
      <p:cxnSp>
        <p:nvCxnSpPr>
          <p:cNvPr id="2627" name="Google Shape;2627;p39"/>
          <p:cNvCxnSpPr/>
          <p:nvPr/>
        </p:nvCxnSpPr>
        <p:spPr>
          <a:xfrm>
            <a:off x="8356600" y="1774851"/>
            <a:ext cx="658812" cy="279400"/>
          </a:xfrm>
          <a:prstGeom prst="straightConnector1">
            <a:avLst/>
          </a:prstGeom>
          <a:noFill/>
          <a:ln cap="flat" cmpd="sng" w="12700">
            <a:solidFill>
              <a:srgbClr val="000000"/>
            </a:solidFill>
            <a:prstDash val="solid"/>
            <a:round/>
            <a:headEnd len="med" w="med" type="none"/>
            <a:tailEnd len="med" w="med" type="none"/>
          </a:ln>
        </p:spPr>
      </p:cxnSp>
      <p:cxnSp>
        <p:nvCxnSpPr>
          <p:cNvPr id="2628" name="Google Shape;2628;p39"/>
          <p:cNvCxnSpPr/>
          <p:nvPr/>
        </p:nvCxnSpPr>
        <p:spPr>
          <a:xfrm>
            <a:off x="9202737" y="2111401"/>
            <a:ext cx="196850" cy="669925"/>
          </a:xfrm>
          <a:prstGeom prst="straightConnector1">
            <a:avLst/>
          </a:prstGeom>
          <a:noFill/>
          <a:ln cap="flat" cmpd="sng" w="12700">
            <a:solidFill>
              <a:srgbClr val="000000"/>
            </a:solidFill>
            <a:prstDash val="solid"/>
            <a:round/>
            <a:headEnd len="med" w="med" type="none"/>
            <a:tailEnd len="med" w="med" type="none"/>
          </a:ln>
        </p:spPr>
      </p:cxnSp>
      <p:cxnSp>
        <p:nvCxnSpPr>
          <p:cNvPr id="2629" name="Google Shape;2629;p39"/>
          <p:cNvCxnSpPr/>
          <p:nvPr/>
        </p:nvCxnSpPr>
        <p:spPr>
          <a:xfrm>
            <a:off x="8105775" y="1887563"/>
            <a:ext cx="1587" cy="582613"/>
          </a:xfrm>
          <a:prstGeom prst="straightConnector1">
            <a:avLst/>
          </a:prstGeom>
          <a:noFill/>
          <a:ln cap="flat" cmpd="sng" w="12700">
            <a:solidFill>
              <a:srgbClr val="000000"/>
            </a:solidFill>
            <a:prstDash val="solid"/>
            <a:round/>
            <a:headEnd len="med" w="med" type="none"/>
            <a:tailEnd len="med" w="med" type="none"/>
          </a:ln>
        </p:spPr>
      </p:cxnSp>
      <p:cxnSp>
        <p:nvCxnSpPr>
          <p:cNvPr id="2630" name="Google Shape;2630;p39"/>
          <p:cNvCxnSpPr/>
          <p:nvPr/>
        </p:nvCxnSpPr>
        <p:spPr>
          <a:xfrm>
            <a:off x="8340725" y="2541613"/>
            <a:ext cx="971550" cy="401638"/>
          </a:xfrm>
          <a:prstGeom prst="straightConnector1">
            <a:avLst/>
          </a:prstGeom>
          <a:noFill/>
          <a:ln cap="flat" cmpd="sng" w="12700">
            <a:solidFill>
              <a:srgbClr val="000000"/>
            </a:solidFill>
            <a:prstDash val="solid"/>
            <a:round/>
            <a:headEnd len="med" w="med" type="none"/>
            <a:tailEnd len="med" w="med" type="none"/>
          </a:ln>
        </p:spPr>
      </p:cxnSp>
      <p:cxnSp>
        <p:nvCxnSpPr>
          <p:cNvPr id="2631" name="Google Shape;2631;p39"/>
          <p:cNvCxnSpPr/>
          <p:nvPr/>
        </p:nvCxnSpPr>
        <p:spPr>
          <a:xfrm rot="10800000">
            <a:off x="9613900" y="3071838"/>
            <a:ext cx="476250" cy="687388"/>
          </a:xfrm>
          <a:prstGeom prst="straightConnector1">
            <a:avLst/>
          </a:prstGeom>
          <a:noFill/>
          <a:ln cap="flat" cmpd="sng" w="12700">
            <a:solidFill>
              <a:srgbClr val="000000"/>
            </a:solidFill>
            <a:prstDash val="solid"/>
            <a:round/>
            <a:headEnd len="med" w="med" type="none"/>
            <a:tailEnd len="med" w="med" type="none"/>
          </a:ln>
        </p:spPr>
      </p:cxnSp>
      <p:cxnSp>
        <p:nvCxnSpPr>
          <p:cNvPr id="2632" name="Google Shape;2632;p39"/>
          <p:cNvCxnSpPr/>
          <p:nvPr/>
        </p:nvCxnSpPr>
        <p:spPr>
          <a:xfrm flipH="1">
            <a:off x="8364537" y="2079651"/>
            <a:ext cx="758825" cy="517525"/>
          </a:xfrm>
          <a:prstGeom prst="straightConnector1">
            <a:avLst/>
          </a:prstGeom>
          <a:noFill/>
          <a:ln cap="flat" cmpd="sng" w="12700">
            <a:solidFill>
              <a:srgbClr val="000000"/>
            </a:solidFill>
            <a:prstDash val="solid"/>
            <a:round/>
            <a:headEnd len="med" w="med" type="none"/>
            <a:tailEnd len="med" w="med" type="none"/>
          </a:ln>
        </p:spPr>
      </p:cxnSp>
      <p:cxnSp>
        <p:nvCxnSpPr>
          <p:cNvPr id="2633" name="Google Shape;2633;p39"/>
          <p:cNvCxnSpPr/>
          <p:nvPr/>
        </p:nvCxnSpPr>
        <p:spPr>
          <a:xfrm flipH="1">
            <a:off x="8374062" y="1519263"/>
            <a:ext cx="476250" cy="342900"/>
          </a:xfrm>
          <a:prstGeom prst="straightConnector1">
            <a:avLst/>
          </a:prstGeom>
          <a:noFill/>
          <a:ln cap="flat" cmpd="sng" w="12700">
            <a:solidFill>
              <a:srgbClr val="000000"/>
            </a:solidFill>
            <a:prstDash val="solid"/>
            <a:round/>
            <a:headEnd len="med" w="med" type="none"/>
            <a:tailEnd len="med" w="med" type="none"/>
          </a:ln>
        </p:spPr>
      </p:cxnSp>
      <p:cxnSp>
        <p:nvCxnSpPr>
          <p:cNvPr id="2634" name="Google Shape;2634;p39"/>
          <p:cNvCxnSpPr/>
          <p:nvPr/>
        </p:nvCxnSpPr>
        <p:spPr>
          <a:xfrm flipH="1">
            <a:off x="9091612" y="1695476"/>
            <a:ext cx="273050" cy="236537"/>
          </a:xfrm>
          <a:prstGeom prst="straightConnector1">
            <a:avLst/>
          </a:prstGeom>
          <a:noFill/>
          <a:ln cap="flat" cmpd="sng" w="12700">
            <a:solidFill>
              <a:srgbClr val="000000"/>
            </a:solidFill>
            <a:prstDash val="solid"/>
            <a:round/>
            <a:headEnd len="med" w="med" type="none"/>
            <a:tailEnd len="med" w="med" type="none"/>
          </a:ln>
        </p:spPr>
      </p:cxnSp>
      <p:cxnSp>
        <p:nvCxnSpPr>
          <p:cNvPr id="2635" name="Google Shape;2635;p39"/>
          <p:cNvCxnSpPr/>
          <p:nvPr/>
        </p:nvCxnSpPr>
        <p:spPr>
          <a:xfrm flipH="1">
            <a:off x="9508303" y="4069262"/>
            <a:ext cx="644816" cy="976332"/>
          </a:xfrm>
          <a:prstGeom prst="straightConnector1">
            <a:avLst/>
          </a:prstGeom>
          <a:noFill/>
          <a:ln cap="flat" cmpd="sng" w="12700">
            <a:solidFill>
              <a:srgbClr val="000000"/>
            </a:solidFill>
            <a:prstDash val="solid"/>
            <a:round/>
            <a:headEnd len="med" w="med" type="none"/>
            <a:tailEnd len="med" w="med" type="none"/>
          </a:ln>
        </p:spPr>
      </p:cxnSp>
      <p:grpSp>
        <p:nvGrpSpPr>
          <p:cNvPr id="2636" name="Google Shape;2636;p39"/>
          <p:cNvGrpSpPr/>
          <p:nvPr/>
        </p:nvGrpSpPr>
        <p:grpSpPr>
          <a:xfrm>
            <a:off x="8120159" y="2618770"/>
            <a:ext cx="1215928" cy="605468"/>
            <a:chOff x="3156" y="1735"/>
            <a:chExt cx="766" cy="381"/>
          </a:xfrm>
        </p:grpSpPr>
        <p:grpSp>
          <p:nvGrpSpPr>
            <p:cNvPr id="2637" name="Google Shape;2637;p39"/>
            <p:cNvGrpSpPr/>
            <p:nvPr/>
          </p:nvGrpSpPr>
          <p:grpSpPr>
            <a:xfrm rot="1433392">
              <a:off x="3150" y="1862"/>
              <a:ext cx="650" cy="108"/>
              <a:chOff x="4710" y="1742"/>
              <a:chExt cx="650" cy="108"/>
            </a:xfrm>
          </p:grpSpPr>
          <p:sp>
            <p:nvSpPr>
              <p:cNvPr id="2638" name="Google Shape;2638;p39"/>
              <p:cNvSpPr/>
              <p:nvPr/>
            </p:nvSpPr>
            <p:spPr>
              <a:xfrm>
                <a:off x="4712" y="1742"/>
                <a:ext cx="648"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39" name="Google Shape;2639;p39"/>
              <p:cNvSpPr/>
              <p:nvPr/>
            </p:nvSpPr>
            <p:spPr>
              <a:xfrm>
                <a:off x="4710"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640" name="Google Shape;2640;p39"/>
            <p:cNvCxnSpPr/>
            <p:nvPr/>
          </p:nvCxnSpPr>
          <p:spPr>
            <a:xfrm>
              <a:off x="3784" y="2060"/>
              <a:ext cx="138" cy="56"/>
            </a:xfrm>
            <a:prstGeom prst="straightConnector1">
              <a:avLst/>
            </a:prstGeom>
            <a:noFill/>
            <a:ln cap="flat" cmpd="sng" w="9525">
              <a:solidFill>
                <a:srgbClr val="000000"/>
              </a:solidFill>
              <a:prstDash val="solid"/>
              <a:round/>
              <a:headEnd len="med" w="med" type="none"/>
              <a:tailEnd len="med" w="med" type="triangle"/>
            </a:ln>
          </p:spPr>
        </p:cxnSp>
      </p:grpSp>
      <p:sp>
        <p:nvSpPr>
          <p:cNvPr id="2641" name="Google Shape;2641;p39"/>
          <p:cNvSpPr txBox="1"/>
          <p:nvPr/>
        </p:nvSpPr>
        <p:spPr>
          <a:xfrm>
            <a:off x="9725025" y="2106638"/>
            <a:ext cx="246697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fragmentation:</a:t>
            </a:r>
            <a:r>
              <a:rPr b="0" i="0" lang="en-US" sz="16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99"/>
              </a:buClr>
              <a:buSzPts val="1600"/>
              <a:buFont typeface="Arial"/>
              <a:buNone/>
            </a:pPr>
            <a:r>
              <a:rPr b="1" i="1" lang="en-US" sz="1600" u="none" cap="none" strike="noStrike">
                <a:solidFill>
                  <a:srgbClr val="000099"/>
                </a:solidFill>
                <a:latin typeface="Arial"/>
                <a:ea typeface="Arial"/>
                <a:cs typeface="Arial"/>
                <a:sym typeface="Arial"/>
              </a:rPr>
              <a:t>in:</a:t>
            </a:r>
            <a:r>
              <a:rPr b="0" i="0" lang="en-US" sz="1600" u="none" cap="none" strike="noStrike">
                <a:solidFill>
                  <a:srgbClr val="000000"/>
                </a:solidFill>
                <a:latin typeface="Arial"/>
                <a:ea typeface="Arial"/>
                <a:cs typeface="Arial"/>
                <a:sym typeface="Arial"/>
              </a:rPr>
              <a:t> one large datagram</a:t>
            </a:r>
            <a:endParaRPr/>
          </a:p>
          <a:p>
            <a:pPr indent="0" lvl="0" marL="0" marR="0" rtl="0" algn="l">
              <a:lnSpc>
                <a:spcPct val="100000"/>
              </a:lnSpc>
              <a:spcBef>
                <a:spcPts val="0"/>
              </a:spcBef>
              <a:spcAft>
                <a:spcPts val="0"/>
              </a:spcAft>
              <a:buClr>
                <a:srgbClr val="000099"/>
              </a:buClr>
              <a:buSzPts val="1600"/>
              <a:buFont typeface="Arial"/>
              <a:buNone/>
            </a:pPr>
            <a:r>
              <a:rPr b="1" i="1" lang="en-US" sz="1600" u="none" cap="none" strike="noStrike">
                <a:solidFill>
                  <a:srgbClr val="000099"/>
                </a:solidFill>
                <a:latin typeface="Arial"/>
                <a:ea typeface="Arial"/>
                <a:cs typeface="Arial"/>
                <a:sym typeface="Arial"/>
              </a:rPr>
              <a:t>out:</a:t>
            </a:r>
            <a:r>
              <a:rPr b="0" i="0" lang="en-US" sz="1600" u="none" cap="none" strike="noStrike">
                <a:solidFill>
                  <a:srgbClr val="000000"/>
                </a:solidFill>
                <a:latin typeface="Arial"/>
                <a:ea typeface="Arial"/>
                <a:cs typeface="Arial"/>
                <a:sym typeface="Arial"/>
              </a:rPr>
              <a:t> 3 smaller datagrams</a:t>
            </a:r>
            <a:endParaRPr b="0" i="0" sz="1800" u="none" cap="none" strike="noStrike">
              <a:solidFill>
                <a:srgbClr val="000000"/>
              </a:solidFill>
              <a:latin typeface="Arial"/>
              <a:ea typeface="Arial"/>
              <a:cs typeface="Arial"/>
              <a:sym typeface="Arial"/>
            </a:endParaRPr>
          </a:p>
        </p:txBody>
      </p:sp>
      <p:cxnSp>
        <p:nvCxnSpPr>
          <p:cNvPr id="2642" name="Google Shape;2642;p39"/>
          <p:cNvCxnSpPr/>
          <p:nvPr/>
        </p:nvCxnSpPr>
        <p:spPr>
          <a:xfrm>
            <a:off x="8594725" y="5043513"/>
            <a:ext cx="287337" cy="3175"/>
          </a:xfrm>
          <a:prstGeom prst="straightConnector1">
            <a:avLst/>
          </a:prstGeom>
          <a:noFill/>
          <a:ln cap="flat" cmpd="sng" w="12700">
            <a:solidFill>
              <a:srgbClr val="000000"/>
            </a:solidFill>
            <a:prstDash val="solid"/>
            <a:round/>
            <a:headEnd len="med" w="med" type="none"/>
            <a:tailEnd len="med" w="med" type="none"/>
          </a:ln>
        </p:spPr>
      </p:cxnSp>
      <p:grpSp>
        <p:nvGrpSpPr>
          <p:cNvPr id="2643" name="Google Shape;2643;p39"/>
          <p:cNvGrpSpPr/>
          <p:nvPr/>
        </p:nvGrpSpPr>
        <p:grpSpPr>
          <a:xfrm>
            <a:off x="8511515" y="4216280"/>
            <a:ext cx="710930" cy="562242"/>
            <a:chOff x="3403" y="2741"/>
            <a:chExt cx="448" cy="354"/>
          </a:xfrm>
        </p:grpSpPr>
        <p:grpSp>
          <p:nvGrpSpPr>
            <p:cNvPr id="2644" name="Google Shape;2644;p39"/>
            <p:cNvGrpSpPr/>
            <p:nvPr/>
          </p:nvGrpSpPr>
          <p:grpSpPr>
            <a:xfrm rot="-10773343">
              <a:off x="3566" y="2742"/>
              <a:ext cx="280" cy="108"/>
              <a:chOff x="5080" y="1860"/>
              <a:chExt cx="280" cy="108"/>
            </a:xfrm>
          </p:grpSpPr>
          <p:sp>
            <p:nvSpPr>
              <p:cNvPr id="2645" name="Google Shape;2645;p39"/>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6" name="Google Shape;2646;p39"/>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47" name="Google Shape;2647;p39"/>
            <p:cNvGrpSpPr/>
            <p:nvPr/>
          </p:nvGrpSpPr>
          <p:grpSpPr>
            <a:xfrm rot="-10773343">
              <a:off x="3568" y="2864"/>
              <a:ext cx="280" cy="108"/>
              <a:chOff x="5080" y="1860"/>
              <a:chExt cx="280" cy="108"/>
            </a:xfrm>
          </p:grpSpPr>
          <p:sp>
            <p:nvSpPr>
              <p:cNvPr id="2648" name="Google Shape;2648;p39"/>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9" name="Google Shape;2649;p39"/>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50" name="Google Shape;2650;p39"/>
            <p:cNvGrpSpPr/>
            <p:nvPr/>
          </p:nvGrpSpPr>
          <p:grpSpPr>
            <a:xfrm rot="-10773343">
              <a:off x="3570" y="2986"/>
              <a:ext cx="280" cy="108"/>
              <a:chOff x="5080" y="1860"/>
              <a:chExt cx="280" cy="108"/>
            </a:xfrm>
          </p:grpSpPr>
          <p:sp>
            <p:nvSpPr>
              <p:cNvPr id="2651" name="Google Shape;2651;p39"/>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2" name="Google Shape;2652;p39"/>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653" name="Google Shape;2653;p39"/>
            <p:cNvCxnSpPr/>
            <p:nvPr/>
          </p:nvCxnSpPr>
          <p:spPr>
            <a:xfrm rot="9691848">
              <a:off x="3412" y="2778"/>
              <a:ext cx="138" cy="44"/>
            </a:xfrm>
            <a:prstGeom prst="straightConnector1">
              <a:avLst/>
            </a:prstGeom>
            <a:noFill/>
            <a:ln cap="flat" cmpd="sng" w="9525">
              <a:solidFill>
                <a:srgbClr val="000000"/>
              </a:solidFill>
              <a:prstDash val="solid"/>
              <a:round/>
              <a:headEnd len="med" w="med" type="none"/>
              <a:tailEnd len="med" w="med" type="triangle"/>
            </a:ln>
          </p:spPr>
        </p:cxnSp>
        <p:cxnSp>
          <p:nvCxnSpPr>
            <p:cNvPr id="2654" name="Google Shape;2654;p39"/>
            <p:cNvCxnSpPr/>
            <p:nvPr/>
          </p:nvCxnSpPr>
          <p:spPr>
            <a:xfrm rot="9691848">
              <a:off x="3406" y="2888"/>
              <a:ext cx="138" cy="44"/>
            </a:xfrm>
            <a:prstGeom prst="straightConnector1">
              <a:avLst/>
            </a:prstGeom>
            <a:noFill/>
            <a:ln cap="flat" cmpd="sng" w="9525">
              <a:solidFill>
                <a:srgbClr val="000000"/>
              </a:solidFill>
              <a:prstDash val="solid"/>
              <a:round/>
              <a:headEnd len="med" w="med" type="none"/>
              <a:tailEnd len="med" w="med" type="triangle"/>
            </a:ln>
          </p:spPr>
        </p:cxnSp>
        <p:cxnSp>
          <p:nvCxnSpPr>
            <p:cNvPr id="2655" name="Google Shape;2655;p39"/>
            <p:cNvCxnSpPr/>
            <p:nvPr/>
          </p:nvCxnSpPr>
          <p:spPr>
            <a:xfrm rot="9691848">
              <a:off x="3408" y="3018"/>
              <a:ext cx="138" cy="44"/>
            </a:xfrm>
            <a:prstGeom prst="straightConnector1">
              <a:avLst/>
            </a:prstGeom>
            <a:noFill/>
            <a:ln cap="flat" cmpd="sng" w="9525">
              <a:solidFill>
                <a:srgbClr val="000000"/>
              </a:solidFill>
              <a:prstDash val="solid"/>
              <a:round/>
              <a:headEnd len="med" w="med" type="none"/>
              <a:tailEnd len="med" w="med" type="triangle"/>
            </a:ln>
          </p:spPr>
        </p:cxnSp>
      </p:grpSp>
      <p:grpSp>
        <p:nvGrpSpPr>
          <p:cNvPr id="2656" name="Google Shape;2656;p39"/>
          <p:cNvGrpSpPr/>
          <p:nvPr/>
        </p:nvGrpSpPr>
        <p:grpSpPr>
          <a:xfrm>
            <a:off x="7392328" y="3737001"/>
            <a:ext cx="1400834" cy="491582"/>
            <a:chOff x="2698" y="2439"/>
            <a:chExt cx="882" cy="310"/>
          </a:xfrm>
        </p:grpSpPr>
        <p:grpSp>
          <p:nvGrpSpPr>
            <p:cNvPr id="2657" name="Google Shape;2657;p39"/>
            <p:cNvGrpSpPr/>
            <p:nvPr/>
          </p:nvGrpSpPr>
          <p:grpSpPr>
            <a:xfrm>
              <a:off x="2698" y="2636"/>
              <a:ext cx="810" cy="112"/>
              <a:chOff x="2537" y="2636"/>
              <a:chExt cx="810" cy="112"/>
            </a:xfrm>
          </p:grpSpPr>
          <p:grpSp>
            <p:nvGrpSpPr>
              <p:cNvPr id="2658" name="Google Shape;2658;p39"/>
              <p:cNvGrpSpPr/>
              <p:nvPr/>
            </p:nvGrpSpPr>
            <p:grpSpPr>
              <a:xfrm rot="10793026">
                <a:off x="2697" y="2637"/>
                <a:ext cx="649" cy="111"/>
                <a:chOff x="4712" y="1742"/>
                <a:chExt cx="648" cy="110"/>
              </a:xfrm>
            </p:grpSpPr>
            <p:sp>
              <p:nvSpPr>
                <p:cNvPr id="2659" name="Google Shape;2659;p39"/>
                <p:cNvSpPr/>
                <p:nvPr/>
              </p:nvSpPr>
              <p:spPr>
                <a:xfrm>
                  <a:off x="4712" y="1742"/>
                  <a:ext cx="648"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60" name="Google Shape;2660;p39"/>
                <p:cNvSpPr/>
                <p:nvPr/>
              </p:nvSpPr>
              <p:spPr>
                <a:xfrm>
                  <a:off x="4714" y="1744"/>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661" name="Google Shape;2661;p39"/>
              <p:cNvCxnSpPr/>
              <p:nvPr/>
            </p:nvCxnSpPr>
            <p:spPr>
              <a:xfrm rot="9691848">
                <a:off x="2540" y="2666"/>
                <a:ext cx="138" cy="44"/>
              </a:xfrm>
              <a:prstGeom prst="straightConnector1">
                <a:avLst/>
              </a:prstGeom>
              <a:noFill/>
              <a:ln cap="flat" cmpd="sng" w="9525">
                <a:solidFill>
                  <a:srgbClr val="000000"/>
                </a:solidFill>
                <a:prstDash val="solid"/>
                <a:round/>
                <a:headEnd len="med" w="med" type="none"/>
                <a:tailEnd len="med" w="med" type="triangle"/>
              </a:ln>
            </p:spPr>
          </p:cxnSp>
        </p:grpSp>
        <p:sp>
          <p:nvSpPr>
            <p:cNvPr id="2662" name="Google Shape;2662;p39"/>
            <p:cNvSpPr txBox="1"/>
            <p:nvPr/>
          </p:nvSpPr>
          <p:spPr>
            <a:xfrm>
              <a:off x="2810" y="2439"/>
              <a:ext cx="7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reassembly</a:t>
              </a:r>
              <a:endParaRPr b="0" i="1" sz="1800" u="none" cap="none" strike="noStrike">
                <a:solidFill>
                  <a:srgbClr val="CC0000"/>
                </a:solidFill>
                <a:latin typeface="Arial"/>
                <a:ea typeface="Arial"/>
                <a:cs typeface="Arial"/>
                <a:sym typeface="Arial"/>
              </a:endParaRPr>
            </a:p>
          </p:txBody>
        </p:sp>
      </p:grpSp>
      <p:grpSp>
        <p:nvGrpSpPr>
          <p:cNvPr id="2663" name="Google Shape;2663;p39"/>
          <p:cNvGrpSpPr/>
          <p:nvPr/>
        </p:nvGrpSpPr>
        <p:grpSpPr>
          <a:xfrm>
            <a:off x="6959600" y="1573238"/>
            <a:ext cx="838200" cy="1720850"/>
            <a:chOff x="2345" y="1140"/>
            <a:chExt cx="528" cy="1084"/>
          </a:xfrm>
        </p:grpSpPr>
        <p:cxnSp>
          <p:nvCxnSpPr>
            <p:cNvPr id="2664" name="Google Shape;2664;p39"/>
            <p:cNvCxnSpPr/>
            <p:nvPr/>
          </p:nvCxnSpPr>
          <p:spPr>
            <a:xfrm flipH="1" rot="10800000">
              <a:off x="2811" y="1459"/>
              <a:ext cx="62" cy="5"/>
            </a:xfrm>
            <a:prstGeom prst="straightConnector1">
              <a:avLst/>
            </a:prstGeom>
            <a:noFill/>
            <a:ln cap="flat" cmpd="sng" w="19050">
              <a:solidFill>
                <a:srgbClr val="000000"/>
              </a:solidFill>
              <a:prstDash val="solid"/>
              <a:round/>
              <a:headEnd len="med" w="med" type="none"/>
              <a:tailEnd len="med" w="med" type="none"/>
            </a:ln>
          </p:spPr>
        </p:cxnSp>
        <p:cxnSp>
          <p:nvCxnSpPr>
            <p:cNvPr id="2665" name="Google Shape;2665;p39"/>
            <p:cNvCxnSpPr/>
            <p:nvPr/>
          </p:nvCxnSpPr>
          <p:spPr>
            <a:xfrm flipH="1" rot="10800000">
              <a:off x="2811" y="1967"/>
              <a:ext cx="62" cy="2"/>
            </a:xfrm>
            <a:prstGeom prst="straightConnector1">
              <a:avLst/>
            </a:prstGeom>
            <a:noFill/>
            <a:ln cap="flat" cmpd="sng" w="19050">
              <a:solidFill>
                <a:srgbClr val="000000"/>
              </a:solidFill>
              <a:prstDash val="solid"/>
              <a:round/>
              <a:headEnd len="med" w="med" type="none"/>
              <a:tailEnd len="med" w="med" type="none"/>
            </a:ln>
          </p:spPr>
        </p:cxnSp>
        <p:cxnSp>
          <p:nvCxnSpPr>
            <p:cNvPr id="2666" name="Google Shape;2666;p39"/>
            <p:cNvCxnSpPr/>
            <p:nvPr/>
          </p:nvCxnSpPr>
          <p:spPr>
            <a:xfrm>
              <a:off x="2868" y="1456"/>
              <a:ext cx="0" cy="510"/>
            </a:xfrm>
            <a:prstGeom prst="straightConnector1">
              <a:avLst/>
            </a:prstGeom>
            <a:noFill/>
            <a:ln cap="flat" cmpd="sng" w="12700">
              <a:solidFill>
                <a:srgbClr val="000000"/>
              </a:solidFill>
              <a:prstDash val="solid"/>
              <a:round/>
              <a:headEnd len="med" w="med" type="none"/>
              <a:tailEnd len="med" w="med" type="none"/>
            </a:ln>
          </p:spPr>
        </p:cxnSp>
        <p:grpSp>
          <p:nvGrpSpPr>
            <p:cNvPr id="2667" name="Google Shape;2667;p39"/>
            <p:cNvGrpSpPr/>
            <p:nvPr/>
          </p:nvGrpSpPr>
          <p:grpSpPr>
            <a:xfrm>
              <a:off x="2345" y="1140"/>
              <a:ext cx="503" cy="444"/>
              <a:chOff x="-44" y="1473"/>
              <a:chExt cx="981" cy="1105"/>
            </a:xfrm>
          </p:grpSpPr>
          <p:pic>
            <p:nvPicPr>
              <p:cNvPr descr="desktop_computer_stylized_medium" id="2668" name="Google Shape;2668;p3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669" name="Google Shape;2669;p3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670" name="Google Shape;2670;p39"/>
            <p:cNvSpPr txBox="1"/>
            <p:nvPr/>
          </p:nvSpPr>
          <p:spPr>
            <a:xfrm rot="5400000">
              <a:off x="2526" y="1509"/>
              <a:ext cx="340"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endParaRPr/>
            </a:p>
          </p:txBody>
        </p:sp>
        <p:grpSp>
          <p:nvGrpSpPr>
            <p:cNvPr id="2671" name="Google Shape;2671;p39"/>
            <p:cNvGrpSpPr/>
            <p:nvPr/>
          </p:nvGrpSpPr>
          <p:grpSpPr>
            <a:xfrm>
              <a:off x="2357" y="1780"/>
              <a:ext cx="503" cy="444"/>
              <a:chOff x="-44" y="1473"/>
              <a:chExt cx="981" cy="1105"/>
            </a:xfrm>
          </p:grpSpPr>
          <p:pic>
            <p:nvPicPr>
              <p:cNvPr descr="desktop_computer_stylized_medium" id="2672" name="Google Shape;2672;p3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673" name="Google Shape;2673;p3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2674" name="Google Shape;2674;p39"/>
          <p:cNvGrpSpPr/>
          <p:nvPr/>
        </p:nvGrpSpPr>
        <p:grpSpPr>
          <a:xfrm>
            <a:off x="7862887" y="4265638"/>
            <a:ext cx="738188" cy="1385888"/>
            <a:chOff x="2345" y="1140"/>
            <a:chExt cx="528" cy="1084"/>
          </a:xfrm>
        </p:grpSpPr>
        <p:cxnSp>
          <p:nvCxnSpPr>
            <p:cNvPr id="2675" name="Google Shape;2675;p39"/>
            <p:cNvCxnSpPr/>
            <p:nvPr/>
          </p:nvCxnSpPr>
          <p:spPr>
            <a:xfrm flipH="1" rot="10800000">
              <a:off x="2811" y="1459"/>
              <a:ext cx="62" cy="5"/>
            </a:xfrm>
            <a:prstGeom prst="straightConnector1">
              <a:avLst/>
            </a:prstGeom>
            <a:noFill/>
            <a:ln cap="flat" cmpd="sng" w="19050">
              <a:solidFill>
                <a:srgbClr val="000000"/>
              </a:solidFill>
              <a:prstDash val="solid"/>
              <a:round/>
              <a:headEnd len="med" w="med" type="none"/>
              <a:tailEnd len="med" w="med" type="none"/>
            </a:ln>
          </p:spPr>
        </p:cxnSp>
        <p:cxnSp>
          <p:nvCxnSpPr>
            <p:cNvPr id="2676" name="Google Shape;2676;p39"/>
            <p:cNvCxnSpPr/>
            <p:nvPr/>
          </p:nvCxnSpPr>
          <p:spPr>
            <a:xfrm flipH="1" rot="10800000">
              <a:off x="2811" y="1967"/>
              <a:ext cx="62" cy="2"/>
            </a:xfrm>
            <a:prstGeom prst="straightConnector1">
              <a:avLst/>
            </a:prstGeom>
            <a:noFill/>
            <a:ln cap="flat" cmpd="sng" w="19050">
              <a:solidFill>
                <a:srgbClr val="000000"/>
              </a:solidFill>
              <a:prstDash val="solid"/>
              <a:round/>
              <a:headEnd len="med" w="med" type="none"/>
              <a:tailEnd len="med" w="med" type="none"/>
            </a:ln>
          </p:spPr>
        </p:cxnSp>
        <p:cxnSp>
          <p:nvCxnSpPr>
            <p:cNvPr id="2677" name="Google Shape;2677;p39"/>
            <p:cNvCxnSpPr/>
            <p:nvPr/>
          </p:nvCxnSpPr>
          <p:spPr>
            <a:xfrm>
              <a:off x="2868" y="1455"/>
              <a:ext cx="0" cy="509"/>
            </a:xfrm>
            <a:prstGeom prst="straightConnector1">
              <a:avLst/>
            </a:prstGeom>
            <a:noFill/>
            <a:ln cap="flat" cmpd="sng" w="12700">
              <a:solidFill>
                <a:srgbClr val="000000"/>
              </a:solidFill>
              <a:prstDash val="solid"/>
              <a:round/>
              <a:headEnd len="med" w="med" type="none"/>
              <a:tailEnd len="med" w="med" type="none"/>
            </a:ln>
          </p:spPr>
        </p:cxnSp>
        <p:grpSp>
          <p:nvGrpSpPr>
            <p:cNvPr id="2678" name="Google Shape;2678;p39"/>
            <p:cNvGrpSpPr/>
            <p:nvPr/>
          </p:nvGrpSpPr>
          <p:grpSpPr>
            <a:xfrm>
              <a:off x="2345" y="1140"/>
              <a:ext cx="503" cy="444"/>
              <a:chOff x="-44" y="1473"/>
              <a:chExt cx="981" cy="1105"/>
            </a:xfrm>
          </p:grpSpPr>
          <p:pic>
            <p:nvPicPr>
              <p:cNvPr descr="desktop_computer_stylized_medium" id="2679" name="Google Shape;2679;p3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680" name="Google Shape;2680;p3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681" name="Google Shape;2681;p39"/>
            <p:cNvSpPr txBox="1"/>
            <p:nvPr/>
          </p:nvSpPr>
          <p:spPr>
            <a:xfrm rot="5400000">
              <a:off x="2463" y="1529"/>
              <a:ext cx="422" cy="3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endParaRPr/>
            </a:p>
          </p:txBody>
        </p:sp>
        <p:grpSp>
          <p:nvGrpSpPr>
            <p:cNvPr id="2682" name="Google Shape;2682;p39"/>
            <p:cNvGrpSpPr/>
            <p:nvPr/>
          </p:nvGrpSpPr>
          <p:grpSpPr>
            <a:xfrm>
              <a:off x="2357" y="1780"/>
              <a:ext cx="503" cy="444"/>
              <a:chOff x="-44" y="1473"/>
              <a:chExt cx="981" cy="1105"/>
            </a:xfrm>
          </p:grpSpPr>
          <p:pic>
            <p:nvPicPr>
              <p:cNvPr descr="desktop_computer_stylized_medium" id="2683" name="Google Shape;2683;p3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684" name="Google Shape;2684;p3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2685" name="Google Shape;2685;p39"/>
          <p:cNvGrpSpPr/>
          <p:nvPr/>
        </p:nvGrpSpPr>
        <p:grpSpPr>
          <a:xfrm>
            <a:off x="7884408" y="1659012"/>
            <a:ext cx="632991" cy="300938"/>
            <a:chOff x="7493876" y="2774731"/>
            <a:chExt cx="1481958" cy="894622"/>
          </a:xfrm>
        </p:grpSpPr>
        <p:sp>
          <p:nvSpPr>
            <p:cNvPr id="2686" name="Google Shape;2686;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87" name="Google Shape;2687;p39"/>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88" name="Google Shape;2688;p39"/>
            <p:cNvGrpSpPr/>
            <p:nvPr/>
          </p:nvGrpSpPr>
          <p:grpSpPr>
            <a:xfrm>
              <a:off x="7713663" y="2848339"/>
              <a:ext cx="1042107" cy="425543"/>
              <a:chOff x="7786941" y="2884917"/>
              <a:chExt cx="897649" cy="353919"/>
            </a:xfrm>
          </p:grpSpPr>
          <p:sp>
            <p:nvSpPr>
              <p:cNvPr id="2689" name="Google Shape;2689;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0" name="Google Shape;2690;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1" name="Google Shape;2691;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2" name="Google Shape;2692;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93" name="Google Shape;2693;p39"/>
          <p:cNvGrpSpPr/>
          <p:nvPr/>
        </p:nvGrpSpPr>
        <p:grpSpPr>
          <a:xfrm>
            <a:off x="7880158" y="2314150"/>
            <a:ext cx="632991" cy="300938"/>
            <a:chOff x="7493876" y="2774731"/>
            <a:chExt cx="1481958" cy="894622"/>
          </a:xfrm>
        </p:grpSpPr>
        <p:sp>
          <p:nvSpPr>
            <p:cNvPr id="2694" name="Google Shape;2694;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95" name="Google Shape;2695;p39"/>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96" name="Google Shape;2696;p39"/>
            <p:cNvGrpSpPr/>
            <p:nvPr/>
          </p:nvGrpSpPr>
          <p:grpSpPr>
            <a:xfrm>
              <a:off x="7713663" y="2848339"/>
              <a:ext cx="1042107" cy="425543"/>
              <a:chOff x="7786941" y="2884917"/>
              <a:chExt cx="897649" cy="353919"/>
            </a:xfrm>
          </p:grpSpPr>
          <p:sp>
            <p:nvSpPr>
              <p:cNvPr id="2697" name="Google Shape;2697;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8" name="Google Shape;2698;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9" name="Google Shape;2699;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0" name="Google Shape;2700;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01" name="Google Shape;2701;p39"/>
          <p:cNvGrpSpPr/>
          <p:nvPr/>
        </p:nvGrpSpPr>
        <p:grpSpPr>
          <a:xfrm>
            <a:off x="8793951" y="1869094"/>
            <a:ext cx="632991" cy="300938"/>
            <a:chOff x="7493876" y="2774731"/>
            <a:chExt cx="1481958" cy="894622"/>
          </a:xfrm>
        </p:grpSpPr>
        <p:sp>
          <p:nvSpPr>
            <p:cNvPr id="2702" name="Google Shape;2702;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03" name="Google Shape;2703;p39"/>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04" name="Google Shape;2704;p39"/>
            <p:cNvGrpSpPr/>
            <p:nvPr/>
          </p:nvGrpSpPr>
          <p:grpSpPr>
            <a:xfrm>
              <a:off x="7713663" y="2848339"/>
              <a:ext cx="1042107" cy="425543"/>
              <a:chOff x="7786941" y="2884917"/>
              <a:chExt cx="897649" cy="353919"/>
            </a:xfrm>
          </p:grpSpPr>
          <p:sp>
            <p:nvSpPr>
              <p:cNvPr id="2705" name="Google Shape;2705;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6" name="Google Shape;2706;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7" name="Google Shape;2707;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8" name="Google Shape;2708;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09" name="Google Shape;2709;p39"/>
          <p:cNvGrpSpPr/>
          <p:nvPr/>
        </p:nvGrpSpPr>
        <p:grpSpPr>
          <a:xfrm>
            <a:off x="9121216" y="2764672"/>
            <a:ext cx="632991" cy="300938"/>
            <a:chOff x="7493876" y="2774731"/>
            <a:chExt cx="1481958" cy="894622"/>
          </a:xfrm>
        </p:grpSpPr>
        <p:sp>
          <p:nvSpPr>
            <p:cNvPr id="2710" name="Google Shape;2710;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11" name="Google Shape;2711;p39"/>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12" name="Google Shape;2712;p39"/>
            <p:cNvGrpSpPr/>
            <p:nvPr/>
          </p:nvGrpSpPr>
          <p:grpSpPr>
            <a:xfrm>
              <a:off x="7713663" y="2848339"/>
              <a:ext cx="1042107" cy="425543"/>
              <a:chOff x="7786941" y="2884917"/>
              <a:chExt cx="897649" cy="353919"/>
            </a:xfrm>
          </p:grpSpPr>
          <p:sp>
            <p:nvSpPr>
              <p:cNvPr id="2713" name="Google Shape;2713;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14" name="Google Shape;2714;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15" name="Google Shape;2715;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16" name="Google Shape;2716;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17" name="Google Shape;2717;p39"/>
          <p:cNvGrpSpPr/>
          <p:nvPr/>
        </p:nvGrpSpPr>
        <p:grpSpPr>
          <a:xfrm>
            <a:off x="9419001" y="2959190"/>
            <a:ext cx="1145811" cy="811148"/>
            <a:chOff x="3974" y="1949"/>
            <a:chExt cx="722" cy="511"/>
          </a:xfrm>
        </p:grpSpPr>
        <p:grpSp>
          <p:nvGrpSpPr>
            <p:cNvPr id="2718" name="Google Shape;2718;p39"/>
            <p:cNvGrpSpPr/>
            <p:nvPr/>
          </p:nvGrpSpPr>
          <p:grpSpPr>
            <a:xfrm rot="3346875">
              <a:off x="3958" y="2041"/>
              <a:ext cx="281" cy="109"/>
              <a:chOff x="5078" y="1860"/>
              <a:chExt cx="281" cy="109"/>
            </a:xfrm>
          </p:grpSpPr>
          <p:sp>
            <p:nvSpPr>
              <p:cNvPr id="2719" name="Google Shape;2719;p39"/>
              <p:cNvSpPr/>
              <p:nvPr/>
            </p:nvSpPr>
            <p:spPr>
              <a:xfrm>
                <a:off x="5215" y="1861"/>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0" name="Google Shape;2720;p39"/>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21" name="Google Shape;2721;p39"/>
            <p:cNvGrpSpPr/>
            <p:nvPr/>
          </p:nvGrpSpPr>
          <p:grpSpPr>
            <a:xfrm rot="3215306">
              <a:off x="4157" y="2106"/>
              <a:ext cx="282" cy="108"/>
              <a:chOff x="5076" y="1860"/>
              <a:chExt cx="282" cy="108"/>
            </a:xfrm>
          </p:grpSpPr>
          <p:sp>
            <p:nvSpPr>
              <p:cNvPr id="2722" name="Google Shape;2722;p39"/>
              <p:cNvSpPr/>
              <p:nvPr/>
            </p:nvSpPr>
            <p:spPr>
              <a:xfrm>
                <a:off x="5214"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3" name="Google Shape;2723;p39"/>
              <p:cNvSpPr/>
              <p:nvPr/>
            </p:nvSpPr>
            <p:spPr>
              <a:xfrm>
                <a:off x="5076"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24" name="Google Shape;2724;p39"/>
            <p:cNvGrpSpPr/>
            <p:nvPr/>
          </p:nvGrpSpPr>
          <p:grpSpPr>
            <a:xfrm rot="3051000">
              <a:off x="4380" y="2183"/>
              <a:ext cx="280" cy="108"/>
              <a:chOff x="5078" y="1860"/>
              <a:chExt cx="280" cy="108"/>
            </a:xfrm>
          </p:grpSpPr>
          <p:sp>
            <p:nvSpPr>
              <p:cNvPr id="2725" name="Google Shape;2725;p39"/>
              <p:cNvSpPr/>
              <p:nvPr/>
            </p:nvSpPr>
            <p:spPr>
              <a:xfrm>
                <a:off x="5214"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6" name="Google Shape;2726;p39"/>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727" name="Google Shape;2727;p39"/>
            <p:cNvCxnSpPr/>
            <p:nvPr/>
          </p:nvCxnSpPr>
          <p:spPr>
            <a:xfrm>
              <a:off x="4184" y="2216"/>
              <a:ext cx="84" cy="112"/>
            </a:xfrm>
            <a:prstGeom prst="straightConnector1">
              <a:avLst/>
            </a:prstGeom>
            <a:noFill/>
            <a:ln cap="flat" cmpd="sng" w="9525">
              <a:solidFill>
                <a:srgbClr val="000000"/>
              </a:solidFill>
              <a:prstDash val="solid"/>
              <a:round/>
              <a:headEnd len="med" w="med" type="none"/>
              <a:tailEnd len="med" w="med" type="triangle"/>
            </a:ln>
          </p:spPr>
        </p:cxnSp>
        <p:cxnSp>
          <p:nvCxnSpPr>
            <p:cNvPr id="2728" name="Google Shape;2728;p39"/>
            <p:cNvCxnSpPr/>
            <p:nvPr/>
          </p:nvCxnSpPr>
          <p:spPr>
            <a:xfrm>
              <a:off x="4388" y="2278"/>
              <a:ext cx="82" cy="112"/>
            </a:xfrm>
            <a:prstGeom prst="straightConnector1">
              <a:avLst/>
            </a:prstGeom>
            <a:noFill/>
            <a:ln cap="flat" cmpd="sng" w="9525">
              <a:solidFill>
                <a:srgbClr val="000000"/>
              </a:solidFill>
              <a:prstDash val="solid"/>
              <a:round/>
              <a:headEnd len="med" w="med" type="none"/>
              <a:tailEnd len="med" w="med" type="triangle"/>
            </a:ln>
          </p:spPr>
        </p:cxnSp>
        <p:cxnSp>
          <p:nvCxnSpPr>
            <p:cNvPr id="2729" name="Google Shape;2729;p39"/>
            <p:cNvCxnSpPr/>
            <p:nvPr/>
          </p:nvCxnSpPr>
          <p:spPr>
            <a:xfrm>
              <a:off x="4620" y="2350"/>
              <a:ext cx="76" cy="110"/>
            </a:xfrm>
            <a:prstGeom prst="straightConnector1">
              <a:avLst/>
            </a:prstGeom>
            <a:noFill/>
            <a:ln cap="flat" cmpd="sng" w="9525">
              <a:solidFill>
                <a:srgbClr val="000000"/>
              </a:solidFill>
              <a:prstDash val="solid"/>
              <a:round/>
              <a:headEnd len="med" w="med" type="none"/>
              <a:tailEnd len="med" w="med" type="triangle"/>
            </a:ln>
          </p:spPr>
        </p:cxnSp>
      </p:grpSp>
      <p:grpSp>
        <p:nvGrpSpPr>
          <p:cNvPr id="2730" name="Google Shape;2730;p39"/>
          <p:cNvGrpSpPr/>
          <p:nvPr/>
        </p:nvGrpSpPr>
        <p:grpSpPr>
          <a:xfrm>
            <a:off x="9820071" y="3769540"/>
            <a:ext cx="632991" cy="300938"/>
            <a:chOff x="7493876" y="2774731"/>
            <a:chExt cx="1481958" cy="894622"/>
          </a:xfrm>
        </p:grpSpPr>
        <p:sp>
          <p:nvSpPr>
            <p:cNvPr id="2731" name="Google Shape;2731;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32" name="Google Shape;2732;p39"/>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33" name="Google Shape;2733;p39"/>
            <p:cNvGrpSpPr/>
            <p:nvPr/>
          </p:nvGrpSpPr>
          <p:grpSpPr>
            <a:xfrm>
              <a:off x="7713663" y="2848339"/>
              <a:ext cx="1042107" cy="425543"/>
              <a:chOff x="7786941" y="2884917"/>
              <a:chExt cx="897649" cy="353919"/>
            </a:xfrm>
          </p:grpSpPr>
          <p:sp>
            <p:nvSpPr>
              <p:cNvPr id="2734" name="Google Shape;2734;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5" name="Google Shape;2735;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6" name="Google Shape;2736;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7" name="Google Shape;2737;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38" name="Google Shape;2738;p39"/>
          <p:cNvGrpSpPr/>
          <p:nvPr/>
        </p:nvGrpSpPr>
        <p:grpSpPr>
          <a:xfrm>
            <a:off x="8883206" y="4890985"/>
            <a:ext cx="632991" cy="300938"/>
            <a:chOff x="7493876" y="2774731"/>
            <a:chExt cx="1481958" cy="894622"/>
          </a:xfrm>
        </p:grpSpPr>
        <p:sp>
          <p:nvSpPr>
            <p:cNvPr id="2739" name="Google Shape;2739;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40" name="Google Shape;2740;p39"/>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41" name="Google Shape;2741;p39"/>
            <p:cNvGrpSpPr/>
            <p:nvPr/>
          </p:nvGrpSpPr>
          <p:grpSpPr>
            <a:xfrm>
              <a:off x="7713663" y="2848339"/>
              <a:ext cx="1042107" cy="425543"/>
              <a:chOff x="7786941" y="2884917"/>
              <a:chExt cx="897649" cy="353919"/>
            </a:xfrm>
          </p:grpSpPr>
          <p:sp>
            <p:nvSpPr>
              <p:cNvPr id="2742" name="Google Shape;2742;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3" name="Google Shape;2743;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4" name="Google Shape;2744;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5" name="Google Shape;2745;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6"/>
                                        </p:tgtEl>
                                        <p:attrNameLst>
                                          <p:attrName>style.visibility</p:attrName>
                                        </p:attrNameLst>
                                      </p:cBhvr>
                                      <p:to>
                                        <p:strVal val="visible"/>
                                      </p:to>
                                    </p:set>
                                    <p:animEffect filter="fade" transition="in">
                                      <p:cBhvr>
                                        <p:cTn dur="1000"/>
                                        <p:tgtEl>
                                          <p:spTgt spid="2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7"/>
                                        </p:tgtEl>
                                        <p:attrNameLst>
                                          <p:attrName>style.visibility</p:attrName>
                                        </p:attrNameLst>
                                      </p:cBhvr>
                                      <p:to>
                                        <p:strVal val="visible"/>
                                      </p:to>
                                    </p:set>
                                    <p:animEffect filter="fade" transition="in">
                                      <p:cBhvr>
                                        <p:cTn dur="1000"/>
                                        <p:tgtEl>
                                          <p:spTgt spid="2717"/>
                                        </p:tgtEl>
                                      </p:cBhvr>
                                    </p:animEffect>
                                  </p:childTnLst>
                                </p:cTn>
                              </p:par>
                              <p:par>
                                <p:cTn fill="hold" nodeType="withEffect" presetClass="entr" presetID="10" presetSubtype="0">
                                  <p:stCondLst>
                                    <p:cond delay="0"/>
                                  </p:stCondLst>
                                  <p:childTnLst>
                                    <p:set>
                                      <p:cBhvr>
                                        <p:cTn dur="1" fill="hold">
                                          <p:stCondLst>
                                            <p:cond delay="0"/>
                                          </p:stCondLst>
                                        </p:cTn>
                                        <p:tgtEl>
                                          <p:spTgt spid="2641">
                                            <p:txEl>
                                              <p:pRg end="0" st="0"/>
                                            </p:txEl>
                                          </p:spTgt>
                                        </p:tgtEl>
                                        <p:attrNameLst>
                                          <p:attrName>style.visibility</p:attrName>
                                        </p:attrNameLst>
                                      </p:cBhvr>
                                      <p:to>
                                        <p:strVal val="visible"/>
                                      </p:to>
                                    </p:set>
                                    <p:animEffect filter="fade" transition="in">
                                      <p:cBhvr>
                                        <p:cTn dur="500"/>
                                        <p:tgtEl>
                                          <p:spTgt spid="264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641">
                                            <p:txEl>
                                              <p:pRg end="1" st="1"/>
                                            </p:txEl>
                                          </p:spTgt>
                                        </p:tgtEl>
                                        <p:attrNameLst>
                                          <p:attrName>style.visibility</p:attrName>
                                        </p:attrNameLst>
                                      </p:cBhvr>
                                      <p:to>
                                        <p:strVal val="visible"/>
                                      </p:to>
                                    </p:set>
                                    <p:animEffect filter="fade" transition="in">
                                      <p:cBhvr>
                                        <p:cTn dur="500"/>
                                        <p:tgtEl>
                                          <p:spTgt spid="264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641">
                                            <p:txEl>
                                              <p:pRg end="2" st="2"/>
                                            </p:txEl>
                                          </p:spTgt>
                                        </p:tgtEl>
                                        <p:attrNameLst>
                                          <p:attrName>style.visibility</p:attrName>
                                        </p:attrNameLst>
                                      </p:cBhvr>
                                      <p:to>
                                        <p:strVal val="visible"/>
                                      </p:to>
                                    </p:set>
                                    <p:animEffect filter="fade" transition="in">
                                      <p:cBhvr>
                                        <p:cTn dur="500"/>
                                        <p:tgtEl>
                                          <p:spTgt spid="26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3"/>
                                        </p:tgtEl>
                                        <p:attrNameLst>
                                          <p:attrName>style.visibility</p:attrName>
                                        </p:attrNameLst>
                                      </p:cBhvr>
                                      <p:to>
                                        <p:strVal val="visible"/>
                                      </p:to>
                                    </p:set>
                                    <p:animEffect filter="fade" transition="in">
                                      <p:cBhvr>
                                        <p:cTn dur="1000"/>
                                        <p:tgtEl>
                                          <p:spTgt spid="2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6"/>
                                        </p:tgtEl>
                                        <p:attrNameLst>
                                          <p:attrName>style.visibility</p:attrName>
                                        </p:attrNameLst>
                                      </p:cBhvr>
                                      <p:to>
                                        <p:strVal val="visible"/>
                                      </p:to>
                                    </p:set>
                                    <p:animEffect filter="fade" transition="in">
                                      <p:cBhvr>
                                        <p:cTn dur="500"/>
                                        <p:tgtEl>
                                          <p:spTgt spid="2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0" name="Shape 2750"/>
        <p:cNvGrpSpPr/>
        <p:nvPr/>
      </p:nvGrpSpPr>
      <p:grpSpPr>
        <a:xfrm>
          <a:off x="0" y="0"/>
          <a:ext cx="0" cy="0"/>
          <a:chOff x="0" y="0"/>
          <a:chExt cx="0" cy="0"/>
        </a:xfrm>
      </p:grpSpPr>
      <p:sp>
        <p:nvSpPr>
          <p:cNvPr id="2751" name="Google Shape;2751;p4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fragmentation/reassembly</a:t>
            </a:r>
            <a:endParaRPr/>
          </a:p>
        </p:txBody>
      </p:sp>
      <p:sp>
        <p:nvSpPr>
          <p:cNvPr id="2752" name="Google Shape;2752;p40"/>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grpSp>
        <p:nvGrpSpPr>
          <p:cNvPr id="2753" name="Google Shape;2753;p40"/>
          <p:cNvGrpSpPr/>
          <p:nvPr/>
        </p:nvGrpSpPr>
        <p:grpSpPr>
          <a:xfrm>
            <a:off x="4989773" y="1527175"/>
            <a:ext cx="4181475" cy="660400"/>
            <a:chOff x="3006" y="1205"/>
            <a:chExt cx="2634" cy="416"/>
          </a:xfrm>
        </p:grpSpPr>
        <p:sp>
          <p:nvSpPr>
            <p:cNvPr id="2754" name="Google Shape;2754;p40"/>
            <p:cNvSpPr/>
            <p:nvPr/>
          </p:nvSpPr>
          <p:spPr>
            <a:xfrm>
              <a:off x="3006" y="1242"/>
              <a:ext cx="2634" cy="342"/>
            </a:xfrm>
            <a:prstGeom prst="rect">
              <a:avLst/>
            </a:prstGeom>
            <a:solidFill>
              <a:srgbClr val="FFFFFF"/>
            </a:solidFill>
            <a:ln cap="flat" cmpd="sng" w="19050">
              <a:solidFill>
                <a:srgbClr val="000000"/>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5" name="Google Shape;2755;p40"/>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2756" name="Google Shape;2756;p40"/>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2757" name="Google Shape;2757;p40"/>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2758" name="Google Shape;2758;p40"/>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=4000</a:t>
              </a:r>
              <a:endParaRPr/>
            </a:p>
          </p:txBody>
        </p:sp>
        <p:cxnSp>
          <p:nvCxnSpPr>
            <p:cNvPr id="2759" name="Google Shape;2759;p40"/>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60" name="Google Shape;2760;p40"/>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61" name="Google Shape;2761;p40"/>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62" name="Google Shape;2762;p40"/>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63" name="Google Shape;2763;p40"/>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2764" name="Google Shape;2764;p40"/>
            <p:cNvSpPr/>
            <p:nvPr/>
          </p:nvSpPr>
          <p:spPr>
            <a:xfrm>
              <a:off x="5232" y="1237"/>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65" name="Google Shape;2765;p40"/>
          <p:cNvGrpSpPr/>
          <p:nvPr/>
        </p:nvGrpSpPr>
        <p:grpSpPr>
          <a:xfrm>
            <a:off x="5078673" y="2290763"/>
            <a:ext cx="4645025" cy="3330574"/>
            <a:chOff x="2321" y="1443"/>
            <a:chExt cx="2926" cy="2098"/>
          </a:xfrm>
        </p:grpSpPr>
        <p:grpSp>
          <p:nvGrpSpPr>
            <p:cNvPr id="2766" name="Google Shape;2766;p40"/>
            <p:cNvGrpSpPr/>
            <p:nvPr/>
          </p:nvGrpSpPr>
          <p:grpSpPr>
            <a:xfrm>
              <a:off x="2613" y="2066"/>
              <a:ext cx="2634" cy="416"/>
              <a:chOff x="3006" y="1205"/>
              <a:chExt cx="2634" cy="416"/>
            </a:xfrm>
          </p:grpSpPr>
          <p:sp>
            <p:nvSpPr>
              <p:cNvPr id="2767" name="Google Shape;2767;p40"/>
              <p:cNvSpPr/>
              <p:nvPr/>
            </p:nvSpPr>
            <p:spPr>
              <a:xfrm>
                <a:off x="3006" y="1242"/>
                <a:ext cx="2634" cy="342"/>
              </a:xfrm>
              <a:prstGeom prst="rect">
                <a:avLst/>
              </a:prstGeom>
              <a:solidFill>
                <a:srgbClr val="FFFFFF"/>
              </a:solidFill>
              <a:ln cap="flat" cmpd="sng" w="19050">
                <a:solidFill>
                  <a:srgbClr val="000000"/>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8" name="Google Shape;2768;p40"/>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2769" name="Google Shape;2769;p40"/>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2770" name="Google Shape;2770;p40"/>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2771" name="Google Shape;2771;p40"/>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=1500</a:t>
                </a:r>
                <a:endParaRPr/>
              </a:p>
            </p:txBody>
          </p:sp>
          <p:cxnSp>
            <p:nvCxnSpPr>
              <p:cNvPr id="2772" name="Google Shape;2772;p40"/>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73" name="Google Shape;2773;p40"/>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74" name="Google Shape;2774;p40"/>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75" name="Google Shape;2775;p40"/>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76" name="Google Shape;2776;p40"/>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2777" name="Google Shape;2777;p40"/>
              <p:cNvSpPr/>
              <p:nvPr/>
            </p:nvSpPr>
            <p:spPr>
              <a:xfrm>
                <a:off x="5232" y="1235"/>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78" name="Google Shape;2778;p40"/>
            <p:cNvGrpSpPr/>
            <p:nvPr/>
          </p:nvGrpSpPr>
          <p:grpSpPr>
            <a:xfrm>
              <a:off x="2613" y="2570"/>
              <a:ext cx="2634" cy="416"/>
              <a:chOff x="3006" y="1205"/>
              <a:chExt cx="2634" cy="416"/>
            </a:xfrm>
          </p:grpSpPr>
          <p:sp>
            <p:nvSpPr>
              <p:cNvPr id="2779" name="Google Shape;2779;p40"/>
              <p:cNvSpPr/>
              <p:nvPr/>
            </p:nvSpPr>
            <p:spPr>
              <a:xfrm>
                <a:off x="3006" y="1242"/>
                <a:ext cx="2634" cy="342"/>
              </a:xfrm>
              <a:prstGeom prst="rect">
                <a:avLst/>
              </a:prstGeom>
              <a:solidFill>
                <a:srgbClr val="FFFFFF"/>
              </a:solidFill>
              <a:ln cap="flat" cmpd="sng" w="19050">
                <a:solidFill>
                  <a:srgbClr val="000000"/>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80" name="Google Shape;2780;p40"/>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2781" name="Google Shape;2781;p40"/>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=185</a:t>
                </a:r>
                <a:endParaRPr/>
              </a:p>
            </p:txBody>
          </p:sp>
          <p:sp>
            <p:nvSpPr>
              <p:cNvPr id="2782" name="Google Shape;2782;p40"/>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2783" name="Google Shape;2783;p40"/>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=1500</a:t>
                </a:r>
                <a:endParaRPr/>
              </a:p>
            </p:txBody>
          </p:sp>
          <p:cxnSp>
            <p:nvCxnSpPr>
              <p:cNvPr id="2784" name="Google Shape;2784;p40"/>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85" name="Google Shape;2785;p40"/>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86" name="Google Shape;2786;p40"/>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87" name="Google Shape;2787;p40"/>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88" name="Google Shape;2788;p40"/>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2789" name="Google Shape;2789;p40"/>
              <p:cNvSpPr/>
              <p:nvPr/>
            </p:nvSpPr>
            <p:spPr>
              <a:xfrm>
                <a:off x="5232" y="1235"/>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90" name="Google Shape;2790;p40"/>
            <p:cNvGrpSpPr/>
            <p:nvPr/>
          </p:nvGrpSpPr>
          <p:grpSpPr>
            <a:xfrm>
              <a:off x="2607" y="3092"/>
              <a:ext cx="2634" cy="449"/>
              <a:chOff x="3006" y="1205"/>
              <a:chExt cx="2634" cy="449"/>
            </a:xfrm>
          </p:grpSpPr>
          <p:sp>
            <p:nvSpPr>
              <p:cNvPr id="2791" name="Google Shape;2791;p40"/>
              <p:cNvSpPr/>
              <p:nvPr/>
            </p:nvSpPr>
            <p:spPr>
              <a:xfrm>
                <a:off x="3006" y="1242"/>
                <a:ext cx="2634" cy="342"/>
              </a:xfrm>
              <a:prstGeom prst="rect">
                <a:avLst/>
              </a:prstGeom>
              <a:solidFill>
                <a:srgbClr val="FFFFFF"/>
              </a:solidFill>
              <a:ln cap="flat" cmpd="sng" w="19050">
                <a:solidFill>
                  <a:srgbClr val="000000"/>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92" name="Google Shape;2792;p40"/>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2793" name="Google Shape;2793;p40"/>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=370</a:t>
                </a:r>
                <a:endParaRPr/>
              </a:p>
            </p:txBody>
          </p:sp>
          <p:sp>
            <p:nvSpPr>
              <p:cNvPr id="2794" name="Google Shape;2794;p40"/>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2795" name="Google Shape;2795;p40"/>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=1040</a:t>
                </a:r>
                <a:endParaRPr/>
              </a:p>
            </p:txBody>
          </p:sp>
          <p:cxnSp>
            <p:nvCxnSpPr>
              <p:cNvPr id="2796" name="Google Shape;2796;p40"/>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97" name="Google Shape;2797;p40"/>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98" name="Google Shape;2798;p40"/>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2799" name="Google Shape;2799;p40"/>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2800" name="Google Shape;2800;p40"/>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2801" name="Google Shape;2801;p40"/>
              <p:cNvSpPr/>
              <p:nvPr/>
            </p:nvSpPr>
            <p:spPr>
              <a:xfrm>
                <a:off x="5224" y="1235"/>
                <a:ext cx="146" cy="41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802" name="Google Shape;2802;p40"/>
            <p:cNvSpPr/>
            <p:nvPr/>
          </p:nvSpPr>
          <p:spPr>
            <a:xfrm>
              <a:off x="2337" y="1443"/>
              <a:ext cx="210" cy="1362"/>
            </a:xfrm>
            <a:custGeom>
              <a:rect b="b" l="l" r="r" t="t"/>
              <a:pathLst>
                <a:path extrusionOk="0" h="1362" w="210">
                  <a:moveTo>
                    <a:pt x="0" y="0"/>
                  </a:moveTo>
                  <a:lnTo>
                    <a:pt x="0" y="1362"/>
                  </a:lnTo>
                  <a:lnTo>
                    <a:pt x="210" y="858"/>
                  </a:lnTo>
                </a:path>
              </a:pathLst>
            </a:custGeom>
            <a:noFill/>
            <a:ln cap="flat" cmpd="sng" w="19050">
              <a:solidFill>
                <a:srgbClr val="CC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803" name="Google Shape;2803;p40"/>
            <p:cNvCxnSpPr/>
            <p:nvPr/>
          </p:nvCxnSpPr>
          <p:spPr>
            <a:xfrm>
              <a:off x="2337" y="2787"/>
              <a:ext cx="228" cy="0"/>
            </a:xfrm>
            <a:prstGeom prst="straightConnector1">
              <a:avLst/>
            </a:prstGeom>
            <a:noFill/>
            <a:ln cap="flat" cmpd="sng" w="19050">
              <a:solidFill>
                <a:srgbClr val="CC0000"/>
              </a:solidFill>
              <a:prstDash val="solid"/>
              <a:round/>
              <a:headEnd len="med" w="med" type="none"/>
              <a:tailEnd len="med" w="med" type="triangle"/>
            </a:ln>
          </p:spPr>
        </p:cxnSp>
        <p:cxnSp>
          <p:nvCxnSpPr>
            <p:cNvPr id="2804" name="Google Shape;2804;p40"/>
            <p:cNvCxnSpPr/>
            <p:nvPr/>
          </p:nvCxnSpPr>
          <p:spPr>
            <a:xfrm>
              <a:off x="2343" y="2793"/>
              <a:ext cx="210" cy="498"/>
            </a:xfrm>
            <a:prstGeom prst="straightConnector1">
              <a:avLst/>
            </a:prstGeom>
            <a:noFill/>
            <a:ln cap="flat" cmpd="sng" w="19050">
              <a:solidFill>
                <a:srgbClr val="CC0000"/>
              </a:solidFill>
              <a:prstDash val="solid"/>
              <a:round/>
              <a:headEnd len="med" w="med" type="none"/>
              <a:tailEnd len="med" w="med" type="triangle"/>
            </a:ln>
          </p:spPr>
        </p:cxnSp>
        <p:sp>
          <p:nvSpPr>
            <p:cNvPr id="2805" name="Google Shape;2805;p40"/>
            <p:cNvSpPr txBox="1"/>
            <p:nvPr/>
          </p:nvSpPr>
          <p:spPr>
            <a:xfrm>
              <a:off x="2321" y="1490"/>
              <a:ext cx="1988"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one large datagram becomes</a:t>
              </a:r>
              <a:endParaRPr/>
            </a:p>
            <a:p>
              <a:pPr indent="0" lvl="0" marL="0" marR="0" rtl="0" algn="l">
                <a:lnSpc>
                  <a:spcPct val="100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several smaller datagrams</a:t>
              </a:r>
              <a:endParaRPr/>
            </a:p>
          </p:txBody>
        </p:sp>
      </p:grpSp>
      <p:sp>
        <p:nvSpPr>
          <p:cNvPr id="2806" name="Google Shape;2806;p40"/>
          <p:cNvSpPr/>
          <p:nvPr/>
        </p:nvSpPr>
        <p:spPr>
          <a:xfrm>
            <a:off x="734518" y="1472029"/>
            <a:ext cx="3806877" cy="16779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0000A3"/>
                </a:solidFill>
                <a:latin typeface="Calibri"/>
                <a:ea typeface="Calibri"/>
                <a:cs typeface="Calibri"/>
                <a:sym typeface="Calibri"/>
              </a:rPr>
              <a:t>example:</a:t>
            </a:r>
            <a:endParaRPr/>
          </a:p>
          <a:p>
            <a:pPr indent="-284163" lvl="0" marL="40322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4000 byte datagram</a:t>
            </a:r>
            <a:endParaRPr/>
          </a:p>
          <a:p>
            <a:pPr indent="-284163" lvl="0" marL="40322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MTU = 1500 bytes</a:t>
            </a:r>
            <a:endParaRPr/>
          </a:p>
          <a:p>
            <a:pPr indent="-260350" lvl="0" marL="342900"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Gill Sans"/>
              <a:ea typeface="Gill Sans"/>
              <a:cs typeface="Gill Sans"/>
              <a:sym typeface="Gill Sans"/>
            </a:endParaRPr>
          </a:p>
        </p:txBody>
      </p:sp>
      <p:sp>
        <p:nvSpPr>
          <p:cNvPr id="2807" name="Google Shape;2807;p40"/>
          <p:cNvSpPr txBox="1"/>
          <p:nvPr/>
        </p:nvSpPr>
        <p:spPr>
          <a:xfrm>
            <a:off x="2437073" y="3238500"/>
            <a:ext cx="16065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1480 bytes in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data field</a:t>
            </a:r>
            <a:endParaRPr/>
          </a:p>
        </p:txBody>
      </p:sp>
      <p:sp>
        <p:nvSpPr>
          <p:cNvPr id="2808" name="Google Shape;2808;p40"/>
          <p:cNvSpPr txBox="1"/>
          <p:nvPr/>
        </p:nvSpPr>
        <p:spPr>
          <a:xfrm>
            <a:off x="2899035" y="4071938"/>
            <a:ext cx="946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 =</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1480/8 </a:t>
            </a:r>
            <a:endParaRPr/>
          </a:p>
        </p:txBody>
      </p:sp>
      <p:cxnSp>
        <p:nvCxnSpPr>
          <p:cNvPr id="2809" name="Google Shape;2809;p40"/>
          <p:cNvCxnSpPr/>
          <p:nvPr/>
        </p:nvCxnSpPr>
        <p:spPr>
          <a:xfrm>
            <a:off x="3380048" y="3590925"/>
            <a:ext cx="2619375" cy="0"/>
          </a:xfrm>
          <a:prstGeom prst="straightConnector1">
            <a:avLst/>
          </a:prstGeom>
          <a:noFill/>
          <a:ln cap="flat" cmpd="sng" w="9525">
            <a:solidFill>
              <a:srgbClr val="000000"/>
            </a:solidFill>
            <a:prstDash val="solid"/>
            <a:round/>
            <a:headEnd len="med" w="med" type="none"/>
            <a:tailEnd len="med" w="med" type="none"/>
          </a:ln>
        </p:spPr>
      </p:cxnSp>
      <p:cxnSp>
        <p:nvCxnSpPr>
          <p:cNvPr id="2810" name="Google Shape;2810;p40"/>
          <p:cNvCxnSpPr/>
          <p:nvPr/>
        </p:nvCxnSpPr>
        <p:spPr>
          <a:xfrm rot="10800000">
            <a:off x="3713423" y="4394200"/>
            <a:ext cx="4672012" cy="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5"/>
                                        </p:tgtEl>
                                        <p:attrNameLst>
                                          <p:attrName>style.visibility</p:attrName>
                                        </p:attrNameLst>
                                      </p:cBhvr>
                                      <p:to>
                                        <p:strVal val="visible"/>
                                      </p:to>
                                    </p:set>
                                    <p:animEffect filter="fade" transition="in">
                                      <p:cBhvr>
                                        <p:cTn dur="1000"/>
                                        <p:tgtEl>
                                          <p:spTgt spid="27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7"/>
                                        </p:tgtEl>
                                        <p:attrNameLst>
                                          <p:attrName>style.visibility</p:attrName>
                                        </p:attrNameLst>
                                      </p:cBhvr>
                                      <p:to>
                                        <p:strVal val="visible"/>
                                      </p:to>
                                    </p:set>
                                    <p:animEffect filter="fade" transition="in">
                                      <p:cBhvr>
                                        <p:cTn dur="500"/>
                                        <p:tgtEl>
                                          <p:spTgt spid="2807"/>
                                        </p:tgtEl>
                                      </p:cBhvr>
                                    </p:animEffect>
                                  </p:childTnLst>
                                </p:cTn>
                              </p:par>
                              <p:par>
                                <p:cTn fill="hold" nodeType="withEffect" presetClass="entr" presetID="10" presetSubtype="0">
                                  <p:stCondLst>
                                    <p:cond delay="0"/>
                                  </p:stCondLst>
                                  <p:childTnLst>
                                    <p:set>
                                      <p:cBhvr>
                                        <p:cTn dur="1" fill="hold">
                                          <p:stCondLst>
                                            <p:cond delay="0"/>
                                          </p:stCondLst>
                                        </p:cTn>
                                        <p:tgtEl>
                                          <p:spTgt spid="2809"/>
                                        </p:tgtEl>
                                        <p:attrNameLst>
                                          <p:attrName>style.visibility</p:attrName>
                                        </p:attrNameLst>
                                      </p:cBhvr>
                                      <p:to>
                                        <p:strVal val="visible"/>
                                      </p:to>
                                    </p:set>
                                    <p:animEffect filter="fade" transition="in">
                                      <p:cBhvr>
                                        <p:cTn dur="500"/>
                                        <p:tgtEl>
                                          <p:spTgt spid="28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8"/>
                                        </p:tgtEl>
                                        <p:attrNameLst>
                                          <p:attrName>style.visibility</p:attrName>
                                        </p:attrNameLst>
                                      </p:cBhvr>
                                      <p:to>
                                        <p:strVal val="visible"/>
                                      </p:to>
                                    </p:set>
                                    <p:animEffect filter="fade" transition="in">
                                      <p:cBhvr>
                                        <p:cTn dur="500"/>
                                        <p:tgtEl>
                                          <p:spTgt spid="2808"/>
                                        </p:tgtEl>
                                      </p:cBhvr>
                                    </p:animEffect>
                                  </p:childTnLst>
                                </p:cTn>
                              </p:par>
                              <p:par>
                                <p:cTn fill="hold" nodeType="withEffect" presetClass="entr" presetID="10" presetSubtype="0">
                                  <p:stCondLst>
                                    <p:cond delay="0"/>
                                  </p:stCondLst>
                                  <p:childTnLst>
                                    <p:set>
                                      <p:cBhvr>
                                        <p:cTn dur="1" fill="hold">
                                          <p:stCondLst>
                                            <p:cond delay="0"/>
                                          </p:stCondLst>
                                        </p:cTn>
                                        <p:tgtEl>
                                          <p:spTgt spid="2810"/>
                                        </p:tgtEl>
                                        <p:attrNameLst>
                                          <p:attrName>style.visibility</p:attrName>
                                        </p:attrNameLst>
                                      </p:cBhvr>
                                      <p:to>
                                        <p:strVal val="visible"/>
                                      </p:to>
                                    </p:set>
                                    <p:animEffect filter="fade" transition="in">
                                      <p:cBhvr>
                                        <p:cTn dur="500"/>
                                        <p:tgtEl>
                                          <p:spTgt spid="28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5" name="Shape 2815"/>
        <p:cNvGrpSpPr/>
        <p:nvPr/>
      </p:nvGrpSpPr>
      <p:grpSpPr>
        <a:xfrm>
          <a:off x="0" y="0"/>
          <a:ext cx="0" cy="0"/>
          <a:chOff x="0" y="0"/>
          <a:chExt cx="0" cy="0"/>
        </a:xfrm>
      </p:grpSpPr>
      <p:sp>
        <p:nvSpPr>
          <p:cNvPr id="2816" name="Google Shape;2816;p4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2133"/>
              <a:t>IPv6 Packets</a:t>
            </a:r>
            <a:br>
              <a:rPr lang="en-US"/>
            </a:br>
            <a:r>
              <a:rPr lang="en-US"/>
              <a:t>Limitations of IPv4</a:t>
            </a:r>
            <a:endParaRPr/>
          </a:p>
        </p:txBody>
      </p:sp>
      <p:sp>
        <p:nvSpPr>
          <p:cNvPr id="2817" name="Google Shape;2817;p41"/>
          <p:cNvSpPr txBox="1"/>
          <p:nvPr>
            <p:ph idx="1" type="body"/>
          </p:nvPr>
        </p:nvSpPr>
        <p:spPr>
          <a:xfrm>
            <a:off x="314030" y="1688204"/>
            <a:ext cx="11563939" cy="31787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sz="2400"/>
              <a:t>IPv4 has </a:t>
            </a:r>
            <a:r>
              <a:rPr lang="en-US" sz="2400">
                <a:solidFill>
                  <a:srgbClr val="FF0000"/>
                </a:solidFill>
              </a:rPr>
              <a:t>three major limitations</a:t>
            </a:r>
            <a:r>
              <a:rPr lang="en-US" sz="2400"/>
              <a:t>:</a:t>
            </a:r>
            <a:endParaRPr/>
          </a:p>
          <a:p>
            <a:pPr indent="-231775" lvl="1" marL="695325" rtl="0" algn="l">
              <a:lnSpc>
                <a:spcPct val="90000"/>
              </a:lnSpc>
              <a:spcBef>
                <a:spcPts val="1200"/>
              </a:spcBef>
              <a:spcAft>
                <a:spcPts val="0"/>
              </a:spcAft>
              <a:buSzPts val="2400"/>
              <a:buChar char="•"/>
            </a:pPr>
            <a:r>
              <a:rPr lang="en-US">
                <a:solidFill>
                  <a:srgbClr val="FF0000"/>
                </a:solidFill>
              </a:rPr>
              <a:t>IPv4 address depletion </a:t>
            </a:r>
            <a:r>
              <a:rPr lang="en-US"/>
              <a:t>– We have basically run out of IPv4 addressing.</a:t>
            </a:r>
            <a:endParaRPr/>
          </a:p>
          <a:p>
            <a:pPr indent="-231775" lvl="1" marL="695325" rtl="0" algn="l">
              <a:lnSpc>
                <a:spcPct val="90000"/>
              </a:lnSpc>
              <a:spcBef>
                <a:spcPts val="1200"/>
              </a:spcBef>
              <a:spcAft>
                <a:spcPts val="0"/>
              </a:spcAft>
              <a:buSzPts val="2400"/>
              <a:buChar char="•"/>
            </a:pPr>
            <a:r>
              <a:rPr lang="en-US">
                <a:solidFill>
                  <a:srgbClr val="FF0000"/>
                </a:solidFill>
              </a:rPr>
              <a:t>Lack of end-to-end connectivity </a:t>
            </a:r>
            <a:r>
              <a:rPr lang="en-US"/>
              <a:t>– To make IPv4 survive this long, private addressing and NAT were created. This ended direct communications with public addressing.</a:t>
            </a:r>
            <a:endParaRPr/>
          </a:p>
          <a:p>
            <a:pPr indent="-231775" lvl="1" marL="695325" rtl="0" algn="l">
              <a:lnSpc>
                <a:spcPct val="90000"/>
              </a:lnSpc>
              <a:spcBef>
                <a:spcPts val="1200"/>
              </a:spcBef>
              <a:spcAft>
                <a:spcPts val="0"/>
              </a:spcAft>
              <a:buSzPts val="2400"/>
              <a:buChar char="•"/>
            </a:pPr>
            <a:r>
              <a:rPr lang="en-US">
                <a:solidFill>
                  <a:srgbClr val="FF0000"/>
                </a:solidFill>
              </a:rPr>
              <a:t>Increased network complexity </a:t>
            </a:r>
            <a:r>
              <a:rPr lang="en-US"/>
              <a:t>– NAT was meant as temporary solution and creates issues on the network as a side effect of manipulating the network headers addressing. NAT causes latency and troubleshooting issues.</a:t>
            </a:r>
            <a:endParaRPr/>
          </a:p>
          <a:p>
            <a:pPr indent="-79375" lvl="1" marL="695325" rtl="0" algn="l">
              <a:lnSpc>
                <a:spcPct val="90000"/>
              </a:lnSpc>
              <a:spcBef>
                <a:spcPts val="1200"/>
              </a:spcBef>
              <a:spcAft>
                <a:spcPts val="0"/>
              </a:spcAft>
              <a:buSzPts val="2400"/>
              <a:buNone/>
            </a:pPr>
            <a:r>
              <a:t/>
            </a:r>
            <a:endParaRPr/>
          </a:p>
          <a:p>
            <a:pPr indent="-79375" lvl="1" marL="695325" rtl="0" algn="l">
              <a:lnSpc>
                <a:spcPct val="90000"/>
              </a:lnSpc>
              <a:spcBef>
                <a:spcPts val="1200"/>
              </a:spcBef>
              <a:spcAft>
                <a:spcPts val="0"/>
              </a:spcAft>
              <a:buSzPts val="2400"/>
              <a:buNone/>
            </a:pPr>
            <a:r>
              <a:t/>
            </a:r>
            <a:endParaRPr/>
          </a:p>
          <a:p>
            <a:pPr indent="-79375" lvl="1" marL="695325" rtl="0" algn="l">
              <a:lnSpc>
                <a:spcPct val="90000"/>
              </a:lnSpc>
              <a:spcBef>
                <a:spcPts val="1200"/>
              </a:spcBef>
              <a:spcAft>
                <a:spcPts val="0"/>
              </a:spcAft>
              <a:buSzPts val="2400"/>
              <a:buNone/>
            </a:pPr>
            <a:r>
              <a:t/>
            </a:r>
            <a:endParaRPr/>
          </a:p>
          <a:p>
            <a:pPr indent="-79375" lvl="1" marL="695325" rtl="0" algn="l">
              <a:lnSpc>
                <a:spcPct val="90000"/>
              </a:lnSpc>
              <a:spcBef>
                <a:spcPts val="1200"/>
              </a:spcBef>
              <a:spcAft>
                <a:spcPts val="0"/>
              </a:spcAft>
              <a:buSzPts val="2400"/>
              <a:buNone/>
            </a:pPr>
            <a:r>
              <a:t/>
            </a:r>
            <a:endParaRPr/>
          </a:p>
          <a:p>
            <a:pPr indent="-79375" lvl="1" marL="695325" rtl="0" algn="l">
              <a:lnSpc>
                <a:spcPct val="90000"/>
              </a:lnSpc>
              <a:spcBef>
                <a:spcPts val="1200"/>
              </a:spcBef>
              <a:spcAft>
                <a:spcPts val="0"/>
              </a:spcAft>
              <a:buSzPts val="2400"/>
              <a:buNone/>
            </a:pPr>
            <a:r>
              <a:t/>
            </a:r>
            <a:endParaRPr/>
          </a:p>
          <a:p>
            <a:pPr indent="-79375" lvl="1" marL="695325" rtl="0" algn="l">
              <a:lnSpc>
                <a:spcPct val="90000"/>
              </a:lnSpc>
              <a:spcBef>
                <a:spcPts val="1200"/>
              </a:spcBef>
              <a:spcAft>
                <a:spcPts val="0"/>
              </a:spcAft>
              <a:buSzPts val="2400"/>
              <a:buNone/>
            </a:pPr>
            <a:r>
              <a:t/>
            </a:r>
            <a:endParaRPr/>
          </a:p>
        </p:txBody>
      </p:sp>
    </p:spTree>
  </p:cSld>
  <p:clrMapOvr>
    <a:masterClrMapping/>
  </p:clrMapOvr>
  <p:transition spd="slow">
    <p:wipe dir="l"/>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2" name="Shape 2822"/>
        <p:cNvGrpSpPr/>
        <p:nvPr/>
      </p:nvGrpSpPr>
      <p:grpSpPr>
        <a:xfrm>
          <a:off x="0" y="0"/>
          <a:ext cx="0" cy="0"/>
          <a:chOff x="0" y="0"/>
          <a:chExt cx="0" cy="0"/>
        </a:xfrm>
      </p:grpSpPr>
      <p:sp>
        <p:nvSpPr>
          <p:cNvPr id="2823" name="Google Shape;2823;p42"/>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341313"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C0000"/>
                </a:solidFill>
                <a:latin typeface="Calibri"/>
                <a:ea typeface="Calibri"/>
                <a:cs typeface="Calibri"/>
                <a:sym typeface="Calibri"/>
              </a:rPr>
              <a:t>initial motivation:</a:t>
            </a:r>
            <a:r>
              <a:rPr b="0" i="0" lang="en-US" sz="3200" u="none" cap="none" strike="noStrike">
                <a:solidFill>
                  <a:srgbClr val="000000"/>
                </a:solidFill>
                <a:latin typeface="Calibri"/>
                <a:ea typeface="Calibri"/>
                <a:cs typeface="Calibri"/>
                <a:sym typeface="Calibri"/>
              </a:rPr>
              <a:t> 32-bit IPv4 address space would be completely allocated  </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additional motivation:</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speed processing/forwarding: 40-byte fixed length header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enable different network-layer treatment of “flows”</a:t>
            </a:r>
            <a:endParaRPr/>
          </a:p>
          <a:p>
            <a:pPr indent="-53975" lvl="1" marL="695325"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2824" name="Google Shape;2824;p42"/>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motivation</a:t>
            </a:r>
            <a:endParaRPr/>
          </a:p>
        </p:txBody>
      </p:sp>
      <p:sp>
        <p:nvSpPr>
          <p:cNvPr id="2825" name="Google Shape;2825;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3">
                                            <p:txEl>
                                              <p:pRg end="0" st="0"/>
                                            </p:txEl>
                                          </p:spTgt>
                                        </p:tgtEl>
                                        <p:attrNameLst>
                                          <p:attrName>style.visibility</p:attrName>
                                        </p:attrNameLst>
                                      </p:cBhvr>
                                      <p:to>
                                        <p:strVal val="visible"/>
                                      </p:to>
                                    </p:set>
                                    <p:animEffect filter="fade" transition="in">
                                      <p:cBhvr>
                                        <p:cTn dur="500"/>
                                        <p:tgtEl>
                                          <p:spTgt spid="28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3">
                                            <p:txEl>
                                              <p:pRg end="1" st="1"/>
                                            </p:txEl>
                                          </p:spTgt>
                                        </p:tgtEl>
                                        <p:attrNameLst>
                                          <p:attrName>style.visibility</p:attrName>
                                        </p:attrNameLst>
                                      </p:cBhvr>
                                      <p:to>
                                        <p:strVal val="visible"/>
                                      </p:to>
                                    </p:set>
                                    <p:animEffect filter="fade" transition="in">
                                      <p:cBhvr>
                                        <p:cTn dur="500"/>
                                        <p:tgtEl>
                                          <p:spTgt spid="28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3">
                                            <p:txEl>
                                              <p:pRg end="2" st="2"/>
                                            </p:txEl>
                                          </p:spTgt>
                                        </p:tgtEl>
                                        <p:attrNameLst>
                                          <p:attrName>style.visibility</p:attrName>
                                        </p:attrNameLst>
                                      </p:cBhvr>
                                      <p:to>
                                        <p:strVal val="visible"/>
                                      </p:to>
                                    </p:set>
                                    <p:animEffect filter="fade" transition="in">
                                      <p:cBhvr>
                                        <p:cTn dur="500"/>
                                        <p:tgtEl>
                                          <p:spTgt spid="28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3">
                                            <p:txEl>
                                              <p:pRg end="3" st="3"/>
                                            </p:txEl>
                                          </p:spTgt>
                                        </p:tgtEl>
                                        <p:attrNameLst>
                                          <p:attrName>style.visibility</p:attrName>
                                        </p:attrNameLst>
                                      </p:cBhvr>
                                      <p:to>
                                        <p:strVal val="visible"/>
                                      </p:to>
                                    </p:set>
                                    <p:animEffect filter="fade" transition="in">
                                      <p:cBhvr>
                                        <p:cTn dur="500"/>
                                        <p:tgtEl>
                                          <p:spTgt spid="28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3">
                                            <p:txEl>
                                              <p:pRg end="4" st="4"/>
                                            </p:txEl>
                                          </p:spTgt>
                                        </p:tgtEl>
                                        <p:attrNameLst>
                                          <p:attrName>style.visibility</p:attrName>
                                        </p:attrNameLst>
                                      </p:cBhvr>
                                      <p:to>
                                        <p:strVal val="visible"/>
                                      </p:to>
                                    </p:set>
                                    <p:animEffect filter="fade" transition="in">
                                      <p:cBhvr>
                                        <p:cTn dur="500"/>
                                        <p:tgtEl>
                                          <p:spTgt spid="28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0" name="Shape 2830"/>
        <p:cNvGrpSpPr/>
        <p:nvPr/>
      </p:nvGrpSpPr>
      <p:grpSpPr>
        <a:xfrm>
          <a:off x="0" y="0"/>
          <a:ext cx="0" cy="0"/>
          <a:chOff x="0" y="0"/>
          <a:chExt cx="0" cy="0"/>
        </a:xfrm>
      </p:grpSpPr>
      <p:sp>
        <p:nvSpPr>
          <p:cNvPr id="2831" name="Google Shape;2831;p43"/>
          <p:cNvSpPr txBox="1"/>
          <p:nvPr>
            <p:ph type="title"/>
          </p:nvPr>
        </p:nvSpPr>
        <p:spPr>
          <a:xfrm>
            <a:off x="255638" y="164776"/>
            <a:ext cx="11127317" cy="9757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C69"/>
              </a:buClr>
              <a:buSzPts val="2133"/>
              <a:buFont typeface="Calibri"/>
              <a:buNone/>
            </a:pPr>
            <a:r>
              <a:rPr lang="en-US" sz="2133"/>
              <a:t>IPv4 Issues</a:t>
            </a:r>
            <a:br>
              <a:rPr lang="en-US"/>
            </a:br>
            <a:r>
              <a:rPr lang="en-US" sz="3200"/>
              <a:t>Need for IPv6</a:t>
            </a:r>
            <a:endParaRPr/>
          </a:p>
        </p:txBody>
      </p:sp>
      <p:sp>
        <p:nvSpPr>
          <p:cNvPr id="2832" name="Google Shape;2832;p43"/>
          <p:cNvSpPr txBox="1"/>
          <p:nvPr>
            <p:ph idx="1" type="body"/>
          </p:nvPr>
        </p:nvSpPr>
        <p:spPr>
          <a:xfrm>
            <a:off x="575963" y="1494520"/>
            <a:ext cx="5520037" cy="4098595"/>
          </a:xfrm>
          <a:prstGeom prst="rect">
            <a:avLst/>
          </a:prstGeom>
          <a:noFill/>
          <a:ln>
            <a:noFill/>
          </a:ln>
        </p:spPr>
        <p:txBody>
          <a:bodyPr anchorCtr="0" anchor="t" bIns="45700" lIns="91400" spcFirstLastPara="1" rIns="91400" wrap="square" tIns="45700">
            <a:noAutofit/>
          </a:bodyPr>
          <a:lstStyle/>
          <a:p>
            <a:pPr indent="-457189" lvl="0" marL="457189" rtl="0" algn="l">
              <a:lnSpc>
                <a:spcPct val="100000"/>
              </a:lnSpc>
              <a:spcBef>
                <a:spcPts val="0"/>
              </a:spcBef>
              <a:spcAft>
                <a:spcPts val="0"/>
              </a:spcAft>
              <a:buSzPts val="2400"/>
              <a:buFont typeface="Arial"/>
              <a:buChar char="•"/>
            </a:pPr>
            <a:r>
              <a:rPr lang="en-US" sz="2400">
                <a:solidFill>
                  <a:schemeClr val="dk1"/>
                </a:solidFill>
              </a:rPr>
              <a:t>IPv4 is running out of addresses. IPv6 is the successor to IPv4. IPv6 has a much larger </a:t>
            </a:r>
            <a:r>
              <a:rPr lang="en-US" sz="2400">
                <a:solidFill>
                  <a:srgbClr val="FF0000"/>
                </a:solidFill>
              </a:rPr>
              <a:t>128-bit address space</a:t>
            </a:r>
            <a:r>
              <a:rPr lang="en-US" sz="2400">
                <a:solidFill>
                  <a:schemeClr val="dk1"/>
                </a:solidFill>
              </a:rPr>
              <a:t>.</a:t>
            </a:r>
            <a:endParaRPr/>
          </a:p>
          <a:p>
            <a:pPr indent="-457189" lvl="0" marL="457189" rtl="0" algn="l">
              <a:lnSpc>
                <a:spcPct val="100000"/>
              </a:lnSpc>
              <a:spcBef>
                <a:spcPts val="480"/>
              </a:spcBef>
              <a:spcAft>
                <a:spcPts val="0"/>
              </a:spcAft>
              <a:buSzPts val="2400"/>
              <a:buFont typeface="Arial"/>
              <a:buChar char="•"/>
            </a:pPr>
            <a:r>
              <a:rPr lang="en-US" sz="2400">
                <a:solidFill>
                  <a:schemeClr val="dk1"/>
                </a:solidFill>
              </a:rPr>
              <a:t>The development of IPv6 also included </a:t>
            </a:r>
            <a:r>
              <a:rPr lang="en-US" sz="2400">
                <a:solidFill>
                  <a:srgbClr val="FF0000"/>
                </a:solidFill>
              </a:rPr>
              <a:t>fixes for IPv4 limitations </a:t>
            </a:r>
            <a:r>
              <a:rPr lang="en-US" sz="2400">
                <a:solidFill>
                  <a:schemeClr val="dk1"/>
                </a:solidFill>
              </a:rPr>
              <a:t>and other enhancements.</a:t>
            </a:r>
            <a:endParaRPr/>
          </a:p>
          <a:p>
            <a:pPr indent="-457189" lvl="0" marL="457189" rtl="0" algn="l">
              <a:lnSpc>
                <a:spcPct val="100000"/>
              </a:lnSpc>
              <a:spcBef>
                <a:spcPts val="480"/>
              </a:spcBef>
              <a:spcAft>
                <a:spcPts val="0"/>
              </a:spcAft>
              <a:buSzPts val="2400"/>
              <a:buFont typeface="Arial"/>
              <a:buChar char="•"/>
            </a:pPr>
            <a:r>
              <a:rPr lang="en-US" sz="2400">
                <a:solidFill>
                  <a:schemeClr val="dk1"/>
                </a:solidFill>
              </a:rPr>
              <a:t>With an increasing internet population, a limited IPv4 address space, issues with </a:t>
            </a:r>
            <a:r>
              <a:rPr lang="en-US" sz="2400">
                <a:solidFill>
                  <a:srgbClr val="FF0000"/>
                </a:solidFill>
              </a:rPr>
              <a:t>NAT and the IoT</a:t>
            </a:r>
            <a:r>
              <a:rPr lang="en-US" sz="2400">
                <a:solidFill>
                  <a:schemeClr val="dk1"/>
                </a:solidFill>
              </a:rPr>
              <a:t>, the time has come to begin the transition to IPv6.</a:t>
            </a:r>
            <a:endParaRPr/>
          </a:p>
          <a:p>
            <a:pPr indent="-304789" lvl="0" marL="457189" rtl="0" algn="l">
              <a:lnSpc>
                <a:spcPct val="100000"/>
              </a:lnSpc>
              <a:spcBef>
                <a:spcPts val="480"/>
              </a:spcBef>
              <a:spcAft>
                <a:spcPts val="0"/>
              </a:spcAft>
              <a:buSzPts val="2400"/>
              <a:buFont typeface="Arial"/>
              <a:buNone/>
            </a:pPr>
            <a:r>
              <a:t/>
            </a:r>
            <a:endParaRPr sz="2400">
              <a:solidFill>
                <a:schemeClr val="dk1"/>
              </a:solidFill>
            </a:endParaRPr>
          </a:p>
        </p:txBody>
      </p:sp>
      <p:pic>
        <p:nvPicPr>
          <p:cNvPr id="2833" name="Google Shape;2833;p43"/>
          <p:cNvPicPr preferRelativeResize="0"/>
          <p:nvPr/>
        </p:nvPicPr>
        <p:blipFill rotWithShape="1">
          <a:blip r:embed="rId3">
            <a:alphaModFix/>
          </a:blip>
          <a:srcRect b="0" l="0" r="0" t="0"/>
          <a:stretch/>
        </p:blipFill>
        <p:spPr>
          <a:xfrm>
            <a:off x="6209700" y="1140559"/>
            <a:ext cx="4638469" cy="275163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8" name="Shape 2838"/>
        <p:cNvGrpSpPr/>
        <p:nvPr/>
      </p:nvGrpSpPr>
      <p:grpSpPr>
        <a:xfrm>
          <a:off x="0" y="0"/>
          <a:ext cx="0" cy="0"/>
          <a:chOff x="0" y="0"/>
          <a:chExt cx="0" cy="0"/>
        </a:xfrm>
      </p:grpSpPr>
      <p:sp>
        <p:nvSpPr>
          <p:cNvPr id="2839" name="Google Shape;2839;p44"/>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datagram format</a:t>
            </a:r>
            <a:endParaRPr/>
          </a:p>
        </p:txBody>
      </p:sp>
      <p:sp>
        <p:nvSpPr>
          <p:cNvPr id="2840" name="Google Shape;2840;p44"/>
          <p:cNvSpPr/>
          <p:nvPr/>
        </p:nvSpPr>
        <p:spPr>
          <a:xfrm>
            <a:off x="3731801" y="2152167"/>
            <a:ext cx="4748212" cy="2817812"/>
          </a:xfrm>
          <a:prstGeom prst="rect">
            <a:avLst/>
          </a:prstGeom>
          <a:solidFill>
            <a:schemeClr val="lt1"/>
          </a:solidFill>
          <a:ln cap="flat" cmpd="sng" w="19050">
            <a:solidFill>
              <a:schemeClr val="dk1"/>
            </a:solidFill>
            <a:prstDash val="solid"/>
            <a:miter lim="8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841" name="Google Shape;2841;p44"/>
          <p:cNvCxnSpPr/>
          <p:nvPr/>
        </p:nvCxnSpPr>
        <p:spPr>
          <a:xfrm>
            <a:off x="3733388" y="2461729"/>
            <a:ext cx="4727575" cy="0"/>
          </a:xfrm>
          <a:prstGeom prst="straightConnector1">
            <a:avLst/>
          </a:prstGeom>
          <a:noFill/>
          <a:ln cap="flat" cmpd="sng" w="19050">
            <a:solidFill>
              <a:schemeClr val="dk1"/>
            </a:solidFill>
            <a:prstDash val="solid"/>
            <a:round/>
            <a:headEnd len="med" w="med" type="none"/>
            <a:tailEnd len="med" w="med" type="none"/>
          </a:ln>
        </p:spPr>
      </p:cxnSp>
      <p:cxnSp>
        <p:nvCxnSpPr>
          <p:cNvPr id="2842" name="Google Shape;2842;p44"/>
          <p:cNvCxnSpPr/>
          <p:nvPr/>
        </p:nvCxnSpPr>
        <p:spPr>
          <a:xfrm>
            <a:off x="4384263" y="2161692"/>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2843" name="Google Shape;2843;p44"/>
          <p:cNvCxnSpPr/>
          <p:nvPr/>
        </p:nvCxnSpPr>
        <p:spPr>
          <a:xfrm>
            <a:off x="5073238" y="2158517"/>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2844" name="Google Shape;2844;p44"/>
          <p:cNvCxnSpPr/>
          <p:nvPr/>
        </p:nvCxnSpPr>
        <p:spPr>
          <a:xfrm>
            <a:off x="6000338" y="2456967"/>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2845" name="Google Shape;2845;p44"/>
          <p:cNvCxnSpPr/>
          <p:nvPr/>
        </p:nvCxnSpPr>
        <p:spPr>
          <a:xfrm>
            <a:off x="7146513" y="2460142"/>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2846" name="Google Shape;2846;p44"/>
          <p:cNvCxnSpPr/>
          <p:nvPr/>
        </p:nvCxnSpPr>
        <p:spPr>
          <a:xfrm>
            <a:off x="3720688" y="3982554"/>
            <a:ext cx="4760913" cy="0"/>
          </a:xfrm>
          <a:prstGeom prst="straightConnector1">
            <a:avLst/>
          </a:prstGeom>
          <a:noFill/>
          <a:ln cap="flat" cmpd="sng" w="19050">
            <a:solidFill>
              <a:schemeClr val="dk1"/>
            </a:solidFill>
            <a:prstDash val="solid"/>
            <a:round/>
            <a:headEnd len="med" w="med" type="none"/>
            <a:tailEnd len="med" w="med" type="none"/>
          </a:ln>
        </p:spPr>
      </p:cxnSp>
      <p:cxnSp>
        <p:nvCxnSpPr>
          <p:cNvPr id="2847" name="Google Shape;2847;p44"/>
          <p:cNvCxnSpPr/>
          <p:nvPr/>
        </p:nvCxnSpPr>
        <p:spPr>
          <a:xfrm>
            <a:off x="3738151" y="3342792"/>
            <a:ext cx="4760912" cy="0"/>
          </a:xfrm>
          <a:prstGeom prst="straightConnector1">
            <a:avLst/>
          </a:prstGeom>
          <a:noFill/>
          <a:ln cap="flat" cmpd="sng" w="19050">
            <a:solidFill>
              <a:schemeClr val="dk1"/>
            </a:solidFill>
            <a:prstDash val="solid"/>
            <a:round/>
            <a:headEnd len="med" w="med" type="none"/>
            <a:tailEnd len="med" w="med" type="none"/>
          </a:ln>
        </p:spPr>
      </p:cxnSp>
      <p:cxnSp>
        <p:nvCxnSpPr>
          <p:cNvPr id="2848" name="Google Shape;2848;p44"/>
          <p:cNvCxnSpPr/>
          <p:nvPr/>
        </p:nvCxnSpPr>
        <p:spPr>
          <a:xfrm>
            <a:off x="3723863" y="2760179"/>
            <a:ext cx="4760913" cy="0"/>
          </a:xfrm>
          <a:prstGeom prst="straightConnector1">
            <a:avLst/>
          </a:prstGeom>
          <a:noFill/>
          <a:ln cap="flat" cmpd="sng" w="19050">
            <a:solidFill>
              <a:schemeClr val="dk1"/>
            </a:solidFill>
            <a:prstDash val="solid"/>
            <a:round/>
            <a:headEnd len="med" w="med" type="none"/>
            <a:tailEnd len="med" w="med" type="none"/>
          </a:ln>
        </p:spPr>
      </p:cxnSp>
      <p:sp>
        <p:nvSpPr>
          <p:cNvPr id="2849" name="Google Shape;2849;p44"/>
          <p:cNvSpPr txBox="1"/>
          <p:nvPr/>
        </p:nvSpPr>
        <p:spPr>
          <a:xfrm>
            <a:off x="5234225" y="4260919"/>
            <a:ext cx="17235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 payload (data)</a:t>
            </a:r>
            <a:endParaRPr/>
          </a:p>
        </p:txBody>
      </p:sp>
      <p:sp>
        <p:nvSpPr>
          <p:cNvPr id="2850" name="Google Shape;2850;p44"/>
          <p:cNvSpPr txBox="1"/>
          <p:nvPr/>
        </p:nvSpPr>
        <p:spPr>
          <a:xfrm>
            <a:off x="4968463" y="3385654"/>
            <a:ext cx="21653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800" u="none" cap="none" strike="noStrike">
                <a:solidFill>
                  <a:srgbClr val="000000"/>
                </a:solidFill>
                <a:latin typeface="Arial"/>
                <a:ea typeface="Arial"/>
                <a:cs typeface="Arial"/>
                <a:sym typeface="Arial"/>
              </a:rPr>
              <a:t>destination address</a:t>
            </a:r>
            <a:endParaRPr/>
          </a:p>
          <a:p>
            <a:pPr indent="0" lvl="0" marL="0" marR="0" rtl="0" algn="ctr">
              <a:lnSpc>
                <a:spcPct val="85000"/>
              </a:lnSpc>
              <a:spcBef>
                <a:spcPts val="0"/>
              </a:spcBef>
              <a:spcAft>
                <a:spcPts val="0"/>
              </a:spcAft>
              <a:buNone/>
            </a:pPr>
            <a:r>
              <a:rPr b="0" i="0" lang="en-US" sz="1800" u="none" cap="none" strike="noStrike">
                <a:solidFill>
                  <a:srgbClr val="000000"/>
                </a:solidFill>
                <a:latin typeface="Arial"/>
                <a:ea typeface="Arial"/>
                <a:cs typeface="Arial"/>
                <a:sym typeface="Arial"/>
              </a:rPr>
              <a:t>(128 bits)</a:t>
            </a:r>
            <a:endParaRPr/>
          </a:p>
        </p:txBody>
      </p:sp>
      <p:sp>
        <p:nvSpPr>
          <p:cNvPr id="2851" name="Google Shape;2851;p44"/>
          <p:cNvSpPr txBox="1"/>
          <p:nvPr/>
        </p:nvSpPr>
        <p:spPr>
          <a:xfrm>
            <a:off x="5133563" y="2779229"/>
            <a:ext cx="17462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800" u="none" cap="none" strike="noStrike">
                <a:solidFill>
                  <a:srgbClr val="000000"/>
                </a:solidFill>
                <a:latin typeface="Arial"/>
                <a:ea typeface="Arial"/>
                <a:cs typeface="Arial"/>
                <a:sym typeface="Arial"/>
              </a:rPr>
              <a:t>source address</a:t>
            </a:r>
            <a:endParaRPr/>
          </a:p>
          <a:p>
            <a:pPr indent="0" lvl="0" marL="0" marR="0" rtl="0" algn="ctr">
              <a:lnSpc>
                <a:spcPct val="85000"/>
              </a:lnSpc>
              <a:spcBef>
                <a:spcPts val="0"/>
              </a:spcBef>
              <a:spcAft>
                <a:spcPts val="0"/>
              </a:spcAft>
              <a:buNone/>
            </a:pPr>
            <a:r>
              <a:rPr b="0" i="0" lang="en-US" sz="1800" u="none" cap="none" strike="noStrike">
                <a:solidFill>
                  <a:srgbClr val="000000"/>
                </a:solidFill>
                <a:latin typeface="Arial"/>
                <a:ea typeface="Arial"/>
                <a:cs typeface="Arial"/>
                <a:sym typeface="Arial"/>
              </a:rPr>
              <a:t>(128 bits)</a:t>
            </a:r>
            <a:endParaRPr/>
          </a:p>
        </p:txBody>
      </p:sp>
      <p:sp>
        <p:nvSpPr>
          <p:cNvPr id="2852" name="Google Shape;2852;p44"/>
          <p:cNvSpPr txBox="1"/>
          <p:nvPr/>
        </p:nvSpPr>
        <p:spPr>
          <a:xfrm>
            <a:off x="4217576" y="2426804"/>
            <a:ext cx="1352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payload len</a:t>
            </a:r>
            <a:endParaRPr/>
          </a:p>
        </p:txBody>
      </p:sp>
      <p:sp>
        <p:nvSpPr>
          <p:cNvPr id="2853" name="Google Shape;2853;p44"/>
          <p:cNvSpPr txBox="1"/>
          <p:nvPr/>
        </p:nvSpPr>
        <p:spPr>
          <a:xfrm>
            <a:off x="5998751" y="2434742"/>
            <a:ext cx="10096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next hdr</a:t>
            </a:r>
            <a:endParaRPr/>
          </a:p>
        </p:txBody>
      </p:sp>
      <p:sp>
        <p:nvSpPr>
          <p:cNvPr id="2854" name="Google Shape;2854;p44"/>
          <p:cNvSpPr txBox="1"/>
          <p:nvPr/>
        </p:nvSpPr>
        <p:spPr>
          <a:xfrm>
            <a:off x="7254463" y="2420454"/>
            <a:ext cx="10350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hop limit</a:t>
            </a:r>
            <a:endParaRPr/>
          </a:p>
        </p:txBody>
      </p:sp>
      <p:sp>
        <p:nvSpPr>
          <p:cNvPr id="2855" name="Google Shape;2855;p44"/>
          <p:cNvSpPr txBox="1"/>
          <p:nvPr/>
        </p:nvSpPr>
        <p:spPr>
          <a:xfrm>
            <a:off x="6124163" y="2126767"/>
            <a:ext cx="11366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flow label</a:t>
            </a:r>
            <a:endParaRPr/>
          </a:p>
        </p:txBody>
      </p:sp>
      <p:sp>
        <p:nvSpPr>
          <p:cNvPr id="2856" name="Google Shape;2856;p44"/>
          <p:cNvSpPr txBox="1"/>
          <p:nvPr/>
        </p:nvSpPr>
        <p:spPr>
          <a:xfrm>
            <a:off x="4503326" y="2112479"/>
            <a:ext cx="438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pri</a:t>
            </a:r>
            <a:endParaRPr/>
          </a:p>
        </p:txBody>
      </p:sp>
      <p:sp>
        <p:nvSpPr>
          <p:cNvPr id="2857" name="Google Shape;2857;p44"/>
          <p:cNvSpPr txBox="1"/>
          <p:nvPr/>
        </p:nvSpPr>
        <p:spPr>
          <a:xfrm>
            <a:off x="3796888" y="2120417"/>
            <a:ext cx="5016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ver</a:t>
            </a:r>
            <a:endParaRPr/>
          </a:p>
        </p:txBody>
      </p:sp>
      <p:cxnSp>
        <p:nvCxnSpPr>
          <p:cNvPr id="2858" name="Google Shape;2858;p44"/>
          <p:cNvCxnSpPr/>
          <p:nvPr/>
        </p:nvCxnSpPr>
        <p:spPr>
          <a:xfrm>
            <a:off x="3696324" y="1921565"/>
            <a:ext cx="4816475" cy="0"/>
          </a:xfrm>
          <a:prstGeom prst="straightConnector1">
            <a:avLst/>
          </a:prstGeom>
          <a:noFill/>
          <a:ln cap="flat" cmpd="sng" w="9525">
            <a:solidFill>
              <a:schemeClr val="dk1"/>
            </a:solidFill>
            <a:prstDash val="solid"/>
            <a:round/>
            <a:headEnd len="med" w="med" type="triangle"/>
            <a:tailEnd len="med" w="med" type="triangle"/>
          </a:ln>
        </p:spPr>
      </p:cxnSp>
      <p:sp>
        <p:nvSpPr>
          <p:cNvPr id="2859" name="Google Shape;2859;p44"/>
          <p:cNvSpPr txBox="1"/>
          <p:nvPr/>
        </p:nvSpPr>
        <p:spPr>
          <a:xfrm>
            <a:off x="5555286" y="1731065"/>
            <a:ext cx="864339"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32 bits</a:t>
            </a:r>
            <a:endParaRPr/>
          </a:p>
        </p:txBody>
      </p:sp>
      <p:grpSp>
        <p:nvGrpSpPr>
          <p:cNvPr id="2860" name="Google Shape;2860;p44"/>
          <p:cNvGrpSpPr/>
          <p:nvPr/>
        </p:nvGrpSpPr>
        <p:grpSpPr>
          <a:xfrm>
            <a:off x="159026" y="1902722"/>
            <a:ext cx="4399722" cy="1089529"/>
            <a:chOff x="159026" y="1902722"/>
            <a:chExt cx="4399722" cy="1089529"/>
          </a:xfrm>
        </p:grpSpPr>
        <p:sp>
          <p:nvSpPr>
            <p:cNvPr id="2861" name="Google Shape;2861;p44"/>
            <p:cNvSpPr/>
            <p:nvPr/>
          </p:nvSpPr>
          <p:spPr>
            <a:xfrm>
              <a:off x="159026" y="1902722"/>
              <a:ext cx="3072157"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b="0" i="0" lang="en-US" sz="2400" u="none" cap="none" strike="noStrike">
                  <a:solidFill>
                    <a:srgbClr val="C00000"/>
                  </a:solidFill>
                  <a:latin typeface="Calibri"/>
                  <a:ea typeface="Calibri"/>
                  <a:cs typeface="Calibri"/>
                  <a:sym typeface="Calibri"/>
                </a:rPr>
                <a:t>priority:  </a:t>
              </a:r>
              <a:r>
                <a:rPr b="0" i="0" lang="en-US" sz="2400" u="none" cap="none" strike="noStrike">
                  <a:solidFill>
                    <a:srgbClr val="000000"/>
                  </a:solidFill>
                  <a:latin typeface="Calibri"/>
                  <a:ea typeface="Calibri"/>
                  <a:cs typeface="Calibri"/>
                  <a:sym typeface="Calibri"/>
                </a:rPr>
                <a:t>identify priority among datagrams in flow</a:t>
              </a:r>
              <a:endParaRPr/>
            </a:p>
          </p:txBody>
        </p:sp>
        <p:cxnSp>
          <p:nvCxnSpPr>
            <p:cNvPr id="2862" name="Google Shape;2862;p44"/>
            <p:cNvCxnSpPr/>
            <p:nvPr/>
          </p:nvCxnSpPr>
          <p:spPr>
            <a:xfrm>
              <a:off x="3299791" y="2398643"/>
              <a:ext cx="1258957" cy="0"/>
            </a:xfrm>
            <a:prstGeom prst="straightConnector1">
              <a:avLst/>
            </a:prstGeom>
            <a:noFill/>
            <a:ln cap="flat" cmpd="sng" w="19050">
              <a:solidFill>
                <a:srgbClr val="C00000"/>
              </a:solidFill>
              <a:prstDash val="solid"/>
              <a:miter lim="8000"/>
              <a:headEnd len="sm" w="sm" type="none"/>
              <a:tailEnd len="sm" w="sm" type="none"/>
            </a:ln>
          </p:spPr>
        </p:cxnSp>
      </p:grpSp>
      <p:grpSp>
        <p:nvGrpSpPr>
          <p:cNvPr id="2863" name="Google Shape;2863;p44"/>
          <p:cNvGrpSpPr/>
          <p:nvPr/>
        </p:nvGrpSpPr>
        <p:grpSpPr>
          <a:xfrm>
            <a:off x="7480852" y="1426988"/>
            <a:ext cx="4499112" cy="1421928"/>
            <a:chOff x="7480852" y="1426988"/>
            <a:chExt cx="4499112" cy="1421928"/>
          </a:xfrm>
        </p:grpSpPr>
        <p:sp>
          <p:nvSpPr>
            <p:cNvPr id="2864" name="Google Shape;2864;p44"/>
            <p:cNvSpPr/>
            <p:nvPr/>
          </p:nvSpPr>
          <p:spPr>
            <a:xfrm>
              <a:off x="8742156" y="1426988"/>
              <a:ext cx="3237808"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2400" u="none" cap="none" strike="noStrike">
                  <a:solidFill>
                    <a:srgbClr val="C00000"/>
                  </a:solidFill>
                  <a:latin typeface="Calibri"/>
                  <a:ea typeface="Calibri"/>
                  <a:cs typeface="Calibri"/>
                  <a:sym typeface="Calibri"/>
                </a:rPr>
                <a:t>flow label: </a:t>
              </a:r>
              <a:r>
                <a:rPr b="0" i="0" lang="en-US" sz="2400" u="none" cap="none" strike="noStrike">
                  <a:solidFill>
                    <a:srgbClr val="000000"/>
                  </a:solidFill>
                  <a:latin typeface="Calibri"/>
                  <a:ea typeface="Calibri"/>
                  <a:cs typeface="Calibri"/>
                  <a:sym typeface="Calibri"/>
                </a:rPr>
                <a:t>identify datagrams in same "flow.” (concept of “flow” not well defined).</a:t>
              </a:r>
              <a:endParaRPr/>
            </a:p>
          </p:txBody>
        </p:sp>
        <p:cxnSp>
          <p:nvCxnSpPr>
            <p:cNvPr id="2865" name="Google Shape;2865;p44"/>
            <p:cNvCxnSpPr/>
            <p:nvPr/>
          </p:nvCxnSpPr>
          <p:spPr>
            <a:xfrm>
              <a:off x="7480852" y="2325756"/>
              <a:ext cx="1258957" cy="0"/>
            </a:xfrm>
            <a:prstGeom prst="straightConnector1">
              <a:avLst/>
            </a:prstGeom>
            <a:noFill/>
            <a:ln cap="flat" cmpd="sng" w="19050">
              <a:solidFill>
                <a:srgbClr val="C00000"/>
              </a:solidFill>
              <a:prstDash val="solid"/>
              <a:miter lim="8000"/>
              <a:headEnd len="sm" w="sm" type="none"/>
              <a:tailEnd len="sm" w="sm" type="none"/>
            </a:ln>
          </p:spPr>
        </p:cxnSp>
      </p:grpSp>
      <p:grpSp>
        <p:nvGrpSpPr>
          <p:cNvPr id="2866" name="Google Shape;2866;p44"/>
          <p:cNvGrpSpPr/>
          <p:nvPr/>
        </p:nvGrpSpPr>
        <p:grpSpPr>
          <a:xfrm>
            <a:off x="0" y="2970865"/>
            <a:ext cx="4028661" cy="757130"/>
            <a:chOff x="0" y="2970865"/>
            <a:chExt cx="4028661" cy="757130"/>
          </a:xfrm>
        </p:grpSpPr>
        <p:sp>
          <p:nvSpPr>
            <p:cNvPr id="2867" name="Google Shape;2867;p44"/>
            <p:cNvSpPr/>
            <p:nvPr/>
          </p:nvSpPr>
          <p:spPr>
            <a:xfrm>
              <a:off x="0" y="2970865"/>
              <a:ext cx="3237808"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b="0" i="0" lang="en-US" sz="2400" u="none" cap="none" strike="noStrike">
                  <a:solidFill>
                    <a:srgbClr val="C00000"/>
                  </a:solidFill>
                  <a:latin typeface="Calibri"/>
                  <a:ea typeface="Calibri"/>
                  <a:cs typeface="Calibri"/>
                  <a:sym typeface="Calibri"/>
                </a:rPr>
                <a:t>128-bit </a:t>
              </a:r>
              <a:endParaRPr/>
            </a:p>
            <a:p>
              <a:pPr indent="0" lvl="0" marL="0" marR="0" rtl="0" algn="r">
                <a:lnSpc>
                  <a:spcPct val="90000"/>
                </a:lnSpc>
                <a:spcBef>
                  <a:spcPts val="0"/>
                </a:spcBef>
                <a:spcAft>
                  <a:spcPts val="0"/>
                </a:spcAft>
                <a:buNone/>
              </a:pPr>
              <a:r>
                <a:rPr b="0" i="0" lang="en-US" sz="2400" u="none" cap="none" strike="noStrike">
                  <a:solidFill>
                    <a:srgbClr val="000000"/>
                  </a:solidFill>
                  <a:latin typeface="Calibri"/>
                  <a:ea typeface="Calibri"/>
                  <a:cs typeface="Calibri"/>
                  <a:sym typeface="Calibri"/>
                </a:rPr>
                <a:t>IPv6 addresses</a:t>
              </a:r>
              <a:endParaRPr b="0" i="0" sz="2400" u="none" cap="none" strike="noStrike">
                <a:solidFill>
                  <a:srgbClr val="000000"/>
                </a:solidFill>
                <a:latin typeface="Calibri"/>
                <a:ea typeface="Calibri"/>
                <a:cs typeface="Calibri"/>
                <a:sym typeface="Calibri"/>
              </a:endParaRPr>
            </a:p>
          </p:txBody>
        </p:sp>
        <p:cxnSp>
          <p:nvCxnSpPr>
            <p:cNvPr id="2868" name="Google Shape;2868;p44"/>
            <p:cNvCxnSpPr/>
            <p:nvPr/>
          </p:nvCxnSpPr>
          <p:spPr>
            <a:xfrm>
              <a:off x="3124200" y="3380098"/>
              <a:ext cx="904461" cy="304006"/>
            </a:xfrm>
            <a:prstGeom prst="straightConnector1">
              <a:avLst/>
            </a:prstGeom>
            <a:noFill/>
            <a:ln cap="flat" cmpd="sng" w="19050">
              <a:solidFill>
                <a:srgbClr val="C00000"/>
              </a:solidFill>
              <a:prstDash val="solid"/>
              <a:miter lim="8000"/>
              <a:headEnd len="sm" w="sm" type="none"/>
              <a:tailEnd len="sm" w="sm" type="none"/>
            </a:ln>
          </p:spPr>
        </p:cxnSp>
        <p:cxnSp>
          <p:nvCxnSpPr>
            <p:cNvPr id="2869" name="Google Shape;2869;p44"/>
            <p:cNvCxnSpPr/>
            <p:nvPr/>
          </p:nvCxnSpPr>
          <p:spPr>
            <a:xfrm flipH="1" rot="10800000">
              <a:off x="3124200" y="3055420"/>
              <a:ext cx="904461" cy="304006"/>
            </a:xfrm>
            <a:prstGeom prst="straightConnector1">
              <a:avLst/>
            </a:prstGeom>
            <a:noFill/>
            <a:ln cap="flat" cmpd="sng" w="19050">
              <a:solidFill>
                <a:srgbClr val="C00000"/>
              </a:solidFill>
              <a:prstDash val="solid"/>
              <a:miter lim="8000"/>
              <a:headEnd len="sm" w="sm" type="none"/>
              <a:tailEnd len="sm" w="sm" type="none"/>
            </a:ln>
          </p:spPr>
        </p:cxnSp>
      </p:grpSp>
      <p:sp>
        <p:nvSpPr>
          <p:cNvPr id="2870" name="Google Shape;2870;p44"/>
          <p:cNvSpPr txBox="1"/>
          <p:nvPr/>
        </p:nvSpPr>
        <p:spPr>
          <a:xfrm>
            <a:off x="1192696" y="5022574"/>
            <a:ext cx="8971722"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What’s missing (compared with IPv4): </a:t>
            </a:r>
            <a:endParaRPr/>
          </a:p>
          <a:p>
            <a:pPr indent="-285750" lvl="0" marL="285750" marR="0" rtl="0" algn="l">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checksum (to speed processing at routers)</a:t>
            </a:r>
            <a:endParaRPr/>
          </a:p>
          <a:p>
            <a:pPr indent="-285750" lvl="0" marL="285750" marR="0" rtl="0" algn="l">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fragmentation/reassembly</a:t>
            </a:r>
            <a:endParaRPr/>
          </a:p>
          <a:p>
            <a:pPr indent="-285750" lvl="0" marL="285750" marR="0" rtl="0" algn="l">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options (available as upper-layer, next-header protocol at router)</a:t>
            </a:r>
            <a:endParaRPr b="0" i="0" sz="1800" u="none" cap="none" strike="noStrike">
              <a:solidFill>
                <a:srgbClr val="000000"/>
              </a:solidFill>
              <a:latin typeface="Calibri"/>
              <a:ea typeface="Calibri"/>
              <a:cs typeface="Calibri"/>
              <a:sym typeface="Calibri"/>
            </a:endParaRPr>
          </a:p>
        </p:txBody>
      </p:sp>
      <p:sp>
        <p:nvSpPr>
          <p:cNvPr id="2871" name="Google Shape;2871;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6"/>
                                        </p:tgtEl>
                                        <p:attrNameLst>
                                          <p:attrName>style.visibility</p:attrName>
                                        </p:attrNameLst>
                                      </p:cBhvr>
                                      <p:to>
                                        <p:strVal val="visible"/>
                                      </p:to>
                                    </p:set>
                                    <p:animEffect filter="fade" transition="in">
                                      <p:cBhvr>
                                        <p:cTn dur="500"/>
                                        <p:tgtEl>
                                          <p:spTgt spid="2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3"/>
                                        </p:tgtEl>
                                        <p:attrNameLst>
                                          <p:attrName>style.visibility</p:attrName>
                                        </p:attrNameLst>
                                      </p:cBhvr>
                                      <p:to>
                                        <p:strVal val="visible"/>
                                      </p:to>
                                    </p:set>
                                    <p:animEffect filter="fade" transition="in">
                                      <p:cBhvr>
                                        <p:cTn dur="500"/>
                                        <p:tgtEl>
                                          <p:spTgt spid="28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0"/>
                                        </p:tgtEl>
                                        <p:attrNameLst>
                                          <p:attrName>style.visibility</p:attrName>
                                        </p:attrNameLst>
                                      </p:cBhvr>
                                      <p:to>
                                        <p:strVal val="visible"/>
                                      </p:to>
                                    </p:set>
                                    <p:animEffect filter="fade" transition="in">
                                      <p:cBhvr>
                                        <p:cTn dur="500"/>
                                        <p:tgtEl>
                                          <p:spTgt spid="28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0"/>
                                        </p:tgtEl>
                                        <p:attrNameLst>
                                          <p:attrName>style.visibility</p:attrName>
                                        </p:attrNameLst>
                                      </p:cBhvr>
                                      <p:to>
                                        <p:strVal val="visible"/>
                                      </p:to>
                                    </p:set>
                                    <p:animEffect filter="fade" transition="in">
                                      <p:cBhvr>
                                        <p:cTn dur="500"/>
                                        <p:tgtEl>
                                          <p:spTgt spid="28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6" name="Shape 2876"/>
        <p:cNvGrpSpPr/>
        <p:nvPr/>
      </p:nvGrpSpPr>
      <p:grpSpPr>
        <a:xfrm>
          <a:off x="0" y="0"/>
          <a:ext cx="0" cy="0"/>
          <a:chOff x="0" y="0"/>
          <a:chExt cx="0" cy="0"/>
        </a:xfrm>
      </p:grpSpPr>
      <p:sp>
        <p:nvSpPr>
          <p:cNvPr id="2877" name="Google Shape;2877;p45"/>
          <p:cNvSpPr txBox="1"/>
          <p:nvPr>
            <p:ph type="title"/>
          </p:nvPr>
        </p:nvSpPr>
        <p:spPr>
          <a:xfrm>
            <a:off x="700549" y="127357"/>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2133"/>
              <a:t>IPv6 Packets</a:t>
            </a:r>
            <a:br>
              <a:rPr lang="en-US"/>
            </a:br>
            <a:r>
              <a:rPr lang="en-US"/>
              <a:t>IPv6 Packet Header</a:t>
            </a:r>
            <a:endParaRPr/>
          </a:p>
        </p:txBody>
      </p:sp>
      <p:sp>
        <p:nvSpPr>
          <p:cNvPr id="2878" name="Google Shape;2878;p45"/>
          <p:cNvSpPr txBox="1"/>
          <p:nvPr>
            <p:ph idx="1" type="body"/>
          </p:nvPr>
        </p:nvSpPr>
        <p:spPr>
          <a:xfrm>
            <a:off x="772127" y="1059679"/>
            <a:ext cx="10141383" cy="4847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133"/>
              <a:buNone/>
            </a:pPr>
            <a:r>
              <a:rPr lang="en-US" sz="2133"/>
              <a:t>Significant fields in the IPv6 header:</a:t>
            </a:r>
            <a:endParaRPr/>
          </a:p>
          <a:p>
            <a:pPr indent="-79375" lvl="1" marL="695325" rtl="0" algn="l">
              <a:lnSpc>
                <a:spcPct val="90000"/>
              </a:lnSpc>
              <a:spcBef>
                <a:spcPts val="500"/>
              </a:spcBef>
              <a:spcAft>
                <a:spcPts val="0"/>
              </a:spcAft>
              <a:buSzPts val="2400"/>
              <a:buNone/>
            </a:pPr>
            <a:r>
              <a:t/>
            </a:r>
            <a:endParaRPr/>
          </a:p>
        </p:txBody>
      </p:sp>
      <p:graphicFrame>
        <p:nvGraphicFramePr>
          <p:cNvPr id="2879" name="Google Shape;2879;p45"/>
          <p:cNvGraphicFramePr/>
          <p:nvPr/>
        </p:nvGraphicFramePr>
        <p:xfrm>
          <a:off x="772127" y="1517211"/>
          <a:ext cx="3000000" cy="3000000"/>
        </p:xfrm>
        <a:graphic>
          <a:graphicData uri="http://schemas.openxmlformats.org/drawingml/2006/table">
            <a:tbl>
              <a:tblPr bandRow="1" firstRow="1">
                <a:noFill/>
                <a:tableStyleId>{13E968C8-3ED9-4231-9F66-C6A1EFCAA592}</a:tableStyleId>
              </a:tblPr>
              <a:tblGrid>
                <a:gridCol w="3067675"/>
                <a:gridCol w="7679000"/>
              </a:tblGrid>
              <a:tr h="476875">
                <a:tc>
                  <a:txBody>
                    <a:bodyPr/>
                    <a:lstStyle/>
                    <a:p>
                      <a:pPr indent="0" lvl="0" marL="0" marR="0" rtl="0" algn="l">
                        <a:spcBef>
                          <a:spcPts val="0"/>
                        </a:spcBef>
                        <a:spcAft>
                          <a:spcPts val="0"/>
                        </a:spcAft>
                        <a:buNone/>
                      </a:pPr>
                      <a:r>
                        <a:rPr lang="en-US" sz="2400" u="none" cap="none" strike="noStrike"/>
                        <a:t>Function</a:t>
                      </a:r>
                      <a:endParaRPr/>
                    </a:p>
                  </a:txBody>
                  <a:tcPr marT="60950" marB="60950" marR="121925" marL="121925"/>
                </a:tc>
                <a:tc>
                  <a:txBody>
                    <a:bodyPr/>
                    <a:lstStyle/>
                    <a:p>
                      <a:pPr indent="0" lvl="0" marL="0" marR="0" rtl="0" algn="l">
                        <a:spcBef>
                          <a:spcPts val="0"/>
                        </a:spcBef>
                        <a:spcAft>
                          <a:spcPts val="0"/>
                        </a:spcAft>
                        <a:buNone/>
                      </a:pPr>
                      <a:r>
                        <a:rPr lang="en-US" sz="2400"/>
                        <a:t>Description</a:t>
                      </a:r>
                      <a:endParaRPr/>
                    </a:p>
                  </a:txBody>
                  <a:tcPr marT="60950" marB="60950" marR="121925" marL="121925"/>
                </a:tc>
              </a:tr>
              <a:tr h="650475">
                <a:tc>
                  <a:txBody>
                    <a:bodyPr/>
                    <a:lstStyle/>
                    <a:p>
                      <a:pPr indent="0" lvl="0" marL="0" marR="0" rtl="0" algn="l">
                        <a:spcBef>
                          <a:spcPts val="0"/>
                        </a:spcBef>
                        <a:spcAft>
                          <a:spcPts val="0"/>
                        </a:spcAft>
                        <a:buNone/>
                      </a:pPr>
                      <a:r>
                        <a:rPr b="1" lang="en-US" sz="2000"/>
                        <a:t>Version</a:t>
                      </a:r>
                      <a:endParaRPr sz="2000"/>
                    </a:p>
                  </a:txBody>
                  <a:tcPr marT="60950" marB="60950" marR="121925" marL="121925"/>
                </a:tc>
                <a:tc>
                  <a:txBody>
                    <a:bodyPr/>
                    <a:lstStyle/>
                    <a:p>
                      <a:pPr indent="0" lvl="0" marL="0" marR="0" rtl="0" algn="l">
                        <a:spcBef>
                          <a:spcPts val="0"/>
                        </a:spcBef>
                        <a:spcAft>
                          <a:spcPts val="0"/>
                        </a:spcAft>
                        <a:buNone/>
                      </a:pPr>
                      <a:r>
                        <a:rPr lang="en-US" sz="2000"/>
                        <a:t>This</a:t>
                      </a:r>
                      <a:r>
                        <a:rPr lang="en-US" sz="2000"/>
                        <a:t> will be for v6, as opposed to v4, a 4 bit field= 0110  </a:t>
                      </a:r>
                      <a:endParaRPr sz="2000"/>
                    </a:p>
                  </a:txBody>
                  <a:tcPr marT="60950" marB="60950" marR="121925" marL="121925"/>
                </a:tc>
              </a:tr>
              <a:tr h="417250">
                <a:tc>
                  <a:txBody>
                    <a:bodyPr/>
                    <a:lstStyle/>
                    <a:p>
                      <a:pPr indent="0" lvl="0" marL="0" marR="0" rtl="0" algn="l">
                        <a:spcBef>
                          <a:spcPts val="0"/>
                        </a:spcBef>
                        <a:spcAft>
                          <a:spcPts val="0"/>
                        </a:spcAft>
                        <a:buNone/>
                      </a:pPr>
                      <a:r>
                        <a:rPr b="1" lang="en-US" sz="2000"/>
                        <a:t>Traffic Class</a:t>
                      </a:r>
                      <a:endParaRPr sz="2000"/>
                    </a:p>
                  </a:txBody>
                  <a:tcPr marT="60950" marB="60950" marR="121925" marL="121925"/>
                </a:tc>
                <a:tc>
                  <a:txBody>
                    <a:bodyPr/>
                    <a:lstStyle/>
                    <a:p>
                      <a:pPr indent="0" lvl="0" marL="0" marR="0" rtl="0" algn="l">
                        <a:spcBef>
                          <a:spcPts val="0"/>
                        </a:spcBef>
                        <a:spcAft>
                          <a:spcPts val="0"/>
                        </a:spcAft>
                        <a:buNone/>
                      </a:pPr>
                      <a:r>
                        <a:rPr lang="en-US" sz="2000"/>
                        <a:t>Used for QoS</a:t>
                      </a:r>
                      <a:r>
                        <a:rPr lang="en-US" sz="2000"/>
                        <a:t>: Equivalent to DiffServ – DS field </a:t>
                      </a:r>
                      <a:endParaRPr sz="2000"/>
                    </a:p>
                  </a:txBody>
                  <a:tcPr marT="60950" marB="60950" marR="121925" marL="121925"/>
                </a:tc>
              </a:tr>
              <a:tr h="715300">
                <a:tc>
                  <a:txBody>
                    <a:bodyPr/>
                    <a:lstStyle/>
                    <a:p>
                      <a:pPr indent="0" lvl="0" marL="0" marR="0" rtl="0" algn="l">
                        <a:spcBef>
                          <a:spcPts val="0"/>
                        </a:spcBef>
                        <a:spcAft>
                          <a:spcPts val="0"/>
                        </a:spcAft>
                        <a:buNone/>
                      </a:pPr>
                      <a:r>
                        <a:rPr b="1" lang="en-US" sz="2000"/>
                        <a:t>Flow Label</a:t>
                      </a:r>
                      <a:endParaRPr sz="2000"/>
                    </a:p>
                  </a:txBody>
                  <a:tcPr marT="60950" marB="60950" marR="121925" marL="121925"/>
                </a:tc>
                <a:tc>
                  <a:txBody>
                    <a:bodyPr/>
                    <a:lstStyle/>
                    <a:p>
                      <a:pPr indent="0" lvl="0" marL="0" marR="0" rtl="0" algn="l">
                        <a:spcBef>
                          <a:spcPts val="0"/>
                        </a:spcBef>
                        <a:spcAft>
                          <a:spcPts val="0"/>
                        </a:spcAft>
                        <a:buNone/>
                      </a:pPr>
                      <a:r>
                        <a:rPr lang="en-US" sz="2000"/>
                        <a:t>Informs device to handle identical flow labels the same way, </a:t>
                      </a:r>
                      <a:r>
                        <a:rPr lang="en-US" sz="2000"/>
                        <a:t>20 bit field</a:t>
                      </a:r>
                      <a:endParaRPr/>
                    </a:p>
                  </a:txBody>
                  <a:tcPr marT="60950" marB="60950" marR="121925" marL="121925"/>
                </a:tc>
              </a:tr>
              <a:tr h="715300">
                <a:tc>
                  <a:txBody>
                    <a:bodyPr/>
                    <a:lstStyle/>
                    <a:p>
                      <a:pPr indent="0" lvl="0" marL="0" marR="0" rtl="0" algn="l">
                        <a:spcBef>
                          <a:spcPts val="0"/>
                        </a:spcBef>
                        <a:spcAft>
                          <a:spcPts val="0"/>
                        </a:spcAft>
                        <a:buNone/>
                      </a:pPr>
                      <a:r>
                        <a:rPr b="1" lang="en-US" sz="2000"/>
                        <a:t>Payload Length</a:t>
                      </a:r>
                      <a:endParaRPr sz="2000"/>
                    </a:p>
                  </a:txBody>
                  <a:tcPr marT="60950" marB="60950" marR="121925" marL="121925"/>
                </a:tc>
                <a:tc>
                  <a:txBody>
                    <a:bodyPr/>
                    <a:lstStyle/>
                    <a:p>
                      <a:pPr indent="0" lvl="0" marL="0" marR="0" rtl="0" algn="l">
                        <a:spcBef>
                          <a:spcPts val="0"/>
                        </a:spcBef>
                        <a:spcAft>
                          <a:spcPts val="0"/>
                        </a:spcAft>
                        <a:buNone/>
                      </a:pPr>
                      <a:r>
                        <a:rPr lang="en-US" sz="2000"/>
                        <a:t>This 16-bit field indicates the length of the data portion or payload of the IPv6 packet</a:t>
                      </a:r>
                      <a:endParaRPr/>
                    </a:p>
                  </a:txBody>
                  <a:tcPr marT="60950" marB="60950" marR="121925" marL="121925"/>
                </a:tc>
              </a:tr>
              <a:tr h="417250">
                <a:tc>
                  <a:txBody>
                    <a:bodyPr/>
                    <a:lstStyle/>
                    <a:p>
                      <a:pPr indent="0" lvl="0" marL="0" marR="0" rtl="0" algn="l">
                        <a:spcBef>
                          <a:spcPts val="0"/>
                        </a:spcBef>
                        <a:spcAft>
                          <a:spcPts val="0"/>
                        </a:spcAft>
                        <a:buNone/>
                      </a:pPr>
                      <a:r>
                        <a:rPr b="1" lang="en-US" sz="2000"/>
                        <a:t>Next Header</a:t>
                      </a:r>
                      <a:endParaRPr sz="2000"/>
                    </a:p>
                  </a:txBody>
                  <a:tcPr marT="60950" marB="60950" marR="121925" marL="121925"/>
                </a:tc>
                <a:tc>
                  <a:txBody>
                    <a:bodyPr/>
                    <a:lstStyle/>
                    <a:p>
                      <a:pPr indent="0" lvl="0" marL="0" marR="0" rtl="0" algn="l">
                        <a:spcBef>
                          <a:spcPts val="0"/>
                        </a:spcBef>
                        <a:spcAft>
                          <a:spcPts val="0"/>
                        </a:spcAft>
                        <a:buNone/>
                      </a:pPr>
                      <a:r>
                        <a:rPr lang="en-US" sz="2000"/>
                        <a:t>I.D.s next level</a:t>
                      </a:r>
                      <a:r>
                        <a:rPr lang="en-US" sz="2000"/>
                        <a:t> protocol: ICMP, TCP, UDP, etc.</a:t>
                      </a:r>
                      <a:endParaRPr sz="2000"/>
                    </a:p>
                  </a:txBody>
                  <a:tcPr marT="60950" marB="60950" marR="121925" marL="121925"/>
                </a:tc>
              </a:tr>
              <a:tr h="417250">
                <a:tc>
                  <a:txBody>
                    <a:bodyPr/>
                    <a:lstStyle/>
                    <a:p>
                      <a:pPr indent="0" lvl="0" marL="0" marR="0" rtl="0" algn="l">
                        <a:spcBef>
                          <a:spcPts val="0"/>
                        </a:spcBef>
                        <a:spcAft>
                          <a:spcPts val="0"/>
                        </a:spcAft>
                        <a:buNone/>
                      </a:pPr>
                      <a:r>
                        <a:rPr b="1" lang="en-US" sz="2000"/>
                        <a:t>Hop Limit</a:t>
                      </a:r>
                      <a:endParaRPr/>
                    </a:p>
                  </a:txBody>
                  <a:tcPr marT="60950" marB="60950" marR="121925" marL="121925"/>
                </a:tc>
                <a:tc>
                  <a:txBody>
                    <a:bodyPr/>
                    <a:lstStyle/>
                    <a:p>
                      <a:pPr indent="0" lvl="0" marL="0" marR="0" rtl="0" algn="l">
                        <a:lnSpc>
                          <a:spcPct val="100000"/>
                        </a:lnSpc>
                        <a:spcBef>
                          <a:spcPts val="0"/>
                        </a:spcBef>
                        <a:spcAft>
                          <a:spcPts val="0"/>
                        </a:spcAft>
                        <a:buClr>
                          <a:schemeClr val="dk1"/>
                        </a:buClr>
                        <a:buSzPts val="2000"/>
                        <a:buFont typeface="Calibri"/>
                        <a:buNone/>
                      </a:pPr>
                      <a:r>
                        <a:rPr lang="en-US" sz="2000"/>
                        <a:t>Replaces</a:t>
                      </a:r>
                      <a:r>
                        <a:rPr lang="en-US" sz="2000"/>
                        <a:t> TTL field </a:t>
                      </a:r>
                      <a:r>
                        <a:rPr lang="en-US" sz="2000"/>
                        <a:t>Layer 3 hop count</a:t>
                      </a:r>
                      <a:endParaRPr/>
                    </a:p>
                  </a:txBody>
                  <a:tcPr marT="60950" marB="60950" marR="121925" marL="121925"/>
                </a:tc>
              </a:tr>
              <a:tr h="650475">
                <a:tc>
                  <a:txBody>
                    <a:bodyPr/>
                    <a:lstStyle/>
                    <a:p>
                      <a:pPr indent="0" lvl="0" marL="0" marR="0" rtl="0" algn="l">
                        <a:spcBef>
                          <a:spcPts val="0"/>
                        </a:spcBef>
                        <a:spcAft>
                          <a:spcPts val="0"/>
                        </a:spcAft>
                        <a:buNone/>
                      </a:pPr>
                      <a:r>
                        <a:rPr b="1" lang="en-US" sz="2000"/>
                        <a:t>Source IPv4 Address</a:t>
                      </a:r>
                      <a:endParaRPr sz="2000"/>
                    </a:p>
                  </a:txBody>
                  <a:tcPr marT="60950" marB="60950" marR="121925" marL="121925"/>
                </a:tc>
                <a:tc>
                  <a:txBody>
                    <a:bodyPr/>
                    <a:lstStyle/>
                    <a:p>
                      <a:pPr indent="0" lvl="0" marL="0" marR="0" rtl="0" algn="l">
                        <a:spcBef>
                          <a:spcPts val="0"/>
                        </a:spcBef>
                        <a:spcAft>
                          <a:spcPts val="0"/>
                        </a:spcAft>
                        <a:buNone/>
                      </a:pPr>
                      <a:r>
                        <a:rPr lang="en-US" sz="2000"/>
                        <a:t>128 bit source address</a:t>
                      </a:r>
                      <a:endParaRPr/>
                    </a:p>
                  </a:txBody>
                  <a:tcPr marT="60950" marB="60950" marR="121925" marL="121925"/>
                </a:tc>
              </a:tr>
              <a:tr h="715300">
                <a:tc>
                  <a:txBody>
                    <a:bodyPr/>
                    <a:lstStyle/>
                    <a:p>
                      <a:pPr indent="0" lvl="0" marL="0" marR="0" rtl="0" algn="l">
                        <a:spcBef>
                          <a:spcPts val="0"/>
                        </a:spcBef>
                        <a:spcAft>
                          <a:spcPts val="0"/>
                        </a:spcAft>
                        <a:buNone/>
                      </a:pPr>
                      <a:r>
                        <a:rPr b="1" lang="en-US" sz="2000"/>
                        <a:t>Destination IPV4 Address</a:t>
                      </a:r>
                      <a:endParaRPr/>
                    </a:p>
                  </a:txBody>
                  <a:tcPr marT="60950" marB="60950" marR="121925" marL="121925"/>
                </a:tc>
                <a:tc>
                  <a:txBody>
                    <a:bodyPr/>
                    <a:lstStyle/>
                    <a:p>
                      <a:pPr indent="0" lvl="0" marL="0" marR="0" rtl="0" algn="l">
                        <a:spcBef>
                          <a:spcPts val="0"/>
                        </a:spcBef>
                        <a:spcAft>
                          <a:spcPts val="0"/>
                        </a:spcAft>
                        <a:buNone/>
                      </a:pPr>
                      <a:r>
                        <a:rPr lang="en-US" sz="2000"/>
                        <a:t>128 bit destination</a:t>
                      </a:r>
                      <a:r>
                        <a:rPr lang="en-US" sz="2000"/>
                        <a:t> address</a:t>
                      </a:r>
                      <a:endParaRPr sz="2000"/>
                    </a:p>
                  </a:txBody>
                  <a:tcPr marT="60950" marB="60950" marR="121925" marL="121925"/>
                </a:tc>
              </a:tr>
            </a:tbl>
          </a:graphicData>
        </a:graphic>
      </p:graphicFrame>
    </p:spTree>
  </p:cSld>
  <p:clrMapOvr>
    <a:masterClrMapping/>
  </p:clrMapOvr>
  <p:transition spd="slow">
    <p:wipe dir="l"/>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4" name="Shape 2884"/>
        <p:cNvGrpSpPr/>
        <p:nvPr/>
      </p:nvGrpSpPr>
      <p:grpSpPr>
        <a:xfrm>
          <a:off x="0" y="0"/>
          <a:ext cx="0" cy="0"/>
          <a:chOff x="0" y="0"/>
          <a:chExt cx="0" cy="0"/>
        </a:xfrm>
      </p:grpSpPr>
      <p:sp>
        <p:nvSpPr>
          <p:cNvPr id="2885" name="Google Shape;2885;p46"/>
          <p:cNvSpPr txBox="1"/>
          <p:nvPr>
            <p:ph type="title"/>
          </p:nvPr>
        </p:nvSpPr>
        <p:spPr>
          <a:xfrm>
            <a:off x="0" y="1"/>
            <a:ext cx="11127317" cy="9757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C69"/>
              </a:buClr>
              <a:buSzPts val="2133"/>
              <a:buFont typeface="Calibri"/>
              <a:buNone/>
            </a:pPr>
            <a:r>
              <a:rPr lang="en-US" sz="2133"/>
              <a:t>IPv6 Address Representation</a:t>
            </a:r>
            <a:br>
              <a:rPr lang="en-US"/>
            </a:br>
            <a:r>
              <a:rPr lang="en-US" sz="3200"/>
              <a:t>IPv6 Addressing Formats</a:t>
            </a:r>
            <a:endParaRPr/>
          </a:p>
        </p:txBody>
      </p:sp>
      <p:sp>
        <p:nvSpPr>
          <p:cNvPr id="2886" name="Google Shape;2886;p46"/>
          <p:cNvSpPr txBox="1"/>
          <p:nvPr>
            <p:ph idx="1" type="body"/>
          </p:nvPr>
        </p:nvSpPr>
        <p:spPr>
          <a:xfrm>
            <a:off x="575963" y="1140559"/>
            <a:ext cx="10551355" cy="5337579"/>
          </a:xfrm>
          <a:prstGeom prst="rect">
            <a:avLst/>
          </a:prstGeom>
          <a:noFill/>
          <a:ln>
            <a:noFill/>
          </a:ln>
        </p:spPr>
        <p:txBody>
          <a:bodyPr anchorCtr="0" anchor="t" bIns="45700" lIns="91400" spcFirstLastPara="1" rIns="91400" wrap="square" tIns="45700">
            <a:noAutofit/>
          </a:bodyPr>
          <a:lstStyle/>
          <a:p>
            <a:pPr indent="-457189" lvl="0" marL="457189" rtl="0" algn="l">
              <a:lnSpc>
                <a:spcPct val="100000"/>
              </a:lnSpc>
              <a:spcBef>
                <a:spcPts val="0"/>
              </a:spcBef>
              <a:spcAft>
                <a:spcPts val="0"/>
              </a:spcAft>
              <a:buSzPts val="2133"/>
              <a:buFont typeface="Arial"/>
              <a:buChar char="•"/>
            </a:pPr>
            <a:r>
              <a:rPr lang="en-US" sz="2133">
                <a:solidFill>
                  <a:schemeClr val="dk1"/>
                </a:solidFill>
              </a:rPr>
              <a:t>IPv6 addresses are 128 bits in length and written in hexadecimal.</a:t>
            </a:r>
            <a:endParaRPr/>
          </a:p>
          <a:p>
            <a:pPr indent="-457189" lvl="0" marL="457189" rtl="0" algn="l">
              <a:lnSpc>
                <a:spcPct val="100000"/>
              </a:lnSpc>
              <a:spcBef>
                <a:spcPts val="427"/>
              </a:spcBef>
              <a:spcAft>
                <a:spcPts val="0"/>
              </a:spcAft>
              <a:buSzPts val="2133"/>
              <a:buFont typeface="Arial"/>
              <a:buChar char="•"/>
            </a:pPr>
            <a:r>
              <a:rPr lang="en-US" sz="2133">
                <a:solidFill>
                  <a:schemeClr val="dk1"/>
                </a:solidFill>
              </a:rPr>
              <a:t>IPv6 addresses are not case-sensitive and can be written in either lowercase or uppercase.</a:t>
            </a:r>
            <a:endParaRPr/>
          </a:p>
          <a:p>
            <a:pPr indent="-457189" lvl="0" marL="457189" rtl="0" algn="l">
              <a:lnSpc>
                <a:spcPct val="100000"/>
              </a:lnSpc>
              <a:spcBef>
                <a:spcPts val="427"/>
              </a:spcBef>
              <a:spcAft>
                <a:spcPts val="0"/>
              </a:spcAft>
              <a:buSzPts val="2133"/>
              <a:buFont typeface="Arial"/>
              <a:buChar char="•"/>
            </a:pPr>
            <a:r>
              <a:rPr lang="en-US" sz="2133">
                <a:solidFill>
                  <a:schemeClr val="dk1"/>
                </a:solidFill>
              </a:rPr>
              <a:t>The preferred format for writing an IPv6 address is x:x:x:x:x:x:x:x, with each “x” consisting of four hexadecimal values.</a:t>
            </a:r>
            <a:endParaRPr/>
          </a:p>
          <a:p>
            <a:pPr indent="-457189" lvl="0" marL="457189" rtl="0" algn="l">
              <a:lnSpc>
                <a:spcPct val="100000"/>
              </a:lnSpc>
              <a:spcBef>
                <a:spcPts val="427"/>
              </a:spcBef>
              <a:spcAft>
                <a:spcPts val="0"/>
              </a:spcAft>
              <a:buSzPts val="2133"/>
              <a:buFont typeface="Arial"/>
              <a:buChar char="•"/>
            </a:pPr>
            <a:r>
              <a:rPr lang="en-US" sz="2133">
                <a:solidFill>
                  <a:schemeClr val="dk1"/>
                </a:solidFill>
              </a:rPr>
              <a:t>In IPv6, a hextet is the unofficial term used to refer to a segment of 16 bits, or four hexadecimal values.</a:t>
            </a:r>
            <a:endParaRPr/>
          </a:p>
          <a:p>
            <a:pPr indent="-457189" lvl="0" marL="457189" rtl="0" algn="l">
              <a:lnSpc>
                <a:spcPct val="100000"/>
              </a:lnSpc>
              <a:spcBef>
                <a:spcPts val="427"/>
              </a:spcBef>
              <a:spcAft>
                <a:spcPts val="0"/>
              </a:spcAft>
              <a:buSzPts val="2133"/>
              <a:buFont typeface="Arial"/>
              <a:buChar char="•"/>
            </a:pPr>
            <a:r>
              <a:rPr lang="en-US" sz="2133">
                <a:solidFill>
                  <a:schemeClr val="dk1"/>
                </a:solidFill>
              </a:rPr>
              <a:t>Examples of IPv6 addresses in the preferred format:</a:t>
            </a:r>
            <a:endParaRPr/>
          </a:p>
          <a:p>
            <a:pPr indent="0" lvl="4" marL="478355" rtl="0" algn="l">
              <a:lnSpc>
                <a:spcPct val="90000"/>
              </a:lnSpc>
              <a:spcBef>
                <a:spcPts val="500"/>
              </a:spcBef>
              <a:spcAft>
                <a:spcPts val="0"/>
              </a:spcAft>
              <a:buClr>
                <a:schemeClr val="dk1"/>
              </a:buClr>
              <a:buSzPts val="2133"/>
              <a:buNone/>
            </a:pPr>
            <a:r>
              <a:rPr lang="en-US" sz="2133">
                <a:latin typeface="Courier New"/>
                <a:ea typeface="Courier New"/>
                <a:cs typeface="Courier New"/>
                <a:sym typeface="Courier New"/>
              </a:rPr>
              <a:t>2001:0db8:0000:1111:0000:0000:0000:0200 </a:t>
            </a:r>
            <a:endParaRPr/>
          </a:p>
          <a:p>
            <a:pPr indent="0" lvl="4" marL="478355" rtl="0" algn="l">
              <a:lnSpc>
                <a:spcPct val="90000"/>
              </a:lnSpc>
              <a:spcBef>
                <a:spcPts val="500"/>
              </a:spcBef>
              <a:spcAft>
                <a:spcPts val="0"/>
              </a:spcAft>
              <a:buClr>
                <a:schemeClr val="dk1"/>
              </a:buClr>
              <a:buSzPts val="2133"/>
              <a:buNone/>
            </a:pPr>
            <a:r>
              <a:rPr lang="en-US" sz="2133">
                <a:latin typeface="Courier New"/>
                <a:ea typeface="Courier New"/>
                <a:cs typeface="Courier New"/>
                <a:sym typeface="Courier New"/>
              </a:rPr>
              <a:t>2001:0db8:0000:00a3:abcd:0000:0000:1234 </a:t>
            </a:r>
            <a:endParaRPr sz="2133">
              <a:latin typeface="Courier New"/>
              <a:ea typeface="Courier New"/>
              <a:cs typeface="Courier New"/>
              <a:sym typeface="Courier New"/>
            </a:endParaRPr>
          </a:p>
          <a:p>
            <a:pPr indent="-304789" lvl="0" marL="457189" rtl="0" algn="l">
              <a:lnSpc>
                <a:spcPct val="100000"/>
              </a:lnSpc>
              <a:spcBef>
                <a:spcPts val="480"/>
              </a:spcBef>
              <a:spcAft>
                <a:spcPts val="0"/>
              </a:spcAft>
              <a:buSzPts val="2400"/>
              <a:buFont typeface="Arial"/>
              <a:buNone/>
            </a:pPr>
            <a:r>
              <a:t/>
            </a:r>
            <a:endParaRPr sz="2400">
              <a:solidFill>
                <a:schemeClr val="dk1"/>
              </a:solidFill>
            </a:endParaRPr>
          </a:p>
          <a:p>
            <a:pPr indent="0" lvl="0" marL="0" rtl="0" algn="l">
              <a:lnSpc>
                <a:spcPct val="100000"/>
              </a:lnSpc>
              <a:spcBef>
                <a:spcPts val="427"/>
              </a:spcBef>
              <a:spcAft>
                <a:spcPts val="0"/>
              </a:spcAft>
              <a:buSzPts val="2133"/>
              <a:buNone/>
            </a:pPr>
            <a:r>
              <a:t/>
            </a:r>
            <a:endParaRPr sz="2133">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1" name="Shape 2891"/>
        <p:cNvGrpSpPr/>
        <p:nvPr/>
      </p:nvGrpSpPr>
      <p:grpSpPr>
        <a:xfrm>
          <a:off x="0" y="0"/>
          <a:ext cx="0" cy="0"/>
          <a:chOff x="0" y="0"/>
          <a:chExt cx="0" cy="0"/>
        </a:xfrm>
      </p:grpSpPr>
      <p:sp>
        <p:nvSpPr>
          <p:cNvPr id="2892" name="Google Shape;2892;p47"/>
          <p:cNvSpPr txBox="1"/>
          <p:nvPr>
            <p:ph type="title"/>
          </p:nvPr>
        </p:nvSpPr>
        <p:spPr>
          <a:xfrm>
            <a:off x="0" y="1"/>
            <a:ext cx="11127317" cy="9757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C69"/>
              </a:buClr>
              <a:buSzPts val="2133"/>
              <a:buFont typeface="Calibri"/>
              <a:buNone/>
            </a:pPr>
            <a:r>
              <a:rPr lang="en-US" sz="2133"/>
              <a:t>IPv6 Address Representation</a:t>
            </a:r>
            <a:br>
              <a:rPr lang="en-US"/>
            </a:br>
            <a:r>
              <a:rPr lang="en-US" sz="3200"/>
              <a:t>Rule 1 – Omit Leading Zero</a:t>
            </a:r>
            <a:endParaRPr/>
          </a:p>
        </p:txBody>
      </p:sp>
      <p:sp>
        <p:nvSpPr>
          <p:cNvPr id="2893" name="Google Shape;2893;p47"/>
          <p:cNvSpPr txBox="1"/>
          <p:nvPr>
            <p:ph idx="1" type="body"/>
          </p:nvPr>
        </p:nvSpPr>
        <p:spPr>
          <a:xfrm>
            <a:off x="575963" y="798302"/>
            <a:ext cx="10551355" cy="386032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133"/>
              <a:buNone/>
            </a:pPr>
            <a:r>
              <a:rPr lang="en-US" sz="2133">
                <a:solidFill>
                  <a:schemeClr val="dk1"/>
                </a:solidFill>
              </a:rPr>
              <a:t>The first rule to help reduce the notation of IPv6 addresses is to omit any leading 0s (zeros).</a:t>
            </a:r>
            <a:endParaRPr/>
          </a:p>
          <a:p>
            <a:pPr indent="0" lvl="1" marL="97444" rtl="0" algn="l">
              <a:lnSpc>
                <a:spcPct val="90000"/>
              </a:lnSpc>
              <a:spcBef>
                <a:spcPts val="500"/>
              </a:spcBef>
              <a:spcAft>
                <a:spcPts val="0"/>
              </a:spcAft>
              <a:buSzPts val="2133"/>
              <a:buNone/>
            </a:pPr>
            <a:r>
              <a:rPr b="1" lang="en-US" sz="2133"/>
              <a:t>Examples:</a:t>
            </a:r>
            <a:endParaRPr/>
          </a:p>
          <a:p>
            <a:pPr indent="-380990" lvl="0" marL="380990" rtl="0" algn="l">
              <a:lnSpc>
                <a:spcPct val="100000"/>
              </a:lnSpc>
              <a:spcBef>
                <a:spcPts val="427"/>
              </a:spcBef>
              <a:spcAft>
                <a:spcPts val="0"/>
              </a:spcAft>
              <a:buSzPts val="2133"/>
              <a:buFont typeface="Arial"/>
              <a:buChar char="•"/>
            </a:pPr>
            <a:r>
              <a:rPr lang="en-US" sz="2133">
                <a:solidFill>
                  <a:schemeClr val="dk1"/>
                </a:solidFill>
              </a:rPr>
              <a:t>01ab can be represented as 1ab</a:t>
            </a:r>
            <a:endParaRPr/>
          </a:p>
          <a:p>
            <a:pPr indent="-380990" lvl="0" marL="380990" rtl="0" algn="l">
              <a:lnSpc>
                <a:spcPct val="100000"/>
              </a:lnSpc>
              <a:spcBef>
                <a:spcPts val="427"/>
              </a:spcBef>
              <a:spcAft>
                <a:spcPts val="0"/>
              </a:spcAft>
              <a:buSzPts val="2133"/>
              <a:buFont typeface="Arial"/>
              <a:buChar char="•"/>
            </a:pPr>
            <a:r>
              <a:rPr lang="en-US" sz="2133">
                <a:solidFill>
                  <a:schemeClr val="dk1"/>
                </a:solidFill>
              </a:rPr>
              <a:t>09f0 can be represented as 9f0</a:t>
            </a:r>
            <a:endParaRPr/>
          </a:p>
          <a:p>
            <a:pPr indent="-380990" lvl="0" marL="380990" rtl="0" algn="l">
              <a:lnSpc>
                <a:spcPct val="100000"/>
              </a:lnSpc>
              <a:spcBef>
                <a:spcPts val="427"/>
              </a:spcBef>
              <a:spcAft>
                <a:spcPts val="0"/>
              </a:spcAft>
              <a:buSzPts val="2133"/>
              <a:buFont typeface="Arial"/>
              <a:buChar char="•"/>
            </a:pPr>
            <a:r>
              <a:rPr lang="en-US" sz="2133">
                <a:solidFill>
                  <a:schemeClr val="dk1"/>
                </a:solidFill>
              </a:rPr>
              <a:t>0a00 can be represented as a00</a:t>
            </a:r>
            <a:endParaRPr/>
          </a:p>
          <a:p>
            <a:pPr indent="-380990" lvl="0" marL="380990" rtl="0" algn="l">
              <a:lnSpc>
                <a:spcPct val="100000"/>
              </a:lnSpc>
              <a:spcBef>
                <a:spcPts val="427"/>
              </a:spcBef>
              <a:spcAft>
                <a:spcPts val="0"/>
              </a:spcAft>
              <a:buSzPts val="2133"/>
              <a:buFont typeface="Arial"/>
              <a:buChar char="•"/>
            </a:pPr>
            <a:r>
              <a:rPr lang="en-US" sz="2133">
                <a:solidFill>
                  <a:schemeClr val="dk1"/>
                </a:solidFill>
              </a:rPr>
              <a:t>00ab can be represented as ab</a:t>
            </a:r>
            <a:endParaRPr/>
          </a:p>
          <a:p>
            <a:pPr indent="-245545" lvl="0" marL="380990" rtl="0" algn="l">
              <a:lnSpc>
                <a:spcPct val="100000"/>
              </a:lnSpc>
              <a:spcBef>
                <a:spcPts val="427"/>
              </a:spcBef>
              <a:spcAft>
                <a:spcPts val="0"/>
              </a:spcAft>
              <a:buSzPts val="2133"/>
              <a:buFont typeface="Arial"/>
              <a:buNone/>
            </a:pPr>
            <a:r>
              <a:t/>
            </a:r>
            <a:endParaRPr sz="2133">
              <a:solidFill>
                <a:schemeClr val="dk1"/>
              </a:solidFill>
            </a:endParaRPr>
          </a:p>
          <a:p>
            <a:pPr indent="0" lvl="0" marL="0" rtl="0" algn="l">
              <a:lnSpc>
                <a:spcPct val="100000"/>
              </a:lnSpc>
              <a:spcBef>
                <a:spcPts val="427"/>
              </a:spcBef>
              <a:spcAft>
                <a:spcPts val="0"/>
              </a:spcAft>
              <a:buSzPts val="2133"/>
              <a:buNone/>
            </a:pPr>
            <a:r>
              <a:rPr b="1" lang="en-US" sz="2133">
                <a:solidFill>
                  <a:schemeClr val="dk1"/>
                </a:solidFill>
              </a:rPr>
              <a:t>Note</a:t>
            </a:r>
            <a:r>
              <a:rPr lang="en-US" sz="2133">
                <a:solidFill>
                  <a:schemeClr val="dk1"/>
                </a:solidFill>
              </a:rPr>
              <a:t>:</a:t>
            </a:r>
            <a:r>
              <a:rPr b="1" lang="en-US" sz="2133">
                <a:solidFill>
                  <a:schemeClr val="dk1"/>
                </a:solidFill>
              </a:rPr>
              <a:t> </a:t>
            </a:r>
            <a:r>
              <a:rPr lang="en-US" sz="2133">
                <a:solidFill>
                  <a:schemeClr val="dk1"/>
                </a:solidFill>
              </a:rPr>
              <a:t>This rule only applies to leading 0s, NOT to trailing 0s, otherwise the address would be ambiguous. </a:t>
            </a:r>
            <a:endParaRPr/>
          </a:p>
          <a:p>
            <a:pPr indent="-355589" lvl="1" marL="554633" rtl="0" algn="l">
              <a:lnSpc>
                <a:spcPct val="90000"/>
              </a:lnSpc>
              <a:spcBef>
                <a:spcPts val="500"/>
              </a:spcBef>
              <a:spcAft>
                <a:spcPts val="0"/>
              </a:spcAft>
              <a:buSzPts val="1600"/>
              <a:buNone/>
            </a:pPr>
            <a:r>
              <a:t/>
            </a:r>
            <a:endParaRPr sz="1600"/>
          </a:p>
          <a:p>
            <a:pPr indent="0" lvl="0" marL="0" rtl="0" algn="l">
              <a:lnSpc>
                <a:spcPct val="100000"/>
              </a:lnSpc>
              <a:spcBef>
                <a:spcPts val="427"/>
              </a:spcBef>
              <a:spcAft>
                <a:spcPts val="0"/>
              </a:spcAft>
              <a:buSzPts val="2133"/>
              <a:buNone/>
            </a:pPr>
            <a:r>
              <a:t/>
            </a:r>
            <a:endParaRPr sz="2133">
              <a:solidFill>
                <a:schemeClr val="dk1"/>
              </a:solidFill>
            </a:endParaRPr>
          </a:p>
        </p:txBody>
      </p:sp>
      <p:graphicFrame>
        <p:nvGraphicFramePr>
          <p:cNvPr id="2894" name="Google Shape;2894;p47"/>
          <p:cNvGraphicFramePr/>
          <p:nvPr/>
        </p:nvGraphicFramePr>
        <p:xfrm>
          <a:off x="1000994" y="5023379"/>
          <a:ext cx="3000000" cy="3000000"/>
        </p:xfrm>
        <a:graphic>
          <a:graphicData uri="http://schemas.openxmlformats.org/drawingml/2006/table">
            <a:tbl>
              <a:tblPr bandRow="1" firstRow="1">
                <a:noFill/>
                <a:tableStyleId>{13E968C8-3ED9-4231-9F66-C6A1EFCAA592}</a:tableStyleId>
              </a:tblPr>
              <a:tblGrid>
                <a:gridCol w="2617500"/>
                <a:gridCol w="6205300"/>
              </a:tblGrid>
              <a:tr h="345450">
                <a:tc>
                  <a:txBody>
                    <a:bodyPr/>
                    <a:lstStyle/>
                    <a:p>
                      <a:pPr indent="0" lvl="0" marL="0" marR="0" rtl="0" algn="l">
                        <a:spcBef>
                          <a:spcPts val="0"/>
                        </a:spcBef>
                        <a:spcAft>
                          <a:spcPts val="0"/>
                        </a:spcAft>
                        <a:buNone/>
                      </a:pPr>
                      <a:r>
                        <a:rPr lang="en-US" sz="1500"/>
                        <a:t>Type</a:t>
                      </a:r>
                      <a:endParaRPr/>
                    </a:p>
                  </a:txBody>
                  <a:tcPr marT="60950" marB="60950" marR="121925" marL="121925"/>
                </a:tc>
                <a:tc>
                  <a:txBody>
                    <a:bodyPr/>
                    <a:lstStyle/>
                    <a:p>
                      <a:pPr indent="0" lvl="0" marL="0" marR="0" rtl="0" algn="l">
                        <a:spcBef>
                          <a:spcPts val="0"/>
                        </a:spcBef>
                        <a:spcAft>
                          <a:spcPts val="0"/>
                        </a:spcAft>
                        <a:buNone/>
                      </a:pPr>
                      <a:r>
                        <a:rPr lang="en-US" sz="1500"/>
                        <a:t>Format</a:t>
                      </a:r>
                      <a:endParaRPr/>
                    </a:p>
                  </a:txBody>
                  <a:tcPr marT="60950" marB="60950" marR="121925" marL="121925"/>
                </a:tc>
              </a:tr>
              <a:tr h="345450">
                <a:tc>
                  <a:txBody>
                    <a:bodyPr/>
                    <a:lstStyle/>
                    <a:p>
                      <a:pPr indent="0" lvl="0" marL="0" marR="0" rtl="0" algn="l">
                        <a:spcBef>
                          <a:spcPts val="0"/>
                        </a:spcBef>
                        <a:spcAft>
                          <a:spcPts val="0"/>
                        </a:spcAft>
                        <a:buNone/>
                      </a:pPr>
                      <a:r>
                        <a:rPr lang="en-US" sz="1500">
                          <a:solidFill>
                            <a:srgbClr val="000000"/>
                          </a:solidFill>
                        </a:rPr>
                        <a:t>Preferred</a:t>
                      </a:r>
                      <a:endParaRPr/>
                    </a:p>
                  </a:txBody>
                  <a:tcPr marT="60950" marB="60950" marR="121925" marL="121925"/>
                </a:tc>
                <a:tc>
                  <a:txBody>
                    <a:bodyPr/>
                    <a:lstStyle/>
                    <a:p>
                      <a:pPr indent="0" lvl="0" marL="0" marR="0" rtl="0" algn="l">
                        <a:spcBef>
                          <a:spcPts val="0"/>
                        </a:spcBef>
                        <a:spcAft>
                          <a:spcPts val="0"/>
                        </a:spcAft>
                        <a:buNone/>
                      </a:pPr>
                      <a:r>
                        <a:rPr lang="en-US" sz="1500"/>
                        <a:t>2001 : </a:t>
                      </a:r>
                      <a:r>
                        <a:rPr b="1" lang="en-US" sz="1500"/>
                        <a:t>0</a:t>
                      </a:r>
                      <a:r>
                        <a:rPr lang="en-US" sz="1500"/>
                        <a:t>db8 : </a:t>
                      </a:r>
                      <a:r>
                        <a:rPr b="1" lang="en-US" sz="1500"/>
                        <a:t>000</a:t>
                      </a:r>
                      <a:r>
                        <a:rPr lang="en-US" sz="1500"/>
                        <a:t>0 : 1111 : </a:t>
                      </a:r>
                      <a:r>
                        <a:rPr b="1" lang="en-US" sz="1500"/>
                        <a:t>000</a:t>
                      </a:r>
                      <a:r>
                        <a:rPr lang="en-US" sz="1500"/>
                        <a:t>0 : </a:t>
                      </a:r>
                      <a:r>
                        <a:rPr b="1" lang="en-US" sz="1500"/>
                        <a:t>000</a:t>
                      </a:r>
                      <a:r>
                        <a:rPr lang="en-US" sz="1500"/>
                        <a:t>0 : </a:t>
                      </a:r>
                      <a:r>
                        <a:rPr b="1" lang="en-US" sz="1500"/>
                        <a:t>000</a:t>
                      </a:r>
                      <a:r>
                        <a:rPr lang="en-US" sz="1500"/>
                        <a:t>0 : </a:t>
                      </a:r>
                      <a:r>
                        <a:rPr b="1" lang="en-US" sz="1500"/>
                        <a:t>0</a:t>
                      </a:r>
                      <a:r>
                        <a:rPr lang="en-US" sz="1500"/>
                        <a:t>200</a:t>
                      </a:r>
                      <a:endParaRPr sz="1500">
                        <a:solidFill>
                          <a:srgbClr val="000000"/>
                        </a:solidFill>
                      </a:endParaRPr>
                    </a:p>
                  </a:txBody>
                  <a:tcPr marT="60950" marB="60950" marR="121925" marL="121925"/>
                </a:tc>
              </a:tr>
              <a:tr h="345450">
                <a:tc>
                  <a:txBody>
                    <a:bodyPr/>
                    <a:lstStyle/>
                    <a:p>
                      <a:pPr indent="0" lvl="0" marL="0" marR="0" rtl="0" algn="l">
                        <a:lnSpc>
                          <a:spcPct val="100000"/>
                        </a:lnSpc>
                        <a:spcBef>
                          <a:spcPts val="0"/>
                        </a:spcBef>
                        <a:spcAft>
                          <a:spcPts val="0"/>
                        </a:spcAft>
                        <a:buClr>
                          <a:srgbClr val="000000"/>
                        </a:buClr>
                        <a:buSzPts val="1500"/>
                        <a:buFont typeface="Calibri"/>
                        <a:buNone/>
                      </a:pPr>
                      <a:r>
                        <a:rPr lang="en-US" sz="1500">
                          <a:solidFill>
                            <a:srgbClr val="000000"/>
                          </a:solidFill>
                        </a:rPr>
                        <a:t>No leading zeros</a:t>
                      </a:r>
                      <a:endParaRPr/>
                    </a:p>
                  </a:txBody>
                  <a:tcPr marT="60950" marB="60950" marR="121925" marL="121925"/>
                </a:tc>
                <a:tc>
                  <a:txBody>
                    <a:bodyPr/>
                    <a:lstStyle/>
                    <a:p>
                      <a:pPr indent="0" lvl="0" marL="0" marR="0" rtl="0" algn="l">
                        <a:spcBef>
                          <a:spcPts val="0"/>
                        </a:spcBef>
                        <a:spcAft>
                          <a:spcPts val="0"/>
                        </a:spcAft>
                        <a:buNone/>
                      </a:pPr>
                      <a:r>
                        <a:rPr lang="en-US" sz="1500"/>
                        <a:t>2001 : db8 : 0 : 1111 : 0 : 0 : 0 : 200</a:t>
                      </a:r>
                      <a:endParaRPr sz="1500">
                        <a:solidFill>
                          <a:srgbClr val="000000"/>
                        </a:solidFill>
                      </a:endParaRPr>
                    </a:p>
                  </a:txBody>
                  <a:tcPr marT="60950" marB="60950" marR="121925" marL="1219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9" name="Shape 2899"/>
        <p:cNvGrpSpPr/>
        <p:nvPr/>
      </p:nvGrpSpPr>
      <p:grpSpPr>
        <a:xfrm>
          <a:off x="0" y="0"/>
          <a:ext cx="0" cy="0"/>
          <a:chOff x="0" y="0"/>
          <a:chExt cx="0" cy="0"/>
        </a:xfrm>
      </p:grpSpPr>
      <p:sp>
        <p:nvSpPr>
          <p:cNvPr id="2900" name="Google Shape;2900;p48"/>
          <p:cNvSpPr txBox="1"/>
          <p:nvPr>
            <p:ph type="title"/>
          </p:nvPr>
        </p:nvSpPr>
        <p:spPr>
          <a:xfrm>
            <a:off x="0" y="1"/>
            <a:ext cx="11127317" cy="9757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C69"/>
              </a:buClr>
              <a:buSzPts val="2133"/>
              <a:buFont typeface="Calibri"/>
              <a:buNone/>
            </a:pPr>
            <a:r>
              <a:rPr lang="en-US" sz="2133"/>
              <a:t>IPv6 Address Representation</a:t>
            </a:r>
            <a:br>
              <a:rPr lang="en-US"/>
            </a:br>
            <a:r>
              <a:rPr lang="en-US" sz="3200"/>
              <a:t>Rule 2 – Double Colon</a:t>
            </a:r>
            <a:endParaRPr/>
          </a:p>
        </p:txBody>
      </p:sp>
      <p:sp>
        <p:nvSpPr>
          <p:cNvPr id="2901" name="Google Shape;2901;p48"/>
          <p:cNvSpPr txBox="1"/>
          <p:nvPr>
            <p:ph idx="1" type="body"/>
          </p:nvPr>
        </p:nvSpPr>
        <p:spPr>
          <a:xfrm>
            <a:off x="575963" y="1140559"/>
            <a:ext cx="10551355" cy="319988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400"/>
              <a:buNone/>
            </a:pPr>
            <a:r>
              <a:rPr lang="en-US" sz="2400">
                <a:solidFill>
                  <a:schemeClr val="dk1"/>
                </a:solidFill>
              </a:rPr>
              <a:t>A double colon (::) can replace any single, contiguous string of one or more 16-bit hextets consisting of all zeros. </a:t>
            </a:r>
            <a:endParaRPr/>
          </a:p>
          <a:p>
            <a:pPr indent="0" lvl="0" marL="0" rtl="0" algn="l">
              <a:lnSpc>
                <a:spcPct val="100000"/>
              </a:lnSpc>
              <a:spcBef>
                <a:spcPts val="427"/>
              </a:spcBef>
              <a:spcAft>
                <a:spcPts val="0"/>
              </a:spcAft>
              <a:buSzPts val="2133"/>
              <a:buNone/>
            </a:pPr>
            <a:r>
              <a:rPr b="1" lang="en-US" sz="2133">
                <a:solidFill>
                  <a:schemeClr val="dk1"/>
                </a:solidFill>
              </a:rPr>
              <a:t>Example:</a:t>
            </a:r>
            <a:endParaRPr/>
          </a:p>
          <a:p>
            <a:pPr indent="-380990" lvl="0" marL="380990" rtl="0" algn="l">
              <a:lnSpc>
                <a:spcPct val="100000"/>
              </a:lnSpc>
              <a:spcBef>
                <a:spcPts val="373"/>
              </a:spcBef>
              <a:spcAft>
                <a:spcPts val="0"/>
              </a:spcAft>
              <a:buSzPts val="1867"/>
              <a:buFont typeface="Arial"/>
              <a:buChar char="•"/>
            </a:pPr>
            <a:r>
              <a:rPr lang="en-US" sz="1867">
                <a:solidFill>
                  <a:schemeClr val="dk1"/>
                </a:solidFill>
              </a:rPr>
              <a:t>2001:db8:cafe:1:0:0:0:1 (leading 0s omitted) could be represented as 2001:db8:cafe:1::1</a:t>
            </a:r>
            <a:endParaRPr/>
          </a:p>
          <a:p>
            <a:pPr indent="0" lvl="0" marL="0" rtl="0" algn="l">
              <a:lnSpc>
                <a:spcPct val="100000"/>
              </a:lnSpc>
              <a:spcBef>
                <a:spcPts val="427"/>
              </a:spcBef>
              <a:spcAft>
                <a:spcPts val="0"/>
              </a:spcAft>
              <a:buSzPts val="2133"/>
              <a:buNone/>
            </a:pPr>
            <a:r>
              <a:t/>
            </a:r>
            <a:endParaRPr sz="2133">
              <a:solidFill>
                <a:schemeClr val="dk1"/>
              </a:solidFill>
            </a:endParaRPr>
          </a:p>
          <a:p>
            <a:pPr indent="0" lvl="0" marL="0" rtl="0" algn="l">
              <a:lnSpc>
                <a:spcPct val="100000"/>
              </a:lnSpc>
              <a:spcBef>
                <a:spcPts val="427"/>
              </a:spcBef>
              <a:spcAft>
                <a:spcPts val="0"/>
              </a:spcAft>
              <a:buSzPts val="2133"/>
              <a:buNone/>
            </a:pPr>
            <a:r>
              <a:rPr b="1" lang="en-US" sz="2133">
                <a:solidFill>
                  <a:schemeClr val="dk1"/>
                </a:solidFill>
              </a:rPr>
              <a:t>Note</a:t>
            </a:r>
            <a:r>
              <a:rPr lang="en-US" sz="2133">
                <a:solidFill>
                  <a:schemeClr val="dk1"/>
                </a:solidFill>
              </a:rPr>
              <a:t>: </a:t>
            </a:r>
            <a:r>
              <a:rPr lang="en-US" sz="1867">
                <a:solidFill>
                  <a:schemeClr val="dk1"/>
                </a:solidFill>
              </a:rPr>
              <a:t>The double colon (::) can only be used once within an address, otherwise there would be more than one possible resulting address.</a:t>
            </a:r>
            <a:endParaRPr/>
          </a:p>
          <a:p>
            <a:pPr indent="0" lvl="0" marL="0" rtl="0" algn="l">
              <a:lnSpc>
                <a:spcPct val="100000"/>
              </a:lnSpc>
              <a:spcBef>
                <a:spcPts val="427"/>
              </a:spcBef>
              <a:spcAft>
                <a:spcPts val="0"/>
              </a:spcAft>
              <a:buSzPts val="2133"/>
              <a:buNone/>
            </a:pPr>
            <a:r>
              <a:t/>
            </a:r>
            <a:endParaRPr sz="2133">
              <a:solidFill>
                <a:schemeClr val="dk1"/>
              </a:solidFill>
            </a:endParaRPr>
          </a:p>
        </p:txBody>
      </p:sp>
      <p:graphicFrame>
        <p:nvGraphicFramePr>
          <p:cNvPr id="2902" name="Google Shape;2902;p48"/>
          <p:cNvGraphicFramePr/>
          <p:nvPr/>
        </p:nvGraphicFramePr>
        <p:xfrm>
          <a:off x="891811" y="4340443"/>
          <a:ext cx="3000000" cy="3000000"/>
        </p:xfrm>
        <a:graphic>
          <a:graphicData uri="http://schemas.openxmlformats.org/drawingml/2006/table">
            <a:tbl>
              <a:tblPr bandRow="1" firstRow="1">
                <a:noFill/>
                <a:tableStyleId>{13E968C8-3ED9-4231-9F66-C6A1EFCAA592}</a:tableStyleId>
              </a:tblPr>
              <a:tblGrid>
                <a:gridCol w="2617500"/>
                <a:gridCol w="6205300"/>
              </a:tblGrid>
              <a:tr h="345450">
                <a:tc>
                  <a:txBody>
                    <a:bodyPr/>
                    <a:lstStyle/>
                    <a:p>
                      <a:pPr indent="0" lvl="0" marL="0" marR="0" rtl="0" algn="l">
                        <a:spcBef>
                          <a:spcPts val="0"/>
                        </a:spcBef>
                        <a:spcAft>
                          <a:spcPts val="0"/>
                        </a:spcAft>
                        <a:buNone/>
                      </a:pPr>
                      <a:r>
                        <a:rPr lang="en-US" sz="1500"/>
                        <a:t>Type</a:t>
                      </a:r>
                      <a:endParaRPr/>
                    </a:p>
                  </a:txBody>
                  <a:tcPr marT="60950" marB="60950" marR="121925" marL="121925"/>
                </a:tc>
                <a:tc>
                  <a:txBody>
                    <a:bodyPr/>
                    <a:lstStyle/>
                    <a:p>
                      <a:pPr indent="0" lvl="0" marL="0" marR="0" rtl="0" algn="l">
                        <a:spcBef>
                          <a:spcPts val="0"/>
                        </a:spcBef>
                        <a:spcAft>
                          <a:spcPts val="0"/>
                        </a:spcAft>
                        <a:buNone/>
                      </a:pPr>
                      <a:r>
                        <a:rPr lang="en-US" sz="1500"/>
                        <a:t>Format</a:t>
                      </a:r>
                      <a:endParaRPr/>
                    </a:p>
                  </a:txBody>
                  <a:tcPr marT="60950" marB="60950" marR="121925" marL="121925"/>
                </a:tc>
              </a:tr>
              <a:tr h="345450">
                <a:tc>
                  <a:txBody>
                    <a:bodyPr/>
                    <a:lstStyle/>
                    <a:p>
                      <a:pPr indent="0" lvl="0" marL="0" marR="0" rtl="0" algn="l">
                        <a:spcBef>
                          <a:spcPts val="0"/>
                        </a:spcBef>
                        <a:spcAft>
                          <a:spcPts val="0"/>
                        </a:spcAft>
                        <a:buNone/>
                      </a:pPr>
                      <a:r>
                        <a:rPr lang="en-US" sz="1500">
                          <a:solidFill>
                            <a:srgbClr val="000000"/>
                          </a:solidFill>
                        </a:rPr>
                        <a:t>Preferred</a:t>
                      </a:r>
                      <a:endParaRPr/>
                    </a:p>
                  </a:txBody>
                  <a:tcPr marT="60950" marB="60950" marR="121925" marL="121925"/>
                </a:tc>
                <a:tc>
                  <a:txBody>
                    <a:bodyPr/>
                    <a:lstStyle/>
                    <a:p>
                      <a:pPr indent="0" lvl="0" marL="0" marR="0" rtl="0" algn="l">
                        <a:spcBef>
                          <a:spcPts val="0"/>
                        </a:spcBef>
                        <a:spcAft>
                          <a:spcPts val="0"/>
                        </a:spcAft>
                        <a:buNone/>
                      </a:pPr>
                      <a:r>
                        <a:rPr lang="en-US" sz="1500"/>
                        <a:t>2001 : </a:t>
                      </a:r>
                      <a:r>
                        <a:rPr b="1" lang="en-US" sz="1500"/>
                        <a:t>0</a:t>
                      </a:r>
                      <a:r>
                        <a:rPr lang="en-US" sz="1500"/>
                        <a:t>db8 : </a:t>
                      </a:r>
                      <a:r>
                        <a:rPr b="1" lang="en-US" sz="1500"/>
                        <a:t>000</a:t>
                      </a:r>
                      <a:r>
                        <a:rPr lang="en-US" sz="1500"/>
                        <a:t>0 : 1111 : </a:t>
                      </a:r>
                      <a:r>
                        <a:rPr b="1" lang="en-US" sz="1500"/>
                        <a:t>0000</a:t>
                      </a:r>
                      <a:r>
                        <a:rPr lang="en-US" sz="1500"/>
                        <a:t> : </a:t>
                      </a:r>
                      <a:r>
                        <a:rPr b="1" lang="en-US" sz="1500"/>
                        <a:t>0000</a:t>
                      </a:r>
                      <a:r>
                        <a:rPr lang="en-US" sz="1500"/>
                        <a:t> : </a:t>
                      </a:r>
                      <a:r>
                        <a:rPr b="1" lang="en-US" sz="1500"/>
                        <a:t>0000</a:t>
                      </a:r>
                      <a:r>
                        <a:rPr lang="en-US" sz="1500"/>
                        <a:t> : </a:t>
                      </a:r>
                      <a:r>
                        <a:rPr b="1" lang="en-US" sz="1500"/>
                        <a:t>0</a:t>
                      </a:r>
                      <a:r>
                        <a:rPr lang="en-US" sz="1500"/>
                        <a:t>200</a:t>
                      </a:r>
                      <a:endParaRPr sz="1500">
                        <a:solidFill>
                          <a:srgbClr val="000000"/>
                        </a:solidFill>
                      </a:endParaRPr>
                    </a:p>
                  </a:txBody>
                  <a:tcPr marT="60950" marB="60950" marR="121925" marL="121925"/>
                </a:tc>
              </a:tr>
              <a:tr h="345450">
                <a:tc>
                  <a:txBody>
                    <a:bodyPr/>
                    <a:lstStyle/>
                    <a:p>
                      <a:pPr indent="0" lvl="0" marL="0" marR="0" rtl="0" algn="l">
                        <a:lnSpc>
                          <a:spcPct val="100000"/>
                        </a:lnSpc>
                        <a:spcBef>
                          <a:spcPts val="0"/>
                        </a:spcBef>
                        <a:spcAft>
                          <a:spcPts val="0"/>
                        </a:spcAft>
                        <a:buClr>
                          <a:srgbClr val="000000"/>
                        </a:buClr>
                        <a:buSzPts val="1500"/>
                        <a:buFont typeface="Calibri"/>
                        <a:buNone/>
                      </a:pPr>
                      <a:r>
                        <a:rPr lang="en-US" sz="1500">
                          <a:solidFill>
                            <a:srgbClr val="000000"/>
                          </a:solidFill>
                        </a:rPr>
                        <a:t>Compressed</a:t>
                      </a:r>
                      <a:endParaRPr/>
                    </a:p>
                  </a:txBody>
                  <a:tcPr marT="60950" marB="60950" marR="121925" marL="121925"/>
                </a:tc>
                <a:tc>
                  <a:txBody>
                    <a:bodyPr/>
                    <a:lstStyle/>
                    <a:p>
                      <a:pPr indent="0" lvl="0" marL="0" marR="0" rtl="0" algn="l">
                        <a:spcBef>
                          <a:spcPts val="0"/>
                        </a:spcBef>
                        <a:spcAft>
                          <a:spcPts val="0"/>
                        </a:spcAft>
                        <a:buNone/>
                      </a:pPr>
                      <a:r>
                        <a:rPr lang="en-US" sz="1500"/>
                        <a:t>2001:db8:0:1111::200</a:t>
                      </a:r>
                      <a:endParaRPr sz="1500">
                        <a:solidFill>
                          <a:srgbClr val="000000"/>
                        </a:solidFill>
                      </a:endParaRPr>
                    </a:p>
                  </a:txBody>
                  <a:tcPr marT="60950" marB="60950" marR="121925" marL="1219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7" name="Shape 2907"/>
        <p:cNvGrpSpPr/>
        <p:nvPr/>
      </p:nvGrpSpPr>
      <p:grpSpPr>
        <a:xfrm>
          <a:off x="0" y="0"/>
          <a:ext cx="0" cy="0"/>
          <a:chOff x="0" y="0"/>
          <a:chExt cx="0" cy="0"/>
        </a:xfrm>
      </p:grpSpPr>
      <p:sp>
        <p:nvSpPr>
          <p:cNvPr id="2908" name="Google Shape;2908;p49"/>
          <p:cNvSpPr txBox="1"/>
          <p:nvPr>
            <p:ph type="title"/>
          </p:nvPr>
        </p:nvSpPr>
        <p:spPr>
          <a:xfrm>
            <a:off x="176981" y="164776"/>
            <a:ext cx="11127317" cy="9757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C69"/>
              </a:buClr>
              <a:buSzPts val="2133"/>
              <a:buFont typeface="Calibri"/>
              <a:buNone/>
            </a:pPr>
            <a:r>
              <a:rPr lang="en-US" sz="2133"/>
              <a:t>IPv4 Issues</a:t>
            </a:r>
            <a:br>
              <a:rPr lang="en-US"/>
            </a:br>
            <a:r>
              <a:rPr lang="en-US" sz="3200"/>
              <a:t>IPv4 and IPv6 Coexistence</a:t>
            </a:r>
            <a:endParaRPr/>
          </a:p>
        </p:txBody>
      </p:sp>
      <p:sp>
        <p:nvSpPr>
          <p:cNvPr id="2909" name="Google Shape;2909;p49"/>
          <p:cNvSpPr txBox="1"/>
          <p:nvPr>
            <p:ph idx="1" type="body"/>
          </p:nvPr>
        </p:nvSpPr>
        <p:spPr>
          <a:xfrm>
            <a:off x="575962" y="1455191"/>
            <a:ext cx="10551356" cy="409859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133"/>
              <a:buNone/>
            </a:pPr>
            <a:r>
              <a:rPr lang="en-US" sz="2133">
                <a:solidFill>
                  <a:schemeClr val="dk1"/>
                </a:solidFill>
              </a:rPr>
              <a:t>Both IPv4 and IPv6 will coexist in the near future and the transition will take several years.</a:t>
            </a:r>
            <a:endParaRPr/>
          </a:p>
          <a:p>
            <a:pPr indent="0" lvl="0" marL="0" rtl="0" algn="l">
              <a:lnSpc>
                <a:spcPct val="100000"/>
              </a:lnSpc>
              <a:spcBef>
                <a:spcPts val="1200"/>
              </a:spcBef>
              <a:spcAft>
                <a:spcPts val="0"/>
              </a:spcAft>
              <a:buSzPts val="2133"/>
              <a:buNone/>
            </a:pPr>
            <a:r>
              <a:rPr lang="en-US" sz="2133">
                <a:solidFill>
                  <a:schemeClr val="dk1"/>
                </a:solidFill>
              </a:rPr>
              <a:t>The IETF has created various protocols and tools to help network administrators migrate their networks to IPv6. These migration techniques can be divided into three categories:</a:t>
            </a:r>
            <a:endParaRPr/>
          </a:p>
          <a:p>
            <a:pPr indent="-457189" lvl="1" marL="554633" rtl="0" algn="l">
              <a:lnSpc>
                <a:spcPct val="90000"/>
              </a:lnSpc>
              <a:spcBef>
                <a:spcPts val="1200"/>
              </a:spcBef>
              <a:spcAft>
                <a:spcPts val="0"/>
              </a:spcAft>
              <a:buSzPts val="2400"/>
              <a:buChar char="•"/>
            </a:pPr>
            <a:r>
              <a:rPr b="1" lang="en-US">
                <a:solidFill>
                  <a:schemeClr val="dk1"/>
                </a:solidFill>
              </a:rPr>
              <a:t>Dual stack </a:t>
            </a:r>
            <a:r>
              <a:rPr lang="en-US">
                <a:solidFill>
                  <a:schemeClr val="dk1"/>
                </a:solidFill>
              </a:rPr>
              <a:t>-The devices run both IPv4 and IPv6 protocol stacks simultaneously.</a:t>
            </a:r>
            <a:endParaRPr/>
          </a:p>
          <a:p>
            <a:pPr indent="-457189" lvl="1" marL="554633" rtl="0" algn="l">
              <a:lnSpc>
                <a:spcPct val="90000"/>
              </a:lnSpc>
              <a:spcBef>
                <a:spcPts val="1200"/>
              </a:spcBef>
              <a:spcAft>
                <a:spcPts val="0"/>
              </a:spcAft>
              <a:buSzPts val="2400"/>
              <a:buChar char="•"/>
            </a:pPr>
            <a:r>
              <a:rPr b="1" lang="en-US"/>
              <a:t>Tunneling</a:t>
            </a:r>
            <a:r>
              <a:rPr lang="en-US"/>
              <a:t> – A method of transporting an IPv6 packet over an IPv4 network. The IPv6 packet is encapsulated inside an IPv4 packet.</a:t>
            </a:r>
            <a:endParaRPr/>
          </a:p>
          <a:p>
            <a:pPr indent="-457189" lvl="1" marL="554633" rtl="0" algn="l">
              <a:lnSpc>
                <a:spcPct val="90000"/>
              </a:lnSpc>
              <a:spcBef>
                <a:spcPts val="1200"/>
              </a:spcBef>
              <a:spcAft>
                <a:spcPts val="0"/>
              </a:spcAft>
              <a:buSzPts val="2400"/>
              <a:buChar char="•"/>
            </a:pPr>
            <a:r>
              <a:rPr b="1" lang="en-US">
                <a:solidFill>
                  <a:schemeClr val="dk1"/>
                </a:solidFill>
              </a:rPr>
              <a:t>Translation</a:t>
            </a:r>
            <a:r>
              <a:rPr lang="en-US">
                <a:solidFill>
                  <a:schemeClr val="dk1"/>
                </a:solidFill>
              </a:rPr>
              <a:t> - </a:t>
            </a:r>
            <a:r>
              <a:rPr lang="en-US"/>
              <a:t>Network Address Translation 64 (NAT64) allows IPv6-enabled devices to communicate with IPv4-enabled devices using a translation technique similar to NAT for IPv4. </a:t>
            </a:r>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4" name="Shape 2914"/>
        <p:cNvGrpSpPr/>
        <p:nvPr/>
      </p:nvGrpSpPr>
      <p:grpSpPr>
        <a:xfrm>
          <a:off x="0" y="0"/>
          <a:ext cx="0" cy="0"/>
          <a:chOff x="0" y="0"/>
          <a:chExt cx="0" cy="0"/>
        </a:xfrm>
      </p:grpSpPr>
      <p:sp>
        <p:nvSpPr>
          <p:cNvPr id="2915" name="Google Shape;2915;p50"/>
          <p:cNvSpPr txBox="1"/>
          <p:nvPr>
            <p:ph idx="1" type="body"/>
          </p:nvPr>
        </p:nvSpPr>
        <p:spPr>
          <a:xfrm>
            <a:off x="838200" y="1379475"/>
            <a:ext cx="10515600" cy="1193105"/>
          </a:xfrm>
          <a:prstGeom prst="rect">
            <a:avLst/>
          </a:prstGeom>
          <a:noFill/>
          <a:ln>
            <a:noFill/>
          </a:ln>
        </p:spPr>
        <p:txBody>
          <a:bodyPr anchorCtr="0" anchor="t" bIns="45700" lIns="91425" spcFirstLastPara="1" rIns="91425" wrap="square" tIns="45700">
            <a:normAutofit/>
          </a:bodyPr>
          <a:lstStyle/>
          <a:p>
            <a:pPr indent="-222250" lvl="0" marL="352425" rtl="0" algn="l">
              <a:lnSpc>
                <a:spcPct val="75000"/>
              </a:lnSpc>
              <a:spcBef>
                <a:spcPts val="0"/>
              </a:spcBef>
              <a:spcAft>
                <a:spcPts val="0"/>
              </a:spcAft>
              <a:buSzPts val="2800"/>
              <a:buChar char="▪"/>
            </a:pPr>
            <a:r>
              <a:rPr lang="en-US"/>
              <a:t>not all routers can be upgraded simultaneously</a:t>
            </a:r>
            <a:endParaRPr/>
          </a:p>
          <a:p>
            <a:pPr indent="-231775" lvl="1" marL="695325" rtl="0" algn="l">
              <a:lnSpc>
                <a:spcPct val="75000"/>
              </a:lnSpc>
              <a:spcBef>
                <a:spcPts val="500"/>
              </a:spcBef>
              <a:spcAft>
                <a:spcPts val="0"/>
              </a:spcAft>
              <a:buSzPts val="2800"/>
              <a:buChar char="•"/>
            </a:pPr>
            <a:r>
              <a:rPr lang="en-US" sz="2800"/>
              <a:t>no “flag days”</a:t>
            </a:r>
            <a:endParaRPr/>
          </a:p>
          <a:p>
            <a:pPr indent="-231775" lvl="1" marL="695325" rtl="0" algn="l">
              <a:lnSpc>
                <a:spcPct val="75000"/>
              </a:lnSpc>
              <a:spcBef>
                <a:spcPts val="500"/>
              </a:spcBef>
              <a:spcAft>
                <a:spcPts val="0"/>
              </a:spcAft>
              <a:buSzPts val="2800"/>
              <a:buChar char="•"/>
            </a:pPr>
            <a:r>
              <a:rPr lang="en-US" sz="2800"/>
              <a:t>how will network operate with mixed IPv4 and IPv6 routers? </a:t>
            </a:r>
            <a:endParaRPr/>
          </a:p>
        </p:txBody>
      </p:sp>
      <p:sp>
        <p:nvSpPr>
          <p:cNvPr id="2916" name="Google Shape;2916;p5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Transition from IPv4 to IPv6</a:t>
            </a:r>
            <a:endParaRPr/>
          </a:p>
        </p:txBody>
      </p:sp>
      <p:grpSp>
        <p:nvGrpSpPr>
          <p:cNvPr id="2917" name="Google Shape;2917;p50"/>
          <p:cNvGrpSpPr/>
          <p:nvPr/>
        </p:nvGrpSpPr>
        <p:grpSpPr>
          <a:xfrm>
            <a:off x="2588799" y="4315653"/>
            <a:ext cx="6629400" cy="2227263"/>
            <a:chOff x="2588799" y="4315653"/>
            <a:chExt cx="6629400" cy="2227263"/>
          </a:xfrm>
        </p:grpSpPr>
        <p:grpSp>
          <p:nvGrpSpPr>
            <p:cNvPr id="2918" name="Google Shape;2918;p50"/>
            <p:cNvGrpSpPr/>
            <p:nvPr/>
          </p:nvGrpSpPr>
          <p:grpSpPr>
            <a:xfrm>
              <a:off x="3387311" y="5349116"/>
              <a:ext cx="4854575" cy="473075"/>
              <a:chOff x="1163" y="3504"/>
              <a:chExt cx="3058" cy="298"/>
            </a:xfrm>
          </p:grpSpPr>
          <p:sp>
            <p:nvSpPr>
              <p:cNvPr id="2919" name="Google Shape;2919;p50"/>
              <p:cNvSpPr/>
              <p:nvPr/>
            </p:nvSpPr>
            <p:spPr>
              <a:xfrm>
                <a:off x="1163" y="3505"/>
                <a:ext cx="3058" cy="295"/>
              </a:xfrm>
              <a:prstGeom prst="rect">
                <a:avLst/>
              </a:prstGeom>
              <a:gradFill>
                <a:gsLst>
                  <a:gs pos="0">
                    <a:srgbClr val="CC0000">
                      <a:alpha val="41176"/>
                    </a:srgbClr>
                  </a:gs>
                  <a:gs pos="100000">
                    <a:srgbClr val="CC0000">
                      <a:alpha val="38039"/>
                    </a:srgbClr>
                  </a:gs>
                </a:gsLst>
                <a:lin ang="5400000" scaled="0"/>
              </a:gradFill>
              <a:ln cap="flat" cmpd="sng" w="9525">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920" name="Google Shape;2920;p50"/>
              <p:cNvCxnSpPr/>
              <p:nvPr/>
            </p:nvCxnSpPr>
            <p:spPr>
              <a:xfrm>
                <a:off x="2022" y="3504"/>
                <a:ext cx="0" cy="295"/>
              </a:xfrm>
              <a:prstGeom prst="straightConnector1">
                <a:avLst/>
              </a:prstGeom>
              <a:noFill/>
              <a:ln cap="flat" cmpd="sng" w="9525">
                <a:solidFill>
                  <a:srgbClr val="CC0000"/>
                </a:solidFill>
                <a:prstDash val="solid"/>
                <a:round/>
                <a:headEnd len="med" w="med" type="none"/>
                <a:tailEnd len="med" w="med" type="none"/>
              </a:ln>
            </p:spPr>
          </p:cxnSp>
          <p:cxnSp>
            <p:nvCxnSpPr>
              <p:cNvPr id="2921" name="Google Shape;2921;p50"/>
              <p:cNvCxnSpPr/>
              <p:nvPr/>
            </p:nvCxnSpPr>
            <p:spPr>
              <a:xfrm>
                <a:off x="1781" y="3507"/>
                <a:ext cx="0" cy="295"/>
              </a:xfrm>
              <a:prstGeom prst="straightConnector1">
                <a:avLst/>
              </a:prstGeom>
              <a:noFill/>
              <a:ln cap="flat" cmpd="sng" w="9525">
                <a:solidFill>
                  <a:srgbClr val="CC0000"/>
                </a:solidFill>
                <a:prstDash val="solid"/>
                <a:round/>
                <a:headEnd len="med" w="med" type="none"/>
                <a:tailEnd len="med" w="med" type="none"/>
              </a:ln>
            </p:spPr>
          </p:cxnSp>
          <p:cxnSp>
            <p:nvCxnSpPr>
              <p:cNvPr id="2922" name="Google Shape;2922;p50"/>
              <p:cNvCxnSpPr/>
              <p:nvPr/>
            </p:nvCxnSpPr>
            <p:spPr>
              <a:xfrm>
                <a:off x="1532" y="3504"/>
                <a:ext cx="0" cy="295"/>
              </a:xfrm>
              <a:prstGeom prst="straightConnector1">
                <a:avLst/>
              </a:prstGeom>
              <a:noFill/>
              <a:ln cap="flat" cmpd="sng" w="9525">
                <a:solidFill>
                  <a:srgbClr val="CC0000"/>
                </a:solidFill>
                <a:prstDash val="solid"/>
                <a:round/>
                <a:headEnd len="med" w="med" type="none"/>
                <a:tailEnd len="med" w="med" type="none"/>
              </a:ln>
            </p:spPr>
          </p:cxnSp>
          <p:cxnSp>
            <p:nvCxnSpPr>
              <p:cNvPr id="2923" name="Google Shape;2923;p50"/>
              <p:cNvCxnSpPr/>
              <p:nvPr/>
            </p:nvCxnSpPr>
            <p:spPr>
              <a:xfrm>
                <a:off x="1187"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2924" name="Google Shape;2924;p50"/>
              <p:cNvCxnSpPr/>
              <p:nvPr/>
            </p:nvCxnSpPr>
            <p:spPr>
              <a:xfrm>
                <a:off x="1187"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2925" name="Google Shape;2925;p50"/>
              <p:cNvCxnSpPr/>
              <p:nvPr/>
            </p:nvCxnSpPr>
            <p:spPr>
              <a:xfrm>
                <a:off x="1283"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2926" name="Google Shape;2926;p50"/>
              <p:cNvCxnSpPr/>
              <p:nvPr/>
            </p:nvCxnSpPr>
            <p:spPr>
              <a:xfrm>
                <a:off x="1283"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2927" name="Google Shape;2927;p50"/>
              <p:cNvCxnSpPr/>
              <p:nvPr/>
            </p:nvCxnSpPr>
            <p:spPr>
              <a:xfrm>
                <a:off x="1379"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2928" name="Google Shape;2928;p50"/>
              <p:cNvCxnSpPr/>
              <p:nvPr/>
            </p:nvCxnSpPr>
            <p:spPr>
              <a:xfrm>
                <a:off x="1379"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2929" name="Google Shape;2929;p50"/>
              <p:cNvCxnSpPr/>
              <p:nvPr/>
            </p:nvCxnSpPr>
            <p:spPr>
              <a:xfrm>
                <a:off x="1475"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2930" name="Google Shape;2930;p50"/>
              <p:cNvCxnSpPr/>
              <p:nvPr/>
            </p:nvCxnSpPr>
            <p:spPr>
              <a:xfrm>
                <a:off x="1475"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2931" name="Google Shape;2931;p50"/>
              <p:cNvCxnSpPr/>
              <p:nvPr/>
            </p:nvCxnSpPr>
            <p:spPr>
              <a:xfrm>
                <a:off x="1327" y="3506"/>
                <a:ext cx="0" cy="56"/>
              </a:xfrm>
              <a:prstGeom prst="straightConnector1">
                <a:avLst/>
              </a:prstGeom>
              <a:noFill/>
              <a:ln cap="flat" cmpd="sng" w="9525">
                <a:solidFill>
                  <a:srgbClr val="CC0000"/>
                </a:solidFill>
                <a:prstDash val="solid"/>
                <a:round/>
                <a:headEnd len="med" w="med" type="none"/>
                <a:tailEnd len="med" w="med" type="none"/>
              </a:ln>
            </p:spPr>
          </p:cxnSp>
          <p:cxnSp>
            <p:nvCxnSpPr>
              <p:cNvPr id="2932" name="Google Shape;2932;p50"/>
              <p:cNvCxnSpPr/>
              <p:nvPr/>
            </p:nvCxnSpPr>
            <p:spPr>
              <a:xfrm>
                <a:off x="1327" y="3744"/>
                <a:ext cx="0" cy="56"/>
              </a:xfrm>
              <a:prstGeom prst="straightConnector1">
                <a:avLst/>
              </a:prstGeom>
              <a:noFill/>
              <a:ln cap="flat" cmpd="sng" w="9525">
                <a:solidFill>
                  <a:srgbClr val="CC0000"/>
                </a:solidFill>
                <a:prstDash val="solid"/>
                <a:round/>
                <a:headEnd len="med" w="med" type="none"/>
                <a:tailEnd len="med" w="med" type="none"/>
              </a:ln>
            </p:spPr>
          </p:cxnSp>
          <p:cxnSp>
            <p:nvCxnSpPr>
              <p:cNvPr id="2933" name="Google Shape;2933;p50"/>
              <p:cNvCxnSpPr/>
              <p:nvPr/>
            </p:nvCxnSpPr>
            <p:spPr>
              <a:xfrm>
                <a:off x="1213" y="3508"/>
                <a:ext cx="0" cy="56"/>
              </a:xfrm>
              <a:prstGeom prst="straightConnector1">
                <a:avLst/>
              </a:prstGeom>
              <a:noFill/>
              <a:ln cap="flat" cmpd="sng" w="9525">
                <a:solidFill>
                  <a:srgbClr val="CC0000"/>
                </a:solidFill>
                <a:prstDash val="solid"/>
                <a:round/>
                <a:headEnd len="med" w="med" type="none"/>
                <a:tailEnd len="med" w="med" type="none"/>
              </a:ln>
            </p:spPr>
          </p:cxnSp>
          <p:cxnSp>
            <p:nvCxnSpPr>
              <p:cNvPr id="2934" name="Google Shape;2934;p50"/>
              <p:cNvCxnSpPr/>
              <p:nvPr/>
            </p:nvCxnSpPr>
            <p:spPr>
              <a:xfrm>
                <a:off x="1213" y="3746"/>
                <a:ext cx="0" cy="56"/>
              </a:xfrm>
              <a:prstGeom prst="straightConnector1">
                <a:avLst/>
              </a:prstGeom>
              <a:noFill/>
              <a:ln cap="flat" cmpd="sng" w="9525">
                <a:solidFill>
                  <a:srgbClr val="CC0000"/>
                </a:solidFill>
                <a:prstDash val="solid"/>
                <a:round/>
                <a:headEnd len="med" w="med" type="none"/>
                <a:tailEnd len="med" w="med" type="none"/>
              </a:ln>
            </p:spPr>
          </p:cxnSp>
        </p:grpSp>
        <p:sp>
          <p:nvSpPr>
            <p:cNvPr id="2935" name="Google Shape;2935;p50"/>
            <p:cNvSpPr txBox="1"/>
            <p:nvPr/>
          </p:nvSpPr>
          <p:spPr>
            <a:xfrm>
              <a:off x="2882486" y="4547428"/>
              <a:ext cx="20066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IPv4 source, dest addr </a:t>
              </a:r>
              <a:endParaRPr/>
            </a:p>
          </p:txBody>
        </p:sp>
        <p:sp>
          <p:nvSpPr>
            <p:cNvPr id="2936" name="Google Shape;2936;p50"/>
            <p:cNvSpPr txBox="1"/>
            <p:nvPr/>
          </p:nvSpPr>
          <p:spPr>
            <a:xfrm>
              <a:off x="2588799" y="4315653"/>
              <a:ext cx="1652587"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IPv4 header fields </a:t>
              </a:r>
              <a:endParaRPr/>
            </a:p>
          </p:txBody>
        </p:sp>
        <p:cxnSp>
          <p:nvCxnSpPr>
            <p:cNvPr id="2937" name="Google Shape;2937;p50"/>
            <p:cNvCxnSpPr/>
            <p:nvPr/>
          </p:nvCxnSpPr>
          <p:spPr>
            <a:xfrm>
              <a:off x="4141374" y="4806191"/>
              <a:ext cx="0" cy="738187"/>
            </a:xfrm>
            <a:prstGeom prst="straightConnector1">
              <a:avLst/>
            </a:prstGeom>
            <a:noFill/>
            <a:ln cap="flat" cmpd="sng" w="9525">
              <a:solidFill>
                <a:srgbClr val="CC0000"/>
              </a:solidFill>
              <a:prstDash val="solid"/>
              <a:round/>
              <a:headEnd len="med" w="med" type="none"/>
              <a:tailEnd len="med" w="med" type="none"/>
            </a:ln>
          </p:spPr>
        </p:cxnSp>
        <p:cxnSp>
          <p:nvCxnSpPr>
            <p:cNvPr id="2938" name="Google Shape;2938;p50"/>
            <p:cNvCxnSpPr/>
            <p:nvPr/>
          </p:nvCxnSpPr>
          <p:spPr>
            <a:xfrm>
              <a:off x="4146136" y="4801428"/>
              <a:ext cx="381000" cy="738188"/>
            </a:xfrm>
            <a:prstGeom prst="straightConnector1">
              <a:avLst/>
            </a:prstGeom>
            <a:noFill/>
            <a:ln cap="flat" cmpd="sng" w="9525">
              <a:solidFill>
                <a:srgbClr val="CC0000"/>
              </a:solidFill>
              <a:prstDash val="solid"/>
              <a:round/>
              <a:headEnd len="med" w="med" type="none"/>
              <a:tailEnd len="med" w="med" type="none"/>
            </a:ln>
          </p:spPr>
        </p:cxnSp>
        <p:cxnSp>
          <p:nvCxnSpPr>
            <p:cNvPr id="2939" name="Google Shape;2939;p50"/>
            <p:cNvCxnSpPr/>
            <p:nvPr/>
          </p:nvCxnSpPr>
          <p:spPr>
            <a:xfrm>
              <a:off x="3546061" y="4558541"/>
              <a:ext cx="0" cy="976312"/>
            </a:xfrm>
            <a:prstGeom prst="straightConnector1">
              <a:avLst/>
            </a:prstGeom>
            <a:noFill/>
            <a:ln cap="flat" cmpd="sng" w="9525">
              <a:solidFill>
                <a:srgbClr val="CC0000"/>
              </a:solidFill>
              <a:prstDash val="solid"/>
              <a:round/>
              <a:headEnd len="med" w="med" type="none"/>
              <a:tailEnd len="med" w="med" type="none"/>
            </a:ln>
          </p:spPr>
        </p:cxnSp>
        <p:sp>
          <p:nvSpPr>
            <p:cNvPr id="2940" name="Google Shape;2940;p50"/>
            <p:cNvSpPr txBox="1"/>
            <p:nvPr/>
          </p:nvSpPr>
          <p:spPr>
            <a:xfrm>
              <a:off x="4949411" y="6176203"/>
              <a:ext cx="16700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IPv4 datagram</a:t>
              </a:r>
              <a:endParaRPr/>
            </a:p>
          </p:txBody>
        </p:sp>
        <p:cxnSp>
          <p:nvCxnSpPr>
            <p:cNvPr id="2941" name="Google Shape;2941;p50"/>
            <p:cNvCxnSpPr/>
            <p:nvPr/>
          </p:nvCxnSpPr>
          <p:spPr>
            <a:xfrm>
              <a:off x="6570249" y="6365116"/>
              <a:ext cx="1695450" cy="0"/>
            </a:xfrm>
            <a:prstGeom prst="straightConnector1">
              <a:avLst/>
            </a:prstGeom>
            <a:noFill/>
            <a:ln cap="flat" cmpd="sng" w="9525">
              <a:solidFill>
                <a:schemeClr val="dk1"/>
              </a:solidFill>
              <a:prstDash val="solid"/>
              <a:round/>
              <a:headEnd len="med" w="med" type="none"/>
              <a:tailEnd len="med" w="med" type="triangle"/>
            </a:ln>
          </p:spPr>
        </p:cxnSp>
        <p:cxnSp>
          <p:nvCxnSpPr>
            <p:cNvPr id="2942" name="Google Shape;2942;p50"/>
            <p:cNvCxnSpPr/>
            <p:nvPr/>
          </p:nvCxnSpPr>
          <p:spPr>
            <a:xfrm rot="10800000">
              <a:off x="3380961" y="6365116"/>
              <a:ext cx="1606550" cy="0"/>
            </a:xfrm>
            <a:prstGeom prst="straightConnector1">
              <a:avLst/>
            </a:prstGeom>
            <a:noFill/>
            <a:ln cap="flat" cmpd="sng" w="9525">
              <a:solidFill>
                <a:schemeClr val="dk1"/>
              </a:solidFill>
              <a:prstDash val="solid"/>
              <a:round/>
              <a:headEnd len="med" w="med" type="none"/>
              <a:tailEnd len="med" w="med" type="triangle"/>
            </a:ln>
          </p:spPr>
        </p:cxnSp>
        <p:sp>
          <p:nvSpPr>
            <p:cNvPr id="2943" name="Google Shape;2943;p50"/>
            <p:cNvSpPr txBox="1"/>
            <p:nvPr/>
          </p:nvSpPr>
          <p:spPr>
            <a:xfrm>
              <a:off x="5670136" y="5826953"/>
              <a:ext cx="16700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IPv6 datagram</a:t>
              </a:r>
              <a:endParaRPr/>
            </a:p>
          </p:txBody>
        </p:sp>
        <p:cxnSp>
          <p:nvCxnSpPr>
            <p:cNvPr id="2944" name="Google Shape;2944;p50"/>
            <p:cNvCxnSpPr/>
            <p:nvPr/>
          </p:nvCxnSpPr>
          <p:spPr>
            <a:xfrm>
              <a:off x="7306849" y="5996816"/>
              <a:ext cx="857250" cy="0"/>
            </a:xfrm>
            <a:prstGeom prst="straightConnector1">
              <a:avLst/>
            </a:prstGeom>
            <a:noFill/>
            <a:ln cap="flat" cmpd="sng" w="9525">
              <a:solidFill>
                <a:schemeClr val="dk1"/>
              </a:solidFill>
              <a:prstDash val="solid"/>
              <a:round/>
              <a:headEnd len="med" w="med" type="none"/>
              <a:tailEnd len="med" w="med" type="triangle"/>
            </a:ln>
          </p:spPr>
        </p:cxnSp>
        <p:cxnSp>
          <p:nvCxnSpPr>
            <p:cNvPr id="2945" name="Google Shape;2945;p50"/>
            <p:cNvCxnSpPr/>
            <p:nvPr/>
          </p:nvCxnSpPr>
          <p:spPr>
            <a:xfrm rot="10800000">
              <a:off x="4808124" y="5996816"/>
              <a:ext cx="925512" cy="0"/>
            </a:xfrm>
            <a:prstGeom prst="straightConnector1">
              <a:avLst/>
            </a:prstGeom>
            <a:noFill/>
            <a:ln cap="flat" cmpd="sng" w="9525">
              <a:solidFill>
                <a:schemeClr val="dk1"/>
              </a:solidFill>
              <a:prstDash val="solid"/>
              <a:round/>
              <a:headEnd len="med" w="med" type="none"/>
              <a:tailEnd len="med" w="med" type="triangle"/>
            </a:ln>
          </p:spPr>
        </p:cxnSp>
        <p:sp>
          <p:nvSpPr>
            <p:cNvPr id="2946" name="Google Shape;2946;p50"/>
            <p:cNvSpPr/>
            <p:nvPr/>
          </p:nvSpPr>
          <p:spPr>
            <a:xfrm>
              <a:off x="4776374" y="5384041"/>
              <a:ext cx="3422650" cy="401637"/>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2947" name="Google Shape;2947;p50"/>
            <p:cNvGrpSpPr/>
            <p:nvPr/>
          </p:nvGrpSpPr>
          <p:grpSpPr>
            <a:xfrm>
              <a:off x="5838411" y="4414078"/>
              <a:ext cx="3379788" cy="1109663"/>
              <a:chOff x="2868" y="2782"/>
              <a:chExt cx="2129" cy="699"/>
            </a:xfrm>
          </p:grpSpPr>
          <p:sp>
            <p:nvSpPr>
              <p:cNvPr id="2948" name="Google Shape;2948;p50"/>
              <p:cNvSpPr txBox="1"/>
              <p:nvPr/>
            </p:nvSpPr>
            <p:spPr>
              <a:xfrm>
                <a:off x="4204" y="2782"/>
                <a:ext cx="793"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IPv4 payload </a:t>
                </a:r>
                <a:endParaRPr/>
              </a:p>
            </p:txBody>
          </p:sp>
          <p:cxnSp>
            <p:nvCxnSpPr>
              <p:cNvPr id="2949" name="Google Shape;2949;p50"/>
              <p:cNvCxnSpPr/>
              <p:nvPr/>
            </p:nvCxnSpPr>
            <p:spPr>
              <a:xfrm flipH="1">
                <a:off x="2868" y="2979"/>
                <a:ext cx="1532" cy="502"/>
              </a:xfrm>
              <a:prstGeom prst="straightConnector1">
                <a:avLst/>
              </a:prstGeom>
              <a:noFill/>
              <a:ln cap="flat" cmpd="sng" w="9525">
                <a:solidFill>
                  <a:srgbClr val="CC0000"/>
                </a:solidFill>
                <a:prstDash val="solid"/>
                <a:round/>
                <a:headEnd len="med" w="med" type="none"/>
                <a:tailEnd len="med" w="med" type="none"/>
              </a:ln>
            </p:spPr>
          </p:cxnSp>
        </p:grpSp>
      </p:grpSp>
      <p:grpSp>
        <p:nvGrpSpPr>
          <p:cNvPr id="2950" name="Google Shape;2950;p50"/>
          <p:cNvGrpSpPr/>
          <p:nvPr/>
        </p:nvGrpSpPr>
        <p:grpSpPr>
          <a:xfrm>
            <a:off x="4792249" y="4318828"/>
            <a:ext cx="3402012" cy="1476375"/>
            <a:chOff x="2280" y="1247"/>
            <a:chExt cx="2143" cy="930"/>
          </a:xfrm>
        </p:grpSpPr>
        <p:sp>
          <p:nvSpPr>
            <p:cNvPr id="2951" name="Google Shape;2951;p50"/>
            <p:cNvSpPr/>
            <p:nvPr/>
          </p:nvSpPr>
          <p:spPr>
            <a:xfrm>
              <a:off x="2280" y="1918"/>
              <a:ext cx="2143" cy="253"/>
            </a:xfrm>
            <a:prstGeom prst="rect">
              <a:avLst/>
            </a:prstGeom>
            <a:solidFill>
              <a:srgbClr val="66CCFF"/>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952" name="Google Shape;2952;p50"/>
            <p:cNvCxnSpPr/>
            <p:nvPr/>
          </p:nvCxnSpPr>
          <p:spPr>
            <a:xfrm>
              <a:off x="2333" y="1918"/>
              <a:ext cx="0" cy="254"/>
            </a:xfrm>
            <a:prstGeom prst="straightConnector1">
              <a:avLst/>
            </a:prstGeom>
            <a:noFill/>
            <a:ln cap="flat" cmpd="sng" w="9525">
              <a:solidFill>
                <a:schemeClr val="dk1"/>
              </a:solidFill>
              <a:prstDash val="solid"/>
              <a:round/>
              <a:headEnd len="med" w="med" type="none"/>
              <a:tailEnd len="med" w="med" type="none"/>
            </a:ln>
          </p:spPr>
        </p:cxnSp>
        <p:cxnSp>
          <p:nvCxnSpPr>
            <p:cNvPr id="2953" name="Google Shape;2953;p50"/>
            <p:cNvCxnSpPr/>
            <p:nvPr/>
          </p:nvCxnSpPr>
          <p:spPr>
            <a:xfrm>
              <a:off x="2307" y="1917"/>
              <a:ext cx="0" cy="254"/>
            </a:xfrm>
            <a:prstGeom prst="straightConnector1">
              <a:avLst/>
            </a:prstGeom>
            <a:noFill/>
            <a:ln cap="flat" cmpd="sng" w="9525">
              <a:solidFill>
                <a:schemeClr val="dk1"/>
              </a:solidFill>
              <a:prstDash val="solid"/>
              <a:round/>
              <a:headEnd len="med" w="med" type="none"/>
              <a:tailEnd len="med" w="med" type="none"/>
            </a:ln>
          </p:spPr>
        </p:cxnSp>
        <p:cxnSp>
          <p:nvCxnSpPr>
            <p:cNvPr id="2954" name="Google Shape;2954;p50"/>
            <p:cNvCxnSpPr/>
            <p:nvPr/>
          </p:nvCxnSpPr>
          <p:spPr>
            <a:xfrm>
              <a:off x="2381" y="1918"/>
              <a:ext cx="0" cy="254"/>
            </a:xfrm>
            <a:prstGeom prst="straightConnector1">
              <a:avLst/>
            </a:prstGeom>
            <a:noFill/>
            <a:ln cap="flat" cmpd="sng" w="9525">
              <a:solidFill>
                <a:schemeClr val="dk1"/>
              </a:solidFill>
              <a:prstDash val="solid"/>
              <a:round/>
              <a:headEnd len="med" w="med" type="none"/>
              <a:tailEnd len="med" w="med" type="none"/>
            </a:ln>
          </p:spPr>
        </p:cxnSp>
        <p:cxnSp>
          <p:nvCxnSpPr>
            <p:cNvPr id="2955" name="Google Shape;2955;p50"/>
            <p:cNvCxnSpPr/>
            <p:nvPr/>
          </p:nvCxnSpPr>
          <p:spPr>
            <a:xfrm>
              <a:off x="2407"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2956" name="Google Shape;2956;p50"/>
            <p:cNvCxnSpPr/>
            <p:nvPr/>
          </p:nvCxnSpPr>
          <p:spPr>
            <a:xfrm>
              <a:off x="2441"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2957" name="Google Shape;2957;p50"/>
            <p:cNvCxnSpPr/>
            <p:nvPr/>
          </p:nvCxnSpPr>
          <p:spPr>
            <a:xfrm>
              <a:off x="2483"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2958" name="Google Shape;2958;p50"/>
            <p:cNvCxnSpPr/>
            <p:nvPr/>
          </p:nvCxnSpPr>
          <p:spPr>
            <a:xfrm>
              <a:off x="2679" y="1923"/>
              <a:ext cx="0" cy="254"/>
            </a:xfrm>
            <a:prstGeom prst="straightConnector1">
              <a:avLst/>
            </a:prstGeom>
            <a:noFill/>
            <a:ln cap="flat" cmpd="sng" w="9525">
              <a:solidFill>
                <a:schemeClr val="dk1"/>
              </a:solidFill>
              <a:prstDash val="solid"/>
              <a:round/>
              <a:headEnd len="med" w="med" type="none"/>
              <a:tailEnd len="med" w="med" type="none"/>
            </a:ln>
          </p:spPr>
        </p:cxnSp>
        <p:cxnSp>
          <p:nvCxnSpPr>
            <p:cNvPr id="2959" name="Google Shape;2959;p50"/>
            <p:cNvCxnSpPr/>
            <p:nvPr/>
          </p:nvCxnSpPr>
          <p:spPr>
            <a:xfrm>
              <a:off x="2915" y="1923"/>
              <a:ext cx="0" cy="254"/>
            </a:xfrm>
            <a:prstGeom prst="straightConnector1">
              <a:avLst/>
            </a:prstGeom>
            <a:noFill/>
            <a:ln cap="flat" cmpd="sng" w="9525">
              <a:solidFill>
                <a:schemeClr val="dk1"/>
              </a:solidFill>
              <a:prstDash val="solid"/>
              <a:round/>
              <a:headEnd len="med" w="med" type="none"/>
              <a:tailEnd len="med" w="med" type="none"/>
            </a:ln>
          </p:spPr>
        </p:cxnSp>
        <p:sp>
          <p:nvSpPr>
            <p:cNvPr id="2960" name="Google Shape;2960;p50"/>
            <p:cNvSpPr txBox="1"/>
            <p:nvPr/>
          </p:nvSpPr>
          <p:spPr>
            <a:xfrm>
              <a:off x="2672" y="1557"/>
              <a:ext cx="1030"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UDP/TCP payload</a:t>
              </a:r>
              <a:endParaRPr/>
            </a:p>
          </p:txBody>
        </p:sp>
        <p:sp>
          <p:nvSpPr>
            <p:cNvPr id="2961" name="Google Shape;2961;p50"/>
            <p:cNvSpPr txBox="1"/>
            <p:nvPr/>
          </p:nvSpPr>
          <p:spPr>
            <a:xfrm>
              <a:off x="2500" y="1396"/>
              <a:ext cx="1202" cy="17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400" u="none" cap="none" strike="noStrike">
                  <a:solidFill>
                    <a:srgbClr val="000000"/>
                  </a:solidFill>
                  <a:latin typeface="Arial"/>
                  <a:ea typeface="Arial"/>
                  <a:cs typeface="Arial"/>
                  <a:sym typeface="Arial"/>
                </a:rPr>
                <a:t>IPv6 source dest addr</a:t>
              </a:r>
              <a:endParaRPr/>
            </a:p>
          </p:txBody>
        </p:sp>
        <p:sp>
          <p:nvSpPr>
            <p:cNvPr id="2962" name="Google Shape;2962;p50"/>
            <p:cNvSpPr txBox="1"/>
            <p:nvPr/>
          </p:nvSpPr>
          <p:spPr>
            <a:xfrm>
              <a:off x="2314" y="1247"/>
              <a:ext cx="1010" cy="17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400" u="none" cap="none" strike="noStrike">
                  <a:solidFill>
                    <a:srgbClr val="000000"/>
                  </a:solidFill>
                  <a:latin typeface="Arial"/>
                  <a:ea typeface="Arial"/>
                  <a:cs typeface="Arial"/>
                  <a:sym typeface="Arial"/>
                </a:rPr>
                <a:t>IPv6 header fields</a:t>
              </a:r>
              <a:endParaRPr/>
            </a:p>
          </p:txBody>
        </p:sp>
        <p:cxnSp>
          <p:nvCxnSpPr>
            <p:cNvPr id="2963" name="Google Shape;2963;p50"/>
            <p:cNvCxnSpPr/>
            <p:nvPr/>
          </p:nvCxnSpPr>
          <p:spPr>
            <a:xfrm>
              <a:off x="2602" y="1543"/>
              <a:ext cx="3" cy="442"/>
            </a:xfrm>
            <a:prstGeom prst="straightConnector1">
              <a:avLst/>
            </a:prstGeom>
            <a:noFill/>
            <a:ln cap="flat" cmpd="sng" w="9525">
              <a:solidFill>
                <a:srgbClr val="CC0000"/>
              </a:solidFill>
              <a:prstDash val="solid"/>
              <a:round/>
              <a:headEnd len="med" w="med" type="none"/>
              <a:tailEnd len="med" w="med" type="none"/>
            </a:ln>
          </p:spPr>
        </p:cxnSp>
        <p:cxnSp>
          <p:nvCxnSpPr>
            <p:cNvPr id="2964" name="Google Shape;2964;p50"/>
            <p:cNvCxnSpPr/>
            <p:nvPr/>
          </p:nvCxnSpPr>
          <p:spPr>
            <a:xfrm>
              <a:off x="2594" y="1546"/>
              <a:ext cx="174" cy="440"/>
            </a:xfrm>
            <a:prstGeom prst="straightConnector1">
              <a:avLst/>
            </a:prstGeom>
            <a:noFill/>
            <a:ln cap="flat" cmpd="sng" w="9525">
              <a:solidFill>
                <a:srgbClr val="CC0000"/>
              </a:solidFill>
              <a:prstDash val="solid"/>
              <a:round/>
              <a:headEnd len="med" w="med" type="none"/>
              <a:tailEnd len="med" w="med" type="none"/>
            </a:ln>
          </p:spPr>
        </p:cxnSp>
        <p:cxnSp>
          <p:nvCxnSpPr>
            <p:cNvPr id="2965" name="Google Shape;2965;p50"/>
            <p:cNvCxnSpPr/>
            <p:nvPr/>
          </p:nvCxnSpPr>
          <p:spPr>
            <a:xfrm>
              <a:off x="2386" y="1399"/>
              <a:ext cx="0" cy="549"/>
            </a:xfrm>
            <a:prstGeom prst="straightConnector1">
              <a:avLst/>
            </a:prstGeom>
            <a:noFill/>
            <a:ln cap="flat" cmpd="sng" w="9525">
              <a:solidFill>
                <a:srgbClr val="CC0000"/>
              </a:solidFill>
              <a:prstDash val="solid"/>
              <a:round/>
              <a:headEnd len="med" w="med" type="none"/>
              <a:tailEnd len="med" w="med" type="none"/>
            </a:ln>
          </p:spPr>
        </p:cxnSp>
        <p:cxnSp>
          <p:nvCxnSpPr>
            <p:cNvPr id="2966" name="Google Shape;2966;p50"/>
            <p:cNvCxnSpPr/>
            <p:nvPr/>
          </p:nvCxnSpPr>
          <p:spPr>
            <a:xfrm>
              <a:off x="3334" y="1720"/>
              <a:ext cx="0" cy="252"/>
            </a:xfrm>
            <a:prstGeom prst="straightConnector1">
              <a:avLst/>
            </a:prstGeom>
            <a:noFill/>
            <a:ln cap="flat" cmpd="sng" w="9525">
              <a:solidFill>
                <a:srgbClr val="CC0000"/>
              </a:solidFill>
              <a:prstDash val="solid"/>
              <a:round/>
              <a:headEnd len="med" w="med" type="none"/>
              <a:tailEnd len="med" w="med" type="none"/>
            </a:ln>
          </p:spPr>
        </p:cxnSp>
      </p:grpSp>
      <p:sp>
        <p:nvSpPr>
          <p:cNvPr id="2967" name="Google Shape;2967;p50"/>
          <p:cNvSpPr txBox="1"/>
          <p:nvPr/>
        </p:nvSpPr>
        <p:spPr>
          <a:xfrm>
            <a:off x="844826" y="2618555"/>
            <a:ext cx="10515600" cy="139685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tunneling: </a:t>
            </a:r>
            <a:r>
              <a:rPr b="0" i="0" lang="en-US" sz="2800" u="none" cap="none" strike="noStrike">
                <a:solidFill>
                  <a:srgbClr val="000000"/>
                </a:solidFill>
                <a:latin typeface="Calibri"/>
                <a:ea typeface="Calibri"/>
                <a:cs typeface="Calibri"/>
                <a:sym typeface="Calibri"/>
              </a:rPr>
              <a:t>IPv6 datagram carried as </a:t>
            </a:r>
            <a:r>
              <a:rPr b="0" i="1" lang="en-US" sz="2800" u="none" cap="none" strike="noStrike">
                <a:solidFill>
                  <a:srgbClr val="000000"/>
                </a:solidFill>
                <a:latin typeface="Calibri"/>
                <a:ea typeface="Calibri"/>
                <a:cs typeface="Calibri"/>
                <a:sym typeface="Calibri"/>
              </a:rPr>
              <a:t>payload</a:t>
            </a:r>
            <a:r>
              <a:rPr b="0" i="0" lang="en-US" sz="2800" u="none" cap="none" strike="noStrike">
                <a:solidFill>
                  <a:srgbClr val="000000"/>
                </a:solidFill>
                <a:latin typeface="Calibri"/>
                <a:ea typeface="Calibri"/>
                <a:cs typeface="Calibri"/>
                <a:sym typeface="Calibri"/>
              </a:rPr>
              <a:t> in IPv4 datagram among IPv4 </a:t>
            </a:r>
            <a:r>
              <a:rPr b="0" i="0" lang="en-US" sz="2400" u="none" cap="none" strike="noStrike">
                <a:solidFill>
                  <a:srgbClr val="000000"/>
                </a:solidFill>
                <a:latin typeface="Calibri"/>
                <a:ea typeface="Calibri"/>
                <a:cs typeface="Calibri"/>
                <a:sym typeface="Calibri"/>
              </a:rPr>
              <a:t>routers (“packet within a packet”)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tunneling used extensively in other contexts (4G/5G)</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968" name="Google Shape;2968;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7"/>
                                        </p:tgtEl>
                                        <p:attrNameLst>
                                          <p:attrName>style.visibility</p:attrName>
                                        </p:attrNameLst>
                                      </p:cBhvr>
                                      <p:to>
                                        <p:strVal val="visible"/>
                                      </p:to>
                                    </p:set>
                                    <p:animEffect filter="fade" transition="in">
                                      <p:cBhvr>
                                        <p:cTn dur="500"/>
                                        <p:tgtEl>
                                          <p:spTgt spid="2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7"/>
                                        </p:tgtEl>
                                        <p:attrNameLst>
                                          <p:attrName>style.visibility</p:attrName>
                                        </p:attrNameLst>
                                      </p:cBhvr>
                                      <p:to>
                                        <p:strVal val="visible"/>
                                      </p:to>
                                    </p:set>
                                    <p:animEffect filter="fade" transition="in">
                                      <p:cBhvr>
                                        <p:cTn dur="500"/>
                                        <p:tgtEl>
                                          <p:spTgt spid="29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0"/>
                                        </p:tgtEl>
                                        <p:attrNameLst>
                                          <p:attrName>style.visibility</p:attrName>
                                        </p:attrNameLst>
                                      </p:cBhvr>
                                      <p:to>
                                        <p:strVal val="visible"/>
                                      </p:to>
                                    </p:set>
                                    <p:animEffect filter="fade" transition="in">
                                      <p:cBhvr>
                                        <p:cTn dur="500"/>
                                        <p:tgtEl>
                                          <p:spTgt spid="29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3" name="Shape 2973"/>
        <p:cNvGrpSpPr/>
        <p:nvPr/>
      </p:nvGrpSpPr>
      <p:grpSpPr>
        <a:xfrm>
          <a:off x="0" y="0"/>
          <a:ext cx="0" cy="0"/>
          <a:chOff x="0" y="0"/>
          <a:chExt cx="0" cy="0"/>
        </a:xfrm>
      </p:grpSpPr>
      <p:sp>
        <p:nvSpPr>
          <p:cNvPr id="2974" name="Google Shape;2974;p5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 and encapsulation</a:t>
            </a:r>
            <a:endParaRPr/>
          </a:p>
        </p:txBody>
      </p:sp>
      <p:sp>
        <p:nvSpPr>
          <p:cNvPr id="2975" name="Google Shape;2975;p51"/>
          <p:cNvSpPr txBox="1"/>
          <p:nvPr/>
        </p:nvSpPr>
        <p:spPr>
          <a:xfrm>
            <a:off x="888274" y="1697883"/>
            <a:ext cx="275952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Ethernet connecting two IPv6 routers:</a:t>
            </a:r>
            <a:endParaRPr/>
          </a:p>
        </p:txBody>
      </p:sp>
      <p:grpSp>
        <p:nvGrpSpPr>
          <p:cNvPr id="2976" name="Google Shape;2976;p51"/>
          <p:cNvGrpSpPr/>
          <p:nvPr/>
        </p:nvGrpSpPr>
        <p:grpSpPr>
          <a:xfrm>
            <a:off x="4274280" y="1626442"/>
            <a:ext cx="5834767" cy="995120"/>
            <a:chOff x="3663591" y="1108282"/>
            <a:chExt cx="5834767" cy="995120"/>
          </a:xfrm>
        </p:grpSpPr>
        <p:sp>
          <p:nvSpPr>
            <p:cNvPr id="2977" name="Google Shape;2977;p51"/>
            <p:cNvSpPr/>
            <p:nvPr/>
          </p:nvSpPr>
          <p:spPr>
            <a:xfrm>
              <a:off x="5385352" y="1616420"/>
              <a:ext cx="2405062" cy="66675"/>
            </a:xfrm>
            <a:prstGeom prst="rect">
              <a:avLst/>
            </a:prstGeom>
            <a:solidFill>
              <a:srgbClr val="CC0000"/>
            </a:solidFill>
            <a:ln cap="flat" cmpd="sng" w="9525">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978" name="Google Shape;2978;p51"/>
            <p:cNvSpPr txBox="1"/>
            <p:nvPr/>
          </p:nvSpPr>
          <p:spPr>
            <a:xfrm>
              <a:off x="5480234" y="1110007"/>
              <a:ext cx="2471780" cy="51090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1" lang="en-US" sz="1600" u="none" cap="none" strike="noStrike">
                  <a:solidFill>
                    <a:srgbClr val="CC0000"/>
                  </a:solidFill>
                  <a:latin typeface="Arial"/>
                  <a:ea typeface="Arial"/>
                  <a:cs typeface="Arial"/>
                  <a:sym typeface="Arial"/>
                </a:rPr>
                <a:t>Ethernet connects two IPv6 routers</a:t>
              </a:r>
              <a:endParaRPr/>
            </a:p>
          </p:txBody>
        </p:sp>
        <p:grpSp>
          <p:nvGrpSpPr>
            <p:cNvPr id="2979" name="Google Shape;2979;p51"/>
            <p:cNvGrpSpPr/>
            <p:nvPr/>
          </p:nvGrpSpPr>
          <p:grpSpPr>
            <a:xfrm>
              <a:off x="3663591" y="1108282"/>
              <a:ext cx="1764058" cy="965200"/>
              <a:chOff x="3670217" y="2254595"/>
              <a:chExt cx="1764058" cy="965200"/>
            </a:xfrm>
          </p:grpSpPr>
          <p:sp>
            <p:nvSpPr>
              <p:cNvPr id="2980" name="Google Shape;2980;p51"/>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A</a:t>
                </a:r>
                <a:endParaRPr/>
              </a:p>
            </p:txBody>
          </p:sp>
          <p:sp>
            <p:nvSpPr>
              <p:cNvPr id="2981" name="Google Shape;2981;p51"/>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B</a:t>
                </a:r>
                <a:endParaRPr/>
              </a:p>
            </p:txBody>
          </p:sp>
          <p:cxnSp>
            <p:nvCxnSpPr>
              <p:cNvPr id="2982" name="Google Shape;2982;p51"/>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2983" name="Google Shape;2983;p51"/>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sp>
            <p:nvSpPr>
              <p:cNvPr id="2984" name="Google Shape;2984;p51"/>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grpSp>
            <p:nvGrpSpPr>
              <p:cNvPr id="2985" name="Google Shape;2985;p51"/>
              <p:cNvGrpSpPr/>
              <p:nvPr/>
            </p:nvGrpSpPr>
            <p:grpSpPr>
              <a:xfrm>
                <a:off x="3670217" y="2586162"/>
                <a:ext cx="731126" cy="344556"/>
                <a:chOff x="7493876" y="2774731"/>
                <a:chExt cx="1481958" cy="894622"/>
              </a:xfrm>
            </p:grpSpPr>
            <p:sp>
              <p:nvSpPr>
                <p:cNvPr id="2986" name="Google Shape;2986;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2987" name="Google Shape;2987;p51"/>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2988" name="Google Shape;2988;p51"/>
                <p:cNvGrpSpPr/>
                <p:nvPr/>
              </p:nvGrpSpPr>
              <p:grpSpPr>
                <a:xfrm>
                  <a:off x="7713663" y="2848339"/>
                  <a:ext cx="1042107" cy="425543"/>
                  <a:chOff x="7786941" y="2884917"/>
                  <a:chExt cx="897649" cy="353919"/>
                </a:xfrm>
              </p:grpSpPr>
              <p:sp>
                <p:nvSpPr>
                  <p:cNvPr id="2989" name="Google Shape;2989;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990" name="Google Shape;2990;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991" name="Google Shape;2991;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992" name="Google Shape;2992;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2993" name="Google Shape;2993;p51"/>
              <p:cNvGrpSpPr/>
              <p:nvPr/>
            </p:nvGrpSpPr>
            <p:grpSpPr>
              <a:xfrm>
                <a:off x="4703149" y="2589549"/>
                <a:ext cx="731126" cy="344556"/>
                <a:chOff x="7493876" y="2774731"/>
                <a:chExt cx="1481958" cy="894622"/>
              </a:xfrm>
            </p:grpSpPr>
            <p:sp>
              <p:nvSpPr>
                <p:cNvPr id="2994" name="Google Shape;2994;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2995" name="Google Shape;2995;p51"/>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2996" name="Google Shape;2996;p51"/>
                <p:cNvGrpSpPr/>
                <p:nvPr/>
              </p:nvGrpSpPr>
              <p:grpSpPr>
                <a:xfrm>
                  <a:off x="7713663" y="2848339"/>
                  <a:ext cx="1042107" cy="425543"/>
                  <a:chOff x="7786941" y="2884917"/>
                  <a:chExt cx="897649" cy="353919"/>
                </a:xfrm>
              </p:grpSpPr>
              <p:sp>
                <p:nvSpPr>
                  <p:cNvPr id="2997" name="Google Shape;2997;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998" name="Google Shape;2998;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999" name="Google Shape;2999;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00" name="Google Shape;3000;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nvGrpSpPr>
            <p:cNvPr id="3001" name="Google Shape;3001;p51"/>
            <p:cNvGrpSpPr/>
            <p:nvPr/>
          </p:nvGrpSpPr>
          <p:grpSpPr>
            <a:xfrm>
              <a:off x="7734300" y="1138202"/>
              <a:ext cx="1764058" cy="965200"/>
              <a:chOff x="3670217" y="2254595"/>
              <a:chExt cx="1764058" cy="965200"/>
            </a:xfrm>
          </p:grpSpPr>
          <p:sp>
            <p:nvSpPr>
              <p:cNvPr id="3002" name="Google Shape;3002;p51"/>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E</a:t>
                </a:r>
                <a:endParaRPr/>
              </a:p>
            </p:txBody>
          </p:sp>
          <p:sp>
            <p:nvSpPr>
              <p:cNvPr id="3003" name="Google Shape;3003;p51"/>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F</a:t>
                </a:r>
                <a:endParaRPr/>
              </a:p>
            </p:txBody>
          </p:sp>
          <p:cxnSp>
            <p:nvCxnSpPr>
              <p:cNvPr id="3004" name="Google Shape;3004;p51"/>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005" name="Google Shape;3005;p51"/>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sp>
            <p:nvSpPr>
              <p:cNvPr id="3006" name="Google Shape;3006;p51"/>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grpSp>
            <p:nvGrpSpPr>
              <p:cNvPr id="3007" name="Google Shape;3007;p51"/>
              <p:cNvGrpSpPr/>
              <p:nvPr/>
            </p:nvGrpSpPr>
            <p:grpSpPr>
              <a:xfrm>
                <a:off x="3670217" y="2586162"/>
                <a:ext cx="731126" cy="344556"/>
                <a:chOff x="7493876" y="2774731"/>
                <a:chExt cx="1481958" cy="894622"/>
              </a:xfrm>
            </p:grpSpPr>
            <p:sp>
              <p:nvSpPr>
                <p:cNvPr id="3008" name="Google Shape;3008;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009" name="Google Shape;3009;p51"/>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010" name="Google Shape;3010;p51"/>
                <p:cNvGrpSpPr/>
                <p:nvPr/>
              </p:nvGrpSpPr>
              <p:grpSpPr>
                <a:xfrm>
                  <a:off x="7713663" y="2848339"/>
                  <a:ext cx="1042107" cy="425543"/>
                  <a:chOff x="7786941" y="2884917"/>
                  <a:chExt cx="897649" cy="353919"/>
                </a:xfrm>
              </p:grpSpPr>
              <p:sp>
                <p:nvSpPr>
                  <p:cNvPr id="3011" name="Google Shape;3011;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12" name="Google Shape;3012;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13" name="Google Shape;3013;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14" name="Google Shape;3014;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015" name="Google Shape;3015;p51"/>
              <p:cNvGrpSpPr/>
              <p:nvPr/>
            </p:nvGrpSpPr>
            <p:grpSpPr>
              <a:xfrm>
                <a:off x="4703149" y="2589549"/>
                <a:ext cx="731126" cy="344556"/>
                <a:chOff x="7493876" y="2774731"/>
                <a:chExt cx="1481958" cy="894622"/>
              </a:xfrm>
            </p:grpSpPr>
            <p:sp>
              <p:nvSpPr>
                <p:cNvPr id="3016" name="Google Shape;3016;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017" name="Google Shape;3017;p51"/>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018" name="Google Shape;3018;p51"/>
                <p:cNvGrpSpPr/>
                <p:nvPr/>
              </p:nvGrpSpPr>
              <p:grpSpPr>
                <a:xfrm>
                  <a:off x="7713663" y="2848339"/>
                  <a:ext cx="1042107" cy="425543"/>
                  <a:chOff x="7786941" y="2884917"/>
                  <a:chExt cx="897649" cy="353919"/>
                </a:xfrm>
              </p:grpSpPr>
              <p:sp>
                <p:nvSpPr>
                  <p:cNvPr id="3019" name="Google Shape;3019;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20" name="Google Shape;3020;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21" name="Google Shape;3021;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22" name="Google Shape;3022;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grpSp>
        <p:nvGrpSpPr>
          <p:cNvPr id="3023" name="Google Shape;3023;p51"/>
          <p:cNvGrpSpPr/>
          <p:nvPr/>
        </p:nvGrpSpPr>
        <p:grpSpPr>
          <a:xfrm>
            <a:off x="3244703" y="3195320"/>
            <a:ext cx="1748069" cy="467910"/>
            <a:chOff x="3229463" y="3119120"/>
            <a:chExt cx="1748069" cy="467910"/>
          </a:xfrm>
        </p:grpSpPr>
        <p:cxnSp>
          <p:nvCxnSpPr>
            <p:cNvPr id="3024" name="Google Shape;3024;p51"/>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3025" name="Google Shape;3025;p51"/>
            <p:cNvSpPr txBox="1"/>
            <p:nvPr/>
          </p:nvSpPr>
          <p:spPr>
            <a:xfrm>
              <a:off x="3229463" y="3311570"/>
              <a:ext cx="1516761"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400" u="none" cap="none" strike="noStrike">
                  <a:solidFill>
                    <a:srgbClr val="000000"/>
                  </a:solidFill>
                  <a:latin typeface="Arial"/>
                  <a:ea typeface="Arial"/>
                  <a:cs typeface="Arial"/>
                  <a:sym typeface="Arial"/>
                </a:rPr>
                <a:t>Link-layer frame</a:t>
              </a:r>
              <a:endParaRPr/>
            </a:p>
          </p:txBody>
        </p:sp>
      </p:grpSp>
      <p:grpSp>
        <p:nvGrpSpPr>
          <p:cNvPr id="3026" name="Google Shape;3026;p51"/>
          <p:cNvGrpSpPr/>
          <p:nvPr/>
        </p:nvGrpSpPr>
        <p:grpSpPr>
          <a:xfrm>
            <a:off x="4809173" y="2446973"/>
            <a:ext cx="4886325" cy="951547"/>
            <a:chOff x="4672013" y="2614613"/>
            <a:chExt cx="4886325" cy="1157209"/>
          </a:xfrm>
        </p:grpSpPr>
        <p:grpSp>
          <p:nvGrpSpPr>
            <p:cNvPr id="3027" name="Google Shape;3027;p51"/>
            <p:cNvGrpSpPr/>
            <p:nvPr/>
          </p:nvGrpSpPr>
          <p:grpSpPr>
            <a:xfrm>
              <a:off x="4674002" y="3295572"/>
              <a:ext cx="4854575" cy="476250"/>
              <a:chOff x="1427882" y="4286172"/>
              <a:chExt cx="4854575" cy="476250"/>
            </a:xfrm>
          </p:grpSpPr>
          <p:sp>
            <p:nvSpPr>
              <p:cNvPr id="3028" name="Google Shape;3028;p51"/>
              <p:cNvSpPr/>
              <p:nvPr/>
            </p:nvSpPr>
            <p:spPr>
              <a:xfrm>
                <a:off x="1427882" y="4289347"/>
                <a:ext cx="4854575" cy="468313"/>
              </a:xfrm>
              <a:prstGeom prst="rect">
                <a:avLst/>
              </a:prstGeom>
              <a:gradFill>
                <a:gsLst>
                  <a:gs pos="0">
                    <a:srgbClr val="CC0000">
                      <a:alpha val="41176"/>
                    </a:srgbClr>
                  </a:gs>
                  <a:gs pos="100000">
                    <a:srgbClr val="CC0000">
                      <a:alpha val="38039"/>
                    </a:srgbClr>
                  </a:gs>
                </a:gsLst>
                <a:lin ang="5400000" scaled="0"/>
              </a:gradFill>
              <a:ln cap="flat" cmpd="sng" w="9525">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3029" name="Google Shape;3029;p51"/>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3030" name="Google Shape;3030;p51"/>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3031" name="Google Shape;3031;p51"/>
              <p:cNvCxnSpPr/>
              <p:nvPr/>
            </p:nvCxnSpPr>
            <p:spPr>
              <a:xfrm>
                <a:off x="1867620" y="4294109"/>
                <a:ext cx="0" cy="468313"/>
              </a:xfrm>
              <a:prstGeom prst="straightConnector1">
                <a:avLst/>
              </a:prstGeom>
              <a:noFill/>
              <a:ln cap="flat" cmpd="sng" w="9525">
                <a:solidFill>
                  <a:srgbClr val="CC0000"/>
                </a:solidFill>
                <a:prstDash val="solid"/>
                <a:round/>
                <a:headEnd len="med" w="med" type="none"/>
                <a:tailEnd len="med" w="med" type="none"/>
              </a:ln>
            </p:spPr>
          </p:cxnSp>
          <p:grpSp>
            <p:nvGrpSpPr>
              <p:cNvPr id="3032" name="Google Shape;3032;p51"/>
              <p:cNvGrpSpPr/>
              <p:nvPr/>
            </p:nvGrpSpPr>
            <p:grpSpPr>
              <a:xfrm>
                <a:off x="2865478" y="4319509"/>
                <a:ext cx="3402012" cy="414337"/>
                <a:chOff x="8090620" y="3748009"/>
                <a:chExt cx="3402012" cy="414337"/>
              </a:xfrm>
            </p:grpSpPr>
            <p:cxnSp>
              <p:nvCxnSpPr>
                <p:cNvPr id="3033" name="Google Shape;3033;p51"/>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3034" name="Google Shape;3034;p51"/>
                <p:cNvSpPr/>
                <p:nvPr/>
              </p:nvSpPr>
              <p:spPr>
                <a:xfrm>
                  <a:off x="8090620" y="3751184"/>
                  <a:ext cx="3402012" cy="401638"/>
                </a:xfrm>
                <a:prstGeom prst="rect">
                  <a:avLst/>
                </a:prstGeom>
                <a:solidFill>
                  <a:srgbClr val="66CCFF"/>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3035" name="Google Shape;3035;p51"/>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036" name="Google Shape;3036;p51"/>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037" name="Google Shape;3037;p51"/>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038" name="Google Shape;3038;p51"/>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039" name="Google Shape;3039;p51"/>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040" name="Google Shape;3040;p51"/>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041" name="Google Shape;3041;p51"/>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042" name="Google Shape;3042;p51"/>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3043" name="Google Shape;3043;p51"/>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044" name="Google Shape;3044;p51"/>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IPv6 datagram</a:t>
                </a:r>
                <a:endParaRPr/>
              </a:p>
            </p:txBody>
          </p:sp>
        </p:grpSp>
        <p:sp>
          <p:nvSpPr>
            <p:cNvPr id="3045" name="Google Shape;3045;p51"/>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nvGrpSpPr>
          <p:cNvPr id="3046" name="Google Shape;3046;p51"/>
          <p:cNvGrpSpPr/>
          <p:nvPr/>
        </p:nvGrpSpPr>
        <p:grpSpPr>
          <a:xfrm>
            <a:off x="6964680" y="2244997"/>
            <a:ext cx="838200" cy="376149"/>
            <a:chOff x="6827520" y="2412637"/>
            <a:chExt cx="838200" cy="376149"/>
          </a:xfrm>
        </p:grpSpPr>
        <p:sp>
          <p:nvSpPr>
            <p:cNvPr id="3047" name="Google Shape;3047;p51"/>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3048" name="Google Shape;3048;p51"/>
            <p:cNvGrpSpPr/>
            <p:nvPr/>
          </p:nvGrpSpPr>
          <p:grpSpPr>
            <a:xfrm>
              <a:off x="6827520" y="2412637"/>
              <a:ext cx="334944" cy="376149"/>
              <a:chOff x="335231" y="4406992"/>
              <a:chExt cx="1251280" cy="2136350"/>
            </a:xfrm>
          </p:grpSpPr>
          <p:sp>
            <p:nvSpPr>
              <p:cNvPr id="3049" name="Google Shape;3049;p51"/>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50" name="Google Shape;3050;p51"/>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51" name="Google Shape;3051;p51"/>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sp>
        <p:nvSpPr>
          <p:cNvPr id="3052" name="Google Shape;3052;p51"/>
          <p:cNvSpPr txBox="1"/>
          <p:nvPr/>
        </p:nvSpPr>
        <p:spPr>
          <a:xfrm>
            <a:off x="4831080" y="3383280"/>
            <a:ext cx="48790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Calibri"/>
                <a:ea typeface="Calibri"/>
                <a:cs typeface="Calibri"/>
                <a:sym typeface="Calibri"/>
              </a:rPr>
              <a:t>The usual: datagram as payload in link-layer frame</a:t>
            </a:r>
            <a:endParaRPr/>
          </a:p>
        </p:txBody>
      </p:sp>
      <p:grpSp>
        <p:nvGrpSpPr>
          <p:cNvPr id="3053" name="Google Shape;3053;p51"/>
          <p:cNvGrpSpPr/>
          <p:nvPr/>
        </p:nvGrpSpPr>
        <p:grpSpPr>
          <a:xfrm>
            <a:off x="4282206" y="4080603"/>
            <a:ext cx="5834767" cy="1826360"/>
            <a:chOff x="4282206" y="4080603"/>
            <a:chExt cx="5834767" cy="1826360"/>
          </a:xfrm>
        </p:grpSpPr>
        <p:grpSp>
          <p:nvGrpSpPr>
            <p:cNvPr id="3054" name="Google Shape;3054;p51"/>
            <p:cNvGrpSpPr/>
            <p:nvPr/>
          </p:nvGrpSpPr>
          <p:grpSpPr>
            <a:xfrm>
              <a:off x="5980176" y="4080603"/>
              <a:ext cx="2432304" cy="1726090"/>
              <a:chOff x="5705856" y="2038443"/>
              <a:chExt cx="2432304" cy="1726090"/>
            </a:xfrm>
          </p:grpSpPr>
          <p:sp>
            <p:nvSpPr>
              <p:cNvPr id="3055" name="Google Shape;3055;p51"/>
              <p:cNvSpPr/>
              <p:nvPr/>
            </p:nvSpPr>
            <p:spPr>
              <a:xfrm rot="659626">
                <a:off x="5879224" y="2228808"/>
                <a:ext cx="2125934" cy="1345360"/>
              </a:xfrm>
              <a:custGeom>
                <a:rect b="b" l="l" r="r" t="t"/>
                <a:pathLst>
                  <a:path extrusionOk="0" h="11611" w="10003">
                    <a:moveTo>
                      <a:pt x="5770" y="126"/>
                    </a:moveTo>
                    <a:cubicBezTo>
                      <a:pt x="5196" y="245"/>
                      <a:pt x="4120" y="456"/>
                      <a:pt x="3456" y="756"/>
                    </a:cubicBezTo>
                    <a:cubicBezTo>
                      <a:pt x="2793" y="1055"/>
                      <a:pt x="2166" y="1460"/>
                      <a:pt x="1806" y="1896"/>
                    </a:cubicBezTo>
                    <a:cubicBezTo>
                      <a:pt x="1448" y="2331"/>
                      <a:pt x="1600" y="2977"/>
                      <a:pt x="1322" y="3397"/>
                    </a:cubicBezTo>
                    <a:cubicBezTo>
                      <a:pt x="1044" y="3816"/>
                      <a:pt x="354" y="3846"/>
                      <a:pt x="156" y="4417"/>
                    </a:cubicBezTo>
                    <a:cubicBezTo>
                      <a:pt x="-41" y="4987"/>
                      <a:pt x="-52" y="6057"/>
                      <a:pt x="121" y="6847"/>
                    </a:cubicBezTo>
                    <a:cubicBezTo>
                      <a:pt x="294" y="7637"/>
                      <a:pt x="660" y="8634"/>
                      <a:pt x="1194" y="9155"/>
                    </a:cubicBezTo>
                    <a:cubicBezTo>
                      <a:pt x="1728" y="9676"/>
                      <a:pt x="2691" y="9563"/>
                      <a:pt x="3328" y="9972"/>
                    </a:cubicBezTo>
                    <a:cubicBezTo>
                      <a:pt x="3965" y="10381"/>
                      <a:pt x="4455" y="11637"/>
                      <a:pt x="5017" y="11611"/>
                    </a:cubicBezTo>
                    <a:cubicBezTo>
                      <a:pt x="5579" y="11585"/>
                      <a:pt x="6246" y="10107"/>
                      <a:pt x="6703" y="9818"/>
                    </a:cubicBezTo>
                    <a:cubicBezTo>
                      <a:pt x="7160" y="9529"/>
                      <a:pt x="7465" y="10013"/>
                      <a:pt x="7761" y="9878"/>
                    </a:cubicBezTo>
                    <a:cubicBezTo>
                      <a:pt x="8057" y="9743"/>
                      <a:pt x="8317" y="9548"/>
                      <a:pt x="8496" y="9007"/>
                    </a:cubicBezTo>
                    <a:cubicBezTo>
                      <a:pt x="8675" y="8468"/>
                      <a:pt x="8604" y="7361"/>
                      <a:pt x="8855" y="6638"/>
                    </a:cubicBezTo>
                    <a:cubicBezTo>
                      <a:pt x="9106" y="5915"/>
                      <a:pt x="9957" y="5511"/>
                      <a:pt x="10001" y="4671"/>
                    </a:cubicBezTo>
                    <a:cubicBezTo>
                      <a:pt x="10047" y="3830"/>
                      <a:pt x="9402" y="2308"/>
                      <a:pt x="9124" y="1566"/>
                    </a:cubicBezTo>
                    <a:cubicBezTo>
                      <a:pt x="8846" y="823"/>
                      <a:pt x="8702" y="471"/>
                      <a:pt x="8334" y="216"/>
                    </a:cubicBezTo>
                    <a:cubicBezTo>
                      <a:pt x="7968" y="-39"/>
                      <a:pt x="7349" y="20"/>
                      <a:pt x="6918" y="5"/>
                    </a:cubicBezTo>
                    <a:cubicBezTo>
                      <a:pt x="6488" y="-9"/>
                      <a:pt x="6345" y="5"/>
                      <a:pt x="5770" y="1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056" name="Google Shape;3056;p51"/>
              <p:cNvGrpSpPr/>
              <p:nvPr/>
            </p:nvGrpSpPr>
            <p:grpSpPr>
              <a:xfrm>
                <a:off x="5705856" y="2321052"/>
                <a:ext cx="2432304" cy="1054608"/>
                <a:chOff x="5705856" y="2321052"/>
                <a:chExt cx="2432304" cy="1054608"/>
              </a:xfrm>
            </p:grpSpPr>
            <p:cxnSp>
              <p:nvCxnSpPr>
                <p:cNvPr id="3057" name="Google Shape;3057;p51"/>
                <p:cNvCxnSpPr/>
                <p:nvPr/>
              </p:nvCxnSpPr>
              <p:spPr>
                <a:xfrm>
                  <a:off x="5705856" y="2811780"/>
                  <a:ext cx="2432304" cy="0"/>
                </a:xfrm>
                <a:prstGeom prst="straightConnector1">
                  <a:avLst/>
                </a:prstGeom>
                <a:noFill/>
                <a:ln cap="flat" cmpd="sng" w="19050">
                  <a:solidFill>
                    <a:schemeClr val="dk1"/>
                  </a:solidFill>
                  <a:prstDash val="solid"/>
                  <a:miter lim="8000"/>
                  <a:headEnd len="sm" w="sm" type="none"/>
                  <a:tailEnd len="sm" w="sm" type="none"/>
                </a:ln>
              </p:spPr>
            </p:cxnSp>
            <p:cxnSp>
              <p:nvCxnSpPr>
                <p:cNvPr id="3058" name="Google Shape;3058;p51"/>
                <p:cNvCxnSpPr>
                  <a:stCxn id="3059" idx="5"/>
                </p:cNvCxnSpPr>
                <p:nvPr/>
              </p:nvCxnSpPr>
              <p:spPr>
                <a:xfrm flipH="1" rot="10800000">
                  <a:off x="6858545" y="2397201"/>
                  <a:ext cx="83400" cy="885000"/>
                </a:xfrm>
                <a:prstGeom prst="straightConnector1">
                  <a:avLst/>
                </a:prstGeom>
                <a:noFill/>
                <a:ln cap="flat" cmpd="sng" w="19050">
                  <a:solidFill>
                    <a:schemeClr val="dk1"/>
                  </a:solidFill>
                  <a:prstDash val="solid"/>
                  <a:miter lim="8000"/>
                  <a:headEnd len="sm" w="sm" type="none"/>
                  <a:tailEnd len="sm" w="sm" type="none"/>
                </a:ln>
              </p:spPr>
            </p:cxnSp>
            <p:cxnSp>
              <p:nvCxnSpPr>
                <p:cNvPr id="3060" name="Google Shape;3060;p51"/>
                <p:cNvCxnSpPr>
                  <a:stCxn id="3061" idx="2"/>
                </p:cNvCxnSpPr>
                <p:nvPr/>
              </p:nvCxnSpPr>
              <p:spPr>
                <a:xfrm flipH="1" rot="10800000">
                  <a:off x="6858272" y="2805810"/>
                  <a:ext cx="734400" cy="396000"/>
                </a:xfrm>
                <a:prstGeom prst="straightConnector1">
                  <a:avLst/>
                </a:prstGeom>
                <a:noFill/>
                <a:ln cap="flat" cmpd="sng" w="19050">
                  <a:solidFill>
                    <a:schemeClr val="dk1"/>
                  </a:solidFill>
                  <a:prstDash val="solid"/>
                  <a:miter lim="8000"/>
                  <a:headEnd len="sm" w="sm" type="none"/>
                  <a:tailEnd len="sm" w="sm" type="none"/>
                </a:ln>
              </p:spPr>
            </p:cxnSp>
            <p:cxnSp>
              <p:nvCxnSpPr>
                <p:cNvPr id="3062" name="Google Shape;3062;p51"/>
                <p:cNvCxnSpPr>
                  <a:stCxn id="3063" idx="2"/>
                  <a:endCxn id="3064" idx="2"/>
                </p:cNvCxnSpPr>
                <p:nvPr/>
              </p:nvCxnSpPr>
              <p:spPr>
                <a:xfrm flipH="1" rot="10800000">
                  <a:off x="6218192" y="2413998"/>
                  <a:ext cx="714900" cy="387000"/>
                </a:xfrm>
                <a:prstGeom prst="straightConnector1">
                  <a:avLst/>
                </a:prstGeom>
                <a:noFill/>
                <a:ln cap="flat" cmpd="sng" w="19050">
                  <a:solidFill>
                    <a:schemeClr val="dk1"/>
                  </a:solidFill>
                  <a:prstDash val="solid"/>
                  <a:miter lim="8000"/>
                  <a:headEnd len="sm" w="sm" type="none"/>
                  <a:tailEnd len="sm" w="sm" type="none"/>
                </a:ln>
              </p:spPr>
            </p:cxnSp>
            <p:cxnSp>
              <p:nvCxnSpPr>
                <p:cNvPr id="3065" name="Google Shape;3065;p51"/>
                <p:cNvCxnSpPr>
                  <a:stCxn id="3066" idx="4"/>
                </p:cNvCxnSpPr>
                <p:nvPr/>
              </p:nvCxnSpPr>
              <p:spPr>
                <a:xfrm>
                  <a:off x="6219784" y="2880798"/>
                  <a:ext cx="646200" cy="321000"/>
                </a:xfrm>
                <a:prstGeom prst="straightConnector1">
                  <a:avLst/>
                </a:prstGeom>
                <a:noFill/>
                <a:ln cap="flat" cmpd="sng" w="19050">
                  <a:solidFill>
                    <a:schemeClr val="dk1"/>
                  </a:solidFill>
                  <a:prstDash val="solid"/>
                  <a:miter lim="8000"/>
                  <a:headEnd len="sm" w="sm" type="none"/>
                  <a:tailEnd len="sm" w="sm" type="none"/>
                </a:ln>
              </p:spPr>
            </p:cxnSp>
            <p:cxnSp>
              <p:nvCxnSpPr>
                <p:cNvPr id="3067" name="Google Shape;3067;p51"/>
                <p:cNvCxnSpPr>
                  <a:endCxn id="3068" idx="2"/>
                </p:cNvCxnSpPr>
                <p:nvPr/>
              </p:nvCxnSpPr>
              <p:spPr>
                <a:xfrm>
                  <a:off x="6943685" y="2415978"/>
                  <a:ext cx="661200" cy="374400"/>
                </a:xfrm>
                <a:prstGeom prst="straightConnector1">
                  <a:avLst/>
                </a:prstGeom>
                <a:noFill/>
                <a:ln cap="flat" cmpd="sng" w="19050">
                  <a:solidFill>
                    <a:schemeClr val="dk1"/>
                  </a:solidFill>
                  <a:prstDash val="solid"/>
                  <a:miter lim="8000"/>
                  <a:headEnd len="sm" w="sm" type="none"/>
                  <a:tailEnd len="sm" w="sm" type="none"/>
                </a:ln>
              </p:spPr>
            </p:cxnSp>
            <p:grpSp>
              <p:nvGrpSpPr>
                <p:cNvPr id="3069" name="Google Shape;3069;p51"/>
                <p:cNvGrpSpPr/>
                <p:nvPr/>
              </p:nvGrpSpPr>
              <p:grpSpPr>
                <a:xfrm>
                  <a:off x="5974080" y="2321052"/>
                  <a:ext cx="1878278" cy="1054608"/>
                  <a:chOff x="5974080" y="2321052"/>
                  <a:chExt cx="1878278" cy="1054608"/>
                </a:xfrm>
              </p:grpSpPr>
              <p:grpSp>
                <p:nvGrpSpPr>
                  <p:cNvPr id="3070" name="Google Shape;3070;p51"/>
                  <p:cNvGrpSpPr/>
                  <p:nvPr/>
                </p:nvGrpSpPr>
                <p:grpSpPr>
                  <a:xfrm>
                    <a:off x="5974080" y="2708148"/>
                    <a:ext cx="491438" cy="266700"/>
                    <a:chOff x="7493876" y="2774731"/>
                    <a:chExt cx="1481958" cy="894622"/>
                  </a:xfrm>
                </p:grpSpPr>
                <p:sp>
                  <p:nvSpPr>
                    <p:cNvPr id="3071" name="Google Shape;3071;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066" name="Google Shape;3066;p51"/>
                    <p:cNvSpPr/>
                    <p:nvPr/>
                  </p:nvSpPr>
                  <p:spPr>
                    <a:xfrm>
                      <a:off x="7494729" y="2774731"/>
                      <a:ext cx="1480163" cy="579140"/>
                    </a:xfrm>
                    <a:prstGeom prst="ellipse">
                      <a:avLst/>
                    </a:prstGeom>
                    <a:solidFill>
                      <a:srgbClr val="B8C2C9"/>
                    </a:soli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072" name="Google Shape;3072;p51"/>
                    <p:cNvGrpSpPr/>
                    <p:nvPr/>
                  </p:nvGrpSpPr>
                  <p:grpSpPr>
                    <a:xfrm>
                      <a:off x="7713663" y="2848339"/>
                      <a:ext cx="1042107" cy="425543"/>
                      <a:chOff x="7786941" y="2884917"/>
                      <a:chExt cx="897649" cy="353919"/>
                    </a:xfrm>
                  </p:grpSpPr>
                  <p:sp>
                    <p:nvSpPr>
                      <p:cNvPr id="3073" name="Google Shape;3073;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4" name="Google Shape;3074;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5" name="Google Shape;3075;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63" name="Google Shape;3063;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076" name="Google Shape;3076;p51"/>
                  <p:cNvGrpSpPr/>
                  <p:nvPr/>
                </p:nvGrpSpPr>
                <p:grpSpPr>
                  <a:xfrm>
                    <a:off x="7360920" y="2697480"/>
                    <a:ext cx="491438" cy="266700"/>
                    <a:chOff x="7493876" y="2774731"/>
                    <a:chExt cx="1481958" cy="894622"/>
                  </a:xfrm>
                </p:grpSpPr>
                <p:sp>
                  <p:nvSpPr>
                    <p:cNvPr id="3077" name="Google Shape;3077;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078" name="Google Shape;3078;p51"/>
                    <p:cNvSpPr/>
                    <p:nvPr/>
                  </p:nvSpPr>
                  <p:spPr>
                    <a:xfrm>
                      <a:off x="7494729" y="2774731"/>
                      <a:ext cx="1480163" cy="579140"/>
                    </a:xfrm>
                    <a:prstGeom prst="ellipse">
                      <a:avLst/>
                    </a:prstGeom>
                    <a:solidFill>
                      <a:srgbClr val="B8C2C9"/>
                    </a:soli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079" name="Google Shape;3079;p51"/>
                    <p:cNvGrpSpPr/>
                    <p:nvPr/>
                  </p:nvGrpSpPr>
                  <p:grpSpPr>
                    <a:xfrm>
                      <a:off x="7713663" y="2848339"/>
                      <a:ext cx="1042107" cy="425543"/>
                      <a:chOff x="7786941" y="2884917"/>
                      <a:chExt cx="897649" cy="353919"/>
                    </a:xfrm>
                  </p:grpSpPr>
                  <p:sp>
                    <p:nvSpPr>
                      <p:cNvPr id="3080" name="Google Shape;3080;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81" name="Google Shape;3081;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82" name="Google Shape;3082;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68" name="Google Shape;3068;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083" name="Google Shape;3083;p51"/>
                  <p:cNvGrpSpPr/>
                  <p:nvPr/>
                </p:nvGrpSpPr>
                <p:grpSpPr>
                  <a:xfrm>
                    <a:off x="6614160" y="3108960"/>
                    <a:ext cx="491438" cy="266700"/>
                    <a:chOff x="7493876" y="2774731"/>
                    <a:chExt cx="1481958" cy="894622"/>
                  </a:xfrm>
                </p:grpSpPr>
                <p:sp>
                  <p:nvSpPr>
                    <p:cNvPr id="3059" name="Google Shape;3059;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084" name="Google Shape;3084;p51"/>
                    <p:cNvSpPr/>
                    <p:nvPr/>
                  </p:nvSpPr>
                  <p:spPr>
                    <a:xfrm>
                      <a:off x="7494729" y="2774731"/>
                      <a:ext cx="1480163" cy="579140"/>
                    </a:xfrm>
                    <a:prstGeom prst="ellipse">
                      <a:avLst/>
                    </a:prstGeom>
                    <a:solidFill>
                      <a:srgbClr val="B8C2C9"/>
                    </a:soli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085" name="Google Shape;3085;p51"/>
                    <p:cNvGrpSpPr/>
                    <p:nvPr/>
                  </p:nvGrpSpPr>
                  <p:grpSpPr>
                    <a:xfrm>
                      <a:off x="7713663" y="2848339"/>
                      <a:ext cx="1042107" cy="425543"/>
                      <a:chOff x="7786941" y="2884917"/>
                      <a:chExt cx="897649" cy="353919"/>
                    </a:xfrm>
                  </p:grpSpPr>
                  <p:sp>
                    <p:nvSpPr>
                      <p:cNvPr id="3086" name="Google Shape;3086;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87" name="Google Shape;3087;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88" name="Google Shape;3088;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61" name="Google Shape;3061;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089" name="Google Shape;3089;p51"/>
                  <p:cNvGrpSpPr/>
                  <p:nvPr/>
                </p:nvGrpSpPr>
                <p:grpSpPr>
                  <a:xfrm>
                    <a:off x="6688836" y="2321052"/>
                    <a:ext cx="491438" cy="266700"/>
                    <a:chOff x="7493876" y="2774731"/>
                    <a:chExt cx="1481958" cy="894622"/>
                  </a:xfrm>
                </p:grpSpPr>
                <p:sp>
                  <p:nvSpPr>
                    <p:cNvPr id="3090" name="Google Shape;3090;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091" name="Google Shape;3091;p51"/>
                    <p:cNvSpPr/>
                    <p:nvPr/>
                  </p:nvSpPr>
                  <p:spPr>
                    <a:xfrm>
                      <a:off x="7494729" y="2774731"/>
                      <a:ext cx="1480163" cy="579140"/>
                    </a:xfrm>
                    <a:prstGeom prst="ellipse">
                      <a:avLst/>
                    </a:prstGeom>
                    <a:solidFill>
                      <a:srgbClr val="B8C2C9"/>
                    </a:soli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092" name="Google Shape;3092;p51"/>
                    <p:cNvGrpSpPr/>
                    <p:nvPr/>
                  </p:nvGrpSpPr>
                  <p:grpSpPr>
                    <a:xfrm>
                      <a:off x="7713663" y="2848339"/>
                      <a:ext cx="1042107" cy="425543"/>
                      <a:chOff x="7786941" y="2884917"/>
                      <a:chExt cx="897649" cy="353919"/>
                    </a:xfrm>
                  </p:grpSpPr>
                  <p:sp>
                    <p:nvSpPr>
                      <p:cNvPr id="3093" name="Google Shape;3093;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94" name="Google Shape;3094;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95" name="Google Shape;3095;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64" name="Google Shape;3064;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grpSp>
        <p:grpSp>
          <p:nvGrpSpPr>
            <p:cNvPr id="3096" name="Google Shape;3096;p51"/>
            <p:cNvGrpSpPr/>
            <p:nvPr/>
          </p:nvGrpSpPr>
          <p:grpSpPr>
            <a:xfrm>
              <a:off x="4282206" y="4335896"/>
              <a:ext cx="1830222" cy="967204"/>
              <a:chOff x="3670217" y="2254595"/>
              <a:chExt cx="1830222" cy="967204"/>
            </a:xfrm>
          </p:grpSpPr>
          <p:sp>
            <p:nvSpPr>
              <p:cNvPr id="3097" name="Google Shape;3097;p51"/>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A</a:t>
                </a:r>
                <a:endParaRPr/>
              </a:p>
            </p:txBody>
          </p:sp>
          <p:sp>
            <p:nvSpPr>
              <p:cNvPr id="3098" name="Google Shape;3098;p51"/>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B</a:t>
                </a:r>
                <a:endParaRPr/>
              </a:p>
            </p:txBody>
          </p:sp>
          <p:cxnSp>
            <p:nvCxnSpPr>
              <p:cNvPr id="3099" name="Google Shape;3099;p51"/>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100" name="Google Shape;3100;p51"/>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sp>
            <p:nvSpPr>
              <p:cNvPr id="3101" name="Google Shape;3101;p51"/>
              <p:cNvSpPr txBox="1"/>
              <p:nvPr/>
            </p:nvSpPr>
            <p:spPr>
              <a:xfrm>
                <a:off x="463129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3102" name="Google Shape;3102;p51"/>
              <p:cNvGrpSpPr/>
              <p:nvPr/>
            </p:nvGrpSpPr>
            <p:grpSpPr>
              <a:xfrm>
                <a:off x="3670217" y="2586162"/>
                <a:ext cx="731126" cy="344556"/>
                <a:chOff x="7493876" y="2774731"/>
                <a:chExt cx="1481958" cy="894622"/>
              </a:xfrm>
            </p:grpSpPr>
            <p:sp>
              <p:nvSpPr>
                <p:cNvPr id="3103" name="Google Shape;3103;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104" name="Google Shape;3104;p51"/>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105" name="Google Shape;3105;p51"/>
                <p:cNvGrpSpPr/>
                <p:nvPr/>
              </p:nvGrpSpPr>
              <p:grpSpPr>
                <a:xfrm>
                  <a:off x="7713663" y="2848339"/>
                  <a:ext cx="1042107" cy="425543"/>
                  <a:chOff x="7786941" y="2884917"/>
                  <a:chExt cx="897649" cy="353919"/>
                </a:xfrm>
              </p:grpSpPr>
              <p:sp>
                <p:nvSpPr>
                  <p:cNvPr id="3106" name="Google Shape;3106;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07" name="Google Shape;3107;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08" name="Google Shape;3108;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09" name="Google Shape;3109;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110" name="Google Shape;3110;p51"/>
              <p:cNvGrpSpPr/>
              <p:nvPr/>
            </p:nvGrpSpPr>
            <p:grpSpPr>
              <a:xfrm>
                <a:off x="4703149" y="2589549"/>
                <a:ext cx="731126" cy="344556"/>
                <a:chOff x="7493876" y="2774731"/>
                <a:chExt cx="1481958" cy="894622"/>
              </a:xfrm>
            </p:grpSpPr>
            <p:sp>
              <p:nvSpPr>
                <p:cNvPr id="3111" name="Google Shape;3111;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112" name="Google Shape;3112;p51"/>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113" name="Google Shape;3113;p51"/>
                <p:cNvGrpSpPr/>
                <p:nvPr/>
              </p:nvGrpSpPr>
              <p:grpSpPr>
                <a:xfrm>
                  <a:off x="7713663" y="2848339"/>
                  <a:ext cx="1042107" cy="425543"/>
                  <a:chOff x="7786941" y="2884917"/>
                  <a:chExt cx="897649" cy="353919"/>
                </a:xfrm>
              </p:grpSpPr>
              <p:sp>
                <p:nvSpPr>
                  <p:cNvPr id="3114" name="Google Shape;3114;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15" name="Google Shape;3115;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16" name="Google Shape;3116;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17" name="Google Shape;3117;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nvGrpSpPr>
            <p:cNvPr id="3118" name="Google Shape;3118;p51"/>
            <p:cNvGrpSpPr/>
            <p:nvPr/>
          </p:nvGrpSpPr>
          <p:grpSpPr>
            <a:xfrm>
              <a:off x="8298305" y="4365816"/>
              <a:ext cx="1818668" cy="965617"/>
              <a:chOff x="3615607" y="2254595"/>
              <a:chExt cx="1818668" cy="965617"/>
            </a:xfrm>
          </p:grpSpPr>
          <p:sp>
            <p:nvSpPr>
              <p:cNvPr id="3119" name="Google Shape;3119;p51"/>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E</a:t>
                </a:r>
                <a:endParaRPr/>
              </a:p>
            </p:txBody>
          </p:sp>
          <p:sp>
            <p:nvSpPr>
              <p:cNvPr id="3120" name="Google Shape;3120;p51"/>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F</a:t>
                </a:r>
                <a:endParaRPr/>
              </a:p>
            </p:txBody>
          </p:sp>
          <p:cxnSp>
            <p:nvCxnSpPr>
              <p:cNvPr id="3121" name="Google Shape;3121;p51"/>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122" name="Google Shape;3122;p51"/>
              <p:cNvSpPr txBox="1"/>
              <p:nvPr/>
            </p:nvSpPr>
            <p:spPr>
              <a:xfrm>
                <a:off x="3615607" y="2881658"/>
                <a:ext cx="86914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3123" name="Google Shape;3123;p51"/>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grpSp>
            <p:nvGrpSpPr>
              <p:cNvPr id="3124" name="Google Shape;3124;p51"/>
              <p:cNvGrpSpPr/>
              <p:nvPr/>
            </p:nvGrpSpPr>
            <p:grpSpPr>
              <a:xfrm>
                <a:off x="3670217" y="2586162"/>
                <a:ext cx="731126" cy="344556"/>
                <a:chOff x="7493876" y="2774731"/>
                <a:chExt cx="1481958" cy="894622"/>
              </a:xfrm>
            </p:grpSpPr>
            <p:sp>
              <p:nvSpPr>
                <p:cNvPr id="3125" name="Google Shape;3125;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126" name="Google Shape;3126;p51"/>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127" name="Google Shape;3127;p51"/>
                <p:cNvGrpSpPr/>
                <p:nvPr/>
              </p:nvGrpSpPr>
              <p:grpSpPr>
                <a:xfrm>
                  <a:off x="7713663" y="2848339"/>
                  <a:ext cx="1042107" cy="425543"/>
                  <a:chOff x="7786941" y="2884917"/>
                  <a:chExt cx="897649" cy="353919"/>
                </a:xfrm>
              </p:grpSpPr>
              <p:sp>
                <p:nvSpPr>
                  <p:cNvPr id="3128" name="Google Shape;3128;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29" name="Google Shape;3129;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30" name="Google Shape;3130;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31" name="Google Shape;3131;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132" name="Google Shape;3132;p51"/>
              <p:cNvGrpSpPr/>
              <p:nvPr/>
            </p:nvGrpSpPr>
            <p:grpSpPr>
              <a:xfrm>
                <a:off x="4703149" y="2589549"/>
                <a:ext cx="731126" cy="344556"/>
                <a:chOff x="7493876" y="2774731"/>
                <a:chExt cx="1481958" cy="894622"/>
              </a:xfrm>
            </p:grpSpPr>
            <p:sp>
              <p:nvSpPr>
                <p:cNvPr id="3133" name="Google Shape;3133;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134" name="Google Shape;3134;p51"/>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135" name="Google Shape;3135;p51"/>
                <p:cNvGrpSpPr/>
                <p:nvPr/>
              </p:nvGrpSpPr>
              <p:grpSpPr>
                <a:xfrm>
                  <a:off x="7713663" y="2848339"/>
                  <a:ext cx="1042107" cy="425543"/>
                  <a:chOff x="7786941" y="2884917"/>
                  <a:chExt cx="897649" cy="353919"/>
                </a:xfrm>
              </p:grpSpPr>
              <p:sp>
                <p:nvSpPr>
                  <p:cNvPr id="3136" name="Google Shape;3136;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37" name="Google Shape;3137;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38" name="Google Shape;3138;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39" name="Google Shape;3139;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sp>
          <p:nvSpPr>
            <p:cNvPr id="3140" name="Google Shape;3140;p51"/>
            <p:cNvSpPr txBox="1"/>
            <p:nvPr/>
          </p:nvSpPr>
          <p:spPr>
            <a:xfrm>
              <a:off x="6655028" y="5568409"/>
              <a:ext cx="128291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IPv4 network</a:t>
              </a:r>
              <a:endParaRPr b="0" i="0" sz="1800" u="none" cap="none" strike="noStrike">
                <a:solidFill>
                  <a:srgbClr val="000000"/>
                </a:solidFill>
                <a:latin typeface="Calibri"/>
                <a:ea typeface="Calibri"/>
                <a:cs typeface="Calibri"/>
                <a:sym typeface="Calibri"/>
              </a:endParaRPr>
            </a:p>
          </p:txBody>
        </p:sp>
      </p:grpSp>
      <p:sp>
        <p:nvSpPr>
          <p:cNvPr id="3141" name="Google Shape;3141;p51"/>
          <p:cNvSpPr txBox="1"/>
          <p:nvPr/>
        </p:nvSpPr>
        <p:spPr>
          <a:xfrm>
            <a:off x="861060" y="4222280"/>
            <a:ext cx="256031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IPv4 network connecting two IPv6 routers</a:t>
            </a:r>
            <a:endParaRPr/>
          </a:p>
        </p:txBody>
      </p:sp>
      <p:sp>
        <p:nvSpPr>
          <p:cNvPr id="3142" name="Google Shape;3142;p51"/>
          <p:cNvSpPr/>
          <p:nvPr/>
        </p:nvSpPr>
        <p:spPr>
          <a:xfrm>
            <a:off x="822960" y="1356360"/>
            <a:ext cx="10058400" cy="2407920"/>
          </a:xfrm>
          <a:prstGeom prst="rect">
            <a:avLst/>
          </a:prstGeom>
          <a:solidFill>
            <a:schemeClr val="lt1">
              <a:alpha val="63137"/>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43" name="Google Shape;3143;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6"/>
                                        </p:tgtEl>
                                        <p:attrNameLst>
                                          <p:attrName>style.visibility</p:attrName>
                                        </p:attrNameLst>
                                      </p:cBhvr>
                                      <p:to>
                                        <p:strVal val="visible"/>
                                      </p:to>
                                    </p:set>
                                    <p:animEffect filter="fade" transition="in">
                                      <p:cBhvr>
                                        <p:cTn dur="500"/>
                                        <p:tgtEl>
                                          <p:spTgt spid="30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6"/>
                                        </p:tgtEl>
                                        <p:attrNameLst>
                                          <p:attrName>style.visibility</p:attrName>
                                        </p:attrNameLst>
                                      </p:cBhvr>
                                      <p:to>
                                        <p:strVal val="visible"/>
                                      </p:to>
                                    </p:set>
                                    <p:animEffect filter="fade" transition="in">
                                      <p:cBhvr>
                                        <p:cTn dur="500"/>
                                        <p:tgtEl>
                                          <p:spTgt spid="3026"/>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3023"/>
                                        </p:tgtEl>
                                        <p:attrNameLst>
                                          <p:attrName>style.visibility</p:attrName>
                                        </p:attrNameLst>
                                      </p:cBhvr>
                                      <p:to>
                                        <p:strVal val="visible"/>
                                      </p:to>
                                    </p:set>
                                    <p:animEffect filter="fade" transition="in">
                                      <p:cBhvr>
                                        <p:cTn dur="500"/>
                                        <p:tgtEl>
                                          <p:spTgt spid="3023"/>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3052"/>
                                        </p:tgtEl>
                                        <p:attrNameLst>
                                          <p:attrName>style.visibility</p:attrName>
                                        </p:attrNameLst>
                                      </p:cBhvr>
                                      <p:to>
                                        <p:strVal val="visible"/>
                                      </p:to>
                                    </p:set>
                                    <p:animEffect filter="fade" transition="in">
                                      <p:cBhvr>
                                        <p:cTn dur="500"/>
                                        <p:tgtEl>
                                          <p:spTgt spid="30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3"/>
                                        </p:tgtEl>
                                        <p:attrNameLst>
                                          <p:attrName>style.visibility</p:attrName>
                                        </p:attrNameLst>
                                      </p:cBhvr>
                                      <p:to>
                                        <p:strVal val="visible"/>
                                      </p:to>
                                    </p:set>
                                    <p:animEffect filter="fade" transition="in">
                                      <p:cBhvr>
                                        <p:cTn dur="500"/>
                                        <p:tgtEl>
                                          <p:spTgt spid="3053"/>
                                        </p:tgtEl>
                                      </p:cBhvr>
                                    </p:animEffect>
                                  </p:childTnLst>
                                </p:cTn>
                              </p:par>
                              <p:par>
                                <p:cTn fill="hold" nodeType="withEffect" presetClass="entr" presetID="10" presetSubtype="0">
                                  <p:stCondLst>
                                    <p:cond delay="0"/>
                                  </p:stCondLst>
                                  <p:childTnLst>
                                    <p:set>
                                      <p:cBhvr>
                                        <p:cTn dur="1" fill="hold">
                                          <p:stCondLst>
                                            <p:cond delay="0"/>
                                          </p:stCondLst>
                                        </p:cTn>
                                        <p:tgtEl>
                                          <p:spTgt spid="3141"/>
                                        </p:tgtEl>
                                        <p:attrNameLst>
                                          <p:attrName>style.visibility</p:attrName>
                                        </p:attrNameLst>
                                      </p:cBhvr>
                                      <p:to>
                                        <p:strVal val="visible"/>
                                      </p:to>
                                    </p:set>
                                    <p:animEffect filter="fade" transition="in">
                                      <p:cBhvr>
                                        <p:cTn dur="500"/>
                                        <p:tgtEl>
                                          <p:spTgt spid="3141"/>
                                        </p:tgtEl>
                                      </p:cBhvr>
                                    </p:animEffect>
                                  </p:childTnLst>
                                </p:cTn>
                              </p:par>
                              <p:par>
                                <p:cTn fill="hold" nodeType="withEffect" presetClass="entr" presetID="10" presetSubtype="0">
                                  <p:stCondLst>
                                    <p:cond delay="0"/>
                                  </p:stCondLst>
                                  <p:childTnLst>
                                    <p:set>
                                      <p:cBhvr>
                                        <p:cTn dur="1" fill="hold">
                                          <p:stCondLst>
                                            <p:cond delay="0"/>
                                          </p:stCondLst>
                                        </p:cTn>
                                        <p:tgtEl>
                                          <p:spTgt spid="3142"/>
                                        </p:tgtEl>
                                        <p:attrNameLst>
                                          <p:attrName>style.visibility</p:attrName>
                                        </p:attrNameLst>
                                      </p:cBhvr>
                                      <p:to>
                                        <p:strVal val="visible"/>
                                      </p:to>
                                    </p:set>
                                    <p:animEffect filter="fade" transition="in">
                                      <p:cBhvr>
                                        <p:cTn dur="500"/>
                                        <p:tgtEl>
                                          <p:spTgt spid="3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8" name="Shape 3148"/>
        <p:cNvGrpSpPr/>
        <p:nvPr/>
      </p:nvGrpSpPr>
      <p:grpSpPr>
        <a:xfrm>
          <a:off x="0" y="0"/>
          <a:ext cx="0" cy="0"/>
          <a:chOff x="0" y="0"/>
          <a:chExt cx="0" cy="0"/>
        </a:xfrm>
      </p:grpSpPr>
      <p:sp>
        <p:nvSpPr>
          <p:cNvPr id="3149" name="Google Shape;3149;p52"/>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 and encapsulation</a:t>
            </a:r>
            <a:endParaRPr/>
          </a:p>
        </p:txBody>
      </p:sp>
      <p:sp>
        <p:nvSpPr>
          <p:cNvPr id="3150" name="Google Shape;3150;p52"/>
          <p:cNvSpPr txBox="1"/>
          <p:nvPr/>
        </p:nvSpPr>
        <p:spPr>
          <a:xfrm>
            <a:off x="888274" y="1697883"/>
            <a:ext cx="275952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Ethernet connecting two IPv6 routers:</a:t>
            </a:r>
            <a:endParaRPr/>
          </a:p>
        </p:txBody>
      </p:sp>
      <p:grpSp>
        <p:nvGrpSpPr>
          <p:cNvPr id="3151" name="Google Shape;3151;p52"/>
          <p:cNvGrpSpPr/>
          <p:nvPr/>
        </p:nvGrpSpPr>
        <p:grpSpPr>
          <a:xfrm>
            <a:off x="4274280" y="1626442"/>
            <a:ext cx="5834767" cy="995120"/>
            <a:chOff x="3663591" y="1108282"/>
            <a:chExt cx="5834767" cy="995120"/>
          </a:xfrm>
        </p:grpSpPr>
        <p:sp>
          <p:nvSpPr>
            <p:cNvPr id="3152" name="Google Shape;3152;p52"/>
            <p:cNvSpPr/>
            <p:nvPr/>
          </p:nvSpPr>
          <p:spPr>
            <a:xfrm>
              <a:off x="5385352" y="1616420"/>
              <a:ext cx="2405062" cy="66675"/>
            </a:xfrm>
            <a:prstGeom prst="rect">
              <a:avLst/>
            </a:prstGeom>
            <a:solidFill>
              <a:srgbClr val="CC0000"/>
            </a:solidFill>
            <a:ln cap="flat" cmpd="sng" w="9525">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153" name="Google Shape;3153;p52"/>
            <p:cNvSpPr txBox="1"/>
            <p:nvPr/>
          </p:nvSpPr>
          <p:spPr>
            <a:xfrm>
              <a:off x="5480234" y="1110007"/>
              <a:ext cx="2471780" cy="51090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1" lang="en-US" sz="1600" u="none" cap="none" strike="noStrike">
                  <a:solidFill>
                    <a:srgbClr val="CC0000"/>
                  </a:solidFill>
                  <a:latin typeface="Arial"/>
                  <a:ea typeface="Arial"/>
                  <a:cs typeface="Arial"/>
                  <a:sym typeface="Arial"/>
                </a:rPr>
                <a:t>Ethernet connects two IPv6 routers</a:t>
              </a:r>
              <a:endParaRPr/>
            </a:p>
          </p:txBody>
        </p:sp>
        <p:grpSp>
          <p:nvGrpSpPr>
            <p:cNvPr id="3154" name="Google Shape;3154;p52"/>
            <p:cNvGrpSpPr/>
            <p:nvPr/>
          </p:nvGrpSpPr>
          <p:grpSpPr>
            <a:xfrm>
              <a:off x="3663591" y="1108282"/>
              <a:ext cx="1764058" cy="965200"/>
              <a:chOff x="3670217" y="2254595"/>
              <a:chExt cx="1764058" cy="965200"/>
            </a:xfrm>
          </p:grpSpPr>
          <p:sp>
            <p:nvSpPr>
              <p:cNvPr id="3155" name="Google Shape;3155;p52"/>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A</a:t>
                </a:r>
                <a:endParaRPr/>
              </a:p>
            </p:txBody>
          </p:sp>
          <p:sp>
            <p:nvSpPr>
              <p:cNvPr id="3156" name="Google Shape;3156;p52"/>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B</a:t>
                </a:r>
                <a:endParaRPr/>
              </a:p>
            </p:txBody>
          </p:sp>
          <p:cxnSp>
            <p:nvCxnSpPr>
              <p:cNvPr id="3157" name="Google Shape;3157;p52"/>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158" name="Google Shape;3158;p52"/>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sp>
            <p:nvSpPr>
              <p:cNvPr id="3159" name="Google Shape;3159;p52"/>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grpSp>
            <p:nvGrpSpPr>
              <p:cNvPr id="3160" name="Google Shape;3160;p52"/>
              <p:cNvGrpSpPr/>
              <p:nvPr/>
            </p:nvGrpSpPr>
            <p:grpSpPr>
              <a:xfrm>
                <a:off x="3670217" y="2586162"/>
                <a:ext cx="731126" cy="344556"/>
                <a:chOff x="7493876" y="2774731"/>
                <a:chExt cx="1481958" cy="894622"/>
              </a:xfrm>
            </p:grpSpPr>
            <p:sp>
              <p:nvSpPr>
                <p:cNvPr id="3161" name="Google Shape;3161;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162" name="Google Shape;3162;p52"/>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163" name="Google Shape;3163;p52"/>
                <p:cNvGrpSpPr/>
                <p:nvPr/>
              </p:nvGrpSpPr>
              <p:grpSpPr>
                <a:xfrm>
                  <a:off x="7713663" y="2848339"/>
                  <a:ext cx="1042107" cy="425543"/>
                  <a:chOff x="7786941" y="2884917"/>
                  <a:chExt cx="897649" cy="353919"/>
                </a:xfrm>
              </p:grpSpPr>
              <p:sp>
                <p:nvSpPr>
                  <p:cNvPr id="3164" name="Google Shape;3164;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65" name="Google Shape;3165;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66" name="Google Shape;3166;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67" name="Google Shape;3167;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168" name="Google Shape;3168;p52"/>
              <p:cNvGrpSpPr/>
              <p:nvPr/>
            </p:nvGrpSpPr>
            <p:grpSpPr>
              <a:xfrm>
                <a:off x="4703149" y="2589549"/>
                <a:ext cx="731126" cy="344556"/>
                <a:chOff x="7493876" y="2774731"/>
                <a:chExt cx="1481958" cy="894622"/>
              </a:xfrm>
            </p:grpSpPr>
            <p:sp>
              <p:nvSpPr>
                <p:cNvPr id="3169" name="Google Shape;3169;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170" name="Google Shape;3170;p52"/>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171" name="Google Shape;3171;p52"/>
                <p:cNvGrpSpPr/>
                <p:nvPr/>
              </p:nvGrpSpPr>
              <p:grpSpPr>
                <a:xfrm>
                  <a:off x="7713663" y="2848339"/>
                  <a:ext cx="1042107" cy="425543"/>
                  <a:chOff x="7786941" y="2884917"/>
                  <a:chExt cx="897649" cy="353919"/>
                </a:xfrm>
              </p:grpSpPr>
              <p:sp>
                <p:nvSpPr>
                  <p:cNvPr id="3172" name="Google Shape;3172;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73" name="Google Shape;3173;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74" name="Google Shape;3174;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75" name="Google Shape;3175;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nvGrpSpPr>
            <p:cNvPr id="3176" name="Google Shape;3176;p52"/>
            <p:cNvGrpSpPr/>
            <p:nvPr/>
          </p:nvGrpSpPr>
          <p:grpSpPr>
            <a:xfrm>
              <a:off x="7734300" y="1138202"/>
              <a:ext cx="1764058" cy="965200"/>
              <a:chOff x="3670217" y="2254595"/>
              <a:chExt cx="1764058" cy="965200"/>
            </a:xfrm>
          </p:grpSpPr>
          <p:sp>
            <p:nvSpPr>
              <p:cNvPr id="3177" name="Google Shape;3177;p52"/>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E</a:t>
                </a:r>
                <a:endParaRPr/>
              </a:p>
            </p:txBody>
          </p:sp>
          <p:sp>
            <p:nvSpPr>
              <p:cNvPr id="3178" name="Google Shape;3178;p52"/>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F</a:t>
                </a:r>
                <a:endParaRPr/>
              </a:p>
            </p:txBody>
          </p:sp>
          <p:cxnSp>
            <p:nvCxnSpPr>
              <p:cNvPr id="3179" name="Google Shape;3179;p52"/>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180" name="Google Shape;3180;p52"/>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sp>
            <p:nvSpPr>
              <p:cNvPr id="3181" name="Google Shape;3181;p52"/>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grpSp>
            <p:nvGrpSpPr>
              <p:cNvPr id="3182" name="Google Shape;3182;p52"/>
              <p:cNvGrpSpPr/>
              <p:nvPr/>
            </p:nvGrpSpPr>
            <p:grpSpPr>
              <a:xfrm>
                <a:off x="3670217" y="2586162"/>
                <a:ext cx="731126" cy="344556"/>
                <a:chOff x="7493876" y="2774731"/>
                <a:chExt cx="1481958" cy="894622"/>
              </a:xfrm>
            </p:grpSpPr>
            <p:sp>
              <p:nvSpPr>
                <p:cNvPr id="3183" name="Google Shape;3183;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184" name="Google Shape;3184;p52"/>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185" name="Google Shape;3185;p52"/>
                <p:cNvGrpSpPr/>
                <p:nvPr/>
              </p:nvGrpSpPr>
              <p:grpSpPr>
                <a:xfrm>
                  <a:off x="7713663" y="2848339"/>
                  <a:ext cx="1042107" cy="425543"/>
                  <a:chOff x="7786941" y="2884917"/>
                  <a:chExt cx="897649" cy="353919"/>
                </a:xfrm>
              </p:grpSpPr>
              <p:sp>
                <p:nvSpPr>
                  <p:cNvPr id="3186" name="Google Shape;3186;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87" name="Google Shape;3187;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88" name="Google Shape;3188;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89" name="Google Shape;3189;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190" name="Google Shape;3190;p52"/>
              <p:cNvGrpSpPr/>
              <p:nvPr/>
            </p:nvGrpSpPr>
            <p:grpSpPr>
              <a:xfrm>
                <a:off x="4703149" y="2589549"/>
                <a:ext cx="731126" cy="344556"/>
                <a:chOff x="7493876" y="2774731"/>
                <a:chExt cx="1481958" cy="894622"/>
              </a:xfrm>
            </p:grpSpPr>
            <p:sp>
              <p:nvSpPr>
                <p:cNvPr id="3191" name="Google Shape;3191;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192" name="Google Shape;3192;p52"/>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193" name="Google Shape;3193;p52"/>
                <p:cNvGrpSpPr/>
                <p:nvPr/>
              </p:nvGrpSpPr>
              <p:grpSpPr>
                <a:xfrm>
                  <a:off x="7713663" y="2848339"/>
                  <a:ext cx="1042107" cy="425543"/>
                  <a:chOff x="7786941" y="2884917"/>
                  <a:chExt cx="897649" cy="353919"/>
                </a:xfrm>
              </p:grpSpPr>
              <p:sp>
                <p:nvSpPr>
                  <p:cNvPr id="3194" name="Google Shape;3194;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95" name="Google Shape;3195;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96" name="Google Shape;3196;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197" name="Google Shape;3197;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sp>
        <p:nvSpPr>
          <p:cNvPr id="3198" name="Google Shape;3198;p52"/>
          <p:cNvSpPr txBox="1"/>
          <p:nvPr/>
        </p:nvSpPr>
        <p:spPr>
          <a:xfrm>
            <a:off x="861060" y="4222280"/>
            <a:ext cx="256031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IPv4 tunnel connecting two IPv6 routers</a:t>
            </a:r>
            <a:endParaRPr/>
          </a:p>
        </p:txBody>
      </p:sp>
      <p:grpSp>
        <p:nvGrpSpPr>
          <p:cNvPr id="3199" name="Google Shape;3199;p52"/>
          <p:cNvGrpSpPr/>
          <p:nvPr/>
        </p:nvGrpSpPr>
        <p:grpSpPr>
          <a:xfrm>
            <a:off x="6003967" y="4337621"/>
            <a:ext cx="2430462" cy="573088"/>
            <a:chOff x="6003967" y="4337621"/>
            <a:chExt cx="2430462" cy="573088"/>
          </a:xfrm>
        </p:grpSpPr>
        <p:sp>
          <p:nvSpPr>
            <p:cNvPr id="3200" name="Google Shape;3200;p52"/>
            <p:cNvSpPr/>
            <p:nvPr/>
          </p:nvSpPr>
          <p:spPr>
            <a:xfrm>
              <a:off x="6003967" y="4844034"/>
              <a:ext cx="2405062" cy="66675"/>
            </a:xfrm>
            <a:prstGeom prst="rect">
              <a:avLst/>
            </a:prstGeom>
            <a:solidFill>
              <a:srgbClr val="CC0000"/>
            </a:solidFill>
            <a:ln cap="flat" cmpd="sng" w="9525">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201" name="Google Shape;3201;p52"/>
            <p:cNvSpPr txBox="1"/>
            <p:nvPr/>
          </p:nvSpPr>
          <p:spPr>
            <a:xfrm>
              <a:off x="6115092" y="4337621"/>
              <a:ext cx="2319337" cy="5080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1" lang="en-US" sz="1600" u="none" cap="none" strike="noStrike">
                  <a:solidFill>
                    <a:srgbClr val="CC0000"/>
                  </a:solidFill>
                  <a:latin typeface="Arial"/>
                  <a:ea typeface="Arial"/>
                  <a:cs typeface="Arial"/>
                  <a:sym typeface="Arial"/>
                </a:rPr>
                <a:t>IPv4 tunnel </a:t>
              </a:r>
              <a:endParaRPr/>
            </a:p>
            <a:p>
              <a:pPr indent="0" lvl="0" marL="0" marR="0" rtl="0" algn="ctr">
                <a:lnSpc>
                  <a:spcPct val="85000"/>
                </a:lnSpc>
                <a:spcBef>
                  <a:spcPts val="0"/>
                </a:spcBef>
                <a:spcAft>
                  <a:spcPts val="0"/>
                </a:spcAft>
                <a:buNone/>
              </a:pPr>
              <a:r>
                <a:rPr b="0" i="1" lang="en-US" sz="1600" u="none" cap="none" strike="noStrike">
                  <a:solidFill>
                    <a:srgbClr val="CC0000"/>
                  </a:solidFill>
                  <a:latin typeface="Arial"/>
                  <a:ea typeface="Arial"/>
                  <a:cs typeface="Arial"/>
                  <a:sym typeface="Arial"/>
                </a:rPr>
                <a:t>connecting IPv6 routers</a:t>
              </a:r>
              <a:endParaRPr/>
            </a:p>
          </p:txBody>
        </p:sp>
      </p:grpSp>
      <p:grpSp>
        <p:nvGrpSpPr>
          <p:cNvPr id="3202" name="Google Shape;3202;p52"/>
          <p:cNvGrpSpPr/>
          <p:nvPr/>
        </p:nvGrpSpPr>
        <p:grpSpPr>
          <a:xfrm>
            <a:off x="4282206" y="4335896"/>
            <a:ext cx="1764058" cy="963613"/>
            <a:chOff x="3670217" y="2254595"/>
            <a:chExt cx="1764058" cy="963613"/>
          </a:xfrm>
        </p:grpSpPr>
        <p:sp>
          <p:nvSpPr>
            <p:cNvPr id="3203" name="Google Shape;3203;p52"/>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A</a:t>
              </a:r>
              <a:endParaRPr/>
            </a:p>
          </p:txBody>
        </p:sp>
        <p:sp>
          <p:nvSpPr>
            <p:cNvPr id="3204" name="Google Shape;3204;p52"/>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B</a:t>
              </a:r>
              <a:endParaRPr/>
            </a:p>
          </p:txBody>
        </p:sp>
        <p:cxnSp>
          <p:nvCxnSpPr>
            <p:cNvPr id="3205" name="Google Shape;3205;p52"/>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206" name="Google Shape;3206;p52"/>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grpSp>
          <p:nvGrpSpPr>
            <p:cNvPr id="3207" name="Google Shape;3207;p52"/>
            <p:cNvGrpSpPr/>
            <p:nvPr/>
          </p:nvGrpSpPr>
          <p:grpSpPr>
            <a:xfrm>
              <a:off x="3670217" y="2586162"/>
              <a:ext cx="731126" cy="344556"/>
              <a:chOff x="7493876" y="2774731"/>
              <a:chExt cx="1481958" cy="894622"/>
            </a:xfrm>
          </p:grpSpPr>
          <p:sp>
            <p:nvSpPr>
              <p:cNvPr id="3208" name="Google Shape;3208;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209" name="Google Shape;3209;p52"/>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210" name="Google Shape;3210;p52"/>
              <p:cNvGrpSpPr/>
              <p:nvPr/>
            </p:nvGrpSpPr>
            <p:grpSpPr>
              <a:xfrm>
                <a:off x="7713663" y="2848339"/>
                <a:ext cx="1042107" cy="425543"/>
                <a:chOff x="7786941" y="2884917"/>
                <a:chExt cx="897649" cy="353919"/>
              </a:xfrm>
            </p:grpSpPr>
            <p:sp>
              <p:nvSpPr>
                <p:cNvPr id="3211" name="Google Shape;3211;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12" name="Google Shape;3212;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13" name="Google Shape;3213;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14" name="Google Shape;3214;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215" name="Google Shape;3215;p52"/>
            <p:cNvGrpSpPr/>
            <p:nvPr/>
          </p:nvGrpSpPr>
          <p:grpSpPr>
            <a:xfrm>
              <a:off x="4703149" y="2589549"/>
              <a:ext cx="731126" cy="344556"/>
              <a:chOff x="7493876" y="2774731"/>
              <a:chExt cx="1481958" cy="894622"/>
            </a:xfrm>
          </p:grpSpPr>
          <p:sp>
            <p:nvSpPr>
              <p:cNvPr id="3216" name="Google Shape;3216;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217" name="Google Shape;3217;p52"/>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218" name="Google Shape;3218;p52"/>
              <p:cNvGrpSpPr/>
              <p:nvPr/>
            </p:nvGrpSpPr>
            <p:grpSpPr>
              <a:xfrm>
                <a:off x="7713663" y="2848339"/>
                <a:ext cx="1042107" cy="425543"/>
                <a:chOff x="7786941" y="2884917"/>
                <a:chExt cx="897649" cy="353919"/>
              </a:xfrm>
            </p:grpSpPr>
            <p:sp>
              <p:nvSpPr>
                <p:cNvPr id="3219" name="Google Shape;3219;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20" name="Google Shape;3220;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21" name="Google Shape;3221;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22" name="Google Shape;3222;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nvGrpSpPr>
          <p:cNvPr id="3223" name="Google Shape;3223;p52"/>
          <p:cNvGrpSpPr/>
          <p:nvPr/>
        </p:nvGrpSpPr>
        <p:grpSpPr>
          <a:xfrm>
            <a:off x="8352915" y="4365816"/>
            <a:ext cx="1764058" cy="965200"/>
            <a:chOff x="3670217" y="2254595"/>
            <a:chExt cx="1764058" cy="965200"/>
          </a:xfrm>
        </p:grpSpPr>
        <p:sp>
          <p:nvSpPr>
            <p:cNvPr id="3224" name="Google Shape;3224;p52"/>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E</a:t>
              </a:r>
              <a:endParaRPr/>
            </a:p>
          </p:txBody>
        </p:sp>
        <p:sp>
          <p:nvSpPr>
            <p:cNvPr id="3225" name="Google Shape;3225;p52"/>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F</a:t>
              </a:r>
              <a:endParaRPr/>
            </a:p>
          </p:txBody>
        </p:sp>
        <p:cxnSp>
          <p:nvCxnSpPr>
            <p:cNvPr id="3226" name="Google Shape;3226;p52"/>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227" name="Google Shape;3227;p52"/>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grpSp>
          <p:nvGrpSpPr>
            <p:cNvPr id="3228" name="Google Shape;3228;p52"/>
            <p:cNvGrpSpPr/>
            <p:nvPr/>
          </p:nvGrpSpPr>
          <p:grpSpPr>
            <a:xfrm>
              <a:off x="3670217" y="2586162"/>
              <a:ext cx="731126" cy="344556"/>
              <a:chOff x="7493876" y="2774731"/>
              <a:chExt cx="1481958" cy="894622"/>
            </a:xfrm>
          </p:grpSpPr>
          <p:sp>
            <p:nvSpPr>
              <p:cNvPr id="3229" name="Google Shape;3229;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230" name="Google Shape;3230;p52"/>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231" name="Google Shape;3231;p52"/>
              <p:cNvGrpSpPr/>
              <p:nvPr/>
            </p:nvGrpSpPr>
            <p:grpSpPr>
              <a:xfrm>
                <a:off x="7713663" y="2848339"/>
                <a:ext cx="1042107" cy="425543"/>
                <a:chOff x="7786941" y="2884917"/>
                <a:chExt cx="897649" cy="353919"/>
              </a:xfrm>
            </p:grpSpPr>
            <p:sp>
              <p:nvSpPr>
                <p:cNvPr id="3232" name="Google Shape;3232;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33" name="Google Shape;3233;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34" name="Google Shape;3234;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35" name="Google Shape;3235;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236" name="Google Shape;3236;p52"/>
            <p:cNvGrpSpPr/>
            <p:nvPr/>
          </p:nvGrpSpPr>
          <p:grpSpPr>
            <a:xfrm>
              <a:off x="4703149" y="2589549"/>
              <a:ext cx="731126" cy="344556"/>
              <a:chOff x="7493876" y="2774731"/>
              <a:chExt cx="1481958" cy="894622"/>
            </a:xfrm>
          </p:grpSpPr>
          <p:sp>
            <p:nvSpPr>
              <p:cNvPr id="3237" name="Google Shape;3237;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238" name="Google Shape;3238;p52"/>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239" name="Google Shape;3239;p52"/>
              <p:cNvGrpSpPr/>
              <p:nvPr/>
            </p:nvGrpSpPr>
            <p:grpSpPr>
              <a:xfrm>
                <a:off x="7713663" y="2848339"/>
                <a:ext cx="1042107" cy="425543"/>
                <a:chOff x="7786941" y="2884917"/>
                <a:chExt cx="897649" cy="353919"/>
              </a:xfrm>
            </p:grpSpPr>
            <p:sp>
              <p:nvSpPr>
                <p:cNvPr id="3240" name="Google Shape;3240;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41" name="Google Shape;3241;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42" name="Google Shape;3242;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43" name="Google Shape;3243;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nvGrpSpPr>
          <p:cNvPr id="3244" name="Google Shape;3244;p52"/>
          <p:cNvGrpSpPr/>
          <p:nvPr/>
        </p:nvGrpSpPr>
        <p:grpSpPr>
          <a:xfrm>
            <a:off x="3244703" y="3195320"/>
            <a:ext cx="1748069" cy="467910"/>
            <a:chOff x="3229463" y="3119120"/>
            <a:chExt cx="1748069" cy="467910"/>
          </a:xfrm>
        </p:grpSpPr>
        <p:cxnSp>
          <p:nvCxnSpPr>
            <p:cNvPr id="3245" name="Google Shape;3245;p52"/>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3246" name="Google Shape;3246;p52"/>
            <p:cNvSpPr txBox="1"/>
            <p:nvPr/>
          </p:nvSpPr>
          <p:spPr>
            <a:xfrm>
              <a:off x="3229463" y="3311570"/>
              <a:ext cx="1516761"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400" u="none" cap="none" strike="noStrike">
                  <a:solidFill>
                    <a:srgbClr val="000000"/>
                  </a:solidFill>
                  <a:latin typeface="Arial"/>
                  <a:ea typeface="Arial"/>
                  <a:cs typeface="Arial"/>
                  <a:sym typeface="Arial"/>
                </a:rPr>
                <a:t>Link-layer frame</a:t>
              </a:r>
              <a:endParaRPr/>
            </a:p>
          </p:txBody>
        </p:sp>
      </p:grpSp>
      <p:grpSp>
        <p:nvGrpSpPr>
          <p:cNvPr id="3247" name="Google Shape;3247;p52"/>
          <p:cNvGrpSpPr/>
          <p:nvPr/>
        </p:nvGrpSpPr>
        <p:grpSpPr>
          <a:xfrm>
            <a:off x="4809173" y="2446973"/>
            <a:ext cx="4886325" cy="951547"/>
            <a:chOff x="4672013" y="2614613"/>
            <a:chExt cx="4886325" cy="1157209"/>
          </a:xfrm>
        </p:grpSpPr>
        <p:grpSp>
          <p:nvGrpSpPr>
            <p:cNvPr id="3248" name="Google Shape;3248;p52"/>
            <p:cNvGrpSpPr/>
            <p:nvPr/>
          </p:nvGrpSpPr>
          <p:grpSpPr>
            <a:xfrm>
              <a:off x="4674002" y="3295572"/>
              <a:ext cx="4854575" cy="476250"/>
              <a:chOff x="1427882" y="4286172"/>
              <a:chExt cx="4854575" cy="476250"/>
            </a:xfrm>
          </p:grpSpPr>
          <p:sp>
            <p:nvSpPr>
              <p:cNvPr id="3249" name="Google Shape;3249;p52"/>
              <p:cNvSpPr/>
              <p:nvPr/>
            </p:nvSpPr>
            <p:spPr>
              <a:xfrm>
                <a:off x="1427882" y="4289347"/>
                <a:ext cx="4854575" cy="468313"/>
              </a:xfrm>
              <a:prstGeom prst="rect">
                <a:avLst/>
              </a:prstGeom>
              <a:gradFill>
                <a:gsLst>
                  <a:gs pos="0">
                    <a:srgbClr val="CC0000">
                      <a:alpha val="41176"/>
                    </a:srgbClr>
                  </a:gs>
                  <a:gs pos="100000">
                    <a:srgbClr val="CC0000">
                      <a:alpha val="38039"/>
                    </a:srgbClr>
                  </a:gs>
                </a:gsLst>
                <a:lin ang="5400000" scaled="0"/>
              </a:gradFill>
              <a:ln cap="flat" cmpd="sng" w="9525">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3250" name="Google Shape;3250;p52"/>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3251" name="Google Shape;3251;p52"/>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3252" name="Google Shape;3252;p52"/>
              <p:cNvCxnSpPr/>
              <p:nvPr/>
            </p:nvCxnSpPr>
            <p:spPr>
              <a:xfrm>
                <a:off x="1867620" y="4294109"/>
                <a:ext cx="0" cy="468313"/>
              </a:xfrm>
              <a:prstGeom prst="straightConnector1">
                <a:avLst/>
              </a:prstGeom>
              <a:noFill/>
              <a:ln cap="flat" cmpd="sng" w="9525">
                <a:solidFill>
                  <a:srgbClr val="CC0000"/>
                </a:solidFill>
                <a:prstDash val="solid"/>
                <a:round/>
                <a:headEnd len="med" w="med" type="none"/>
                <a:tailEnd len="med" w="med" type="none"/>
              </a:ln>
            </p:spPr>
          </p:cxnSp>
          <p:grpSp>
            <p:nvGrpSpPr>
              <p:cNvPr id="3253" name="Google Shape;3253;p52"/>
              <p:cNvGrpSpPr/>
              <p:nvPr/>
            </p:nvGrpSpPr>
            <p:grpSpPr>
              <a:xfrm>
                <a:off x="2865478" y="4319509"/>
                <a:ext cx="3402012" cy="414337"/>
                <a:chOff x="8090620" y="3748009"/>
                <a:chExt cx="3402012" cy="414337"/>
              </a:xfrm>
            </p:grpSpPr>
            <p:cxnSp>
              <p:nvCxnSpPr>
                <p:cNvPr id="3254" name="Google Shape;3254;p52"/>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3255" name="Google Shape;3255;p52"/>
                <p:cNvSpPr/>
                <p:nvPr/>
              </p:nvSpPr>
              <p:spPr>
                <a:xfrm>
                  <a:off x="8090620" y="3751184"/>
                  <a:ext cx="3402012" cy="401638"/>
                </a:xfrm>
                <a:prstGeom prst="rect">
                  <a:avLst/>
                </a:prstGeom>
                <a:solidFill>
                  <a:srgbClr val="66CCFF"/>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3256" name="Google Shape;3256;p52"/>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57" name="Google Shape;3257;p52"/>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58" name="Google Shape;3258;p52"/>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59" name="Google Shape;3259;p52"/>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60" name="Google Shape;3260;p52"/>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61" name="Google Shape;3261;p52"/>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62" name="Google Shape;3262;p52"/>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63" name="Google Shape;3263;p52"/>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3264" name="Google Shape;3264;p52"/>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265" name="Google Shape;3265;p52"/>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IPv6 datagram</a:t>
                </a:r>
                <a:endParaRPr/>
              </a:p>
            </p:txBody>
          </p:sp>
        </p:grpSp>
        <p:sp>
          <p:nvSpPr>
            <p:cNvPr id="3266" name="Google Shape;3266;p52"/>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nvGrpSpPr>
          <p:cNvPr id="3267" name="Google Shape;3267;p52"/>
          <p:cNvGrpSpPr/>
          <p:nvPr/>
        </p:nvGrpSpPr>
        <p:grpSpPr>
          <a:xfrm>
            <a:off x="6964680" y="2244997"/>
            <a:ext cx="838200" cy="376149"/>
            <a:chOff x="6827520" y="2412637"/>
            <a:chExt cx="838200" cy="376149"/>
          </a:xfrm>
        </p:grpSpPr>
        <p:sp>
          <p:nvSpPr>
            <p:cNvPr id="3268" name="Google Shape;3268;p52"/>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3269" name="Google Shape;3269;p52"/>
            <p:cNvGrpSpPr/>
            <p:nvPr/>
          </p:nvGrpSpPr>
          <p:grpSpPr>
            <a:xfrm>
              <a:off x="6827520" y="2412637"/>
              <a:ext cx="334944" cy="376149"/>
              <a:chOff x="335231" y="4406992"/>
              <a:chExt cx="1251280" cy="2136350"/>
            </a:xfrm>
          </p:grpSpPr>
          <p:sp>
            <p:nvSpPr>
              <p:cNvPr id="3270" name="Google Shape;3270;p52"/>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71" name="Google Shape;3271;p52"/>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272" name="Google Shape;3272;p52"/>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sp>
        <p:nvSpPr>
          <p:cNvPr id="3273" name="Google Shape;3273;p52"/>
          <p:cNvSpPr txBox="1"/>
          <p:nvPr/>
        </p:nvSpPr>
        <p:spPr>
          <a:xfrm>
            <a:off x="4831080" y="3383280"/>
            <a:ext cx="48790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Calibri"/>
                <a:ea typeface="Calibri"/>
                <a:cs typeface="Calibri"/>
                <a:sym typeface="Calibri"/>
              </a:rPr>
              <a:t>The usual: datagram as payload in link-layer frame</a:t>
            </a:r>
            <a:endParaRPr/>
          </a:p>
        </p:txBody>
      </p:sp>
      <p:grpSp>
        <p:nvGrpSpPr>
          <p:cNvPr id="3274" name="Google Shape;3274;p52"/>
          <p:cNvGrpSpPr/>
          <p:nvPr/>
        </p:nvGrpSpPr>
        <p:grpSpPr>
          <a:xfrm>
            <a:off x="2834599" y="5970990"/>
            <a:ext cx="2306635" cy="467910"/>
            <a:chOff x="2670897" y="3119120"/>
            <a:chExt cx="2306635" cy="467910"/>
          </a:xfrm>
        </p:grpSpPr>
        <p:cxnSp>
          <p:nvCxnSpPr>
            <p:cNvPr id="3275" name="Google Shape;3275;p52"/>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3276" name="Google Shape;3276;p52"/>
            <p:cNvSpPr txBox="1"/>
            <p:nvPr/>
          </p:nvSpPr>
          <p:spPr>
            <a:xfrm>
              <a:off x="2670897" y="3311570"/>
              <a:ext cx="1348447"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400" u="none" cap="none" strike="noStrike">
                  <a:solidFill>
                    <a:srgbClr val="000000"/>
                  </a:solidFill>
                  <a:latin typeface="Arial"/>
                  <a:ea typeface="Arial"/>
                  <a:cs typeface="Arial"/>
                  <a:sym typeface="Arial"/>
                </a:rPr>
                <a:t>IPv4 datagram</a:t>
              </a:r>
              <a:endParaRPr/>
            </a:p>
          </p:txBody>
        </p:sp>
      </p:grpSp>
      <p:grpSp>
        <p:nvGrpSpPr>
          <p:cNvPr id="3277" name="Google Shape;3277;p52"/>
          <p:cNvGrpSpPr/>
          <p:nvPr/>
        </p:nvGrpSpPr>
        <p:grpSpPr>
          <a:xfrm>
            <a:off x="4511040" y="5222642"/>
            <a:ext cx="5332920" cy="956237"/>
            <a:chOff x="4225418" y="2614613"/>
            <a:chExt cx="5332920" cy="1162913"/>
          </a:xfrm>
        </p:grpSpPr>
        <p:grpSp>
          <p:nvGrpSpPr>
            <p:cNvPr id="3278" name="Google Shape;3278;p52"/>
            <p:cNvGrpSpPr/>
            <p:nvPr/>
          </p:nvGrpSpPr>
          <p:grpSpPr>
            <a:xfrm>
              <a:off x="4225418" y="3289252"/>
              <a:ext cx="5303159" cy="488274"/>
              <a:chOff x="979298" y="4279852"/>
              <a:chExt cx="5303159" cy="488274"/>
            </a:xfrm>
          </p:grpSpPr>
          <p:sp>
            <p:nvSpPr>
              <p:cNvPr id="3279" name="Google Shape;3279;p52"/>
              <p:cNvSpPr/>
              <p:nvPr/>
            </p:nvSpPr>
            <p:spPr>
              <a:xfrm>
                <a:off x="979298" y="4289347"/>
                <a:ext cx="5303159" cy="468314"/>
              </a:xfrm>
              <a:prstGeom prst="rect">
                <a:avLst/>
              </a:prstGeom>
              <a:gradFill>
                <a:gsLst>
                  <a:gs pos="0">
                    <a:srgbClr val="CC0000">
                      <a:alpha val="41176"/>
                    </a:srgbClr>
                  </a:gs>
                  <a:gs pos="100000">
                    <a:srgbClr val="CC0000">
                      <a:alpha val="38039"/>
                    </a:srgbClr>
                  </a:gs>
                </a:gsLst>
                <a:lin ang="5400000" scaled="0"/>
              </a:gradFill>
              <a:ln cap="flat" cmpd="sng" w="9525">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3280" name="Google Shape;3280;p52"/>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3281" name="Google Shape;3281;p52"/>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3282" name="Google Shape;3282;p52"/>
              <p:cNvCxnSpPr/>
              <p:nvPr/>
            </p:nvCxnSpPr>
            <p:spPr>
              <a:xfrm>
                <a:off x="2129045" y="4299810"/>
                <a:ext cx="0" cy="468314"/>
              </a:xfrm>
              <a:prstGeom prst="straightConnector1">
                <a:avLst/>
              </a:prstGeom>
              <a:noFill/>
              <a:ln cap="flat" cmpd="sng" w="9525">
                <a:solidFill>
                  <a:srgbClr val="CC0000"/>
                </a:solidFill>
                <a:prstDash val="solid"/>
                <a:round/>
                <a:headEnd len="med" w="med" type="none"/>
                <a:tailEnd len="med" w="med" type="none"/>
              </a:ln>
            </p:spPr>
          </p:cxnSp>
          <p:grpSp>
            <p:nvGrpSpPr>
              <p:cNvPr id="3283" name="Google Shape;3283;p52"/>
              <p:cNvGrpSpPr/>
              <p:nvPr/>
            </p:nvGrpSpPr>
            <p:grpSpPr>
              <a:xfrm>
                <a:off x="2865478" y="4319509"/>
                <a:ext cx="3402012" cy="414337"/>
                <a:chOff x="8090620" y="3748009"/>
                <a:chExt cx="3402012" cy="414337"/>
              </a:xfrm>
            </p:grpSpPr>
            <p:cxnSp>
              <p:nvCxnSpPr>
                <p:cNvPr id="3284" name="Google Shape;3284;p52"/>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3285" name="Google Shape;3285;p52"/>
                <p:cNvSpPr/>
                <p:nvPr/>
              </p:nvSpPr>
              <p:spPr>
                <a:xfrm>
                  <a:off x="8090620" y="3751184"/>
                  <a:ext cx="3402012" cy="401638"/>
                </a:xfrm>
                <a:prstGeom prst="rect">
                  <a:avLst/>
                </a:prstGeom>
                <a:solidFill>
                  <a:srgbClr val="66CCFF"/>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3286" name="Google Shape;3286;p52"/>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87" name="Google Shape;3287;p52"/>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88" name="Google Shape;3288;p52"/>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89" name="Google Shape;3289;p52"/>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90" name="Google Shape;3290;p52"/>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91" name="Google Shape;3291;p52"/>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92" name="Google Shape;3292;p52"/>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3293" name="Google Shape;3293;p52"/>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3294" name="Google Shape;3294;p52"/>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295" name="Google Shape;3295;p52"/>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IPv6 datagram</a:t>
                </a:r>
                <a:endParaRPr/>
              </a:p>
            </p:txBody>
          </p:sp>
          <p:cxnSp>
            <p:nvCxnSpPr>
              <p:cNvPr id="3296" name="Google Shape;3296;p52"/>
              <p:cNvCxnSpPr/>
              <p:nvPr/>
            </p:nvCxnSpPr>
            <p:spPr>
              <a:xfrm>
                <a:off x="1141962" y="4285554"/>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3297" name="Google Shape;3297;p52"/>
              <p:cNvCxnSpPr/>
              <p:nvPr/>
            </p:nvCxnSpPr>
            <p:spPr>
              <a:xfrm>
                <a:off x="1214646" y="4294108"/>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3298" name="Google Shape;3298;p52"/>
              <p:cNvCxnSpPr/>
              <p:nvPr/>
            </p:nvCxnSpPr>
            <p:spPr>
              <a:xfrm>
                <a:off x="1024733" y="4279852"/>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3299" name="Google Shape;3299;p52"/>
              <p:cNvCxnSpPr/>
              <p:nvPr/>
            </p:nvCxnSpPr>
            <p:spPr>
              <a:xfrm>
                <a:off x="1749220" y="4299812"/>
                <a:ext cx="0" cy="468314"/>
              </a:xfrm>
              <a:prstGeom prst="straightConnector1">
                <a:avLst/>
              </a:prstGeom>
              <a:noFill/>
              <a:ln cap="flat" cmpd="sng" w="9525">
                <a:solidFill>
                  <a:srgbClr val="CC0000"/>
                </a:solidFill>
                <a:prstDash val="solid"/>
                <a:round/>
                <a:headEnd len="med" w="med" type="none"/>
                <a:tailEnd len="med" w="med" type="none"/>
              </a:ln>
            </p:spPr>
          </p:cxnSp>
        </p:grpSp>
        <p:sp>
          <p:nvSpPr>
            <p:cNvPr id="3300" name="Google Shape;3300;p52"/>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sp>
        <p:nvSpPr>
          <p:cNvPr id="3301" name="Google Shape;3301;p52"/>
          <p:cNvSpPr txBox="1"/>
          <p:nvPr/>
        </p:nvSpPr>
        <p:spPr>
          <a:xfrm>
            <a:off x="4979542" y="6158950"/>
            <a:ext cx="5373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Calibri"/>
                <a:ea typeface="Calibri"/>
                <a:cs typeface="Calibri"/>
                <a:sym typeface="Calibri"/>
              </a:rPr>
              <a:t>tunneling: IPv6 datagram as payload in a IPv4 datagram</a:t>
            </a:r>
            <a:endParaRPr/>
          </a:p>
        </p:txBody>
      </p:sp>
      <p:grpSp>
        <p:nvGrpSpPr>
          <p:cNvPr id="3302" name="Google Shape;3302;p52"/>
          <p:cNvGrpSpPr/>
          <p:nvPr/>
        </p:nvGrpSpPr>
        <p:grpSpPr>
          <a:xfrm>
            <a:off x="6903720" y="4965337"/>
            <a:ext cx="838200" cy="376149"/>
            <a:chOff x="6827520" y="2412637"/>
            <a:chExt cx="838200" cy="376149"/>
          </a:xfrm>
        </p:grpSpPr>
        <p:sp>
          <p:nvSpPr>
            <p:cNvPr id="3303" name="Google Shape;3303;p52"/>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3304" name="Google Shape;3304;p52"/>
            <p:cNvGrpSpPr/>
            <p:nvPr/>
          </p:nvGrpSpPr>
          <p:grpSpPr>
            <a:xfrm>
              <a:off x="6827520" y="2412637"/>
              <a:ext cx="334944" cy="376149"/>
              <a:chOff x="335231" y="4406992"/>
              <a:chExt cx="1251280" cy="2136350"/>
            </a:xfrm>
          </p:grpSpPr>
          <p:sp>
            <p:nvSpPr>
              <p:cNvPr id="3305" name="Google Shape;3305;p52"/>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06" name="Google Shape;3306;p52"/>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07" name="Google Shape;3307;p52"/>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sp>
        <p:nvSpPr>
          <p:cNvPr id="3308" name="Google Shape;3308;p52"/>
          <p:cNvSpPr/>
          <p:nvPr/>
        </p:nvSpPr>
        <p:spPr>
          <a:xfrm>
            <a:off x="822960" y="1356360"/>
            <a:ext cx="10058400" cy="2407920"/>
          </a:xfrm>
          <a:prstGeom prst="rect">
            <a:avLst/>
          </a:prstGeom>
          <a:solidFill>
            <a:schemeClr val="lt1">
              <a:alpha val="63137"/>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3309" name="Google Shape;3309;p52"/>
          <p:cNvGrpSpPr/>
          <p:nvPr/>
        </p:nvGrpSpPr>
        <p:grpSpPr>
          <a:xfrm>
            <a:off x="5243279" y="4964546"/>
            <a:ext cx="3924175" cy="366887"/>
            <a:chOff x="5243279" y="4964546"/>
            <a:chExt cx="3924175" cy="366887"/>
          </a:xfrm>
        </p:grpSpPr>
        <p:sp>
          <p:nvSpPr>
            <p:cNvPr id="3310" name="Google Shape;3310;p52"/>
            <p:cNvSpPr txBox="1"/>
            <p:nvPr/>
          </p:nvSpPr>
          <p:spPr>
            <a:xfrm>
              <a:off x="5243279" y="4964546"/>
              <a:ext cx="86914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3311" name="Google Shape;3311;p52"/>
            <p:cNvSpPr txBox="1"/>
            <p:nvPr/>
          </p:nvSpPr>
          <p:spPr>
            <a:xfrm>
              <a:off x="8298305" y="4992879"/>
              <a:ext cx="86914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sp>
        <p:nvSpPr>
          <p:cNvPr id="3312" name="Google Shape;3312;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99"/>
                                        </p:tgtEl>
                                        <p:attrNameLst>
                                          <p:attrName>style.visibility</p:attrName>
                                        </p:attrNameLst>
                                      </p:cBhvr>
                                      <p:to>
                                        <p:strVal val="visible"/>
                                      </p:to>
                                    </p:set>
                                    <p:animEffect filter="fade" transition="in">
                                      <p:cBhvr>
                                        <p:cTn dur="500"/>
                                        <p:tgtEl>
                                          <p:spTgt spid="3199"/>
                                        </p:tgtEl>
                                      </p:cBhvr>
                                    </p:animEffect>
                                  </p:childTnLst>
                                </p:cTn>
                              </p:par>
                              <p:par>
                                <p:cTn fill="hold" nodeType="withEffect" presetClass="entr" presetID="10" presetSubtype="0">
                                  <p:stCondLst>
                                    <p:cond delay="0"/>
                                  </p:stCondLst>
                                  <p:childTnLst>
                                    <p:set>
                                      <p:cBhvr>
                                        <p:cTn dur="1" fill="hold">
                                          <p:stCondLst>
                                            <p:cond delay="0"/>
                                          </p:stCondLst>
                                        </p:cTn>
                                        <p:tgtEl>
                                          <p:spTgt spid="3198"/>
                                        </p:tgtEl>
                                        <p:attrNameLst>
                                          <p:attrName>style.visibility</p:attrName>
                                        </p:attrNameLst>
                                      </p:cBhvr>
                                      <p:to>
                                        <p:strVal val="visible"/>
                                      </p:to>
                                    </p:set>
                                    <p:animEffect filter="fade" transition="in">
                                      <p:cBhvr>
                                        <p:cTn dur="500"/>
                                        <p:tgtEl>
                                          <p:spTgt spid="3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2"/>
                                        </p:tgtEl>
                                        <p:attrNameLst>
                                          <p:attrName>style.visibility</p:attrName>
                                        </p:attrNameLst>
                                      </p:cBhvr>
                                      <p:to>
                                        <p:strVal val="visible"/>
                                      </p:to>
                                    </p:set>
                                    <p:animEffect filter="fade" transition="in">
                                      <p:cBhvr>
                                        <p:cTn dur="500"/>
                                        <p:tgtEl>
                                          <p:spTgt spid="3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7"/>
                                        </p:tgtEl>
                                        <p:attrNameLst>
                                          <p:attrName>style.visibility</p:attrName>
                                        </p:attrNameLst>
                                      </p:cBhvr>
                                      <p:to>
                                        <p:strVal val="visible"/>
                                      </p:to>
                                    </p:set>
                                    <p:animEffect filter="fade" transition="in">
                                      <p:cBhvr>
                                        <p:cTn dur="500"/>
                                        <p:tgtEl>
                                          <p:spTgt spid="3277"/>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3274"/>
                                        </p:tgtEl>
                                        <p:attrNameLst>
                                          <p:attrName>style.visibility</p:attrName>
                                        </p:attrNameLst>
                                      </p:cBhvr>
                                      <p:to>
                                        <p:strVal val="visible"/>
                                      </p:to>
                                    </p:set>
                                    <p:animEffect filter="fade" transition="in">
                                      <p:cBhvr>
                                        <p:cTn dur="500"/>
                                        <p:tgtEl>
                                          <p:spTgt spid="3274"/>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3301"/>
                                        </p:tgtEl>
                                        <p:attrNameLst>
                                          <p:attrName>style.visibility</p:attrName>
                                        </p:attrNameLst>
                                      </p:cBhvr>
                                      <p:to>
                                        <p:strVal val="visible"/>
                                      </p:to>
                                    </p:set>
                                    <p:animEffect filter="fade" transition="in">
                                      <p:cBhvr>
                                        <p:cTn dur="500"/>
                                        <p:tgtEl>
                                          <p:spTgt spid="3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7" name="Shape 3317"/>
        <p:cNvGrpSpPr/>
        <p:nvPr/>
      </p:nvGrpSpPr>
      <p:grpSpPr>
        <a:xfrm>
          <a:off x="0" y="0"/>
          <a:ext cx="0" cy="0"/>
          <a:chOff x="0" y="0"/>
          <a:chExt cx="0" cy="0"/>
        </a:xfrm>
      </p:grpSpPr>
      <p:grpSp>
        <p:nvGrpSpPr>
          <p:cNvPr id="3318" name="Google Shape;3318;p53"/>
          <p:cNvGrpSpPr/>
          <p:nvPr/>
        </p:nvGrpSpPr>
        <p:grpSpPr>
          <a:xfrm>
            <a:off x="6285630" y="3268207"/>
            <a:ext cx="1176337" cy="3330575"/>
            <a:chOff x="3507" y="2128"/>
            <a:chExt cx="741" cy="2098"/>
          </a:xfrm>
        </p:grpSpPr>
        <p:cxnSp>
          <p:nvCxnSpPr>
            <p:cNvPr id="3319" name="Google Shape;3319;p53"/>
            <p:cNvCxnSpPr/>
            <p:nvPr/>
          </p:nvCxnSpPr>
          <p:spPr>
            <a:xfrm>
              <a:off x="3627" y="2128"/>
              <a:ext cx="434" cy="0"/>
            </a:xfrm>
            <a:prstGeom prst="straightConnector1">
              <a:avLst/>
            </a:prstGeom>
            <a:noFill/>
            <a:ln cap="flat" cmpd="sng" w="19050">
              <a:solidFill>
                <a:schemeClr val="dk1"/>
              </a:solidFill>
              <a:prstDash val="solid"/>
              <a:round/>
              <a:headEnd len="med" w="med" type="none"/>
              <a:tailEnd len="med" w="med" type="triangle"/>
            </a:ln>
          </p:spPr>
        </p:cxnSp>
        <p:sp>
          <p:nvSpPr>
            <p:cNvPr id="3320" name="Google Shape;3320;p53"/>
            <p:cNvSpPr txBox="1"/>
            <p:nvPr/>
          </p:nvSpPr>
          <p:spPr>
            <a:xfrm>
              <a:off x="3507" y="3775"/>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IPv4</a:t>
              </a:r>
              <a:endParaRPr/>
            </a:p>
          </p:txBody>
        </p:sp>
        <p:cxnSp>
          <p:nvCxnSpPr>
            <p:cNvPr id="3321" name="Google Shape;3321;p53"/>
            <p:cNvCxnSpPr/>
            <p:nvPr/>
          </p:nvCxnSpPr>
          <p:spPr>
            <a:xfrm>
              <a:off x="3883" y="3640"/>
              <a:ext cx="0" cy="116"/>
            </a:xfrm>
            <a:prstGeom prst="straightConnector1">
              <a:avLst/>
            </a:prstGeom>
            <a:noFill/>
            <a:ln cap="flat" cmpd="sng" w="9525">
              <a:solidFill>
                <a:schemeClr val="dk1"/>
              </a:solidFill>
              <a:prstDash val="solid"/>
              <a:round/>
              <a:headEnd len="med" w="med" type="triangle"/>
              <a:tailEnd len="med" w="med" type="none"/>
            </a:ln>
          </p:spPr>
        </p:cxnSp>
        <p:grpSp>
          <p:nvGrpSpPr>
            <p:cNvPr id="3322" name="Google Shape;3322;p53"/>
            <p:cNvGrpSpPr/>
            <p:nvPr/>
          </p:nvGrpSpPr>
          <p:grpSpPr>
            <a:xfrm>
              <a:off x="3558" y="2220"/>
              <a:ext cx="583" cy="1388"/>
              <a:chOff x="478" y="2082"/>
              <a:chExt cx="583" cy="1388"/>
            </a:xfrm>
          </p:grpSpPr>
          <p:sp>
            <p:nvSpPr>
              <p:cNvPr id="3323" name="Google Shape;3323;p53"/>
              <p:cNvSpPr/>
              <p:nvPr/>
            </p:nvSpPr>
            <p:spPr>
              <a:xfrm>
                <a:off x="478" y="2088"/>
                <a:ext cx="583" cy="1382"/>
              </a:xfrm>
              <a:prstGeom prst="rect">
                <a:avLst/>
              </a:prstGeom>
              <a:solidFill>
                <a:srgbClr val="CC0000"/>
              </a:solidFill>
              <a:ln cap="flat" cmpd="sng" w="9525">
                <a:solidFill>
                  <a:schemeClr val="dk1"/>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3324" name="Google Shape;3324;p53"/>
              <p:cNvGrpSpPr/>
              <p:nvPr/>
            </p:nvGrpSpPr>
            <p:grpSpPr>
              <a:xfrm>
                <a:off x="499" y="2471"/>
                <a:ext cx="493" cy="908"/>
                <a:chOff x="4869" y="143"/>
                <a:chExt cx="493" cy="908"/>
              </a:xfrm>
            </p:grpSpPr>
            <p:sp>
              <p:nvSpPr>
                <p:cNvPr id="3325" name="Google Shape;3325;p53"/>
                <p:cNvSpPr/>
                <p:nvPr/>
              </p:nvSpPr>
              <p:spPr>
                <a:xfrm>
                  <a:off x="4893" y="143"/>
                  <a:ext cx="462" cy="908"/>
                </a:xfrm>
                <a:prstGeom prst="rect">
                  <a:avLst/>
                </a:prstGeom>
                <a:solidFill>
                  <a:srgbClr val="B5E7FF"/>
                </a:solidFill>
                <a:ln cap="flat" cmpd="sng" w="9525">
                  <a:solidFill>
                    <a:schemeClr val="dk1"/>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326" name="Google Shape;3326;p53"/>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Flow: X</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Src: A</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Dest: F</a:t>
                  </a:r>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data</a:t>
                  </a:r>
                  <a:endParaRPr/>
                </a:p>
              </p:txBody>
            </p:sp>
          </p:grpSp>
          <p:sp>
            <p:nvSpPr>
              <p:cNvPr id="3327" name="Google Shape;3327;p53"/>
              <p:cNvSpPr txBox="1"/>
              <p:nvPr/>
            </p:nvSpPr>
            <p:spPr>
              <a:xfrm>
                <a:off x="491" y="2082"/>
                <a:ext cx="564" cy="4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src:B</a:t>
                </a:r>
                <a:endParaRPr/>
              </a:p>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dest: E</a:t>
                </a:r>
                <a:endParaRPr/>
              </a:p>
            </p:txBody>
          </p:sp>
        </p:grpSp>
      </p:grpSp>
      <p:sp>
        <p:nvSpPr>
          <p:cNvPr id="3328" name="Google Shape;3328;p53"/>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a:t>
            </a:r>
            <a:endParaRPr/>
          </a:p>
        </p:txBody>
      </p:sp>
      <p:sp>
        <p:nvSpPr>
          <p:cNvPr id="3329" name="Google Shape;3329;p53"/>
          <p:cNvSpPr txBox="1"/>
          <p:nvPr/>
        </p:nvSpPr>
        <p:spPr>
          <a:xfrm>
            <a:off x="1638577" y="2479069"/>
            <a:ext cx="19080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physical view:</a:t>
            </a:r>
            <a:endParaRPr/>
          </a:p>
        </p:txBody>
      </p:sp>
      <p:cxnSp>
        <p:nvCxnSpPr>
          <p:cNvPr id="3330" name="Google Shape;3330;p53"/>
          <p:cNvCxnSpPr/>
          <p:nvPr/>
        </p:nvCxnSpPr>
        <p:spPr>
          <a:xfrm>
            <a:off x="5432976" y="2762595"/>
            <a:ext cx="2750903" cy="0"/>
          </a:xfrm>
          <a:prstGeom prst="straightConnector1">
            <a:avLst/>
          </a:prstGeom>
          <a:noFill/>
          <a:ln cap="flat" cmpd="sng" w="19050">
            <a:solidFill>
              <a:srgbClr val="CC0001"/>
            </a:solidFill>
            <a:prstDash val="solid"/>
            <a:round/>
            <a:headEnd len="med" w="med" type="none"/>
            <a:tailEnd len="med" w="med" type="none"/>
          </a:ln>
        </p:spPr>
      </p:cxnSp>
      <p:sp>
        <p:nvSpPr>
          <p:cNvPr id="3331" name="Google Shape;3331;p53"/>
          <p:cNvSpPr txBox="1"/>
          <p:nvPr/>
        </p:nvSpPr>
        <p:spPr>
          <a:xfrm>
            <a:off x="5807990" y="2886420"/>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CC0000"/>
                </a:solidFill>
                <a:latin typeface="Arial"/>
                <a:ea typeface="Arial"/>
                <a:cs typeface="Arial"/>
                <a:sym typeface="Arial"/>
              </a:rPr>
              <a:t>IPv4</a:t>
            </a:r>
            <a:endParaRPr/>
          </a:p>
        </p:txBody>
      </p:sp>
      <p:sp>
        <p:nvSpPr>
          <p:cNvPr id="3332" name="Google Shape;3332;p53"/>
          <p:cNvSpPr txBox="1"/>
          <p:nvPr/>
        </p:nvSpPr>
        <p:spPr>
          <a:xfrm>
            <a:off x="7170020" y="2888007"/>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CC0000"/>
                </a:solidFill>
                <a:latin typeface="Arial"/>
                <a:ea typeface="Arial"/>
                <a:cs typeface="Arial"/>
                <a:sym typeface="Arial"/>
              </a:rPr>
              <a:t>IPv4</a:t>
            </a:r>
            <a:endParaRPr/>
          </a:p>
        </p:txBody>
      </p:sp>
      <p:sp>
        <p:nvSpPr>
          <p:cNvPr id="3333" name="Google Shape;3333;p53"/>
          <p:cNvSpPr txBox="1"/>
          <p:nvPr/>
        </p:nvSpPr>
        <p:spPr>
          <a:xfrm>
            <a:off x="8317782" y="2256182"/>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E</a:t>
            </a:r>
            <a:endParaRPr/>
          </a:p>
        </p:txBody>
      </p:sp>
      <p:cxnSp>
        <p:nvCxnSpPr>
          <p:cNvPr id="3334" name="Google Shape;3334;p53"/>
          <p:cNvCxnSpPr/>
          <p:nvPr/>
        </p:nvCxnSpPr>
        <p:spPr>
          <a:xfrm>
            <a:off x="8857532" y="2753070"/>
            <a:ext cx="323850" cy="0"/>
          </a:xfrm>
          <a:prstGeom prst="straightConnector1">
            <a:avLst/>
          </a:prstGeom>
          <a:noFill/>
          <a:ln cap="flat" cmpd="sng" w="19050">
            <a:solidFill>
              <a:schemeClr val="dk1"/>
            </a:solidFill>
            <a:prstDash val="solid"/>
            <a:round/>
            <a:headEnd len="med" w="med" type="none"/>
            <a:tailEnd len="med" w="med" type="none"/>
          </a:ln>
        </p:spPr>
      </p:cxnSp>
      <p:sp>
        <p:nvSpPr>
          <p:cNvPr id="3335" name="Google Shape;3335;p53"/>
          <p:cNvSpPr txBox="1"/>
          <p:nvPr/>
        </p:nvSpPr>
        <p:spPr>
          <a:xfrm>
            <a:off x="8099025" y="2875307"/>
            <a:ext cx="86914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3336" name="Google Shape;3336;p53"/>
          <p:cNvSpPr txBox="1"/>
          <p:nvPr/>
        </p:nvSpPr>
        <p:spPr>
          <a:xfrm>
            <a:off x="9202020" y="2878482"/>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sp>
        <p:nvSpPr>
          <p:cNvPr id="3337" name="Google Shape;3337;p53"/>
          <p:cNvSpPr txBox="1"/>
          <p:nvPr/>
        </p:nvSpPr>
        <p:spPr>
          <a:xfrm>
            <a:off x="9334991" y="2262532"/>
            <a:ext cx="3238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F</a:t>
            </a:r>
            <a:endParaRPr/>
          </a:p>
        </p:txBody>
      </p:sp>
      <p:sp>
        <p:nvSpPr>
          <p:cNvPr id="3338" name="Google Shape;3338;p53"/>
          <p:cNvSpPr txBox="1"/>
          <p:nvPr/>
        </p:nvSpPr>
        <p:spPr>
          <a:xfrm>
            <a:off x="5923515" y="2249832"/>
            <a:ext cx="349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C</a:t>
            </a:r>
            <a:endParaRPr/>
          </a:p>
        </p:txBody>
      </p:sp>
      <p:sp>
        <p:nvSpPr>
          <p:cNvPr id="3339" name="Google Shape;3339;p53"/>
          <p:cNvSpPr txBox="1"/>
          <p:nvPr/>
        </p:nvSpPr>
        <p:spPr>
          <a:xfrm>
            <a:off x="7311307" y="2253007"/>
            <a:ext cx="349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D</a:t>
            </a:r>
            <a:endParaRPr/>
          </a:p>
        </p:txBody>
      </p:sp>
      <p:grpSp>
        <p:nvGrpSpPr>
          <p:cNvPr id="3340" name="Google Shape;3340;p53"/>
          <p:cNvGrpSpPr/>
          <p:nvPr/>
        </p:nvGrpSpPr>
        <p:grpSpPr>
          <a:xfrm>
            <a:off x="5730326" y="2580911"/>
            <a:ext cx="735192" cy="352789"/>
            <a:chOff x="7493876" y="2774731"/>
            <a:chExt cx="1481958" cy="894622"/>
          </a:xfrm>
        </p:grpSpPr>
        <p:sp>
          <p:nvSpPr>
            <p:cNvPr id="3341" name="Google Shape;3341;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342" name="Google Shape;3342;p53"/>
            <p:cNvSpPr/>
            <p:nvPr/>
          </p:nvSpPr>
          <p:spPr>
            <a:xfrm>
              <a:off x="7494729" y="2774731"/>
              <a:ext cx="1480163" cy="579140"/>
            </a:xfrm>
            <a:prstGeom prst="ellipse">
              <a:avLst/>
            </a:prstGeom>
            <a:solidFill>
              <a:srgbClr val="B8C2C9"/>
            </a:soli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343" name="Google Shape;3343;p53"/>
            <p:cNvGrpSpPr/>
            <p:nvPr/>
          </p:nvGrpSpPr>
          <p:grpSpPr>
            <a:xfrm>
              <a:off x="7713663" y="2848339"/>
              <a:ext cx="1042107" cy="425543"/>
              <a:chOff x="7786941" y="2884917"/>
              <a:chExt cx="897649" cy="353919"/>
            </a:xfrm>
          </p:grpSpPr>
          <p:sp>
            <p:nvSpPr>
              <p:cNvPr id="3344" name="Google Shape;3344;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45" name="Google Shape;3345;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46" name="Google Shape;3346;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47" name="Google Shape;3347;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348" name="Google Shape;3348;p53"/>
          <p:cNvGrpSpPr/>
          <p:nvPr/>
        </p:nvGrpSpPr>
        <p:grpSpPr>
          <a:xfrm>
            <a:off x="3670217" y="2228091"/>
            <a:ext cx="1845462" cy="967204"/>
            <a:chOff x="3670217" y="2254595"/>
            <a:chExt cx="1845462" cy="967204"/>
          </a:xfrm>
        </p:grpSpPr>
        <p:sp>
          <p:nvSpPr>
            <p:cNvPr id="3349" name="Google Shape;3349;p53"/>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A</a:t>
              </a:r>
              <a:endParaRPr/>
            </a:p>
          </p:txBody>
        </p:sp>
        <p:sp>
          <p:nvSpPr>
            <p:cNvPr id="3350" name="Google Shape;3350;p53"/>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B</a:t>
              </a:r>
              <a:endParaRPr/>
            </a:p>
          </p:txBody>
        </p:sp>
        <p:cxnSp>
          <p:nvCxnSpPr>
            <p:cNvPr id="3351" name="Google Shape;3351;p53"/>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352" name="Google Shape;3352;p53"/>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sp>
          <p:nvSpPr>
            <p:cNvPr id="3353" name="Google Shape;3353;p53"/>
            <p:cNvSpPr txBox="1"/>
            <p:nvPr/>
          </p:nvSpPr>
          <p:spPr>
            <a:xfrm>
              <a:off x="464653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3354" name="Google Shape;3354;p53"/>
            <p:cNvGrpSpPr/>
            <p:nvPr/>
          </p:nvGrpSpPr>
          <p:grpSpPr>
            <a:xfrm>
              <a:off x="3670217" y="2586162"/>
              <a:ext cx="731126" cy="344556"/>
              <a:chOff x="7493876" y="2774731"/>
              <a:chExt cx="1481958" cy="894622"/>
            </a:xfrm>
          </p:grpSpPr>
          <p:sp>
            <p:nvSpPr>
              <p:cNvPr id="3355" name="Google Shape;3355;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356" name="Google Shape;3356;p53"/>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357" name="Google Shape;3357;p53"/>
              <p:cNvGrpSpPr/>
              <p:nvPr/>
            </p:nvGrpSpPr>
            <p:grpSpPr>
              <a:xfrm>
                <a:off x="7713663" y="2848339"/>
                <a:ext cx="1042107" cy="425543"/>
                <a:chOff x="7786941" y="2884917"/>
                <a:chExt cx="897649" cy="353919"/>
              </a:xfrm>
            </p:grpSpPr>
            <p:sp>
              <p:nvSpPr>
                <p:cNvPr id="3358" name="Google Shape;3358;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59" name="Google Shape;3359;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60" name="Google Shape;3360;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61" name="Google Shape;3361;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362" name="Google Shape;3362;p53"/>
            <p:cNvGrpSpPr/>
            <p:nvPr/>
          </p:nvGrpSpPr>
          <p:grpSpPr>
            <a:xfrm>
              <a:off x="4703149" y="2589549"/>
              <a:ext cx="731126" cy="344556"/>
              <a:chOff x="7493876" y="2774731"/>
              <a:chExt cx="1481958" cy="894622"/>
            </a:xfrm>
          </p:grpSpPr>
          <p:sp>
            <p:nvSpPr>
              <p:cNvPr id="3363" name="Google Shape;3363;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364" name="Google Shape;3364;p53"/>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365" name="Google Shape;3365;p53"/>
              <p:cNvGrpSpPr/>
              <p:nvPr/>
            </p:nvGrpSpPr>
            <p:grpSpPr>
              <a:xfrm>
                <a:off x="7713663" y="2848339"/>
                <a:ext cx="1042107" cy="425543"/>
                <a:chOff x="7786941" y="2884917"/>
                <a:chExt cx="897649" cy="353919"/>
              </a:xfrm>
            </p:grpSpPr>
            <p:sp>
              <p:nvSpPr>
                <p:cNvPr id="3366" name="Google Shape;3366;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67" name="Google Shape;3367;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68" name="Google Shape;3368;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69" name="Google Shape;3369;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nvGrpSpPr>
          <p:cNvPr id="3370" name="Google Shape;3370;p53"/>
          <p:cNvGrpSpPr/>
          <p:nvPr/>
        </p:nvGrpSpPr>
        <p:grpSpPr>
          <a:xfrm>
            <a:off x="8149080" y="2589144"/>
            <a:ext cx="731126" cy="344556"/>
            <a:chOff x="7493876" y="2774731"/>
            <a:chExt cx="1481958" cy="894622"/>
          </a:xfrm>
        </p:grpSpPr>
        <p:sp>
          <p:nvSpPr>
            <p:cNvPr id="3371" name="Google Shape;3371;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372" name="Google Shape;3372;p53"/>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373" name="Google Shape;3373;p53"/>
            <p:cNvGrpSpPr/>
            <p:nvPr/>
          </p:nvGrpSpPr>
          <p:grpSpPr>
            <a:xfrm>
              <a:off x="7713663" y="2848339"/>
              <a:ext cx="1042107" cy="425543"/>
              <a:chOff x="7786941" y="2884917"/>
              <a:chExt cx="897649" cy="353919"/>
            </a:xfrm>
          </p:grpSpPr>
          <p:sp>
            <p:nvSpPr>
              <p:cNvPr id="3374" name="Google Shape;3374;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75" name="Google Shape;3375;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76" name="Google Shape;3376;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77" name="Google Shape;3377;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378" name="Google Shape;3378;p53"/>
          <p:cNvGrpSpPr/>
          <p:nvPr/>
        </p:nvGrpSpPr>
        <p:grpSpPr>
          <a:xfrm>
            <a:off x="9154917" y="2589144"/>
            <a:ext cx="731126" cy="344556"/>
            <a:chOff x="7493876" y="2774731"/>
            <a:chExt cx="1481958" cy="894622"/>
          </a:xfrm>
        </p:grpSpPr>
        <p:sp>
          <p:nvSpPr>
            <p:cNvPr id="3379" name="Google Shape;3379;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380" name="Google Shape;3380;p53"/>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381" name="Google Shape;3381;p53"/>
            <p:cNvGrpSpPr/>
            <p:nvPr/>
          </p:nvGrpSpPr>
          <p:grpSpPr>
            <a:xfrm>
              <a:off x="7713663" y="2848339"/>
              <a:ext cx="1042107" cy="425543"/>
              <a:chOff x="7786941" y="2884917"/>
              <a:chExt cx="897649" cy="353919"/>
            </a:xfrm>
          </p:grpSpPr>
          <p:sp>
            <p:nvSpPr>
              <p:cNvPr id="3382" name="Google Shape;3382;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83" name="Google Shape;3383;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84" name="Google Shape;3384;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85" name="Google Shape;3385;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386" name="Google Shape;3386;p53"/>
          <p:cNvGrpSpPr/>
          <p:nvPr/>
        </p:nvGrpSpPr>
        <p:grpSpPr>
          <a:xfrm>
            <a:off x="7115503" y="2580911"/>
            <a:ext cx="735192" cy="352789"/>
            <a:chOff x="7493876" y="2774731"/>
            <a:chExt cx="1481958" cy="894622"/>
          </a:xfrm>
        </p:grpSpPr>
        <p:sp>
          <p:nvSpPr>
            <p:cNvPr id="3387" name="Google Shape;3387;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388" name="Google Shape;3388;p53"/>
            <p:cNvSpPr/>
            <p:nvPr/>
          </p:nvSpPr>
          <p:spPr>
            <a:xfrm>
              <a:off x="7494729" y="2774731"/>
              <a:ext cx="1480163" cy="579140"/>
            </a:xfrm>
            <a:prstGeom prst="ellipse">
              <a:avLst/>
            </a:prstGeom>
            <a:solidFill>
              <a:srgbClr val="B8C2C9"/>
            </a:solidFill>
            <a:ln cap="flat" cmpd="sng" w="9525">
              <a:solidFill>
                <a:srgbClr val="E4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389" name="Google Shape;3389;p53"/>
            <p:cNvGrpSpPr/>
            <p:nvPr/>
          </p:nvGrpSpPr>
          <p:grpSpPr>
            <a:xfrm>
              <a:off x="7713663" y="2848339"/>
              <a:ext cx="1042107" cy="425543"/>
              <a:chOff x="7786941" y="2884917"/>
              <a:chExt cx="897649" cy="353919"/>
            </a:xfrm>
          </p:grpSpPr>
          <p:sp>
            <p:nvSpPr>
              <p:cNvPr id="3390" name="Google Shape;3390;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91" name="Google Shape;3391;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92" name="Google Shape;3392;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393" name="Google Shape;3393;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sp>
        <p:nvSpPr>
          <p:cNvPr id="3394" name="Google Shape;3394;p53"/>
          <p:cNvSpPr/>
          <p:nvPr/>
        </p:nvSpPr>
        <p:spPr>
          <a:xfrm>
            <a:off x="5385351" y="1603264"/>
            <a:ext cx="2751341" cy="76275"/>
          </a:xfrm>
          <a:prstGeom prst="rect">
            <a:avLst/>
          </a:prstGeom>
          <a:solidFill>
            <a:srgbClr val="CC0000"/>
          </a:solidFill>
          <a:ln cap="flat" cmpd="sng" w="9525">
            <a:solidFill>
              <a:srgbClr val="CC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395" name="Google Shape;3395;p53"/>
          <p:cNvSpPr txBox="1"/>
          <p:nvPr/>
        </p:nvSpPr>
        <p:spPr>
          <a:xfrm>
            <a:off x="1850265" y="1375666"/>
            <a:ext cx="170989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logical view:</a:t>
            </a:r>
            <a:endParaRPr/>
          </a:p>
        </p:txBody>
      </p:sp>
      <p:sp>
        <p:nvSpPr>
          <p:cNvPr id="3396" name="Google Shape;3396;p53"/>
          <p:cNvSpPr txBox="1"/>
          <p:nvPr/>
        </p:nvSpPr>
        <p:spPr>
          <a:xfrm>
            <a:off x="5677401" y="1119786"/>
            <a:ext cx="2319337" cy="5080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1" lang="en-US" sz="1600" u="none" cap="none" strike="noStrike">
                <a:solidFill>
                  <a:srgbClr val="CC0000"/>
                </a:solidFill>
                <a:latin typeface="Arial"/>
                <a:ea typeface="Arial"/>
                <a:cs typeface="Arial"/>
                <a:sym typeface="Arial"/>
              </a:rPr>
              <a:t>IPv4 tunnel </a:t>
            </a:r>
            <a:endParaRPr/>
          </a:p>
          <a:p>
            <a:pPr indent="0" lvl="0" marL="0" marR="0" rtl="0" algn="ctr">
              <a:lnSpc>
                <a:spcPct val="85000"/>
              </a:lnSpc>
              <a:spcBef>
                <a:spcPts val="0"/>
              </a:spcBef>
              <a:spcAft>
                <a:spcPts val="0"/>
              </a:spcAft>
              <a:buNone/>
            </a:pPr>
            <a:r>
              <a:rPr b="0" i="1" lang="en-US" sz="1600" u="none" cap="none" strike="noStrike">
                <a:solidFill>
                  <a:srgbClr val="CC0000"/>
                </a:solidFill>
                <a:latin typeface="Arial"/>
                <a:ea typeface="Arial"/>
                <a:cs typeface="Arial"/>
                <a:sym typeface="Arial"/>
              </a:rPr>
              <a:t>connecting IPv6 routers</a:t>
            </a:r>
            <a:endParaRPr/>
          </a:p>
        </p:txBody>
      </p:sp>
      <p:grpSp>
        <p:nvGrpSpPr>
          <p:cNvPr id="3397" name="Google Shape;3397;p53"/>
          <p:cNvGrpSpPr/>
          <p:nvPr/>
        </p:nvGrpSpPr>
        <p:grpSpPr>
          <a:xfrm>
            <a:off x="3663591" y="1108282"/>
            <a:ext cx="1860702" cy="967204"/>
            <a:chOff x="3670217" y="2254595"/>
            <a:chExt cx="1860702" cy="967204"/>
          </a:xfrm>
        </p:grpSpPr>
        <p:sp>
          <p:nvSpPr>
            <p:cNvPr id="3398" name="Google Shape;3398;p53"/>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A</a:t>
              </a:r>
              <a:endParaRPr/>
            </a:p>
          </p:txBody>
        </p:sp>
        <p:sp>
          <p:nvSpPr>
            <p:cNvPr id="3399" name="Google Shape;3399;p53"/>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B</a:t>
              </a:r>
              <a:endParaRPr/>
            </a:p>
          </p:txBody>
        </p:sp>
        <p:cxnSp>
          <p:nvCxnSpPr>
            <p:cNvPr id="3400" name="Google Shape;3400;p53"/>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401" name="Google Shape;3401;p53"/>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sp>
          <p:nvSpPr>
            <p:cNvPr id="3402" name="Google Shape;3402;p53"/>
            <p:cNvSpPr txBox="1"/>
            <p:nvPr/>
          </p:nvSpPr>
          <p:spPr>
            <a:xfrm>
              <a:off x="466177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3403" name="Google Shape;3403;p53"/>
            <p:cNvGrpSpPr/>
            <p:nvPr/>
          </p:nvGrpSpPr>
          <p:grpSpPr>
            <a:xfrm>
              <a:off x="3670217" y="2586162"/>
              <a:ext cx="731126" cy="344556"/>
              <a:chOff x="7493876" y="2774731"/>
              <a:chExt cx="1481958" cy="894622"/>
            </a:xfrm>
          </p:grpSpPr>
          <p:sp>
            <p:nvSpPr>
              <p:cNvPr id="3404" name="Google Shape;3404;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405" name="Google Shape;3405;p53"/>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406" name="Google Shape;3406;p53"/>
              <p:cNvGrpSpPr/>
              <p:nvPr/>
            </p:nvGrpSpPr>
            <p:grpSpPr>
              <a:xfrm>
                <a:off x="7713663" y="2848339"/>
                <a:ext cx="1042107" cy="425543"/>
                <a:chOff x="7786941" y="2884917"/>
                <a:chExt cx="897649" cy="353919"/>
              </a:xfrm>
            </p:grpSpPr>
            <p:sp>
              <p:nvSpPr>
                <p:cNvPr id="3407" name="Google Shape;3407;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08" name="Google Shape;3408;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09" name="Google Shape;3409;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10" name="Google Shape;3410;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411" name="Google Shape;3411;p53"/>
            <p:cNvGrpSpPr/>
            <p:nvPr/>
          </p:nvGrpSpPr>
          <p:grpSpPr>
            <a:xfrm>
              <a:off x="4703149" y="2589549"/>
              <a:ext cx="731126" cy="344556"/>
              <a:chOff x="7493876" y="2774731"/>
              <a:chExt cx="1481958" cy="894622"/>
            </a:xfrm>
          </p:grpSpPr>
          <p:sp>
            <p:nvSpPr>
              <p:cNvPr id="3412" name="Google Shape;3412;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413" name="Google Shape;3413;p53"/>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414" name="Google Shape;3414;p53"/>
              <p:cNvGrpSpPr/>
              <p:nvPr/>
            </p:nvGrpSpPr>
            <p:grpSpPr>
              <a:xfrm>
                <a:off x="7713663" y="2848339"/>
                <a:ext cx="1042107" cy="425543"/>
                <a:chOff x="7786941" y="2884917"/>
                <a:chExt cx="897649" cy="353919"/>
              </a:xfrm>
            </p:grpSpPr>
            <p:sp>
              <p:nvSpPr>
                <p:cNvPr id="3415" name="Google Shape;3415;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16" name="Google Shape;3416;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17" name="Google Shape;3417;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18" name="Google Shape;3418;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nvGrpSpPr>
          <p:cNvPr id="3419" name="Google Shape;3419;p53"/>
          <p:cNvGrpSpPr/>
          <p:nvPr/>
        </p:nvGrpSpPr>
        <p:grpSpPr>
          <a:xfrm>
            <a:off x="8121650" y="1138202"/>
            <a:ext cx="1788188" cy="965617"/>
            <a:chOff x="3646087" y="2254595"/>
            <a:chExt cx="1788188" cy="965617"/>
          </a:xfrm>
        </p:grpSpPr>
        <p:sp>
          <p:nvSpPr>
            <p:cNvPr id="3420" name="Google Shape;3420;p53"/>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E</a:t>
              </a:r>
              <a:endParaRPr/>
            </a:p>
          </p:txBody>
        </p:sp>
        <p:sp>
          <p:nvSpPr>
            <p:cNvPr id="3421" name="Google Shape;3421;p53"/>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000000"/>
                  </a:solidFill>
                  <a:latin typeface="Arial"/>
                  <a:ea typeface="Arial"/>
                  <a:cs typeface="Arial"/>
                  <a:sym typeface="Arial"/>
                </a:rPr>
                <a:t>F</a:t>
              </a:r>
              <a:endParaRPr/>
            </a:p>
          </p:txBody>
        </p:sp>
        <p:cxnSp>
          <p:nvCxnSpPr>
            <p:cNvPr id="3422" name="Google Shape;3422;p53"/>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3423" name="Google Shape;3423;p53"/>
            <p:cNvSpPr txBox="1"/>
            <p:nvPr/>
          </p:nvSpPr>
          <p:spPr>
            <a:xfrm>
              <a:off x="3646087" y="2881658"/>
              <a:ext cx="86914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3424" name="Google Shape;3424;p53"/>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grpSp>
          <p:nvGrpSpPr>
            <p:cNvPr id="3425" name="Google Shape;3425;p53"/>
            <p:cNvGrpSpPr/>
            <p:nvPr/>
          </p:nvGrpSpPr>
          <p:grpSpPr>
            <a:xfrm>
              <a:off x="3670217" y="2586162"/>
              <a:ext cx="731126" cy="344556"/>
              <a:chOff x="7493876" y="2774731"/>
              <a:chExt cx="1481958" cy="894622"/>
            </a:xfrm>
          </p:grpSpPr>
          <p:sp>
            <p:nvSpPr>
              <p:cNvPr id="3426" name="Google Shape;3426;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427" name="Google Shape;3427;p53"/>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428" name="Google Shape;3428;p53"/>
              <p:cNvGrpSpPr/>
              <p:nvPr/>
            </p:nvGrpSpPr>
            <p:grpSpPr>
              <a:xfrm>
                <a:off x="7713663" y="2848339"/>
                <a:ext cx="1042107" cy="425543"/>
                <a:chOff x="7786941" y="2884917"/>
                <a:chExt cx="897649" cy="353919"/>
              </a:xfrm>
            </p:grpSpPr>
            <p:sp>
              <p:nvSpPr>
                <p:cNvPr id="3429" name="Google Shape;3429;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30" name="Google Shape;3430;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31" name="Google Shape;3431;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32" name="Google Shape;3432;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433" name="Google Shape;3433;p53"/>
            <p:cNvGrpSpPr/>
            <p:nvPr/>
          </p:nvGrpSpPr>
          <p:grpSpPr>
            <a:xfrm>
              <a:off x="4703149" y="2589549"/>
              <a:ext cx="731126" cy="344556"/>
              <a:chOff x="7493876" y="2774731"/>
              <a:chExt cx="1481958" cy="894622"/>
            </a:xfrm>
          </p:grpSpPr>
          <p:sp>
            <p:nvSpPr>
              <p:cNvPr id="3434" name="Google Shape;3434;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435" name="Google Shape;3435;p53"/>
              <p:cNvSpPr/>
              <p:nvPr/>
            </p:nvSpPr>
            <p:spPr>
              <a:xfrm>
                <a:off x="7494729" y="2774731"/>
                <a:ext cx="1480163" cy="579140"/>
              </a:xfrm>
              <a:prstGeom prst="ellipse">
                <a:avLst/>
              </a:prstGeom>
              <a:solidFill>
                <a:srgbClr val="B8C2C9"/>
              </a:solidFill>
              <a:ln cap="flat" cmpd="sng" w="9525">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436" name="Google Shape;3436;p53"/>
              <p:cNvGrpSpPr/>
              <p:nvPr/>
            </p:nvGrpSpPr>
            <p:grpSpPr>
              <a:xfrm>
                <a:off x="7713663" y="2848339"/>
                <a:ext cx="1042107" cy="425543"/>
                <a:chOff x="7786941" y="2884917"/>
                <a:chExt cx="897649" cy="353919"/>
              </a:xfrm>
            </p:grpSpPr>
            <p:sp>
              <p:nvSpPr>
                <p:cNvPr id="3437" name="Google Shape;3437;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38" name="Google Shape;3438;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39" name="Google Shape;3439;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40" name="Google Shape;3440;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grpSp>
        <p:nvGrpSpPr>
          <p:cNvPr id="3441" name="Google Shape;3441;p53"/>
          <p:cNvGrpSpPr/>
          <p:nvPr/>
        </p:nvGrpSpPr>
        <p:grpSpPr>
          <a:xfrm>
            <a:off x="4068210" y="3305037"/>
            <a:ext cx="817562" cy="2981325"/>
            <a:chOff x="1611" y="2132"/>
            <a:chExt cx="515" cy="1878"/>
          </a:xfrm>
        </p:grpSpPr>
        <p:grpSp>
          <p:nvGrpSpPr>
            <p:cNvPr id="3442" name="Google Shape;3442;p53"/>
            <p:cNvGrpSpPr/>
            <p:nvPr/>
          </p:nvGrpSpPr>
          <p:grpSpPr>
            <a:xfrm>
              <a:off x="1634" y="2200"/>
              <a:ext cx="476" cy="908"/>
              <a:chOff x="652" y="2144"/>
              <a:chExt cx="476" cy="908"/>
            </a:xfrm>
          </p:grpSpPr>
          <p:sp>
            <p:nvSpPr>
              <p:cNvPr id="3443" name="Google Shape;3443;p53"/>
              <p:cNvSpPr/>
              <p:nvPr/>
            </p:nvSpPr>
            <p:spPr>
              <a:xfrm>
                <a:off x="652" y="2144"/>
                <a:ext cx="462" cy="908"/>
              </a:xfrm>
              <a:prstGeom prst="rect">
                <a:avLst/>
              </a:prstGeom>
              <a:solidFill>
                <a:srgbClr val="B5E7FF"/>
              </a:solidFill>
              <a:ln cap="flat" cmpd="sng" w="9525">
                <a:solidFill>
                  <a:schemeClr val="dk1"/>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444" name="Google Shape;3444;p53"/>
              <p:cNvSpPr txBox="1"/>
              <p:nvPr/>
            </p:nvSpPr>
            <p:spPr>
              <a:xfrm>
                <a:off x="667" y="2162"/>
                <a:ext cx="461" cy="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flow: X</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src: A</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dest: F</a:t>
                </a:r>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data</a:t>
                </a:r>
                <a:endParaRPr/>
              </a:p>
            </p:txBody>
          </p:sp>
        </p:grpSp>
        <p:cxnSp>
          <p:nvCxnSpPr>
            <p:cNvPr id="3445" name="Google Shape;3445;p53"/>
            <p:cNvCxnSpPr/>
            <p:nvPr/>
          </p:nvCxnSpPr>
          <p:spPr>
            <a:xfrm>
              <a:off x="1661" y="2132"/>
              <a:ext cx="434" cy="0"/>
            </a:xfrm>
            <a:prstGeom prst="straightConnector1">
              <a:avLst/>
            </a:prstGeom>
            <a:noFill/>
            <a:ln cap="flat" cmpd="sng" w="19050">
              <a:solidFill>
                <a:schemeClr val="dk1"/>
              </a:solidFill>
              <a:prstDash val="solid"/>
              <a:round/>
              <a:headEnd len="med" w="med" type="none"/>
              <a:tailEnd len="med" w="med" type="triangle"/>
            </a:ln>
          </p:spPr>
        </p:cxnSp>
        <p:sp>
          <p:nvSpPr>
            <p:cNvPr id="3446" name="Google Shape;3446;p53"/>
            <p:cNvSpPr txBox="1"/>
            <p:nvPr/>
          </p:nvSpPr>
          <p:spPr>
            <a:xfrm>
              <a:off x="1611" y="3690"/>
              <a:ext cx="515" cy="32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A-to-B:</a:t>
              </a:r>
              <a:endParaRPr/>
            </a:p>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cxnSp>
          <p:nvCxnSpPr>
            <p:cNvPr id="3447" name="Google Shape;3447;p53"/>
            <p:cNvCxnSpPr/>
            <p:nvPr/>
          </p:nvCxnSpPr>
          <p:spPr>
            <a:xfrm>
              <a:off x="1856" y="3230"/>
              <a:ext cx="0" cy="495"/>
            </a:xfrm>
            <a:prstGeom prst="straightConnector1">
              <a:avLst/>
            </a:prstGeom>
            <a:noFill/>
            <a:ln cap="flat" cmpd="sng" w="9525">
              <a:solidFill>
                <a:schemeClr val="dk1"/>
              </a:solidFill>
              <a:prstDash val="solid"/>
              <a:round/>
              <a:headEnd len="med" w="med" type="triangle"/>
              <a:tailEnd len="med" w="med" type="none"/>
            </a:ln>
          </p:spPr>
        </p:cxnSp>
      </p:grpSp>
      <p:grpSp>
        <p:nvGrpSpPr>
          <p:cNvPr id="3448" name="Google Shape;3448;p53"/>
          <p:cNvGrpSpPr/>
          <p:nvPr/>
        </p:nvGrpSpPr>
        <p:grpSpPr>
          <a:xfrm>
            <a:off x="5052460" y="3297100"/>
            <a:ext cx="1176337" cy="3319462"/>
            <a:chOff x="2231" y="2127"/>
            <a:chExt cx="741" cy="2091"/>
          </a:xfrm>
        </p:grpSpPr>
        <p:grpSp>
          <p:nvGrpSpPr>
            <p:cNvPr id="3449" name="Google Shape;3449;p53"/>
            <p:cNvGrpSpPr/>
            <p:nvPr/>
          </p:nvGrpSpPr>
          <p:grpSpPr>
            <a:xfrm>
              <a:off x="2262" y="2194"/>
              <a:ext cx="583" cy="1388"/>
              <a:chOff x="478" y="2082"/>
              <a:chExt cx="583" cy="1388"/>
            </a:xfrm>
          </p:grpSpPr>
          <p:sp>
            <p:nvSpPr>
              <p:cNvPr id="3450" name="Google Shape;3450;p53"/>
              <p:cNvSpPr/>
              <p:nvPr/>
            </p:nvSpPr>
            <p:spPr>
              <a:xfrm>
                <a:off x="478" y="2088"/>
                <a:ext cx="583" cy="1382"/>
              </a:xfrm>
              <a:prstGeom prst="rect">
                <a:avLst/>
              </a:prstGeom>
              <a:solidFill>
                <a:srgbClr val="CC0000"/>
              </a:solidFill>
              <a:ln cap="flat" cmpd="sng" w="9525">
                <a:solidFill>
                  <a:schemeClr val="dk1"/>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3451" name="Google Shape;3451;p53"/>
              <p:cNvGrpSpPr/>
              <p:nvPr/>
            </p:nvGrpSpPr>
            <p:grpSpPr>
              <a:xfrm>
                <a:off x="499" y="2471"/>
                <a:ext cx="493" cy="908"/>
                <a:chOff x="4869" y="143"/>
                <a:chExt cx="493" cy="908"/>
              </a:xfrm>
            </p:grpSpPr>
            <p:sp>
              <p:nvSpPr>
                <p:cNvPr id="3452" name="Google Shape;3452;p53"/>
                <p:cNvSpPr/>
                <p:nvPr/>
              </p:nvSpPr>
              <p:spPr>
                <a:xfrm>
                  <a:off x="4893" y="143"/>
                  <a:ext cx="462" cy="908"/>
                </a:xfrm>
                <a:prstGeom prst="rect">
                  <a:avLst/>
                </a:prstGeom>
                <a:solidFill>
                  <a:srgbClr val="B5E7FF"/>
                </a:solidFill>
                <a:ln cap="flat" cmpd="sng" w="9525">
                  <a:solidFill>
                    <a:schemeClr val="dk1"/>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453" name="Google Shape;3453;p53"/>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Flow: X</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Src: A</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Dest: F</a:t>
                  </a:r>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data</a:t>
                  </a:r>
                  <a:endParaRPr/>
                </a:p>
              </p:txBody>
            </p:sp>
          </p:grpSp>
          <p:sp>
            <p:nvSpPr>
              <p:cNvPr id="3454" name="Google Shape;3454;p53"/>
              <p:cNvSpPr txBox="1"/>
              <p:nvPr/>
            </p:nvSpPr>
            <p:spPr>
              <a:xfrm>
                <a:off x="481" y="2082"/>
                <a:ext cx="564" cy="4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src:B</a:t>
                </a:r>
                <a:endParaRPr/>
              </a:p>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dest: E</a:t>
                </a:r>
                <a:endParaRPr/>
              </a:p>
            </p:txBody>
          </p:sp>
        </p:grpSp>
        <p:cxnSp>
          <p:nvCxnSpPr>
            <p:cNvPr id="3455" name="Google Shape;3455;p53"/>
            <p:cNvCxnSpPr/>
            <p:nvPr/>
          </p:nvCxnSpPr>
          <p:spPr>
            <a:xfrm>
              <a:off x="2345" y="2127"/>
              <a:ext cx="434" cy="0"/>
            </a:xfrm>
            <a:prstGeom prst="straightConnector1">
              <a:avLst/>
            </a:prstGeom>
            <a:noFill/>
            <a:ln cap="flat" cmpd="sng" w="19050">
              <a:solidFill>
                <a:schemeClr val="dk1"/>
              </a:solidFill>
              <a:prstDash val="solid"/>
              <a:round/>
              <a:headEnd len="med" w="med" type="none"/>
              <a:tailEnd len="med" w="med" type="triangle"/>
            </a:ln>
          </p:spPr>
        </p:cxnSp>
        <p:sp>
          <p:nvSpPr>
            <p:cNvPr id="3456" name="Google Shape;3456;p53"/>
            <p:cNvSpPr txBox="1"/>
            <p:nvPr/>
          </p:nvSpPr>
          <p:spPr>
            <a:xfrm>
              <a:off x="2231" y="3767"/>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IPv4</a:t>
              </a:r>
              <a:endParaRPr/>
            </a:p>
          </p:txBody>
        </p:sp>
        <p:cxnSp>
          <p:nvCxnSpPr>
            <p:cNvPr id="3457" name="Google Shape;3457;p53"/>
            <p:cNvCxnSpPr/>
            <p:nvPr/>
          </p:nvCxnSpPr>
          <p:spPr>
            <a:xfrm>
              <a:off x="2588" y="3604"/>
              <a:ext cx="0" cy="116"/>
            </a:xfrm>
            <a:prstGeom prst="straightConnector1">
              <a:avLst/>
            </a:prstGeom>
            <a:noFill/>
            <a:ln cap="flat" cmpd="sng" w="9525">
              <a:solidFill>
                <a:schemeClr val="dk1"/>
              </a:solidFill>
              <a:prstDash val="solid"/>
              <a:round/>
              <a:headEnd len="med" w="med" type="triangle"/>
              <a:tailEnd len="med" w="med" type="none"/>
            </a:ln>
          </p:spPr>
        </p:cxnSp>
      </p:grpSp>
      <p:grpSp>
        <p:nvGrpSpPr>
          <p:cNvPr id="3458" name="Google Shape;3458;p53"/>
          <p:cNvGrpSpPr/>
          <p:nvPr/>
        </p:nvGrpSpPr>
        <p:grpSpPr>
          <a:xfrm>
            <a:off x="8670690" y="3300275"/>
            <a:ext cx="881062" cy="2998787"/>
            <a:chOff x="4251" y="2129"/>
            <a:chExt cx="555" cy="1889"/>
          </a:xfrm>
        </p:grpSpPr>
        <p:cxnSp>
          <p:nvCxnSpPr>
            <p:cNvPr id="3459" name="Google Shape;3459;p53"/>
            <p:cNvCxnSpPr/>
            <p:nvPr/>
          </p:nvCxnSpPr>
          <p:spPr>
            <a:xfrm>
              <a:off x="4292" y="2129"/>
              <a:ext cx="434" cy="0"/>
            </a:xfrm>
            <a:prstGeom prst="straightConnector1">
              <a:avLst/>
            </a:prstGeom>
            <a:noFill/>
            <a:ln cap="flat" cmpd="sng" w="19050">
              <a:solidFill>
                <a:schemeClr val="dk1"/>
              </a:solidFill>
              <a:prstDash val="solid"/>
              <a:round/>
              <a:headEnd len="med" w="med" type="none"/>
              <a:tailEnd len="med" w="med" type="triangle"/>
            </a:ln>
          </p:spPr>
        </p:cxnSp>
        <p:sp>
          <p:nvSpPr>
            <p:cNvPr id="3460" name="Google Shape;3460;p53"/>
            <p:cNvSpPr txBox="1"/>
            <p:nvPr/>
          </p:nvSpPr>
          <p:spPr>
            <a:xfrm>
              <a:off x="4298" y="3698"/>
              <a:ext cx="508" cy="32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E-to-F:</a:t>
              </a:r>
              <a:endParaRPr/>
            </a:p>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IPv6</a:t>
              </a:r>
              <a:endParaRPr/>
            </a:p>
          </p:txBody>
        </p:sp>
        <p:cxnSp>
          <p:nvCxnSpPr>
            <p:cNvPr id="3461" name="Google Shape;3461;p53"/>
            <p:cNvCxnSpPr/>
            <p:nvPr/>
          </p:nvCxnSpPr>
          <p:spPr>
            <a:xfrm>
              <a:off x="4540" y="3238"/>
              <a:ext cx="0" cy="495"/>
            </a:xfrm>
            <a:prstGeom prst="straightConnector1">
              <a:avLst/>
            </a:prstGeom>
            <a:noFill/>
            <a:ln cap="flat" cmpd="sng" w="9525">
              <a:solidFill>
                <a:schemeClr val="dk1"/>
              </a:solidFill>
              <a:prstDash val="solid"/>
              <a:round/>
              <a:headEnd len="med" w="med" type="triangle"/>
              <a:tailEnd len="med" w="med" type="none"/>
            </a:ln>
          </p:spPr>
        </p:cxnSp>
        <p:grpSp>
          <p:nvGrpSpPr>
            <p:cNvPr id="3462" name="Google Shape;3462;p53"/>
            <p:cNvGrpSpPr/>
            <p:nvPr/>
          </p:nvGrpSpPr>
          <p:grpSpPr>
            <a:xfrm>
              <a:off x="4251" y="2205"/>
              <a:ext cx="471" cy="908"/>
              <a:chOff x="643" y="2144"/>
              <a:chExt cx="471" cy="908"/>
            </a:xfrm>
          </p:grpSpPr>
          <p:sp>
            <p:nvSpPr>
              <p:cNvPr id="3463" name="Google Shape;3463;p53"/>
              <p:cNvSpPr/>
              <p:nvPr/>
            </p:nvSpPr>
            <p:spPr>
              <a:xfrm>
                <a:off x="652" y="2144"/>
                <a:ext cx="462" cy="908"/>
              </a:xfrm>
              <a:prstGeom prst="rect">
                <a:avLst/>
              </a:prstGeom>
              <a:solidFill>
                <a:srgbClr val="B5E7FF"/>
              </a:solidFill>
              <a:ln cap="flat" cmpd="sng" w="9525">
                <a:solidFill>
                  <a:schemeClr val="dk1"/>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464" name="Google Shape;3464;p53"/>
              <p:cNvSpPr txBox="1"/>
              <p:nvPr/>
            </p:nvSpPr>
            <p:spPr>
              <a:xfrm>
                <a:off x="643" y="2169"/>
                <a:ext cx="461" cy="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flow: X</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src: A</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dest: F</a:t>
                </a:r>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data</a:t>
                </a:r>
                <a:endParaRPr/>
              </a:p>
            </p:txBody>
          </p:sp>
        </p:grpSp>
      </p:grpSp>
      <p:grpSp>
        <p:nvGrpSpPr>
          <p:cNvPr id="3465" name="Google Shape;3465;p53"/>
          <p:cNvGrpSpPr/>
          <p:nvPr/>
        </p:nvGrpSpPr>
        <p:grpSpPr>
          <a:xfrm>
            <a:off x="7489590" y="3298687"/>
            <a:ext cx="1176337" cy="3330575"/>
            <a:chOff x="3507" y="2128"/>
            <a:chExt cx="741" cy="2098"/>
          </a:xfrm>
        </p:grpSpPr>
        <p:cxnSp>
          <p:nvCxnSpPr>
            <p:cNvPr id="3466" name="Google Shape;3466;p53"/>
            <p:cNvCxnSpPr/>
            <p:nvPr/>
          </p:nvCxnSpPr>
          <p:spPr>
            <a:xfrm>
              <a:off x="3627" y="2128"/>
              <a:ext cx="434" cy="0"/>
            </a:xfrm>
            <a:prstGeom prst="straightConnector1">
              <a:avLst/>
            </a:prstGeom>
            <a:noFill/>
            <a:ln cap="flat" cmpd="sng" w="19050">
              <a:solidFill>
                <a:schemeClr val="dk1"/>
              </a:solidFill>
              <a:prstDash val="solid"/>
              <a:round/>
              <a:headEnd len="med" w="med" type="none"/>
              <a:tailEnd len="med" w="med" type="triangle"/>
            </a:ln>
          </p:spPr>
        </p:cxnSp>
        <p:sp>
          <p:nvSpPr>
            <p:cNvPr id="3467" name="Google Shape;3467;p53"/>
            <p:cNvSpPr txBox="1"/>
            <p:nvPr/>
          </p:nvSpPr>
          <p:spPr>
            <a:xfrm>
              <a:off x="3507" y="3775"/>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None/>
              </a:pPr>
              <a:r>
                <a:rPr b="0" i="0" lang="en-US" sz="1600" u="none" cap="none" strike="noStrike">
                  <a:solidFill>
                    <a:srgbClr val="000000"/>
                  </a:solidFill>
                  <a:latin typeface="Arial"/>
                  <a:ea typeface="Arial"/>
                  <a:cs typeface="Arial"/>
                  <a:sym typeface="Arial"/>
                </a:rPr>
                <a:t>IPv4</a:t>
              </a:r>
              <a:endParaRPr/>
            </a:p>
          </p:txBody>
        </p:sp>
        <p:cxnSp>
          <p:nvCxnSpPr>
            <p:cNvPr id="3468" name="Google Shape;3468;p53"/>
            <p:cNvCxnSpPr/>
            <p:nvPr/>
          </p:nvCxnSpPr>
          <p:spPr>
            <a:xfrm>
              <a:off x="3883" y="3640"/>
              <a:ext cx="0" cy="116"/>
            </a:xfrm>
            <a:prstGeom prst="straightConnector1">
              <a:avLst/>
            </a:prstGeom>
            <a:noFill/>
            <a:ln cap="flat" cmpd="sng" w="9525">
              <a:solidFill>
                <a:schemeClr val="dk1"/>
              </a:solidFill>
              <a:prstDash val="solid"/>
              <a:round/>
              <a:headEnd len="med" w="med" type="triangle"/>
              <a:tailEnd len="med" w="med" type="none"/>
            </a:ln>
          </p:spPr>
        </p:cxnSp>
        <p:grpSp>
          <p:nvGrpSpPr>
            <p:cNvPr id="3469" name="Google Shape;3469;p53"/>
            <p:cNvGrpSpPr/>
            <p:nvPr/>
          </p:nvGrpSpPr>
          <p:grpSpPr>
            <a:xfrm>
              <a:off x="3558" y="2220"/>
              <a:ext cx="583" cy="1388"/>
              <a:chOff x="478" y="2082"/>
              <a:chExt cx="583" cy="1388"/>
            </a:xfrm>
          </p:grpSpPr>
          <p:sp>
            <p:nvSpPr>
              <p:cNvPr id="3470" name="Google Shape;3470;p53"/>
              <p:cNvSpPr/>
              <p:nvPr/>
            </p:nvSpPr>
            <p:spPr>
              <a:xfrm>
                <a:off x="478" y="2088"/>
                <a:ext cx="583" cy="1382"/>
              </a:xfrm>
              <a:prstGeom prst="rect">
                <a:avLst/>
              </a:prstGeom>
              <a:solidFill>
                <a:srgbClr val="CC0000"/>
              </a:solidFill>
              <a:ln cap="flat" cmpd="sng" w="9525">
                <a:solidFill>
                  <a:schemeClr val="dk1"/>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3471" name="Google Shape;3471;p53"/>
              <p:cNvGrpSpPr/>
              <p:nvPr/>
            </p:nvGrpSpPr>
            <p:grpSpPr>
              <a:xfrm>
                <a:off x="499" y="2471"/>
                <a:ext cx="493" cy="908"/>
                <a:chOff x="4869" y="143"/>
                <a:chExt cx="493" cy="908"/>
              </a:xfrm>
            </p:grpSpPr>
            <p:sp>
              <p:nvSpPr>
                <p:cNvPr id="3472" name="Google Shape;3472;p53"/>
                <p:cNvSpPr/>
                <p:nvPr/>
              </p:nvSpPr>
              <p:spPr>
                <a:xfrm>
                  <a:off x="4893" y="143"/>
                  <a:ext cx="462" cy="908"/>
                </a:xfrm>
                <a:prstGeom prst="rect">
                  <a:avLst/>
                </a:prstGeom>
                <a:solidFill>
                  <a:srgbClr val="B5E7FF"/>
                </a:solidFill>
                <a:ln cap="flat" cmpd="sng" w="9525">
                  <a:solidFill>
                    <a:schemeClr val="dk1"/>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473" name="Google Shape;3473;p53"/>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Flow: X</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Src: A</a:t>
                  </a:r>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Dest: F</a:t>
                  </a:r>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400" u="none" cap="none" strike="noStrike">
                      <a:solidFill>
                        <a:srgbClr val="000000"/>
                      </a:solidFill>
                      <a:latin typeface="Arial"/>
                      <a:ea typeface="Arial"/>
                      <a:cs typeface="Arial"/>
                      <a:sym typeface="Arial"/>
                    </a:rPr>
                    <a:t>data</a:t>
                  </a:r>
                  <a:endParaRPr/>
                </a:p>
              </p:txBody>
            </p:sp>
          </p:grpSp>
          <p:sp>
            <p:nvSpPr>
              <p:cNvPr id="3474" name="Google Shape;3474;p53"/>
              <p:cNvSpPr txBox="1"/>
              <p:nvPr/>
            </p:nvSpPr>
            <p:spPr>
              <a:xfrm>
                <a:off x="481" y="2082"/>
                <a:ext cx="564" cy="4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src:B</a:t>
                </a:r>
                <a:endParaRPr/>
              </a:p>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dest: E</a:t>
                </a:r>
                <a:endParaRPr/>
              </a:p>
            </p:txBody>
          </p:sp>
        </p:grpSp>
      </p:grpSp>
      <p:sp>
        <p:nvSpPr>
          <p:cNvPr id="3475" name="Google Shape;3475;p53"/>
          <p:cNvSpPr/>
          <p:nvPr/>
        </p:nvSpPr>
        <p:spPr>
          <a:xfrm>
            <a:off x="5400881" y="1522904"/>
            <a:ext cx="45719" cy="210509"/>
          </a:xfrm>
          <a:prstGeom prst="rect">
            <a:avLst/>
          </a:prstGeom>
          <a:solidFill>
            <a:srgbClr val="CC0001"/>
          </a:solidFill>
          <a:ln cap="flat" cmpd="sng" w="12700">
            <a:solidFill>
              <a:srgbClr val="CC000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76" name="Google Shape;3476;p53"/>
          <p:cNvSpPr/>
          <p:nvPr/>
        </p:nvSpPr>
        <p:spPr>
          <a:xfrm>
            <a:off x="8135639" y="1540447"/>
            <a:ext cx="45719" cy="210509"/>
          </a:xfrm>
          <a:prstGeom prst="rect">
            <a:avLst/>
          </a:prstGeom>
          <a:solidFill>
            <a:srgbClr val="CC0001"/>
          </a:solidFill>
          <a:ln cap="flat" cmpd="sng" w="12700">
            <a:solidFill>
              <a:srgbClr val="CC000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77" name="Google Shape;3477;p53"/>
          <p:cNvSpPr/>
          <p:nvPr/>
        </p:nvSpPr>
        <p:spPr>
          <a:xfrm>
            <a:off x="5408555" y="2639042"/>
            <a:ext cx="45719" cy="210509"/>
          </a:xfrm>
          <a:prstGeom prst="rect">
            <a:avLst/>
          </a:prstGeom>
          <a:solidFill>
            <a:srgbClr val="CC0001"/>
          </a:solidFill>
          <a:ln cap="flat" cmpd="sng" w="12700">
            <a:solidFill>
              <a:srgbClr val="CC000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78" name="Google Shape;3478;p53"/>
          <p:cNvSpPr/>
          <p:nvPr/>
        </p:nvSpPr>
        <p:spPr>
          <a:xfrm>
            <a:off x="8123579" y="2663164"/>
            <a:ext cx="45719" cy="210509"/>
          </a:xfrm>
          <a:prstGeom prst="rect">
            <a:avLst/>
          </a:prstGeom>
          <a:solidFill>
            <a:srgbClr val="CC0001"/>
          </a:solidFill>
          <a:ln cap="flat" cmpd="sng" w="12700">
            <a:solidFill>
              <a:srgbClr val="CC000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3479" name="Google Shape;3479;p53"/>
          <p:cNvGrpSpPr/>
          <p:nvPr/>
        </p:nvGrpSpPr>
        <p:grpSpPr>
          <a:xfrm>
            <a:off x="1285129" y="3401170"/>
            <a:ext cx="8091447" cy="2055959"/>
            <a:chOff x="-2159111" y="3797410"/>
            <a:chExt cx="8091447" cy="2055959"/>
          </a:xfrm>
        </p:grpSpPr>
        <p:grpSp>
          <p:nvGrpSpPr>
            <p:cNvPr id="3480" name="Google Shape;3480;p53"/>
            <p:cNvGrpSpPr/>
            <p:nvPr/>
          </p:nvGrpSpPr>
          <p:grpSpPr>
            <a:xfrm>
              <a:off x="-2159111" y="3797410"/>
              <a:ext cx="8091447" cy="2055959"/>
              <a:chOff x="1300369" y="3385930"/>
              <a:chExt cx="8091447" cy="2055959"/>
            </a:xfrm>
          </p:grpSpPr>
          <p:grpSp>
            <p:nvGrpSpPr>
              <p:cNvPr id="3481" name="Google Shape;3481;p53"/>
              <p:cNvGrpSpPr/>
              <p:nvPr/>
            </p:nvGrpSpPr>
            <p:grpSpPr>
              <a:xfrm>
                <a:off x="1300369" y="3385930"/>
                <a:ext cx="8091447" cy="2055959"/>
                <a:chOff x="1300369" y="3385930"/>
                <a:chExt cx="8091447" cy="2055959"/>
              </a:xfrm>
            </p:grpSpPr>
            <p:sp>
              <p:nvSpPr>
                <p:cNvPr id="3482" name="Google Shape;3482;p53"/>
                <p:cNvSpPr/>
                <p:nvPr/>
              </p:nvSpPr>
              <p:spPr>
                <a:xfrm>
                  <a:off x="4108174" y="3670852"/>
                  <a:ext cx="715617" cy="530087"/>
                </a:xfrm>
                <a:prstGeom prst="ellipse">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83" name="Google Shape;3483;p53"/>
                <p:cNvSpPr/>
                <p:nvPr/>
              </p:nvSpPr>
              <p:spPr>
                <a:xfrm>
                  <a:off x="5044440" y="3385930"/>
                  <a:ext cx="1023731" cy="669235"/>
                </a:xfrm>
                <a:prstGeom prst="ellipse">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84" name="Google Shape;3484;p53"/>
                <p:cNvSpPr/>
                <p:nvPr/>
              </p:nvSpPr>
              <p:spPr>
                <a:xfrm>
                  <a:off x="7533861" y="3432312"/>
                  <a:ext cx="974035" cy="669235"/>
                </a:xfrm>
                <a:prstGeom prst="ellipse">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85" name="Google Shape;3485;p53"/>
                <p:cNvSpPr/>
                <p:nvPr/>
              </p:nvSpPr>
              <p:spPr>
                <a:xfrm>
                  <a:off x="8676199" y="3678803"/>
                  <a:ext cx="715617" cy="542677"/>
                </a:xfrm>
                <a:prstGeom prst="ellipse">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486" name="Google Shape;3486;p53"/>
                <p:cNvSpPr txBox="1"/>
                <p:nvPr/>
              </p:nvSpPr>
              <p:spPr>
                <a:xfrm>
                  <a:off x="1300369" y="4426226"/>
                  <a:ext cx="1933161" cy="101566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2000" u="none" cap="none" strike="noStrike">
                      <a:solidFill>
                        <a:srgbClr val="000000"/>
                      </a:solidFill>
                      <a:latin typeface="Calibri"/>
                      <a:ea typeface="Calibri"/>
                      <a:cs typeface="Calibri"/>
                      <a:sym typeface="Calibri"/>
                    </a:rPr>
                    <a:t>Note source and destination addresses!</a:t>
                  </a:r>
                  <a:endParaRPr/>
                </a:p>
              </p:txBody>
            </p:sp>
            <p:cxnSp>
              <p:nvCxnSpPr>
                <p:cNvPr id="3487" name="Google Shape;3487;p53"/>
                <p:cNvCxnSpPr>
                  <a:stCxn id="3482" idx="2"/>
                  <a:endCxn id="3486" idx="3"/>
                </p:cNvCxnSpPr>
                <p:nvPr/>
              </p:nvCxnSpPr>
              <p:spPr>
                <a:xfrm flipH="1">
                  <a:off x="3233674" y="3935896"/>
                  <a:ext cx="874500" cy="998100"/>
                </a:xfrm>
                <a:prstGeom prst="straightConnector1">
                  <a:avLst/>
                </a:prstGeom>
                <a:noFill/>
                <a:ln cap="flat" cmpd="sng" w="9525">
                  <a:solidFill>
                    <a:schemeClr val="dk1"/>
                  </a:solidFill>
                  <a:prstDash val="solid"/>
                  <a:miter lim="8000"/>
                  <a:headEnd len="sm" w="sm" type="none"/>
                  <a:tailEnd len="sm" w="sm" type="none"/>
                </a:ln>
              </p:spPr>
            </p:cxnSp>
            <p:cxnSp>
              <p:nvCxnSpPr>
                <p:cNvPr id="3488" name="Google Shape;3488;p53"/>
                <p:cNvCxnSpPr>
                  <a:endCxn id="3486" idx="3"/>
                </p:cNvCxnSpPr>
                <p:nvPr/>
              </p:nvCxnSpPr>
              <p:spPr>
                <a:xfrm flipH="1">
                  <a:off x="3233530" y="3690857"/>
                  <a:ext cx="1769100" cy="1243200"/>
                </a:xfrm>
                <a:prstGeom prst="straightConnector1">
                  <a:avLst/>
                </a:prstGeom>
                <a:noFill/>
                <a:ln cap="flat" cmpd="sng" w="9525">
                  <a:solidFill>
                    <a:schemeClr val="dk1"/>
                  </a:solidFill>
                  <a:prstDash val="solid"/>
                  <a:miter lim="8000"/>
                  <a:headEnd len="sm" w="sm" type="none"/>
                  <a:tailEnd len="sm" w="sm" type="none"/>
                </a:ln>
              </p:spPr>
            </p:cxnSp>
            <p:cxnSp>
              <p:nvCxnSpPr>
                <p:cNvPr id="3489" name="Google Shape;3489;p53"/>
                <p:cNvCxnSpPr>
                  <a:stCxn id="3484" idx="2"/>
                  <a:endCxn id="3486" idx="3"/>
                </p:cNvCxnSpPr>
                <p:nvPr/>
              </p:nvCxnSpPr>
              <p:spPr>
                <a:xfrm flipH="1">
                  <a:off x="3233661" y="3766930"/>
                  <a:ext cx="4300200" cy="1167000"/>
                </a:xfrm>
                <a:prstGeom prst="straightConnector1">
                  <a:avLst/>
                </a:prstGeom>
                <a:noFill/>
                <a:ln cap="flat" cmpd="sng" w="9525">
                  <a:solidFill>
                    <a:schemeClr val="dk1"/>
                  </a:solidFill>
                  <a:prstDash val="solid"/>
                  <a:miter lim="8000"/>
                  <a:headEnd len="sm" w="sm" type="none"/>
                  <a:tailEnd len="sm" w="sm" type="none"/>
                </a:ln>
              </p:spPr>
            </p:cxnSp>
          </p:grpSp>
          <p:cxnSp>
            <p:nvCxnSpPr>
              <p:cNvPr id="3490" name="Google Shape;3490;p53"/>
              <p:cNvCxnSpPr>
                <a:stCxn id="3485" idx="2"/>
                <a:endCxn id="3486" idx="3"/>
              </p:cNvCxnSpPr>
              <p:nvPr/>
            </p:nvCxnSpPr>
            <p:spPr>
              <a:xfrm flipH="1">
                <a:off x="3233599" y="3950142"/>
                <a:ext cx="5442600" cy="984000"/>
              </a:xfrm>
              <a:prstGeom prst="straightConnector1">
                <a:avLst/>
              </a:prstGeom>
              <a:noFill/>
              <a:ln cap="flat" cmpd="sng" w="9525">
                <a:solidFill>
                  <a:schemeClr val="dk1"/>
                </a:solidFill>
                <a:prstDash val="solid"/>
                <a:miter lim="8000"/>
                <a:headEnd len="sm" w="sm" type="none"/>
                <a:tailEnd len="sm" w="sm" type="none"/>
              </a:ln>
            </p:spPr>
          </p:cxnSp>
        </p:grpSp>
        <p:sp>
          <p:nvSpPr>
            <p:cNvPr id="3491" name="Google Shape;3491;p53"/>
            <p:cNvSpPr/>
            <p:nvPr/>
          </p:nvSpPr>
          <p:spPr>
            <a:xfrm>
              <a:off x="2880360" y="3803100"/>
              <a:ext cx="1023731" cy="669235"/>
            </a:xfrm>
            <a:prstGeom prst="ellipse">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cxnSp>
          <p:nvCxnSpPr>
            <p:cNvPr id="3492" name="Google Shape;3492;p53"/>
            <p:cNvCxnSpPr>
              <a:endCxn id="3486" idx="3"/>
            </p:cNvCxnSpPr>
            <p:nvPr/>
          </p:nvCxnSpPr>
          <p:spPr>
            <a:xfrm flipH="1">
              <a:off x="-225950" y="4267338"/>
              <a:ext cx="3182400" cy="1078200"/>
            </a:xfrm>
            <a:prstGeom prst="straightConnector1">
              <a:avLst/>
            </a:prstGeom>
            <a:noFill/>
            <a:ln cap="flat" cmpd="sng" w="9525">
              <a:solidFill>
                <a:schemeClr val="dk1"/>
              </a:solidFill>
              <a:prstDash val="solid"/>
              <a:miter lim="8000"/>
              <a:headEnd len="sm" w="sm" type="none"/>
              <a:tailEnd len="sm" w="sm" type="none"/>
            </a:ln>
          </p:spPr>
        </p:cxnSp>
      </p:grpSp>
      <p:sp>
        <p:nvSpPr>
          <p:cNvPr id="3493" name="Google Shape;3493;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1"/>
                                        </p:tgtEl>
                                        <p:attrNameLst>
                                          <p:attrName>style.visibility</p:attrName>
                                        </p:attrNameLst>
                                      </p:cBhvr>
                                      <p:to>
                                        <p:strVal val="visible"/>
                                      </p:to>
                                    </p:set>
                                    <p:animEffect filter="fade" transition="in">
                                      <p:cBhvr>
                                        <p:cTn dur="500"/>
                                        <p:tgtEl>
                                          <p:spTgt spid="3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8"/>
                                        </p:tgtEl>
                                        <p:attrNameLst>
                                          <p:attrName>style.visibility</p:attrName>
                                        </p:attrNameLst>
                                      </p:cBhvr>
                                      <p:to>
                                        <p:strVal val="visible"/>
                                      </p:to>
                                    </p:set>
                                    <p:animEffect filter="fade" transition="in">
                                      <p:cBhvr>
                                        <p:cTn dur="500"/>
                                        <p:tgtEl>
                                          <p:spTgt spid="3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8"/>
                                        </p:tgtEl>
                                        <p:attrNameLst>
                                          <p:attrName>style.visibility</p:attrName>
                                        </p:attrNameLst>
                                      </p:cBhvr>
                                      <p:to>
                                        <p:strVal val="visible"/>
                                      </p:to>
                                    </p:set>
                                    <p:animEffect filter="fade" transition="in">
                                      <p:cBhvr>
                                        <p:cTn dur="500"/>
                                        <p:tgtEl>
                                          <p:spTgt spid="3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5"/>
                                        </p:tgtEl>
                                        <p:attrNameLst>
                                          <p:attrName>style.visibility</p:attrName>
                                        </p:attrNameLst>
                                      </p:cBhvr>
                                      <p:to>
                                        <p:strVal val="visible"/>
                                      </p:to>
                                    </p:set>
                                    <p:animEffect filter="fade" transition="in">
                                      <p:cBhvr>
                                        <p:cTn dur="500"/>
                                        <p:tgtEl>
                                          <p:spTgt spid="3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8"/>
                                        </p:tgtEl>
                                        <p:attrNameLst>
                                          <p:attrName>style.visibility</p:attrName>
                                        </p:attrNameLst>
                                      </p:cBhvr>
                                      <p:to>
                                        <p:strVal val="visible"/>
                                      </p:to>
                                    </p:set>
                                    <p:animEffect filter="fade" transition="in">
                                      <p:cBhvr>
                                        <p:cTn dur="500"/>
                                        <p:tgtEl>
                                          <p:spTgt spid="34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9"/>
                                        </p:tgtEl>
                                        <p:attrNameLst>
                                          <p:attrName>style.visibility</p:attrName>
                                        </p:attrNameLst>
                                      </p:cBhvr>
                                      <p:to>
                                        <p:strVal val="visible"/>
                                      </p:to>
                                    </p:set>
                                    <p:animEffect filter="fade" transition="in">
                                      <p:cBhvr>
                                        <p:cTn dur="500"/>
                                        <p:tgtEl>
                                          <p:spTgt spid="3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8" name="Shape 3498"/>
        <p:cNvGrpSpPr/>
        <p:nvPr/>
      </p:nvGrpSpPr>
      <p:grpSpPr>
        <a:xfrm>
          <a:off x="0" y="0"/>
          <a:ext cx="0" cy="0"/>
          <a:chOff x="0" y="0"/>
          <a:chExt cx="0" cy="0"/>
        </a:xfrm>
      </p:grpSpPr>
      <p:sp>
        <p:nvSpPr>
          <p:cNvPr id="3499" name="Google Shape;3499;p54"/>
          <p:cNvSpPr txBox="1"/>
          <p:nvPr>
            <p:ph idx="1" type="body"/>
          </p:nvPr>
        </p:nvSpPr>
        <p:spPr>
          <a:xfrm>
            <a:off x="838200" y="1379475"/>
            <a:ext cx="10515600" cy="1149413"/>
          </a:xfrm>
          <a:prstGeom prst="rect">
            <a:avLst/>
          </a:prstGeom>
          <a:noFill/>
          <a:ln>
            <a:noFill/>
          </a:ln>
        </p:spPr>
        <p:txBody>
          <a:bodyPr anchorCtr="0" anchor="t" bIns="45700" lIns="91425" spcFirstLastPara="1" rIns="91425" wrap="square" tIns="45700">
            <a:normAutofit/>
          </a:bodyPr>
          <a:lstStyle/>
          <a:p>
            <a:pPr indent="-341313" lvl="0" marL="471488" rtl="0" algn="l">
              <a:lnSpc>
                <a:spcPct val="90000"/>
              </a:lnSpc>
              <a:spcBef>
                <a:spcPts val="0"/>
              </a:spcBef>
              <a:spcAft>
                <a:spcPts val="0"/>
              </a:spcAft>
              <a:buSzPts val="3200"/>
              <a:buChar char="▪"/>
            </a:pPr>
            <a:r>
              <a:rPr lang="en-US" sz="3200"/>
              <a:t>Google</a:t>
            </a:r>
            <a:r>
              <a:rPr baseline="30000" lang="en-US" sz="3200"/>
              <a:t>1</a:t>
            </a:r>
            <a:r>
              <a:rPr lang="en-US" sz="3200"/>
              <a:t>: ~ 30% of clients access services via IPv6</a:t>
            </a:r>
            <a:endParaRPr/>
          </a:p>
          <a:p>
            <a:pPr indent="-341313" lvl="0" marL="471488" rtl="0" algn="l">
              <a:lnSpc>
                <a:spcPct val="90000"/>
              </a:lnSpc>
              <a:spcBef>
                <a:spcPts val="1000"/>
              </a:spcBef>
              <a:spcAft>
                <a:spcPts val="0"/>
              </a:spcAft>
              <a:buSzPts val="3200"/>
              <a:buChar char="▪"/>
            </a:pPr>
            <a:r>
              <a:rPr lang="en-US" sz="3200"/>
              <a:t>NIST: 1/3 of all US government domains are IPv6 capable</a:t>
            </a:r>
            <a:endParaRPr/>
          </a:p>
        </p:txBody>
      </p:sp>
      <p:sp>
        <p:nvSpPr>
          <p:cNvPr id="3500" name="Google Shape;3500;p54"/>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adoption</a:t>
            </a:r>
            <a:endParaRPr/>
          </a:p>
        </p:txBody>
      </p:sp>
      <p:grpSp>
        <p:nvGrpSpPr>
          <p:cNvPr id="3501" name="Google Shape;3501;p54"/>
          <p:cNvGrpSpPr/>
          <p:nvPr/>
        </p:nvGrpSpPr>
        <p:grpSpPr>
          <a:xfrm>
            <a:off x="1284513" y="2612571"/>
            <a:ext cx="10450286" cy="4049486"/>
            <a:chOff x="1284513" y="2612571"/>
            <a:chExt cx="10450286" cy="4049486"/>
          </a:xfrm>
        </p:grpSpPr>
        <p:sp>
          <p:nvSpPr>
            <p:cNvPr id="3502" name="Google Shape;3502;p54"/>
            <p:cNvSpPr txBox="1"/>
            <p:nvPr/>
          </p:nvSpPr>
          <p:spPr>
            <a:xfrm>
              <a:off x="9092540" y="5704114"/>
              <a:ext cx="2642259"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baseline="30000" i="0" lang="en-US" sz="1800" u="none" cap="none" strike="noStrike">
                  <a:solidFill>
                    <a:srgbClr val="000000"/>
                  </a:solidFill>
                  <a:latin typeface="Calibri"/>
                  <a:ea typeface="Calibri"/>
                  <a:cs typeface="Calibri"/>
                  <a:sym typeface="Calibri"/>
                </a:rPr>
                <a:t>1</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https://www.google.com/intl/en/ipv6/statistics.html</a:t>
              </a:r>
              <a:endParaRPr b="0" i="0" sz="1800" u="none" cap="none" strike="noStrike">
                <a:solidFill>
                  <a:srgbClr val="000000"/>
                </a:solidFill>
                <a:latin typeface="Calibri"/>
                <a:ea typeface="Calibri"/>
                <a:cs typeface="Calibri"/>
                <a:sym typeface="Calibri"/>
              </a:endParaRPr>
            </a:p>
          </p:txBody>
        </p:sp>
        <p:pic>
          <p:nvPicPr>
            <p:cNvPr id="3503" name="Google Shape;3503;p54"/>
            <p:cNvPicPr preferRelativeResize="0"/>
            <p:nvPr/>
          </p:nvPicPr>
          <p:blipFill rotWithShape="1">
            <a:blip r:embed="rId3">
              <a:alphaModFix/>
            </a:blip>
            <a:srcRect b="0" l="0" r="0" t="0"/>
            <a:stretch/>
          </p:blipFill>
          <p:spPr>
            <a:xfrm>
              <a:off x="1284513" y="2612571"/>
              <a:ext cx="7411254" cy="4049486"/>
            </a:xfrm>
            <a:prstGeom prst="rect">
              <a:avLst/>
            </a:prstGeom>
            <a:noFill/>
            <a:ln>
              <a:noFill/>
            </a:ln>
          </p:spPr>
        </p:pic>
      </p:grpSp>
      <p:sp>
        <p:nvSpPr>
          <p:cNvPr id="3504" name="Google Shape;3504;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1"/>
                                        </p:tgtEl>
                                        <p:attrNameLst>
                                          <p:attrName>style.visibility</p:attrName>
                                        </p:attrNameLst>
                                      </p:cBhvr>
                                      <p:to>
                                        <p:strVal val="visible"/>
                                      </p:to>
                                    </p:set>
                                    <p:animEffect filter="fade" transition="in">
                                      <p:cBhvr>
                                        <p:cTn dur="500"/>
                                        <p:tgtEl>
                                          <p:spTgt spid="35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9" name="Shape 3509"/>
        <p:cNvGrpSpPr/>
        <p:nvPr/>
      </p:nvGrpSpPr>
      <p:grpSpPr>
        <a:xfrm>
          <a:off x="0" y="0"/>
          <a:ext cx="0" cy="0"/>
          <a:chOff x="0" y="0"/>
          <a:chExt cx="0" cy="0"/>
        </a:xfrm>
      </p:grpSpPr>
      <p:sp>
        <p:nvSpPr>
          <p:cNvPr id="3510" name="Google Shape;3510;p55"/>
          <p:cNvSpPr txBox="1"/>
          <p:nvPr>
            <p:ph idx="1" type="body"/>
          </p:nvPr>
        </p:nvSpPr>
        <p:spPr>
          <a:xfrm>
            <a:off x="838200" y="1379475"/>
            <a:ext cx="10515600" cy="4663516"/>
          </a:xfrm>
          <a:prstGeom prst="rect">
            <a:avLst/>
          </a:prstGeom>
          <a:noFill/>
          <a:ln>
            <a:noFill/>
          </a:ln>
        </p:spPr>
        <p:txBody>
          <a:bodyPr anchorCtr="0" anchor="t" bIns="45700" lIns="91425" spcFirstLastPara="1" rIns="91425" wrap="square" tIns="45700">
            <a:normAutofit/>
          </a:bodyPr>
          <a:lstStyle/>
          <a:p>
            <a:pPr indent="-341313" lvl="0" marL="471488" rtl="0" algn="l">
              <a:lnSpc>
                <a:spcPct val="90000"/>
              </a:lnSpc>
              <a:spcBef>
                <a:spcPts val="0"/>
              </a:spcBef>
              <a:spcAft>
                <a:spcPts val="0"/>
              </a:spcAft>
              <a:buSzPts val="3200"/>
              <a:buChar char="▪"/>
            </a:pPr>
            <a:r>
              <a:rPr lang="en-US" sz="3200"/>
              <a:t>Google</a:t>
            </a:r>
            <a:r>
              <a:rPr baseline="30000" lang="en-US" sz="3200"/>
              <a:t>1</a:t>
            </a:r>
            <a:r>
              <a:rPr lang="en-US" sz="3200"/>
              <a:t>: ~ 30% of clients access services via IPv6</a:t>
            </a:r>
            <a:endParaRPr/>
          </a:p>
          <a:p>
            <a:pPr indent="-341313" lvl="0" marL="471488" rtl="0" algn="l">
              <a:lnSpc>
                <a:spcPct val="90000"/>
              </a:lnSpc>
              <a:spcBef>
                <a:spcPts val="1000"/>
              </a:spcBef>
              <a:spcAft>
                <a:spcPts val="0"/>
              </a:spcAft>
              <a:buSzPts val="3200"/>
              <a:buChar char="▪"/>
            </a:pPr>
            <a:r>
              <a:rPr lang="en-US" sz="3200"/>
              <a:t>NIST: 1/3 of all US government domains are IPv6 capable</a:t>
            </a:r>
            <a:endParaRPr/>
          </a:p>
          <a:p>
            <a:pPr indent="-341313" lvl="0" marL="471488" rtl="0" algn="l">
              <a:lnSpc>
                <a:spcPct val="90000"/>
              </a:lnSpc>
              <a:spcBef>
                <a:spcPts val="1000"/>
              </a:spcBef>
              <a:spcAft>
                <a:spcPts val="0"/>
              </a:spcAft>
              <a:buSzPts val="3200"/>
              <a:buChar char="▪"/>
            </a:pPr>
            <a:r>
              <a:rPr lang="en-US" sz="3200"/>
              <a:t>Long (long!) time for deployment, use</a:t>
            </a:r>
            <a:endParaRPr/>
          </a:p>
          <a:p>
            <a:pPr indent="-328613" lvl="1" marL="914400" rtl="0" algn="l">
              <a:lnSpc>
                <a:spcPct val="90000"/>
              </a:lnSpc>
              <a:spcBef>
                <a:spcPts val="500"/>
              </a:spcBef>
              <a:spcAft>
                <a:spcPts val="0"/>
              </a:spcAft>
              <a:buSzPts val="2800"/>
              <a:buChar char="•"/>
            </a:pPr>
            <a:r>
              <a:rPr lang="en-US" sz="2800"/>
              <a:t>25 years and counting!</a:t>
            </a:r>
            <a:endParaRPr/>
          </a:p>
          <a:p>
            <a:pPr indent="-328613" lvl="1" marL="914400" rtl="0" algn="l">
              <a:lnSpc>
                <a:spcPct val="90000"/>
              </a:lnSpc>
              <a:spcBef>
                <a:spcPts val="500"/>
              </a:spcBef>
              <a:spcAft>
                <a:spcPts val="0"/>
              </a:spcAft>
              <a:buSzPts val="2800"/>
              <a:buChar char="•"/>
            </a:pPr>
            <a:r>
              <a:rPr lang="en-US" sz="2800"/>
              <a:t>think of application-level changes in last 25 years: WWW, social media, streaming media, gaming, telepresence, …</a:t>
            </a:r>
            <a:endParaRPr/>
          </a:p>
          <a:p>
            <a:pPr indent="-328613" lvl="1" marL="914400" rtl="0" algn="l">
              <a:lnSpc>
                <a:spcPct val="90000"/>
              </a:lnSpc>
              <a:spcBef>
                <a:spcPts val="500"/>
              </a:spcBef>
              <a:spcAft>
                <a:spcPts val="0"/>
              </a:spcAft>
              <a:buSzPts val="2800"/>
              <a:buChar char="•"/>
            </a:pPr>
            <a:r>
              <a:rPr i="1" lang="en-US" sz="2800">
                <a:solidFill>
                  <a:srgbClr val="CC0000"/>
                </a:solidFill>
              </a:rPr>
              <a:t>Why?</a:t>
            </a:r>
            <a:endParaRPr/>
          </a:p>
        </p:txBody>
      </p:sp>
      <p:sp>
        <p:nvSpPr>
          <p:cNvPr id="3511" name="Google Shape;3511;p55"/>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adoption</a:t>
            </a:r>
            <a:endParaRPr/>
          </a:p>
        </p:txBody>
      </p:sp>
      <p:sp>
        <p:nvSpPr>
          <p:cNvPr id="3512" name="Google Shape;3512;p55"/>
          <p:cNvSpPr txBox="1"/>
          <p:nvPr/>
        </p:nvSpPr>
        <p:spPr>
          <a:xfrm>
            <a:off x="928255" y="6289964"/>
            <a:ext cx="47294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baseline="30000" i="0" lang="en-US" sz="1800" u="none" cap="none" strike="noStrike">
                <a:solidFill>
                  <a:srgbClr val="000000"/>
                </a:solidFill>
                <a:latin typeface="Calibri"/>
                <a:ea typeface="Calibri"/>
                <a:cs typeface="Calibri"/>
                <a:sym typeface="Calibri"/>
              </a:rPr>
              <a:t>1</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https://www.google.com/intl/en/ipv6/statistics.html</a:t>
            </a:r>
            <a:endParaRPr b="0" i="0" sz="1800" u="none" cap="none" strike="noStrike">
              <a:solidFill>
                <a:srgbClr val="000000"/>
              </a:solidFill>
              <a:latin typeface="Calibri"/>
              <a:ea typeface="Calibri"/>
              <a:cs typeface="Calibri"/>
              <a:sym typeface="Calibri"/>
            </a:endParaRPr>
          </a:p>
        </p:txBody>
      </p:sp>
      <p:sp>
        <p:nvSpPr>
          <p:cNvPr id="3513" name="Google Shape;3513;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4-</a:t>
            </a:r>
            <a:fld id="{00000000-1234-1234-1234-123412341234}" type="slidenum">
              <a:rPr lang="en-US">
                <a:solidFill>
                  <a:srgbClr val="7F7F7F"/>
                </a:solidFill>
              </a:rPr>
              <a:t>‹#›</a:t>
            </a:fld>
            <a:endParaRPr>
              <a:solidFill>
                <a:srgbClr val="7F7F7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7" name="Shape 3517"/>
        <p:cNvGrpSpPr/>
        <p:nvPr/>
      </p:nvGrpSpPr>
      <p:grpSpPr>
        <a:xfrm>
          <a:off x="0" y="0"/>
          <a:ext cx="0" cy="0"/>
          <a:chOff x="0" y="0"/>
          <a:chExt cx="0" cy="0"/>
        </a:xfrm>
      </p:grpSpPr>
      <p:sp>
        <p:nvSpPr>
          <p:cNvPr id="3518" name="Google Shape;3518;p56"/>
          <p:cNvSpPr txBox="1"/>
          <p:nvPr>
            <p:ph idx="1" type="body"/>
          </p:nvPr>
        </p:nvSpPr>
        <p:spPr>
          <a:xfrm>
            <a:off x="970936" y="4247536"/>
            <a:ext cx="10515600" cy="1473868"/>
          </a:xfrm>
          <a:prstGeom prst="rect">
            <a:avLst/>
          </a:prstGeom>
          <a:noFill/>
          <a:ln>
            <a:noFill/>
          </a:ln>
        </p:spPr>
        <p:txBody>
          <a:bodyPr anchorCtr="0" anchor="t" bIns="45700" lIns="91425" spcFirstLastPara="1" rIns="91425" wrap="square" tIns="45700">
            <a:normAutofit lnSpcReduction="10000"/>
          </a:bodyPr>
          <a:lstStyle/>
          <a:p>
            <a:pPr indent="0" lvl="0" marL="130175" rtl="0" algn="l">
              <a:lnSpc>
                <a:spcPct val="90000"/>
              </a:lnSpc>
              <a:spcBef>
                <a:spcPts val="0"/>
              </a:spcBef>
              <a:spcAft>
                <a:spcPts val="0"/>
              </a:spcAft>
              <a:buSzPts val="3200"/>
              <a:buNone/>
            </a:pPr>
            <a:r>
              <a:rPr lang="en-US" sz="3200">
                <a:solidFill>
                  <a:srgbClr val="C00000"/>
                </a:solidFill>
              </a:rPr>
              <a:t>Two approaches to structuring network control plane:</a:t>
            </a:r>
            <a:endParaRPr/>
          </a:p>
          <a:p>
            <a:pPr indent="-249238" lvl="0" marL="466725" rtl="0" algn="l">
              <a:lnSpc>
                <a:spcPct val="90000"/>
              </a:lnSpc>
              <a:spcBef>
                <a:spcPts val="1000"/>
              </a:spcBef>
              <a:spcAft>
                <a:spcPts val="0"/>
              </a:spcAft>
              <a:buSzPts val="2800"/>
              <a:buChar char="▪"/>
            </a:pPr>
            <a:r>
              <a:rPr lang="en-US"/>
              <a:t>per-router control (traditional)</a:t>
            </a:r>
            <a:endParaRPr/>
          </a:p>
          <a:p>
            <a:pPr indent="-249238" lvl="0" marL="466725" rtl="0" algn="l">
              <a:lnSpc>
                <a:spcPct val="90000"/>
              </a:lnSpc>
              <a:spcBef>
                <a:spcPts val="1000"/>
              </a:spcBef>
              <a:spcAft>
                <a:spcPts val="0"/>
              </a:spcAft>
              <a:buSzPts val="2800"/>
              <a:buChar char="▪"/>
            </a:pPr>
            <a:r>
              <a:rPr lang="en-US"/>
              <a:t>logically centralized control (software defined networking)</a:t>
            </a:r>
            <a:endParaRPr/>
          </a:p>
          <a:p>
            <a:pPr indent="-44450" lvl="0" marL="352425" rtl="0" algn="l">
              <a:lnSpc>
                <a:spcPct val="90000"/>
              </a:lnSpc>
              <a:spcBef>
                <a:spcPts val="1000"/>
              </a:spcBef>
              <a:spcAft>
                <a:spcPts val="0"/>
              </a:spcAft>
              <a:buSzPts val="2800"/>
              <a:buNone/>
            </a:pPr>
            <a:r>
              <a:t/>
            </a:r>
            <a:endParaRPr/>
          </a:p>
        </p:txBody>
      </p:sp>
      <p:sp>
        <p:nvSpPr>
          <p:cNvPr id="3519" name="Google Shape;3519;p5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Network-layer functions</a:t>
            </a:r>
            <a:endParaRPr/>
          </a:p>
        </p:txBody>
      </p:sp>
      <p:sp>
        <p:nvSpPr>
          <p:cNvPr id="3520" name="Google Shape;3520;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grpSp>
        <p:nvGrpSpPr>
          <p:cNvPr id="3521" name="Google Shape;3521;p56"/>
          <p:cNvGrpSpPr/>
          <p:nvPr/>
        </p:nvGrpSpPr>
        <p:grpSpPr>
          <a:xfrm>
            <a:off x="817202" y="1662139"/>
            <a:ext cx="9934373" cy="918829"/>
            <a:chOff x="817202" y="1662139"/>
            <a:chExt cx="9934373" cy="918829"/>
          </a:xfrm>
        </p:grpSpPr>
        <p:sp>
          <p:nvSpPr>
            <p:cNvPr id="3522" name="Google Shape;3522;p56"/>
            <p:cNvSpPr txBox="1"/>
            <p:nvPr/>
          </p:nvSpPr>
          <p:spPr>
            <a:xfrm>
              <a:off x="817202" y="1662139"/>
              <a:ext cx="6556992" cy="918829"/>
            </a:xfrm>
            <a:prstGeom prst="rect">
              <a:avLst/>
            </a:prstGeom>
            <a:noFill/>
            <a:ln>
              <a:noFill/>
            </a:ln>
          </p:spPr>
          <p:txBody>
            <a:bodyPr anchorCtr="0" anchor="t" bIns="45700" lIns="91425" spcFirstLastPara="1" rIns="91425" wrap="square" tIns="45700">
              <a:normAutofit/>
            </a:bodyPr>
            <a:lstStyle/>
            <a:p>
              <a:pPr indent="-336550" lvl="0" marL="4667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forwarding: </a:t>
              </a:r>
              <a:r>
                <a:rPr b="0" i="0" lang="en-US" sz="2800" u="none" cap="none" strike="noStrike">
                  <a:solidFill>
                    <a:srgbClr val="000000"/>
                  </a:solidFill>
                  <a:latin typeface="Calibri"/>
                  <a:ea typeface="Calibri"/>
                  <a:cs typeface="Calibri"/>
                  <a:sym typeface="Calibri"/>
                </a:rPr>
                <a:t>move packets from router’s input to appropriate router output</a:t>
              </a:r>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523" name="Google Shape;3523;p56"/>
            <p:cNvSpPr/>
            <p:nvPr/>
          </p:nvSpPr>
          <p:spPr>
            <a:xfrm>
              <a:off x="7868781" y="1807341"/>
              <a:ext cx="2882794" cy="508156"/>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340"/>
                <a:buFont typeface="Noto Sans Symbols"/>
                <a:buNone/>
              </a:pPr>
              <a:r>
                <a:rPr b="0" i="1" lang="en-US" sz="3600" u="none" cap="none" strike="noStrike">
                  <a:solidFill>
                    <a:srgbClr val="000090"/>
                  </a:solidFill>
                  <a:latin typeface="Calibri"/>
                  <a:ea typeface="Calibri"/>
                  <a:cs typeface="Calibri"/>
                  <a:sym typeface="Calibri"/>
                </a:rPr>
                <a:t>data plane</a:t>
              </a:r>
              <a:endParaRPr/>
            </a:p>
            <a:p>
              <a:pPr indent="-342900" lvl="0" marL="342900" marR="0" rtl="0" algn="l">
                <a:lnSpc>
                  <a:spcPct val="85000"/>
                </a:lnSpc>
                <a:spcBef>
                  <a:spcPts val="60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grpSp>
      <p:grpSp>
        <p:nvGrpSpPr>
          <p:cNvPr id="3524" name="Google Shape;3524;p56"/>
          <p:cNvGrpSpPr/>
          <p:nvPr/>
        </p:nvGrpSpPr>
        <p:grpSpPr>
          <a:xfrm>
            <a:off x="948416" y="2692736"/>
            <a:ext cx="10162404" cy="920619"/>
            <a:chOff x="977913" y="2913962"/>
            <a:chExt cx="10162404" cy="920619"/>
          </a:xfrm>
        </p:grpSpPr>
        <p:sp>
          <p:nvSpPr>
            <p:cNvPr id="3525" name="Google Shape;3525;p56"/>
            <p:cNvSpPr/>
            <p:nvPr/>
          </p:nvSpPr>
          <p:spPr>
            <a:xfrm>
              <a:off x="7847249" y="3047636"/>
              <a:ext cx="3293068" cy="563743"/>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b="0" i="1" lang="en-US" sz="3600" u="none" cap="none" strike="noStrike">
                  <a:solidFill>
                    <a:srgbClr val="000099"/>
                  </a:solidFill>
                  <a:latin typeface="Calibri"/>
                  <a:ea typeface="Calibri"/>
                  <a:cs typeface="Calibri"/>
                  <a:sym typeface="Calibri"/>
                </a:rPr>
                <a:t>control</a:t>
              </a:r>
              <a:r>
                <a:rPr b="1" i="1" lang="en-US" sz="3600" u="none" cap="none" strike="noStrike">
                  <a:solidFill>
                    <a:srgbClr val="000099"/>
                  </a:solidFill>
                  <a:latin typeface="Calibri"/>
                  <a:ea typeface="Calibri"/>
                  <a:cs typeface="Calibri"/>
                  <a:sym typeface="Calibri"/>
                </a:rPr>
                <a:t> </a:t>
              </a:r>
              <a:r>
                <a:rPr b="0" i="1" lang="en-US" sz="3600" u="none" cap="none" strike="noStrike">
                  <a:solidFill>
                    <a:srgbClr val="000099"/>
                  </a:solidFill>
                  <a:latin typeface="Calibri"/>
                  <a:ea typeface="Calibri"/>
                  <a:cs typeface="Calibri"/>
                  <a:sym typeface="Calibri"/>
                </a:rPr>
                <a:t>plane</a:t>
              </a:r>
              <a:endParaRPr b="0" i="1" sz="3600" u="none" cap="none" strike="noStrike">
                <a:solidFill>
                  <a:srgbClr val="000000"/>
                </a:solidFill>
                <a:latin typeface="Calibri"/>
                <a:ea typeface="Calibri"/>
                <a:cs typeface="Calibri"/>
                <a:sym typeface="Calibri"/>
              </a:endParaRPr>
            </a:p>
            <a:p>
              <a:pPr indent="-227330" lvl="0" marL="342900" marR="0" rtl="0" algn="l">
                <a:lnSpc>
                  <a:spcPct val="85000"/>
                </a:lnSpc>
                <a:spcBef>
                  <a:spcPts val="19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a:p>
              <a:pPr indent="0" lvl="0" marL="0" marR="0" rtl="0" algn="l">
                <a:lnSpc>
                  <a:spcPct val="85000"/>
                </a:lnSpc>
                <a:spcBef>
                  <a:spcPts val="560"/>
                </a:spcBef>
                <a:spcAft>
                  <a:spcPts val="0"/>
                </a:spcAft>
                <a:buNone/>
              </a:pPr>
              <a:r>
                <a:t/>
              </a:r>
              <a:endParaRPr b="0" i="0" sz="2800" u="none" cap="none" strike="noStrike">
                <a:solidFill>
                  <a:srgbClr val="000000"/>
                </a:solidFill>
                <a:latin typeface="Calibri"/>
                <a:ea typeface="Calibri"/>
                <a:cs typeface="Calibri"/>
                <a:sym typeface="Calibri"/>
              </a:endParaRPr>
            </a:p>
          </p:txBody>
        </p:sp>
        <p:sp>
          <p:nvSpPr>
            <p:cNvPr id="3526" name="Google Shape;3526;p56"/>
            <p:cNvSpPr txBox="1"/>
            <p:nvPr/>
          </p:nvSpPr>
          <p:spPr>
            <a:xfrm>
              <a:off x="977913" y="2913962"/>
              <a:ext cx="6529016" cy="920619"/>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b="0" i="0" lang="en-US" sz="2800" u="none" cap="none" strike="noStrike">
                  <a:solidFill>
                    <a:srgbClr val="C00000"/>
                  </a:solidFill>
                  <a:latin typeface="Calibri"/>
                  <a:ea typeface="Calibri"/>
                  <a:cs typeface="Calibri"/>
                  <a:sym typeface="Calibri"/>
                </a:rPr>
                <a:t>routing: </a:t>
              </a:r>
              <a:r>
                <a:rPr b="0" i="0" lang="en-US" sz="2800" u="none" cap="none" strike="noStrike">
                  <a:solidFill>
                    <a:srgbClr val="000000"/>
                  </a:solidFill>
                  <a:latin typeface="Calibri"/>
                  <a:ea typeface="Calibri"/>
                  <a:cs typeface="Calibri"/>
                  <a:sym typeface="Calibri"/>
                </a:rPr>
                <a:t>determine route taken by packets from source to destination</a:t>
              </a:r>
              <a:endParaRPr/>
            </a:p>
            <a:p>
              <a:pPr indent="-342900" lvl="0" marL="3429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8">
                                            <p:txEl>
                                              <p:pRg end="0" st="0"/>
                                            </p:txEl>
                                          </p:spTgt>
                                        </p:tgtEl>
                                        <p:attrNameLst>
                                          <p:attrName>style.visibility</p:attrName>
                                        </p:attrNameLst>
                                      </p:cBhvr>
                                      <p:to>
                                        <p:strVal val="visible"/>
                                      </p:to>
                                    </p:set>
                                    <p:animEffect filter="fade" transition="in">
                                      <p:cBhvr>
                                        <p:cTn dur="500"/>
                                        <p:tgtEl>
                                          <p:spTgt spid="35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8">
                                            <p:txEl>
                                              <p:pRg end="1" st="1"/>
                                            </p:txEl>
                                          </p:spTgt>
                                        </p:tgtEl>
                                        <p:attrNameLst>
                                          <p:attrName>style.visibility</p:attrName>
                                        </p:attrNameLst>
                                      </p:cBhvr>
                                      <p:to>
                                        <p:strVal val="visible"/>
                                      </p:to>
                                    </p:set>
                                    <p:animEffect filter="fade" transition="in">
                                      <p:cBhvr>
                                        <p:cTn dur="500"/>
                                        <p:tgtEl>
                                          <p:spTgt spid="35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8">
                                            <p:txEl>
                                              <p:pRg end="2" st="2"/>
                                            </p:txEl>
                                          </p:spTgt>
                                        </p:tgtEl>
                                        <p:attrNameLst>
                                          <p:attrName>style.visibility</p:attrName>
                                        </p:attrNameLst>
                                      </p:cBhvr>
                                      <p:to>
                                        <p:strVal val="visible"/>
                                      </p:to>
                                    </p:set>
                                    <p:animEffect filter="fade" transition="in">
                                      <p:cBhvr>
                                        <p:cTn dur="500"/>
                                        <p:tgtEl>
                                          <p:spTgt spid="35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8">
                                            <p:txEl>
                                              <p:pRg end="3" st="3"/>
                                            </p:txEl>
                                          </p:spTgt>
                                        </p:tgtEl>
                                        <p:attrNameLst>
                                          <p:attrName>style.visibility</p:attrName>
                                        </p:attrNameLst>
                                      </p:cBhvr>
                                      <p:to>
                                        <p:strVal val="visible"/>
                                      </p:to>
                                    </p:set>
                                    <p:animEffect filter="fade" transition="in">
                                      <p:cBhvr>
                                        <p:cTn dur="500"/>
                                        <p:tgtEl>
                                          <p:spTgt spid="351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1" name="Shape 3531"/>
        <p:cNvGrpSpPr/>
        <p:nvPr/>
      </p:nvGrpSpPr>
      <p:grpSpPr>
        <a:xfrm>
          <a:off x="0" y="0"/>
          <a:ext cx="0" cy="0"/>
          <a:chOff x="0" y="0"/>
          <a:chExt cx="0" cy="0"/>
        </a:xfrm>
      </p:grpSpPr>
      <p:sp>
        <p:nvSpPr>
          <p:cNvPr id="3532" name="Google Shape;3532;p57"/>
          <p:cNvSpPr txBox="1"/>
          <p:nvPr>
            <p:ph idx="1" type="body"/>
          </p:nvPr>
        </p:nvSpPr>
        <p:spPr>
          <a:xfrm>
            <a:off x="749710" y="1443808"/>
            <a:ext cx="6034548" cy="4351338"/>
          </a:xfrm>
          <a:prstGeom prst="rect">
            <a:avLst/>
          </a:prstGeom>
          <a:noFill/>
          <a:ln>
            <a:noFill/>
          </a:ln>
        </p:spPr>
        <p:txBody>
          <a:bodyPr anchorCtr="0" anchor="t" bIns="45700" lIns="91425" spcFirstLastPara="1" rIns="91425" wrap="square" tIns="45700">
            <a:normAutofit lnSpcReduction="10000"/>
          </a:bodyPr>
          <a:lstStyle/>
          <a:p>
            <a:pPr indent="0" lvl="0" marL="130175" rtl="0" algn="l">
              <a:lnSpc>
                <a:spcPct val="90000"/>
              </a:lnSpc>
              <a:spcBef>
                <a:spcPts val="0"/>
              </a:spcBef>
              <a:spcAft>
                <a:spcPts val="0"/>
              </a:spcAft>
              <a:buSzPts val="3200"/>
              <a:buNone/>
            </a:pPr>
            <a:r>
              <a:rPr lang="en-US" sz="3200">
                <a:solidFill>
                  <a:srgbClr val="C00000"/>
                </a:solidFill>
              </a:rPr>
              <a:t>Routing</a:t>
            </a:r>
            <a:r>
              <a:rPr lang="en-US">
                <a:solidFill>
                  <a:srgbClr val="C00000"/>
                </a:solidFill>
              </a:rPr>
              <a:t> protocol goal: </a:t>
            </a:r>
            <a:r>
              <a:rPr lang="en-US"/>
              <a:t>determine “good” paths (equivalently, routes), from sending hosts to receiving host, through network of routers</a:t>
            </a:r>
            <a:endParaRPr/>
          </a:p>
          <a:p>
            <a:pPr indent="-277813" lvl="0" marL="407988" rtl="0" algn="l">
              <a:lnSpc>
                <a:spcPct val="90000"/>
              </a:lnSpc>
              <a:spcBef>
                <a:spcPts val="1000"/>
              </a:spcBef>
              <a:spcAft>
                <a:spcPts val="0"/>
              </a:spcAft>
              <a:buSzPts val="2800"/>
              <a:buChar char="▪"/>
            </a:pPr>
            <a:r>
              <a:rPr lang="en-US">
                <a:solidFill>
                  <a:srgbClr val="C00000"/>
                </a:solidFill>
              </a:rPr>
              <a:t>path: </a:t>
            </a:r>
            <a:r>
              <a:rPr lang="en-US"/>
              <a:t>sequence of routers packets traverse from given initial source host to final destination host</a:t>
            </a:r>
            <a:endParaRPr/>
          </a:p>
          <a:p>
            <a:pPr indent="-277813" lvl="0" marL="407988" rtl="0" algn="l">
              <a:lnSpc>
                <a:spcPct val="90000"/>
              </a:lnSpc>
              <a:spcBef>
                <a:spcPts val="1000"/>
              </a:spcBef>
              <a:spcAft>
                <a:spcPts val="0"/>
              </a:spcAft>
              <a:buSzPts val="2800"/>
              <a:buChar char="▪"/>
            </a:pPr>
            <a:r>
              <a:rPr lang="en-US">
                <a:solidFill>
                  <a:srgbClr val="C00000"/>
                </a:solidFill>
              </a:rPr>
              <a:t>“good”: </a:t>
            </a:r>
            <a:r>
              <a:rPr lang="en-US"/>
              <a:t>least “cost”, “fastest”, “least congested”</a:t>
            </a:r>
            <a:endParaRPr/>
          </a:p>
          <a:p>
            <a:pPr indent="-277813" lvl="0" marL="407988" rtl="0" algn="l">
              <a:lnSpc>
                <a:spcPct val="90000"/>
              </a:lnSpc>
              <a:spcBef>
                <a:spcPts val="1000"/>
              </a:spcBef>
              <a:spcAft>
                <a:spcPts val="0"/>
              </a:spcAft>
              <a:buSzPts val="2800"/>
              <a:buChar char="▪"/>
            </a:pPr>
            <a:r>
              <a:rPr lang="en-US"/>
              <a:t>routing: a “top-10” networking challenge!</a:t>
            </a:r>
            <a:endParaRPr/>
          </a:p>
          <a:p>
            <a:pPr indent="-44450" lvl="0" marL="352425" rtl="0" algn="l">
              <a:lnSpc>
                <a:spcPct val="90000"/>
              </a:lnSpc>
              <a:spcBef>
                <a:spcPts val="1000"/>
              </a:spcBef>
              <a:spcAft>
                <a:spcPts val="0"/>
              </a:spcAft>
              <a:buSzPts val="2800"/>
              <a:buNone/>
            </a:pPr>
            <a:r>
              <a:t/>
            </a:r>
            <a:endParaRPr/>
          </a:p>
        </p:txBody>
      </p:sp>
      <p:sp>
        <p:nvSpPr>
          <p:cNvPr id="3533" name="Google Shape;3533;p57"/>
          <p:cNvSpPr txBox="1"/>
          <p:nvPr>
            <p:ph type="title"/>
          </p:nvPr>
        </p:nvSpPr>
        <p:spPr>
          <a:xfrm>
            <a:off x="838200" y="33383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Routing protocols</a:t>
            </a:r>
            <a:endParaRPr/>
          </a:p>
        </p:txBody>
      </p:sp>
      <p:sp>
        <p:nvSpPr>
          <p:cNvPr id="3534" name="Google Shape;3534;p57"/>
          <p:cNvSpPr/>
          <p:nvPr/>
        </p:nvSpPr>
        <p:spPr>
          <a:xfrm>
            <a:off x="9058928" y="2579084"/>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535" name="Google Shape;3535;p57"/>
          <p:cNvSpPr/>
          <p:nvPr/>
        </p:nvSpPr>
        <p:spPr>
          <a:xfrm>
            <a:off x="7347816" y="1339341"/>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536" name="Google Shape;3536;p57"/>
          <p:cNvGrpSpPr/>
          <p:nvPr/>
        </p:nvGrpSpPr>
        <p:grpSpPr>
          <a:xfrm>
            <a:off x="7279090" y="2802557"/>
            <a:ext cx="1458912" cy="933450"/>
            <a:chOff x="2889" y="1631"/>
            <a:chExt cx="980" cy="743"/>
          </a:xfrm>
        </p:grpSpPr>
        <p:sp>
          <p:nvSpPr>
            <p:cNvPr id="3537" name="Google Shape;3537;p57"/>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538" name="Google Shape;3538;p57"/>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3539" name="Google Shape;3539;p57"/>
          <p:cNvSpPr/>
          <p:nvPr/>
        </p:nvSpPr>
        <p:spPr>
          <a:xfrm>
            <a:off x="7786141" y="4196440"/>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540" name="Google Shape;3540;p57"/>
          <p:cNvSpPr txBox="1"/>
          <p:nvPr/>
        </p:nvSpPr>
        <p:spPr>
          <a:xfrm>
            <a:off x="7753014" y="1001767"/>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3541" name="Google Shape;3541;p57"/>
          <p:cNvSpPr txBox="1"/>
          <p:nvPr/>
        </p:nvSpPr>
        <p:spPr>
          <a:xfrm>
            <a:off x="7380648" y="5293081"/>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3542" name="Google Shape;3542;p57"/>
          <p:cNvSpPr/>
          <p:nvPr/>
        </p:nvSpPr>
        <p:spPr>
          <a:xfrm>
            <a:off x="10295886" y="2692846"/>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3543" name="Google Shape;3543;p57"/>
          <p:cNvGrpSpPr/>
          <p:nvPr/>
        </p:nvGrpSpPr>
        <p:grpSpPr>
          <a:xfrm>
            <a:off x="10911440" y="3441356"/>
            <a:ext cx="687393" cy="721548"/>
            <a:chOff x="5203089" y="1751190"/>
            <a:chExt cx="858331" cy="662414"/>
          </a:xfrm>
        </p:grpSpPr>
        <p:sp>
          <p:nvSpPr>
            <p:cNvPr id="3544" name="Google Shape;3544;p57"/>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545" name="Google Shape;3545;p57"/>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cxnSp>
          <p:nvCxnSpPr>
            <p:cNvPr id="3546" name="Google Shape;3546;p57"/>
            <p:cNvCxnSpPr/>
            <p:nvPr/>
          </p:nvCxnSpPr>
          <p:spPr>
            <a:xfrm flipH="1" rot="10800000">
              <a:off x="5270526" y="2029553"/>
              <a:ext cx="295249" cy="73468"/>
            </a:xfrm>
            <a:prstGeom prst="straightConnector1">
              <a:avLst/>
            </a:prstGeom>
            <a:noFill/>
            <a:ln cap="flat" cmpd="sng" w="44450">
              <a:solidFill>
                <a:schemeClr val="lt1"/>
              </a:solidFill>
              <a:prstDash val="solid"/>
              <a:miter lim="8000"/>
              <a:headEnd len="sm" w="sm" type="none"/>
              <a:tailEnd len="sm" w="sm" type="none"/>
            </a:ln>
          </p:spPr>
        </p:cxnSp>
        <p:cxnSp>
          <p:nvCxnSpPr>
            <p:cNvPr id="3547" name="Google Shape;3547;p57"/>
            <p:cNvCxnSpPr/>
            <p:nvPr/>
          </p:nvCxnSpPr>
          <p:spPr>
            <a:xfrm flipH="1" rot="10800000">
              <a:off x="5275406" y="2261710"/>
              <a:ext cx="290369" cy="16752"/>
            </a:xfrm>
            <a:prstGeom prst="straightConnector1">
              <a:avLst/>
            </a:prstGeom>
            <a:noFill/>
            <a:ln cap="flat" cmpd="sng" w="44450">
              <a:solidFill>
                <a:schemeClr val="lt1"/>
              </a:solidFill>
              <a:prstDash val="solid"/>
              <a:miter lim="8000"/>
              <a:headEnd len="sm" w="sm" type="none"/>
              <a:tailEnd len="sm" w="sm" type="none"/>
            </a:ln>
          </p:spPr>
        </p:cxnSp>
        <p:cxnSp>
          <p:nvCxnSpPr>
            <p:cNvPr id="3548" name="Google Shape;3548;p57"/>
            <p:cNvCxnSpPr/>
            <p:nvPr/>
          </p:nvCxnSpPr>
          <p:spPr>
            <a:xfrm flipH="1" rot="10800000">
              <a:off x="5275406" y="2151772"/>
              <a:ext cx="290369" cy="48402"/>
            </a:xfrm>
            <a:prstGeom prst="straightConnector1">
              <a:avLst/>
            </a:prstGeom>
            <a:noFill/>
            <a:ln cap="flat" cmpd="sng" w="44450">
              <a:solidFill>
                <a:schemeClr val="lt1"/>
              </a:solidFill>
              <a:prstDash val="solid"/>
              <a:miter lim="8000"/>
              <a:headEnd len="sm" w="sm" type="none"/>
              <a:tailEnd len="sm" w="sm" type="none"/>
            </a:ln>
          </p:spPr>
        </p:cxnSp>
        <p:cxnSp>
          <p:nvCxnSpPr>
            <p:cNvPr id="3549" name="Google Shape;3549;p57"/>
            <p:cNvCxnSpPr/>
            <p:nvPr/>
          </p:nvCxnSpPr>
          <p:spPr>
            <a:xfrm>
              <a:off x="5270094" y="2354086"/>
              <a:ext cx="295681" cy="0"/>
            </a:xfrm>
            <a:prstGeom prst="straightConnector1">
              <a:avLst/>
            </a:prstGeom>
            <a:noFill/>
            <a:ln cap="flat" cmpd="sng" w="44450">
              <a:solidFill>
                <a:schemeClr val="lt1"/>
              </a:solidFill>
              <a:prstDash val="solid"/>
              <a:miter lim="8000"/>
              <a:headEnd len="sm" w="sm" type="none"/>
              <a:tailEnd len="sm" w="sm" type="none"/>
            </a:ln>
          </p:spPr>
        </p:cxnSp>
        <p:cxnSp>
          <p:nvCxnSpPr>
            <p:cNvPr id="3550" name="Google Shape;3550;p57"/>
            <p:cNvCxnSpPr/>
            <p:nvPr/>
          </p:nvCxnSpPr>
          <p:spPr>
            <a:xfrm rot="10800000">
              <a:off x="5950242" y="1866900"/>
              <a:ext cx="0" cy="465273"/>
            </a:xfrm>
            <a:prstGeom prst="straightConnector1">
              <a:avLst/>
            </a:prstGeom>
            <a:noFill/>
            <a:ln cap="flat" cmpd="sng" w="44450">
              <a:solidFill>
                <a:schemeClr val="lt1"/>
              </a:solidFill>
              <a:prstDash val="dash"/>
              <a:miter lim="8000"/>
              <a:headEnd len="sm" w="sm" type="none"/>
              <a:tailEnd len="sm" w="sm" type="none"/>
            </a:ln>
          </p:spPr>
        </p:cxnSp>
        <p:cxnSp>
          <p:nvCxnSpPr>
            <p:cNvPr id="3551" name="Google Shape;3551;p57"/>
            <p:cNvCxnSpPr/>
            <p:nvPr/>
          </p:nvCxnSpPr>
          <p:spPr>
            <a:xfrm>
              <a:off x="5628589" y="1936750"/>
              <a:ext cx="0" cy="476854"/>
            </a:xfrm>
            <a:prstGeom prst="straightConnector1">
              <a:avLst/>
            </a:prstGeom>
            <a:noFill/>
            <a:ln cap="flat" cmpd="sng" w="15875">
              <a:solidFill>
                <a:srgbClr val="0000A8"/>
              </a:solidFill>
              <a:prstDash val="solid"/>
              <a:miter lim="8000"/>
              <a:headEnd len="sm" w="sm" type="none"/>
              <a:tailEnd len="sm" w="sm" type="none"/>
            </a:ln>
          </p:spPr>
        </p:cxnSp>
      </p:grpSp>
      <p:grpSp>
        <p:nvGrpSpPr>
          <p:cNvPr id="3552" name="Google Shape;3552;p57"/>
          <p:cNvGrpSpPr/>
          <p:nvPr/>
        </p:nvGrpSpPr>
        <p:grpSpPr>
          <a:xfrm>
            <a:off x="10844911" y="2707477"/>
            <a:ext cx="594613" cy="648336"/>
            <a:chOff x="5203089" y="1751190"/>
            <a:chExt cx="858331" cy="662414"/>
          </a:xfrm>
        </p:grpSpPr>
        <p:sp>
          <p:nvSpPr>
            <p:cNvPr id="3553" name="Google Shape;3553;p57"/>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554" name="Google Shape;3554;p57"/>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cxnSp>
          <p:nvCxnSpPr>
            <p:cNvPr id="3555" name="Google Shape;3555;p57"/>
            <p:cNvCxnSpPr/>
            <p:nvPr/>
          </p:nvCxnSpPr>
          <p:spPr>
            <a:xfrm flipH="1" rot="10800000">
              <a:off x="5270526" y="2029553"/>
              <a:ext cx="295249" cy="73468"/>
            </a:xfrm>
            <a:prstGeom prst="straightConnector1">
              <a:avLst/>
            </a:prstGeom>
            <a:noFill/>
            <a:ln cap="flat" cmpd="sng" w="44450">
              <a:solidFill>
                <a:schemeClr val="lt1"/>
              </a:solidFill>
              <a:prstDash val="solid"/>
              <a:miter lim="8000"/>
              <a:headEnd len="sm" w="sm" type="none"/>
              <a:tailEnd len="sm" w="sm" type="none"/>
            </a:ln>
          </p:spPr>
        </p:cxnSp>
        <p:cxnSp>
          <p:nvCxnSpPr>
            <p:cNvPr id="3556" name="Google Shape;3556;p57"/>
            <p:cNvCxnSpPr/>
            <p:nvPr/>
          </p:nvCxnSpPr>
          <p:spPr>
            <a:xfrm flipH="1" rot="10800000">
              <a:off x="5275406" y="2261710"/>
              <a:ext cx="290369" cy="16752"/>
            </a:xfrm>
            <a:prstGeom prst="straightConnector1">
              <a:avLst/>
            </a:prstGeom>
            <a:noFill/>
            <a:ln cap="flat" cmpd="sng" w="44450">
              <a:solidFill>
                <a:schemeClr val="lt1"/>
              </a:solidFill>
              <a:prstDash val="solid"/>
              <a:miter lim="8000"/>
              <a:headEnd len="sm" w="sm" type="none"/>
              <a:tailEnd len="sm" w="sm" type="none"/>
            </a:ln>
          </p:spPr>
        </p:cxnSp>
        <p:cxnSp>
          <p:nvCxnSpPr>
            <p:cNvPr id="3557" name="Google Shape;3557;p57"/>
            <p:cNvCxnSpPr/>
            <p:nvPr/>
          </p:nvCxnSpPr>
          <p:spPr>
            <a:xfrm flipH="1" rot="10800000">
              <a:off x="5275406" y="2151772"/>
              <a:ext cx="290369" cy="48402"/>
            </a:xfrm>
            <a:prstGeom prst="straightConnector1">
              <a:avLst/>
            </a:prstGeom>
            <a:noFill/>
            <a:ln cap="flat" cmpd="sng" w="44450">
              <a:solidFill>
                <a:schemeClr val="lt1"/>
              </a:solidFill>
              <a:prstDash val="solid"/>
              <a:miter lim="8000"/>
              <a:headEnd len="sm" w="sm" type="none"/>
              <a:tailEnd len="sm" w="sm" type="none"/>
            </a:ln>
          </p:spPr>
        </p:cxnSp>
        <p:cxnSp>
          <p:nvCxnSpPr>
            <p:cNvPr id="3558" name="Google Shape;3558;p57"/>
            <p:cNvCxnSpPr/>
            <p:nvPr/>
          </p:nvCxnSpPr>
          <p:spPr>
            <a:xfrm>
              <a:off x="5270094" y="2354086"/>
              <a:ext cx="295681" cy="0"/>
            </a:xfrm>
            <a:prstGeom prst="straightConnector1">
              <a:avLst/>
            </a:prstGeom>
            <a:noFill/>
            <a:ln cap="flat" cmpd="sng" w="44450">
              <a:solidFill>
                <a:schemeClr val="lt1"/>
              </a:solidFill>
              <a:prstDash val="solid"/>
              <a:miter lim="8000"/>
              <a:headEnd len="sm" w="sm" type="none"/>
              <a:tailEnd len="sm" w="sm" type="none"/>
            </a:ln>
          </p:spPr>
        </p:cxnSp>
        <p:cxnSp>
          <p:nvCxnSpPr>
            <p:cNvPr id="3559" name="Google Shape;3559;p57"/>
            <p:cNvCxnSpPr/>
            <p:nvPr/>
          </p:nvCxnSpPr>
          <p:spPr>
            <a:xfrm rot="10800000">
              <a:off x="5950242" y="1866900"/>
              <a:ext cx="0" cy="465273"/>
            </a:xfrm>
            <a:prstGeom prst="straightConnector1">
              <a:avLst/>
            </a:prstGeom>
            <a:noFill/>
            <a:ln cap="flat" cmpd="sng" w="44450">
              <a:solidFill>
                <a:schemeClr val="lt1"/>
              </a:solidFill>
              <a:prstDash val="dash"/>
              <a:miter lim="8000"/>
              <a:headEnd len="sm" w="sm" type="none"/>
              <a:tailEnd len="sm" w="sm" type="none"/>
            </a:ln>
          </p:spPr>
        </p:cxnSp>
        <p:cxnSp>
          <p:nvCxnSpPr>
            <p:cNvPr id="3560" name="Google Shape;3560;p57"/>
            <p:cNvCxnSpPr/>
            <p:nvPr/>
          </p:nvCxnSpPr>
          <p:spPr>
            <a:xfrm>
              <a:off x="5628589" y="1936750"/>
              <a:ext cx="0" cy="476854"/>
            </a:xfrm>
            <a:prstGeom prst="straightConnector1">
              <a:avLst/>
            </a:prstGeom>
            <a:noFill/>
            <a:ln cap="flat" cmpd="sng" w="15875">
              <a:solidFill>
                <a:srgbClr val="0000A8"/>
              </a:solidFill>
              <a:prstDash val="solid"/>
              <a:miter lim="8000"/>
              <a:headEnd len="sm" w="sm" type="none"/>
              <a:tailEnd len="sm" w="sm" type="none"/>
            </a:ln>
          </p:spPr>
        </p:cxnSp>
      </p:grpSp>
      <p:sp>
        <p:nvSpPr>
          <p:cNvPr id="3561" name="Google Shape;3561;p57"/>
          <p:cNvSpPr/>
          <p:nvPr/>
        </p:nvSpPr>
        <p:spPr>
          <a:xfrm>
            <a:off x="9614553" y="1295348"/>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562" name="Google Shape;3562;p57"/>
          <p:cNvSpPr txBox="1"/>
          <p:nvPr/>
        </p:nvSpPr>
        <p:spPr>
          <a:xfrm>
            <a:off x="9500941" y="1364501"/>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3563" name="Google Shape;3563;p57"/>
          <p:cNvSpPr/>
          <p:nvPr/>
        </p:nvSpPr>
        <p:spPr>
          <a:xfrm>
            <a:off x="9352808" y="3191214"/>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564" name="Google Shape;3564;p57"/>
          <p:cNvSpPr txBox="1"/>
          <p:nvPr/>
        </p:nvSpPr>
        <p:spPr>
          <a:xfrm>
            <a:off x="10991507" y="4191243"/>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b="0" i="0" lang="en-US" sz="1050" u="none" cap="none" strike="noStrike">
                <a:solidFill>
                  <a:srgbClr val="000000"/>
                </a:solidFill>
                <a:latin typeface="Calibri"/>
                <a:ea typeface="Calibri"/>
                <a:cs typeface="Calibri"/>
                <a:sym typeface="Calibri"/>
              </a:rPr>
              <a:t>network</a:t>
            </a:r>
            <a:endParaRPr/>
          </a:p>
        </p:txBody>
      </p:sp>
      <p:cxnSp>
        <p:nvCxnSpPr>
          <p:cNvPr id="3565" name="Google Shape;3565;p57"/>
          <p:cNvCxnSpPr/>
          <p:nvPr/>
        </p:nvCxnSpPr>
        <p:spPr>
          <a:xfrm rot="10800000">
            <a:off x="10633660" y="3093431"/>
            <a:ext cx="412964" cy="63712"/>
          </a:xfrm>
          <a:prstGeom prst="straightConnector1">
            <a:avLst/>
          </a:prstGeom>
          <a:noFill/>
          <a:ln cap="flat" cmpd="sng" w="9525">
            <a:solidFill>
              <a:schemeClr val="dk1"/>
            </a:solidFill>
            <a:prstDash val="solid"/>
            <a:miter lim="8000"/>
            <a:headEnd len="sm" w="sm" type="none"/>
            <a:tailEnd len="sm" w="sm" type="none"/>
          </a:ln>
        </p:spPr>
      </p:cxnSp>
      <p:cxnSp>
        <p:nvCxnSpPr>
          <p:cNvPr id="3566" name="Google Shape;3566;p57"/>
          <p:cNvCxnSpPr/>
          <p:nvPr/>
        </p:nvCxnSpPr>
        <p:spPr>
          <a:xfrm rot="10800000">
            <a:off x="10734575" y="3153990"/>
            <a:ext cx="345866" cy="738975"/>
          </a:xfrm>
          <a:prstGeom prst="straightConnector1">
            <a:avLst/>
          </a:prstGeom>
          <a:noFill/>
          <a:ln cap="flat" cmpd="sng" w="9525">
            <a:solidFill>
              <a:schemeClr val="dk1"/>
            </a:solidFill>
            <a:prstDash val="solid"/>
            <a:miter lim="8000"/>
            <a:headEnd len="sm" w="sm" type="none"/>
            <a:tailEnd len="sm" w="sm" type="none"/>
          </a:ln>
        </p:spPr>
      </p:cxnSp>
      <p:cxnSp>
        <p:nvCxnSpPr>
          <p:cNvPr id="3567" name="Google Shape;3567;p57"/>
          <p:cNvCxnSpPr/>
          <p:nvPr/>
        </p:nvCxnSpPr>
        <p:spPr>
          <a:xfrm flipH="1" rot="10800000">
            <a:off x="10710637" y="3146727"/>
            <a:ext cx="335987" cy="395340"/>
          </a:xfrm>
          <a:prstGeom prst="straightConnector1">
            <a:avLst/>
          </a:prstGeom>
          <a:noFill/>
          <a:ln cap="flat" cmpd="sng" w="9525">
            <a:solidFill>
              <a:schemeClr val="dk1"/>
            </a:solidFill>
            <a:prstDash val="solid"/>
            <a:miter lim="8000"/>
            <a:headEnd len="sm" w="sm" type="none"/>
            <a:tailEnd len="sm" w="sm" type="none"/>
          </a:ln>
        </p:spPr>
      </p:cxnSp>
      <p:cxnSp>
        <p:nvCxnSpPr>
          <p:cNvPr id="3568" name="Google Shape;3568;p57"/>
          <p:cNvCxnSpPr/>
          <p:nvPr/>
        </p:nvCxnSpPr>
        <p:spPr>
          <a:xfrm rot="10800000">
            <a:off x="10644514" y="3108202"/>
            <a:ext cx="1" cy="485748"/>
          </a:xfrm>
          <a:prstGeom prst="straightConnector1">
            <a:avLst/>
          </a:prstGeom>
          <a:noFill/>
          <a:ln cap="flat" cmpd="sng" w="9525">
            <a:solidFill>
              <a:schemeClr val="dk1"/>
            </a:solidFill>
            <a:prstDash val="solid"/>
            <a:miter lim="8000"/>
            <a:headEnd len="sm" w="sm" type="none"/>
            <a:tailEnd len="sm" w="sm" type="none"/>
          </a:ln>
        </p:spPr>
      </p:cxnSp>
      <p:cxnSp>
        <p:nvCxnSpPr>
          <p:cNvPr id="3569" name="Google Shape;3569;p57"/>
          <p:cNvCxnSpPr/>
          <p:nvPr/>
        </p:nvCxnSpPr>
        <p:spPr>
          <a:xfrm rot="10800000">
            <a:off x="10624360" y="3584948"/>
            <a:ext cx="508543" cy="348647"/>
          </a:xfrm>
          <a:prstGeom prst="straightConnector1">
            <a:avLst/>
          </a:prstGeom>
          <a:noFill/>
          <a:ln cap="flat" cmpd="sng" w="9525">
            <a:solidFill>
              <a:schemeClr val="dk1"/>
            </a:solidFill>
            <a:prstDash val="solid"/>
            <a:miter lim="8000"/>
            <a:headEnd len="sm" w="sm" type="none"/>
            <a:tailEnd len="sm" w="sm" type="none"/>
          </a:ln>
        </p:spPr>
      </p:cxnSp>
      <p:cxnSp>
        <p:nvCxnSpPr>
          <p:cNvPr id="3570" name="Google Shape;3570;p57"/>
          <p:cNvCxnSpPr/>
          <p:nvPr/>
        </p:nvCxnSpPr>
        <p:spPr>
          <a:xfrm rot="10800000">
            <a:off x="9968935" y="3601048"/>
            <a:ext cx="655425" cy="0"/>
          </a:xfrm>
          <a:prstGeom prst="straightConnector1">
            <a:avLst/>
          </a:prstGeom>
          <a:noFill/>
          <a:ln cap="flat" cmpd="sng" w="9525">
            <a:solidFill>
              <a:schemeClr val="dk1"/>
            </a:solidFill>
            <a:prstDash val="solid"/>
            <a:miter lim="8000"/>
            <a:headEnd len="sm" w="sm" type="none"/>
            <a:tailEnd len="sm" w="sm" type="none"/>
          </a:ln>
        </p:spPr>
      </p:cxnSp>
      <p:cxnSp>
        <p:nvCxnSpPr>
          <p:cNvPr id="3571" name="Google Shape;3571;p57"/>
          <p:cNvCxnSpPr/>
          <p:nvPr/>
        </p:nvCxnSpPr>
        <p:spPr>
          <a:xfrm rot="10800000">
            <a:off x="9293356" y="3601048"/>
            <a:ext cx="655425" cy="0"/>
          </a:xfrm>
          <a:prstGeom prst="straightConnector1">
            <a:avLst/>
          </a:prstGeom>
          <a:noFill/>
          <a:ln cap="flat" cmpd="sng" w="9525">
            <a:solidFill>
              <a:schemeClr val="dk1"/>
            </a:solidFill>
            <a:prstDash val="solid"/>
            <a:miter lim="8000"/>
            <a:headEnd len="sm" w="sm" type="none"/>
            <a:tailEnd len="sm" w="sm" type="none"/>
          </a:ln>
        </p:spPr>
      </p:cxnSp>
      <p:cxnSp>
        <p:nvCxnSpPr>
          <p:cNvPr id="3572" name="Google Shape;3572;p57"/>
          <p:cNvCxnSpPr/>
          <p:nvPr/>
        </p:nvCxnSpPr>
        <p:spPr>
          <a:xfrm flipH="1">
            <a:off x="9350608" y="3020978"/>
            <a:ext cx="382424" cy="517050"/>
          </a:xfrm>
          <a:prstGeom prst="straightConnector1">
            <a:avLst/>
          </a:prstGeom>
          <a:noFill/>
          <a:ln cap="flat" cmpd="sng" w="9525">
            <a:solidFill>
              <a:schemeClr val="dk1"/>
            </a:solidFill>
            <a:prstDash val="solid"/>
            <a:miter lim="8000"/>
            <a:headEnd len="sm" w="sm" type="none"/>
            <a:tailEnd len="sm" w="sm" type="none"/>
          </a:ln>
        </p:spPr>
      </p:cxnSp>
      <p:cxnSp>
        <p:nvCxnSpPr>
          <p:cNvPr id="3573" name="Google Shape;3573;p57"/>
          <p:cNvCxnSpPr/>
          <p:nvPr/>
        </p:nvCxnSpPr>
        <p:spPr>
          <a:xfrm>
            <a:off x="9806809" y="3020978"/>
            <a:ext cx="0" cy="540294"/>
          </a:xfrm>
          <a:prstGeom prst="straightConnector1">
            <a:avLst/>
          </a:prstGeom>
          <a:noFill/>
          <a:ln cap="flat" cmpd="sng" w="9525">
            <a:solidFill>
              <a:schemeClr val="dk1"/>
            </a:solidFill>
            <a:prstDash val="solid"/>
            <a:miter lim="8000"/>
            <a:headEnd len="sm" w="sm" type="none"/>
            <a:tailEnd len="sm" w="sm" type="none"/>
          </a:ln>
        </p:spPr>
      </p:cxnSp>
      <p:cxnSp>
        <p:nvCxnSpPr>
          <p:cNvPr id="3574" name="Google Shape;3574;p57"/>
          <p:cNvCxnSpPr/>
          <p:nvPr/>
        </p:nvCxnSpPr>
        <p:spPr>
          <a:xfrm>
            <a:off x="10211408" y="2267998"/>
            <a:ext cx="488174" cy="839333"/>
          </a:xfrm>
          <a:prstGeom prst="straightConnector1">
            <a:avLst/>
          </a:prstGeom>
          <a:noFill/>
          <a:ln cap="flat" cmpd="sng" w="9525">
            <a:solidFill>
              <a:schemeClr val="dk1"/>
            </a:solidFill>
            <a:prstDash val="solid"/>
            <a:miter lim="8000"/>
            <a:headEnd len="sm" w="sm" type="none"/>
            <a:tailEnd len="sm" w="sm" type="none"/>
          </a:ln>
        </p:spPr>
      </p:cxnSp>
      <p:cxnSp>
        <p:nvCxnSpPr>
          <p:cNvPr id="3575" name="Google Shape;3575;p57"/>
          <p:cNvCxnSpPr/>
          <p:nvPr/>
        </p:nvCxnSpPr>
        <p:spPr>
          <a:xfrm flipH="1">
            <a:off x="9872459" y="2208319"/>
            <a:ext cx="380432" cy="694807"/>
          </a:xfrm>
          <a:prstGeom prst="straightConnector1">
            <a:avLst/>
          </a:prstGeom>
          <a:noFill/>
          <a:ln cap="flat" cmpd="sng" w="12700">
            <a:solidFill>
              <a:schemeClr val="dk1"/>
            </a:solidFill>
            <a:prstDash val="solid"/>
            <a:miter lim="8000"/>
            <a:headEnd len="sm" w="sm" type="none"/>
            <a:tailEnd len="sm" w="sm" type="none"/>
          </a:ln>
        </p:spPr>
      </p:cxnSp>
      <p:grpSp>
        <p:nvGrpSpPr>
          <p:cNvPr id="3576" name="Google Shape;3576;p57"/>
          <p:cNvGrpSpPr/>
          <p:nvPr/>
        </p:nvGrpSpPr>
        <p:grpSpPr>
          <a:xfrm>
            <a:off x="7635978" y="1640631"/>
            <a:ext cx="3578867" cy="3640284"/>
            <a:chOff x="7562238" y="2127325"/>
            <a:chExt cx="3578867" cy="3640284"/>
          </a:xfrm>
        </p:grpSpPr>
        <p:grpSp>
          <p:nvGrpSpPr>
            <p:cNvPr id="3577" name="Google Shape;3577;p57"/>
            <p:cNvGrpSpPr/>
            <p:nvPr/>
          </p:nvGrpSpPr>
          <p:grpSpPr>
            <a:xfrm>
              <a:off x="7857253" y="2127325"/>
              <a:ext cx="3283852" cy="3640284"/>
              <a:chOff x="7881336" y="2104198"/>
              <a:chExt cx="3283852" cy="3640284"/>
            </a:xfrm>
          </p:grpSpPr>
          <p:cxnSp>
            <p:nvCxnSpPr>
              <p:cNvPr id="3578" name="Google Shape;3578;p57"/>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3579" name="Google Shape;3579;p57"/>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3580" name="Google Shape;3580;p57"/>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3581" name="Google Shape;3581;p57"/>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3582" name="Google Shape;3582;p57"/>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3583" name="Google Shape;3583;p57"/>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3584" name="Google Shape;3584;p57"/>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3585" name="Google Shape;3585;p57"/>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3586" name="Google Shape;3586;p57"/>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3587" name="Google Shape;3587;p57"/>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3588" name="Google Shape;3588;p57"/>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3589" name="Google Shape;3589;p57"/>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3590" name="Google Shape;3590;p57"/>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3591" name="Google Shape;3591;p57"/>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3592" name="Google Shape;3592;p57"/>
              <p:cNvCxnSpPr/>
              <p:nvPr/>
            </p:nvCxnSpPr>
            <p:spPr>
              <a:xfrm flipH="1">
                <a:off x="10124718" y="2146305"/>
                <a:ext cx="761467" cy="577355"/>
              </a:xfrm>
              <a:prstGeom prst="straightConnector1">
                <a:avLst/>
              </a:prstGeom>
              <a:noFill/>
              <a:ln cap="flat" cmpd="sng" w="12700">
                <a:solidFill>
                  <a:schemeClr val="dk1"/>
                </a:solidFill>
                <a:prstDash val="solid"/>
                <a:miter lim="8000"/>
                <a:headEnd len="sm" w="sm" type="none"/>
                <a:tailEnd len="sm" w="sm" type="none"/>
              </a:ln>
            </p:spPr>
          </p:cxnSp>
          <p:cxnSp>
            <p:nvCxnSpPr>
              <p:cNvPr id="3593" name="Google Shape;3593;p57"/>
              <p:cNvCxnSpPr/>
              <p:nvPr/>
            </p:nvCxnSpPr>
            <p:spPr>
              <a:xfrm flipH="1">
                <a:off x="10124718" y="2245186"/>
                <a:ext cx="3970" cy="518461"/>
              </a:xfrm>
              <a:prstGeom prst="straightConnector1">
                <a:avLst/>
              </a:prstGeom>
              <a:noFill/>
              <a:ln cap="flat" cmpd="sng" w="12700">
                <a:solidFill>
                  <a:schemeClr val="dk1"/>
                </a:solidFill>
                <a:prstDash val="solid"/>
                <a:miter lim="8000"/>
                <a:headEnd len="sm" w="sm" type="none"/>
                <a:tailEnd len="sm" w="sm" type="none"/>
              </a:ln>
            </p:spPr>
          </p:cxnSp>
          <p:cxnSp>
            <p:nvCxnSpPr>
              <p:cNvPr id="3594" name="Google Shape;3594;p57"/>
              <p:cNvCxnSpPr/>
              <p:nvPr/>
            </p:nvCxnSpPr>
            <p:spPr>
              <a:xfrm flipH="1">
                <a:off x="10696218" y="2177379"/>
                <a:ext cx="149360" cy="518461"/>
              </a:xfrm>
              <a:prstGeom prst="straightConnector1">
                <a:avLst/>
              </a:prstGeom>
              <a:noFill/>
              <a:ln cap="flat" cmpd="sng" w="12700">
                <a:solidFill>
                  <a:schemeClr val="dk1"/>
                </a:solidFill>
                <a:prstDash val="solid"/>
                <a:miter lim="8000"/>
                <a:headEnd len="sm" w="sm" type="none"/>
                <a:tailEnd len="sm" w="sm" type="none"/>
              </a:ln>
            </p:spPr>
          </p:cxnSp>
          <p:cxnSp>
            <p:nvCxnSpPr>
              <p:cNvPr id="3595" name="Google Shape;3595;p57"/>
              <p:cNvCxnSpPr/>
              <p:nvPr/>
            </p:nvCxnSpPr>
            <p:spPr>
              <a:xfrm flipH="1">
                <a:off x="10166249" y="2695840"/>
                <a:ext cx="574283" cy="27820"/>
              </a:xfrm>
              <a:prstGeom prst="straightConnector1">
                <a:avLst/>
              </a:prstGeom>
              <a:noFill/>
              <a:ln cap="flat" cmpd="sng" w="12700">
                <a:solidFill>
                  <a:schemeClr val="dk1"/>
                </a:solidFill>
                <a:prstDash val="solid"/>
                <a:miter lim="8000"/>
                <a:headEnd len="sm" w="sm" type="none"/>
                <a:tailEnd len="sm" w="sm" type="none"/>
              </a:ln>
            </p:spPr>
          </p:cxnSp>
          <p:cxnSp>
            <p:nvCxnSpPr>
              <p:cNvPr id="3596" name="Google Shape;3596;p57"/>
              <p:cNvCxnSpPr/>
              <p:nvPr/>
            </p:nvCxnSpPr>
            <p:spPr>
              <a:xfrm flipH="1">
                <a:off x="10093625" y="2146305"/>
                <a:ext cx="788589" cy="98881"/>
              </a:xfrm>
              <a:prstGeom prst="straightConnector1">
                <a:avLst/>
              </a:prstGeom>
              <a:noFill/>
              <a:ln cap="flat" cmpd="sng" w="12700">
                <a:solidFill>
                  <a:schemeClr val="dk1"/>
                </a:solidFill>
                <a:prstDash val="solid"/>
                <a:miter lim="8000"/>
                <a:headEnd len="sm" w="sm" type="none"/>
                <a:tailEnd len="sm" w="sm" type="none"/>
              </a:ln>
            </p:spPr>
          </p:cxnSp>
          <p:cxnSp>
            <p:nvCxnSpPr>
              <p:cNvPr id="3597" name="Google Shape;3597;p57"/>
              <p:cNvCxnSpPr/>
              <p:nvPr/>
            </p:nvCxnSpPr>
            <p:spPr>
              <a:xfrm flipH="1">
                <a:off x="10886186" y="2104198"/>
                <a:ext cx="279002" cy="42107"/>
              </a:xfrm>
              <a:prstGeom prst="straightConnector1">
                <a:avLst/>
              </a:prstGeom>
              <a:noFill/>
              <a:ln cap="flat" cmpd="sng" w="12700">
                <a:solidFill>
                  <a:schemeClr val="dk1"/>
                </a:solidFill>
                <a:prstDash val="solid"/>
                <a:miter lim="8000"/>
                <a:headEnd len="sm" w="sm" type="none"/>
                <a:tailEnd len="sm" w="sm" type="none"/>
              </a:ln>
            </p:spPr>
          </p:cxnSp>
          <p:cxnSp>
            <p:nvCxnSpPr>
              <p:cNvPr id="3598" name="Google Shape;3598;p57"/>
              <p:cNvCxnSpPr/>
              <p:nvPr/>
            </p:nvCxnSpPr>
            <p:spPr>
              <a:xfrm rot="10800000">
                <a:off x="10706077" y="2695840"/>
                <a:ext cx="353541" cy="67807"/>
              </a:xfrm>
              <a:prstGeom prst="straightConnector1">
                <a:avLst/>
              </a:prstGeom>
              <a:noFill/>
              <a:ln cap="flat" cmpd="sng" w="12700">
                <a:solidFill>
                  <a:schemeClr val="dk1"/>
                </a:solidFill>
                <a:prstDash val="solid"/>
                <a:miter lim="8000"/>
                <a:headEnd len="sm" w="sm" type="none"/>
                <a:tailEnd len="sm" w="sm" type="none"/>
              </a:ln>
            </p:spPr>
          </p:cxnSp>
          <p:cxnSp>
            <p:nvCxnSpPr>
              <p:cNvPr id="3599" name="Google Shape;3599;p57"/>
              <p:cNvCxnSpPr/>
              <p:nvPr/>
            </p:nvCxnSpPr>
            <p:spPr>
              <a:xfrm flipH="1">
                <a:off x="8793306" y="2245186"/>
                <a:ext cx="1300319" cy="606622"/>
              </a:xfrm>
              <a:prstGeom prst="straightConnector1">
                <a:avLst/>
              </a:prstGeom>
              <a:noFill/>
              <a:ln cap="flat" cmpd="sng" w="12700">
                <a:solidFill>
                  <a:schemeClr val="dk1"/>
                </a:solidFill>
                <a:prstDash val="solid"/>
                <a:miter lim="8000"/>
                <a:headEnd len="sm" w="sm" type="none"/>
                <a:tailEnd len="sm" w="sm" type="none"/>
              </a:ln>
            </p:spPr>
          </p:cxnSp>
          <p:cxnSp>
            <p:nvCxnSpPr>
              <p:cNvPr id="3600" name="Google Shape;3600;p57"/>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3601" name="Google Shape;3601;p57"/>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3602" name="Google Shape;3602;p57"/>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3603" name="Google Shape;3603;p57"/>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3604" name="Google Shape;3604;p57"/>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3605" name="Google Shape;3605;p57"/>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3606" name="Google Shape;3606;p57"/>
          <p:cNvCxnSpPr/>
          <p:nvPr/>
        </p:nvCxnSpPr>
        <p:spPr>
          <a:xfrm>
            <a:off x="8281600" y="2213665"/>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3607" name="Google Shape;3607;p57"/>
          <p:cNvGrpSpPr/>
          <p:nvPr/>
        </p:nvGrpSpPr>
        <p:grpSpPr>
          <a:xfrm>
            <a:off x="8124438" y="1822682"/>
            <a:ext cx="298450" cy="464008"/>
            <a:chOff x="3130" y="3288"/>
            <a:chExt cx="410" cy="742"/>
          </a:xfrm>
        </p:grpSpPr>
        <p:cxnSp>
          <p:nvCxnSpPr>
            <p:cNvPr id="3608" name="Google Shape;3608;p57"/>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3609" name="Google Shape;3609;p57"/>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3610" name="Google Shape;3610;p57"/>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3611" name="Google Shape;3611;p57"/>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3612" name="Google Shape;3612;p57"/>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3613" name="Google Shape;3613;p57"/>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3614" name="Google Shape;3614;p57"/>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3615" name="Google Shape;3615;p57"/>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3616" name="Google Shape;3616;p57"/>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3617" name="Google Shape;3617;p57"/>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3618" name="Google Shape;3618;p57"/>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3619" name="Google Shape;3619;p57"/>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3620" name="Google Shape;3620;p57"/>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3621" name="Google Shape;3621;p57"/>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3622" name="Google Shape;3622;p57"/>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3623" name="Google Shape;3623;p57"/>
          <p:cNvPicPr preferRelativeResize="0"/>
          <p:nvPr/>
        </p:nvPicPr>
        <p:blipFill rotWithShape="1">
          <a:blip r:embed="rId6">
            <a:alphaModFix/>
          </a:blip>
          <a:srcRect b="0" l="0" r="0" t="0"/>
          <a:stretch/>
        </p:blipFill>
        <p:spPr>
          <a:xfrm>
            <a:off x="7687622" y="3375205"/>
            <a:ext cx="370169" cy="306751"/>
          </a:xfrm>
          <a:prstGeom prst="rect">
            <a:avLst/>
          </a:prstGeom>
          <a:noFill/>
          <a:ln>
            <a:noFill/>
          </a:ln>
        </p:spPr>
      </p:pic>
      <p:pic>
        <p:nvPicPr>
          <p:cNvPr descr="access_point_stylized_small" id="3624" name="Google Shape;3624;p57"/>
          <p:cNvPicPr preferRelativeResize="0"/>
          <p:nvPr/>
        </p:nvPicPr>
        <p:blipFill rotWithShape="1">
          <a:blip r:embed="rId6">
            <a:alphaModFix/>
          </a:blip>
          <a:srcRect b="0" l="0" r="0" t="0"/>
          <a:stretch/>
        </p:blipFill>
        <p:spPr>
          <a:xfrm>
            <a:off x="9364350" y="5037538"/>
            <a:ext cx="380935" cy="317464"/>
          </a:xfrm>
          <a:prstGeom prst="rect">
            <a:avLst/>
          </a:prstGeom>
          <a:noFill/>
          <a:ln>
            <a:noFill/>
          </a:ln>
        </p:spPr>
      </p:pic>
      <p:grpSp>
        <p:nvGrpSpPr>
          <p:cNvPr id="3625" name="Google Shape;3625;p57"/>
          <p:cNvGrpSpPr/>
          <p:nvPr/>
        </p:nvGrpSpPr>
        <p:grpSpPr>
          <a:xfrm>
            <a:off x="9923105" y="4852343"/>
            <a:ext cx="309740" cy="190838"/>
            <a:chOff x="3668110" y="2448910"/>
            <a:chExt cx="3794234" cy="2165130"/>
          </a:xfrm>
        </p:grpSpPr>
        <p:sp>
          <p:nvSpPr>
            <p:cNvPr id="3626" name="Google Shape;3626;p5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27" name="Google Shape;3627;p5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3628" name="Google Shape;3628;p57"/>
            <p:cNvGrpSpPr/>
            <p:nvPr/>
          </p:nvGrpSpPr>
          <p:grpSpPr>
            <a:xfrm>
              <a:off x="3941378" y="2603243"/>
              <a:ext cx="3202061" cy="1066110"/>
              <a:chOff x="7939341" y="3037317"/>
              <a:chExt cx="897649" cy="353919"/>
            </a:xfrm>
          </p:grpSpPr>
          <p:sp>
            <p:nvSpPr>
              <p:cNvPr id="3629" name="Google Shape;3629;p5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30" name="Google Shape;3630;p5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31" name="Google Shape;3631;p5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32" name="Google Shape;3632;p5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33" name="Google Shape;3633;p57"/>
          <p:cNvGrpSpPr/>
          <p:nvPr/>
        </p:nvGrpSpPr>
        <p:grpSpPr>
          <a:xfrm>
            <a:off x="8750359" y="4480726"/>
            <a:ext cx="393760" cy="218578"/>
            <a:chOff x="7493876" y="2774731"/>
            <a:chExt cx="1481958" cy="894622"/>
          </a:xfrm>
        </p:grpSpPr>
        <p:sp>
          <p:nvSpPr>
            <p:cNvPr id="3634" name="Google Shape;3634;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635" name="Google Shape;3635;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636" name="Google Shape;3636;p57"/>
            <p:cNvGrpSpPr/>
            <p:nvPr/>
          </p:nvGrpSpPr>
          <p:grpSpPr>
            <a:xfrm>
              <a:off x="7713663" y="2848339"/>
              <a:ext cx="1042107" cy="425543"/>
              <a:chOff x="7786941" y="2884917"/>
              <a:chExt cx="897649" cy="353919"/>
            </a:xfrm>
          </p:grpSpPr>
          <p:sp>
            <p:nvSpPr>
              <p:cNvPr id="3637" name="Google Shape;3637;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38" name="Google Shape;3638;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39" name="Google Shape;3639;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40" name="Google Shape;3640;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41" name="Google Shape;3641;p57"/>
          <p:cNvGrpSpPr/>
          <p:nvPr/>
        </p:nvGrpSpPr>
        <p:grpSpPr>
          <a:xfrm>
            <a:off x="8385260" y="4707739"/>
            <a:ext cx="309740" cy="190838"/>
            <a:chOff x="3668110" y="2448910"/>
            <a:chExt cx="3794234" cy="2165130"/>
          </a:xfrm>
        </p:grpSpPr>
        <p:sp>
          <p:nvSpPr>
            <p:cNvPr id="3642" name="Google Shape;3642;p5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43" name="Google Shape;3643;p5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3644" name="Google Shape;3644;p57"/>
            <p:cNvGrpSpPr/>
            <p:nvPr/>
          </p:nvGrpSpPr>
          <p:grpSpPr>
            <a:xfrm>
              <a:off x="3941378" y="2603243"/>
              <a:ext cx="3202061" cy="1066110"/>
              <a:chOff x="7939341" y="3037317"/>
              <a:chExt cx="897649" cy="353919"/>
            </a:xfrm>
          </p:grpSpPr>
          <p:sp>
            <p:nvSpPr>
              <p:cNvPr id="3645" name="Google Shape;3645;p5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46" name="Google Shape;3646;p5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47" name="Google Shape;3647;p5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48" name="Google Shape;3648;p5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49" name="Google Shape;3649;p57"/>
          <p:cNvGrpSpPr/>
          <p:nvPr/>
        </p:nvGrpSpPr>
        <p:grpSpPr>
          <a:xfrm>
            <a:off x="8513567" y="2325615"/>
            <a:ext cx="353678" cy="168275"/>
            <a:chOff x="7493876" y="2774731"/>
            <a:chExt cx="1481958" cy="894622"/>
          </a:xfrm>
        </p:grpSpPr>
        <p:sp>
          <p:nvSpPr>
            <p:cNvPr id="3650" name="Google Shape;3650;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651" name="Google Shape;3651;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652" name="Google Shape;3652;p57"/>
            <p:cNvGrpSpPr/>
            <p:nvPr/>
          </p:nvGrpSpPr>
          <p:grpSpPr>
            <a:xfrm>
              <a:off x="7713663" y="2848339"/>
              <a:ext cx="1042107" cy="425543"/>
              <a:chOff x="7786941" y="2884917"/>
              <a:chExt cx="897649" cy="353919"/>
            </a:xfrm>
          </p:grpSpPr>
          <p:sp>
            <p:nvSpPr>
              <p:cNvPr id="3653" name="Google Shape;3653;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54" name="Google Shape;3654;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55" name="Google Shape;3655;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56" name="Google Shape;3656;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57" name="Google Shape;3657;p57"/>
          <p:cNvGrpSpPr/>
          <p:nvPr/>
        </p:nvGrpSpPr>
        <p:grpSpPr>
          <a:xfrm>
            <a:off x="10957825" y="3114671"/>
            <a:ext cx="170989" cy="97052"/>
            <a:chOff x="7493876" y="2774731"/>
            <a:chExt cx="1481958" cy="894622"/>
          </a:xfrm>
        </p:grpSpPr>
        <p:sp>
          <p:nvSpPr>
            <p:cNvPr id="3658" name="Google Shape;3658;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659" name="Google Shape;3659;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660" name="Google Shape;3660;p57"/>
            <p:cNvGrpSpPr/>
            <p:nvPr/>
          </p:nvGrpSpPr>
          <p:grpSpPr>
            <a:xfrm>
              <a:off x="7713663" y="2848339"/>
              <a:ext cx="1042107" cy="425543"/>
              <a:chOff x="7786941" y="2884917"/>
              <a:chExt cx="897649" cy="353919"/>
            </a:xfrm>
          </p:grpSpPr>
          <p:sp>
            <p:nvSpPr>
              <p:cNvPr id="3661" name="Google Shape;3661;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62" name="Google Shape;3662;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63" name="Google Shape;3663;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64" name="Google Shape;3664;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65" name="Google Shape;3665;p57"/>
          <p:cNvGrpSpPr/>
          <p:nvPr/>
        </p:nvGrpSpPr>
        <p:grpSpPr>
          <a:xfrm>
            <a:off x="10484349" y="3009444"/>
            <a:ext cx="353678" cy="198344"/>
            <a:chOff x="7493876" y="2774731"/>
            <a:chExt cx="1481958" cy="894622"/>
          </a:xfrm>
        </p:grpSpPr>
        <p:sp>
          <p:nvSpPr>
            <p:cNvPr id="3666" name="Google Shape;3666;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667" name="Google Shape;3667;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668" name="Google Shape;3668;p57"/>
            <p:cNvGrpSpPr/>
            <p:nvPr/>
          </p:nvGrpSpPr>
          <p:grpSpPr>
            <a:xfrm>
              <a:off x="7713663" y="2848339"/>
              <a:ext cx="1042107" cy="425543"/>
              <a:chOff x="7786941" y="2884917"/>
              <a:chExt cx="897649" cy="353919"/>
            </a:xfrm>
          </p:grpSpPr>
          <p:sp>
            <p:nvSpPr>
              <p:cNvPr id="3669" name="Google Shape;3669;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70" name="Google Shape;3670;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71" name="Google Shape;3671;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72" name="Google Shape;3672;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73" name="Google Shape;3673;p57"/>
          <p:cNvGrpSpPr/>
          <p:nvPr/>
        </p:nvGrpSpPr>
        <p:grpSpPr>
          <a:xfrm>
            <a:off x="10022464" y="1715598"/>
            <a:ext cx="353678" cy="198344"/>
            <a:chOff x="7493876" y="2774731"/>
            <a:chExt cx="1481958" cy="894622"/>
          </a:xfrm>
        </p:grpSpPr>
        <p:sp>
          <p:nvSpPr>
            <p:cNvPr id="3674" name="Google Shape;3674;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675" name="Google Shape;3675;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676" name="Google Shape;3676;p57"/>
            <p:cNvGrpSpPr/>
            <p:nvPr/>
          </p:nvGrpSpPr>
          <p:grpSpPr>
            <a:xfrm>
              <a:off x="7713663" y="2848339"/>
              <a:ext cx="1042107" cy="425543"/>
              <a:chOff x="7786941" y="2884917"/>
              <a:chExt cx="897649" cy="353919"/>
            </a:xfrm>
          </p:grpSpPr>
          <p:sp>
            <p:nvSpPr>
              <p:cNvPr id="3677" name="Google Shape;3677;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78" name="Google Shape;3678;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79" name="Google Shape;3679;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80" name="Google Shape;3680;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81" name="Google Shape;3681;p57"/>
          <p:cNvGrpSpPr/>
          <p:nvPr/>
        </p:nvGrpSpPr>
        <p:grpSpPr>
          <a:xfrm>
            <a:off x="10600954" y="2126673"/>
            <a:ext cx="353678" cy="198344"/>
            <a:chOff x="7493876" y="2774731"/>
            <a:chExt cx="1481958" cy="894622"/>
          </a:xfrm>
        </p:grpSpPr>
        <p:sp>
          <p:nvSpPr>
            <p:cNvPr id="3682" name="Google Shape;3682;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683" name="Google Shape;3683;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684" name="Google Shape;3684;p57"/>
            <p:cNvGrpSpPr/>
            <p:nvPr/>
          </p:nvGrpSpPr>
          <p:grpSpPr>
            <a:xfrm>
              <a:off x="7713663" y="2848339"/>
              <a:ext cx="1042107" cy="425543"/>
              <a:chOff x="7786941" y="2884917"/>
              <a:chExt cx="897649" cy="353919"/>
            </a:xfrm>
          </p:grpSpPr>
          <p:sp>
            <p:nvSpPr>
              <p:cNvPr id="3685" name="Google Shape;3685;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86" name="Google Shape;3686;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87" name="Google Shape;3687;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88" name="Google Shape;3688;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89" name="Google Shape;3689;p57"/>
          <p:cNvGrpSpPr/>
          <p:nvPr/>
        </p:nvGrpSpPr>
        <p:grpSpPr>
          <a:xfrm>
            <a:off x="10717565" y="1621269"/>
            <a:ext cx="353678" cy="198344"/>
            <a:chOff x="7493876" y="2774731"/>
            <a:chExt cx="1481958" cy="894622"/>
          </a:xfrm>
        </p:grpSpPr>
        <p:sp>
          <p:nvSpPr>
            <p:cNvPr id="3690" name="Google Shape;3690;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691" name="Google Shape;3691;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692" name="Google Shape;3692;p57"/>
            <p:cNvGrpSpPr/>
            <p:nvPr/>
          </p:nvGrpSpPr>
          <p:grpSpPr>
            <a:xfrm>
              <a:off x="7713663" y="2848339"/>
              <a:ext cx="1042107" cy="425543"/>
              <a:chOff x="7786941" y="2884917"/>
              <a:chExt cx="897649" cy="353919"/>
            </a:xfrm>
          </p:grpSpPr>
          <p:sp>
            <p:nvSpPr>
              <p:cNvPr id="3693" name="Google Shape;3693;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94" name="Google Shape;3694;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95" name="Google Shape;3695;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96" name="Google Shape;3696;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697" name="Google Shape;3697;p57"/>
          <p:cNvGrpSpPr/>
          <p:nvPr/>
        </p:nvGrpSpPr>
        <p:grpSpPr>
          <a:xfrm>
            <a:off x="10053866" y="2174871"/>
            <a:ext cx="353678" cy="198344"/>
            <a:chOff x="7493876" y="2774731"/>
            <a:chExt cx="1481958" cy="894622"/>
          </a:xfrm>
        </p:grpSpPr>
        <p:sp>
          <p:nvSpPr>
            <p:cNvPr id="3698" name="Google Shape;3698;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699" name="Google Shape;3699;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700" name="Google Shape;3700;p57"/>
            <p:cNvGrpSpPr/>
            <p:nvPr/>
          </p:nvGrpSpPr>
          <p:grpSpPr>
            <a:xfrm>
              <a:off x="7713663" y="2848339"/>
              <a:ext cx="1042107" cy="425543"/>
              <a:chOff x="7786941" y="2884917"/>
              <a:chExt cx="897649" cy="353919"/>
            </a:xfrm>
          </p:grpSpPr>
          <p:sp>
            <p:nvSpPr>
              <p:cNvPr id="3701" name="Google Shape;3701;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02" name="Google Shape;3702;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03" name="Google Shape;3703;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04" name="Google Shape;3704;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705" name="Google Shape;3705;p57"/>
          <p:cNvGrpSpPr/>
          <p:nvPr/>
        </p:nvGrpSpPr>
        <p:grpSpPr>
          <a:xfrm>
            <a:off x="9570878" y="2907338"/>
            <a:ext cx="367224" cy="240304"/>
            <a:chOff x="7493876" y="2774731"/>
            <a:chExt cx="1481958" cy="894622"/>
          </a:xfrm>
        </p:grpSpPr>
        <p:sp>
          <p:nvSpPr>
            <p:cNvPr id="3706" name="Google Shape;3706;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707" name="Google Shape;3707;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708" name="Google Shape;3708;p57"/>
            <p:cNvGrpSpPr/>
            <p:nvPr/>
          </p:nvGrpSpPr>
          <p:grpSpPr>
            <a:xfrm>
              <a:off x="7713663" y="2848339"/>
              <a:ext cx="1042107" cy="425543"/>
              <a:chOff x="7786941" y="2884917"/>
              <a:chExt cx="897649" cy="353919"/>
            </a:xfrm>
          </p:grpSpPr>
          <p:sp>
            <p:nvSpPr>
              <p:cNvPr id="3709" name="Google Shape;3709;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10" name="Google Shape;3710;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11" name="Google Shape;3711;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12" name="Google Shape;3712;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713" name="Google Shape;3713;p57"/>
          <p:cNvGrpSpPr/>
          <p:nvPr/>
        </p:nvGrpSpPr>
        <p:grpSpPr>
          <a:xfrm>
            <a:off x="10448999" y="3505631"/>
            <a:ext cx="353678" cy="198344"/>
            <a:chOff x="7493876" y="2774731"/>
            <a:chExt cx="1481958" cy="894622"/>
          </a:xfrm>
        </p:grpSpPr>
        <p:sp>
          <p:nvSpPr>
            <p:cNvPr id="3714" name="Google Shape;3714;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715" name="Google Shape;3715;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716" name="Google Shape;3716;p57"/>
            <p:cNvGrpSpPr/>
            <p:nvPr/>
          </p:nvGrpSpPr>
          <p:grpSpPr>
            <a:xfrm>
              <a:off x="7713663" y="2848339"/>
              <a:ext cx="1042107" cy="425543"/>
              <a:chOff x="7786941" y="2884917"/>
              <a:chExt cx="897649" cy="353919"/>
            </a:xfrm>
          </p:grpSpPr>
          <p:sp>
            <p:nvSpPr>
              <p:cNvPr id="3717" name="Google Shape;3717;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18" name="Google Shape;3718;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19" name="Google Shape;3719;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20" name="Google Shape;3720;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721" name="Google Shape;3721;p57"/>
          <p:cNvGrpSpPr/>
          <p:nvPr/>
        </p:nvGrpSpPr>
        <p:grpSpPr>
          <a:xfrm>
            <a:off x="10999722" y="3882431"/>
            <a:ext cx="228295" cy="120400"/>
            <a:chOff x="7493876" y="2774731"/>
            <a:chExt cx="1481958" cy="894622"/>
          </a:xfrm>
        </p:grpSpPr>
        <p:sp>
          <p:nvSpPr>
            <p:cNvPr id="3722" name="Google Shape;3722;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723" name="Google Shape;3723;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724" name="Google Shape;3724;p57"/>
            <p:cNvGrpSpPr/>
            <p:nvPr/>
          </p:nvGrpSpPr>
          <p:grpSpPr>
            <a:xfrm>
              <a:off x="7713663" y="2848339"/>
              <a:ext cx="1042107" cy="425543"/>
              <a:chOff x="7786941" y="2884917"/>
              <a:chExt cx="897649" cy="353919"/>
            </a:xfrm>
          </p:grpSpPr>
          <p:sp>
            <p:nvSpPr>
              <p:cNvPr id="3725" name="Google Shape;3725;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26" name="Google Shape;3726;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27" name="Google Shape;3727;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28" name="Google Shape;3728;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729" name="Google Shape;3729;p57"/>
          <p:cNvGrpSpPr/>
          <p:nvPr/>
        </p:nvGrpSpPr>
        <p:grpSpPr>
          <a:xfrm>
            <a:off x="7512814" y="1869919"/>
            <a:ext cx="534987" cy="414882"/>
            <a:chOff x="7432700" y="2327293"/>
            <a:chExt cx="534987" cy="414882"/>
          </a:xfrm>
        </p:grpSpPr>
        <p:pic>
          <p:nvPicPr>
            <p:cNvPr descr="antenna_stylized" id="3730" name="Google Shape;3730;p57"/>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731" name="Google Shape;3731;p57"/>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732" name="Google Shape;3732;p57"/>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screen" id="3733" name="Google Shape;3733;p57"/>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734" name="Google Shape;3734;p57"/>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35" name="Google Shape;3735;p57"/>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36" name="Google Shape;3736;p57"/>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37" name="Google Shape;3737;p57"/>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38" name="Google Shape;3738;p57"/>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39" name="Google Shape;3739;p57"/>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740" name="Google Shape;3740;p57"/>
            <p:cNvGrpSpPr/>
            <p:nvPr/>
          </p:nvGrpSpPr>
          <p:grpSpPr>
            <a:xfrm>
              <a:off x="7594735" y="2642220"/>
              <a:ext cx="98740" cy="36846"/>
              <a:chOff x="1740" y="2642"/>
              <a:chExt cx="752" cy="327"/>
            </a:xfrm>
          </p:grpSpPr>
          <p:sp>
            <p:nvSpPr>
              <p:cNvPr id="3741" name="Google Shape;3741;p57"/>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42" name="Google Shape;3742;p57"/>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43" name="Google Shape;3743;p57"/>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44" name="Google Shape;3744;p57"/>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45" name="Google Shape;3745;p57"/>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46" name="Google Shape;3746;p57"/>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sp>
          <p:nvSpPr>
            <p:cNvPr id="3747" name="Google Shape;3747;p57"/>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48" name="Google Shape;3748;p57"/>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49" name="Google Shape;3749;p57"/>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50" name="Google Shape;3750;p57"/>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51" name="Google Shape;3751;p57"/>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52" name="Google Shape;3752;p57"/>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3753" name="Google Shape;3753;p57"/>
          <p:cNvGrpSpPr/>
          <p:nvPr/>
        </p:nvGrpSpPr>
        <p:grpSpPr>
          <a:xfrm>
            <a:off x="8711521" y="1833033"/>
            <a:ext cx="530702" cy="478009"/>
            <a:chOff x="8631407" y="2290407"/>
            <a:chExt cx="530702" cy="478009"/>
          </a:xfrm>
        </p:grpSpPr>
        <p:pic>
          <p:nvPicPr>
            <p:cNvPr descr="light2.png" id="3754" name="Google Shape;3754;p57"/>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3755" name="Google Shape;3755;p57"/>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3756" name="Google Shape;3756;p57"/>
          <p:cNvGrpSpPr/>
          <p:nvPr/>
        </p:nvGrpSpPr>
        <p:grpSpPr>
          <a:xfrm>
            <a:off x="8573279" y="1572430"/>
            <a:ext cx="849312" cy="226109"/>
            <a:chOff x="8493165" y="2029804"/>
            <a:chExt cx="849312" cy="226109"/>
          </a:xfrm>
        </p:grpSpPr>
        <p:pic>
          <p:nvPicPr>
            <p:cNvPr descr="car_icon_small" id="3757" name="Google Shape;3757;p57"/>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3758" name="Google Shape;3758;p57"/>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3759" name="Google Shape;3759;p57"/>
          <p:cNvGrpSpPr/>
          <p:nvPr/>
        </p:nvGrpSpPr>
        <p:grpSpPr>
          <a:xfrm>
            <a:off x="7567258" y="2838730"/>
            <a:ext cx="857739" cy="583764"/>
            <a:chOff x="7487144" y="3296104"/>
            <a:chExt cx="857739" cy="583764"/>
          </a:xfrm>
        </p:grpSpPr>
        <p:grpSp>
          <p:nvGrpSpPr>
            <p:cNvPr id="3760" name="Google Shape;3760;p57"/>
            <p:cNvGrpSpPr/>
            <p:nvPr/>
          </p:nvGrpSpPr>
          <p:grpSpPr>
            <a:xfrm>
              <a:off x="7487144" y="3389820"/>
              <a:ext cx="350807" cy="310034"/>
              <a:chOff x="7487144" y="3389820"/>
              <a:chExt cx="350807" cy="310034"/>
            </a:xfrm>
          </p:grpSpPr>
          <p:pic>
            <p:nvPicPr>
              <p:cNvPr descr="antenna_stylized" id="3761" name="Google Shape;3761;p57"/>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3762" name="Google Shape;3762;p57"/>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3763" name="Google Shape;3763;p57"/>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screen" id="3764" name="Google Shape;3764;p57"/>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3765" name="Google Shape;3765;p57"/>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66" name="Google Shape;3766;p57"/>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67" name="Google Shape;3767;p57"/>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68" name="Google Shape;3768;p57"/>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69" name="Google Shape;3769;p57"/>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70" name="Google Shape;3770;p57"/>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771" name="Google Shape;3771;p57"/>
              <p:cNvGrpSpPr/>
              <p:nvPr/>
            </p:nvGrpSpPr>
            <p:grpSpPr>
              <a:xfrm>
                <a:off x="7593395" y="3625649"/>
                <a:ext cx="64747" cy="27592"/>
                <a:chOff x="1740" y="2642"/>
                <a:chExt cx="752" cy="327"/>
              </a:xfrm>
            </p:grpSpPr>
            <p:sp>
              <p:nvSpPr>
                <p:cNvPr id="3772" name="Google Shape;3772;p57"/>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73" name="Google Shape;3773;p57"/>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74" name="Google Shape;3774;p57"/>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75" name="Google Shape;3775;p57"/>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76" name="Google Shape;3776;p57"/>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77" name="Google Shape;3777;p57"/>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sp>
            <p:nvSpPr>
              <p:cNvPr id="3778" name="Google Shape;3778;p57"/>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79" name="Google Shape;3779;p57"/>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80" name="Google Shape;3780;p57"/>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81" name="Google Shape;3781;p57"/>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82" name="Google Shape;3782;p57"/>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783" name="Google Shape;3783;p57"/>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3784" name="Google Shape;3784;p57"/>
            <p:cNvGrpSpPr/>
            <p:nvPr/>
          </p:nvGrpSpPr>
          <p:grpSpPr>
            <a:xfrm flipH="1">
              <a:off x="7985622" y="3537823"/>
              <a:ext cx="359261" cy="342045"/>
              <a:chOff x="2839" y="3501"/>
              <a:chExt cx="755" cy="803"/>
            </a:xfrm>
          </p:grpSpPr>
          <p:pic>
            <p:nvPicPr>
              <p:cNvPr descr="desktop_computer_stylized_medium" id="3785" name="Google Shape;3785;p57"/>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786" name="Google Shape;3786;p57"/>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3787" name="Google Shape;3787;p57"/>
            <p:cNvGrpSpPr/>
            <p:nvPr/>
          </p:nvGrpSpPr>
          <p:grpSpPr>
            <a:xfrm>
              <a:off x="7797061" y="3296104"/>
              <a:ext cx="347997" cy="396620"/>
              <a:chOff x="7797061" y="3296104"/>
              <a:chExt cx="347997" cy="396620"/>
            </a:xfrm>
          </p:grpSpPr>
          <p:pic>
            <p:nvPicPr>
              <p:cNvPr descr="fridge2.png" id="3788" name="Google Shape;3788;p57"/>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789" name="Google Shape;3789;p57"/>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790" name="Google Shape;3790;p57"/>
          <p:cNvGrpSpPr/>
          <p:nvPr/>
        </p:nvGrpSpPr>
        <p:grpSpPr>
          <a:xfrm>
            <a:off x="11138687" y="2941791"/>
            <a:ext cx="518448" cy="1212242"/>
            <a:chOff x="11058573" y="3399165"/>
            <a:chExt cx="518448" cy="1212242"/>
          </a:xfrm>
        </p:grpSpPr>
        <p:grpSp>
          <p:nvGrpSpPr>
            <p:cNvPr id="3791" name="Google Shape;3791;p57"/>
            <p:cNvGrpSpPr/>
            <p:nvPr/>
          </p:nvGrpSpPr>
          <p:grpSpPr>
            <a:xfrm>
              <a:off x="11087182" y="4159591"/>
              <a:ext cx="489839" cy="451816"/>
              <a:chOff x="5103720" y="2693365"/>
              <a:chExt cx="611650" cy="414788"/>
            </a:xfrm>
          </p:grpSpPr>
          <p:cxnSp>
            <p:nvCxnSpPr>
              <p:cNvPr id="3792" name="Google Shape;3792;p57"/>
              <p:cNvCxnSpPr/>
              <p:nvPr/>
            </p:nvCxnSpPr>
            <p:spPr>
              <a:xfrm>
                <a:off x="5103720" y="2914214"/>
                <a:ext cx="232559" cy="0"/>
              </a:xfrm>
              <a:prstGeom prst="straightConnector1">
                <a:avLst/>
              </a:prstGeom>
              <a:noFill/>
              <a:ln cap="flat" cmpd="sng" w="12700">
                <a:solidFill>
                  <a:schemeClr val="dk1"/>
                </a:solidFill>
                <a:prstDash val="solid"/>
                <a:miter lim="8000"/>
                <a:headEnd len="sm" w="sm" type="none"/>
                <a:tailEnd len="sm" w="sm" type="none"/>
              </a:ln>
            </p:spPr>
          </p:cxnSp>
          <p:grpSp>
            <p:nvGrpSpPr>
              <p:cNvPr id="3793" name="Google Shape;3793;p57"/>
              <p:cNvGrpSpPr/>
              <p:nvPr/>
            </p:nvGrpSpPr>
            <p:grpSpPr>
              <a:xfrm>
                <a:off x="5275406" y="2693365"/>
                <a:ext cx="439964" cy="414788"/>
                <a:chOff x="5275406" y="2711455"/>
                <a:chExt cx="452949" cy="405518"/>
              </a:xfrm>
            </p:grpSpPr>
            <p:pic>
              <p:nvPicPr>
                <p:cNvPr descr="server_rack.png" id="3794" name="Google Shape;3794;p57"/>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795" name="Google Shape;3795;p57"/>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96" name="Google Shape;3796;p57"/>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797" name="Google Shape;3797;p57"/>
            <p:cNvGrpSpPr/>
            <p:nvPr/>
          </p:nvGrpSpPr>
          <p:grpSpPr>
            <a:xfrm>
              <a:off x="11058573" y="3399165"/>
              <a:ext cx="423724" cy="405973"/>
              <a:chOff x="5103720" y="2693365"/>
              <a:chExt cx="611650" cy="414788"/>
            </a:xfrm>
          </p:grpSpPr>
          <p:cxnSp>
            <p:nvCxnSpPr>
              <p:cNvPr id="3798" name="Google Shape;3798;p57"/>
              <p:cNvCxnSpPr/>
              <p:nvPr/>
            </p:nvCxnSpPr>
            <p:spPr>
              <a:xfrm>
                <a:off x="5103720" y="2914214"/>
                <a:ext cx="232559" cy="0"/>
              </a:xfrm>
              <a:prstGeom prst="straightConnector1">
                <a:avLst/>
              </a:prstGeom>
              <a:noFill/>
              <a:ln cap="flat" cmpd="sng" w="12700">
                <a:solidFill>
                  <a:schemeClr val="dk1"/>
                </a:solidFill>
                <a:prstDash val="solid"/>
                <a:miter lim="8000"/>
                <a:headEnd len="sm" w="sm" type="none"/>
                <a:tailEnd len="sm" w="sm" type="none"/>
              </a:ln>
            </p:spPr>
          </p:cxnSp>
          <p:grpSp>
            <p:nvGrpSpPr>
              <p:cNvPr id="3799" name="Google Shape;3799;p57"/>
              <p:cNvGrpSpPr/>
              <p:nvPr/>
            </p:nvGrpSpPr>
            <p:grpSpPr>
              <a:xfrm>
                <a:off x="5275406" y="2693365"/>
                <a:ext cx="439964" cy="414788"/>
                <a:chOff x="5275406" y="2711455"/>
                <a:chExt cx="452949" cy="405518"/>
              </a:xfrm>
            </p:grpSpPr>
            <p:pic>
              <p:nvPicPr>
                <p:cNvPr descr="server_rack.png" id="3800" name="Google Shape;3800;p57"/>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801" name="Google Shape;3801;p57"/>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802" name="Google Shape;3802;p57"/>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803" name="Google Shape;3803;p57"/>
          <p:cNvGrpSpPr/>
          <p:nvPr/>
        </p:nvGrpSpPr>
        <p:grpSpPr>
          <a:xfrm flipH="1">
            <a:off x="8054595" y="4413467"/>
            <a:ext cx="345630" cy="320302"/>
            <a:chOff x="2839" y="3501"/>
            <a:chExt cx="755" cy="803"/>
          </a:xfrm>
        </p:grpSpPr>
        <p:pic>
          <p:nvPicPr>
            <p:cNvPr descr="desktop_computer_stylized_medium" id="3804" name="Google Shape;3804;p57"/>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805" name="Google Shape;3805;p57"/>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3806" name="Google Shape;3806;p57"/>
          <p:cNvGrpSpPr/>
          <p:nvPr/>
        </p:nvGrpSpPr>
        <p:grpSpPr>
          <a:xfrm>
            <a:off x="9275421" y="5366115"/>
            <a:ext cx="310186" cy="312008"/>
            <a:chOff x="877" y="1008"/>
            <a:chExt cx="2747" cy="2626"/>
          </a:xfrm>
        </p:grpSpPr>
        <p:pic>
          <p:nvPicPr>
            <p:cNvPr descr="antenna_stylized" id="3807" name="Google Shape;3807;p57"/>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808" name="Google Shape;3808;p57"/>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809" name="Google Shape;3809;p57"/>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screen" id="3810" name="Google Shape;3810;p57"/>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811" name="Google Shape;3811;p57"/>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12" name="Google Shape;3812;p57"/>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13" name="Google Shape;3813;p57"/>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14" name="Google Shape;3814;p57"/>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15" name="Google Shape;3815;p57"/>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16" name="Google Shape;3816;p57"/>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817" name="Google Shape;3817;p57"/>
            <p:cNvGrpSpPr/>
            <p:nvPr/>
          </p:nvGrpSpPr>
          <p:grpSpPr>
            <a:xfrm>
              <a:off x="1709" y="3008"/>
              <a:ext cx="507" cy="234"/>
              <a:chOff x="1740" y="2642"/>
              <a:chExt cx="752" cy="327"/>
            </a:xfrm>
          </p:grpSpPr>
          <p:sp>
            <p:nvSpPr>
              <p:cNvPr id="3818" name="Google Shape;3818;p57"/>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19" name="Google Shape;3819;p57"/>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0" name="Google Shape;3820;p57"/>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1" name="Google Shape;3821;p57"/>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2" name="Google Shape;3822;p57"/>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3" name="Google Shape;3823;p57"/>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sp>
          <p:nvSpPr>
            <p:cNvPr id="3824" name="Google Shape;3824;p57"/>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5" name="Google Shape;3825;p57"/>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6" name="Google Shape;3826;p57"/>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7" name="Google Shape;3827;p57"/>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8" name="Google Shape;3828;p57"/>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29" name="Google Shape;3829;p57"/>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3830" name="Google Shape;3830;p57"/>
          <p:cNvGrpSpPr/>
          <p:nvPr/>
        </p:nvGrpSpPr>
        <p:grpSpPr>
          <a:xfrm flipH="1">
            <a:off x="8227649" y="5017963"/>
            <a:ext cx="345630" cy="320302"/>
            <a:chOff x="2839" y="3501"/>
            <a:chExt cx="755" cy="803"/>
          </a:xfrm>
        </p:grpSpPr>
        <p:pic>
          <p:nvPicPr>
            <p:cNvPr descr="desktop_computer_stylized_medium" id="3831" name="Google Shape;3831;p57"/>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832" name="Google Shape;3832;p57"/>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3833" name="Google Shape;3833;p57"/>
          <p:cNvGrpSpPr/>
          <p:nvPr/>
        </p:nvGrpSpPr>
        <p:grpSpPr>
          <a:xfrm flipH="1">
            <a:off x="8625874" y="5039436"/>
            <a:ext cx="345630" cy="320302"/>
            <a:chOff x="2839" y="3501"/>
            <a:chExt cx="755" cy="803"/>
          </a:xfrm>
        </p:grpSpPr>
        <p:pic>
          <p:nvPicPr>
            <p:cNvPr descr="desktop_computer_stylized_medium" id="3834" name="Google Shape;3834;p57"/>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835" name="Google Shape;3835;p57"/>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3836" name="Google Shape;3836;p57"/>
          <p:cNvGrpSpPr/>
          <p:nvPr/>
        </p:nvGrpSpPr>
        <p:grpSpPr>
          <a:xfrm>
            <a:off x="9608486" y="5308444"/>
            <a:ext cx="319264" cy="256836"/>
            <a:chOff x="877" y="1008"/>
            <a:chExt cx="2747" cy="2626"/>
          </a:xfrm>
        </p:grpSpPr>
        <p:pic>
          <p:nvPicPr>
            <p:cNvPr descr="antenna_stylized" id="3837" name="Google Shape;3837;p57"/>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838" name="Google Shape;3838;p57"/>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839" name="Google Shape;3839;p57"/>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screen" id="3840" name="Google Shape;3840;p57"/>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841" name="Google Shape;3841;p57"/>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42" name="Google Shape;3842;p57"/>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43" name="Google Shape;3843;p57"/>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44" name="Google Shape;3844;p57"/>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45" name="Google Shape;3845;p57"/>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46" name="Google Shape;3846;p57"/>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847" name="Google Shape;3847;p57"/>
            <p:cNvGrpSpPr/>
            <p:nvPr/>
          </p:nvGrpSpPr>
          <p:grpSpPr>
            <a:xfrm>
              <a:off x="1709" y="3008"/>
              <a:ext cx="507" cy="234"/>
              <a:chOff x="1740" y="2642"/>
              <a:chExt cx="752" cy="327"/>
            </a:xfrm>
          </p:grpSpPr>
          <p:sp>
            <p:nvSpPr>
              <p:cNvPr id="3848" name="Google Shape;3848;p57"/>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49" name="Google Shape;3849;p57"/>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0" name="Google Shape;3850;p57"/>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1" name="Google Shape;3851;p57"/>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2" name="Google Shape;3852;p57"/>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3" name="Google Shape;3853;p57"/>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sp>
          <p:nvSpPr>
            <p:cNvPr id="3854" name="Google Shape;3854;p57"/>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5" name="Google Shape;3855;p57"/>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6" name="Google Shape;3856;p57"/>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7" name="Google Shape;3857;p57"/>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8" name="Google Shape;3858;p57"/>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59" name="Google Shape;3859;p57"/>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sp>
        <p:nvSpPr>
          <p:cNvPr id="3860" name="Google Shape;3860;p57"/>
          <p:cNvSpPr/>
          <p:nvPr/>
        </p:nvSpPr>
        <p:spPr>
          <a:xfrm>
            <a:off x="10227333" y="5150277"/>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61" name="Google Shape;3861;p57"/>
          <p:cNvSpPr/>
          <p:nvPr/>
        </p:nvSpPr>
        <p:spPr>
          <a:xfrm>
            <a:off x="10233710" y="5170229"/>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62" name="Google Shape;3862;p57"/>
          <p:cNvSpPr/>
          <p:nvPr/>
        </p:nvSpPr>
        <p:spPr>
          <a:xfrm>
            <a:off x="10229258" y="5326059"/>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63" name="Google Shape;3863;p57"/>
          <p:cNvSpPr/>
          <p:nvPr/>
        </p:nvSpPr>
        <p:spPr>
          <a:xfrm>
            <a:off x="10100039" y="5187705"/>
            <a:ext cx="71949" cy="68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864" name="Google Shape;3864;p57"/>
          <p:cNvGrpSpPr/>
          <p:nvPr/>
        </p:nvGrpSpPr>
        <p:grpSpPr>
          <a:xfrm>
            <a:off x="10164793" y="5184197"/>
            <a:ext cx="69517" cy="21877"/>
            <a:chOff x="613" y="2566"/>
            <a:chExt cx="721" cy="144"/>
          </a:xfrm>
        </p:grpSpPr>
        <p:sp>
          <p:nvSpPr>
            <p:cNvPr id="3865" name="Google Shape;3865;p57"/>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66" name="Google Shape;3866;p57"/>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867" name="Google Shape;3867;p57"/>
          <p:cNvSpPr/>
          <p:nvPr/>
        </p:nvSpPr>
        <p:spPr>
          <a:xfrm>
            <a:off x="10101242" y="5236056"/>
            <a:ext cx="71949" cy="68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868" name="Google Shape;3868;p57"/>
          <p:cNvGrpSpPr/>
          <p:nvPr/>
        </p:nvGrpSpPr>
        <p:grpSpPr>
          <a:xfrm>
            <a:off x="10164745" y="5231416"/>
            <a:ext cx="69517" cy="19515"/>
            <a:chOff x="615" y="2564"/>
            <a:chExt cx="721" cy="139"/>
          </a:xfrm>
        </p:grpSpPr>
        <p:sp>
          <p:nvSpPr>
            <p:cNvPr id="3869" name="Google Shape;3869;p57"/>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70" name="Google Shape;3870;p57"/>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871" name="Google Shape;3871;p57"/>
          <p:cNvSpPr/>
          <p:nvPr/>
        </p:nvSpPr>
        <p:spPr>
          <a:xfrm>
            <a:off x="10101242" y="5284407"/>
            <a:ext cx="71949" cy="68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72" name="Google Shape;3872;p57"/>
          <p:cNvSpPr/>
          <p:nvPr/>
        </p:nvSpPr>
        <p:spPr>
          <a:xfrm>
            <a:off x="10102445" y="5328244"/>
            <a:ext cx="71949" cy="6845"/>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873" name="Google Shape;3873;p57"/>
          <p:cNvGrpSpPr/>
          <p:nvPr/>
        </p:nvGrpSpPr>
        <p:grpSpPr>
          <a:xfrm>
            <a:off x="10163591" y="5327014"/>
            <a:ext cx="69541" cy="19618"/>
            <a:chOff x="618" y="2586"/>
            <a:chExt cx="720" cy="124"/>
          </a:xfrm>
        </p:grpSpPr>
        <p:sp>
          <p:nvSpPr>
            <p:cNvPr id="3874" name="Google Shape;3874;p57"/>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75" name="Google Shape;3875;p57"/>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876" name="Google Shape;3876;p57"/>
          <p:cNvSpPr/>
          <p:nvPr/>
        </p:nvSpPr>
        <p:spPr>
          <a:xfrm>
            <a:off x="10229740" y="5284407"/>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877" name="Google Shape;3877;p57"/>
          <p:cNvGrpSpPr/>
          <p:nvPr/>
        </p:nvGrpSpPr>
        <p:grpSpPr>
          <a:xfrm>
            <a:off x="10163589" y="5280912"/>
            <a:ext cx="70700" cy="19515"/>
            <a:chOff x="613" y="2571"/>
            <a:chExt cx="732" cy="134"/>
          </a:xfrm>
        </p:grpSpPr>
        <p:sp>
          <p:nvSpPr>
            <p:cNvPr id="3878" name="Google Shape;3878;p57"/>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79" name="Google Shape;3879;p57"/>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880" name="Google Shape;3880;p57"/>
          <p:cNvSpPr/>
          <p:nvPr/>
        </p:nvSpPr>
        <p:spPr>
          <a:xfrm>
            <a:off x="10224686" y="5149694"/>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81" name="Google Shape;3881;p57"/>
          <p:cNvSpPr/>
          <p:nvPr/>
        </p:nvSpPr>
        <p:spPr>
          <a:xfrm>
            <a:off x="10232627" y="5233872"/>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82" name="Google Shape;3882;p57"/>
          <p:cNvSpPr/>
          <p:nvPr/>
        </p:nvSpPr>
        <p:spPr>
          <a:xfrm>
            <a:off x="10232988" y="5186249"/>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83" name="Google Shape;3883;p57"/>
          <p:cNvSpPr/>
          <p:nvPr/>
        </p:nvSpPr>
        <p:spPr>
          <a:xfrm>
            <a:off x="10257051" y="5467472"/>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84" name="Google Shape;3884;p57"/>
          <p:cNvSpPr/>
          <p:nvPr/>
        </p:nvSpPr>
        <p:spPr>
          <a:xfrm>
            <a:off x="10231424" y="5467909"/>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85" name="Google Shape;3885;p57"/>
          <p:cNvSpPr/>
          <p:nvPr/>
        </p:nvSpPr>
        <p:spPr>
          <a:xfrm>
            <a:off x="10091617" y="5476793"/>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86" name="Google Shape;3886;p57"/>
          <p:cNvSpPr/>
          <p:nvPr/>
        </p:nvSpPr>
        <p:spPr>
          <a:xfrm>
            <a:off x="10100039" y="5482472"/>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87" name="Google Shape;3887;p57"/>
          <p:cNvSpPr/>
          <p:nvPr/>
        </p:nvSpPr>
        <p:spPr>
          <a:xfrm>
            <a:off x="10111950" y="5434121"/>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88" name="Google Shape;3888;p57"/>
          <p:cNvSpPr/>
          <p:nvPr/>
        </p:nvSpPr>
        <p:spPr>
          <a:xfrm>
            <a:off x="10133607" y="5434121"/>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889" name="Google Shape;3889;p57"/>
          <p:cNvSpPr/>
          <p:nvPr/>
        </p:nvSpPr>
        <p:spPr>
          <a:xfrm>
            <a:off x="10153941" y="5434121"/>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90" name="Google Shape;3890;p57"/>
          <p:cNvSpPr/>
          <p:nvPr/>
        </p:nvSpPr>
        <p:spPr>
          <a:xfrm>
            <a:off x="10203150" y="5354750"/>
            <a:ext cx="9625" cy="110538"/>
          </a:xfrm>
          <a:prstGeom prst="rect">
            <a:avLst/>
          </a:prstGeom>
          <a:solidFill>
            <a:srgbClr val="29292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891" name="Google Shape;3891;p57"/>
          <p:cNvGrpSpPr/>
          <p:nvPr/>
        </p:nvGrpSpPr>
        <p:grpSpPr>
          <a:xfrm flipH="1">
            <a:off x="7847721" y="4794366"/>
            <a:ext cx="345630" cy="320302"/>
            <a:chOff x="2839" y="3501"/>
            <a:chExt cx="755" cy="803"/>
          </a:xfrm>
        </p:grpSpPr>
        <p:pic>
          <p:nvPicPr>
            <p:cNvPr descr="desktop_computer_stylized_medium" id="3892" name="Google Shape;3892;p57"/>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893" name="Google Shape;3893;p57"/>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grpSp>
        <p:nvGrpSpPr>
          <p:cNvPr id="3894" name="Google Shape;3894;p57"/>
          <p:cNvGrpSpPr/>
          <p:nvPr/>
        </p:nvGrpSpPr>
        <p:grpSpPr>
          <a:xfrm>
            <a:off x="7823964" y="1373031"/>
            <a:ext cx="415925" cy="385763"/>
            <a:chOff x="2751" y="1851"/>
            <a:chExt cx="462" cy="478"/>
          </a:xfrm>
        </p:grpSpPr>
        <p:pic>
          <p:nvPicPr>
            <p:cNvPr descr="iphone_stylized_small" id="3895" name="Google Shape;3895;p57"/>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3896" name="Google Shape;3896;p57"/>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3897" name="Google Shape;3897;p57"/>
          <p:cNvGrpSpPr/>
          <p:nvPr/>
        </p:nvGrpSpPr>
        <p:grpSpPr>
          <a:xfrm>
            <a:off x="10327730" y="4787257"/>
            <a:ext cx="177192" cy="330833"/>
            <a:chOff x="4140" y="429"/>
            <a:chExt cx="1425" cy="2396"/>
          </a:xfrm>
        </p:grpSpPr>
        <p:sp>
          <p:nvSpPr>
            <p:cNvPr id="3898" name="Google Shape;3898;p5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99" name="Google Shape;3899;p57"/>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00" name="Google Shape;3900;p5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01" name="Google Shape;3901;p5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02" name="Google Shape;3902;p57"/>
            <p:cNvSpPr/>
            <p:nvPr/>
          </p:nvSpPr>
          <p:spPr>
            <a:xfrm>
              <a:off x="4210" y="690"/>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03" name="Google Shape;3903;p57"/>
            <p:cNvGrpSpPr/>
            <p:nvPr/>
          </p:nvGrpSpPr>
          <p:grpSpPr>
            <a:xfrm>
              <a:off x="4748" y="666"/>
              <a:ext cx="578" cy="150"/>
              <a:chOff x="613" y="2566"/>
              <a:chExt cx="721" cy="144"/>
            </a:xfrm>
          </p:grpSpPr>
          <p:sp>
            <p:nvSpPr>
              <p:cNvPr id="3904" name="Google Shape;3904;p57"/>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05" name="Google Shape;3905;p57"/>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06" name="Google Shape;3906;p57"/>
            <p:cNvSpPr/>
            <p:nvPr/>
          </p:nvSpPr>
          <p:spPr>
            <a:xfrm>
              <a:off x="4220" y="1022"/>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07" name="Google Shape;3907;p57"/>
            <p:cNvGrpSpPr/>
            <p:nvPr/>
          </p:nvGrpSpPr>
          <p:grpSpPr>
            <a:xfrm>
              <a:off x="4748" y="990"/>
              <a:ext cx="578" cy="134"/>
              <a:chOff x="615" y="2564"/>
              <a:chExt cx="721" cy="139"/>
            </a:xfrm>
          </p:grpSpPr>
          <p:sp>
            <p:nvSpPr>
              <p:cNvPr id="3908" name="Google Shape;3908;p57"/>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09" name="Google Shape;3909;p57"/>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10" name="Google Shape;3910;p57"/>
            <p:cNvSpPr/>
            <p:nvPr/>
          </p:nvSpPr>
          <p:spPr>
            <a:xfrm>
              <a:off x="4220" y="1354"/>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11" name="Google Shape;3911;p57"/>
            <p:cNvSpPr/>
            <p:nvPr/>
          </p:nvSpPr>
          <p:spPr>
            <a:xfrm>
              <a:off x="4230" y="1655"/>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12" name="Google Shape;3912;p57"/>
            <p:cNvGrpSpPr/>
            <p:nvPr/>
          </p:nvGrpSpPr>
          <p:grpSpPr>
            <a:xfrm>
              <a:off x="4738" y="1647"/>
              <a:ext cx="578" cy="135"/>
              <a:chOff x="618" y="2586"/>
              <a:chExt cx="720" cy="124"/>
            </a:xfrm>
          </p:grpSpPr>
          <p:sp>
            <p:nvSpPr>
              <p:cNvPr id="3913" name="Google Shape;3913;p57"/>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14" name="Google Shape;3914;p57"/>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15" name="Google Shape;3915;p5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916" name="Google Shape;3916;p57"/>
            <p:cNvGrpSpPr/>
            <p:nvPr/>
          </p:nvGrpSpPr>
          <p:grpSpPr>
            <a:xfrm>
              <a:off x="4738" y="1330"/>
              <a:ext cx="588" cy="134"/>
              <a:chOff x="613" y="2571"/>
              <a:chExt cx="732" cy="134"/>
            </a:xfrm>
          </p:grpSpPr>
          <p:sp>
            <p:nvSpPr>
              <p:cNvPr id="3917" name="Google Shape;3917;p57"/>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18" name="Google Shape;3918;p57"/>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19" name="Google Shape;3919;p57"/>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0" name="Google Shape;3920;p5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21" name="Google Shape;3921;p5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22" name="Google Shape;3922;p57"/>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3" name="Google Shape;3923;p5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24" name="Google Shape;3924;p57"/>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5" name="Google Shape;3925;p57"/>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6" name="Google Shape;3926;p57"/>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7" name="Google Shape;3927;p57"/>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928" name="Google Shape;3928;p57"/>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9" name="Google Shape;3929;p57"/>
            <p:cNvSpPr/>
            <p:nvPr/>
          </p:nvSpPr>
          <p:spPr>
            <a:xfrm>
              <a:off x="5067" y="1837"/>
              <a:ext cx="80" cy="759"/>
            </a:xfrm>
            <a:prstGeom prst="rect">
              <a:avLst/>
            </a:prstGeom>
            <a:solidFill>
              <a:srgbClr val="29292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3930" name="Google Shape;3930;p57"/>
          <p:cNvGrpSpPr/>
          <p:nvPr/>
        </p:nvGrpSpPr>
        <p:grpSpPr>
          <a:xfrm>
            <a:off x="6645453" y="2199599"/>
            <a:ext cx="1038308" cy="956788"/>
            <a:chOff x="6571713" y="2686293"/>
            <a:chExt cx="1038308" cy="956788"/>
          </a:xfrm>
        </p:grpSpPr>
        <p:sp>
          <p:nvSpPr>
            <p:cNvPr id="3931" name="Google Shape;3931;p57"/>
            <p:cNvSpPr/>
            <p:nvPr/>
          </p:nvSpPr>
          <p:spPr>
            <a:xfrm flipH="1">
              <a:off x="7291095" y="2700162"/>
              <a:ext cx="318926" cy="942919"/>
            </a:xfrm>
            <a:custGeom>
              <a:rect b="b" l="l" r="r" t="t"/>
              <a:pathLst>
                <a:path extrusionOk="0" h="10279" w="10319">
                  <a:moveTo>
                    <a:pt x="2669" y="10279"/>
                  </a:moveTo>
                  <a:lnTo>
                    <a:pt x="0" y="9878"/>
                  </a:lnTo>
                  <a:lnTo>
                    <a:pt x="10319" y="0"/>
                  </a:lnTo>
                  <a:lnTo>
                    <a:pt x="10319" y="8912"/>
                  </a:lnTo>
                  <a:lnTo>
                    <a:pt x="2669" y="10279"/>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932" name="Google Shape;3932;p57"/>
            <p:cNvGrpSpPr/>
            <p:nvPr/>
          </p:nvGrpSpPr>
          <p:grpSpPr>
            <a:xfrm>
              <a:off x="6571713" y="2686293"/>
              <a:ext cx="764135" cy="854075"/>
              <a:chOff x="6571713" y="2686293"/>
              <a:chExt cx="764135" cy="854075"/>
            </a:xfrm>
          </p:grpSpPr>
          <p:sp>
            <p:nvSpPr>
              <p:cNvPr id="3933" name="Google Shape;3933;p57"/>
              <p:cNvSpPr/>
              <p:nvPr/>
            </p:nvSpPr>
            <p:spPr>
              <a:xfrm>
                <a:off x="6641713" y="2722275"/>
                <a:ext cx="647951" cy="777228"/>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3934" name="Google Shape;3934;p57"/>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3935" name="Google Shape;3935;p57"/>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spcBef>
                    <a:spcPts val="0"/>
                  </a:spcBef>
                  <a:spcAft>
                    <a:spcPts val="0"/>
                  </a:spcAft>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spcBef>
                    <a:spcPts val="0"/>
                  </a:spcBef>
                  <a:spcAft>
                    <a:spcPts val="0"/>
                  </a:spcAft>
                  <a:buNone/>
                </a:pPr>
                <a:r>
                  <a:rPr b="0" i="0" lang="en-US" sz="1000" u="none" cap="none" strike="noStrike">
                    <a:solidFill>
                      <a:srgbClr val="000000"/>
                    </a:solidFill>
                    <a:latin typeface="Calibri"/>
                    <a:ea typeface="Calibri"/>
                    <a:cs typeface="Calibri"/>
                    <a:sym typeface="Calibri"/>
                  </a:rPr>
                  <a:t>link</a:t>
                </a:r>
                <a:endParaRPr/>
              </a:p>
              <a:p>
                <a:pPr indent="0" lvl="0" marL="0" marR="0" rtl="0" algn="ctr">
                  <a:spcBef>
                    <a:spcPts val="0"/>
                  </a:spcBef>
                  <a:spcAft>
                    <a:spcPts val="0"/>
                  </a:spcAft>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3936" name="Google Shape;3936;p57"/>
              <p:cNvCxnSpPr/>
              <p:nvPr/>
            </p:nvCxnSpPr>
            <p:spPr>
              <a:xfrm>
                <a:off x="6638631" y="2891320"/>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3937" name="Google Shape;3937;p57"/>
              <p:cNvCxnSpPr/>
              <p:nvPr/>
            </p:nvCxnSpPr>
            <p:spPr>
              <a:xfrm>
                <a:off x="6638631" y="3040545"/>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3938" name="Google Shape;3938;p57"/>
              <p:cNvCxnSpPr/>
              <p:nvPr/>
            </p:nvCxnSpPr>
            <p:spPr>
              <a:xfrm>
                <a:off x="6638631" y="3189770"/>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3939" name="Google Shape;3939;p57"/>
              <p:cNvCxnSpPr/>
              <p:nvPr/>
            </p:nvCxnSpPr>
            <p:spPr>
              <a:xfrm>
                <a:off x="6638631" y="3338995"/>
                <a:ext cx="646461"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3940" name="Google Shape;3940;p57"/>
          <p:cNvGrpSpPr/>
          <p:nvPr/>
        </p:nvGrpSpPr>
        <p:grpSpPr>
          <a:xfrm>
            <a:off x="10275746" y="4871177"/>
            <a:ext cx="970347" cy="854075"/>
            <a:chOff x="10202006" y="5357871"/>
            <a:chExt cx="970347" cy="854075"/>
          </a:xfrm>
        </p:grpSpPr>
        <p:sp>
          <p:nvSpPr>
            <p:cNvPr id="3941" name="Google Shape;3941;p57"/>
            <p:cNvSpPr/>
            <p:nvPr/>
          </p:nvSpPr>
          <p:spPr>
            <a:xfrm>
              <a:off x="10202006" y="5397682"/>
              <a:ext cx="281273" cy="773122"/>
            </a:xfrm>
            <a:custGeom>
              <a:rect b="b" l="l" r="r" t="t"/>
              <a:pathLst>
                <a:path extrusionOk="0" h="10000" w="10001">
                  <a:moveTo>
                    <a:pt x="112" y="7638"/>
                  </a:moveTo>
                  <a:cubicBezTo>
                    <a:pt x="75" y="7370"/>
                    <a:pt x="37" y="7102"/>
                    <a:pt x="0" y="6834"/>
                  </a:cubicBezTo>
                  <a:lnTo>
                    <a:pt x="9647" y="0"/>
                  </a:lnTo>
                  <a:cubicBezTo>
                    <a:pt x="9534" y="4702"/>
                    <a:pt x="10099" y="5298"/>
                    <a:pt x="9986" y="10000"/>
                  </a:cubicBezTo>
                  <a:lnTo>
                    <a:pt x="112" y="7638"/>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942" name="Google Shape;3942;p57"/>
            <p:cNvGrpSpPr/>
            <p:nvPr/>
          </p:nvGrpSpPr>
          <p:grpSpPr>
            <a:xfrm>
              <a:off x="10408218" y="5357871"/>
              <a:ext cx="764135" cy="854075"/>
              <a:chOff x="6571713" y="2686293"/>
              <a:chExt cx="764135" cy="854075"/>
            </a:xfrm>
          </p:grpSpPr>
          <p:sp>
            <p:nvSpPr>
              <p:cNvPr id="3943" name="Google Shape;3943;p57"/>
              <p:cNvSpPr/>
              <p:nvPr/>
            </p:nvSpPr>
            <p:spPr>
              <a:xfrm>
                <a:off x="6641713" y="2722275"/>
                <a:ext cx="647951" cy="777228"/>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3944" name="Google Shape;3944;p57"/>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3945" name="Google Shape;3945;p57"/>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spcBef>
                    <a:spcPts val="0"/>
                  </a:spcBef>
                  <a:spcAft>
                    <a:spcPts val="0"/>
                  </a:spcAft>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spcBef>
                    <a:spcPts val="0"/>
                  </a:spcBef>
                  <a:spcAft>
                    <a:spcPts val="0"/>
                  </a:spcAft>
                  <a:buNone/>
                </a:pPr>
                <a:r>
                  <a:rPr b="0" i="0" lang="en-US" sz="1000" u="none" cap="none" strike="noStrike">
                    <a:solidFill>
                      <a:srgbClr val="000000"/>
                    </a:solidFill>
                    <a:latin typeface="Calibri"/>
                    <a:ea typeface="Calibri"/>
                    <a:cs typeface="Calibri"/>
                    <a:sym typeface="Calibri"/>
                  </a:rPr>
                  <a:t>link</a:t>
                </a:r>
                <a:endParaRPr/>
              </a:p>
              <a:p>
                <a:pPr indent="0" lvl="0" marL="0" marR="0" rtl="0" algn="ctr">
                  <a:spcBef>
                    <a:spcPts val="0"/>
                  </a:spcBef>
                  <a:spcAft>
                    <a:spcPts val="0"/>
                  </a:spcAft>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3946" name="Google Shape;3946;p57"/>
              <p:cNvCxnSpPr/>
              <p:nvPr/>
            </p:nvCxnSpPr>
            <p:spPr>
              <a:xfrm>
                <a:off x="6638631" y="2891320"/>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3947" name="Google Shape;3947;p57"/>
              <p:cNvCxnSpPr/>
              <p:nvPr/>
            </p:nvCxnSpPr>
            <p:spPr>
              <a:xfrm>
                <a:off x="6638631" y="3040545"/>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3948" name="Google Shape;3948;p57"/>
              <p:cNvCxnSpPr/>
              <p:nvPr/>
            </p:nvCxnSpPr>
            <p:spPr>
              <a:xfrm>
                <a:off x="6638631" y="3189770"/>
                <a:ext cx="646461" cy="0"/>
              </a:xfrm>
              <a:prstGeom prst="straightConnector1">
                <a:avLst/>
              </a:prstGeom>
              <a:noFill/>
              <a:ln cap="flat" cmpd="sng" w="12700">
                <a:solidFill>
                  <a:schemeClr val="dk1"/>
                </a:solidFill>
                <a:prstDash val="solid"/>
                <a:miter lim="8000"/>
                <a:headEnd len="sm" w="sm" type="none"/>
                <a:tailEnd len="sm" w="sm" type="none"/>
              </a:ln>
            </p:spPr>
          </p:cxnSp>
          <p:cxnSp>
            <p:nvCxnSpPr>
              <p:cNvPr id="3949" name="Google Shape;3949;p57"/>
              <p:cNvCxnSpPr/>
              <p:nvPr/>
            </p:nvCxnSpPr>
            <p:spPr>
              <a:xfrm>
                <a:off x="6638631" y="3338995"/>
                <a:ext cx="646461"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3950" name="Google Shape;3950;p57"/>
          <p:cNvGrpSpPr/>
          <p:nvPr/>
        </p:nvGrpSpPr>
        <p:grpSpPr>
          <a:xfrm>
            <a:off x="10076248" y="5129706"/>
            <a:ext cx="214974" cy="403920"/>
            <a:chOff x="4140" y="429"/>
            <a:chExt cx="1425" cy="2396"/>
          </a:xfrm>
        </p:grpSpPr>
        <p:sp>
          <p:nvSpPr>
            <p:cNvPr id="3951" name="Google Shape;3951;p5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52" name="Google Shape;3952;p57"/>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53" name="Google Shape;3953;p5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54" name="Google Shape;3954;p5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55" name="Google Shape;3955;p57"/>
            <p:cNvSpPr/>
            <p:nvPr/>
          </p:nvSpPr>
          <p:spPr>
            <a:xfrm>
              <a:off x="4210" y="690"/>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56" name="Google Shape;3956;p57"/>
            <p:cNvGrpSpPr/>
            <p:nvPr/>
          </p:nvGrpSpPr>
          <p:grpSpPr>
            <a:xfrm>
              <a:off x="4748" y="666"/>
              <a:ext cx="578" cy="150"/>
              <a:chOff x="613" y="2566"/>
              <a:chExt cx="721" cy="144"/>
            </a:xfrm>
          </p:grpSpPr>
          <p:sp>
            <p:nvSpPr>
              <p:cNvPr id="3957" name="Google Shape;3957;p57"/>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58" name="Google Shape;3958;p57"/>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59" name="Google Shape;3959;p57"/>
            <p:cNvSpPr/>
            <p:nvPr/>
          </p:nvSpPr>
          <p:spPr>
            <a:xfrm>
              <a:off x="4220" y="1022"/>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60" name="Google Shape;3960;p57"/>
            <p:cNvGrpSpPr/>
            <p:nvPr/>
          </p:nvGrpSpPr>
          <p:grpSpPr>
            <a:xfrm>
              <a:off x="4748" y="990"/>
              <a:ext cx="578" cy="134"/>
              <a:chOff x="615" y="2564"/>
              <a:chExt cx="721" cy="139"/>
            </a:xfrm>
          </p:grpSpPr>
          <p:sp>
            <p:nvSpPr>
              <p:cNvPr id="3961" name="Google Shape;3961;p57"/>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62" name="Google Shape;3962;p57"/>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63" name="Google Shape;3963;p57"/>
            <p:cNvSpPr/>
            <p:nvPr/>
          </p:nvSpPr>
          <p:spPr>
            <a:xfrm>
              <a:off x="4220" y="1354"/>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64" name="Google Shape;3964;p57"/>
            <p:cNvSpPr/>
            <p:nvPr/>
          </p:nvSpPr>
          <p:spPr>
            <a:xfrm>
              <a:off x="4230" y="1655"/>
              <a:ext cx="598" cy="47"/>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65" name="Google Shape;3965;p57"/>
            <p:cNvGrpSpPr/>
            <p:nvPr/>
          </p:nvGrpSpPr>
          <p:grpSpPr>
            <a:xfrm>
              <a:off x="4738" y="1647"/>
              <a:ext cx="578" cy="135"/>
              <a:chOff x="618" y="2586"/>
              <a:chExt cx="720" cy="124"/>
            </a:xfrm>
          </p:grpSpPr>
          <p:sp>
            <p:nvSpPr>
              <p:cNvPr id="3966" name="Google Shape;3966;p57"/>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67" name="Google Shape;3967;p57"/>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68" name="Google Shape;3968;p5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3969" name="Google Shape;3969;p57"/>
            <p:cNvGrpSpPr/>
            <p:nvPr/>
          </p:nvGrpSpPr>
          <p:grpSpPr>
            <a:xfrm>
              <a:off x="4738" y="1330"/>
              <a:ext cx="588" cy="134"/>
              <a:chOff x="613" y="2571"/>
              <a:chExt cx="732" cy="134"/>
            </a:xfrm>
          </p:grpSpPr>
          <p:sp>
            <p:nvSpPr>
              <p:cNvPr id="3970" name="Google Shape;3970;p57"/>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71" name="Google Shape;3971;p57"/>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72" name="Google Shape;3972;p57"/>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73" name="Google Shape;3973;p5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74" name="Google Shape;3974;p5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75" name="Google Shape;3975;p57"/>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76" name="Google Shape;3976;p5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77" name="Google Shape;3977;p57"/>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78" name="Google Shape;3978;p57"/>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79" name="Google Shape;3979;p57"/>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80" name="Google Shape;3980;p57"/>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981" name="Google Shape;3981;p57"/>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82" name="Google Shape;3982;p57"/>
            <p:cNvSpPr/>
            <p:nvPr/>
          </p:nvSpPr>
          <p:spPr>
            <a:xfrm>
              <a:off x="5067" y="1837"/>
              <a:ext cx="80" cy="759"/>
            </a:xfrm>
            <a:prstGeom prst="rect">
              <a:avLst/>
            </a:prstGeom>
            <a:solidFill>
              <a:srgbClr val="29292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3983" name="Google Shape;3983;p57"/>
          <p:cNvGrpSpPr/>
          <p:nvPr/>
        </p:nvGrpSpPr>
        <p:grpSpPr>
          <a:xfrm>
            <a:off x="9172528" y="3469930"/>
            <a:ext cx="367224" cy="240304"/>
            <a:chOff x="7493876" y="2774731"/>
            <a:chExt cx="1481958" cy="894622"/>
          </a:xfrm>
        </p:grpSpPr>
        <p:sp>
          <p:nvSpPr>
            <p:cNvPr id="3984" name="Google Shape;3984;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985" name="Google Shape;3985;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986" name="Google Shape;3986;p57"/>
            <p:cNvGrpSpPr/>
            <p:nvPr/>
          </p:nvGrpSpPr>
          <p:grpSpPr>
            <a:xfrm>
              <a:off x="7713663" y="2848339"/>
              <a:ext cx="1042107" cy="425543"/>
              <a:chOff x="7786941" y="2884917"/>
              <a:chExt cx="897649" cy="353919"/>
            </a:xfrm>
          </p:grpSpPr>
          <p:sp>
            <p:nvSpPr>
              <p:cNvPr id="3987" name="Google Shape;3987;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988" name="Google Shape;3988;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989" name="Google Shape;3989;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990" name="Google Shape;3990;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991" name="Google Shape;3991;p57"/>
          <p:cNvGrpSpPr/>
          <p:nvPr/>
        </p:nvGrpSpPr>
        <p:grpSpPr>
          <a:xfrm>
            <a:off x="9675294" y="3513069"/>
            <a:ext cx="367224" cy="240304"/>
            <a:chOff x="7493876" y="2774731"/>
            <a:chExt cx="1481958" cy="894622"/>
          </a:xfrm>
        </p:grpSpPr>
        <p:sp>
          <p:nvSpPr>
            <p:cNvPr id="3992" name="Google Shape;3992;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3993" name="Google Shape;3993;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3994" name="Google Shape;3994;p57"/>
            <p:cNvGrpSpPr/>
            <p:nvPr/>
          </p:nvGrpSpPr>
          <p:grpSpPr>
            <a:xfrm>
              <a:off x="7713663" y="2848339"/>
              <a:ext cx="1042107" cy="425543"/>
              <a:chOff x="7786941" y="2884917"/>
              <a:chExt cx="897649" cy="353919"/>
            </a:xfrm>
          </p:grpSpPr>
          <p:sp>
            <p:nvSpPr>
              <p:cNvPr id="3995" name="Google Shape;3995;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996" name="Google Shape;3996;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997" name="Google Shape;3997;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998" name="Google Shape;3998;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3999" name="Google Shape;3999;p57"/>
          <p:cNvGrpSpPr/>
          <p:nvPr/>
        </p:nvGrpSpPr>
        <p:grpSpPr>
          <a:xfrm>
            <a:off x="8123810" y="3479300"/>
            <a:ext cx="354986" cy="175668"/>
            <a:chOff x="7493876" y="2774731"/>
            <a:chExt cx="1481958" cy="894622"/>
          </a:xfrm>
        </p:grpSpPr>
        <p:sp>
          <p:nvSpPr>
            <p:cNvPr id="4000" name="Google Shape;4000;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4001" name="Google Shape;4001;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4002" name="Google Shape;4002;p57"/>
            <p:cNvGrpSpPr/>
            <p:nvPr/>
          </p:nvGrpSpPr>
          <p:grpSpPr>
            <a:xfrm>
              <a:off x="7713663" y="2848339"/>
              <a:ext cx="1042107" cy="425543"/>
              <a:chOff x="7786941" y="2884917"/>
              <a:chExt cx="897649" cy="353919"/>
            </a:xfrm>
          </p:grpSpPr>
          <p:sp>
            <p:nvSpPr>
              <p:cNvPr id="4003" name="Google Shape;4003;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04" name="Google Shape;4004;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05" name="Google Shape;4005;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06" name="Google Shape;4006;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4007" name="Google Shape;4007;p57"/>
          <p:cNvGrpSpPr/>
          <p:nvPr/>
        </p:nvGrpSpPr>
        <p:grpSpPr>
          <a:xfrm>
            <a:off x="9321633" y="4288992"/>
            <a:ext cx="393760" cy="218578"/>
            <a:chOff x="7493876" y="2774731"/>
            <a:chExt cx="1481958" cy="894622"/>
          </a:xfrm>
        </p:grpSpPr>
        <p:sp>
          <p:nvSpPr>
            <p:cNvPr id="4008" name="Google Shape;4008;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4009" name="Google Shape;4009;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4010" name="Google Shape;4010;p57"/>
            <p:cNvGrpSpPr/>
            <p:nvPr/>
          </p:nvGrpSpPr>
          <p:grpSpPr>
            <a:xfrm>
              <a:off x="7713663" y="2848339"/>
              <a:ext cx="1042107" cy="425543"/>
              <a:chOff x="7786941" y="2884917"/>
              <a:chExt cx="897649" cy="353919"/>
            </a:xfrm>
          </p:grpSpPr>
          <p:sp>
            <p:nvSpPr>
              <p:cNvPr id="4011" name="Google Shape;4011;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12" name="Google Shape;4012;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13" name="Google Shape;4013;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14" name="Google Shape;4014;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grpSp>
        <p:nvGrpSpPr>
          <p:cNvPr id="4015" name="Google Shape;4015;p57"/>
          <p:cNvGrpSpPr/>
          <p:nvPr/>
        </p:nvGrpSpPr>
        <p:grpSpPr>
          <a:xfrm>
            <a:off x="7848738" y="2976754"/>
            <a:ext cx="3007624" cy="1690703"/>
            <a:chOff x="7774998" y="3463448"/>
            <a:chExt cx="3007624" cy="1690703"/>
          </a:xfrm>
        </p:grpSpPr>
        <p:grpSp>
          <p:nvGrpSpPr>
            <p:cNvPr id="4016" name="Google Shape;4016;p57"/>
            <p:cNvGrpSpPr/>
            <p:nvPr/>
          </p:nvGrpSpPr>
          <p:grpSpPr>
            <a:xfrm>
              <a:off x="7774998" y="4090572"/>
              <a:ext cx="571917" cy="577694"/>
              <a:chOff x="7774998" y="4090572"/>
              <a:chExt cx="571917" cy="577694"/>
            </a:xfrm>
          </p:grpSpPr>
          <p:sp>
            <p:nvSpPr>
              <p:cNvPr id="4017" name="Google Shape;4017;p57"/>
              <p:cNvSpPr/>
              <p:nvPr/>
            </p:nvSpPr>
            <p:spPr>
              <a:xfrm rot="10800000">
                <a:off x="7818844" y="4090572"/>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4018" name="Google Shape;4018;p57"/>
              <p:cNvGrpSpPr/>
              <p:nvPr/>
            </p:nvGrpSpPr>
            <p:grpSpPr>
              <a:xfrm>
                <a:off x="7774998" y="4206600"/>
                <a:ext cx="571917" cy="461666"/>
                <a:chOff x="9980560" y="726571"/>
                <a:chExt cx="659732" cy="461666"/>
              </a:xfrm>
            </p:grpSpPr>
            <p:sp>
              <p:nvSpPr>
                <p:cNvPr id="4019" name="Google Shape;4019;p57"/>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20" name="Google Shape;4020;p57"/>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21" name="Google Shape;4021;p57"/>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FFFFFF"/>
                      </a:solidFill>
                      <a:latin typeface="Calibri"/>
                      <a:ea typeface="Calibri"/>
                      <a:cs typeface="Calibri"/>
                      <a:sym typeface="Calibri"/>
                    </a:rPr>
                    <a:t>network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link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022" name="Google Shape;4022;p57"/>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4023" name="Google Shape;4023;p57"/>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4024" name="Google Shape;4024;p57"/>
            <p:cNvGrpSpPr/>
            <p:nvPr/>
          </p:nvGrpSpPr>
          <p:grpSpPr>
            <a:xfrm>
              <a:off x="8692628" y="3463448"/>
              <a:ext cx="571917" cy="574365"/>
              <a:chOff x="8692628" y="3463448"/>
              <a:chExt cx="571917" cy="574365"/>
            </a:xfrm>
          </p:grpSpPr>
          <p:sp>
            <p:nvSpPr>
              <p:cNvPr id="4025" name="Google Shape;4025;p57"/>
              <p:cNvSpPr/>
              <p:nvPr/>
            </p:nvSpPr>
            <p:spPr>
              <a:xfrm flipH="1">
                <a:off x="8735937" y="3883244"/>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4026" name="Google Shape;4026;p57"/>
              <p:cNvGrpSpPr/>
              <p:nvPr/>
            </p:nvGrpSpPr>
            <p:grpSpPr>
              <a:xfrm>
                <a:off x="8692628" y="3463448"/>
                <a:ext cx="571917" cy="461666"/>
                <a:chOff x="9980560" y="726571"/>
                <a:chExt cx="659732" cy="461666"/>
              </a:xfrm>
            </p:grpSpPr>
            <p:sp>
              <p:nvSpPr>
                <p:cNvPr id="4027" name="Google Shape;4027;p57"/>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28" name="Google Shape;4028;p57"/>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29" name="Google Shape;4029;p57"/>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FFFFFF"/>
                      </a:solidFill>
                      <a:latin typeface="Calibri"/>
                      <a:ea typeface="Calibri"/>
                      <a:cs typeface="Calibri"/>
                      <a:sym typeface="Calibri"/>
                    </a:rPr>
                    <a:t>network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link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030" name="Google Shape;4030;p57"/>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4031" name="Google Shape;4031;p57"/>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4032" name="Google Shape;4032;p57"/>
            <p:cNvGrpSpPr/>
            <p:nvPr/>
          </p:nvGrpSpPr>
          <p:grpSpPr>
            <a:xfrm>
              <a:off x="9846130" y="3502221"/>
              <a:ext cx="571917" cy="607211"/>
              <a:chOff x="9846130" y="3502221"/>
              <a:chExt cx="571917" cy="607211"/>
            </a:xfrm>
          </p:grpSpPr>
          <p:sp>
            <p:nvSpPr>
              <p:cNvPr id="4033" name="Google Shape;4033;p57"/>
              <p:cNvSpPr/>
              <p:nvPr/>
            </p:nvSpPr>
            <p:spPr>
              <a:xfrm>
                <a:off x="9904716" y="3925785"/>
                <a:ext cx="466702" cy="183647"/>
              </a:xfrm>
              <a:custGeom>
                <a:rect b="b" l="l" r="r" t="t"/>
                <a:pathLst>
                  <a:path extrusionOk="0" h="12676" w="10000">
                    <a:moveTo>
                      <a:pt x="1334" y="12676"/>
                    </a:moveTo>
                    <a:lnTo>
                      <a:pt x="51" y="7461"/>
                    </a:lnTo>
                    <a:cubicBezTo>
                      <a:pt x="-117" y="4751"/>
                      <a:pt x="199" y="2710"/>
                      <a:pt x="30" y="0"/>
                    </a:cubicBezTo>
                    <a:lnTo>
                      <a:pt x="10000" y="6"/>
                    </a:lnTo>
                    <a:lnTo>
                      <a:pt x="1334" y="12676"/>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4034" name="Google Shape;4034;p57"/>
              <p:cNvGrpSpPr/>
              <p:nvPr/>
            </p:nvGrpSpPr>
            <p:grpSpPr>
              <a:xfrm>
                <a:off x="9846130" y="3502221"/>
                <a:ext cx="571917" cy="461666"/>
                <a:chOff x="9980560" y="726571"/>
                <a:chExt cx="659732" cy="461666"/>
              </a:xfrm>
            </p:grpSpPr>
            <p:sp>
              <p:nvSpPr>
                <p:cNvPr id="4035" name="Google Shape;4035;p57"/>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36" name="Google Shape;4036;p57"/>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37" name="Google Shape;4037;p57"/>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FFFFFF"/>
                      </a:solidFill>
                      <a:latin typeface="Calibri"/>
                      <a:ea typeface="Calibri"/>
                      <a:cs typeface="Calibri"/>
                      <a:sym typeface="Calibri"/>
                    </a:rPr>
                    <a:t>network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link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038" name="Google Shape;4038;p57"/>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4039" name="Google Shape;4039;p57"/>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4040" name="Google Shape;4040;p57"/>
            <p:cNvGrpSpPr/>
            <p:nvPr/>
          </p:nvGrpSpPr>
          <p:grpSpPr>
            <a:xfrm>
              <a:off x="9554792" y="4299763"/>
              <a:ext cx="571917" cy="630904"/>
              <a:chOff x="9554792" y="4299763"/>
              <a:chExt cx="571917" cy="630904"/>
            </a:xfrm>
          </p:grpSpPr>
          <p:sp>
            <p:nvSpPr>
              <p:cNvPr id="4041" name="Google Shape;4041;p57"/>
              <p:cNvSpPr/>
              <p:nvPr/>
            </p:nvSpPr>
            <p:spPr>
              <a:xfrm>
                <a:off x="9598301" y="4724405"/>
                <a:ext cx="466702" cy="206262"/>
              </a:xfrm>
              <a:custGeom>
                <a:rect b="b" l="l" r="r" t="t"/>
                <a:pathLst>
                  <a:path extrusionOk="0" h="14237" w="10000">
                    <a:moveTo>
                      <a:pt x="434" y="14237"/>
                    </a:moveTo>
                    <a:cubicBezTo>
                      <a:pt x="306" y="11978"/>
                      <a:pt x="179" y="9720"/>
                      <a:pt x="51" y="7461"/>
                    </a:cubicBezTo>
                    <a:cubicBezTo>
                      <a:pt x="-117" y="4751"/>
                      <a:pt x="199" y="2710"/>
                      <a:pt x="30" y="0"/>
                    </a:cubicBezTo>
                    <a:lnTo>
                      <a:pt x="10000" y="6"/>
                    </a:lnTo>
                    <a:lnTo>
                      <a:pt x="434" y="14237"/>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4042" name="Google Shape;4042;p57"/>
              <p:cNvGrpSpPr/>
              <p:nvPr/>
            </p:nvGrpSpPr>
            <p:grpSpPr>
              <a:xfrm>
                <a:off x="9554792" y="4299763"/>
                <a:ext cx="571917" cy="461666"/>
                <a:chOff x="9980560" y="726571"/>
                <a:chExt cx="659732" cy="461666"/>
              </a:xfrm>
            </p:grpSpPr>
            <p:sp>
              <p:nvSpPr>
                <p:cNvPr id="4043" name="Google Shape;4043;p57"/>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44" name="Google Shape;4044;p57"/>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45" name="Google Shape;4045;p57"/>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FFFFFF"/>
                      </a:solidFill>
                      <a:latin typeface="Calibri"/>
                      <a:ea typeface="Calibri"/>
                      <a:cs typeface="Calibri"/>
                      <a:sym typeface="Calibri"/>
                    </a:rPr>
                    <a:t>network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link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046" name="Google Shape;4046;p57"/>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4047" name="Google Shape;4047;p57"/>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nvGrpSpPr>
            <p:cNvPr id="4048" name="Google Shape;4048;p57"/>
            <p:cNvGrpSpPr/>
            <p:nvPr/>
          </p:nvGrpSpPr>
          <p:grpSpPr>
            <a:xfrm>
              <a:off x="10153753" y="4577638"/>
              <a:ext cx="628869" cy="576513"/>
              <a:chOff x="10153753" y="4577638"/>
              <a:chExt cx="628869" cy="576513"/>
            </a:xfrm>
          </p:grpSpPr>
          <p:sp>
            <p:nvSpPr>
              <p:cNvPr id="4049" name="Google Shape;4049;p57"/>
              <p:cNvSpPr/>
              <p:nvPr/>
            </p:nvSpPr>
            <p:spPr>
              <a:xfrm>
                <a:off x="10153753" y="5002899"/>
                <a:ext cx="590332" cy="151252"/>
              </a:xfrm>
              <a:custGeom>
                <a:rect b="b" l="l" r="r" t="t"/>
                <a:pathLst>
                  <a:path extrusionOk="0" h="10440" w="12649">
                    <a:moveTo>
                      <a:pt x="175" y="10440"/>
                    </a:moveTo>
                    <a:cubicBezTo>
                      <a:pt x="47" y="8181"/>
                      <a:pt x="128" y="9045"/>
                      <a:pt x="0" y="6786"/>
                    </a:cubicBezTo>
                    <a:cubicBezTo>
                      <a:pt x="1563" y="2515"/>
                      <a:pt x="1463" y="3373"/>
                      <a:pt x="2263" y="217"/>
                    </a:cubicBezTo>
                    <a:lnTo>
                      <a:pt x="12649" y="0"/>
                    </a:lnTo>
                    <a:lnTo>
                      <a:pt x="175" y="1044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grpSp>
            <p:nvGrpSpPr>
              <p:cNvPr id="4050" name="Google Shape;4050;p57"/>
              <p:cNvGrpSpPr/>
              <p:nvPr/>
            </p:nvGrpSpPr>
            <p:grpSpPr>
              <a:xfrm>
                <a:off x="10210705" y="4577638"/>
                <a:ext cx="571917" cy="461666"/>
                <a:chOff x="9980560" y="726571"/>
                <a:chExt cx="659732" cy="461666"/>
              </a:xfrm>
            </p:grpSpPr>
            <p:sp>
              <p:nvSpPr>
                <p:cNvPr id="4051" name="Google Shape;4051;p57"/>
                <p:cNvSpPr/>
                <p:nvPr/>
              </p:nvSpPr>
              <p:spPr>
                <a:xfrm>
                  <a:off x="10040996" y="761446"/>
                  <a:ext cx="559422" cy="389036"/>
                </a:xfrm>
                <a:prstGeom prst="rect">
                  <a:avLst/>
                </a:prstGeom>
                <a:solidFill>
                  <a:schemeClr val="lt1"/>
                </a:solidFill>
                <a:ln cap="flat" cmpd="sng" w="12700">
                  <a:solidFill>
                    <a:schemeClr val="dk1"/>
                  </a:solidFill>
                  <a:prstDash val="solid"/>
                  <a:miter lim="8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52" name="Google Shape;4052;p57"/>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53" name="Google Shape;4053;p57"/>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FFFFFF"/>
                      </a:solidFill>
                      <a:latin typeface="Calibri"/>
                      <a:ea typeface="Calibri"/>
                      <a:cs typeface="Calibri"/>
                      <a:sym typeface="Calibri"/>
                    </a:rPr>
                    <a:t>network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link</a:t>
                  </a:r>
                  <a:endParaRPr/>
                </a:p>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054" name="Google Shape;4054;p57"/>
                <p:cNvCxnSpPr/>
                <p:nvPr/>
              </p:nvCxnSpPr>
              <p:spPr>
                <a:xfrm>
                  <a:off x="10038335" y="895309"/>
                  <a:ext cx="558136" cy="0"/>
                </a:xfrm>
                <a:prstGeom prst="straightConnector1">
                  <a:avLst/>
                </a:prstGeom>
                <a:noFill/>
                <a:ln cap="flat" cmpd="sng" w="12700">
                  <a:solidFill>
                    <a:schemeClr val="dk1"/>
                  </a:solidFill>
                  <a:prstDash val="solid"/>
                  <a:miter lim="8000"/>
                  <a:headEnd len="sm" w="sm" type="none"/>
                  <a:tailEnd len="sm" w="sm" type="none"/>
                </a:ln>
              </p:spPr>
            </p:cxnSp>
            <p:cxnSp>
              <p:nvCxnSpPr>
                <p:cNvPr id="4055" name="Google Shape;4055;p57"/>
                <p:cNvCxnSpPr/>
                <p:nvPr/>
              </p:nvCxnSpPr>
              <p:spPr>
                <a:xfrm>
                  <a:off x="10038335" y="1018248"/>
                  <a:ext cx="558136" cy="0"/>
                </a:xfrm>
                <a:prstGeom prst="straightConnector1">
                  <a:avLst/>
                </a:prstGeom>
                <a:noFill/>
                <a:ln cap="flat" cmpd="sng" w="12700">
                  <a:solidFill>
                    <a:schemeClr val="dk1"/>
                  </a:solidFill>
                  <a:prstDash val="solid"/>
                  <a:miter lim="8000"/>
                  <a:headEnd len="sm" w="sm" type="none"/>
                  <a:tailEnd len="sm" w="sm" type="none"/>
                </a:ln>
              </p:spPr>
            </p:cxnSp>
          </p:grpSp>
        </p:grpSp>
      </p:grpSp>
      <p:grpSp>
        <p:nvGrpSpPr>
          <p:cNvPr id="4056" name="Google Shape;4056;p57"/>
          <p:cNvGrpSpPr/>
          <p:nvPr/>
        </p:nvGrpSpPr>
        <p:grpSpPr>
          <a:xfrm>
            <a:off x="9857298" y="4503289"/>
            <a:ext cx="393760" cy="218578"/>
            <a:chOff x="7493876" y="2774731"/>
            <a:chExt cx="1481958" cy="894622"/>
          </a:xfrm>
        </p:grpSpPr>
        <p:sp>
          <p:nvSpPr>
            <p:cNvPr id="4057" name="Google Shape;4057;p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sp>
          <p:nvSpPr>
            <p:cNvPr id="4058" name="Google Shape;4058;p57"/>
            <p:cNvSpPr/>
            <p:nvPr/>
          </p:nvSpPr>
          <p:spPr>
            <a:xfrm>
              <a:off x="7494729" y="2774731"/>
              <a:ext cx="1480163" cy="579140"/>
            </a:xfrm>
            <a:prstGeom prst="ellipse">
              <a:avLst/>
            </a:prstGeom>
            <a:solidFill>
              <a:srgbClr val="B8C2C9"/>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alibri"/>
                  <a:ea typeface="Calibri"/>
                  <a:cs typeface="Calibri"/>
                  <a:sym typeface="Calibri"/>
                </a:rPr>
                <a:t>              </a:t>
              </a:r>
              <a:endParaRPr/>
            </a:p>
          </p:txBody>
        </p:sp>
        <p:grpSp>
          <p:nvGrpSpPr>
            <p:cNvPr id="4059" name="Google Shape;4059;p57"/>
            <p:cNvGrpSpPr/>
            <p:nvPr/>
          </p:nvGrpSpPr>
          <p:grpSpPr>
            <a:xfrm>
              <a:off x="7713663" y="2848339"/>
              <a:ext cx="1042107" cy="425543"/>
              <a:chOff x="7786941" y="2884917"/>
              <a:chExt cx="897649" cy="353919"/>
            </a:xfrm>
          </p:grpSpPr>
          <p:sp>
            <p:nvSpPr>
              <p:cNvPr id="4060" name="Google Shape;4060;p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61" name="Google Shape;4061;p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62" name="Google Shape;4062;p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63" name="Google Shape;4063;p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grpSp>
      <p:sp>
        <p:nvSpPr>
          <p:cNvPr id="4064" name="Google Shape;4064;p57"/>
          <p:cNvSpPr/>
          <p:nvPr/>
        </p:nvSpPr>
        <p:spPr>
          <a:xfrm>
            <a:off x="7362436" y="2627566"/>
            <a:ext cx="3064097" cy="2683755"/>
          </a:xfrm>
          <a:custGeom>
            <a:rect b="b" l="l" r="r" t="t"/>
            <a:pathLst>
              <a:path extrusionOk="0" h="2683755" w="3064097">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cap="flat" cmpd="sng" w="3175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4065" name="Google Shape;4065;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32">
                                            <p:txEl>
                                              <p:pRg end="0" st="0"/>
                                            </p:txEl>
                                          </p:spTgt>
                                        </p:tgtEl>
                                        <p:attrNameLst>
                                          <p:attrName>style.visibility</p:attrName>
                                        </p:attrNameLst>
                                      </p:cBhvr>
                                      <p:to>
                                        <p:strVal val="visible"/>
                                      </p:to>
                                    </p:set>
                                    <p:animEffect filter="fade" transition="in">
                                      <p:cBhvr>
                                        <p:cTn dur="500"/>
                                        <p:tgtEl>
                                          <p:spTgt spid="353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532">
                                            <p:txEl>
                                              <p:pRg end="1" st="1"/>
                                            </p:txEl>
                                          </p:spTgt>
                                        </p:tgtEl>
                                        <p:attrNameLst>
                                          <p:attrName>style.visibility</p:attrName>
                                        </p:attrNameLst>
                                      </p:cBhvr>
                                      <p:to>
                                        <p:strVal val="visible"/>
                                      </p:to>
                                    </p:set>
                                    <p:animEffect filter="fade" transition="in">
                                      <p:cBhvr>
                                        <p:cTn dur="500"/>
                                        <p:tgtEl>
                                          <p:spTgt spid="353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532">
                                            <p:txEl>
                                              <p:pRg end="2" st="2"/>
                                            </p:txEl>
                                          </p:spTgt>
                                        </p:tgtEl>
                                        <p:attrNameLst>
                                          <p:attrName>style.visibility</p:attrName>
                                        </p:attrNameLst>
                                      </p:cBhvr>
                                      <p:to>
                                        <p:strVal val="visible"/>
                                      </p:to>
                                    </p:set>
                                    <p:animEffect filter="fade" transition="in">
                                      <p:cBhvr>
                                        <p:cTn dur="500"/>
                                        <p:tgtEl>
                                          <p:spTgt spid="353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532">
                                            <p:txEl>
                                              <p:pRg end="3" st="3"/>
                                            </p:txEl>
                                          </p:spTgt>
                                        </p:tgtEl>
                                        <p:attrNameLst>
                                          <p:attrName>style.visibility</p:attrName>
                                        </p:attrNameLst>
                                      </p:cBhvr>
                                      <p:to>
                                        <p:strVal val="visible"/>
                                      </p:to>
                                    </p:set>
                                    <p:animEffect filter="fade" transition="in">
                                      <p:cBhvr>
                                        <p:cTn dur="500"/>
                                        <p:tgtEl>
                                          <p:spTgt spid="353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3532">
                                            <p:txEl>
                                              <p:pRg end="4" st="4"/>
                                            </p:txEl>
                                          </p:spTgt>
                                        </p:tgtEl>
                                        <p:attrNameLst>
                                          <p:attrName>style.visibility</p:attrName>
                                        </p:attrNameLst>
                                      </p:cBhvr>
                                      <p:to>
                                        <p:strVal val="visible"/>
                                      </p:to>
                                    </p:set>
                                    <p:animEffect filter="fade" transition="in">
                                      <p:cBhvr>
                                        <p:cTn dur="500"/>
                                        <p:tgtEl>
                                          <p:spTgt spid="353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0" name="Shape 4070"/>
        <p:cNvGrpSpPr/>
        <p:nvPr/>
      </p:nvGrpSpPr>
      <p:grpSpPr>
        <a:xfrm>
          <a:off x="0" y="0"/>
          <a:ext cx="0" cy="0"/>
          <a:chOff x="0" y="0"/>
          <a:chExt cx="0" cy="0"/>
        </a:xfrm>
      </p:grpSpPr>
      <p:sp>
        <p:nvSpPr>
          <p:cNvPr id="4071" name="Google Shape;4071;p58"/>
          <p:cNvSpPr txBox="1"/>
          <p:nvPr>
            <p:ph type="title"/>
          </p:nvPr>
        </p:nvSpPr>
        <p:spPr>
          <a:xfrm>
            <a:off x="838200" y="348585"/>
            <a:ext cx="6860458"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Graph abstraction: link costs</a:t>
            </a:r>
            <a:endParaRPr/>
          </a:p>
        </p:txBody>
      </p:sp>
      <p:sp>
        <p:nvSpPr>
          <p:cNvPr id="4072" name="Google Shape;4072;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grpSp>
        <p:nvGrpSpPr>
          <p:cNvPr id="4073" name="Google Shape;4073;p58"/>
          <p:cNvGrpSpPr/>
          <p:nvPr/>
        </p:nvGrpSpPr>
        <p:grpSpPr>
          <a:xfrm>
            <a:off x="1238864" y="1288538"/>
            <a:ext cx="3571875" cy="2236788"/>
            <a:chOff x="3162" y="1071"/>
            <a:chExt cx="2250" cy="1409"/>
          </a:xfrm>
        </p:grpSpPr>
        <p:sp>
          <p:nvSpPr>
            <p:cNvPr id="4074" name="Google Shape;4074;p58"/>
            <p:cNvSpPr/>
            <p:nvPr/>
          </p:nvSpPr>
          <p:spPr>
            <a:xfrm>
              <a:off x="3162" y="1071"/>
              <a:ext cx="2250" cy="1409"/>
            </a:xfrm>
            <a:custGeom>
              <a:rect b="b" l="l" r="r" t="t"/>
              <a:pathLst>
                <a:path extrusionOk="0" h="1409" w="2250">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075" name="Google Shape;4075;p58"/>
            <p:cNvSpPr/>
            <p:nvPr/>
          </p:nvSpPr>
          <p:spPr>
            <a:xfrm>
              <a:off x="3498" y="1620"/>
              <a:ext cx="342" cy="186"/>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076" name="Google Shape;4076;p58"/>
            <p:cNvSpPr/>
            <p:nvPr/>
          </p:nvSpPr>
          <p:spPr>
            <a:xfrm>
              <a:off x="3238" y="1862"/>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4077" name="Google Shape;4077;p58"/>
            <p:cNvCxnSpPr/>
            <p:nvPr/>
          </p:nvCxnSpPr>
          <p:spPr>
            <a:xfrm>
              <a:off x="3238" y="1855"/>
              <a:ext cx="0" cy="50"/>
            </a:xfrm>
            <a:prstGeom prst="straightConnector1">
              <a:avLst/>
            </a:prstGeom>
            <a:noFill/>
            <a:ln cap="flat" cmpd="sng" w="12700">
              <a:solidFill>
                <a:srgbClr val="000000"/>
              </a:solidFill>
              <a:prstDash val="solid"/>
              <a:round/>
              <a:headEnd len="med" w="med" type="none"/>
              <a:tailEnd len="med" w="med" type="none"/>
            </a:ln>
          </p:spPr>
        </p:cxnSp>
        <p:cxnSp>
          <p:nvCxnSpPr>
            <p:cNvPr id="4078" name="Google Shape;4078;p58"/>
            <p:cNvCxnSpPr/>
            <p:nvPr/>
          </p:nvCxnSpPr>
          <p:spPr>
            <a:xfrm>
              <a:off x="3551" y="1855"/>
              <a:ext cx="0" cy="50"/>
            </a:xfrm>
            <a:prstGeom prst="straightConnector1">
              <a:avLst/>
            </a:prstGeom>
            <a:noFill/>
            <a:ln cap="flat" cmpd="sng" w="12700">
              <a:solidFill>
                <a:srgbClr val="000000"/>
              </a:solidFill>
              <a:prstDash val="solid"/>
              <a:round/>
              <a:headEnd len="med" w="med" type="none"/>
              <a:tailEnd len="med" w="med" type="none"/>
            </a:ln>
          </p:spPr>
        </p:cxnSp>
        <p:sp>
          <p:nvSpPr>
            <p:cNvPr id="4079" name="Google Shape;4079;p58"/>
            <p:cNvSpPr/>
            <p:nvPr/>
          </p:nvSpPr>
          <p:spPr>
            <a:xfrm>
              <a:off x="3238" y="1855"/>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80" name="Google Shape;4080;p58"/>
            <p:cNvSpPr/>
            <p:nvPr/>
          </p:nvSpPr>
          <p:spPr>
            <a:xfrm>
              <a:off x="3235" y="1796"/>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081" name="Google Shape;4081;p58"/>
            <p:cNvSpPr/>
            <p:nvPr/>
          </p:nvSpPr>
          <p:spPr>
            <a:xfrm>
              <a:off x="3712" y="2249"/>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4082" name="Google Shape;4082;p58"/>
            <p:cNvCxnSpPr/>
            <p:nvPr/>
          </p:nvCxnSpPr>
          <p:spPr>
            <a:xfrm>
              <a:off x="3712" y="2242"/>
              <a:ext cx="0" cy="50"/>
            </a:xfrm>
            <a:prstGeom prst="straightConnector1">
              <a:avLst/>
            </a:prstGeom>
            <a:noFill/>
            <a:ln cap="flat" cmpd="sng" w="12700">
              <a:solidFill>
                <a:srgbClr val="000000"/>
              </a:solidFill>
              <a:prstDash val="solid"/>
              <a:round/>
              <a:headEnd len="med" w="med" type="none"/>
              <a:tailEnd len="med" w="med" type="none"/>
            </a:ln>
          </p:spPr>
        </p:cxnSp>
        <p:cxnSp>
          <p:nvCxnSpPr>
            <p:cNvPr id="4083" name="Google Shape;4083;p58"/>
            <p:cNvCxnSpPr/>
            <p:nvPr/>
          </p:nvCxnSpPr>
          <p:spPr>
            <a:xfrm>
              <a:off x="4025" y="2242"/>
              <a:ext cx="0" cy="50"/>
            </a:xfrm>
            <a:prstGeom prst="straightConnector1">
              <a:avLst/>
            </a:prstGeom>
            <a:noFill/>
            <a:ln cap="flat" cmpd="sng" w="12700">
              <a:solidFill>
                <a:srgbClr val="000000"/>
              </a:solidFill>
              <a:prstDash val="solid"/>
              <a:round/>
              <a:headEnd len="med" w="med" type="none"/>
              <a:tailEnd len="med" w="med" type="none"/>
            </a:ln>
          </p:spPr>
        </p:cxnSp>
        <p:sp>
          <p:nvSpPr>
            <p:cNvPr id="4084" name="Google Shape;4084;p58"/>
            <p:cNvSpPr/>
            <p:nvPr/>
          </p:nvSpPr>
          <p:spPr>
            <a:xfrm>
              <a:off x="3712" y="2242"/>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85" name="Google Shape;4085;p58"/>
            <p:cNvSpPr/>
            <p:nvPr/>
          </p:nvSpPr>
          <p:spPr>
            <a:xfrm>
              <a:off x="3709" y="2183"/>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086" name="Google Shape;4086;p58"/>
            <p:cNvSpPr/>
            <p:nvPr/>
          </p:nvSpPr>
          <p:spPr>
            <a:xfrm>
              <a:off x="3708" y="1559"/>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4087" name="Google Shape;4087;p58"/>
            <p:cNvCxnSpPr/>
            <p:nvPr/>
          </p:nvCxnSpPr>
          <p:spPr>
            <a:xfrm>
              <a:off x="3708" y="1552"/>
              <a:ext cx="0" cy="50"/>
            </a:xfrm>
            <a:prstGeom prst="straightConnector1">
              <a:avLst/>
            </a:prstGeom>
            <a:noFill/>
            <a:ln cap="flat" cmpd="sng" w="12700">
              <a:solidFill>
                <a:srgbClr val="000000"/>
              </a:solidFill>
              <a:prstDash val="solid"/>
              <a:round/>
              <a:headEnd len="med" w="med" type="none"/>
              <a:tailEnd len="med" w="med" type="none"/>
            </a:ln>
          </p:spPr>
        </p:cxnSp>
        <p:cxnSp>
          <p:nvCxnSpPr>
            <p:cNvPr id="4088" name="Google Shape;4088;p58"/>
            <p:cNvCxnSpPr/>
            <p:nvPr/>
          </p:nvCxnSpPr>
          <p:spPr>
            <a:xfrm>
              <a:off x="4021" y="1552"/>
              <a:ext cx="0" cy="50"/>
            </a:xfrm>
            <a:prstGeom prst="straightConnector1">
              <a:avLst/>
            </a:prstGeom>
            <a:noFill/>
            <a:ln cap="flat" cmpd="sng" w="12700">
              <a:solidFill>
                <a:srgbClr val="000000"/>
              </a:solidFill>
              <a:prstDash val="solid"/>
              <a:round/>
              <a:headEnd len="med" w="med" type="none"/>
              <a:tailEnd len="med" w="med" type="none"/>
            </a:ln>
          </p:spPr>
        </p:cxnSp>
        <p:sp>
          <p:nvSpPr>
            <p:cNvPr id="4089" name="Google Shape;4089;p58"/>
            <p:cNvSpPr/>
            <p:nvPr/>
          </p:nvSpPr>
          <p:spPr>
            <a:xfrm>
              <a:off x="3708" y="1552"/>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90" name="Google Shape;4090;p58"/>
            <p:cNvSpPr/>
            <p:nvPr/>
          </p:nvSpPr>
          <p:spPr>
            <a:xfrm>
              <a:off x="3705" y="1493"/>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091" name="Google Shape;4091;p58"/>
            <p:cNvSpPr/>
            <p:nvPr/>
          </p:nvSpPr>
          <p:spPr>
            <a:xfrm>
              <a:off x="4391" y="1555"/>
              <a:ext cx="312"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4092" name="Google Shape;4092;p58"/>
            <p:cNvCxnSpPr/>
            <p:nvPr/>
          </p:nvCxnSpPr>
          <p:spPr>
            <a:xfrm>
              <a:off x="4391" y="1548"/>
              <a:ext cx="0" cy="50"/>
            </a:xfrm>
            <a:prstGeom prst="straightConnector1">
              <a:avLst/>
            </a:prstGeom>
            <a:noFill/>
            <a:ln cap="flat" cmpd="sng" w="12700">
              <a:solidFill>
                <a:srgbClr val="000000"/>
              </a:solidFill>
              <a:prstDash val="solid"/>
              <a:round/>
              <a:headEnd len="med" w="med" type="none"/>
              <a:tailEnd len="med" w="med" type="none"/>
            </a:ln>
          </p:spPr>
        </p:cxnSp>
        <p:cxnSp>
          <p:nvCxnSpPr>
            <p:cNvPr id="4093" name="Google Shape;4093;p58"/>
            <p:cNvCxnSpPr/>
            <p:nvPr/>
          </p:nvCxnSpPr>
          <p:spPr>
            <a:xfrm>
              <a:off x="4703" y="1548"/>
              <a:ext cx="0" cy="50"/>
            </a:xfrm>
            <a:prstGeom prst="straightConnector1">
              <a:avLst/>
            </a:prstGeom>
            <a:noFill/>
            <a:ln cap="flat" cmpd="sng" w="12700">
              <a:solidFill>
                <a:srgbClr val="000000"/>
              </a:solidFill>
              <a:prstDash val="solid"/>
              <a:round/>
              <a:headEnd len="med" w="med" type="none"/>
              <a:tailEnd len="med" w="med" type="none"/>
            </a:ln>
          </p:spPr>
        </p:cxnSp>
        <p:sp>
          <p:nvSpPr>
            <p:cNvPr id="4094" name="Google Shape;4094;p58"/>
            <p:cNvSpPr/>
            <p:nvPr/>
          </p:nvSpPr>
          <p:spPr>
            <a:xfrm>
              <a:off x="4391" y="1548"/>
              <a:ext cx="309"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095" name="Google Shape;4095;p58"/>
            <p:cNvSpPr/>
            <p:nvPr/>
          </p:nvSpPr>
          <p:spPr>
            <a:xfrm>
              <a:off x="4394" y="1492"/>
              <a:ext cx="312"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096" name="Google Shape;4096;p58"/>
            <p:cNvSpPr/>
            <p:nvPr/>
          </p:nvSpPr>
          <p:spPr>
            <a:xfrm>
              <a:off x="4401" y="2246"/>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4097" name="Google Shape;4097;p58"/>
            <p:cNvCxnSpPr/>
            <p:nvPr/>
          </p:nvCxnSpPr>
          <p:spPr>
            <a:xfrm>
              <a:off x="4401" y="2239"/>
              <a:ext cx="0" cy="50"/>
            </a:xfrm>
            <a:prstGeom prst="straightConnector1">
              <a:avLst/>
            </a:prstGeom>
            <a:noFill/>
            <a:ln cap="flat" cmpd="sng" w="12700">
              <a:solidFill>
                <a:srgbClr val="000000"/>
              </a:solidFill>
              <a:prstDash val="solid"/>
              <a:round/>
              <a:headEnd len="med" w="med" type="none"/>
              <a:tailEnd len="med" w="med" type="none"/>
            </a:ln>
          </p:spPr>
        </p:cxnSp>
        <p:cxnSp>
          <p:nvCxnSpPr>
            <p:cNvPr id="4098" name="Google Shape;4098;p58"/>
            <p:cNvCxnSpPr/>
            <p:nvPr/>
          </p:nvCxnSpPr>
          <p:spPr>
            <a:xfrm>
              <a:off x="4714" y="2239"/>
              <a:ext cx="0" cy="50"/>
            </a:xfrm>
            <a:prstGeom prst="straightConnector1">
              <a:avLst/>
            </a:prstGeom>
            <a:noFill/>
            <a:ln cap="flat" cmpd="sng" w="12700">
              <a:solidFill>
                <a:srgbClr val="000000"/>
              </a:solidFill>
              <a:prstDash val="solid"/>
              <a:round/>
              <a:headEnd len="med" w="med" type="none"/>
              <a:tailEnd len="med" w="med" type="none"/>
            </a:ln>
          </p:spPr>
        </p:cxnSp>
        <p:sp>
          <p:nvSpPr>
            <p:cNvPr id="4099" name="Google Shape;4099;p58"/>
            <p:cNvSpPr/>
            <p:nvPr/>
          </p:nvSpPr>
          <p:spPr>
            <a:xfrm>
              <a:off x="4401" y="2239"/>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100" name="Google Shape;4100;p58"/>
            <p:cNvSpPr/>
            <p:nvPr/>
          </p:nvSpPr>
          <p:spPr>
            <a:xfrm>
              <a:off x="4398" y="2180"/>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01" name="Google Shape;4101;p58"/>
            <p:cNvSpPr/>
            <p:nvPr/>
          </p:nvSpPr>
          <p:spPr>
            <a:xfrm>
              <a:off x="4966" y="1905"/>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4102" name="Google Shape;4102;p58"/>
            <p:cNvCxnSpPr/>
            <p:nvPr/>
          </p:nvCxnSpPr>
          <p:spPr>
            <a:xfrm>
              <a:off x="4966" y="1898"/>
              <a:ext cx="0" cy="50"/>
            </a:xfrm>
            <a:prstGeom prst="straightConnector1">
              <a:avLst/>
            </a:prstGeom>
            <a:noFill/>
            <a:ln cap="flat" cmpd="sng" w="12700">
              <a:solidFill>
                <a:srgbClr val="000000"/>
              </a:solidFill>
              <a:prstDash val="solid"/>
              <a:round/>
              <a:headEnd len="med" w="med" type="none"/>
              <a:tailEnd len="med" w="med" type="none"/>
            </a:ln>
          </p:spPr>
        </p:cxnSp>
        <p:cxnSp>
          <p:nvCxnSpPr>
            <p:cNvPr id="4103" name="Google Shape;4103;p58"/>
            <p:cNvCxnSpPr/>
            <p:nvPr/>
          </p:nvCxnSpPr>
          <p:spPr>
            <a:xfrm>
              <a:off x="5279" y="1898"/>
              <a:ext cx="0" cy="50"/>
            </a:xfrm>
            <a:prstGeom prst="straightConnector1">
              <a:avLst/>
            </a:prstGeom>
            <a:noFill/>
            <a:ln cap="flat" cmpd="sng" w="12700">
              <a:solidFill>
                <a:srgbClr val="000000"/>
              </a:solidFill>
              <a:prstDash val="solid"/>
              <a:round/>
              <a:headEnd len="med" w="med" type="none"/>
              <a:tailEnd len="med" w="med" type="none"/>
            </a:ln>
          </p:spPr>
        </p:cxnSp>
        <p:sp>
          <p:nvSpPr>
            <p:cNvPr id="4104" name="Google Shape;4104;p58"/>
            <p:cNvSpPr/>
            <p:nvPr/>
          </p:nvSpPr>
          <p:spPr>
            <a:xfrm>
              <a:off x="4966" y="1898"/>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105" name="Google Shape;4105;p58"/>
            <p:cNvSpPr/>
            <p:nvPr/>
          </p:nvSpPr>
          <p:spPr>
            <a:xfrm>
              <a:off x="4963" y="1839"/>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06" name="Google Shape;4106;p58"/>
            <p:cNvSpPr/>
            <p:nvPr/>
          </p:nvSpPr>
          <p:spPr>
            <a:xfrm>
              <a:off x="4557" y="1647"/>
              <a:ext cx="1" cy="522"/>
            </a:xfrm>
            <a:custGeom>
              <a:rect b="b" l="l" r="r" t="t"/>
              <a:pathLst>
                <a:path extrusionOk="0" h="522" w="1">
                  <a:moveTo>
                    <a:pt x="0" y="0"/>
                  </a:moveTo>
                  <a:lnTo>
                    <a:pt x="0" y="522"/>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07" name="Google Shape;4107;p58"/>
            <p:cNvSpPr/>
            <p:nvPr/>
          </p:nvSpPr>
          <p:spPr>
            <a:xfrm>
              <a:off x="3864" y="1653"/>
              <a:ext cx="1" cy="537"/>
            </a:xfrm>
            <a:custGeom>
              <a:rect b="b" l="l" r="r" t="t"/>
              <a:pathLst>
                <a:path extrusionOk="0" h="537" w="1">
                  <a:moveTo>
                    <a:pt x="0" y="0"/>
                  </a:moveTo>
                  <a:lnTo>
                    <a:pt x="0" y="537"/>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08" name="Google Shape;4108;p58"/>
            <p:cNvSpPr/>
            <p:nvPr/>
          </p:nvSpPr>
          <p:spPr>
            <a:xfrm>
              <a:off x="4029" y="1638"/>
              <a:ext cx="504" cy="60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09" name="Google Shape;4109;p58"/>
            <p:cNvSpPr/>
            <p:nvPr/>
          </p:nvSpPr>
          <p:spPr>
            <a:xfrm>
              <a:off x="4716" y="1986"/>
              <a:ext cx="366" cy="270"/>
            </a:xfrm>
            <a:custGeom>
              <a:rect b="b" l="l" r="r" t="t"/>
              <a:pathLst>
                <a:path extrusionOk="0" h="270" w="366">
                  <a:moveTo>
                    <a:pt x="0" y="270"/>
                  </a:moveTo>
                  <a:lnTo>
                    <a:pt x="366"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10" name="Google Shape;4110;p58"/>
            <p:cNvSpPr/>
            <p:nvPr/>
          </p:nvSpPr>
          <p:spPr>
            <a:xfrm>
              <a:off x="4035" y="2268"/>
              <a:ext cx="366" cy="1"/>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11" name="Google Shape;4111;p58"/>
            <p:cNvSpPr/>
            <p:nvPr/>
          </p:nvSpPr>
          <p:spPr>
            <a:xfrm>
              <a:off x="3444" y="1944"/>
              <a:ext cx="276" cy="264"/>
            </a:xfrm>
            <a:custGeom>
              <a:rect b="b" l="l" r="r" t="t"/>
              <a:pathLst>
                <a:path extrusionOk="0" h="264" w="276">
                  <a:moveTo>
                    <a:pt x="276" y="264"/>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12" name="Google Shape;4112;p58"/>
            <p:cNvSpPr/>
            <p:nvPr/>
          </p:nvSpPr>
          <p:spPr>
            <a:xfrm>
              <a:off x="4029" y="1578"/>
              <a:ext cx="366" cy="1"/>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13" name="Google Shape;4113;p58"/>
            <p:cNvSpPr/>
            <p:nvPr/>
          </p:nvSpPr>
          <p:spPr>
            <a:xfrm>
              <a:off x="4704" y="1575"/>
              <a:ext cx="396" cy="267"/>
            </a:xfrm>
            <a:custGeom>
              <a:rect b="b" l="l" r="r" t="t"/>
              <a:pathLst>
                <a:path extrusionOk="0" h="267" w="396">
                  <a:moveTo>
                    <a:pt x="396" y="267"/>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14" name="Google Shape;4114;p58"/>
            <p:cNvSpPr/>
            <p:nvPr/>
          </p:nvSpPr>
          <p:spPr>
            <a:xfrm>
              <a:off x="3387" y="1146"/>
              <a:ext cx="1110" cy="645"/>
            </a:xfrm>
            <a:custGeom>
              <a:rect b="b" l="l" r="r" t="t"/>
              <a:pathLst>
                <a:path extrusionOk="0" h="645" w="1110">
                  <a:moveTo>
                    <a:pt x="1110" y="342"/>
                  </a:moveTo>
                  <a:cubicBezTo>
                    <a:pt x="1104" y="0"/>
                    <a:pt x="21" y="63"/>
                    <a:pt x="0" y="645"/>
                  </a:cubicBez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4115" name="Google Shape;4115;p58"/>
            <p:cNvGrpSpPr/>
            <p:nvPr/>
          </p:nvGrpSpPr>
          <p:grpSpPr>
            <a:xfrm>
              <a:off x="3287" y="1744"/>
              <a:ext cx="205" cy="250"/>
              <a:chOff x="2954" y="2425"/>
              <a:chExt cx="208" cy="250"/>
            </a:xfrm>
          </p:grpSpPr>
          <p:sp>
            <p:nvSpPr>
              <p:cNvPr id="4116" name="Google Shape;4116;p5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17" name="Google Shape;4117;p58"/>
              <p:cNvSpPr txBox="1"/>
              <p:nvPr/>
            </p:nvSpPr>
            <p:spPr>
              <a:xfrm>
                <a:off x="2954" y="2425"/>
                <a:ext cx="208"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u</a:t>
                </a:r>
                <a:endParaRPr b="0" i="0" sz="2400" u="none" cap="none" strike="noStrike">
                  <a:solidFill>
                    <a:srgbClr val="000000"/>
                  </a:solidFill>
                  <a:latin typeface="Arial"/>
                  <a:ea typeface="Arial"/>
                  <a:cs typeface="Arial"/>
                  <a:sym typeface="Arial"/>
                </a:endParaRPr>
              </a:p>
            </p:txBody>
          </p:sp>
        </p:grpSp>
        <p:grpSp>
          <p:nvGrpSpPr>
            <p:cNvPr id="4118" name="Google Shape;4118;p58"/>
            <p:cNvGrpSpPr/>
            <p:nvPr/>
          </p:nvGrpSpPr>
          <p:grpSpPr>
            <a:xfrm>
              <a:off x="4461" y="2128"/>
              <a:ext cx="196" cy="250"/>
              <a:chOff x="2958" y="2425"/>
              <a:chExt cx="199" cy="250"/>
            </a:xfrm>
          </p:grpSpPr>
          <p:sp>
            <p:nvSpPr>
              <p:cNvPr id="4119" name="Google Shape;4119;p58"/>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20" name="Google Shape;4120;p58"/>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y</a:t>
                </a:r>
                <a:endParaRPr b="0" i="0" sz="2400" u="none" cap="none" strike="noStrike">
                  <a:solidFill>
                    <a:srgbClr val="000000"/>
                  </a:solidFill>
                  <a:latin typeface="Arial"/>
                  <a:ea typeface="Arial"/>
                  <a:cs typeface="Arial"/>
                  <a:sym typeface="Arial"/>
                </a:endParaRPr>
              </a:p>
            </p:txBody>
          </p:sp>
        </p:grpSp>
        <p:grpSp>
          <p:nvGrpSpPr>
            <p:cNvPr id="4121" name="Google Shape;4121;p58"/>
            <p:cNvGrpSpPr/>
            <p:nvPr/>
          </p:nvGrpSpPr>
          <p:grpSpPr>
            <a:xfrm>
              <a:off x="3772" y="2095"/>
              <a:ext cx="212" cy="288"/>
              <a:chOff x="2951" y="2395"/>
              <a:chExt cx="213" cy="288"/>
            </a:xfrm>
          </p:grpSpPr>
          <p:sp>
            <p:nvSpPr>
              <p:cNvPr id="4122" name="Google Shape;4122;p5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23" name="Google Shape;4123;p58"/>
              <p:cNvSpPr txBox="1"/>
              <p:nvPr/>
            </p:nvSpPr>
            <p:spPr>
              <a:xfrm>
                <a:off x="2951" y="2395"/>
                <a:ext cx="21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x</a:t>
                </a:r>
                <a:endParaRPr/>
              </a:p>
            </p:txBody>
          </p:sp>
        </p:grpSp>
        <p:grpSp>
          <p:nvGrpSpPr>
            <p:cNvPr id="4124" name="Google Shape;4124;p58"/>
            <p:cNvGrpSpPr/>
            <p:nvPr/>
          </p:nvGrpSpPr>
          <p:grpSpPr>
            <a:xfrm>
              <a:off x="4438" y="1438"/>
              <a:ext cx="232" cy="250"/>
              <a:chOff x="2941" y="2425"/>
              <a:chExt cx="235" cy="250"/>
            </a:xfrm>
          </p:grpSpPr>
          <p:sp>
            <p:nvSpPr>
              <p:cNvPr id="4125" name="Google Shape;4125;p58"/>
              <p:cNvSpPr/>
              <p:nvPr/>
            </p:nvSpPr>
            <p:spPr>
              <a:xfrm>
                <a:off x="2982" y="2490"/>
                <a:ext cx="146"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26" name="Google Shape;4126;p58"/>
              <p:cNvSpPr txBox="1"/>
              <p:nvPr/>
            </p:nvSpPr>
            <p:spPr>
              <a:xfrm>
                <a:off x="2941" y="2425"/>
                <a:ext cx="235"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w</a:t>
                </a:r>
                <a:endParaRPr b="0" i="0" sz="2400" u="none" cap="none" strike="noStrike">
                  <a:solidFill>
                    <a:srgbClr val="000000"/>
                  </a:solidFill>
                  <a:latin typeface="Arial"/>
                  <a:ea typeface="Arial"/>
                  <a:cs typeface="Arial"/>
                  <a:sym typeface="Arial"/>
                </a:endParaRPr>
              </a:p>
            </p:txBody>
          </p:sp>
        </p:grpSp>
        <p:grpSp>
          <p:nvGrpSpPr>
            <p:cNvPr id="4127" name="Google Shape;4127;p58"/>
            <p:cNvGrpSpPr/>
            <p:nvPr/>
          </p:nvGrpSpPr>
          <p:grpSpPr>
            <a:xfrm>
              <a:off x="3771" y="1438"/>
              <a:ext cx="196" cy="250"/>
              <a:chOff x="2958" y="2425"/>
              <a:chExt cx="199" cy="250"/>
            </a:xfrm>
          </p:grpSpPr>
          <p:sp>
            <p:nvSpPr>
              <p:cNvPr id="4128" name="Google Shape;4128;p58"/>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29" name="Google Shape;4129;p58"/>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rgbClr val="000000"/>
                    </a:solidFill>
                    <a:latin typeface="Arial"/>
                    <a:ea typeface="Arial"/>
                    <a:cs typeface="Arial"/>
                    <a:sym typeface="Arial"/>
                  </a:rPr>
                  <a:t>v</a:t>
                </a:r>
                <a:endParaRPr b="0" i="0" sz="2400" u="none" cap="none" strike="noStrike">
                  <a:solidFill>
                    <a:srgbClr val="000000"/>
                  </a:solidFill>
                  <a:latin typeface="Arial"/>
                  <a:ea typeface="Arial"/>
                  <a:cs typeface="Arial"/>
                  <a:sym typeface="Arial"/>
                </a:endParaRPr>
              </a:p>
            </p:txBody>
          </p:sp>
        </p:grpSp>
        <p:grpSp>
          <p:nvGrpSpPr>
            <p:cNvPr id="4130" name="Google Shape;4130;p58"/>
            <p:cNvGrpSpPr/>
            <p:nvPr/>
          </p:nvGrpSpPr>
          <p:grpSpPr>
            <a:xfrm>
              <a:off x="5025" y="1756"/>
              <a:ext cx="212" cy="288"/>
              <a:chOff x="2949" y="2395"/>
              <a:chExt cx="214" cy="288"/>
            </a:xfrm>
          </p:grpSpPr>
          <p:sp>
            <p:nvSpPr>
              <p:cNvPr id="4131" name="Google Shape;4131;p58"/>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4132" name="Google Shape;4132;p58"/>
              <p:cNvSpPr txBox="1"/>
              <p:nvPr/>
            </p:nvSpPr>
            <p:spPr>
              <a:xfrm>
                <a:off x="2949" y="2395"/>
                <a:ext cx="21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z</a:t>
                </a:r>
                <a:endParaRPr/>
              </a:p>
            </p:txBody>
          </p:sp>
        </p:grpSp>
        <p:sp>
          <p:nvSpPr>
            <p:cNvPr id="4133" name="Google Shape;4133;p58"/>
            <p:cNvSpPr txBox="1"/>
            <p:nvPr/>
          </p:nvSpPr>
          <p:spPr>
            <a:xfrm>
              <a:off x="3493" y="1568"/>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2</a:t>
              </a:r>
              <a:endParaRPr b="0" i="0" sz="2400" u="none" cap="none" strike="noStrike">
                <a:solidFill>
                  <a:srgbClr val="000000"/>
                </a:solidFill>
                <a:latin typeface="Arial"/>
                <a:ea typeface="Arial"/>
                <a:cs typeface="Arial"/>
                <a:sym typeface="Arial"/>
              </a:endParaRPr>
            </a:p>
          </p:txBody>
        </p:sp>
        <p:sp>
          <p:nvSpPr>
            <p:cNvPr id="4134" name="Google Shape;4134;p58"/>
            <p:cNvSpPr txBox="1"/>
            <p:nvPr/>
          </p:nvSpPr>
          <p:spPr>
            <a:xfrm>
              <a:off x="3841" y="1787"/>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2</a:t>
              </a:r>
              <a:endParaRPr b="0" i="0" sz="2400" u="none" cap="none" strike="noStrike">
                <a:solidFill>
                  <a:srgbClr val="000000"/>
                </a:solidFill>
                <a:latin typeface="Arial"/>
                <a:ea typeface="Arial"/>
                <a:cs typeface="Arial"/>
                <a:sym typeface="Arial"/>
              </a:endParaRPr>
            </a:p>
          </p:txBody>
        </p:sp>
        <p:sp>
          <p:nvSpPr>
            <p:cNvPr id="4135" name="Google Shape;4135;p58"/>
            <p:cNvSpPr txBox="1"/>
            <p:nvPr/>
          </p:nvSpPr>
          <p:spPr>
            <a:xfrm>
              <a:off x="3406" y="2000"/>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1</a:t>
              </a:r>
              <a:endParaRPr b="0" i="0" sz="2400" u="none" cap="none" strike="noStrike">
                <a:solidFill>
                  <a:srgbClr val="000000"/>
                </a:solidFill>
                <a:latin typeface="Arial"/>
                <a:ea typeface="Arial"/>
                <a:cs typeface="Arial"/>
                <a:sym typeface="Arial"/>
              </a:endParaRPr>
            </a:p>
          </p:txBody>
        </p:sp>
        <p:sp>
          <p:nvSpPr>
            <p:cNvPr id="4136" name="Google Shape;4136;p58"/>
            <p:cNvSpPr txBox="1"/>
            <p:nvPr/>
          </p:nvSpPr>
          <p:spPr>
            <a:xfrm>
              <a:off x="4225" y="1880"/>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3</a:t>
              </a:r>
              <a:endParaRPr b="0" i="0" sz="2400" u="none" cap="none" strike="noStrike">
                <a:solidFill>
                  <a:srgbClr val="000000"/>
                </a:solidFill>
                <a:latin typeface="Arial"/>
                <a:ea typeface="Arial"/>
                <a:cs typeface="Arial"/>
                <a:sym typeface="Arial"/>
              </a:endParaRPr>
            </a:p>
          </p:txBody>
        </p:sp>
        <p:sp>
          <p:nvSpPr>
            <p:cNvPr id="4137" name="Google Shape;4137;p58"/>
            <p:cNvSpPr txBox="1"/>
            <p:nvPr/>
          </p:nvSpPr>
          <p:spPr>
            <a:xfrm>
              <a:off x="4162" y="2234"/>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1</a:t>
              </a:r>
              <a:endParaRPr b="0" i="0" sz="2400" u="none" cap="none" strike="noStrike">
                <a:solidFill>
                  <a:srgbClr val="000000"/>
                </a:solidFill>
                <a:latin typeface="Arial"/>
                <a:ea typeface="Arial"/>
                <a:cs typeface="Arial"/>
                <a:sym typeface="Arial"/>
              </a:endParaRPr>
            </a:p>
          </p:txBody>
        </p:sp>
        <p:sp>
          <p:nvSpPr>
            <p:cNvPr id="4138" name="Google Shape;4138;p58"/>
            <p:cNvSpPr txBox="1"/>
            <p:nvPr/>
          </p:nvSpPr>
          <p:spPr>
            <a:xfrm>
              <a:off x="4522" y="1805"/>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1</a:t>
              </a:r>
              <a:endParaRPr b="0" i="0" sz="2400" u="none" cap="none" strike="noStrike">
                <a:solidFill>
                  <a:srgbClr val="000000"/>
                </a:solidFill>
                <a:latin typeface="Arial"/>
                <a:ea typeface="Arial"/>
                <a:cs typeface="Arial"/>
                <a:sym typeface="Arial"/>
              </a:endParaRPr>
            </a:p>
          </p:txBody>
        </p:sp>
        <p:sp>
          <p:nvSpPr>
            <p:cNvPr id="4139" name="Google Shape;4139;p58"/>
            <p:cNvSpPr txBox="1"/>
            <p:nvPr/>
          </p:nvSpPr>
          <p:spPr>
            <a:xfrm>
              <a:off x="4882" y="2069"/>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2</a:t>
              </a:r>
              <a:endParaRPr b="0" i="0" sz="2400" u="none" cap="none" strike="noStrike">
                <a:solidFill>
                  <a:srgbClr val="000000"/>
                </a:solidFill>
                <a:latin typeface="Arial"/>
                <a:ea typeface="Arial"/>
                <a:cs typeface="Arial"/>
                <a:sym typeface="Arial"/>
              </a:endParaRPr>
            </a:p>
          </p:txBody>
        </p:sp>
        <p:sp>
          <p:nvSpPr>
            <p:cNvPr id="4140" name="Google Shape;4140;p58"/>
            <p:cNvSpPr txBox="1"/>
            <p:nvPr/>
          </p:nvSpPr>
          <p:spPr>
            <a:xfrm>
              <a:off x="4855" y="1532"/>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5</a:t>
              </a:r>
              <a:endParaRPr b="0" i="0" sz="2400" u="none" cap="none" strike="noStrike">
                <a:solidFill>
                  <a:srgbClr val="000000"/>
                </a:solidFill>
                <a:latin typeface="Arial"/>
                <a:ea typeface="Arial"/>
                <a:cs typeface="Arial"/>
                <a:sym typeface="Arial"/>
              </a:endParaRPr>
            </a:p>
          </p:txBody>
        </p:sp>
        <p:sp>
          <p:nvSpPr>
            <p:cNvPr id="4141" name="Google Shape;4141;p58"/>
            <p:cNvSpPr txBox="1"/>
            <p:nvPr/>
          </p:nvSpPr>
          <p:spPr>
            <a:xfrm>
              <a:off x="4120" y="1382"/>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3</a:t>
              </a:r>
              <a:endParaRPr b="0" i="0" sz="2400" u="none" cap="none" strike="noStrike">
                <a:solidFill>
                  <a:srgbClr val="000000"/>
                </a:solidFill>
                <a:latin typeface="Arial"/>
                <a:ea typeface="Arial"/>
                <a:cs typeface="Arial"/>
                <a:sym typeface="Arial"/>
              </a:endParaRPr>
            </a:p>
          </p:txBody>
        </p:sp>
        <p:sp>
          <p:nvSpPr>
            <p:cNvPr id="4142" name="Google Shape;4142;p58"/>
            <p:cNvSpPr txBox="1"/>
            <p:nvPr/>
          </p:nvSpPr>
          <p:spPr>
            <a:xfrm>
              <a:off x="3769" y="1115"/>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5</a:t>
              </a:r>
              <a:endParaRPr b="0" i="0" sz="2400" u="none" cap="none" strike="noStrike">
                <a:solidFill>
                  <a:srgbClr val="000000"/>
                </a:solidFill>
                <a:latin typeface="Arial"/>
                <a:ea typeface="Arial"/>
                <a:cs typeface="Arial"/>
                <a:sym typeface="Arial"/>
              </a:endParaRPr>
            </a:p>
          </p:txBody>
        </p:sp>
      </p:grpSp>
      <p:sp>
        <p:nvSpPr>
          <p:cNvPr id="4143" name="Google Shape;4143;p58"/>
          <p:cNvSpPr txBox="1"/>
          <p:nvPr/>
        </p:nvSpPr>
        <p:spPr>
          <a:xfrm>
            <a:off x="1411748" y="3898081"/>
            <a:ext cx="2480807"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0000"/>
                </a:solidFill>
                <a:latin typeface="Calibri"/>
                <a:ea typeface="Calibri"/>
                <a:cs typeface="Calibri"/>
                <a:sym typeface="Calibri"/>
              </a:rPr>
              <a:t>graph: </a:t>
            </a:r>
            <a:r>
              <a:rPr b="0" i="1" lang="en-US" sz="2800" u="none" cap="none" strike="noStrike">
                <a:solidFill>
                  <a:srgbClr val="000000"/>
                </a:solidFill>
                <a:latin typeface="Calibri"/>
                <a:ea typeface="Calibri"/>
                <a:cs typeface="Calibri"/>
                <a:sym typeface="Calibri"/>
              </a:rPr>
              <a:t>G = (N,E)</a:t>
            </a:r>
            <a:endParaRPr/>
          </a:p>
          <a:p>
            <a:pPr indent="0" lvl="0" marL="0" marR="0" rtl="0" algn="l">
              <a:spcBef>
                <a:spcPts val="0"/>
              </a:spcBef>
              <a:spcAft>
                <a:spcPts val="0"/>
              </a:spcAft>
              <a:buNone/>
            </a:pPr>
            <a:r>
              <a:t/>
            </a:r>
            <a:endParaRPr b="0" i="0" sz="2800" u="none" cap="none" strike="noStrike">
              <a:solidFill>
                <a:srgbClr val="000000"/>
              </a:solidFill>
              <a:latin typeface="Calibri"/>
              <a:ea typeface="Calibri"/>
              <a:cs typeface="Calibri"/>
              <a:sym typeface="Calibri"/>
            </a:endParaRPr>
          </a:p>
        </p:txBody>
      </p:sp>
      <p:sp>
        <p:nvSpPr>
          <p:cNvPr id="4144" name="Google Shape;4144;p58"/>
          <p:cNvSpPr txBox="1"/>
          <p:nvPr/>
        </p:nvSpPr>
        <p:spPr>
          <a:xfrm>
            <a:off x="5456905" y="1415845"/>
            <a:ext cx="5884606"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cap="none" strike="noStrike">
                <a:solidFill>
                  <a:srgbClr val="000000"/>
                </a:solidFill>
                <a:latin typeface="Calibri"/>
                <a:ea typeface="Calibri"/>
                <a:cs typeface="Calibri"/>
                <a:sym typeface="Calibri"/>
              </a:rPr>
              <a:t>c</a:t>
            </a:r>
            <a:r>
              <a:rPr b="0" baseline="-25000" i="1" lang="en-US" sz="2400" u="none" cap="none" strike="noStrike">
                <a:solidFill>
                  <a:srgbClr val="000000"/>
                </a:solidFill>
                <a:latin typeface="Calibri"/>
                <a:ea typeface="Calibri"/>
                <a:cs typeface="Calibri"/>
                <a:sym typeface="Calibri"/>
              </a:rPr>
              <a:t>a,b</a:t>
            </a:r>
            <a:r>
              <a:rPr b="0" i="1"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cost of </a:t>
            </a:r>
            <a:r>
              <a:rPr b="0" i="1" lang="en-US" sz="2400" u="none" cap="none" strike="noStrike">
                <a:solidFill>
                  <a:srgbClr val="0000A8"/>
                </a:solidFill>
                <a:latin typeface="Calibri"/>
                <a:ea typeface="Calibri"/>
                <a:cs typeface="Calibri"/>
                <a:sym typeface="Calibri"/>
              </a:rPr>
              <a:t>direct</a:t>
            </a:r>
            <a:r>
              <a:rPr b="0" i="0" lang="en-US" sz="2400" u="none" cap="none" strike="noStrike">
                <a:solidFill>
                  <a:srgbClr val="000000"/>
                </a:solidFill>
                <a:latin typeface="Calibri"/>
                <a:ea typeface="Calibri"/>
                <a:cs typeface="Calibri"/>
                <a:sym typeface="Calibri"/>
              </a:rPr>
              <a:t> link connecting </a:t>
            </a:r>
            <a:r>
              <a:rPr b="0" i="1" lang="en-US" sz="2400" u="none"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 and </a:t>
            </a:r>
            <a:r>
              <a:rPr b="0" i="1" lang="en-US" sz="2400" u="none" cap="none" strike="noStrike">
                <a:solidFill>
                  <a:srgbClr val="000000"/>
                </a:solidFill>
                <a:latin typeface="Calibri"/>
                <a:ea typeface="Calibri"/>
                <a:cs typeface="Calibri"/>
                <a:sym typeface="Calibri"/>
              </a:rPr>
              <a:t>b</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             </a:t>
            </a:r>
            <a:r>
              <a:rPr i="1" lang="en-US" sz="2400">
                <a:solidFill>
                  <a:srgbClr val="000000"/>
                </a:solidFill>
                <a:latin typeface="Calibri"/>
                <a:ea typeface="Calibri"/>
                <a:cs typeface="Calibri"/>
                <a:sym typeface="Calibri"/>
              </a:rPr>
              <a:t>e.g., c</a:t>
            </a:r>
            <a:r>
              <a:rPr baseline="-25000" i="1" lang="en-US" sz="2400">
                <a:solidFill>
                  <a:srgbClr val="000000"/>
                </a:solidFill>
                <a:latin typeface="Calibri"/>
                <a:ea typeface="Calibri"/>
                <a:cs typeface="Calibri"/>
                <a:sym typeface="Calibri"/>
              </a:rPr>
              <a:t>w,z </a:t>
            </a:r>
            <a:r>
              <a:rPr lang="en-US" sz="2400">
                <a:solidFill>
                  <a:srgbClr val="000000"/>
                </a:solidFill>
                <a:latin typeface="Calibri"/>
                <a:ea typeface="Calibri"/>
                <a:cs typeface="Calibri"/>
                <a:sym typeface="Calibri"/>
              </a:rPr>
              <a:t>= 5, </a:t>
            </a:r>
            <a:r>
              <a:rPr i="1" lang="en-US" sz="2400">
                <a:solidFill>
                  <a:srgbClr val="000000"/>
                </a:solidFill>
                <a:latin typeface="Calibri"/>
                <a:ea typeface="Calibri"/>
                <a:cs typeface="Calibri"/>
                <a:sym typeface="Calibri"/>
              </a:rPr>
              <a:t>c</a:t>
            </a:r>
            <a:r>
              <a:rPr baseline="-25000" i="1" lang="en-US" sz="2400">
                <a:solidFill>
                  <a:srgbClr val="000000"/>
                </a:solidFill>
                <a:latin typeface="Calibri"/>
                <a:ea typeface="Calibri"/>
                <a:cs typeface="Calibri"/>
                <a:sym typeface="Calibri"/>
              </a:rPr>
              <a:t>u,z </a:t>
            </a:r>
            <a:r>
              <a:rPr lang="en-US" sz="2400">
                <a:solidFill>
                  <a:srgbClr val="000000"/>
                </a:solidFill>
                <a:latin typeface="Calibri"/>
                <a:ea typeface="Calibri"/>
                <a:cs typeface="Calibri"/>
                <a:sym typeface="Calibri"/>
              </a:rPr>
              <a:t>= ∞</a:t>
            </a:r>
            <a:endParaRPr sz="24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a:p>
            <a:pPr indent="0" lvl="1" marL="801688" marR="0" rtl="0" algn="l">
              <a:spcBef>
                <a:spcPts val="0"/>
              </a:spcBef>
              <a:spcAft>
                <a:spcPts val="0"/>
              </a:spcAft>
              <a:buNone/>
            </a:pPr>
            <a:r>
              <a:rPr b="0" i="0" lang="en-US" sz="2400" u="none" cap="none" strike="noStrike">
                <a:solidFill>
                  <a:srgbClr val="000000"/>
                </a:solidFill>
                <a:latin typeface="Calibri"/>
                <a:ea typeface="Calibri"/>
                <a:cs typeface="Calibri"/>
                <a:sym typeface="Calibri"/>
              </a:rPr>
              <a:t>cost defined by network operator: could always be 1, or inversely related to bandwidth, or inversely related to congestion</a:t>
            </a:r>
            <a:endParaRPr/>
          </a:p>
        </p:txBody>
      </p:sp>
      <p:sp>
        <p:nvSpPr>
          <p:cNvPr id="4145" name="Google Shape;4145;p58"/>
          <p:cNvSpPr txBox="1"/>
          <p:nvPr/>
        </p:nvSpPr>
        <p:spPr>
          <a:xfrm>
            <a:off x="1638300" y="4537178"/>
            <a:ext cx="511447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800" u="none">
                <a:solidFill>
                  <a:srgbClr val="000000"/>
                </a:solidFill>
                <a:latin typeface="Calibri"/>
                <a:ea typeface="Calibri"/>
                <a:cs typeface="Calibri"/>
                <a:sym typeface="Calibri"/>
              </a:rPr>
              <a:t>N: </a:t>
            </a:r>
            <a:r>
              <a:rPr b="0" lang="en-US" sz="2800" u="none">
                <a:solidFill>
                  <a:srgbClr val="000000"/>
                </a:solidFill>
                <a:latin typeface="Calibri"/>
                <a:ea typeface="Calibri"/>
                <a:cs typeface="Calibri"/>
                <a:sym typeface="Calibri"/>
              </a:rPr>
              <a:t>set of routers = { </a:t>
            </a:r>
            <a:r>
              <a:rPr b="0" i="1" lang="en-US" sz="2800" u="none">
                <a:solidFill>
                  <a:srgbClr val="000000"/>
                </a:solidFill>
                <a:latin typeface="Calibri"/>
                <a:ea typeface="Calibri"/>
                <a:cs typeface="Calibri"/>
                <a:sym typeface="Calibri"/>
              </a:rPr>
              <a:t>u, v, w, x, y, z </a:t>
            </a:r>
            <a:r>
              <a:rPr b="0" lang="en-US" sz="2800" u="none">
                <a:solidFill>
                  <a:srgbClr val="000000"/>
                </a:solidFill>
                <a:latin typeface="Calibri"/>
                <a:ea typeface="Calibri"/>
                <a:cs typeface="Calibri"/>
                <a:sym typeface="Calibri"/>
              </a:rPr>
              <a:t>}</a:t>
            </a:r>
            <a:endParaRPr/>
          </a:p>
        </p:txBody>
      </p:sp>
      <p:sp>
        <p:nvSpPr>
          <p:cNvPr id="4146" name="Google Shape;4146;p58"/>
          <p:cNvSpPr txBox="1"/>
          <p:nvPr/>
        </p:nvSpPr>
        <p:spPr>
          <a:xfrm>
            <a:off x="1638300" y="5106769"/>
            <a:ext cx="1007596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800" u="none">
                <a:solidFill>
                  <a:srgbClr val="000000"/>
                </a:solidFill>
                <a:latin typeface="Calibri"/>
                <a:ea typeface="Calibri"/>
                <a:cs typeface="Calibri"/>
                <a:sym typeface="Calibri"/>
              </a:rPr>
              <a:t>E: </a:t>
            </a:r>
            <a:r>
              <a:rPr b="0" lang="en-US" sz="2800" u="none">
                <a:solidFill>
                  <a:srgbClr val="000000"/>
                </a:solidFill>
                <a:latin typeface="Calibri"/>
                <a:ea typeface="Calibri"/>
                <a:cs typeface="Calibri"/>
                <a:sym typeface="Calibri"/>
              </a:rPr>
              <a:t>set of links =</a:t>
            </a:r>
            <a:r>
              <a:rPr b="0" lang="en-US" sz="3200" u="none">
                <a:solidFill>
                  <a:srgbClr val="000000"/>
                </a:solidFill>
                <a:latin typeface="Calibri"/>
                <a:ea typeface="Calibri"/>
                <a:cs typeface="Calibri"/>
                <a:sym typeface="Calibri"/>
              </a:rPr>
              <a:t>{</a:t>
            </a:r>
            <a:r>
              <a:rPr b="0" lang="en-US" sz="3600" u="none">
                <a:solidFill>
                  <a:srgbClr val="000000"/>
                </a:solidFill>
                <a:latin typeface="Calibri"/>
                <a:ea typeface="Calibri"/>
                <a:cs typeface="Calibri"/>
                <a:sym typeface="Calibri"/>
              </a:rPr>
              <a:t> </a:t>
            </a:r>
            <a:r>
              <a:rPr b="0" lang="en-US" sz="2800" u="none">
                <a:solidFill>
                  <a:srgbClr val="000000"/>
                </a:solidFill>
                <a:latin typeface="Calibri"/>
                <a:ea typeface="Calibri"/>
                <a:cs typeface="Calibri"/>
                <a:sym typeface="Calibri"/>
              </a:rPr>
              <a:t>(</a:t>
            </a:r>
            <a:r>
              <a:rPr b="0" i="1" lang="en-US" sz="2800" u="none">
                <a:solidFill>
                  <a:srgbClr val="000000"/>
                </a:solidFill>
                <a:latin typeface="Calibri"/>
                <a:ea typeface="Calibri"/>
                <a:cs typeface="Calibri"/>
                <a:sym typeface="Calibri"/>
              </a:rPr>
              <a:t>u,v), (u,x), (v,x), (v,w), (x,w), (x,y), (w,y), (w,z), (y,z</a:t>
            </a:r>
            <a:r>
              <a:rPr b="0" lang="en-US" sz="2800" u="none">
                <a:solidFill>
                  <a:srgbClr val="000000"/>
                </a:solidFill>
                <a:latin typeface="Calibri"/>
                <a:ea typeface="Calibri"/>
                <a:cs typeface="Calibri"/>
                <a:sym typeface="Calibri"/>
              </a:rPr>
              <a:t>) </a:t>
            </a:r>
            <a:r>
              <a:rPr b="0" lang="en-US" sz="3200" u="none">
                <a:solidFill>
                  <a:srgbClr val="000000"/>
                </a:solidFill>
                <a:latin typeface="Calibri"/>
                <a:ea typeface="Calibri"/>
                <a:cs typeface="Calibri"/>
                <a:sym typeface="Calibri"/>
              </a:rPr>
              <a:t>}</a:t>
            </a:r>
            <a:endParaRPr b="0" sz="2800" u="none">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5"/>
                                        </p:tgtEl>
                                        <p:attrNameLst>
                                          <p:attrName>style.visibility</p:attrName>
                                        </p:attrNameLst>
                                      </p:cBhvr>
                                      <p:to>
                                        <p:strVal val="visible"/>
                                      </p:to>
                                    </p:set>
                                    <p:animEffect filter="fade" transition="in">
                                      <p:cBhvr>
                                        <p:cTn dur="500"/>
                                        <p:tgtEl>
                                          <p:spTgt spid="4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6"/>
                                        </p:tgtEl>
                                        <p:attrNameLst>
                                          <p:attrName>style.visibility</p:attrName>
                                        </p:attrNameLst>
                                      </p:cBhvr>
                                      <p:to>
                                        <p:strVal val="visible"/>
                                      </p:to>
                                    </p:set>
                                    <p:animEffect filter="fade" transition="in">
                                      <p:cBhvr>
                                        <p:cTn dur="500"/>
                                        <p:tgtEl>
                                          <p:spTgt spid="4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4"/>
                                        </p:tgtEl>
                                        <p:attrNameLst>
                                          <p:attrName>style.visibility</p:attrName>
                                        </p:attrNameLst>
                                      </p:cBhvr>
                                      <p:to>
                                        <p:strVal val="visible"/>
                                      </p:to>
                                    </p:set>
                                    <p:animEffect filter="fade" transition="in">
                                      <p:cBhvr>
                                        <p:cTn dur="500"/>
                                        <p:tgtEl>
                                          <p:spTgt spid="4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1" name="Shape 4151"/>
        <p:cNvGrpSpPr/>
        <p:nvPr/>
      </p:nvGrpSpPr>
      <p:grpSpPr>
        <a:xfrm>
          <a:off x="0" y="0"/>
          <a:ext cx="0" cy="0"/>
          <a:chOff x="0" y="0"/>
          <a:chExt cx="0" cy="0"/>
        </a:xfrm>
      </p:grpSpPr>
      <p:sp>
        <p:nvSpPr>
          <p:cNvPr id="4152" name="Google Shape;4152;p59"/>
          <p:cNvSpPr txBox="1"/>
          <p:nvPr>
            <p:ph type="title"/>
          </p:nvPr>
        </p:nvSpPr>
        <p:spPr>
          <a:xfrm>
            <a:off x="838200" y="348585"/>
            <a:ext cx="8320548"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Routing algorithm classification</a:t>
            </a:r>
            <a:endParaRPr/>
          </a:p>
        </p:txBody>
      </p:sp>
      <p:sp>
        <p:nvSpPr>
          <p:cNvPr id="4153" name="Google Shape;4153;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4154" name="Google Shape;4154;p59"/>
          <p:cNvCxnSpPr/>
          <p:nvPr/>
        </p:nvCxnSpPr>
        <p:spPr>
          <a:xfrm>
            <a:off x="6091084" y="1312606"/>
            <a:ext cx="0" cy="5043948"/>
          </a:xfrm>
          <a:prstGeom prst="straightConnector1">
            <a:avLst/>
          </a:prstGeom>
          <a:noFill/>
          <a:ln cap="flat" cmpd="sng" w="25400">
            <a:solidFill>
              <a:srgbClr val="0000A8"/>
            </a:solidFill>
            <a:prstDash val="solid"/>
            <a:miter lim="8000"/>
            <a:headEnd len="med" w="med" type="triangle"/>
            <a:tailEnd len="med" w="med" type="triangle"/>
          </a:ln>
        </p:spPr>
      </p:cxnSp>
      <p:cxnSp>
        <p:nvCxnSpPr>
          <p:cNvPr id="4155" name="Google Shape;4155;p59"/>
          <p:cNvCxnSpPr/>
          <p:nvPr/>
        </p:nvCxnSpPr>
        <p:spPr>
          <a:xfrm rot="10800000">
            <a:off x="235974" y="3441290"/>
            <a:ext cx="11665974" cy="0"/>
          </a:xfrm>
          <a:prstGeom prst="straightConnector1">
            <a:avLst/>
          </a:prstGeom>
          <a:noFill/>
          <a:ln cap="flat" cmpd="sng" w="25400">
            <a:solidFill>
              <a:srgbClr val="0000A8"/>
            </a:solidFill>
            <a:prstDash val="solid"/>
            <a:miter lim="8000"/>
            <a:headEnd len="med" w="med" type="triangle"/>
            <a:tailEnd len="med" w="med" type="triangle"/>
          </a:ln>
        </p:spPr>
      </p:cxnSp>
      <p:sp>
        <p:nvSpPr>
          <p:cNvPr id="4156" name="Google Shape;4156;p59"/>
          <p:cNvSpPr txBox="1"/>
          <p:nvPr/>
        </p:nvSpPr>
        <p:spPr>
          <a:xfrm>
            <a:off x="4542504" y="6312310"/>
            <a:ext cx="3581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0000"/>
                </a:solidFill>
                <a:latin typeface="Calibri"/>
                <a:ea typeface="Calibri"/>
                <a:cs typeface="Calibri"/>
                <a:sym typeface="Calibri"/>
              </a:rPr>
              <a:t>global or decentralized information?</a:t>
            </a:r>
            <a:endParaRPr/>
          </a:p>
        </p:txBody>
      </p:sp>
      <p:grpSp>
        <p:nvGrpSpPr>
          <p:cNvPr id="4157" name="Google Shape;4157;p59"/>
          <p:cNvGrpSpPr/>
          <p:nvPr/>
        </p:nvGrpSpPr>
        <p:grpSpPr>
          <a:xfrm>
            <a:off x="3996813" y="1474838"/>
            <a:ext cx="4513007" cy="1209368"/>
            <a:chOff x="3996813" y="1474838"/>
            <a:chExt cx="4513007" cy="1209368"/>
          </a:xfrm>
        </p:grpSpPr>
        <p:sp>
          <p:nvSpPr>
            <p:cNvPr id="4158" name="Google Shape;4158;p59"/>
            <p:cNvSpPr/>
            <p:nvPr/>
          </p:nvSpPr>
          <p:spPr>
            <a:xfrm>
              <a:off x="5987845" y="1519084"/>
              <a:ext cx="221226" cy="11651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159" name="Google Shape;4159;p59"/>
            <p:cNvSpPr txBox="1"/>
            <p:nvPr/>
          </p:nvSpPr>
          <p:spPr>
            <a:xfrm>
              <a:off x="3996813" y="1474838"/>
              <a:ext cx="4513007" cy="1209367"/>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rgbClr val="C00000"/>
                  </a:solidFill>
                  <a:latin typeface="Calibri"/>
                  <a:ea typeface="Calibri"/>
                  <a:cs typeface="Calibri"/>
                  <a:sym typeface="Calibri"/>
                </a:rPr>
                <a:t>global: </a:t>
              </a:r>
              <a:r>
                <a:rPr lang="en-US" sz="2400">
                  <a:solidFill>
                    <a:srgbClr val="000000"/>
                  </a:solidFill>
                  <a:latin typeface="Calibri"/>
                  <a:ea typeface="Calibri"/>
                  <a:cs typeface="Calibri"/>
                  <a:sym typeface="Calibri"/>
                </a:rPr>
                <a:t>all routers have </a:t>
              </a:r>
              <a:r>
                <a:rPr i="1" lang="en-US" sz="2400">
                  <a:solidFill>
                    <a:srgbClr val="000000"/>
                  </a:solidFill>
                  <a:latin typeface="Calibri"/>
                  <a:ea typeface="Calibri"/>
                  <a:cs typeface="Calibri"/>
                  <a:sym typeface="Calibri"/>
                </a:rPr>
                <a:t>complete</a:t>
              </a:r>
              <a:r>
                <a:rPr lang="en-US" sz="2400">
                  <a:solidFill>
                    <a:srgbClr val="000000"/>
                  </a:solidFill>
                  <a:latin typeface="Calibri"/>
                  <a:ea typeface="Calibri"/>
                  <a:cs typeface="Calibri"/>
                  <a:sym typeface="Calibri"/>
                </a:rPr>
                <a:t> topology, link cost info</a:t>
              </a:r>
              <a:endParaRPr/>
            </a:p>
            <a:p>
              <a:pPr indent="-222250" lvl="0" marL="352425" marR="0" rtl="0" algn="l">
                <a:lnSpc>
                  <a:spcPct val="90000"/>
                </a:lnSpc>
                <a:spcBef>
                  <a:spcPts val="400"/>
                </a:spcBef>
                <a:spcAft>
                  <a:spcPts val="0"/>
                </a:spcAft>
                <a:buClr>
                  <a:srgbClr val="0000A3"/>
                </a:buClr>
                <a:buSzPts val="2400"/>
                <a:buFont typeface="Arial"/>
                <a:buChar char="•"/>
              </a:pPr>
              <a:r>
                <a:rPr lang="en-US" sz="2400">
                  <a:solidFill>
                    <a:srgbClr val="000099"/>
                  </a:solidFill>
                  <a:latin typeface="Calibri"/>
                  <a:ea typeface="Calibri"/>
                  <a:cs typeface="Calibri"/>
                  <a:sym typeface="Calibri"/>
                </a:rPr>
                <a:t>“link state” </a:t>
              </a:r>
              <a:r>
                <a:rPr lang="en-US" sz="2400">
                  <a:solidFill>
                    <a:srgbClr val="000000"/>
                  </a:solidFill>
                  <a:latin typeface="Calibri"/>
                  <a:ea typeface="Calibri"/>
                  <a:cs typeface="Calibri"/>
                  <a:sym typeface="Calibri"/>
                </a:rPr>
                <a:t>algorithms</a:t>
              </a:r>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sz="2400">
                <a:solidFill>
                  <a:srgbClr val="000099"/>
                </a:solidFill>
                <a:latin typeface="Gill Sans"/>
                <a:ea typeface="Gill Sans"/>
                <a:cs typeface="Gill Sans"/>
                <a:sym typeface="Gill Sans"/>
              </a:endParaRPr>
            </a:p>
          </p:txBody>
        </p:sp>
      </p:grpSp>
      <p:grpSp>
        <p:nvGrpSpPr>
          <p:cNvPr id="4160" name="Google Shape;4160;p59"/>
          <p:cNvGrpSpPr/>
          <p:nvPr/>
        </p:nvGrpSpPr>
        <p:grpSpPr>
          <a:xfrm>
            <a:off x="3465869" y="4326195"/>
            <a:ext cx="6179575" cy="2458065"/>
            <a:chOff x="3465869" y="4326195"/>
            <a:chExt cx="6179575" cy="2458065"/>
          </a:xfrm>
        </p:grpSpPr>
        <p:sp>
          <p:nvSpPr>
            <p:cNvPr id="4161" name="Google Shape;4161;p59"/>
            <p:cNvSpPr/>
            <p:nvPr/>
          </p:nvSpPr>
          <p:spPr>
            <a:xfrm>
              <a:off x="6002594" y="4365523"/>
              <a:ext cx="147483" cy="179930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162" name="Google Shape;4162;p59"/>
            <p:cNvSpPr txBox="1"/>
            <p:nvPr/>
          </p:nvSpPr>
          <p:spPr>
            <a:xfrm>
              <a:off x="3465869" y="4326195"/>
              <a:ext cx="6179575" cy="245806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rgbClr val="C00000"/>
                  </a:solidFill>
                  <a:latin typeface="Calibri"/>
                  <a:ea typeface="Calibri"/>
                  <a:cs typeface="Calibri"/>
                  <a:sym typeface="Calibri"/>
                </a:rPr>
                <a:t>decentralized: </a:t>
              </a:r>
              <a:r>
                <a:rPr lang="en-US" sz="2400">
                  <a:solidFill>
                    <a:srgbClr val="000000"/>
                  </a:solidFill>
                  <a:latin typeface="Calibri"/>
                  <a:ea typeface="Calibri"/>
                  <a:cs typeface="Calibri"/>
                  <a:sym typeface="Calibri"/>
                </a:rPr>
                <a:t>iterative process of computation, exchange of info with neighbors</a:t>
              </a:r>
              <a:endParaRPr/>
            </a:p>
            <a:p>
              <a:pPr indent="-233363" lvl="0" marL="407988" marR="0" rtl="0" algn="l">
                <a:lnSpc>
                  <a:spcPct val="90000"/>
                </a:lnSpc>
                <a:spcBef>
                  <a:spcPts val="400"/>
                </a:spcBef>
                <a:spcAft>
                  <a:spcPts val="0"/>
                </a:spcAft>
                <a:buClr>
                  <a:srgbClr val="0000A8"/>
                </a:buClr>
                <a:buSzPts val="2400"/>
                <a:buFont typeface="Arial"/>
                <a:buChar char="•"/>
              </a:pPr>
              <a:r>
                <a:rPr lang="en-US" sz="2400">
                  <a:solidFill>
                    <a:srgbClr val="000000"/>
                  </a:solidFill>
                  <a:latin typeface="Calibri"/>
                  <a:ea typeface="Calibri"/>
                  <a:cs typeface="Calibri"/>
                  <a:sym typeface="Calibri"/>
                </a:rPr>
                <a:t>routers initially only know link costs to attached neighbors</a:t>
              </a:r>
              <a:endParaRPr/>
            </a:p>
            <a:p>
              <a:pPr indent="-233363" lvl="0" marL="407988" marR="0" rtl="0" algn="l">
                <a:lnSpc>
                  <a:spcPct val="90000"/>
                </a:lnSpc>
                <a:spcBef>
                  <a:spcPts val="400"/>
                </a:spcBef>
                <a:spcAft>
                  <a:spcPts val="0"/>
                </a:spcAft>
                <a:buClr>
                  <a:srgbClr val="0000A8"/>
                </a:buClr>
                <a:buSzPts val="2400"/>
                <a:buFont typeface="Arial"/>
                <a:buChar char="•"/>
              </a:pPr>
              <a:r>
                <a:rPr lang="en-US" sz="2400">
                  <a:solidFill>
                    <a:srgbClr val="000099"/>
                  </a:solidFill>
                  <a:latin typeface="Calibri"/>
                  <a:ea typeface="Calibri"/>
                  <a:cs typeface="Calibri"/>
                  <a:sym typeface="Calibri"/>
                </a:rPr>
                <a:t>“distance vector” </a:t>
              </a:r>
              <a:r>
                <a:rPr lang="en-US" sz="2400">
                  <a:solidFill>
                    <a:srgbClr val="000000"/>
                  </a:solidFill>
                  <a:latin typeface="Calibri"/>
                  <a:ea typeface="Calibri"/>
                  <a:cs typeface="Calibri"/>
                  <a:sym typeface="Calibri"/>
                </a:rPr>
                <a:t>algorithms</a:t>
              </a:r>
              <a:endParaRPr sz="2400">
                <a:solidFill>
                  <a:srgbClr val="000000"/>
                </a:solidFill>
                <a:latin typeface="Calibri"/>
                <a:ea typeface="Calibri"/>
                <a:cs typeface="Calibri"/>
                <a:sym typeface="Calibri"/>
              </a:endParaRPr>
            </a:p>
          </p:txBody>
        </p:sp>
      </p:grpSp>
      <p:sp>
        <p:nvSpPr>
          <p:cNvPr id="4163" name="Google Shape;4163;p59"/>
          <p:cNvSpPr txBox="1"/>
          <p:nvPr/>
        </p:nvSpPr>
        <p:spPr>
          <a:xfrm>
            <a:off x="250724" y="2823539"/>
            <a:ext cx="125361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0000"/>
                </a:solidFill>
                <a:latin typeface="Calibri"/>
                <a:ea typeface="Calibri"/>
                <a:cs typeface="Calibri"/>
                <a:sym typeface="Calibri"/>
              </a:rPr>
              <a:t>How fast do routes change?</a:t>
            </a:r>
            <a:endParaRPr/>
          </a:p>
        </p:txBody>
      </p:sp>
      <p:sp>
        <p:nvSpPr>
          <p:cNvPr id="4164" name="Google Shape;4164;p59"/>
          <p:cNvSpPr/>
          <p:nvPr/>
        </p:nvSpPr>
        <p:spPr>
          <a:xfrm>
            <a:off x="10171471" y="1184788"/>
            <a:ext cx="176981" cy="103238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165" name="Google Shape;4165;p59"/>
          <p:cNvGrpSpPr/>
          <p:nvPr/>
        </p:nvGrpSpPr>
        <p:grpSpPr>
          <a:xfrm>
            <a:off x="8740391" y="2620951"/>
            <a:ext cx="3451609" cy="2373608"/>
            <a:chOff x="8740391" y="2620951"/>
            <a:chExt cx="3451609" cy="2373608"/>
          </a:xfrm>
        </p:grpSpPr>
        <p:sp>
          <p:nvSpPr>
            <p:cNvPr id="4166" name="Google Shape;4166;p59"/>
            <p:cNvSpPr/>
            <p:nvPr/>
          </p:nvSpPr>
          <p:spPr>
            <a:xfrm>
              <a:off x="8922775" y="3314699"/>
              <a:ext cx="2580968" cy="2101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167" name="Google Shape;4167;p59"/>
            <p:cNvSpPr txBox="1"/>
            <p:nvPr/>
          </p:nvSpPr>
          <p:spPr>
            <a:xfrm>
              <a:off x="8740391" y="2620951"/>
              <a:ext cx="3451609" cy="2373608"/>
            </a:xfrm>
            <a:prstGeom prst="rect">
              <a:avLst/>
            </a:prstGeom>
            <a:noFill/>
            <a:ln>
              <a:noFill/>
            </a:ln>
          </p:spPr>
          <p:txBody>
            <a:bodyPr anchorCtr="0" anchor="t" bIns="45700" lIns="91425" spcFirstLastPara="1" rIns="91425" wrap="square" tIns="45700">
              <a:noAutofit/>
            </a:bodyPr>
            <a:lstStyle/>
            <a:p>
              <a:pPr indent="-57150" lvl="0" marL="57150" marR="0" rtl="0" algn="l">
                <a:lnSpc>
                  <a:spcPct val="90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dynamic</a:t>
              </a:r>
              <a:r>
                <a:rPr i="1" lang="en-US" sz="2400">
                  <a:solidFill>
                    <a:srgbClr val="CC0000"/>
                  </a:solidFill>
                  <a:latin typeface="Calibri"/>
                  <a:ea typeface="Calibri"/>
                  <a:cs typeface="Calibri"/>
                  <a:sym typeface="Calibri"/>
                </a:rPr>
                <a:t>: </a:t>
              </a:r>
              <a:r>
                <a:rPr lang="en-US" sz="2400">
                  <a:solidFill>
                    <a:srgbClr val="000000"/>
                  </a:solidFill>
                  <a:latin typeface="Calibri"/>
                  <a:ea typeface="Calibri"/>
                  <a:cs typeface="Calibri"/>
                  <a:sym typeface="Calibri"/>
                </a:rPr>
                <a:t>routes change more quickly</a:t>
              </a:r>
              <a:endParaRPr/>
            </a:p>
            <a:p>
              <a:pPr indent="-233363" lvl="1" marL="349250" marR="0" rtl="0" algn="l">
                <a:lnSpc>
                  <a:spcPct val="90000"/>
                </a:lnSpc>
                <a:spcBef>
                  <a:spcPts val="4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periodic updates or in response to link cost changes</a:t>
              </a:r>
              <a:endParaRPr/>
            </a:p>
          </p:txBody>
        </p:sp>
      </p:grpSp>
      <p:grpSp>
        <p:nvGrpSpPr>
          <p:cNvPr id="4168" name="Google Shape;4168;p59"/>
          <p:cNvGrpSpPr/>
          <p:nvPr/>
        </p:nvGrpSpPr>
        <p:grpSpPr>
          <a:xfrm>
            <a:off x="1313787" y="3013586"/>
            <a:ext cx="3022237" cy="1209367"/>
            <a:chOff x="1313787" y="3013586"/>
            <a:chExt cx="3022237" cy="1209367"/>
          </a:xfrm>
        </p:grpSpPr>
        <p:sp>
          <p:nvSpPr>
            <p:cNvPr id="4169" name="Google Shape;4169;p59"/>
            <p:cNvSpPr/>
            <p:nvPr/>
          </p:nvSpPr>
          <p:spPr>
            <a:xfrm>
              <a:off x="1465006" y="3314699"/>
              <a:ext cx="2531807" cy="2249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170" name="Google Shape;4170;p59"/>
            <p:cNvSpPr txBox="1"/>
            <p:nvPr/>
          </p:nvSpPr>
          <p:spPr>
            <a:xfrm>
              <a:off x="1313787" y="3013586"/>
              <a:ext cx="3022237" cy="1209367"/>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rgbClr val="C00000"/>
                  </a:solidFill>
                  <a:latin typeface="Calibri"/>
                  <a:ea typeface="Calibri"/>
                  <a:cs typeface="Calibri"/>
                  <a:sym typeface="Calibri"/>
                </a:rPr>
                <a:t>static: </a:t>
              </a:r>
              <a:r>
                <a:rPr lang="en-US" sz="2400">
                  <a:solidFill>
                    <a:srgbClr val="000000"/>
                  </a:solidFill>
                  <a:latin typeface="Calibri"/>
                  <a:ea typeface="Calibri"/>
                  <a:cs typeface="Calibri"/>
                  <a:sym typeface="Calibri"/>
                </a:rPr>
                <a:t>routes change slowly over time</a:t>
              </a:r>
              <a:endParaRPr sz="2400">
                <a:solidFill>
                  <a:srgbClr val="000099"/>
                </a:solidFill>
                <a:latin typeface="Gill Sans"/>
                <a:ea typeface="Gill Sans"/>
                <a:cs typeface="Gill Sans"/>
                <a:sym typeface="Gill Sans"/>
              </a:endParaRPr>
            </a:p>
          </p:txBody>
        </p:sp>
      </p:grpSp>
      <p:sp>
        <p:nvSpPr>
          <p:cNvPr id="4171" name="Google Shape;4171;p59"/>
          <p:cNvSpPr/>
          <p:nvPr/>
        </p:nvSpPr>
        <p:spPr>
          <a:xfrm>
            <a:off x="4365523" y="2064775"/>
            <a:ext cx="1622322" cy="737419"/>
          </a:xfrm>
          <a:prstGeom prst="ellipse">
            <a:avLst/>
          </a:prstGeom>
          <a:noFill/>
          <a:ln cap="flat" cmpd="sng" w="3175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172" name="Google Shape;4172;p59"/>
          <p:cNvSpPr/>
          <p:nvPr/>
        </p:nvSpPr>
        <p:spPr>
          <a:xfrm>
            <a:off x="3883742" y="5624052"/>
            <a:ext cx="2281083" cy="737419"/>
          </a:xfrm>
          <a:prstGeom prst="ellipse">
            <a:avLst/>
          </a:prstGeom>
          <a:noFill/>
          <a:ln cap="flat" cmpd="sng" w="3175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7"/>
                                        </p:tgtEl>
                                        <p:attrNameLst>
                                          <p:attrName>style.visibility</p:attrName>
                                        </p:attrNameLst>
                                      </p:cBhvr>
                                      <p:to>
                                        <p:strVal val="visible"/>
                                      </p:to>
                                    </p:set>
                                    <p:animEffect filter="fade" transition="in">
                                      <p:cBhvr>
                                        <p:cTn dur="500"/>
                                        <p:tgtEl>
                                          <p:spTgt spid="4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1"/>
                                        </p:tgtEl>
                                        <p:attrNameLst>
                                          <p:attrName>style.visibility</p:attrName>
                                        </p:attrNameLst>
                                      </p:cBhvr>
                                      <p:to>
                                        <p:strVal val="visible"/>
                                      </p:to>
                                    </p:set>
                                    <p:animEffect filter="fade" transition="in">
                                      <p:cBhvr>
                                        <p:cTn dur="500"/>
                                        <p:tgtEl>
                                          <p:spTgt spid="4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0"/>
                                        </p:tgtEl>
                                        <p:attrNameLst>
                                          <p:attrName>style.visibility</p:attrName>
                                        </p:attrNameLst>
                                      </p:cBhvr>
                                      <p:to>
                                        <p:strVal val="visible"/>
                                      </p:to>
                                    </p:set>
                                    <p:animEffect filter="fade" transition="in">
                                      <p:cBhvr>
                                        <p:cTn dur="500"/>
                                        <p:tgtEl>
                                          <p:spTgt spid="4160"/>
                                        </p:tgtEl>
                                      </p:cBhvr>
                                    </p:animEffect>
                                  </p:childTnLst>
                                </p:cTn>
                              </p:par>
                              <p:par>
                                <p:cTn fill="hold" nodeType="withEffect" presetClass="exit" presetID="10" presetSubtype="0">
                                  <p:stCondLst>
                                    <p:cond delay="0"/>
                                  </p:stCondLst>
                                  <p:childTnLst>
                                    <p:animEffect filter="fade" transition="out">
                                      <p:cBhvr>
                                        <p:cTn dur="500"/>
                                        <p:tgtEl>
                                          <p:spTgt spid="4171"/>
                                        </p:tgtEl>
                                      </p:cBhvr>
                                    </p:animEffect>
                                    <p:set>
                                      <p:cBhvr>
                                        <p:cTn dur="1" fill="hold">
                                          <p:stCondLst>
                                            <p:cond delay="500"/>
                                          </p:stCondLst>
                                        </p:cTn>
                                        <p:tgtEl>
                                          <p:spTgt spid="417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2"/>
                                        </p:tgtEl>
                                        <p:attrNameLst>
                                          <p:attrName>style.visibility</p:attrName>
                                        </p:attrNameLst>
                                      </p:cBhvr>
                                      <p:to>
                                        <p:strVal val="visible"/>
                                      </p:to>
                                    </p:set>
                                    <p:animEffect filter="fade" transition="in">
                                      <p:cBhvr>
                                        <p:cTn dur="500"/>
                                        <p:tgtEl>
                                          <p:spTgt spid="4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8"/>
                                        </p:tgtEl>
                                        <p:attrNameLst>
                                          <p:attrName>style.visibility</p:attrName>
                                        </p:attrNameLst>
                                      </p:cBhvr>
                                      <p:to>
                                        <p:strVal val="visible"/>
                                      </p:to>
                                    </p:set>
                                    <p:animEffect filter="fade" transition="in">
                                      <p:cBhvr>
                                        <p:cTn dur="500"/>
                                        <p:tgtEl>
                                          <p:spTgt spid="4168"/>
                                        </p:tgtEl>
                                      </p:cBhvr>
                                    </p:animEffect>
                                  </p:childTnLst>
                                </p:cTn>
                              </p:par>
                              <p:par>
                                <p:cTn fill="hold" nodeType="withEffect" presetClass="exit" presetID="10" presetSubtype="0">
                                  <p:stCondLst>
                                    <p:cond delay="0"/>
                                  </p:stCondLst>
                                  <p:childTnLst>
                                    <p:animEffect filter="fade" transition="out">
                                      <p:cBhvr>
                                        <p:cTn dur="500"/>
                                        <p:tgtEl>
                                          <p:spTgt spid="4172"/>
                                        </p:tgtEl>
                                      </p:cBhvr>
                                    </p:animEffect>
                                    <p:set>
                                      <p:cBhvr>
                                        <p:cTn dur="1" fill="hold">
                                          <p:stCondLst>
                                            <p:cond delay="500"/>
                                          </p:stCondLst>
                                        </p:cTn>
                                        <p:tgtEl>
                                          <p:spTgt spid="41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5"/>
                                        </p:tgtEl>
                                        <p:attrNameLst>
                                          <p:attrName>style.visibility</p:attrName>
                                        </p:attrNameLst>
                                      </p:cBhvr>
                                      <p:to>
                                        <p:strVal val="visible"/>
                                      </p:to>
                                    </p:set>
                                    <p:animEffect filter="fade" transition="in">
                                      <p:cBhvr>
                                        <p:cTn dur="500"/>
                                        <p:tgtEl>
                                          <p:spTgt spid="4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7" name="Shape 4177"/>
        <p:cNvGrpSpPr/>
        <p:nvPr/>
      </p:nvGrpSpPr>
      <p:grpSpPr>
        <a:xfrm>
          <a:off x="0" y="0"/>
          <a:ext cx="0" cy="0"/>
          <a:chOff x="0" y="0"/>
          <a:chExt cx="0" cy="0"/>
        </a:xfrm>
      </p:grpSpPr>
      <p:sp>
        <p:nvSpPr>
          <p:cNvPr id="4178" name="Google Shape;4178;p6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“control plane” roadmap</a:t>
            </a:r>
            <a:endParaRPr sz="4400"/>
          </a:p>
        </p:txBody>
      </p:sp>
      <p:pic>
        <p:nvPicPr>
          <p:cNvPr descr="A train crossing a bridge over a body of water&#10;&#10;Description automatically generated" id="4179" name="Google Shape;4179;p60"/>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4180" name="Google Shape;4180;p60"/>
          <p:cNvSpPr txBox="1"/>
          <p:nvPr/>
        </p:nvSpPr>
        <p:spPr>
          <a:xfrm>
            <a:off x="6761675" y="4144564"/>
            <a:ext cx="5066531" cy="1937764"/>
          </a:xfrm>
          <a:prstGeom prst="rect">
            <a:avLst/>
          </a:prstGeom>
          <a:noFill/>
          <a:ln>
            <a:noFill/>
          </a:ln>
        </p:spPr>
        <p:txBody>
          <a:bodyPr anchorCtr="0" anchor="t" bIns="45700" lIns="91425" spcFirstLastPara="1" rIns="91425" wrap="square" tIns="45700">
            <a:normAutofit/>
          </a:bodyPr>
          <a:lstStyle/>
          <a:p>
            <a:pPr indent="-293688" lvl="0" marL="409575"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network management, configuration </a:t>
            </a:r>
            <a:endParaRPr/>
          </a:p>
          <a:p>
            <a:pPr indent="-219075" lvl="1" marL="685800" marR="0" rtl="0" algn="l">
              <a:lnSpc>
                <a:spcPct val="90000"/>
              </a:lnSpc>
              <a:spcBef>
                <a:spcPts val="5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SNMP</a:t>
            </a:r>
            <a:endParaRPr/>
          </a:p>
          <a:p>
            <a:pPr indent="-219075" lvl="1" marL="685800" marR="0" rtl="0" algn="l">
              <a:lnSpc>
                <a:spcPct val="90000"/>
              </a:lnSpc>
              <a:spcBef>
                <a:spcPts val="5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NETCONF/YANG</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181" name="Google Shape;4181;p60"/>
          <p:cNvSpPr txBox="1"/>
          <p:nvPr/>
        </p:nvSpPr>
        <p:spPr>
          <a:xfrm>
            <a:off x="622456" y="1361615"/>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0000A8"/>
              </a:buClr>
              <a:buSzPts val="3600"/>
              <a:buFont typeface="Noto Sans Symbols"/>
              <a:buChar char="▪"/>
            </a:pPr>
            <a:r>
              <a:rPr lang="en-US" sz="3600">
                <a:solidFill>
                  <a:srgbClr val="000000"/>
                </a:solidFill>
                <a:latin typeface="Calibri"/>
                <a:ea typeface="Calibri"/>
                <a:cs typeface="Calibri"/>
                <a:sym typeface="Calibri"/>
              </a:rPr>
              <a:t>routing protocols</a:t>
            </a:r>
            <a:endParaRPr/>
          </a:p>
          <a:p>
            <a:pPr indent="-273050" lvl="1" marL="746125" marR="0" rtl="0" algn="l">
              <a:lnSpc>
                <a:spcPct val="90000"/>
              </a:lnSpc>
              <a:spcBef>
                <a:spcPts val="600"/>
              </a:spcBef>
              <a:spcAft>
                <a:spcPts val="0"/>
              </a:spcAft>
              <a:buClr>
                <a:srgbClr val="0000A8"/>
              </a:buClr>
              <a:buSzPts val="3200"/>
              <a:buFont typeface="Noto Sans Symbols"/>
              <a:buChar char="▪"/>
            </a:pPr>
            <a:r>
              <a:rPr b="0" i="0" lang="en-US" sz="3200" u="none" cap="none" strike="noStrike">
                <a:solidFill>
                  <a:srgbClr val="C00000"/>
                </a:solidFill>
                <a:latin typeface="Calibri"/>
                <a:ea typeface="Calibri"/>
                <a:cs typeface="Calibri"/>
                <a:sym typeface="Calibri"/>
              </a:rPr>
              <a:t>link state</a:t>
            </a:r>
            <a:endParaRPr/>
          </a:p>
          <a:p>
            <a:pPr indent="-273050" lvl="1" marL="746125"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distance vector</a:t>
            </a:r>
            <a:endParaRPr/>
          </a:p>
          <a:p>
            <a:pPr indent="-285750" lvl="0" marL="285750" marR="0" rtl="0" algn="l">
              <a:lnSpc>
                <a:spcPct val="90000"/>
              </a:lnSpc>
              <a:spcBef>
                <a:spcPts val="6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intra-ISP routing: OSPF</a:t>
            </a:r>
            <a:endParaRPr/>
          </a:p>
          <a:p>
            <a:pPr indent="-285750" lvl="0" marL="285750" marR="0" rtl="0" algn="l">
              <a:lnSpc>
                <a:spcPct val="90000"/>
              </a:lnSpc>
              <a:spcBef>
                <a:spcPts val="6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routing among ISPs: BGP</a:t>
            </a:r>
            <a:endParaRPr/>
          </a:p>
          <a:p>
            <a:pPr indent="-285750" lvl="0" marL="285750" marR="0" rtl="0" algn="l">
              <a:lnSpc>
                <a:spcPct val="90000"/>
              </a:lnSpc>
              <a:spcBef>
                <a:spcPts val="6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SDN control plane</a:t>
            </a:r>
            <a:endParaRPr/>
          </a:p>
          <a:p>
            <a:pPr indent="-285750" lvl="0" marL="285750" marR="0" rtl="0" algn="l">
              <a:lnSpc>
                <a:spcPct val="90000"/>
              </a:lnSpc>
              <a:spcBef>
                <a:spcPts val="6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Internet Control Message Protocol </a:t>
            </a:r>
            <a:endParaRPr/>
          </a:p>
          <a:p>
            <a:pPr indent="-409575" lvl="0" marL="466725" marR="0" rtl="0" algn="l">
              <a:lnSpc>
                <a:spcPct val="90000"/>
              </a:lnSpc>
              <a:spcBef>
                <a:spcPts val="600"/>
              </a:spcBef>
              <a:spcAft>
                <a:spcPts val="0"/>
              </a:spcAft>
              <a:buClr>
                <a:srgbClr val="0000A3"/>
              </a:buClr>
              <a:buSzPts val="3200"/>
              <a:buFont typeface="Noto Sans Symbols"/>
              <a:buNone/>
            </a:pPr>
            <a:r>
              <a:t/>
            </a:r>
            <a:endParaRPr sz="3200">
              <a:solidFill>
                <a:srgbClr val="000000"/>
              </a:solidFill>
              <a:latin typeface="Calibri"/>
              <a:ea typeface="Calibri"/>
              <a:cs typeface="Calibri"/>
              <a:sym typeface="Calibri"/>
            </a:endParaRPr>
          </a:p>
        </p:txBody>
      </p:sp>
      <p:sp>
        <p:nvSpPr>
          <p:cNvPr id="4182" name="Google Shape;4182;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7" name="Shape 4187"/>
        <p:cNvGrpSpPr/>
        <p:nvPr/>
      </p:nvGrpSpPr>
      <p:grpSpPr>
        <a:xfrm>
          <a:off x="0" y="0"/>
          <a:ext cx="0" cy="0"/>
          <a:chOff x="0" y="0"/>
          <a:chExt cx="0" cy="0"/>
        </a:xfrm>
      </p:grpSpPr>
      <p:sp>
        <p:nvSpPr>
          <p:cNvPr id="4188" name="Google Shape;4188;p61"/>
          <p:cNvSpPr txBox="1"/>
          <p:nvPr>
            <p:ph type="title"/>
          </p:nvPr>
        </p:nvSpPr>
        <p:spPr>
          <a:xfrm>
            <a:off x="838200" y="348585"/>
            <a:ext cx="9839632"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Dijkstra’s link-state routing algorithm</a:t>
            </a:r>
            <a:endParaRPr/>
          </a:p>
        </p:txBody>
      </p:sp>
      <p:sp>
        <p:nvSpPr>
          <p:cNvPr id="4189" name="Google Shape;4189;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4190" name="Google Shape;4190;p61"/>
          <p:cNvSpPr txBox="1"/>
          <p:nvPr/>
        </p:nvSpPr>
        <p:spPr>
          <a:xfrm>
            <a:off x="750989" y="1541236"/>
            <a:ext cx="5708805" cy="490378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rgbClr val="0000A8"/>
                </a:solidFill>
                <a:latin typeface="Calibri"/>
                <a:ea typeface="Calibri"/>
                <a:cs typeface="Calibri"/>
                <a:sym typeface="Calibri"/>
              </a:rPr>
              <a:t>centralized: </a:t>
            </a:r>
            <a:r>
              <a:rPr lang="en-US" sz="2800">
                <a:solidFill>
                  <a:srgbClr val="000000"/>
                </a:solidFill>
                <a:latin typeface="Calibri"/>
                <a:ea typeface="Calibri"/>
                <a:cs typeface="Calibri"/>
                <a:sym typeface="Calibri"/>
              </a:rPr>
              <a:t>network topology, link costs known to </a:t>
            </a:r>
            <a:r>
              <a:rPr i="1" lang="en-US" sz="2800">
                <a:solidFill>
                  <a:srgbClr val="000000"/>
                </a:solidFill>
                <a:latin typeface="Calibri"/>
                <a:ea typeface="Calibri"/>
                <a:cs typeface="Calibri"/>
                <a:sym typeface="Calibri"/>
              </a:rPr>
              <a:t>all</a:t>
            </a:r>
            <a:r>
              <a:rPr lang="en-US" sz="2800">
                <a:solidFill>
                  <a:srgbClr val="000000"/>
                </a:solidFill>
                <a:latin typeface="Calibri"/>
                <a:ea typeface="Calibri"/>
                <a:cs typeface="Calibri"/>
                <a:sym typeface="Calibri"/>
              </a:rPr>
              <a:t> nodes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accomplished via “link state broadcast”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all nodes have same info</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rgbClr val="000000"/>
                </a:solidFill>
                <a:latin typeface="Calibri"/>
                <a:ea typeface="Calibri"/>
                <a:cs typeface="Calibri"/>
                <a:sym typeface="Calibri"/>
              </a:rPr>
              <a:t>computes least cost paths from one node (“source”) to all other nodes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gives </a:t>
            </a:r>
            <a:r>
              <a:rPr b="0" i="1" lang="en-US" sz="2400" u="none" cap="none" strike="noStrike">
                <a:solidFill>
                  <a:srgbClr val="000099"/>
                </a:solidFill>
                <a:latin typeface="Calibri"/>
                <a:ea typeface="Calibri"/>
                <a:cs typeface="Calibri"/>
                <a:sym typeface="Calibri"/>
              </a:rPr>
              <a:t>forwarding table</a:t>
            </a:r>
            <a:r>
              <a:rPr b="0" i="0" lang="en-US" sz="2400" u="none" cap="none" strike="noStrike">
                <a:solidFill>
                  <a:srgbClr val="000000"/>
                </a:solidFill>
                <a:latin typeface="Calibri"/>
                <a:ea typeface="Calibri"/>
                <a:cs typeface="Calibri"/>
                <a:sym typeface="Calibri"/>
              </a:rPr>
              <a:t> for that node</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rgbClr val="0000A8"/>
                </a:solidFill>
                <a:latin typeface="Calibri"/>
                <a:ea typeface="Calibri"/>
                <a:cs typeface="Calibri"/>
                <a:sym typeface="Calibri"/>
              </a:rPr>
              <a:t>iterative: </a:t>
            </a:r>
            <a:r>
              <a:rPr lang="en-US" sz="2800">
                <a:solidFill>
                  <a:srgbClr val="000000"/>
                </a:solidFill>
                <a:latin typeface="Calibri"/>
                <a:ea typeface="Calibri"/>
                <a:cs typeface="Calibri"/>
                <a:sym typeface="Calibri"/>
              </a:rPr>
              <a:t>after </a:t>
            </a:r>
            <a:r>
              <a:rPr i="1" lang="en-US" sz="2800">
                <a:solidFill>
                  <a:srgbClr val="000000"/>
                </a:solidFill>
                <a:latin typeface="Calibri"/>
                <a:ea typeface="Calibri"/>
                <a:cs typeface="Calibri"/>
                <a:sym typeface="Calibri"/>
              </a:rPr>
              <a:t>k</a:t>
            </a:r>
            <a:r>
              <a:rPr lang="en-US" sz="2800">
                <a:solidFill>
                  <a:srgbClr val="000000"/>
                </a:solidFill>
                <a:latin typeface="Calibri"/>
                <a:ea typeface="Calibri"/>
                <a:cs typeface="Calibri"/>
                <a:sym typeface="Calibri"/>
              </a:rPr>
              <a:t> iterations, know least cost path to </a:t>
            </a:r>
            <a:r>
              <a:rPr i="1" lang="en-US" sz="2800">
                <a:solidFill>
                  <a:srgbClr val="000000"/>
                </a:solidFill>
                <a:latin typeface="Calibri"/>
                <a:ea typeface="Calibri"/>
                <a:cs typeface="Calibri"/>
                <a:sym typeface="Calibri"/>
              </a:rPr>
              <a:t>k </a:t>
            </a:r>
            <a:r>
              <a:rPr lang="en-US" sz="2800">
                <a:solidFill>
                  <a:srgbClr val="000000"/>
                </a:solidFill>
                <a:latin typeface="Calibri"/>
                <a:ea typeface="Calibri"/>
                <a:cs typeface="Calibri"/>
                <a:sym typeface="Calibri"/>
              </a:rPr>
              <a:t>destinations</a:t>
            </a:r>
            <a:endParaRPr/>
          </a:p>
        </p:txBody>
      </p:sp>
      <p:grpSp>
        <p:nvGrpSpPr>
          <p:cNvPr id="4191" name="Google Shape;4191;p61"/>
          <p:cNvGrpSpPr/>
          <p:nvPr/>
        </p:nvGrpSpPr>
        <p:grpSpPr>
          <a:xfrm>
            <a:off x="7315200" y="1524000"/>
            <a:ext cx="4441371" cy="4882184"/>
            <a:chOff x="7315200" y="1524000"/>
            <a:chExt cx="4441371" cy="4882184"/>
          </a:xfrm>
        </p:grpSpPr>
        <p:sp>
          <p:nvSpPr>
            <p:cNvPr id="4192" name="Google Shape;4192;p61"/>
            <p:cNvSpPr txBox="1"/>
            <p:nvPr/>
          </p:nvSpPr>
          <p:spPr>
            <a:xfrm>
              <a:off x="7387774" y="2168014"/>
              <a:ext cx="4310742" cy="4238170"/>
            </a:xfrm>
            <a:prstGeom prst="rect">
              <a:avLst/>
            </a:prstGeom>
            <a:noFill/>
            <a:ln>
              <a:noFill/>
            </a:ln>
          </p:spPr>
          <p:txBody>
            <a:bodyPr anchorCtr="0" anchor="t" bIns="45700" lIns="91425" spcFirstLastPara="1" rIns="91425" wrap="square" tIns="45700">
              <a:noAutofit/>
            </a:bodyPr>
            <a:lstStyle/>
            <a:p>
              <a:pPr indent="-273050" lvl="0" marL="403225" marR="0" rtl="0" algn="l">
                <a:lnSpc>
                  <a:spcPct val="85000"/>
                </a:lnSpc>
                <a:spcBef>
                  <a:spcPts val="0"/>
                </a:spcBef>
                <a:spcAft>
                  <a:spcPts val="0"/>
                </a:spcAft>
                <a:buClr>
                  <a:srgbClr val="0000A3"/>
                </a:buClr>
                <a:buSzPts val="2800"/>
                <a:buFont typeface="Noto Sans Symbols"/>
                <a:buChar char="▪"/>
              </a:pPr>
              <a:r>
                <a:rPr i="1" lang="en-US" sz="2800">
                  <a:solidFill>
                    <a:srgbClr val="000099"/>
                  </a:solidFill>
                  <a:latin typeface="Calibri"/>
                  <a:ea typeface="Calibri"/>
                  <a:cs typeface="Calibri"/>
                  <a:sym typeface="Calibri"/>
                </a:rPr>
                <a:t>c</a:t>
              </a:r>
              <a:r>
                <a:rPr baseline="-25000" i="1" lang="en-US" sz="2800">
                  <a:solidFill>
                    <a:srgbClr val="000099"/>
                  </a:solidFill>
                  <a:latin typeface="Calibri"/>
                  <a:ea typeface="Calibri"/>
                  <a:cs typeface="Calibri"/>
                  <a:sym typeface="Calibri"/>
                </a:rPr>
                <a:t>x,y</a:t>
              </a:r>
              <a:r>
                <a:rPr i="1" lang="en-US" sz="2800">
                  <a:solidFill>
                    <a:srgbClr val="000099"/>
                  </a:solidFill>
                  <a:latin typeface="Calibri"/>
                  <a:ea typeface="Calibri"/>
                  <a:cs typeface="Calibri"/>
                  <a:sym typeface="Calibri"/>
                </a:rPr>
                <a:t>:</a:t>
              </a:r>
              <a:r>
                <a:rPr i="1" lang="en-US" sz="2400">
                  <a:solidFill>
                    <a:srgbClr val="000000"/>
                  </a:solidFill>
                  <a:latin typeface="Calibri"/>
                  <a:ea typeface="Calibri"/>
                  <a:cs typeface="Calibri"/>
                  <a:sym typeface="Calibri"/>
                </a:rPr>
                <a:t> </a:t>
              </a:r>
              <a:r>
                <a:rPr lang="en-US" sz="2400" u="sng">
                  <a:solidFill>
                    <a:srgbClr val="000000"/>
                  </a:solidFill>
                  <a:latin typeface="Calibri"/>
                  <a:ea typeface="Calibri"/>
                  <a:cs typeface="Calibri"/>
                  <a:sym typeface="Calibri"/>
                </a:rPr>
                <a:t>direct</a:t>
              </a:r>
              <a:r>
                <a:rPr lang="en-US" sz="2400">
                  <a:solidFill>
                    <a:srgbClr val="000000"/>
                  </a:solidFill>
                  <a:latin typeface="Calibri"/>
                  <a:ea typeface="Calibri"/>
                  <a:cs typeface="Calibri"/>
                  <a:sym typeface="Calibri"/>
                </a:rPr>
                <a:t> link cost from node </a:t>
              </a:r>
              <a:r>
                <a:rPr i="1" lang="en-US" sz="2400">
                  <a:solidFill>
                    <a:srgbClr val="000000"/>
                  </a:solidFill>
                  <a:latin typeface="Calibri"/>
                  <a:ea typeface="Calibri"/>
                  <a:cs typeface="Calibri"/>
                  <a:sym typeface="Calibri"/>
                </a:rPr>
                <a:t>x</a:t>
              </a:r>
              <a:r>
                <a:rPr lang="en-US" sz="2400">
                  <a:solidFill>
                    <a:srgbClr val="000000"/>
                  </a:solidFill>
                  <a:latin typeface="Calibri"/>
                  <a:ea typeface="Calibri"/>
                  <a:cs typeface="Calibri"/>
                  <a:sym typeface="Calibri"/>
                </a:rPr>
                <a:t> to </a:t>
              </a:r>
              <a:r>
                <a:rPr i="1" lang="en-US" sz="2400">
                  <a:solidFill>
                    <a:srgbClr val="000000"/>
                  </a:solidFill>
                  <a:latin typeface="Calibri"/>
                  <a:ea typeface="Calibri"/>
                  <a:cs typeface="Calibri"/>
                  <a:sym typeface="Calibri"/>
                </a:rPr>
                <a:t>y</a:t>
              </a:r>
              <a:r>
                <a:rPr lang="en-US" sz="2400">
                  <a:solidFill>
                    <a:srgbClr val="000000"/>
                  </a:solidFill>
                  <a:latin typeface="Calibri"/>
                  <a:ea typeface="Calibri"/>
                  <a:cs typeface="Calibri"/>
                  <a:sym typeface="Calibri"/>
                </a:rPr>
                <a:t>;  = ∞ if not direct neighbors</a:t>
              </a:r>
              <a:endParaRPr/>
            </a:p>
            <a:p>
              <a:pPr indent="-273050" lvl="0" marL="403225" marR="0" rtl="0" algn="l">
                <a:lnSpc>
                  <a:spcPct val="85000"/>
                </a:lnSpc>
                <a:spcBef>
                  <a:spcPts val="600"/>
                </a:spcBef>
                <a:spcAft>
                  <a:spcPts val="0"/>
                </a:spcAft>
                <a:buClr>
                  <a:srgbClr val="0000A3"/>
                </a:buClr>
                <a:buSzPts val="2800"/>
                <a:buFont typeface="Noto Sans Symbols"/>
                <a:buChar char="▪"/>
              </a:pPr>
              <a:r>
                <a:rPr i="1" lang="en-US" sz="2800">
                  <a:solidFill>
                    <a:srgbClr val="000099"/>
                  </a:solidFill>
                  <a:latin typeface="Calibri"/>
                  <a:ea typeface="Calibri"/>
                  <a:cs typeface="Calibri"/>
                  <a:sym typeface="Calibri"/>
                </a:rPr>
                <a:t>D(v):</a:t>
              </a:r>
              <a:r>
                <a:rPr i="1" lang="en-US" sz="2400">
                  <a:solidFill>
                    <a:srgbClr val="000000"/>
                  </a:solidFill>
                  <a:latin typeface="Calibri"/>
                  <a:ea typeface="Calibri"/>
                  <a:cs typeface="Calibri"/>
                  <a:sym typeface="Calibri"/>
                </a:rPr>
                <a:t> current</a:t>
              </a:r>
              <a:r>
                <a:rPr lang="en-US" sz="2400">
                  <a:solidFill>
                    <a:srgbClr val="000000"/>
                  </a:solidFill>
                  <a:latin typeface="Calibri"/>
                  <a:ea typeface="Calibri"/>
                  <a:cs typeface="Calibri"/>
                  <a:sym typeface="Calibri"/>
                </a:rPr>
                <a:t> estimate of cost of least-cost-path from source to destination </a:t>
              </a:r>
              <a:r>
                <a:rPr i="1" lang="en-US" sz="2400">
                  <a:solidFill>
                    <a:srgbClr val="000000"/>
                  </a:solidFill>
                  <a:latin typeface="Calibri"/>
                  <a:ea typeface="Calibri"/>
                  <a:cs typeface="Calibri"/>
                  <a:sym typeface="Calibri"/>
                </a:rPr>
                <a:t>v</a:t>
              </a:r>
              <a:endParaRPr/>
            </a:p>
            <a:p>
              <a:pPr indent="-273050" lvl="0" marL="403225" marR="0" rtl="0" algn="l">
                <a:lnSpc>
                  <a:spcPct val="85000"/>
                </a:lnSpc>
                <a:spcBef>
                  <a:spcPts val="600"/>
                </a:spcBef>
                <a:spcAft>
                  <a:spcPts val="0"/>
                </a:spcAft>
                <a:buClr>
                  <a:srgbClr val="0000A3"/>
                </a:buClr>
                <a:buSzPts val="2800"/>
                <a:buFont typeface="Noto Sans Symbols"/>
                <a:buChar char="▪"/>
              </a:pPr>
              <a:r>
                <a:rPr i="1" lang="en-US" sz="2800">
                  <a:solidFill>
                    <a:srgbClr val="000099"/>
                  </a:solidFill>
                  <a:latin typeface="Calibri"/>
                  <a:ea typeface="Calibri"/>
                  <a:cs typeface="Calibri"/>
                  <a:sym typeface="Calibri"/>
                </a:rPr>
                <a:t>p(v):</a:t>
              </a:r>
              <a:r>
                <a:rPr i="1" lang="en-US" sz="2400">
                  <a:solidFill>
                    <a:srgbClr val="000000"/>
                  </a:solidFill>
                  <a:latin typeface="Calibri"/>
                  <a:ea typeface="Calibri"/>
                  <a:cs typeface="Calibri"/>
                  <a:sym typeface="Calibri"/>
                </a:rPr>
                <a:t> </a:t>
              </a:r>
              <a:r>
                <a:rPr lang="en-US" sz="2400">
                  <a:solidFill>
                    <a:srgbClr val="000000"/>
                  </a:solidFill>
                  <a:latin typeface="Calibri"/>
                  <a:ea typeface="Calibri"/>
                  <a:cs typeface="Calibri"/>
                  <a:sym typeface="Calibri"/>
                </a:rPr>
                <a:t>predecessor node along path from source to </a:t>
              </a:r>
              <a:r>
                <a:rPr i="1" lang="en-US" sz="2400">
                  <a:solidFill>
                    <a:srgbClr val="000000"/>
                  </a:solidFill>
                  <a:latin typeface="Calibri"/>
                  <a:ea typeface="Calibri"/>
                  <a:cs typeface="Calibri"/>
                  <a:sym typeface="Calibri"/>
                </a:rPr>
                <a:t>v</a:t>
              </a:r>
              <a:endParaRPr/>
            </a:p>
            <a:p>
              <a:pPr indent="-273050" lvl="0" marL="403225" marR="0" rtl="0" algn="l">
                <a:lnSpc>
                  <a:spcPct val="85000"/>
                </a:lnSpc>
                <a:spcBef>
                  <a:spcPts val="600"/>
                </a:spcBef>
                <a:spcAft>
                  <a:spcPts val="0"/>
                </a:spcAft>
                <a:buClr>
                  <a:srgbClr val="0000A3"/>
                </a:buClr>
                <a:buSzPts val="2800"/>
                <a:buFont typeface="Noto Sans Symbols"/>
                <a:buChar char="▪"/>
              </a:pPr>
              <a:r>
                <a:rPr i="1" lang="en-US" sz="2800">
                  <a:solidFill>
                    <a:srgbClr val="000099"/>
                  </a:solidFill>
                  <a:latin typeface="Calibri"/>
                  <a:ea typeface="Calibri"/>
                  <a:cs typeface="Calibri"/>
                  <a:sym typeface="Calibri"/>
                </a:rPr>
                <a:t>N':</a:t>
              </a:r>
              <a:r>
                <a:rPr i="1" lang="en-US" sz="2400">
                  <a:solidFill>
                    <a:srgbClr val="000000"/>
                  </a:solidFill>
                  <a:latin typeface="Calibri"/>
                  <a:ea typeface="Calibri"/>
                  <a:cs typeface="Calibri"/>
                  <a:sym typeface="Calibri"/>
                </a:rPr>
                <a:t> </a:t>
              </a:r>
              <a:r>
                <a:rPr lang="en-US" sz="2400">
                  <a:solidFill>
                    <a:srgbClr val="000000"/>
                  </a:solidFill>
                  <a:latin typeface="Calibri"/>
                  <a:ea typeface="Calibri"/>
                  <a:cs typeface="Calibri"/>
                  <a:sym typeface="Calibri"/>
                </a:rPr>
                <a:t>set of nodes whose least-cost-path </a:t>
              </a:r>
              <a:r>
                <a:rPr i="1" lang="en-US" sz="2400">
                  <a:solidFill>
                    <a:srgbClr val="000000"/>
                  </a:solidFill>
                  <a:latin typeface="Calibri"/>
                  <a:ea typeface="Calibri"/>
                  <a:cs typeface="Calibri"/>
                  <a:sym typeface="Calibri"/>
                </a:rPr>
                <a:t>definitively</a:t>
              </a:r>
              <a:r>
                <a:rPr lang="en-US" sz="2400">
                  <a:solidFill>
                    <a:srgbClr val="000000"/>
                  </a:solidFill>
                  <a:latin typeface="Calibri"/>
                  <a:ea typeface="Calibri"/>
                  <a:cs typeface="Calibri"/>
                  <a:sym typeface="Calibri"/>
                </a:rPr>
                <a:t> known</a:t>
              </a:r>
              <a:endParaRPr/>
            </a:p>
            <a:p>
              <a:pPr indent="-44450" lvl="0" marL="352425" marR="0" rtl="0" algn="l">
                <a:lnSpc>
                  <a:spcPct val="75000"/>
                </a:lnSpc>
                <a:spcBef>
                  <a:spcPts val="1000"/>
                </a:spcBef>
                <a:spcAft>
                  <a:spcPts val="0"/>
                </a:spcAft>
                <a:buClr>
                  <a:srgbClr val="0000A3"/>
                </a:buClr>
                <a:buSzPts val="2800"/>
                <a:buFont typeface="Noto Sans Symbols"/>
                <a:buNone/>
              </a:pPr>
              <a:r>
                <a:t/>
              </a:r>
              <a:endParaRPr sz="2800">
                <a:solidFill>
                  <a:srgbClr val="000000"/>
                </a:solidFill>
                <a:latin typeface="Gill Sans"/>
                <a:ea typeface="Gill Sans"/>
                <a:cs typeface="Gill Sans"/>
                <a:sym typeface="Gill Sans"/>
              </a:endParaRPr>
            </a:p>
          </p:txBody>
        </p:sp>
        <p:sp>
          <p:nvSpPr>
            <p:cNvPr id="4193" name="Google Shape;4193;p61"/>
            <p:cNvSpPr/>
            <p:nvPr/>
          </p:nvSpPr>
          <p:spPr>
            <a:xfrm>
              <a:off x="7315200" y="1828800"/>
              <a:ext cx="4441371" cy="4339771"/>
            </a:xfrm>
            <a:prstGeom prst="rect">
              <a:avLst/>
            </a:prstGeom>
            <a:noFill/>
            <a:ln cap="flat" cmpd="sng" w="2857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194" name="Google Shape;4194;p61"/>
            <p:cNvSpPr txBox="1"/>
            <p:nvPr/>
          </p:nvSpPr>
          <p:spPr>
            <a:xfrm>
              <a:off x="7823199" y="1524000"/>
              <a:ext cx="1608967"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C00000"/>
                  </a:solidFill>
                  <a:latin typeface="Calibri"/>
                  <a:ea typeface="Calibri"/>
                  <a:cs typeface="Calibri"/>
                  <a:sym typeface="Calibri"/>
                </a:rPr>
                <a:t>notation</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0">
                                            <p:txEl>
                                              <p:pRg end="0" st="0"/>
                                            </p:txEl>
                                          </p:spTgt>
                                        </p:tgtEl>
                                        <p:attrNameLst>
                                          <p:attrName>style.visibility</p:attrName>
                                        </p:attrNameLst>
                                      </p:cBhvr>
                                      <p:to>
                                        <p:strVal val="visible"/>
                                      </p:to>
                                    </p:set>
                                    <p:animEffect filter="fade" transition="in">
                                      <p:cBhvr>
                                        <p:cTn dur="500"/>
                                        <p:tgtEl>
                                          <p:spTgt spid="41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0">
                                            <p:txEl>
                                              <p:pRg end="1" st="1"/>
                                            </p:txEl>
                                          </p:spTgt>
                                        </p:tgtEl>
                                        <p:attrNameLst>
                                          <p:attrName>style.visibility</p:attrName>
                                        </p:attrNameLst>
                                      </p:cBhvr>
                                      <p:to>
                                        <p:strVal val="visible"/>
                                      </p:to>
                                    </p:set>
                                    <p:animEffect filter="fade" transition="in">
                                      <p:cBhvr>
                                        <p:cTn dur="500"/>
                                        <p:tgtEl>
                                          <p:spTgt spid="41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0">
                                            <p:txEl>
                                              <p:pRg end="2" st="2"/>
                                            </p:txEl>
                                          </p:spTgt>
                                        </p:tgtEl>
                                        <p:attrNameLst>
                                          <p:attrName>style.visibility</p:attrName>
                                        </p:attrNameLst>
                                      </p:cBhvr>
                                      <p:to>
                                        <p:strVal val="visible"/>
                                      </p:to>
                                    </p:set>
                                    <p:animEffect filter="fade" transition="in">
                                      <p:cBhvr>
                                        <p:cTn dur="500"/>
                                        <p:tgtEl>
                                          <p:spTgt spid="41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0">
                                            <p:txEl>
                                              <p:pRg end="3" st="3"/>
                                            </p:txEl>
                                          </p:spTgt>
                                        </p:tgtEl>
                                        <p:attrNameLst>
                                          <p:attrName>style.visibility</p:attrName>
                                        </p:attrNameLst>
                                      </p:cBhvr>
                                      <p:to>
                                        <p:strVal val="visible"/>
                                      </p:to>
                                    </p:set>
                                    <p:animEffect filter="fade" transition="in">
                                      <p:cBhvr>
                                        <p:cTn dur="500"/>
                                        <p:tgtEl>
                                          <p:spTgt spid="41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0">
                                            <p:txEl>
                                              <p:pRg end="4" st="4"/>
                                            </p:txEl>
                                          </p:spTgt>
                                        </p:tgtEl>
                                        <p:attrNameLst>
                                          <p:attrName>style.visibility</p:attrName>
                                        </p:attrNameLst>
                                      </p:cBhvr>
                                      <p:to>
                                        <p:strVal val="visible"/>
                                      </p:to>
                                    </p:set>
                                    <p:animEffect filter="fade" transition="in">
                                      <p:cBhvr>
                                        <p:cTn dur="500"/>
                                        <p:tgtEl>
                                          <p:spTgt spid="41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0">
                                            <p:txEl>
                                              <p:pRg end="5" st="5"/>
                                            </p:txEl>
                                          </p:spTgt>
                                        </p:tgtEl>
                                        <p:attrNameLst>
                                          <p:attrName>style.visibility</p:attrName>
                                        </p:attrNameLst>
                                      </p:cBhvr>
                                      <p:to>
                                        <p:strVal val="visible"/>
                                      </p:to>
                                    </p:set>
                                    <p:animEffect filter="fade" transition="in">
                                      <p:cBhvr>
                                        <p:cTn dur="500"/>
                                        <p:tgtEl>
                                          <p:spTgt spid="41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1"/>
                                        </p:tgtEl>
                                        <p:attrNameLst>
                                          <p:attrName>style.visibility</p:attrName>
                                        </p:attrNameLst>
                                      </p:cBhvr>
                                      <p:to>
                                        <p:strVal val="visible"/>
                                      </p:to>
                                    </p:set>
                                    <p:animEffect filter="fade" transition="in">
                                      <p:cBhvr>
                                        <p:cTn dur="500"/>
                                        <p:tgtEl>
                                          <p:spTgt spid="4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9" name="Shape 4199"/>
        <p:cNvGrpSpPr/>
        <p:nvPr/>
      </p:nvGrpSpPr>
      <p:grpSpPr>
        <a:xfrm>
          <a:off x="0" y="0"/>
          <a:ext cx="0" cy="0"/>
          <a:chOff x="0" y="0"/>
          <a:chExt cx="0" cy="0"/>
        </a:xfrm>
      </p:grpSpPr>
      <p:grpSp>
        <p:nvGrpSpPr>
          <p:cNvPr id="4200" name="Google Shape;4200;p62"/>
          <p:cNvGrpSpPr/>
          <p:nvPr/>
        </p:nvGrpSpPr>
        <p:grpSpPr>
          <a:xfrm>
            <a:off x="1088571" y="3643090"/>
            <a:ext cx="1669144" cy="2786743"/>
            <a:chOff x="391885" y="3599543"/>
            <a:chExt cx="1669144" cy="2786743"/>
          </a:xfrm>
        </p:grpSpPr>
        <p:sp>
          <p:nvSpPr>
            <p:cNvPr id="4201" name="Google Shape;4201;p62"/>
            <p:cNvSpPr/>
            <p:nvPr/>
          </p:nvSpPr>
          <p:spPr>
            <a:xfrm>
              <a:off x="391885" y="3599543"/>
              <a:ext cx="1480458" cy="2786743"/>
            </a:xfrm>
            <a:prstGeom prst="ellipse">
              <a:avLst/>
            </a:prstGeom>
            <a:noFill/>
            <a:ln cap="flat" cmpd="sng" w="381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202" name="Google Shape;4202;p62"/>
            <p:cNvSpPr/>
            <p:nvPr/>
          </p:nvSpPr>
          <p:spPr>
            <a:xfrm>
              <a:off x="1161143" y="3715658"/>
              <a:ext cx="899886" cy="258354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203" name="Google Shape;4203;p62"/>
            <p:cNvCxnSpPr/>
            <p:nvPr/>
          </p:nvCxnSpPr>
          <p:spPr>
            <a:xfrm>
              <a:off x="1377950" y="3679825"/>
              <a:ext cx="144237" cy="107497"/>
            </a:xfrm>
            <a:prstGeom prst="straightConnector1">
              <a:avLst/>
            </a:prstGeom>
            <a:noFill/>
            <a:ln cap="flat" cmpd="sng" w="38100">
              <a:solidFill>
                <a:srgbClr val="C00000"/>
              </a:solidFill>
              <a:prstDash val="solid"/>
              <a:miter lim="8000"/>
              <a:headEnd len="sm" w="sm" type="none"/>
              <a:tailEnd len="med" w="med" type="triangle"/>
            </a:ln>
          </p:spPr>
        </p:cxnSp>
      </p:grpSp>
      <p:sp>
        <p:nvSpPr>
          <p:cNvPr id="4204" name="Google Shape;4204;p62"/>
          <p:cNvSpPr txBox="1"/>
          <p:nvPr>
            <p:ph type="title"/>
          </p:nvPr>
        </p:nvSpPr>
        <p:spPr>
          <a:xfrm>
            <a:off x="838200" y="348585"/>
            <a:ext cx="9839632"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Dijkstra’s link-state routing algorithm</a:t>
            </a:r>
            <a:endParaRPr/>
          </a:p>
        </p:txBody>
      </p:sp>
      <p:sp>
        <p:nvSpPr>
          <p:cNvPr id="4205" name="Google Shape;4205;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4206" name="Google Shape;4206;p62"/>
          <p:cNvSpPr txBox="1"/>
          <p:nvPr/>
        </p:nvSpPr>
        <p:spPr>
          <a:xfrm>
            <a:off x="2157412" y="1225689"/>
            <a:ext cx="9799235" cy="2419124"/>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2000">
                <a:solidFill>
                  <a:srgbClr val="000000"/>
                </a:solidFill>
                <a:latin typeface="Calibri"/>
                <a:ea typeface="Calibri"/>
                <a:cs typeface="Calibri"/>
                <a:sym typeface="Calibri"/>
              </a:rPr>
              <a:t>1  </a:t>
            </a:r>
            <a:r>
              <a:rPr i="1" lang="en-US" sz="2400">
                <a:solidFill>
                  <a:srgbClr val="0000A8"/>
                </a:solidFill>
                <a:latin typeface="Calibri"/>
                <a:ea typeface="Calibri"/>
                <a:cs typeface="Calibri"/>
                <a:sym typeface="Calibri"/>
              </a:rPr>
              <a:t>Initialization:</a:t>
            </a:r>
            <a:r>
              <a:rPr lang="en-US" sz="2400">
                <a:solidFill>
                  <a:srgbClr val="0000A8"/>
                </a:solidFill>
                <a:latin typeface="Calibri"/>
                <a:ea typeface="Calibri"/>
                <a:cs typeface="Calibri"/>
                <a:sym typeface="Calibri"/>
              </a:rPr>
              <a:t> </a:t>
            </a:r>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2   </a:t>
            </a:r>
            <a:r>
              <a:rPr i="1" lang="en-US" sz="2400">
                <a:solidFill>
                  <a:srgbClr val="000000"/>
                </a:solidFill>
                <a:latin typeface="Calibri"/>
                <a:ea typeface="Calibri"/>
                <a:cs typeface="Calibri"/>
                <a:sym typeface="Calibri"/>
              </a:rPr>
              <a:t> N' </a:t>
            </a:r>
            <a:r>
              <a:rPr lang="en-US" sz="2400">
                <a:solidFill>
                  <a:srgbClr val="000000"/>
                </a:solidFill>
                <a:latin typeface="Calibri"/>
                <a:ea typeface="Calibri"/>
                <a:cs typeface="Calibri"/>
                <a:sym typeface="Calibri"/>
              </a:rPr>
              <a:t>= {</a:t>
            </a:r>
            <a:r>
              <a:rPr i="1" lang="en-US" sz="2400">
                <a:solidFill>
                  <a:srgbClr val="000000"/>
                </a:solidFill>
                <a:latin typeface="Calibri"/>
                <a:ea typeface="Calibri"/>
                <a:cs typeface="Calibri"/>
                <a:sym typeface="Calibri"/>
              </a:rPr>
              <a:t>u</a:t>
            </a:r>
            <a:r>
              <a:rPr lang="en-US" sz="2400">
                <a:solidFill>
                  <a:srgbClr val="000000"/>
                </a:solidFill>
                <a:latin typeface="Calibri"/>
                <a:ea typeface="Calibri"/>
                <a:cs typeface="Calibri"/>
                <a:sym typeface="Calibri"/>
              </a:rPr>
              <a:t>}                               </a:t>
            </a:r>
            <a:r>
              <a:rPr lang="en-US" sz="1600">
                <a:solidFill>
                  <a:srgbClr val="000000"/>
                </a:solidFill>
                <a:latin typeface="Arial"/>
                <a:ea typeface="Arial"/>
                <a:cs typeface="Arial"/>
                <a:sym typeface="Arial"/>
              </a:rPr>
              <a:t>/* compute least cost path from u to all other nodes */</a:t>
            </a:r>
            <a:endParaRPr sz="2400">
              <a:solidFill>
                <a:srgbClr val="000000"/>
              </a:solidFill>
              <a:latin typeface="Calibri"/>
              <a:ea typeface="Calibri"/>
              <a:cs typeface="Calibri"/>
              <a:sym typeface="Calibri"/>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3    for all nodes </a:t>
            </a:r>
            <a:r>
              <a:rPr i="1" lang="en-US" sz="2400">
                <a:solidFill>
                  <a:srgbClr val="000000"/>
                </a:solidFill>
                <a:latin typeface="Calibri"/>
                <a:ea typeface="Calibri"/>
                <a:cs typeface="Calibri"/>
                <a:sym typeface="Calibri"/>
              </a:rPr>
              <a:t>v</a:t>
            </a:r>
            <a:r>
              <a:rPr lang="en-US" sz="2400">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4      if </a:t>
            </a:r>
            <a:r>
              <a:rPr i="1" lang="en-US" sz="2400">
                <a:solidFill>
                  <a:srgbClr val="000000"/>
                </a:solidFill>
                <a:latin typeface="Calibri"/>
                <a:ea typeface="Calibri"/>
                <a:cs typeface="Calibri"/>
                <a:sym typeface="Calibri"/>
              </a:rPr>
              <a:t>v</a:t>
            </a:r>
            <a:r>
              <a:rPr lang="en-US" sz="2400">
                <a:solidFill>
                  <a:srgbClr val="000000"/>
                </a:solidFill>
                <a:latin typeface="Calibri"/>
                <a:ea typeface="Calibri"/>
                <a:cs typeface="Calibri"/>
                <a:sym typeface="Calibri"/>
              </a:rPr>
              <a:t> adjacent to </a:t>
            </a:r>
            <a:r>
              <a:rPr i="1" lang="en-US" sz="2400">
                <a:solidFill>
                  <a:srgbClr val="000000"/>
                </a:solidFill>
                <a:latin typeface="Calibri"/>
                <a:ea typeface="Calibri"/>
                <a:cs typeface="Calibri"/>
                <a:sym typeface="Calibri"/>
              </a:rPr>
              <a:t>u</a:t>
            </a:r>
            <a:r>
              <a:rPr lang="en-US" sz="2400">
                <a:solidFill>
                  <a:srgbClr val="000000"/>
                </a:solidFill>
                <a:latin typeface="Calibri"/>
                <a:ea typeface="Calibri"/>
                <a:cs typeface="Calibri"/>
                <a:sym typeface="Calibri"/>
              </a:rPr>
              <a:t>            </a:t>
            </a:r>
            <a:r>
              <a:rPr lang="en-US" sz="1800">
                <a:solidFill>
                  <a:srgbClr val="000000"/>
                </a:solidFill>
                <a:latin typeface="Calibri"/>
                <a:ea typeface="Calibri"/>
                <a:cs typeface="Calibri"/>
                <a:sym typeface="Calibri"/>
              </a:rPr>
              <a:t>/* </a:t>
            </a:r>
            <a:r>
              <a:rPr i="1" lang="en-US" sz="1800">
                <a:solidFill>
                  <a:srgbClr val="000000"/>
                </a:solidFill>
                <a:latin typeface="Calibri"/>
                <a:ea typeface="Calibri"/>
                <a:cs typeface="Calibri"/>
                <a:sym typeface="Calibri"/>
              </a:rPr>
              <a:t>u </a:t>
            </a:r>
            <a:r>
              <a:rPr lang="en-US" sz="1800">
                <a:solidFill>
                  <a:srgbClr val="000000"/>
                </a:solidFill>
                <a:latin typeface="Calibri"/>
                <a:ea typeface="Calibri"/>
                <a:cs typeface="Calibri"/>
                <a:sym typeface="Calibri"/>
              </a:rPr>
              <a:t>initially</a:t>
            </a:r>
            <a:r>
              <a:rPr i="1" lang="en-US" sz="1800">
                <a:solidFill>
                  <a:srgbClr val="000000"/>
                </a:solidFill>
                <a:latin typeface="Calibri"/>
                <a:ea typeface="Calibri"/>
                <a:cs typeface="Calibri"/>
                <a:sym typeface="Calibri"/>
              </a:rPr>
              <a:t> </a:t>
            </a:r>
            <a:r>
              <a:rPr lang="en-US" sz="1800">
                <a:solidFill>
                  <a:srgbClr val="000000"/>
                </a:solidFill>
                <a:latin typeface="Calibri"/>
                <a:ea typeface="Calibri"/>
                <a:cs typeface="Calibri"/>
                <a:sym typeface="Calibri"/>
              </a:rPr>
              <a:t>knows direct-path-cost only to  direct neighbors    */</a:t>
            </a:r>
            <a:endParaRPr sz="2400">
              <a:solidFill>
                <a:srgbClr val="000000"/>
              </a:solidFill>
              <a:latin typeface="Calibri"/>
              <a:ea typeface="Calibri"/>
              <a:cs typeface="Calibri"/>
              <a:sym typeface="Calibri"/>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5          then </a:t>
            </a:r>
            <a:r>
              <a:rPr i="1" lang="en-US" sz="2400">
                <a:solidFill>
                  <a:srgbClr val="000000"/>
                </a:solidFill>
                <a:latin typeface="Calibri"/>
                <a:ea typeface="Calibri"/>
                <a:cs typeface="Calibri"/>
                <a:sym typeface="Calibri"/>
              </a:rPr>
              <a:t>D(v) = c</a:t>
            </a:r>
            <a:r>
              <a:rPr baseline="-25000" i="1" lang="en-US" sz="2400">
                <a:solidFill>
                  <a:srgbClr val="000000"/>
                </a:solidFill>
                <a:latin typeface="Calibri"/>
                <a:ea typeface="Calibri"/>
                <a:cs typeface="Calibri"/>
                <a:sym typeface="Calibri"/>
              </a:rPr>
              <a:t>u,v      </a:t>
            </a:r>
            <a:r>
              <a:rPr baseline="-25000" lang="en-US" sz="1800">
                <a:solidFill>
                  <a:srgbClr val="000000"/>
                </a:solidFill>
                <a:latin typeface="Calibri"/>
                <a:ea typeface="Calibri"/>
                <a:cs typeface="Calibri"/>
                <a:sym typeface="Calibri"/>
              </a:rPr>
              <a:t>             </a:t>
            </a:r>
            <a:r>
              <a:rPr lang="en-US" sz="1800">
                <a:solidFill>
                  <a:srgbClr val="000000"/>
                </a:solidFill>
                <a:latin typeface="Calibri"/>
                <a:ea typeface="Calibri"/>
                <a:cs typeface="Calibri"/>
                <a:sym typeface="Calibri"/>
              </a:rPr>
              <a:t>/* but may not be </a:t>
            </a:r>
            <a:r>
              <a:rPr i="1" lang="en-US" sz="1800">
                <a:solidFill>
                  <a:srgbClr val="000000"/>
                </a:solidFill>
                <a:latin typeface="Calibri"/>
                <a:ea typeface="Calibri"/>
                <a:cs typeface="Calibri"/>
                <a:sym typeface="Calibri"/>
              </a:rPr>
              <a:t>minimum</a:t>
            </a:r>
            <a:r>
              <a:rPr lang="en-US" sz="1800">
                <a:solidFill>
                  <a:srgbClr val="000000"/>
                </a:solidFill>
                <a:latin typeface="Calibri"/>
                <a:ea typeface="Calibri"/>
                <a:cs typeface="Calibri"/>
                <a:sym typeface="Calibri"/>
              </a:rPr>
              <a:t> cost!                                                    */</a:t>
            </a:r>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6      else </a:t>
            </a:r>
            <a:r>
              <a:rPr i="1" lang="en-US" sz="2400">
                <a:solidFill>
                  <a:srgbClr val="000000"/>
                </a:solidFill>
                <a:latin typeface="Calibri"/>
                <a:ea typeface="Calibri"/>
                <a:cs typeface="Calibri"/>
                <a:sym typeface="Calibri"/>
              </a:rPr>
              <a:t>D(v) </a:t>
            </a:r>
            <a:r>
              <a:rPr lang="en-US" sz="2400">
                <a:solidFill>
                  <a:srgbClr val="000000"/>
                </a:solidFill>
                <a:latin typeface="Calibri"/>
                <a:ea typeface="Calibri"/>
                <a:cs typeface="Calibri"/>
                <a:sym typeface="Calibri"/>
              </a:rPr>
              <a:t>= ∞ </a:t>
            </a:r>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7 </a:t>
            </a:r>
            <a:endParaRPr/>
          </a:p>
        </p:txBody>
      </p:sp>
      <p:sp>
        <p:nvSpPr>
          <p:cNvPr id="4207" name="Google Shape;4207;p62"/>
          <p:cNvSpPr txBox="1"/>
          <p:nvPr/>
        </p:nvSpPr>
        <p:spPr>
          <a:xfrm>
            <a:off x="2179184" y="3194942"/>
            <a:ext cx="3075073"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a:p>
            <a:pPr indent="0" lvl="0" marL="0" marR="0" rtl="0" algn="l">
              <a:spcBef>
                <a:spcPts val="0"/>
              </a:spcBef>
              <a:spcAft>
                <a:spcPts val="0"/>
              </a:spcAft>
              <a:buNone/>
            </a:pPr>
            <a:r>
              <a:rPr lang="en-US" sz="2400">
                <a:solidFill>
                  <a:srgbClr val="0000A8"/>
                </a:solidFill>
                <a:latin typeface="Calibri"/>
                <a:ea typeface="Calibri"/>
                <a:cs typeface="Calibri"/>
                <a:sym typeface="Calibri"/>
              </a:rPr>
              <a:t>8   </a:t>
            </a:r>
            <a:r>
              <a:rPr i="1" lang="en-US" sz="2400">
                <a:solidFill>
                  <a:srgbClr val="0000A8"/>
                </a:solidFill>
                <a:latin typeface="Calibri"/>
                <a:ea typeface="Calibri"/>
                <a:cs typeface="Calibri"/>
                <a:sym typeface="Calibri"/>
              </a:rPr>
              <a:t>Loop </a:t>
            </a:r>
            <a:endParaRPr sz="2400">
              <a:solidFill>
                <a:srgbClr val="0000A8"/>
              </a:solidFill>
              <a:latin typeface="Calibri"/>
              <a:ea typeface="Calibri"/>
              <a:cs typeface="Calibri"/>
              <a:sym typeface="Calibri"/>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9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11</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12</a:t>
            </a:r>
            <a:endParaRPr b="1" sz="2400">
              <a:solidFill>
                <a:srgbClr val="CC0000"/>
              </a:solidFill>
              <a:latin typeface="Calibri"/>
              <a:ea typeface="Calibri"/>
              <a:cs typeface="Calibri"/>
              <a:sym typeface="Calibri"/>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13</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14</a:t>
            </a:r>
            <a:endParaRPr/>
          </a:p>
          <a:p>
            <a:pPr indent="0" lvl="0" marL="0" marR="0" rtl="0" algn="l">
              <a:spcBef>
                <a:spcPts val="0"/>
              </a:spcBef>
              <a:spcAft>
                <a:spcPts val="0"/>
              </a:spcAft>
              <a:buNone/>
            </a:pPr>
            <a:r>
              <a:rPr b="1" lang="en-US" sz="2400">
                <a:solidFill>
                  <a:srgbClr val="0000A8"/>
                </a:solidFill>
                <a:latin typeface="Calibri"/>
                <a:ea typeface="Calibri"/>
                <a:cs typeface="Calibri"/>
                <a:sym typeface="Calibri"/>
              </a:rPr>
              <a:t>15  </a:t>
            </a:r>
            <a:r>
              <a:rPr i="1" lang="en-US" sz="2400">
                <a:solidFill>
                  <a:srgbClr val="0000A8"/>
                </a:solidFill>
                <a:latin typeface="Calibri"/>
                <a:ea typeface="Calibri"/>
                <a:cs typeface="Calibri"/>
                <a:sym typeface="Calibri"/>
              </a:rPr>
              <a:t>until all nodes in N'</a:t>
            </a:r>
            <a:r>
              <a:rPr lang="en-US" sz="2400">
                <a:solidFill>
                  <a:srgbClr val="0000A8"/>
                </a:solidFill>
                <a:latin typeface="Calibri"/>
                <a:ea typeface="Calibri"/>
                <a:cs typeface="Calibri"/>
                <a:sym typeface="Calibri"/>
              </a:rPr>
              <a:t> </a:t>
            </a:r>
            <a:endParaRPr/>
          </a:p>
        </p:txBody>
      </p:sp>
      <p:sp>
        <p:nvSpPr>
          <p:cNvPr id="4208" name="Google Shape;4208;p62"/>
          <p:cNvSpPr txBox="1"/>
          <p:nvPr/>
        </p:nvSpPr>
        <p:spPr>
          <a:xfrm>
            <a:off x="2767012" y="3546934"/>
            <a:ext cx="7463582" cy="2657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find </a:t>
            </a:r>
            <a:r>
              <a:rPr i="1" lang="en-US" sz="2400">
                <a:solidFill>
                  <a:srgbClr val="000000"/>
                </a:solidFill>
                <a:latin typeface="Calibri"/>
                <a:ea typeface="Calibri"/>
                <a:cs typeface="Calibri"/>
                <a:sym typeface="Calibri"/>
              </a:rPr>
              <a:t>w</a:t>
            </a:r>
            <a:r>
              <a:rPr lang="en-US" sz="2400">
                <a:solidFill>
                  <a:srgbClr val="000000"/>
                </a:solidFill>
                <a:latin typeface="Calibri"/>
                <a:ea typeface="Calibri"/>
                <a:cs typeface="Calibri"/>
                <a:sym typeface="Calibri"/>
              </a:rPr>
              <a:t> not in </a:t>
            </a:r>
            <a:r>
              <a:rPr i="1" lang="en-US" sz="2400">
                <a:solidFill>
                  <a:srgbClr val="000000"/>
                </a:solidFill>
                <a:latin typeface="Calibri"/>
                <a:ea typeface="Calibri"/>
                <a:cs typeface="Calibri"/>
                <a:sym typeface="Calibri"/>
              </a:rPr>
              <a:t>N' </a:t>
            </a:r>
            <a:r>
              <a:rPr lang="en-US" sz="2400">
                <a:solidFill>
                  <a:srgbClr val="000000"/>
                </a:solidFill>
                <a:latin typeface="Calibri"/>
                <a:ea typeface="Calibri"/>
                <a:cs typeface="Calibri"/>
                <a:sym typeface="Calibri"/>
              </a:rPr>
              <a:t>such that </a:t>
            </a:r>
            <a:r>
              <a:rPr i="1" lang="en-US" sz="2400">
                <a:solidFill>
                  <a:srgbClr val="000000"/>
                </a:solidFill>
                <a:latin typeface="Calibri"/>
                <a:ea typeface="Calibri"/>
                <a:cs typeface="Calibri"/>
                <a:sym typeface="Calibri"/>
              </a:rPr>
              <a:t>D(w) </a:t>
            </a:r>
            <a:r>
              <a:rPr lang="en-US" sz="2400">
                <a:solidFill>
                  <a:srgbClr val="000000"/>
                </a:solidFill>
                <a:latin typeface="Calibri"/>
                <a:ea typeface="Calibri"/>
                <a:cs typeface="Calibri"/>
                <a:sym typeface="Calibri"/>
              </a:rPr>
              <a:t>is a minimum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add </a:t>
            </a:r>
            <a:r>
              <a:rPr i="1" lang="en-US" sz="2400">
                <a:solidFill>
                  <a:srgbClr val="000000"/>
                </a:solidFill>
                <a:latin typeface="Calibri"/>
                <a:ea typeface="Calibri"/>
                <a:cs typeface="Calibri"/>
                <a:sym typeface="Calibri"/>
              </a:rPr>
              <a:t>w</a:t>
            </a:r>
            <a:r>
              <a:rPr lang="en-US" sz="2400">
                <a:solidFill>
                  <a:srgbClr val="000000"/>
                </a:solidFill>
                <a:latin typeface="Calibri"/>
                <a:ea typeface="Calibri"/>
                <a:cs typeface="Calibri"/>
                <a:sym typeface="Calibri"/>
              </a:rPr>
              <a:t> to </a:t>
            </a:r>
            <a:r>
              <a:rPr i="1" lang="en-US" sz="2400">
                <a:solidFill>
                  <a:srgbClr val="000000"/>
                </a:solidFill>
                <a:latin typeface="Calibri"/>
                <a:ea typeface="Calibri"/>
                <a:cs typeface="Calibri"/>
                <a:sym typeface="Calibri"/>
              </a:rPr>
              <a:t>N'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update </a:t>
            </a:r>
            <a:r>
              <a:rPr i="1" lang="en-US" sz="2400">
                <a:solidFill>
                  <a:srgbClr val="000000"/>
                </a:solidFill>
                <a:latin typeface="Calibri"/>
                <a:ea typeface="Calibri"/>
                <a:cs typeface="Calibri"/>
                <a:sym typeface="Calibri"/>
              </a:rPr>
              <a:t>D(v) </a:t>
            </a:r>
            <a:r>
              <a:rPr lang="en-US" sz="2400">
                <a:solidFill>
                  <a:srgbClr val="000000"/>
                </a:solidFill>
                <a:latin typeface="Calibri"/>
                <a:ea typeface="Calibri"/>
                <a:cs typeface="Calibri"/>
                <a:sym typeface="Calibri"/>
              </a:rPr>
              <a:t>for all</a:t>
            </a:r>
            <a:r>
              <a:rPr i="1" lang="en-US" sz="2400">
                <a:solidFill>
                  <a:srgbClr val="000000"/>
                </a:solidFill>
                <a:latin typeface="Calibri"/>
                <a:ea typeface="Calibri"/>
                <a:cs typeface="Calibri"/>
                <a:sym typeface="Calibri"/>
              </a:rPr>
              <a:t> v </a:t>
            </a:r>
            <a:r>
              <a:rPr lang="en-US" sz="2400">
                <a:solidFill>
                  <a:srgbClr val="000000"/>
                </a:solidFill>
                <a:latin typeface="Calibri"/>
                <a:ea typeface="Calibri"/>
                <a:cs typeface="Calibri"/>
                <a:sym typeface="Calibri"/>
              </a:rPr>
              <a:t>adjacent to </a:t>
            </a:r>
            <a:r>
              <a:rPr i="1" lang="en-US" sz="2400">
                <a:solidFill>
                  <a:srgbClr val="000000"/>
                </a:solidFill>
                <a:latin typeface="Calibri"/>
                <a:ea typeface="Calibri"/>
                <a:cs typeface="Calibri"/>
                <a:sym typeface="Calibri"/>
              </a:rPr>
              <a:t>w</a:t>
            </a:r>
            <a:r>
              <a:rPr lang="en-US" sz="2400">
                <a:solidFill>
                  <a:srgbClr val="000000"/>
                </a:solidFill>
                <a:latin typeface="Calibri"/>
                <a:ea typeface="Calibri"/>
                <a:cs typeface="Calibri"/>
                <a:sym typeface="Calibri"/>
              </a:rPr>
              <a:t> and not in </a:t>
            </a:r>
            <a:r>
              <a:rPr i="1" lang="en-US" sz="2400">
                <a:solidFill>
                  <a:srgbClr val="000000"/>
                </a:solidFill>
                <a:latin typeface="Calibri"/>
                <a:ea typeface="Calibri"/>
                <a:cs typeface="Calibri"/>
                <a:sym typeface="Calibri"/>
              </a:rPr>
              <a:t>N' </a:t>
            </a:r>
            <a:r>
              <a:rPr lang="en-US" sz="2400">
                <a:solidFill>
                  <a:srgbClr val="000000"/>
                </a:solidFill>
                <a:latin typeface="Calibri"/>
                <a:ea typeface="Calibri"/>
                <a:cs typeface="Calibri"/>
                <a:sym typeface="Calibri"/>
              </a:rPr>
              <a:t>: </a:t>
            </a:r>
            <a:endParaRPr/>
          </a:p>
          <a:p>
            <a:pPr indent="0" lvl="0" marL="0" marR="0" rtl="0" algn="l">
              <a:spcBef>
                <a:spcPts val="0"/>
              </a:spcBef>
              <a:spcAft>
                <a:spcPts val="0"/>
              </a:spcAft>
              <a:buNone/>
            </a:pPr>
            <a:r>
              <a:rPr b="1" i="1" lang="en-US" sz="2400">
                <a:solidFill>
                  <a:srgbClr val="CC0000"/>
                </a:solidFill>
                <a:latin typeface="Calibri"/>
                <a:ea typeface="Calibri"/>
                <a:cs typeface="Calibri"/>
                <a:sym typeface="Calibri"/>
              </a:rPr>
              <a:t>     D(v) = </a:t>
            </a:r>
            <a:r>
              <a:rPr b="1" lang="en-US" sz="2400">
                <a:solidFill>
                  <a:srgbClr val="CC0000"/>
                </a:solidFill>
                <a:latin typeface="Calibri"/>
                <a:ea typeface="Calibri"/>
                <a:cs typeface="Calibri"/>
                <a:sym typeface="Calibri"/>
              </a:rPr>
              <a:t>min</a:t>
            </a:r>
            <a:r>
              <a:rPr b="1" i="1" lang="en-US" sz="2400">
                <a:solidFill>
                  <a:srgbClr val="CC0000"/>
                </a:solidFill>
                <a:latin typeface="Calibri"/>
                <a:ea typeface="Calibri"/>
                <a:cs typeface="Calibri"/>
                <a:sym typeface="Calibri"/>
              </a:rPr>
              <a:t> </a:t>
            </a:r>
            <a:r>
              <a:rPr b="1" lang="en-US" sz="2400">
                <a:solidFill>
                  <a:srgbClr val="CC0000"/>
                </a:solidFill>
                <a:latin typeface="Calibri"/>
                <a:ea typeface="Calibri"/>
                <a:cs typeface="Calibri"/>
                <a:sym typeface="Calibri"/>
              </a:rPr>
              <a:t>( </a:t>
            </a:r>
            <a:r>
              <a:rPr b="1" i="1" lang="en-US" sz="2400">
                <a:solidFill>
                  <a:srgbClr val="CC0000"/>
                </a:solidFill>
                <a:latin typeface="Calibri"/>
                <a:ea typeface="Calibri"/>
                <a:cs typeface="Calibri"/>
                <a:sym typeface="Calibri"/>
              </a:rPr>
              <a:t>D(v),  D(w) + c</a:t>
            </a:r>
            <a:r>
              <a:rPr b="1" baseline="-25000" i="1" lang="en-US" sz="2400">
                <a:solidFill>
                  <a:srgbClr val="CC0000"/>
                </a:solidFill>
                <a:latin typeface="Calibri"/>
                <a:ea typeface="Calibri"/>
                <a:cs typeface="Calibri"/>
                <a:sym typeface="Calibri"/>
              </a:rPr>
              <a:t>w,v  </a:t>
            </a:r>
            <a:r>
              <a:rPr b="1" lang="en-US" sz="2400">
                <a:solidFill>
                  <a:srgbClr val="CC0000"/>
                </a:solidFill>
                <a:latin typeface="Calibri"/>
                <a:ea typeface="Calibri"/>
                <a:cs typeface="Calibri"/>
                <a:sym typeface="Calibri"/>
              </a:rPr>
              <a:t>)</a:t>
            </a:r>
            <a:r>
              <a:rPr b="1" i="1" lang="en-US" sz="2400">
                <a:solidFill>
                  <a:srgbClr val="CC0000"/>
                </a:solidFill>
                <a:latin typeface="Calibri"/>
                <a:ea typeface="Calibri"/>
                <a:cs typeface="Calibri"/>
                <a:sym typeface="Calibri"/>
              </a:rPr>
              <a:t> </a:t>
            </a:r>
            <a:endParaRPr/>
          </a:p>
          <a:p>
            <a:pPr indent="0" lvl="0" marL="0" marR="0" rtl="0" algn="l">
              <a:spcBef>
                <a:spcPts val="400"/>
              </a:spcBef>
              <a:spcAft>
                <a:spcPts val="0"/>
              </a:spcAft>
              <a:buNone/>
            </a:pPr>
            <a:r>
              <a:rPr lang="en-US" sz="2000">
                <a:solidFill>
                  <a:srgbClr val="000000"/>
                </a:solidFill>
                <a:latin typeface="Calibri"/>
                <a:ea typeface="Calibri"/>
                <a:cs typeface="Calibri"/>
                <a:sym typeface="Calibri"/>
              </a:rPr>
              <a:t>/* new least-path-cost to </a:t>
            </a:r>
            <a:r>
              <a:rPr i="1" lang="en-US" sz="2000">
                <a:solidFill>
                  <a:srgbClr val="000000"/>
                </a:solidFill>
                <a:latin typeface="Calibri"/>
                <a:ea typeface="Calibri"/>
                <a:cs typeface="Calibri"/>
                <a:sym typeface="Calibri"/>
              </a:rPr>
              <a:t>v </a:t>
            </a:r>
            <a:r>
              <a:rPr lang="en-US" sz="2000">
                <a:solidFill>
                  <a:srgbClr val="000000"/>
                </a:solidFill>
                <a:latin typeface="Calibri"/>
                <a:ea typeface="Calibri"/>
                <a:cs typeface="Calibri"/>
                <a:sym typeface="Calibri"/>
              </a:rPr>
              <a:t>is either old least-cost-path to</a:t>
            </a:r>
            <a:r>
              <a:rPr i="1" lang="en-US" sz="2000">
                <a:solidFill>
                  <a:srgbClr val="000000"/>
                </a:solidFill>
                <a:latin typeface="Calibri"/>
                <a:ea typeface="Calibri"/>
                <a:cs typeface="Calibri"/>
                <a:sym typeface="Calibri"/>
              </a:rPr>
              <a:t> v </a:t>
            </a:r>
            <a:r>
              <a:rPr lang="en-US" sz="2000">
                <a:solidFill>
                  <a:srgbClr val="000000"/>
                </a:solidFill>
                <a:latin typeface="Calibri"/>
                <a:ea typeface="Calibri"/>
                <a:cs typeface="Calibri"/>
                <a:sym typeface="Calibri"/>
              </a:rPr>
              <a:t>or known </a:t>
            </a:r>
            <a:endParaRPr/>
          </a:p>
          <a:p>
            <a:pPr indent="0" lvl="0" marL="0" marR="0" rtl="0" algn="l">
              <a:spcBef>
                <a:spcPts val="400"/>
              </a:spcBef>
              <a:spcAft>
                <a:spcPts val="0"/>
              </a:spcAft>
              <a:buNone/>
            </a:pPr>
            <a:r>
              <a:rPr lang="en-US" sz="2000">
                <a:solidFill>
                  <a:srgbClr val="000000"/>
                </a:solidFill>
                <a:latin typeface="Calibri"/>
                <a:ea typeface="Calibri"/>
                <a:cs typeface="Calibri"/>
                <a:sym typeface="Calibri"/>
              </a:rPr>
              <a:t>least-cost-path to </a:t>
            </a:r>
            <a:r>
              <a:rPr i="1" lang="en-US" sz="2000">
                <a:solidFill>
                  <a:srgbClr val="000000"/>
                </a:solidFill>
                <a:latin typeface="Calibri"/>
                <a:ea typeface="Calibri"/>
                <a:cs typeface="Calibri"/>
                <a:sym typeface="Calibri"/>
              </a:rPr>
              <a:t>w</a:t>
            </a:r>
            <a:r>
              <a:rPr lang="en-US" sz="2000">
                <a:solidFill>
                  <a:srgbClr val="000000"/>
                </a:solidFill>
                <a:latin typeface="Calibri"/>
                <a:ea typeface="Calibri"/>
                <a:cs typeface="Calibri"/>
                <a:sym typeface="Calibri"/>
              </a:rPr>
              <a:t> plus direct-cost from </a:t>
            </a:r>
            <a:r>
              <a:rPr i="1" lang="en-US" sz="2000">
                <a:solidFill>
                  <a:srgbClr val="000000"/>
                </a:solidFill>
                <a:latin typeface="Calibri"/>
                <a:ea typeface="Calibri"/>
                <a:cs typeface="Calibri"/>
                <a:sym typeface="Calibri"/>
              </a:rPr>
              <a:t>w</a:t>
            </a:r>
            <a:r>
              <a:rPr lang="en-US" sz="2000">
                <a:solidFill>
                  <a:srgbClr val="000000"/>
                </a:solidFill>
                <a:latin typeface="Calibri"/>
                <a:ea typeface="Calibri"/>
                <a:cs typeface="Calibri"/>
                <a:sym typeface="Calibri"/>
              </a:rPr>
              <a:t> to </a:t>
            </a:r>
            <a:r>
              <a:rPr i="1" lang="en-US" sz="2000">
                <a:solidFill>
                  <a:srgbClr val="000000"/>
                </a:solidFill>
                <a:latin typeface="Calibri"/>
                <a:ea typeface="Calibri"/>
                <a:cs typeface="Calibri"/>
                <a:sym typeface="Calibri"/>
              </a:rPr>
              <a:t>v</a:t>
            </a:r>
            <a:r>
              <a:rPr lang="en-US" sz="2000">
                <a:solidFill>
                  <a:srgbClr val="000000"/>
                </a:solidFill>
                <a:latin typeface="Calibri"/>
                <a:ea typeface="Calibri"/>
                <a:cs typeface="Calibri"/>
                <a:sym typeface="Calibri"/>
              </a:rPr>
              <a:t> */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6"/>
                                        </p:tgtEl>
                                        <p:attrNameLst>
                                          <p:attrName>style.visibility</p:attrName>
                                        </p:attrNameLst>
                                      </p:cBhvr>
                                      <p:to>
                                        <p:strVal val="visible"/>
                                      </p:to>
                                    </p:set>
                                    <p:animEffect filter="fade" transition="in">
                                      <p:cBhvr>
                                        <p:cTn dur="500"/>
                                        <p:tgtEl>
                                          <p:spTgt spid="4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7"/>
                                        </p:tgtEl>
                                        <p:attrNameLst>
                                          <p:attrName>style.visibility</p:attrName>
                                        </p:attrNameLst>
                                      </p:cBhvr>
                                      <p:to>
                                        <p:strVal val="visible"/>
                                      </p:to>
                                    </p:set>
                                    <p:animEffect filter="fade" transition="in">
                                      <p:cBhvr>
                                        <p:cTn dur="500"/>
                                        <p:tgtEl>
                                          <p:spTgt spid="420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00"/>
                                        </p:tgtEl>
                                        <p:attrNameLst>
                                          <p:attrName>style.visibility</p:attrName>
                                        </p:attrNameLst>
                                      </p:cBhvr>
                                      <p:to>
                                        <p:strVal val="visible"/>
                                      </p:to>
                                    </p:set>
                                    <p:animEffect filter="fade" transition="in">
                                      <p:cBhvr>
                                        <p:cTn dur="500"/>
                                        <p:tgtEl>
                                          <p:spTgt spid="4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8"/>
                                        </p:tgtEl>
                                        <p:attrNameLst>
                                          <p:attrName>style.visibility</p:attrName>
                                        </p:attrNameLst>
                                      </p:cBhvr>
                                      <p:to>
                                        <p:strVal val="visible"/>
                                      </p:to>
                                    </p:set>
                                    <p:animEffect filter="fade" transition="in">
                                      <p:cBhvr>
                                        <p:cTn dur="500"/>
                                        <p:tgtEl>
                                          <p:spTgt spid="4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3" name="Shape 4213"/>
        <p:cNvGrpSpPr/>
        <p:nvPr/>
      </p:nvGrpSpPr>
      <p:grpSpPr>
        <a:xfrm>
          <a:off x="0" y="0"/>
          <a:ext cx="0" cy="0"/>
          <a:chOff x="0" y="0"/>
          <a:chExt cx="0" cy="0"/>
        </a:xfrm>
      </p:grpSpPr>
      <p:grpSp>
        <p:nvGrpSpPr>
          <p:cNvPr id="4214" name="Google Shape;4214;p63"/>
          <p:cNvGrpSpPr/>
          <p:nvPr/>
        </p:nvGrpSpPr>
        <p:grpSpPr>
          <a:xfrm>
            <a:off x="5701792" y="4279392"/>
            <a:ext cx="918006" cy="1764574"/>
            <a:chOff x="4618299" y="5972536"/>
            <a:chExt cx="2734563" cy="1944547"/>
          </a:xfrm>
        </p:grpSpPr>
        <p:sp>
          <p:nvSpPr>
            <p:cNvPr id="4215" name="Google Shape;4215;p63"/>
            <p:cNvSpPr/>
            <p:nvPr/>
          </p:nvSpPr>
          <p:spPr>
            <a:xfrm>
              <a:off x="4618299" y="5972536"/>
              <a:ext cx="2511706" cy="1944547"/>
            </a:xfrm>
            <a:prstGeom prst="rect">
              <a:avLst/>
            </a:prstGeom>
            <a:noFill/>
            <a:ln cap="flat" cmpd="sng" w="254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216" name="Google Shape;4216;p63"/>
            <p:cNvSpPr/>
            <p:nvPr/>
          </p:nvSpPr>
          <p:spPr>
            <a:xfrm>
              <a:off x="6852056" y="6129160"/>
              <a:ext cx="500806" cy="16745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217" name="Google Shape;4217;p63"/>
            <p:cNvCxnSpPr/>
            <p:nvPr/>
          </p:nvCxnSpPr>
          <p:spPr>
            <a:xfrm>
              <a:off x="7131754" y="6015734"/>
              <a:ext cx="0" cy="235302"/>
            </a:xfrm>
            <a:prstGeom prst="straightConnector1">
              <a:avLst/>
            </a:prstGeom>
            <a:noFill/>
            <a:ln cap="flat" cmpd="sng" w="25400">
              <a:solidFill>
                <a:srgbClr val="0000A8"/>
              </a:solidFill>
              <a:prstDash val="solid"/>
              <a:miter lim="8000"/>
              <a:headEnd len="sm" w="sm" type="none"/>
              <a:tailEnd len="med" w="med" type="triangle"/>
            </a:ln>
          </p:spPr>
        </p:cxnSp>
      </p:grpSp>
      <p:sp>
        <p:nvSpPr>
          <p:cNvPr id="4218" name="Google Shape;4218;p63"/>
          <p:cNvSpPr txBox="1"/>
          <p:nvPr>
            <p:ph type="title"/>
          </p:nvPr>
        </p:nvSpPr>
        <p:spPr>
          <a:xfrm>
            <a:off x="838199" y="354060"/>
            <a:ext cx="1117962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Dijkstra’s algorithm: an example</a:t>
            </a:r>
            <a:endParaRPr/>
          </a:p>
        </p:txBody>
      </p:sp>
      <p:sp>
        <p:nvSpPr>
          <p:cNvPr id="4219" name="Google Shape;4219;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4220" name="Google Shape;4220;p63"/>
          <p:cNvSpPr txBox="1"/>
          <p:nvPr/>
        </p:nvSpPr>
        <p:spPr>
          <a:xfrm>
            <a:off x="1397181" y="1647825"/>
            <a:ext cx="706437" cy="22256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Step</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0</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1</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2</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3</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4</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5</a:t>
            </a:r>
            <a:endParaRPr/>
          </a:p>
        </p:txBody>
      </p:sp>
      <p:sp>
        <p:nvSpPr>
          <p:cNvPr id="4221" name="Google Shape;4221;p63"/>
          <p:cNvSpPr txBox="1"/>
          <p:nvPr/>
        </p:nvSpPr>
        <p:spPr>
          <a:xfrm>
            <a:off x="3007285" y="1657350"/>
            <a:ext cx="420308"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N'</a:t>
            </a:r>
            <a:endParaRPr/>
          </a:p>
        </p:txBody>
      </p:sp>
      <p:sp>
        <p:nvSpPr>
          <p:cNvPr id="4222" name="Google Shape;4222;p63"/>
          <p:cNvSpPr txBox="1"/>
          <p:nvPr/>
        </p:nvSpPr>
        <p:spPr>
          <a:xfrm>
            <a:off x="3932260" y="1626727"/>
            <a:ext cx="1180130"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D(v),p(v)</a:t>
            </a:r>
            <a:endParaRPr/>
          </a:p>
        </p:txBody>
      </p:sp>
      <p:sp>
        <p:nvSpPr>
          <p:cNvPr id="4223" name="Google Shape;4223;p63"/>
          <p:cNvSpPr txBox="1"/>
          <p:nvPr/>
        </p:nvSpPr>
        <p:spPr>
          <a:xfrm>
            <a:off x="6534634" y="1626726"/>
            <a:ext cx="118013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D(x),p(x)</a:t>
            </a:r>
            <a:endParaRPr/>
          </a:p>
        </p:txBody>
      </p:sp>
      <p:sp>
        <p:nvSpPr>
          <p:cNvPr id="4224" name="Google Shape;4224;p63"/>
          <p:cNvSpPr txBox="1"/>
          <p:nvPr/>
        </p:nvSpPr>
        <p:spPr>
          <a:xfrm>
            <a:off x="7856559" y="1638300"/>
            <a:ext cx="118013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D(y),p(y)</a:t>
            </a:r>
            <a:endParaRPr/>
          </a:p>
        </p:txBody>
      </p:sp>
      <p:sp>
        <p:nvSpPr>
          <p:cNvPr id="4225" name="Google Shape;4225;p63"/>
          <p:cNvSpPr txBox="1"/>
          <p:nvPr/>
        </p:nvSpPr>
        <p:spPr>
          <a:xfrm>
            <a:off x="9163535" y="1638300"/>
            <a:ext cx="1180130"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D(z),p(z)</a:t>
            </a:r>
            <a:endParaRPr/>
          </a:p>
        </p:txBody>
      </p:sp>
      <p:cxnSp>
        <p:nvCxnSpPr>
          <p:cNvPr id="4226" name="Google Shape;4226;p63"/>
          <p:cNvCxnSpPr/>
          <p:nvPr/>
        </p:nvCxnSpPr>
        <p:spPr>
          <a:xfrm>
            <a:off x="1519418" y="1998662"/>
            <a:ext cx="8505825" cy="9525"/>
          </a:xfrm>
          <a:prstGeom prst="straightConnector1">
            <a:avLst/>
          </a:prstGeom>
          <a:noFill/>
          <a:ln cap="flat" cmpd="sng" w="28575">
            <a:solidFill>
              <a:srgbClr val="3333CC"/>
            </a:solidFill>
            <a:prstDash val="solid"/>
            <a:round/>
            <a:headEnd len="med" w="med" type="none"/>
            <a:tailEnd len="med" w="med" type="none"/>
          </a:ln>
        </p:spPr>
      </p:cxnSp>
      <p:grpSp>
        <p:nvGrpSpPr>
          <p:cNvPr id="4227" name="Google Shape;4227;p63"/>
          <p:cNvGrpSpPr/>
          <p:nvPr/>
        </p:nvGrpSpPr>
        <p:grpSpPr>
          <a:xfrm>
            <a:off x="1528762" y="4132366"/>
            <a:ext cx="3571875" cy="2236788"/>
            <a:chOff x="3162" y="1071"/>
            <a:chExt cx="2250" cy="1409"/>
          </a:xfrm>
        </p:grpSpPr>
        <p:sp>
          <p:nvSpPr>
            <p:cNvPr id="4228" name="Google Shape;4228;p63"/>
            <p:cNvSpPr/>
            <p:nvPr/>
          </p:nvSpPr>
          <p:spPr>
            <a:xfrm>
              <a:off x="3162" y="1071"/>
              <a:ext cx="2250" cy="1409"/>
            </a:xfrm>
            <a:custGeom>
              <a:rect b="b" l="l" r="r" t="t"/>
              <a:pathLst>
                <a:path extrusionOk="0" h="1409" w="2250">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29" name="Google Shape;4229;p63"/>
            <p:cNvSpPr/>
            <p:nvPr/>
          </p:nvSpPr>
          <p:spPr>
            <a:xfrm>
              <a:off x="3498" y="1620"/>
              <a:ext cx="342" cy="186"/>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30" name="Google Shape;4230;p63"/>
            <p:cNvSpPr/>
            <p:nvPr/>
          </p:nvSpPr>
          <p:spPr>
            <a:xfrm>
              <a:off x="3238" y="1862"/>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231" name="Google Shape;4231;p63"/>
            <p:cNvCxnSpPr/>
            <p:nvPr/>
          </p:nvCxnSpPr>
          <p:spPr>
            <a:xfrm>
              <a:off x="3238" y="1855"/>
              <a:ext cx="0" cy="50"/>
            </a:xfrm>
            <a:prstGeom prst="straightConnector1">
              <a:avLst/>
            </a:prstGeom>
            <a:noFill/>
            <a:ln cap="flat" cmpd="sng" w="12700">
              <a:solidFill>
                <a:srgbClr val="000000"/>
              </a:solidFill>
              <a:prstDash val="solid"/>
              <a:round/>
              <a:headEnd len="med" w="med" type="none"/>
              <a:tailEnd len="med" w="med" type="none"/>
            </a:ln>
          </p:spPr>
        </p:cxnSp>
        <p:cxnSp>
          <p:nvCxnSpPr>
            <p:cNvPr id="4232" name="Google Shape;4232;p63"/>
            <p:cNvCxnSpPr/>
            <p:nvPr/>
          </p:nvCxnSpPr>
          <p:spPr>
            <a:xfrm>
              <a:off x="3551" y="1855"/>
              <a:ext cx="0" cy="50"/>
            </a:xfrm>
            <a:prstGeom prst="straightConnector1">
              <a:avLst/>
            </a:prstGeom>
            <a:noFill/>
            <a:ln cap="flat" cmpd="sng" w="12700">
              <a:solidFill>
                <a:srgbClr val="000000"/>
              </a:solidFill>
              <a:prstDash val="solid"/>
              <a:round/>
              <a:headEnd len="med" w="med" type="none"/>
              <a:tailEnd len="med" w="med" type="none"/>
            </a:ln>
          </p:spPr>
        </p:cxnSp>
        <p:sp>
          <p:nvSpPr>
            <p:cNvPr id="4233" name="Google Shape;4233;p63"/>
            <p:cNvSpPr/>
            <p:nvPr/>
          </p:nvSpPr>
          <p:spPr>
            <a:xfrm>
              <a:off x="3238" y="1855"/>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234" name="Google Shape;4234;p63"/>
            <p:cNvSpPr/>
            <p:nvPr/>
          </p:nvSpPr>
          <p:spPr>
            <a:xfrm>
              <a:off x="3235" y="1796"/>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35" name="Google Shape;4235;p63"/>
            <p:cNvSpPr/>
            <p:nvPr/>
          </p:nvSpPr>
          <p:spPr>
            <a:xfrm>
              <a:off x="3712" y="2249"/>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236" name="Google Shape;4236;p63"/>
            <p:cNvCxnSpPr/>
            <p:nvPr/>
          </p:nvCxnSpPr>
          <p:spPr>
            <a:xfrm>
              <a:off x="3712" y="2242"/>
              <a:ext cx="0" cy="50"/>
            </a:xfrm>
            <a:prstGeom prst="straightConnector1">
              <a:avLst/>
            </a:prstGeom>
            <a:noFill/>
            <a:ln cap="flat" cmpd="sng" w="12700">
              <a:solidFill>
                <a:srgbClr val="000000"/>
              </a:solidFill>
              <a:prstDash val="solid"/>
              <a:round/>
              <a:headEnd len="med" w="med" type="none"/>
              <a:tailEnd len="med" w="med" type="none"/>
            </a:ln>
          </p:spPr>
        </p:cxnSp>
        <p:cxnSp>
          <p:nvCxnSpPr>
            <p:cNvPr id="4237" name="Google Shape;4237;p63"/>
            <p:cNvCxnSpPr/>
            <p:nvPr/>
          </p:nvCxnSpPr>
          <p:spPr>
            <a:xfrm>
              <a:off x="4025" y="2242"/>
              <a:ext cx="0" cy="50"/>
            </a:xfrm>
            <a:prstGeom prst="straightConnector1">
              <a:avLst/>
            </a:prstGeom>
            <a:noFill/>
            <a:ln cap="flat" cmpd="sng" w="12700">
              <a:solidFill>
                <a:srgbClr val="000000"/>
              </a:solidFill>
              <a:prstDash val="solid"/>
              <a:round/>
              <a:headEnd len="med" w="med" type="none"/>
              <a:tailEnd len="med" w="med" type="none"/>
            </a:ln>
          </p:spPr>
        </p:cxnSp>
        <p:sp>
          <p:nvSpPr>
            <p:cNvPr id="4238" name="Google Shape;4238;p63"/>
            <p:cNvSpPr/>
            <p:nvPr/>
          </p:nvSpPr>
          <p:spPr>
            <a:xfrm>
              <a:off x="3712" y="2242"/>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239" name="Google Shape;4239;p63"/>
            <p:cNvSpPr/>
            <p:nvPr/>
          </p:nvSpPr>
          <p:spPr>
            <a:xfrm>
              <a:off x="3709" y="2183"/>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40" name="Google Shape;4240;p63"/>
            <p:cNvSpPr/>
            <p:nvPr/>
          </p:nvSpPr>
          <p:spPr>
            <a:xfrm>
              <a:off x="3708" y="1559"/>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241" name="Google Shape;4241;p63"/>
            <p:cNvCxnSpPr/>
            <p:nvPr/>
          </p:nvCxnSpPr>
          <p:spPr>
            <a:xfrm>
              <a:off x="3708" y="1552"/>
              <a:ext cx="0" cy="50"/>
            </a:xfrm>
            <a:prstGeom prst="straightConnector1">
              <a:avLst/>
            </a:prstGeom>
            <a:noFill/>
            <a:ln cap="flat" cmpd="sng" w="12700">
              <a:solidFill>
                <a:srgbClr val="000000"/>
              </a:solidFill>
              <a:prstDash val="solid"/>
              <a:round/>
              <a:headEnd len="med" w="med" type="none"/>
              <a:tailEnd len="med" w="med" type="none"/>
            </a:ln>
          </p:spPr>
        </p:cxnSp>
        <p:cxnSp>
          <p:nvCxnSpPr>
            <p:cNvPr id="4242" name="Google Shape;4242;p63"/>
            <p:cNvCxnSpPr/>
            <p:nvPr/>
          </p:nvCxnSpPr>
          <p:spPr>
            <a:xfrm>
              <a:off x="4021" y="1552"/>
              <a:ext cx="0" cy="50"/>
            </a:xfrm>
            <a:prstGeom prst="straightConnector1">
              <a:avLst/>
            </a:prstGeom>
            <a:noFill/>
            <a:ln cap="flat" cmpd="sng" w="12700">
              <a:solidFill>
                <a:srgbClr val="000000"/>
              </a:solidFill>
              <a:prstDash val="solid"/>
              <a:round/>
              <a:headEnd len="med" w="med" type="none"/>
              <a:tailEnd len="med" w="med" type="none"/>
            </a:ln>
          </p:spPr>
        </p:cxnSp>
        <p:sp>
          <p:nvSpPr>
            <p:cNvPr id="4243" name="Google Shape;4243;p63"/>
            <p:cNvSpPr/>
            <p:nvPr/>
          </p:nvSpPr>
          <p:spPr>
            <a:xfrm>
              <a:off x="3708" y="1552"/>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244" name="Google Shape;4244;p63"/>
            <p:cNvSpPr/>
            <p:nvPr/>
          </p:nvSpPr>
          <p:spPr>
            <a:xfrm>
              <a:off x="3705" y="1493"/>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45" name="Google Shape;4245;p63"/>
            <p:cNvSpPr/>
            <p:nvPr/>
          </p:nvSpPr>
          <p:spPr>
            <a:xfrm>
              <a:off x="4391" y="1555"/>
              <a:ext cx="312"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246" name="Google Shape;4246;p63"/>
            <p:cNvCxnSpPr/>
            <p:nvPr/>
          </p:nvCxnSpPr>
          <p:spPr>
            <a:xfrm>
              <a:off x="4391" y="1548"/>
              <a:ext cx="0" cy="50"/>
            </a:xfrm>
            <a:prstGeom prst="straightConnector1">
              <a:avLst/>
            </a:prstGeom>
            <a:noFill/>
            <a:ln cap="flat" cmpd="sng" w="12700">
              <a:solidFill>
                <a:srgbClr val="000000"/>
              </a:solidFill>
              <a:prstDash val="solid"/>
              <a:round/>
              <a:headEnd len="med" w="med" type="none"/>
              <a:tailEnd len="med" w="med" type="none"/>
            </a:ln>
          </p:spPr>
        </p:cxnSp>
        <p:cxnSp>
          <p:nvCxnSpPr>
            <p:cNvPr id="4247" name="Google Shape;4247;p63"/>
            <p:cNvCxnSpPr/>
            <p:nvPr/>
          </p:nvCxnSpPr>
          <p:spPr>
            <a:xfrm>
              <a:off x="4703" y="1548"/>
              <a:ext cx="0" cy="50"/>
            </a:xfrm>
            <a:prstGeom prst="straightConnector1">
              <a:avLst/>
            </a:prstGeom>
            <a:noFill/>
            <a:ln cap="flat" cmpd="sng" w="12700">
              <a:solidFill>
                <a:srgbClr val="000000"/>
              </a:solidFill>
              <a:prstDash val="solid"/>
              <a:round/>
              <a:headEnd len="med" w="med" type="none"/>
              <a:tailEnd len="med" w="med" type="none"/>
            </a:ln>
          </p:spPr>
        </p:cxnSp>
        <p:sp>
          <p:nvSpPr>
            <p:cNvPr id="4248" name="Google Shape;4248;p63"/>
            <p:cNvSpPr/>
            <p:nvPr/>
          </p:nvSpPr>
          <p:spPr>
            <a:xfrm>
              <a:off x="4391" y="1548"/>
              <a:ext cx="309"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249" name="Google Shape;4249;p63"/>
            <p:cNvSpPr/>
            <p:nvPr/>
          </p:nvSpPr>
          <p:spPr>
            <a:xfrm>
              <a:off x="4394" y="1492"/>
              <a:ext cx="312"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50" name="Google Shape;4250;p63"/>
            <p:cNvSpPr/>
            <p:nvPr/>
          </p:nvSpPr>
          <p:spPr>
            <a:xfrm>
              <a:off x="4401" y="2246"/>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251" name="Google Shape;4251;p63"/>
            <p:cNvCxnSpPr/>
            <p:nvPr/>
          </p:nvCxnSpPr>
          <p:spPr>
            <a:xfrm>
              <a:off x="4401" y="2239"/>
              <a:ext cx="0" cy="50"/>
            </a:xfrm>
            <a:prstGeom prst="straightConnector1">
              <a:avLst/>
            </a:prstGeom>
            <a:noFill/>
            <a:ln cap="flat" cmpd="sng" w="12700">
              <a:solidFill>
                <a:srgbClr val="000000"/>
              </a:solidFill>
              <a:prstDash val="solid"/>
              <a:round/>
              <a:headEnd len="med" w="med" type="none"/>
              <a:tailEnd len="med" w="med" type="none"/>
            </a:ln>
          </p:spPr>
        </p:cxnSp>
        <p:cxnSp>
          <p:nvCxnSpPr>
            <p:cNvPr id="4252" name="Google Shape;4252;p63"/>
            <p:cNvCxnSpPr/>
            <p:nvPr/>
          </p:nvCxnSpPr>
          <p:spPr>
            <a:xfrm>
              <a:off x="4714" y="2239"/>
              <a:ext cx="0" cy="50"/>
            </a:xfrm>
            <a:prstGeom prst="straightConnector1">
              <a:avLst/>
            </a:prstGeom>
            <a:noFill/>
            <a:ln cap="flat" cmpd="sng" w="12700">
              <a:solidFill>
                <a:srgbClr val="000000"/>
              </a:solidFill>
              <a:prstDash val="solid"/>
              <a:round/>
              <a:headEnd len="med" w="med" type="none"/>
              <a:tailEnd len="med" w="med" type="none"/>
            </a:ln>
          </p:spPr>
        </p:cxnSp>
        <p:sp>
          <p:nvSpPr>
            <p:cNvPr id="4253" name="Google Shape;4253;p63"/>
            <p:cNvSpPr/>
            <p:nvPr/>
          </p:nvSpPr>
          <p:spPr>
            <a:xfrm>
              <a:off x="4401" y="2239"/>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254" name="Google Shape;4254;p63"/>
            <p:cNvSpPr/>
            <p:nvPr/>
          </p:nvSpPr>
          <p:spPr>
            <a:xfrm>
              <a:off x="4398" y="2180"/>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55" name="Google Shape;4255;p63"/>
            <p:cNvSpPr/>
            <p:nvPr/>
          </p:nvSpPr>
          <p:spPr>
            <a:xfrm>
              <a:off x="4966" y="1905"/>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256" name="Google Shape;4256;p63"/>
            <p:cNvCxnSpPr/>
            <p:nvPr/>
          </p:nvCxnSpPr>
          <p:spPr>
            <a:xfrm>
              <a:off x="4966" y="1898"/>
              <a:ext cx="0" cy="50"/>
            </a:xfrm>
            <a:prstGeom prst="straightConnector1">
              <a:avLst/>
            </a:prstGeom>
            <a:noFill/>
            <a:ln cap="flat" cmpd="sng" w="12700">
              <a:solidFill>
                <a:srgbClr val="000000"/>
              </a:solidFill>
              <a:prstDash val="solid"/>
              <a:round/>
              <a:headEnd len="med" w="med" type="none"/>
              <a:tailEnd len="med" w="med" type="none"/>
            </a:ln>
          </p:spPr>
        </p:cxnSp>
        <p:cxnSp>
          <p:nvCxnSpPr>
            <p:cNvPr id="4257" name="Google Shape;4257;p63"/>
            <p:cNvCxnSpPr/>
            <p:nvPr/>
          </p:nvCxnSpPr>
          <p:spPr>
            <a:xfrm>
              <a:off x="5279" y="1898"/>
              <a:ext cx="0" cy="50"/>
            </a:xfrm>
            <a:prstGeom prst="straightConnector1">
              <a:avLst/>
            </a:prstGeom>
            <a:noFill/>
            <a:ln cap="flat" cmpd="sng" w="12700">
              <a:solidFill>
                <a:srgbClr val="000000"/>
              </a:solidFill>
              <a:prstDash val="solid"/>
              <a:round/>
              <a:headEnd len="med" w="med" type="none"/>
              <a:tailEnd len="med" w="med" type="none"/>
            </a:ln>
          </p:spPr>
        </p:cxnSp>
        <p:sp>
          <p:nvSpPr>
            <p:cNvPr id="4258" name="Google Shape;4258;p63"/>
            <p:cNvSpPr/>
            <p:nvPr/>
          </p:nvSpPr>
          <p:spPr>
            <a:xfrm>
              <a:off x="4966" y="1898"/>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259" name="Google Shape;4259;p63"/>
            <p:cNvSpPr/>
            <p:nvPr/>
          </p:nvSpPr>
          <p:spPr>
            <a:xfrm>
              <a:off x="4963" y="1839"/>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0" name="Google Shape;4260;p63"/>
            <p:cNvSpPr/>
            <p:nvPr/>
          </p:nvSpPr>
          <p:spPr>
            <a:xfrm>
              <a:off x="4557" y="1647"/>
              <a:ext cx="1" cy="522"/>
            </a:xfrm>
            <a:custGeom>
              <a:rect b="b" l="l" r="r" t="t"/>
              <a:pathLst>
                <a:path extrusionOk="0" h="522" w="1">
                  <a:moveTo>
                    <a:pt x="0" y="0"/>
                  </a:moveTo>
                  <a:lnTo>
                    <a:pt x="0" y="522"/>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1" name="Google Shape;4261;p63"/>
            <p:cNvSpPr/>
            <p:nvPr/>
          </p:nvSpPr>
          <p:spPr>
            <a:xfrm>
              <a:off x="3864" y="1653"/>
              <a:ext cx="1" cy="537"/>
            </a:xfrm>
            <a:custGeom>
              <a:rect b="b" l="l" r="r" t="t"/>
              <a:pathLst>
                <a:path extrusionOk="0" h="537" w="1">
                  <a:moveTo>
                    <a:pt x="0" y="0"/>
                  </a:moveTo>
                  <a:lnTo>
                    <a:pt x="0" y="537"/>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2" name="Google Shape;4262;p63"/>
            <p:cNvSpPr/>
            <p:nvPr/>
          </p:nvSpPr>
          <p:spPr>
            <a:xfrm>
              <a:off x="4029" y="1638"/>
              <a:ext cx="504" cy="60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3" name="Google Shape;4263;p63"/>
            <p:cNvSpPr/>
            <p:nvPr/>
          </p:nvSpPr>
          <p:spPr>
            <a:xfrm>
              <a:off x="4716" y="1986"/>
              <a:ext cx="366" cy="270"/>
            </a:xfrm>
            <a:custGeom>
              <a:rect b="b" l="l" r="r" t="t"/>
              <a:pathLst>
                <a:path extrusionOk="0" h="270" w="366">
                  <a:moveTo>
                    <a:pt x="0" y="270"/>
                  </a:moveTo>
                  <a:lnTo>
                    <a:pt x="366"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4" name="Google Shape;4264;p63"/>
            <p:cNvSpPr/>
            <p:nvPr/>
          </p:nvSpPr>
          <p:spPr>
            <a:xfrm>
              <a:off x="4035" y="2268"/>
              <a:ext cx="366" cy="1"/>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5" name="Google Shape;4265;p63"/>
            <p:cNvSpPr/>
            <p:nvPr/>
          </p:nvSpPr>
          <p:spPr>
            <a:xfrm>
              <a:off x="3444" y="1944"/>
              <a:ext cx="276" cy="264"/>
            </a:xfrm>
            <a:custGeom>
              <a:rect b="b" l="l" r="r" t="t"/>
              <a:pathLst>
                <a:path extrusionOk="0" h="264" w="276">
                  <a:moveTo>
                    <a:pt x="276" y="264"/>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6" name="Google Shape;4266;p63"/>
            <p:cNvSpPr/>
            <p:nvPr/>
          </p:nvSpPr>
          <p:spPr>
            <a:xfrm>
              <a:off x="4029" y="1578"/>
              <a:ext cx="366" cy="1"/>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7" name="Google Shape;4267;p63"/>
            <p:cNvSpPr/>
            <p:nvPr/>
          </p:nvSpPr>
          <p:spPr>
            <a:xfrm>
              <a:off x="4704" y="1575"/>
              <a:ext cx="396" cy="267"/>
            </a:xfrm>
            <a:custGeom>
              <a:rect b="b" l="l" r="r" t="t"/>
              <a:pathLst>
                <a:path extrusionOk="0" h="267" w="396">
                  <a:moveTo>
                    <a:pt x="396" y="267"/>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68" name="Google Shape;4268;p63"/>
            <p:cNvSpPr/>
            <p:nvPr/>
          </p:nvSpPr>
          <p:spPr>
            <a:xfrm>
              <a:off x="3387" y="1146"/>
              <a:ext cx="1110" cy="645"/>
            </a:xfrm>
            <a:custGeom>
              <a:rect b="b" l="l" r="r" t="t"/>
              <a:pathLst>
                <a:path extrusionOk="0" h="645" w="1110">
                  <a:moveTo>
                    <a:pt x="1110" y="342"/>
                  </a:moveTo>
                  <a:cubicBezTo>
                    <a:pt x="1104" y="0"/>
                    <a:pt x="21" y="63"/>
                    <a:pt x="0" y="645"/>
                  </a:cubicBez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269" name="Google Shape;4269;p63"/>
            <p:cNvGrpSpPr/>
            <p:nvPr/>
          </p:nvGrpSpPr>
          <p:grpSpPr>
            <a:xfrm>
              <a:off x="3287" y="1744"/>
              <a:ext cx="205" cy="250"/>
              <a:chOff x="2954" y="2425"/>
              <a:chExt cx="208" cy="250"/>
            </a:xfrm>
          </p:grpSpPr>
          <p:sp>
            <p:nvSpPr>
              <p:cNvPr id="4270" name="Google Shape;4270;p6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71" name="Google Shape;4271;p63"/>
              <p:cNvSpPr txBox="1"/>
              <p:nvPr/>
            </p:nvSpPr>
            <p:spPr>
              <a:xfrm>
                <a:off x="2954" y="2425"/>
                <a:ext cx="208"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u</a:t>
                </a:r>
                <a:endParaRPr sz="2400">
                  <a:solidFill>
                    <a:srgbClr val="000000"/>
                  </a:solidFill>
                  <a:latin typeface="Arial"/>
                  <a:ea typeface="Arial"/>
                  <a:cs typeface="Arial"/>
                  <a:sym typeface="Arial"/>
                </a:endParaRPr>
              </a:p>
            </p:txBody>
          </p:sp>
        </p:grpSp>
        <p:grpSp>
          <p:nvGrpSpPr>
            <p:cNvPr id="4272" name="Google Shape;4272;p63"/>
            <p:cNvGrpSpPr/>
            <p:nvPr/>
          </p:nvGrpSpPr>
          <p:grpSpPr>
            <a:xfrm>
              <a:off x="4461" y="2128"/>
              <a:ext cx="196" cy="250"/>
              <a:chOff x="2958" y="2425"/>
              <a:chExt cx="199" cy="250"/>
            </a:xfrm>
          </p:grpSpPr>
          <p:sp>
            <p:nvSpPr>
              <p:cNvPr id="4273" name="Google Shape;4273;p63"/>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74" name="Google Shape;4274;p63"/>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y</a:t>
                </a:r>
                <a:endParaRPr sz="2400">
                  <a:solidFill>
                    <a:srgbClr val="000000"/>
                  </a:solidFill>
                  <a:latin typeface="Arial"/>
                  <a:ea typeface="Arial"/>
                  <a:cs typeface="Arial"/>
                  <a:sym typeface="Arial"/>
                </a:endParaRPr>
              </a:p>
            </p:txBody>
          </p:sp>
        </p:grpSp>
        <p:grpSp>
          <p:nvGrpSpPr>
            <p:cNvPr id="4275" name="Google Shape;4275;p63"/>
            <p:cNvGrpSpPr/>
            <p:nvPr/>
          </p:nvGrpSpPr>
          <p:grpSpPr>
            <a:xfrm>
              <a:off x="3772" y="2095"/>
              <a:ext cx="212" cy="288"/>
              <a:chOff x="2951" y="2395"/>
              <a:chExt cx="213" cy="288"/>
            </a:xfrm>
          </p:grpSpPr>
          <p:sp>
            <p:nvSpPr>
              <p:cNvPr id="4276" name="Google Shape;4276;p6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77" name="Google Shape;4277;p63"/>
              <p:cNvSpPr txBox="1"/>
              <p:nvPr/>
            </p:nvSpPr>
            <p:spPr>
              <a:xfrm>
                <a:off x="2951" y="2395"/>
                <a:ext cx="21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Arial"/>
                    <a:ea typeface="Arial"/>
                    <a:cs typeface="Arial"/>
                    <a:sym typeface="Arial"/>
                  </a:rPr>
                  <a:t>x</a:t>
                </a:r>
                <a:endParaRPr/>
              </a:p>
            </p:txBody>
          </p:sp>
        </p:grpSp>
        <p:grpSp>
          <p:nvGrpSpPr>
            <p:cNvPr id="4278" name="Google Shape;4278;p63"/>
            <p:cNvGrpSpPr/>
            <p:nvPr/>
          </p:nvGrpSpPr>
          <p:grpSpPr>
            <a:xfrm>
              <a:off x="4438" y="1438"/>
              <a:ext cx="232" cy="250"/>
              <a:chOff x="2941" y="2425"/>
              <a:chExt cx="235" cy="250"/>
            </a:xfrm>
          </p:grpSpPr>
          <p:sp>
            <p:nvSpPr>
              <p:cNvPr id="4279" name="Google Shape;4279;p63"/>
              <p:cNvSpPr/>
              <p:nvPr/>
            </p:nvSpPr>
            <p:spPr>
              <a:xfrm>
                <a:off x="2982" y="2490"/>
                <a:ext cx="146"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80" name="Google Shape;4280;p63"/>
              <p:cNvSpPr txBox="1"/>
              <p:nvPr/>
            </p:nvSpPr>
            <p:spPr>
              <a:xfrm>
                <a:off x="2941" y="2425"/>
                <a:ext cx="235"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w</a:t>
                </a:r>
                <a:endParaRPr sz="2400">
                  <a:solidFill>
                    <a:srgbClr val="000000"/>
                  </a:solidFill>
                  <a:latin typeface="Arial"/>
                  <a:ea typeface="Arial"/>
                  <a:cs typeface="Arial"/>
                  <a:sym typeface="Arial"/>
                </a:endParaRPr>
              </a:p>
            </p:txBody>
          </p:sp>
        </p:grpSp>
        <p:grpSp>
          <p:nvGrpSpPr>
            <p:cNvPr id="4281" name="Google Shape;4281;p63"/>
            <p:cNvGrpSpPr/>
            <p:nvPr/>
          </p:nvGrpSpPr>
          <p:grpSpPr>
            <a:xfrm>
              <a:off x="3771" y="1438"/>
              <a:ext cx="196" cy="250"/>
              <a:chOff x="2958" y="2425"/>
              <a:chExt cx="199" cy="250"/>
            </a:xfrm>
          </p:grpSpPr>
          <p:sp>
            <p:nvSpPr>
              <p:cNvPr id="4282" name="Google Shape;4282;p63"/>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83" name="Google Shape;4283;p63"/>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v</a:t>
                </a:r>
                <a:endParaRPr sz="2400">
                  <a:solidFill>
                    <a:srgbClr val="000000"/>
                  </a:solidFill>
                  <a:latin typeface="Arial"/>
                  <a:ea typeface="Arial"/>
                  <a:cs typeface="Arial"/>
                  <a:sym typeface="Arial"/>
                </a:endParaRPr>
              </a:p>
            </p:txBody>
          </p:sp>
        </p:grpSp>
        <p:grpSp>
          <p:nvGrpSpPr>
            <p:cNvPr id="4284" name="Google Shape;4284;p63"/>
            <p:cNvGrpSpPr/>
            <p:nvPr/>
          </p:nvGrpSpPr>
          <p:grpSpPr>
            <a:xfrm>
              <a:off x="5025" y="1756"/>
              <a:ext cx="212" cy="288"/>
              <a:chOff x="2949" y="2395"/>
              <a:chExt cx="214" cy="288"/>
            </a:xfrm>
          </p:grpSpPr>
          <p:sp>
            <p:nvSpPr>
              <p:cNvPr id="4285" name="Google Shape;4285;p63"/>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86" name="Google Shape;4286;p63"/>
              <p:cNvSpPr txBox="1"/>
              <p:nvPr/>
            </p:nvSpPr>
            <p:spPr>
              <a:xfrm>
                <a:off x="2949" y="2395"/>
                <a:ext cx="21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Arial"/>
                    <a:ea typeface="Arial"/>
                    <a:cs typeface="Arial"/>
                    <a:sym typeface="Arial"/>
                  </a:rPr>
                  <a:t>z</a:t>
                </a:r>
                <a:endParaRPr/>
              </a:p>
            </p:txBody>
          </p:sp>
        </p:grpSp>
        <p:sp>
          <p:nvSpPr>
            <p:cNvPr id="4287" name="Google Shape;4287;p63"/>
            <p:cNvSpPr txBox="1"/>
            <p:nvPr/>
          </p:nvSpPr>
          <p:spPr>
            <a:xfrm>
              <a:off x="3493" y="1568"/>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288" name="Google Shape;4288;p63"/>
            <p:cNvSpPr txBox="1"/>
            <p:nvPr/>
          </p:nvSpPr>
          <p:spPr>
            <a:xfrm>
              <a:off x="3841" y="1787"/>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289" name="Google Shape;4289;p63"/>
            <p:cNvSpPr txBox="1"/>
            <p:nvPr/>
          </p:nvSpPr>
          <p:spPr>
            <a:xfrm>
              <a:off x="3406" y="2000"/>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290" name="Google Shape;4290;p63"/>
            <p:cNvSpPr txBox="1"/>
            <p:nvPr/>
          </p:nvSpPr>
          <p:spPr>
            <a:xfrm>
              <a:off x="4225" y="1880"/>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3</a:t>
              </a:r>
              <a:endParaRPr sz="2400">
                <a:solidFill>
                  <a:srgbClr val="000000"/>
                </a:solidFill>
                <a:latin typeface="Arial"/>
                <a:ea typeface="Arial"/>
                <a:cs typeface="Arial"/>
                <a:sym typeface="Arial"/>
              </a:endParaRPr>
            </a:p>
          </p:txBody>
        </p:sp>
        <p:sp>
          <p:nvSpPr>
            <p:cNvPr id="4291" name="Google Shape;4291;p63"/>
            <p:cNvSpPr txBox="1"/>
            <p:nvPr/>
          </p:nvSpPr>
          <p:spPr>
            <a:xfrm>
              <a:off x="4162" y="2234"/>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292" name="Google Shape;4292;p63"/>
            <p:cNvSpPr txBox="1"/>
            <p:nvPr/>
          </p:nvSpPr>
          <p:spPr>
            <a:xfrm>
              <a:off x="4522" y="1805"/>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293" name="Google Shape;4293;p63"/>
            <p:cNvSpPr txBox="1"/>
            <p:nvPr/>
          </p:nvSpPr>
          <p:spPr>
            <a:xfrm>
              <a:off x="4882" y="2069"/>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294" name="Google Shape;4294;p63"/>
            <p:cNvSpPr txBox="1"/>
            <p:nvPr/>
          </p:nvSpPr>
          <p:spPr>
            <a:xfrm>
              <a:off x="4855" y="1532"/>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5</a:t>
              </a:r>
              <a:endParaRPr sz="2400">
                <a:solidFill>
                  <a:srgbClr val="000000"/>
                </a:solidFill>
                <a:latin typeface="Arial"/>
                <a:ea typeface="Arial"/>
                <a:cs typeface="Arial"/>
                <a:sym typeface="Arial"/>
              </a:endParaRPr>
            </a:p>
          </p:txBody>
        </p:sp>
        <p:sp>
          <p:nvSpPr>
            <p:cNvPr id="4295" name="Google Shape;4295;p63"/>
            <p:cNvSpPr txBox="1"/>
            <p:nvPr/>
          </p:nvSpPr>
          <p:spPr>
            <a:xfrm>
              <a:off x="4120" y="1382"/>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3</a:t>
              </a:r>
              <a:endParaRPr sz="2400">
                <a:solidFill>
                  <a:srgbClr val="000000"/>
                </a:solidFill>
                <a:latin typeface="Arial"/>
                <a:ea typeface="Arial"/>
                <a:cs typeface="Arial"/>
                <a:sym typeface="Arial"/>
              </a:endParaRPr>
            </a:p>
          </p:txBody>
        </p:sp>
        <p:sp>
          <p:nvSpPr>
            <p:cNvPr id="4296" name="Google Shape;4296;p63"/>
            <p:cNvSpPr txBox="1"/>
            <p:nvPr/>
          </p:nvSpPr>
          <p:spPr>
            <a:xfrm>
              <a:off x="3769" y="1115"/>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5</a:t>
              </a:r>
              <a:endParaRPr sz="2400">
                <a:solidFill>
                  <a:srgbClr val="000000"/>
                </a:solidFill>
                <a:latin typeface="Arial"/>
                <a:ea typeface="Arial"/>
                <a:cs typeface="Arial"/>
                <a:sym typeface="Arial"/>
              </a:endParaRPr>
            </a:p>
          </p:txBody>
        </p:sp>
      </p:grpSp>
      <p:sp>
        <p:nvSpPr>
          <p:cNvPr id="4297" name="Google Shape;4297;p63"/>
          <p:cNvSpPr txBox="1"/>
          <p:nvPr/>
        </p:nvSpPr>
        <p:spPr>
          <a:xfrm>
            <a:off x="9490547" y="3198952"/>
            <a:ext cx="526105"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4,y</a:t>
            </a:r>
            <a:endParaRPr/>
          </a:p>
        </p:txBody>
      </p:sp>
      <p:sp>
        <p:nvSpPr>
          <p:cNvPr id="4298" name="Google Shape;4298;p63"/>
          <p:cNvSpPr txBox="1"/>
          <p:nvPr/>
        </p:nvSpPr>
        <p:spPr>
          <a:xfrm>
            <a:off x="5169952" y="1633417"/>
            <a:ext cx="1295546"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D(w),p(w)</a:t>
            </a:r>
            <a:endParaRPr/>
          </a:p>
        </p:txBody>
      </p:sp>
      <p:sp>
        <p:nvSpPr>
          <p:cNvPr id="4299" name="Google Shape;4299;p63"/>
          <p:cNvSpPr txBox="1"/>
          <p:nvPr/>
        </p:nvSpPr>
        <p:spPr>
          <a:xfrm>
            <a:off x="13837414" y="2958717"/>
            <a:ext cx="1284288" cy="16160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D(w),p(w)</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5,u</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4,x</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3,y</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3,y</a:t>
            </a:r>
            <a:endParaRPr/>
          </a:p>
        </p:txBody>
      </p:sp>
      <p:grpSp>
        <p:nvGrpSpPr>
          <p:cNvPr id="4300" name="Google Shape;4300;p63"/>
          <p:cNvGrpSpPr/>
          <p:nvPr/>
        </p:nvGrpSpPr>
        <p:grpSpPr>
          <a:xfrm>
            <a:off x="5554672" y="2866120"/>
            <a:ext cx="4461980" cy="406922"/>
            <a:chOff x="5554672" y="2866120"/>
            <a:chExt cx="4461980" cy="406922"/>
          </a:xfrm>
        </p:grpSpPr>
        <p:sp>
          <p:nvSpPr>
            <p:cNvPr id="4301" name="Google Shape;4301;p63"/>
            <p:cNvSpPr txBox="1"/>
            <p:nvPr/>
          </p:nvSpPr>
          <p:spPr>
            <a:xfrm>
              <a:off x="9490547" y="2872932"/>
              <a:ext cx="526105"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4,y</a:t>
              </a:r>
              <a:endParaRPr/>
            </a:p>
          </p:txBody>
        </p:sp>
        <p:sp>
          <p:nvSpPr>
            <p:cNvPr id="4302" name="Google Shape;4302;p63"/>
            <p:cNvSpPr txBox="1"/>
            <p:nvPr/>
          </p:nvSpPr>
          <p:spPr>
            <a:xfrm>
              <a:off x="5554672" y="2866120"/>
              <a:ext cx="526106"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3,y</a:t>
              </a:r>
              <a:endParaRPr/>
            </a:p>
          </p:txBody>
        </p:sp>
      </p:grpSp>
      <p:grpSp>
        <p:nvGrpSpPr>
          <p:cNvPr id="4303" name="Google Shape;4303;p63"/>
          <p:cNvGrpSpPr/>
          <p:nvPr/>
        </p:nvGrpSpPr>
        <p:grpSpPr>
          <a:xfrm>
            <a:off x="4263633" y="1951300"/>
            <a:ext cx="5679281" cy="401555"/>
            <a:chOff x="4263633" y="1951300"/>
            <a:chExt cx="5679281" cy="401555"/>
          </a:xfrm>
        </p:grpSpPr>
        <p:sp>
          <p:nvSpPr>
            <p:cNvPr id="4304" name="Google Shape;4304;p63"/>
            <p:cNvSpPr txBox="1"/>
            <p:nvPr/>
          </p:nvSpPr>
          <p:spPr>
            <a:xfrm>
              <a:off x="5570608" y="1951300"/>
              <a:ext cx="54053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5,u</a:t>
              </a:r>
              <a:endParaRPr/>
            </a:p>
          </p:txBody>
        </p:sp>
        <p:sp>
          <p:nvSpPr>
            <p:cNvPr id="4305" name="Google Shape;4305;p63"/>
            <p:cNvSpPr txBox="1"/>
            <p:nvPr/>
          </p:nvSpPr>
          <p:spPr>
            <a:xfrm>
              <a:off x="9564285" y="1975894"/>
              <a:ext cx="378629"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Comic Sans MS"/>
                  <a:ea typeface="Comic Sans MS"/>
                  <a:cs typeface="Comic Sans MS"/>
                  <a:sym typeface="Comic Sans MS"/>
                </a:rPr>
                <a:t>∞</a:t>
              </a:r>
              <a:endParaRPr sz="2000">
                <a:solidFill>
                  <a:srgbClr val="000000"/>
                </a:solidFill>
                <a:latin typeface="Arial"/>
                <a:ea typeface="Arial"/>
                <a:cs typeface="Arial"/>
                <a:sym typeface="Arial"/>
              </a:endParaRPr>
            </a:p>
          </p:txBody>
        </p:sp>
        <p:sp>
          <p:nvSpPr>
            <p:cNvPr id="4306" name="Google Shape;4306;p63"/>
            <p:cNvSpPr txBox="1"/>
            <p:nvPr/>
          </p:nvSpPr>
          <p:spPr>
            <a:xfrm>
              <a:off x="8268885" y="1974450"/>
              <a:ext cx="378629"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Comic Sans MS"/>
                  <a:ea typeface="Comic Sans MS"/>
                  <a:cs typeface="Comic Sans MS"/>
                  <a:sym typeface="Comic Sans MS"/>
                </a:rPr>
                <a:t>∞</a:t>
              </a:r>
              <a:endParaRPr sz="2000">
                <a:solidFill>
                  <a:srgbClr val="000000"/>
                </a:solidFill>
                <a:latin typeface="Arial"/>
                <a:ea typeface="Arial"/>
                <a:cs typeface="Arial"/>
                <a:sym typeface="Arial"/>
              </a:endParaRPr>
            </a:p>
          </p:txBody>
        </p:sp>
        <p:sp>
          <p:nvSpPr>
            <p:cNvPr id="4307" name="Google Shape;4307;p63"/>
            <p:cNvSpPr txBox="1"/>
            <p:nvPr/>
          </p:nvSpPr>
          <p:spPr>
            <a:xfrm>
              <a:off x="6866008" y="1951300"/>
              <a:ext cx="54053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1,u</a:t>
              </a:r>
              <a:endParaRPr/>
            </a:p>
          </p:txBody>
        </p:sp>
        <p:sp>
          <p:nvSpPr>
            <p:cNvPr id="4308" name="Google Shape;4308;p63"/>
            <p:cNvSpPr txBox="1"/>
            <p:nvPr/>
          </p:nvSpPr>
          <p:spPr>
            <a:xfrm>
              <a:off x="4263633" y="1952745"/>
              <a:ext cx="54053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2,u</a:t>
              </a:r>
              <a:endParaRPr/>
            </a:p>
          </p:txBody>
        </p:sp>
      </p:grpSp>
      <p:grpSp>
        <p:nvGrpSpPr>
          <p:cNvPr id="4309" name="Google Shape;4309;p63"/>
          <p:cNvGrpSpPr/>
          <p:nvPr/>
        </p:nvGrpSpPr>
        <p:grpSpPr>
          <a:xfrm>
            <a:off x="4263633" y="2255616"/>
            <a:ext cx="5679281" cy="416447"/>
            <a:chOff x="4263633" y="2255616"/>
            <a:chExt cx="5679281" cy="416447"/>
          </a:xfrm>
        </p:grpSpPr>
        <p:sp>
          <p:nvSpPr>
            <p:cNvPr id="4310" name="Google Shape;4310;p63"/>
            <p:cNvSpPr txBox="1"/>
            <p:nvPr/>
          </p:nvSpPr>
          <p:spPr>
            <a:xfrm>
              <a:off x="9564285" y="2301914"/>
              <a:ext cx="378629"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Comic Sans MS"/>
                  <a:ea typeface="Comic Sans MS"/>
                  <a:cs typeface="Comic Sans MS"/>
                  <a:sym typeface="Comic Sans MS"/>
                </a:rPr>
                <a:t>∞</a:t>
              </a:r>
              <a:endParaRPr sz="2000">
                <a:solidFill>
                  <a:srgbClr val="000000"/>
                </a:solidFill>
                <a:latin typeface="Arial"/>
                <a:ea typeface="Arial"/>
                <a:cs typeface="Arial"/>
                <a:sym typeface="Arial"/>
              </a:endParaRPr>
            </a:p>
          </p:txBody>
        </p:sp>
        <p:sp>
          <p:nvSpPr>
            <p:cNvPr id="4311" name="Google Shape;4311;p63"/>
            <p:cNvSpPr txBox="1"/>
            <p:nvPr/>
          </p:nvSpPr>
          <p:spPr>
            <a:xfrm>
              <a:off x="8206722" y="2260378"/>
              <a:ext cx="526106"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2,x</a:t>
              </a:r>
              <a:endParaRPr/>
            </a:p>
          </p:txBody>
        </p:sp>
        <p:sp>
          <p:nvSpPr>
            <p:cNvPr id="4312" name="Google Shape;4312;p63"/>
            <p:cNvSpPr txBox="1"/>
            <p:nvPr/>
          </p:nvSpPr>
          <p:spPr>
            <a:xfrm>
              <a:off x="5566247" y="2271953"/>
              <a:ext cx="526105"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4,x</a:t>
              </a:r>
              <a:endParaRPr/>
            </a:p>
          </p:txBody>
        </p:sp>
        <p:sp>
          <p:nvSpPr>
            <p:cNvPr id="4313" name="Google Shape;4313;p63"/>
            <p:cNvSpPr txBox="1"/>
            <p:nvPr/>
          </p:nvSpPr>
          <p:spPr>
            <a:xfrm>
              <a:off x="4263633" y="2255616"/>
              <a:ext cx="54053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2,u</a:t>
              </a:r>
              <a:endParaRPr/>
            </a:p>
          </p:txBody>
        </p:sp>
      </p:grpSp>
      <p:grpSp>
        <p:nvGrpSpPr>
          <p:cNvPr id="4314" name="Google Shape;4314;p63"/>
          <p:cNvGrpSpPr/>
          <p:nvPr/>
        </p:nvGrpSpPr>
        <p:grpSpPr>
          <a:xfrm>
            <a:off x="4263633" y="2546912"/>
            <a:ext cx="5753019" cy="428022"/>
            <a:chOff x="4263633" y="2546912"/>
            <a:chExt cx="5753019" cy="428022"/>
          </a:xfrm>
        </p:grpSpPr>
        <p:sp>
          <p:nvSpPr>
            <p:cNvPr id="4315" name="Google Shape;4315;p63"/>
            <p:cNvSpPr txBox="1"/>
            <p:nvPr/>
          </p:nvSpPr>
          <p:spPr>
            <a:xfrm>
              <a:off x="9490547" y="2546912"/>
              <a:ext cx="526105"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4,y</a:t>
              </a:r>
              <a:endParaRPr/>
            </a:p>
          </p:txBody>
        </p:sp>
        <p:sp>
          <p:nvSpPr>
            <p:cNvPr id="4316" name="Google Shape;4316;p63"/>
            <p:cNvSpPr txBox="1"/>
            <p:nvPr/>
          </p:nvSpPr>
          <p:spPr>
            <a:xfrm>
              <a:off x="5566247" y="2574824"/>
              <a:ext cx="526106"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3,y</a:t>
              </a:r>
              <a:endParaRPr/>
            </a:p>
          </p:txBody>
        </p:sp>
        <p:sp>
          <p:nvSpPr>
            <p:cNvPr id="4317" name="Google Shape;4317;p63"/>
            <p:cNvSpPr txBox="1"/>
            <p:nvPr/>
          </p:nvSpPr>
          <p:spPr>
            <a:xfrm>
              <a:off x="4263633" y="2558487"/>
              <a:ext cx="54053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2,u</a:t>
              </a:r>
              <a:endParaRPr/>
            </a:p>
          </p:txBody>
        </p:sp>
      </p:grpSp>
      <p:sp>
        <p:nvSpPr>
          <p:cNvPr id="4318" name="Google Shape;4318;p63"/>
          <p:cNvSpPr txBox="1"/>
          <p:nvPr/>
        </p:nvSpPr>
        <p:spPr>
          <a:xfrm>
            <a:off x="2380129" y="3488080"/>
            <a:ext cx="102624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uxyvwz</a:t>
            </a:r>
            <a:endParaRPr/>
          </a:p>
        </p:txBody>
      </p:sp>
      <p:sp>
        <p:nvSpPr>
          <p:cNvPr id="4319" name="Google Shape;4319;p63"/>
          <p:cNvSpPr txBox="1"/>
          <p:nvPr/>
        </p:nvSpPr>
        <p:spPr>
          <a:xfrm>
            <a:off x="2521874" y="3178926"/>
            <a:ext cx="89800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uxyvw</a:t>
            </a:r>
            <a:endParaRPr/>
          </a:p>
        </p:txBody>
      </p:sp>
      <p:sp>
        <p:nvSpPr>
          <p:cNvPr id="4320" name="Google Shape;4320;p63"/>
          <p:cNvSpPr txBox="1"/>
          <p:nvPr/>
        </p:nvSpPr>
        <p:spPr>
          <a:xfrm>
            <a:off x="2698178" y="2856764"/>
            <a:ext cx="71205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uxyv</a:t>
            </a:r>
            <a:endParaRPr/>
          </a:p>
        </p:txBody>
      </p:sp>
      <p:sp>
        <p:nvSpPr>
          <p:cNvPr id="4321" name="Google Shape;4321;p63"/>
          <p:cNvSpPr txBox="1"/>
          <p:nvPr/>
        </p:nvSpPr>
        <p:spPr>
          <a:xfrm>
            <a:off x="2816771" y="2546463"/>
            <a:ext cx="58381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uxy</a:t>
            </a:r>
            <a:endParaRPr/>
          </a:p>
        </p:txBody>
      </p:sp>
      <p:sp>
        <p:nvSpPr>
          <p:cNvPr id="4322" name="Google Shape;4322;p63"/>
          <p:cNvSpPr txBox="1"/>
          <p:nvPr/>
        </p:nvSpPr>
        <p:spPr>
          <a:xfrm>
            <a:off x="2958516" y="2241520"/>
            <a:ext cx="45557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ux</a:t>
            </a:r>
            <a:endParaRPr/>
          </a:p>
        </p:txBody>
      </p:sp>
      <p:sp>
        <p:nvSpPr>
          <p:cNvPr id="4323" name="Google Shape;4323;p63"/>
          <p:cNvSpPr txBox="1"/>
          <p:nvPr/>
        </p:nvSpPr>
        <p:spPr>
          <a:xfrm>
            <a:off x="3082181" y="1941646"/>
            <a:ext cx="327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a:t>
            </a:r>
            <a:endParaRPr/>
          </a:p>
        </p:txBody>
      </p:sp>
      <p:cxnSp>
        <p:nvCxnSpPr>
          <p:cNvPr id="4324" name="Google Shape;4324;p63"/>
          <p:cNvCxnSpPr/>
          <p:nvPr/>
        </p:nvCxnSpPr>
        <p:spPr>
          <a:xfrm>
            <a:off x="1706097" y="2303362"/>
            <a:ext cx="8229600" cy="0"/>
          </a:xfrm>
          <a:prstGeom prst="straightConnector1">
            <a:avLst/>
          </a:prstGeom>
          <a:noFill/>
          <a:ln cap="flat" cmpd="sng" w="12700">
            <a:solidFill>
              <a:srgbClr val="A5A5A5"/>
            </a:solidFill>
            <a:prstDash val="solid"/>
            <a:miter lim="8000"/>
            <a:headEnd len="sm" w="sm" type="none"/>
            <a:tailEnd len="sm" w="sm" type="none"/>
          </a:ln>
        </p:spPr>
      </p:cxnSp>
      <p:cxnSp>
        <p:nvCxnSpPr>
          <p:cNvPr id="4325" name="Google Shape;4325;p63"/>
          <p:cNvCxnSpPr/>
          <p:nvPr/>
        </p:nvCxnSpPr>
        <p:spPr>
          <a:xfrm>
            <a:off x="1714983" y="2606233"/>
            <a:ext cx="8229600" cy="0"/>
          </a:xfrm>
          <a:prstGeom prst="straightConnector1">
            <a:avLst/>
          </a:prstGeom>
          <a:noFill/>
          <a:ln cap="flat" cmpd="sng" w="12700">
            <a:solidFill>
              <a:srgbClr val="A5A5A5"/>
            </a:solidFill>
            <a:prstDash val="solid"/>
            <a:miter lim="8000"/>
            <a:headEnd len="sm" w="sm" type="none"/>
            <a:tailEnd len="sm" w="sm" type="none"/>
          </a:ln>
        </p:spPr>
      </p:cxnSp>
      <p:cxnSp>
        <p:nvCxnSpPr>
          <p:cNvPr id="4326" name="Google Shape;4326;p63"/>
          <p:cNvCxnSpPr/>
          <p:nvPr/>
        </p:nvCxnSpPr>
        <p:spPr>
          <a:xfrm>
            <a:off x="1719251" y="2913722"/>
            <a:ext cx="8229600" cy="0"/>
          </a:xfrm>
          <a:prstGeom prst="straightConnector1">
            <a:avLst/>
          </a:prstGeom>
          <a:noFill/>
          <a:ln cap="flat" cmpd="sng" w="12700">
            <a:solidFill>
              <a:srgbClr val="A5A5A5"/>
            </a:solidFill>
            <a:prstDash val="solid"/>
            <a:miter lim="8000"/>
            <a:headEnd len="sm" w="sm" type="none"/>
            <a:tailEnd len="sm" w="sm" type="none"/>
          </a:ln>
        </p:spPr>
      </p:cxnSp>
      <p:cxnSp>
        <p:nvCxnSpPr>
          <p:cNvPr id="4327" name="Google Shape;4327;p63"/>
          <p:cNvCxnSpPr/>
          <p:nvPr/>
        </p:nvCxnSpPr>
        <p:spPr>
          <a:xfrm>
            <a:off x="1718901" y="3225829"/>
            <a:ext cx="8229600" cy="0"/>
          </a:xfrm>
          <a:prstGeom prst="straightConnector1">
            <a:avLst/>
          </a:prstGeom>
          <a:noFill/>
          <a:ln cap="flat" cmpd="sng" w="12700">
            <a:solidFill>
              <a:srgbClr val="A5A5A5"/>
            </a:solidFill>
            <a:prstDash val="solid"/>
            <a:miter lim="8000"/>
            <a:headEnd len="sm" w="sm" type="none"/>
            <a:tailEnd len="sm" w="sm" type="none"/>
          </a:ln>
        </p:spPr>
      </p:cxnSp>
      <p:cxnSp>
        <p:nvCxnSpPr>
          <p:cNvPr id="4328" name="Google Shape;4328;p63"/>
          <p:cNvCxnSpPr/>
          <p:nvPr/>
        </p:nvCxnSpPr>
        <p:spPr>
          <a:xfrm>
            <a:off x="1727787" y="3565644"/>
            <a:ext cx="8229600" cy="0"/>
          </a:xfrm>
          <a:prstGeom prst="straightConnector1">
            <a:avLst/>
          </a:prstGeom>
          <a:noFill/>
          <a:ln cap="flat" cmpd="sng" w="12700">
            <a:solidFill>
              <a:srgbClr val="A5A5A5"/>
            </a:solidFill>
            <a:prstDash val="solid"/>
            <a:miter lim="8000"/>
            <a:headEnd len="sm" w="sm" type="none"/>
            <a:tailEnd len="sm" w="sm" type="none"/>
          </a:ln>
        </p:spPr>
      </p:cxnSp>
      <p:sp>
        <p:nvSpPr>
          <p:cNvPr id="4329" name="Google Shape;4329;p63"/>
          <p:cNvSpPr txBox="1"/>
          <p:nvPr/>
        </p:nvSpPr>
        <p:spPr>
          <a:xfrm>
            <a:off x="4409954" y="1342663"/>
            <a:ext cx="3000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v</a:t>
            </a:r>
            <a:endParaRPr/>
          </a:p>
        </p:txBody>
      </p:sp>
      <p:sp>
        <p:nvSpPr>
          <p:cNvPr id="4330" name="Google Shape;4330;p63"/>
          <p:cNvSpPr txBox="1"/>
          <p:nvPr/>
        </p:nvSpPr>
        <p:spPr>
          <a:xfrm>
            <a:off x="5685099" y="1337058"/>
            <a:ext cx="36740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w</a:t>
            </a:r>
            <a:endParaRPr/>
          </a:p>
        </p:txBody>
      </p:sp>
      <p:sp>
        <p:nvSpPr>
          <p:cNvPr id="4331" name="Google Shape;4331;p63"/>
          <p:cNvSpPr txBox="1"/>
          <p:nvPr/>
        </p:nvSpPr>
        <p:spPr>
          <a:xfrm>
            <a:off x="6994969" y="1331453"/>
            <a:ext cx="3000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x</a:t>
            </a:r>
            <a:endParaRPr/>
          </a:p>
        </p:txBody>
      </p:sp>
      <p:sp>
        <p:nvSpPr>
          <p:cNvPr id="4332" name="Google Shape;4332;p63"/>
          <p:cNvSpPr txBox="1"/>
          <p:nvPr/>
        </p:nvSpPr>
        <p:spPr>
          <a:xfrm>
            <a:off x="8327989" y="1337423"/>
            <a:ext cx="3000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y</a:t>
            </a:r>
            <a:endParaRPr/>
          </a:p>
        </p:txBody>
      </p:sp>
      <p:sp>
        <p:nvSpPr>
          <p:cNvPr id="4333" name="Google Shape;4333;p63"/>
          <p:cNvSpPr txBox="1"/>
          <p:nvPr/>
        </p:nvSpPr>
        <p:spPr>
          <a:xfrm>
            <a:off x="9591559" y="1354968"/>
            <a:ext cx="28565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z</a:t>
            </a:r>
            <a:endParaRPr/>
          </a:p>
        </p:txBody>
      </p:sp>
      <p:grpSp>
        <p:nvGrpSpPr>
          <p:cNvPr id="4334" name="Google Shape;4334;p63"/>
          <p:cNvGrpSpPr/>
          <p:nvPr/>
        </p:nvGrpSpPr>
        <p:grpSpPr>
          <a:xfrm>
            <a:off x="3119488" y="1398905"/>
            <a:ext cx="4326893" cy="1233760"/>
            <a:chOff x="3104054" y="1398906"/>
            <a:chExt cx="4326893" cy="1233760"/>
          </a:xfrm>
        </p:grpSpPr>
        <p:grpSp>
          <p:nvGrpSpPr>
            <p:cNvPr id="4335" name="Google Shape;4335;p63"/>
            <p:cNvGrpSpPr/>
            <p:nvPr/>
          </p:nvGrpSpPr>
          <p:grpSpPr>
            <a:xfrm>
              <a:off x="3104054" y="1398906"/>
              <a:ext cx="4196366" cy="1233760"/>
              <a:chOff x="239710" y="526192"/>
              <a:chExt cx="4196366" cy="1233760"/>
            </a:xfrm>
          </p:grpSpPr>
          <p:sp>
            <p:nvSpPr>
              <p:cNvPr id="4336" name="Google Shape;4336;p63"/>
              <p:cNvSpPr/>
              <p:nvPr/>
            </p:nvSpPr>
            <p:spPr>
              <a:xfrm>
                <a:off x="4120980" y="526192"/>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337" name="Google Shape;4337;p63"/>
              <p:cNvCxnSpPr>
                <a:stCxn id="4336" idx="4"/>
                <a:endCxn id="4338" idx="6"/>
              </p:cNvCxnSpPr>
              <p:nvPr/>
            </p:nvCxnSpPr>
            <p:spPr>
              <a:xfrm flipH="1">
                <a:off x="542028" y="821724"/>
                <a:ext cx="3736500" cy="790500"/>
              </a:xfrm>
              <a:prstGeom prst="straightConnector1">
                <a:avLst/>
              </a:prstGeom>
              <a:noFill/>
              <a:ln cap="flat" cmpd="sng" w="15875">
                <a:solidFill>
                  <a:srgbClr val="FF0000"/>
                </a:solidFill>
                <a:prstDash val="solid"/>
                <a:miter lim="8000"/>
                <a:headEnd len="sm" w="sm" type="none"/>
                <a:tailEnd len="med" w="med" type="triangle"/>
              </a:ln>
            </p:spPr>
          </p:cxnSp>
          <p:sp>
            <p:nvSpPr>
              <p:cNvPr id="4338" name="Google Shape;4338;p63"/>
              <p:cNvSpPr/>
              <p:nvPr/>
            </p:nvSpPr>
            <p:spPr>
              <a:xfrm>
                <a:off x="239710" y="1464420"/>
                <a:ext cx="302217"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4339" name="Google Shape;4339;p63"/>
            <p:cNvSpPr/>
            <p:nvPr/>
          </p:nvSpPr>
          <p:spPr>
            <a:xfrm>
              <a:off x="6828095" y="2025569"/>
              <a:ext cx="602852" cy="30197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cxnSp>
          <p:nvCxnSpPr>
            <p:cNvPr id="4340" name="Google Shape;4340;p63"/>
            <p:cNvCxnSpPr>
              <a:stCxn id="4339" idx="0"/>
            </p:cNvCxnSpPr>
            <p:nvPr/>
          </p:nvCxnSpPr>
          <p:spPr>
            <a:xfrm flipH="1" rot="10800000">
              <a:off x="7129521" y="1638269"/>
              <a:ext cx="600" cy="387300"/>
            </a:xfrm>
            <a:prstGeom prst="straightConnector1">
              <a:avLst/>
            </a:prstGeom>
            <a:noFill/>
            <a:ln cap="flat" cmpd="sng" w="19050">
              <a:solidFill>
                <a:srgbClr val="FF0000"/>
              </a:solidFill>
              <a:prstDash val="solid"/>
              <a:miter lim="8000"/>
              <a:headEnd len="sm" w="sm" type="none"/>
              <a:tailEnd len="med" w="med" type="triangle"/>
            </a:ln>
          </p:spPr>
        </p:cxnSp>
      </p:grpSp>
      <p:grpSp>
        <p:nvGrpSpPr>
          <p:cNvPr id="4341" name="Google Shape;4341;p63"/>
          <p:cNvGrpSpPr/>
          <p:nvPr/>
        </p:nvGrpSpPr>
        <p:grpSpPr>
          <a:xfrm>
            <a:off x="3117557" y="1389255"/>
            <a:ext cx="5681132" cy="1534706"/>
            <a:chOff x="1772965" y="1097960"/>
            <a:chExt cx="5681132" cy="1534706"/>
          </a:xfrm>
        </p:grpSpPr>
        <p:grpSp>
          <p:nvGrpSpPr>
            <p:cNvPr id="4342" name="Google Shape;4342;p63"/>
            <p:cNvGrpSpPr/>
            <p:nvPr/>
          </p:nvGrpSpPr>
          <p:grpSpPr>
            <a:xfrm>
              <a:off x="1772965" y="1097960"/>
              <a:ext cx="5539030" cy="1534706"/>
              <a:chOff x="-1091379" y="225246"/>
              <a:chExt cx="5539030" cy="1534706"/>
            </a:xfrm>
          </p:grpSpPr>
          <p:sp>
            <p:nvSpPr>
              <p:cNvPr id="4343" name="Google Shape;4343;p63"/>
              <p:cNvSpPr/>
              <p:nvPr/>
            </p:nvSpPr>
            <p:spPr>
              <a:xfrm>
                <a:off x="4132555" y="225246"/>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344" name="Google Shape;4344;p63"/>
              <p:cNvCxnSpPr>
                <a:stCxn id="4343" idx="4"/>
                <a:endCxn id="4345" idx="6"/>
              </p:cNvCxnSpPr>
              <p:nvPr/>
            </p:nvCxnSpPr>
            <p:spPr>
              <a:xfrm flipH="1">
                <a:off x="-789197" y="520778"/>
                <a:ext cx="5079300" cy="1091400"/>
              </a:xfrm>
              <a:prstGeom prst="straightConnector1">
                <a:avLst/>
              </a:prstGeom>
              <a:noFill/>
              <a:ln cap="flat" cmpd="sng" w="15875">
                <a:solidFill>
                  <a:srgbClr val="FF0000"/>
                </a:solidFill>
                <a:prstDash val="solid"/>
                <a:miter lim="8000"/>
                <a:headEnd len="sm" w="sm" type="none"/>
                <a:tailEnd len="med" w="med" type="triangle"/>
              </a:ln>
            </p:spPr>
          </p:cxnSp>
          <p:sp>
            <p:nvSpPr>
              <p:cNvPr id="4345" name="Google Shape;4345;p63"/>
              <p:cNvSpPr/>
              <p:nvPr/>
            </p:nvSpPr>
            <p:spPr>
              <a:xfrm>
                <a:off x="-1091379" y="1464420"/>
                <a:ext cx="302217"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4346" name="Google Shape;4346;p63"/>
            <p:cNvSpPr/>
            <p:nvPr/>
          </p:nvSpPr>
          <p:spPr>
            <a:xfrm>
              <a:off x="6851245" y="2025569"/>
              <a:ext cx="602852" cy="30197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cxnSp>
          <p:nvCxnSpPr>
            <p:cNvPr id="4347" name="Google Shape;4347;p63"/>
            <p:cNvCxnSpPr>
              <a:stCxn id="4346" idx="0"/>
              <a:endCxn id="4343" idx="4"/>
            </p:cNvCxnSpPr>
            <p:nvPr/>
          </p:nvCxnSpPr>
          <p:spPr>
            <a:xfrm flipH="1" rot="10800000">
              <a:off x="7152671" y="1393469"/>
              <a:ext cx="1800" cy="632100"/>
            </a:xfrm>
            <a:prstGeom prst="straightConnector1">
              <a:avLst/>
            </a:prstGeom>
            <a:noFill/>
            <a:ln cap="flat" cmpd="sng" w="19050">
              <a:solidFill>
                <a:srgbClr val="FF0000"/>
              </a:solidFill>
              <a:prstDash val="solid"/>
              <a:miter lim="8000"/>
              <a:headEnd len="sm" w="sm" type="none"/>
              <a:tailEnd len="med" w="med" type="triangle"/>
            </a:ln>
          </p:spPr>
        </p:cxnSp>
      </p:grpSp>
      <p:grpSp>
        <p:nvGrpSpPr>
          <p:cNvPr id="4348" name="Google Shape;4348;p63"/>
          <p:cNvGrpSpPr/>
          <p:nvPr/>
        </p:nvGrpSpPr>
        <p:grpSpPr>
          <a:xfrm>
            <a:off x="3109189" y="1412217"/>
            <a:ext cx="1746239" cy="1817119"/>
            <a:chOff x="5709634" y="1003247"/>
            <a:chExt cx="1746239" cy="1817119"/>
          </a:xfrm>
        </p:grpSpPr>
        <p:grpSp>
          <p:nvGrpSpPr>
            <p:cNvPr id="4349" name="Google Shape;4349;p63"/>
            <p:cNvGrpSpPr/>
            <p:nvPr/>
          </p:nvGrpSpPr>
          <p:grpSpPr>
            <a:xfrm>
              <a:off x="5709634" y="1003247"/>
              <a:ext cx="1602361" cy="1817119"/>
              <a:chOff x="2845290" y="130533"/>
              <a:chExt cx="1602361" cy="1817119"/>
            </a:xfrm>
          </p:grpSpPr>
          <p:sp>
            <p:nvSpPr>
              <p:cNvPr id="4350" name="Google Shape;4350;p63"/>
              <p:cNvSpPr/>
              <p:nvPr/>
            </p:nvSpPr>
            <p:spPr>
              <a:xfrm>
                <a:off x="4132555" y="130533"/>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351" name="Google Shape;4351;p63"/>
              <p:cNvCxnSpPr>
                <a:stCxn id="4350" idx="4"/>
                <a:endCxn id="4352" idx="6"/>
              </p:cNvCxnSpPr>
              <p:nvPr/>
            </p:nvCxnSpPr>
            <p:spPr>
              <a:xfrm flipH="1">
                <a:off x="3147403" y="426065"/>
                <a:ext cx="1142700" cy="1373700"/>
              </a:xfrm>
              <a:prstGeom prst="straightConnector1">
                <a:avLst/>
              </a:prstGeom>
              <a:noFill/>
              <a:ln cap="flat" cmpd="sng" w="15875">
                <a:solidFill>
                  <a:srgbClr val="FF0000"/>
                </a:solidFill>
                <a:prstDash val="solid"/>
                <a:miter lim="8000"/>
                <a:headEnd len="sm" w="sm" type="none"/>
                <a:tailEnd len="med" w="med" type="triangle"/>
              </a:ln>
            </p:spPr>
          </p:cxnSp>
          <p:sp>
            <p:nvSpPr>
              <p:cNvPr id="4352" name="Google Shape;4352;p63"/>
              <p:cNvSpPr/>
              <p:nvPr/>
            </p:nvSpPr>
            <p:spPr>
              <a:xfrm>
                <a:off x="2845290" y="1652120"/>
                <a:ext cx="302217"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4353" name="Google Shape;4353;p63"/>
            <p:cNvSpPr/>
            <p:nvPr/>
          </p:nvSpPr>
          <p:spPr>
            <a:xfrm>
              <a:off x="6853021" y="2199189"/>
              <a:ext cx="602852" cy="30197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cxnSp>
          <p:nvCxnSpPr>
            <p:cNvPr id="4354" name="Google Shape;4354;p63"/>
            <p:cNvCxnSpPr>
              <a:stCxn id="4353" idx="0"/>
              <a:endCxn id="4350" idx="4"/>
            </p:cNvCxnSpPr>
            <p:nvPr/>
          </p:nvCxnSpPr>
          <p:spPr>
            <a:xfrm rot="10800000">
              <a:off x="7154447" y="1298889"/>
              <a:ext cx="0" cy="900300"/>
            </a:xfrm>
            <a:prstGeom prst="straightConnector1">
              <a:avLst/>
            </a:prstGeom>
            <a:noFill/>
            <a:ln cap="flat" cmpd="sng" w="19050">
              <a:solidFill>
                <a:srgbClr val="FF0000"/>
              </a:solidFill>
              <a:prstDash val="solid"/>
              <a:miter lim="8000"/>
              <a:headEnd len="sm" w="sm" type="none"/>
              <a:tailEnd len="med" w="med" type="triangle"/>
            </a:ln>
          </p:spPr>
        </p:cxnSp>
      </p:grpSp>
      <p:grpSp>
        <p:nvGrpSpPr>
          <p:cNvPr id="4355" name="Google Shape;4355;p63"/>
          <p:cNvGrpSpPr/>
          <p:nvPr/>
        </p:nvGrpSpPr>
        <p:grpSpPr>
          <a:xfrm>
            <a:off x="3082834" y="1400642"/>
            <a:ext cx="3065254" cy="2136777"/>
            <a:chOff x="4423568" y="495889"/>
            <a:chExt cx="3065254" cy="2136777"/>
          </a:xfrm>
        </p:grpSpPr>
        <p:grpSp>
          <p:nvGrpSpPr>
            <p:cNvPr id="4356" name="Google Shape;4356;p63"/>
            <p:cNvGrpSpPr/>
            <p:nvPr/>
          </p:nvGrpSpPr>
          <p:grpSpPr>
            <a:xfrm>
              <a:off x="4423568" y="495889"/>
              <a:ext cx="2923151" cy="2136777"/>
              <a:chOff x="1559224" y="-376825"/>
              <a:chExt cx="2923151" cy="2136777"/>
            </a:xfrm>
          </p:grpSpPr>
          <p:sp>
            <p:nvSpPr>
              <p:cNvPr id="4357" name="Google Shape;4357;p63"/>
              <p:cNvSpPr/>
              <p:nvPr/>
            </p:nvSpPr>
            <p:spPr>
              <a:xfrm>
                <a:off x="4167279" y="-376825"/>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358" name="Google Shape;4358;p63"/>
              <p:cNvCxnSpPr>
                <a:stCxn id="4357" idx="4"/>
                <a:endCxn id="4359" idx="6"/>
              </p:cNvCxnSpPr>
              <p:nvPr/>
            </p:nvCxnSpPr>
            <p:spPr>
              <a:xfrm flipH="1">
                <a:off x="1861527" y="-81293"/>
                <a:ext cx="2463300" cy="1693500"/>
              </a:xfrm>
              <a:prstGeom prst="straightConnector1">
                <a:avLst/>
              </a:prstGeom>
              <a:noFill/>
              <a:ln cap="flat" cmpd="sng" w="15875">
                <a:solidFill>
                  <a:srgbClr val="FF0000"/>
                </a:solidFill>
                <a:prstDash val="solid"/>
                <a:miter lim="8000"/>
                <a:headEnd len="sm" w="sm" type="none"/>
                <a:tailEnd len="med" w="med" type="triangle"/>
              </a:ln>
            </p:spPr>
          </p:cxnSp>
          <p:sp>
            <p:nvSpPr>
              <p:cNvPr id="4359" name="Google Shape;4359;p63"/>
              <p:cNvSpPr/>
              <p:nvPr/>
            </p:nvSpPr>
            <p:spPr>
              <a:xfrm>
                <a:off x="1559224" y="1464420"/>
                <a:ext cx="302217"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4360" name="Google Shape;4360;p63"/>
            <p:cNvSpPr/>
            <p:nvPr/>
          </p:nvSpPr>
          <p:spPr>
            <a:xfrm>
              <a:off x="6885970" y="2025569"/>
              <a:ext cx="602852" cy="30197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cxnSp>
          <p:nvCxnSpPr>
            <p:cNvPr id="4361" name="Google Shape;4361;p63"/>
            <p:cNvCxnSpPr>
              <a:stCxn id="4360" idx="0"/>
              <a:endCxn id="4357" idx="4"/>
            </p:cNvCxnSpPr>
            <p:nvPr/>
          </p:nvCxnSpPr>
          <p:spPr>
            <a:xfrm flipH="1" rot="10800000">
              <a:off x="7187396" y="791369"/>
              <a:ext cx="1800" cy="1234200"/>
            </a:xfrm>
            <a:prstGeom prst="straightConnector1">
              <a:avLst/>
            </a:prstGeom>
            <a:noFill/>
            <a:ln cap="flat" cmpd="sng" w="19050">
              <a:solidFill>
                <a:srgbClr val="FF0000"/>
              </a:solidFill>
              <a:prstDash val="solid"/>
              <a:miter lim="8000"/>
              <a:headEnd len="sm" w="sm" type="none"/>
              <a:tailEnd len="med" w="med" type="triangle"/>
            </a:ln>
          </p:spPr>
        </p:cxnSp>
      </p:grpSp>
      <p:grpSp>
        <p:nvGrpSpPr>
          <p:cNvPr id="4362" name="Google Shape;4362;p63"/>
          <p:cNvGrpSpPr/>
          <p:nvPr/>
        </p:nvGrpSpPr>
        <p:grpSpPr>
          <a:xfrm>
            <a:off x="3084763" y="1437297"/>
            <a:ext cx="6956123" cy="2426144"/>
            <a:chOff x="534474" y="495889"/>
            <a:chExt cx="6956123" cy="2426144"/>
          </a:xfrm>
        </p:grpSpPr>
        <p:grpSp>
          <p:nvGrpSpPr>
            <p:cNvPr id="4363" name="Google Shape;4363;p63"/>
            <p:cNvGrpSpPr/>
            <p:nvPr/>
          </p:nvGrpSpPr>
          <p:grpSpPr>
            <a:xfrm>
              <a:off x="534474" y="495889"/>
              <a:ext cx="6812245" cy="2426144"/>
              <a:chOff x="-2329870" y="-376825"/>
              <a:chExt cx="6812245" cy="2426144"/>
            </a:xfrm>
          </p:grpSpPr>
          <p:sp>
            <p:nvSpPr>
              <p:cNvPr id="4364" name="Google Shape;4364;p63"/>
              <p:cNvSpPr/>
              <p:nvPr/>
            </p:nvSpPr>
            <p:spPr>
              <a:xfrm>
                <a:off x="4167279" y="-376825"/>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365" name="Google Shape;4365;p63"/>
              <p:cNvCxnSpPr>
                <a:stCxn id="4364" idx="4"/>
                <a:endCxn id="4366" idx="6"/>
              </p:cNvCxnSpPr>
              <p:nvPr/>
            </p:nvCxnSpPr>
            <p:spPr>
              <a:xfrm flipH="1">
                <a:off x="-2027673" y="-81293"/>
                <a:ext cx="6352500" cy="1982700"/>
              </a:xfrm>
              <a:prstGeom prst="straightConnector1">
                <a:avLst/>
              </a:prstGeom>
              <a:noFill/>
              <a:ln cap="flat" cmpd="sng" w="15875">
                <a:solidFill>
                  <a:srgbClr val="FF0000"/>
                </a:solidFill>
                <a:prstDash val="solid"/>
                <a:miter lim="8000"/>
                <a:headEnd len="sm" w="sm" type="none"/>
                <a:tailEnd len="med" w="med" type="triangle"/>
              </a:ln>
            </p:spPr>
          </p:cxnSp>
          <p:sp>
            <p:nvSpPr>
              <p:cNvPr id="4366" name="Google Shape;4366;p63"/>
              <p:cNvSpPr/>
              <p:nvPr/>
            </p:nvSpPr>
            <p:spPr>
              <a:xfrm>
                <a:off x="-2329870" y="1753787"/>
                <a:ext cx="302217"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4367" name="Google Shape;4367;p63"/>
            <p:cNvSpPr/>
            <p:nvPr/>
          </p:nvSpPr>
          <p:spPr>
            <a:xfrm>
              <a:off x="6887745" y="2326511"/>
              <a:ext cx="602852" cy="30197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cxnSp>
          <p:nvCxnSpPr>
            <p:cNvPr id="4368" name="Google Shape;4368;p63"/>
            <p:cNvCxnSpPr>
              <a:stCxn id="4367" idx="0"/>
              <a:endCxn id="4364" idx="4"/>
            </p:cNvCxnSpPr>
            <p:nvPr/>
          </p:nvCxnSpPr>
          <p:spPr>
            <a:xfrm rot="10800000">
              <a:off x="7189171" y="791411"/>
              <a:ext cx="0" cy="1535100"/>
            </a:xfrm>
            <a:prstGeom prst="straightConnector1">
              <a:avLst/>
            </a:prstGeom>
            <a:noFill/>
            <a:ln cap="flat" cmpd="sng" w="19050">
              <a:solidFill>
                <a:srgbClr val="FF0000"/>
              </a:solidFill>
              <a:prstDash val="solid"/>
              <a:miter lim="8000"/>
              <a:headEnd len="sm" w="sm" type="none"/>
              <a:tailEnd len="med" w="med" type="triangle"/>
            </a:ln>
          </p:spPr>
        </p:cxnSp>
      </p:grpSp>
      <p:cxnSp>
        <p:nvCxnSpPr>
          <p:cNvPr id="4369" name="Google Shape;4369;p63"/>
          <p:cNvCxnSpPr>
            <a:endCxn id="4239" idx="2"/>
          </p:cNvCxnSpPr>
          <p:nvPr/>
        </p:nvCxnSpPr>
        <p:spPr>
          <a:xfrm>
            <a:off x="1957625" y="5544373"/>
            <a:ext cx="439500" cy="428700"/>
          </a:xfrm>
          <a:prstGeom prst="straightConnector1">
            <a:avLst/>
          </a:prstGeom>
          <a:noFill/>
          <a:ln cap="flat" cmpd="sng" w="31750">
            <a:solidFill>
              <a:srgbClr val="FF0000"/>
            </a:solidFill>
            <a:prstDash val="solid"/>
            <a:miter lim="8000"/>
            <a:headEnd len="sm" w="sm" type="none"/>
            <a:tailEnd len="med" w="med" type="triangle"/>
          </a:ln>
        </p:spPr>
      </p:cxnSp>
      <p:cxnSp>
        <p:nvCxnSpPr>
          <p:cNvPr id="4370" name="Google Shape;4370;p63"/>
          <p:cNvCxnSpPr>
            <a:endCxn id="4250" idx="2"/>
          </p:cNvCxnSpPr>
          <p:nvPr/>
        </p:nvCxnSpPr>
        <p:spPr>
          <a:xfrm>
            <a:off x="2908575" y="6055373"/>
            <a:ext cx="587100" cy="6600"/>
          </a:xfrm>
          <a:prstGeom prst="straightConnector1">
            <a:avLst/>
          </a:prstGeom>
          <a:noFill/>
          <a:ln cap="flat" cmpd="sng" w="31750">
            <a:solidFill>
              <a:srgbClr val="FF0000"/>
            </a:solidFill>
            <a:prstDash val="solid"/>
            <a:miter lim="8000"/>
            <a:headEnd len="sm" w="sm" type="none"/>
            <a:tailEnd len="med" w="med" type="triangle"/>
          </a:ln>
        </p:spPr>
      </p:cxnSp>
      <p:cxnSp>
        <p:nvCxnSpPr>
          <p:cNvPr id="4371" name="Google Shape;4371;p63"/>
          <p:cNvCxnSpPr>
            <a:stCxn id="4234" idx="7"/>
          </p:cNvCxnSpPr>
          <p:nvPr/>
        </p:nvCxnSpPr>
        <p:spPr>
          <a:xfrm flipH="1" rot="10800000">
            <a:off x="2068770" y="5023390"/>
            <a:ext cx="502200" cy="282000"/>
          </a:xfrm>
          <a:prstGeom prst="straightConnector1">
            <a:avLst/>
          </a:prstGeom>
          <a:noFill/>
          <a:ln cap="flat" cmpd="sng" w="31750">
            <a:solidFill>
              <a:srgbClr val="FF0000"/>
            </a:solidFill>
            <a:prstDash val="solid"/>
            <a:miter lim="8000"/>
            <a:headEnd len="sm" w="sm" type="none"/>
            <a:tailEnd len="med" w="med" type="triangle"/>
          </a:ln>
        </p:spPr>
      </p:cxnSp>
      <p:cxnSp>
        <p:nvCxnSpPr>
          <p:cNvPr id="4372" name="Google Shape;4372;p63"/>
          <p:cNvCxnSpPr/>
          <p:nvPr/>
        </p:nvCxnSpPr>
        <p:spPr>
          <a:xfrm rot="10800000">
            <a:off x="3744012" y="4988689"/>
            <a:ext cx="0" cy="883534"/>
          </a:xfrm>
          <a:prstGeom prst="straightConnector1">
            <a:avLst/>
          </a:prstGeom>
          <a:noFill/>
          <a:ln cap="flat" cmpd="sng" w="31750">
            <a:solidFill>
              <a:srgbClr val="FF0000"/>
            </a:solidFill>
            <a:prstDash val="solid"/>
            <a:miter lim="8000"/>
            <a:headEnd len="sm" w="sm" type="none"/>
            <a:tailEnd len="med" w="med" type="triangle"/>
          </a:ln>
        </p:spPr>
      </p:cxnSp>
      <p:cxnSp>
        <p:nvCxnSpPr>
          <p:cNvPr id="4373" name="Google Shape;4373;p63"/>
          <p:cNvCxnSpPr/>
          <p:nvPr/>
        </p:nvCxnSpPr>
        <p:spPr>
          <a:xfrm flipH="1" rot="10800000">
            <a:off x="4007312" y="5577069"/>
            <a:ext cx="606730" cy="448060"/>
          </a:xfrm>
          <a:prstGeom prst="straightConnector1">
            <a:avLst/>
          </a:prstGeom>
          <a:noFill/>
          <a:ln cap="flat" cmpd="sng" w="31750">
            <a:solidFill>
              <a:srgbClr val="FF0000"/>
            </a:solidFill>
            <a:prstDash val="solid"/>
            <a:miter lim="8000"/>
            <a:headEnd len="sm" w="sm" type="none"/>
            <a:tailEnd len="med" w="med" type="triangle"/>
          </a:ln>
        </p:spPr>
      </p:cxnSp>
      <p:sp>
        <p:nvSpPr>
          <p:cNvPr id="4374" name="Google Shape;4374;p63"/>
          <p:cNvSpPr txBox="1"/>
          <p:nvPr/>
        </p:nvSpPr>
        <p:spPr>
          <a:xfrm>
            <a:off x="5894442" y="4463262"/>
            <a:ext cx="5770234"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rgbClr val="000000"/>
                </a:solidFill>
                <a:latin typeface="Calibri"/>
                <a:ea typeface="Calibri"/>
                <a:cs typeface="Calibri"/>
                <a:sym typeface="Calibri"/>
              </a:rPr>
              <a:t>find </a:t>
            </a:r>
            <a:r>
              <a:rPr i="1" lang="en-US" sz="2200">
                <a:solidFill>
                  <a:srgbClr val="000000"/>
                </a:solidFill>
                <a:latin typeface="Calibri"/>
                <a:ea typeface="Calibri"/>
                <a:cs typeface="Calibri"/>
                <a:sym typeface="Calibri"/>
              </a:rPr>
              <a:t>a</a:t>
            </a:r>
            <a:r>
              <a:rPr lang="en-US" sz="2200">
                <a:solidFill>
                  <a:srgbClr val="000000"/>
                </a:solidFill>
                <a:latin typeface="Calibri"/>
                <a:ea typeface="Calibri"/>
                <a:cs typeface="Calibri"/>
                <a:sym typeface="Calibri"/>
              </a:rPr>
              <a:t> not in </a:t>
            </a:r>
            <a:r>
              <a:rPr i="1" lang="en-US" sz="2200">
                <a:solidFill>
                  <a:srgbClr val="000000"/>
                </a:solidFill>
                <a:latin typeface="Calibri"/>
                <a:ea typeface="Calibri"/>
                <a:cs typeface="Calibri"/>
                <a:sym typeface="Calibri"/>
              </a:rPr>
              <a:t>N' </a:t>
            </a:r>
            <a:r>
              <a:rPr lang="en-US" sz="2200">
                <a:solidFill>
                  <a:srgbClr val="000000"/>
                </a:solidFill>
                <a:latin typeface="Calibri"/>
                <a:ea typeface="Calibri"/>
                <a:cs typeface="Calibri"/>
                <a:sym typeface="Calibri"/>
              </a:rPr>
              <a:t>such that </a:t>
            </a:r>
            <a:r>
              <a:rPr i="1" lang="en-US" sz="2200">
                <a:solidFill>
                  <a:srgbClr val="000000"/>
                </a:solidFill>
                <a:latin typeface="Calibri"/>
                <a:ea typeface="Calibri"/>
                <a:cs typeface="Calibri"/>
                <a:sym typeface="Calibri"/>
              </a:rPr>
              <a:t>D(a) </a:t>
            </a:r>
            <a:r>
              <a:rPr lang="en-US" sz="2200">
                <a:solidFill>
                  <a:srgbClr val="000000"/>
                </a:solidFill>
                <a:latin typeface="Calibri"/>
                <a:ea typeface="Calibri"/>
                <a:cs typeface="Calibri"/>
                <a:sym typeface="Calibri"/>
              </a:rPr>
              <a:t>is a minimum </a:t>
            </a:r>
            <a:endParaRPr/>
          </a:p>
          <a:p>
            <a:pPr indent="0" lvl="0" marL="0" marR="0" rtl="0" algn="l">
              <a:spcBef>
                <a:spcPts val="0"/>
              </a:spcBef>
              <a:spcAft>
                <a:spcPts val="0"/>
              </a:spcAft>
              <a:buNone/>
            </a:pPr>
            <a:r>
              <a:rPr lang="en-US" sz="2200">
                <a:solidFill>
                  <a:srgbClr val="000000"/>
                </a:solidFill>
                <a:latin typeface="Calibri"/>
                <a:ea typeface="Calibri"/>
                <a:cs typeface="Calibri"/>
                <a:sym typeface="Calibri"/>
              </a:rPr>
              <a:t>add </a:t>
            </a:r>
            <a:r>
              <a:rPr i="1" lang="en-US" sz="2200">
                <a:solidFill>
                  <a:srgbClr val="000000"/>
                </a:solidFill>
                <a:latin typeface="Calibri"/>
                <a:ea typeface="Calibri"/>
                <a:cs typeface="Calibri"/>
                <a:sym typeface="Calibri"/>
              </a:rPr>
              <a:t>a</a:t>
            </a:r>
            <a:r>
              <a:rPr lang="en-US" sz="2200">
                <a:solidFill>
                  <a:srgbClr val="000000"/>
                </a:solidFill>
                <a:latin typeface="Calibri"/>
                <a:ea typeface="Calibri"/>
                <a:cs typeface="Calibri"/>
                <a:sym typeface="Calibri"/>
              </a:rPr>
              <a:t> to </a:t>
            </a:r>
            <a:r>
              <a:rPr i="1" lang="en-US" sz="2200">
                <a:solidFill>
                  <a:srgbClr val="000000"/>
                </a:solidFill>
                <a:latin typeface="Calibri"/>
                <a:ea typeface="Calibri"/>
                <a:cs typeface="Calibri"/>
                <a:sym typeface="Calibri"/>
              </a:rPr>
              <a:t>N' </a:t>
            </a:r>
            <a:endParaRPr/>
          </a:p>
          <a:p>
            <a:pPr indent="0" lvl="0" marL="0" marR="0" rtl="0" algn="l">
              <a:spcBef>
                <a:spcPts val="0"/>
              </a:spcBef>
              <a:spcAft>
                <a:spcPts val="0"/>
              </a:spcAft>
              <a:buNone/>
            </a:pPr>
            <a:r>
              <a:rPr lang="en-US" sz="2200">
                <a:solidFill>
                  <a:srgbClr val="000000"/>
                </a:solidFill>
                <a:latin typeface="Calibri"/>
                <a:ea typeface="Calibri"/>
                <a:cs typeface="Calibri"/>
                <a:sym typeface="Calibri"/>
              </a:rPr>
              <a:t>update </a:t>
            </a:r>
            <a:r>
              <a:rPr i="1" lang="en-US" sz="2200">
                <a:solidFill>
                  <a:srgbClr val="000000"/>
                </a:solidFill>
                <a:latin typeface="Calibri"/>
                <a:ea typeface="Calibri"/>
                <a:cs typeface="Calibri"/>
                <a:sym typeface="Calibri"/>
              </a:rPr>
              <a:t>D(b) </a:t>
            </a:r>
            <a:r>
              <a:rPr lang="en-US" sz="2200">
                <a:solidFill>
                  <a:srgbClr val="000000"/>
                </a:solidFill>
                <a:latin typeface="Calibri"/>
                <a:ea typeface="Calibri"/>
                <a:cs typeface="Calibri"/>
                <a:sym typeface="Calibri"/>
              </a:rPr>
              <a:t>for all </a:t>
            </a:r>
            <a:r>
              <a:rPr i="1" lang="en-US" sz="2200">
                <a:solidFill>
                  <a:srgbClr val="000000"/>
                </a:solidFill>
                <a:latin typeface="Calibri"/>
                <a:ea typeface="Calibri"/>
                <a:cs typeface="Calibri"/>
                <a:sym typeface="Calibri"/>
              </a:rPr>
              <a:t>b</a:t>
            </a:r>
            <a:r>
              <a:rPr lang="en-US" sz="2200">
                <a:solidFill>
                  <a:srgbClr val="000000"/>
                </a:solidFill>
                <a:latin typeface="Calibri"/>
                <a:ea typeface="Calibri"/>
                <a:cs typeface="Calibri"/>
                <a:sym typeface="Calibri"/>
              </a:rPr>
              <a:t> adjacent to </a:t>
            </a:r>
            <a:r>
              <a:rPr i="1" lang="en-US" sz="2200">
                <a:solidFill>
                  <a:srgbClr val="000000"/>
                </a:solidFill>
                <a:latin typeface="Calibri"/>
                <a:ea typeface="Calibri"/>
                <a:cs typeface="Calibri"/>
                <a:sym typeface="Calibri"/>
              </a:rPr>
              <a:t>a</a:t>
            </a:r>
            <a:r>
              <a:rPr lang="en-US" sz="2200">
                <a:solidFill>
                  <a:srgbClr val="000000"/>
                </a:solidFill>
                <a:latin typeface="Calibri"/>
                <a:ea typeface="Calibri"/>
                <a:cs typeface="Calibri"/>
                <a:sym typeface="Calibri"/>
              </a:rPr>
              <a:t> and not in </a:t>
            </a:r>
            <a:r>
              <a:rPr i="1" lang="en-US" sz="2200">
                <a:solidFill>
                  <a:srgbClr val="000000"/>
                </a:solidFill>
                <a:latin typeface="Calibri"/>
                <a:ea typeface="Calibri"/>
                <a:cs typeface="Calibri"/>
                <a:sym typeface="Calibri"/>
              </a:rPr>
              <a:t>N' </a:t>
            </a:r>
            <a:r>
              <a:rPr lang="en-US" sz="2200">
                <a:solidFill>
                  <a:srgbClr val="000000"/>
                </a:solidFill>
                <a:latin typeface="Calibri"/>
                <a:ea typeface="Calibri"/>
                <a:cs typeface="Calibri"/>
                <a:sym typeface="Calibri"/>
              </a:rPr>
              <a:t>: </a:t>
            </a:r>
            <a:endParaRPr/>
          </a:p>
          <a:p>
            <a:pPr indent="0" lvl="0" marL="0" marR="0" rtl="0" algn="l">
              <a:spcBef>
                <a:spcPts val="0"/>
              </a:spcBef>
              <a:spcAft>
                <a:spcPts val="0"/>
              </a:spcAft>
              <a:buNone/>
            </a:pPr>
            <a:r>
              <a:rPr b="1" i="1" lang="en-US" sz="2200">
                <a:solidFill>
                  <a:srgbClr val="CC0000"/>
                </a:solidFill>
                <a:latin typeface="Calibri"/>
                <a:ea typeface="Calibri"/>
                <a:cs typeface="Calibri"/>
                <a:sym typeface="Calibri"/>
              </a:rPr>
              <a:t>     D(b) = </a:t>
            </a:r>
            <a:r>
              <a:rPr b="1" lang="en-US" sz="2200">
                <a:solidFill>
                  <a:srgbClr val="CC0000"/>
                </a:solidFill>
                <a:latin typeface="Calibri"/>
                <a:ea typeface="Calibri"/>
                <a:cs typeface="Calibri"/>
                <a:sym typeface="Calibri"/>
              </a:rPr>
              <a:t>min</a:t>
            </a:r>
            <a:r>
              <a:rPr b="1" i="1" lang="en-US" sz="2200">
                <a:solidFill>
                  <a:srgbClr val="CC0000"/>
                </a:solidFill>
                <a:latin typeface="Calibri"/>
                <a:ea typeface="Calibri"/>
                <a:cs typeface="Calibri"/>
                <a:sym typeface="Calibri"/>
              </a:rPr>
              <a:t> ( D(b), D(a) + c</a:t>
            </a:r>
            <a:r>
              <a:rPr b="1" baseline="-25000" i="1" lang="en-US" sz="2200">
                <a:solidFill>
                  <a:srgbClr val="CC0000"/>
                </a:solidFill>
                <a:latin typeface="Calibri"/>
                <a:ea typeface="Calibri"/>
                <a:cs typeface="Calibri"/>
                <a:sym typeface="Calibri"/>
              </a:rPr>
              <a:t>a,b </a:t>
            </a:r>
            <a:r>
              <a:rPr b="1" i="1" lang="en-US" sz="2200">
                <a:solidFill>
                  <a:srgbClr val="CC0000"/>
                </a:solidFill>
                <a:latin typeface="Calibri"/>
                <a:ea typeface="Calibri"/>
                <a:cs typeface="Calibri"/>
                <a:sym typeface="Calibri"/>
              </a:rPr>
              <a:t>) </a:t>
            </a:r>
            <a:endParaRPr/>
          </a:p>
        </p:txBody>
      </p:sp>
      <p:sp>
        <p:nvSpPr>
          <p:cNvPr id="4375" name="Google Shape;4375;p63"/>
          <p:cNvSpPr/>
          <p:nvPr/>
        </p:nvSpPr>
        <p:spPr>
          <a:xfrm>
            <a:off x="5606004" y="3868305"/>
            <a:ext cx="6721033"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rgbClr val="000000"/>
                </a:solidFill>
                <a:latin typeface="Calibri"/>
                <a:ea typeface="Calibri"/>
                <a:cs typeface="Calibri"/>
                <a:sym typeface="Calibri"/>
              </a:rPr>
              <a:t>Initialization (step 0): For all a: if </a:t>
            </a:r>
            <a:r>
              <a:rPr i="1" lang="en-US" sz="1800">
                <a:solidFill>
                  <a:srgbClr val="000000"/>
                </a:solidFill>
                <a:latin typeface="Calibri"/>
                <a:ea typeface="Calibri"/>
                <a:cs typeface="Calibri"/>
                <a:sym typeface="Calibri"/>
              </a:rPr>
              <a:t>a</a:t>
            </a:r>
            <a:r>
              <a:rPr lang="en-US" sz="1800">
                <a:solidFill>
                  <a:srgbClr val="000000"/>
                </a:solidFill>
                <a:latin typeface="Calibri"/>
                <a:ea typeface="Calibri"/>
                <a:cs typeface="Calibri"/>
                <a:sym typeface="Calibri"/>
              </a:rPr>
              <a:t> adjacent to then </a:t>
            </a:r>
            <a:r>
              <a:rPr i="1" lang="en-US" sz="1800">
                <a:solidFill>
                  <a:srgbClr val="000000"/>
                </a:solidFill>
                <a:latin typeface="Calibri"/>
                <a:ea typeface="Calibri"/>
                <a:cs typeface="Calibri"/>
                <a:sym typeface="Calibri"/>
              </a:rPr>
              <a:t>D(a) = c</a:t>
            </a:r>
            <a:r>
              <a:rPr baseline="-25000" i="1" lang="en-US" sz="1800">
                <a:solidFill>
                  <a:srgbClr val="000000"/>
                </a:solidFill>
                <a:latin typeface="Calibri"/>
                <a:ea typeface="Calibri"/>
                <a:cs typeface="Calibri"/>
                <a:sym typeface="Calibri"/>
              </a:rPr>
              <a:t>u,a </a:t>
            </a:r>
            <a:endParaRPr baseline="-25000" sz="1800">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3"/>
                                        </p:tgtEl>
                                        <p:attrNameLst>
                                          <p:attrName>style.visibility</p:attrName>
                                        </p:attrNameLst>
                                      </p:cBhvr>
                                      <p:to>
                                        <p:strVal val="visible"/>
                                      </p:to>
                                    </p:set>
                                    <p:animEffect filter="fade" transition="in">
                                      <p:cBhvr>
                                        <p:cTn dur="1000"/>
                                        <p:tgtEl>
                                          <p:spTgt spid="4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4"/>
                                        </p:tgtEl>
                                        <p:attrNameLst>
                                          <p:attrName>style.visibility</p:attrName>
                                        </p:attrNameLst>
                                      </p:cBhvr>
                                      <p:to>
                                        <p:strVal val="visible"/>
                                      </p:to>
                                    </p:set>
                                    <p:animEffect filter="fade" transition="in">
                                      <p:cBhvr>
                                        <p:cTn dur="1000"/>
                                        <p:tgtEl>
                                          <p:spTgt spid="43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22"/>
                                        </p:tgtEl>
                                        <p:attrNameLst>
                                          <p:attrName>style.visibility</p:attrName>
                                        </p:attrNameLst>
                                      </p:cBhvr>
                                      <p:to>
                                        <p:strVal val="visible"/>
                                      </p:to>
                                    </p:set>
                                    <p:animEffect filter="fade" transition="in">
                                      <p:cBhvr>
                                        <p:cTn dur="500"/>
                                        <p:tgtEl>
                                          <p:spTgt spid="4322"/>
                                        </p:tgtEl>
                                      </p:cBhvr>
                                    </p:animEffect>
                                  </p:childTnLst>
                                </p:cTn>
                              </p:par>
                              <p:par>
                                <p:cTn fill="hold" nodeType="withEffect" presetClass="exit" presetID="10" presetSubtype="0">
                                  <p:stCondLst>
                                    <p:cond delay="0"/>
                                  </p:stCondLst>
                                  <p:childTnLst>
                                    <p:animEffect filter="fade" transition="out">
                                      <p:cBhvr>
                                        <p:cTn dur="500"/>
                                        <p:tgtEl>
                                          <p:spTgt spid="4375"/>
                                        </p:tgtEl>
                                      </p:cBhvr>
                                    </p:animEffect>
                                    <p:set>
                                      <p:cBhvr>
                                        <p:cTn dur="1" fill="hold">
                                          <p:stCondLst>
                                            <p:cond delay="500"/>
                                          </p:stCondLst>
                                        </p:cTn>
                                        <p:tgtEl>
                                          <p:spTgt spid="43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9"/>
                                        </p:tgtEl>
                                        <p:attrNameLst>
                                          <p:attrName>style.visibility</p:attrName>
                                        </p:attrNameLst>
                                      </p:cBhvr>
                                      <p:to>
                                        <p:strVal val="visible"/>
                                      </p:to>
                                    </p:set>
                                    <p:animEffect filter="fade" transition="in">
                                      <p:cBhvr>
                                        <p:cTn dur="500"/>
                                        <p:tgtEl>
                                          <p:spTgt spid="4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334"/>
                                        </p:tgtEl>
                                      </p:cBhvr>
                                    </p:animEffect>
                                    <p:set>
                                      <p:cBhvr>
                                        <p:cTn dur="1" fill="hold">
                                          <p:stCondLst>
                                            <p:cond delay="500"/>
                                          </p:stCondLst>
                                        </p:cTn>
                                        <p:tgtEl>
                                          <p:spTgt spid="43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9"/>
                                        </p:tgtEl>
                                        <p:attrNameLst>
                                          <p:attrName>style.visibility</p:attrName>
                                        </p:attrNameLst>
                                      </p:cBhvr>
                                      <p:to>
                                        <p:strVal val="visible"/>
                                      </p:to>
                                    </p:set>
                                    <p:animEffect filter="fade" transition="in">
                                      <p:cBhvr>
                                        <p:cTn dur="1000"/>
                                        <p:tgtEl>
                                          <p:spTgt spid="4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1"/>
                                        </p:tgtEl>
                                        <p:attrNameLst>
                                          <p:attrName>style.visibility</p:attrName>
                                        </p:attrNameLst>
                                      </p:cBhvr>
                                      <p:to>
                                        <p:strVal val="visible"/>
                                      </p:to>
                                    </p:set>
                                    <p:animEffect filter="fade" transition="in">
                                      <p:cBhvr>
                                        <p:cTn dur="1000"/>
                                        <p:tgtEl>
                                          <p:spTgt spid="43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21"/>
                                        </p:tgtEl>
                                        <p:attrNameLst>
                                          <p:attrName>style.visibility</p:attrName>
                                        </p:attrNameLst>
                                      </p:cBhvr>
                                      <p:to>
                                        <p:strVal val="visible"/>
                                      </p:to>
                                    </p:set>
                                    <p:animEffect filter="fade" transition="in">
                                      <p:cBhvr>
                                        <p:cTn dur="500"/>
                                        <p:tgtEl>
                                          <p:spTgt spid="4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0"/>
                                        </p:tgtEl>
                                        <p:attrNameLst>
                                          <p:attrName>style.visibility</p:attrName>
                                        </p:attrNameLst>
                                      </p:cBhvr>
                                      <p:to>
                                        <p:strVal val="visible"/>
                                      </p:to>
                                    </p:set>
                                    <p:animEffect filter="fade" transition="in">
                                      <p:cBhvr>
                                        <p:cTn dur="500"/>
                                        <p:tgtEl>
                                          <p:spTgt spid="4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341"/>
                                        </p:tgtEl>
                                      </p:cBhvr>
                                    </p:animEffect>
                                    <p:set>
                                      <p:cBhvr>
                                        <p:cTn dur="1" fill="hold">
                                          <p:stCondLst>
                                            <p:cond delay="500"/>
                                          </p:stCondLst>
                                        </p:cTn>
                                        <p:tgtEl>
                                          <p:spTgt spid="43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4"/>
                                        </p:tgtEl>
                                        <p:attrNameLst>
                                          <p:attrName>style.visibility</p:attrName>
                                        </p:attrNameLst>
                                      </p:cBhvr>
                                      <p:to>
                                        <p:strVal val="visible"/>
                                      </p:to>
                                    </p:set>
                                    <p:animEffect filter="fade" transition="in">
                                      <p:cBhvr>
                                        <p:cTn dur="1000"/>
                                        <p:tgtEl>
                                          <p:spTgt spid="4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8"/>
                                        </p:tgtEl>
                                        <p:attrNameLst>
                                          <p:attrName>style.visibility</p:attrName>
                                        </p:attrNameLst>
                                      </p:cBhvr>
                                      <p:to>
                                        <p:strVal val="visible"/>
                                      </p:to>
                                    </p:set>
                                    <p:animEffect filter="fade" transition="in">
                                      <p:cBhvr>
                                        <p:cTn dur="1000"/>
                                        <p:tgtEl>
                                          <p:spTgt spid="434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20"/>
                                        </p:tgtEl>
                                        <p:attrNameLst>
                                          <p:attrName>style.visibility</p:attrName>
                                        </p:attrNameLst>
                                      </p:cBhvr>
                                      <p:to>
                                        <p:strVal val="visible"/>
                                      </p:to>
                                    </p:set>
                                    <p:animEffect filter="fade" transition="in">
                                      <p:cBhvr>
                                        <p:cTn dur="500"/>
                                        <p:tgtEl>
                                          <p:spTgt spid="4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1"/>
                                        </p:tgtEl>
                                        <p:attrNameLst>
                                          <p:attrName>style.visibility</p:attrName>
                                        </p:attrNameLst>
                                      </p:cBhvr>
                                      <p:to>
                                        <p:strVal val="visible"/>
                                      </p:to>
                                    </p:set>
                                    <p:animEffect filter="fade" transition="in">
                                      <p:cBhvr>
                                        <p:cTn dur="500"/>
                                        <p:tgtEl>
                                          <p:spTgt spid="4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348"/>
                                        </p:tgtEl>
                                      </p:cBhvr>
                                    </p:animEffect>
                                    <p:set>
                                      <p:cBhvr>
                                        <p:cTn dur="1" fill="hold">
                                          <p:stCondLst>
                                            <p:cond delay="500"/>
                                          </p:stCondLst>
                                        </p:cTn>
                                        <p:tgtEl>
                                          <p:spTgt spid="43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0"/>
                                        </p:tgtEl>
                                        <p:attrNameLst>
                                          <p:attrName>style.visibility</p:attrName>
                                        </p:attrNameLst>
                                      </p:cBhvr>
                                      <p:to>
                                        <p:strVal val="visible"/>
                                      </p:to>
                                    </p:set>
                                    <p:animEffect filter="fade" transition="in">
                                      <p:cBhvr>
                                        <p:cTn dur="1000"/>
                                        <p:tgtEl>
                                          <p:spTgt spid="4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5"/>
                                        </p:tgtEl>
                                        <p:attrNameLst>
                                          <p:attrName>style.visibility</p:attrName>
                                        </p:attrNameLst>
                                      </p:cBhvr>
                                      <p:to>
                                        <p:strVal val="visible"/>
                                      </p:to>
                                    </p:set>
                                    <p:animEffect filter="fade" transition="in">
                                      <p:cBhvr>
                                        <p:cTn dur="1000"/>
                                        <p:tgtEl>
                                          <p:spTgt spid="43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19"/>
                                        </p:tgtEl>
                                        <p:attrNameLst>
                                          <p:attrName>style.visibility</p:attrName>
                                        </p:attrNameLst>
                                      </p:cBhvr>
                                      <p:to>
                                        <p:strVal val="visible"/>
                                      </p:to>
                                    </p:set>
                                    <p:animEffect filter="fade" transition="in">
                                      <p:cBhvr>
                                        <p:cTn dur="500"/>
                                        <p:tgtEl>
                                          <p:spTgt spid="4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gtEl>
                                        <p:attrNameLst>
                                          <p:attrName>style.visibility</p:attrName>
                                        </p:attrNameLst>
                                      </p:cBhvr>
                                      <p:to>
                                        <p:strVal val="visible"/>
                                      </p:to>
                                    </p:set>
                                    <p:animEffect filter="fade" transition="in">
                                      <p:cBhvr>
                                        <p:cTn dur="500"/>
                                        <p:tgtEl>
                                          <p:spTgt spid="4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355"/>
                                        </p:tgtEl>
                                      </p:cBhvr>
                                    </p:animEffect>
                                    <p:set>
                                      <p:cBhvr>
                                        <p:cTn dur="1" fill="hold">
                                          <p:stCondLst>
                                            <p:cond delay="500"/>
                                          </p:stCondLst>
                                        </p:cTn>
                                        <p:tgtEl>
                                          <p:spTgt spid="43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7"/>
                                        </p:tgtEl>
                                        <p:attrNameLst>
                                          <p:attrName>style.visibility</p:attrName>
                                        </p:attrNameLst>
                                      </p:cBhvr>
                                      <p:to>
                                        <p:strVal val="visible"/>
                                      </p:to>
                                    </p:set>
                                    <p:animEffect filter="fade" transition="in">
                                      <p:cBhvr>
                                        <p:cTn dur="1000"/>
                                        <p:tgtEl>
                                          <p:spTgt spid="4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2"/>
                                        </p:tgtEl>
                                        <p:attrNameLst>
                                          <p:attrName>style.visibility</p:attrName>
                                        </p:attrNameLst>
                                      </p:cBhvr>
                                      <p:to>
                                        <p:strVal val="visible"/>
                                      </p:to>
                                    </p:set>
                                    <p:animEffect filter="fade" transition="in">
                                      <p:cBhvr>
                                        <p:cTn dur="1000"/>
                                        <p:tgtEl>
                                          <p:spTgt spid="43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18"/>
                                        </p:tgtEl>
                                        <p:attrNameLst>
                                          <p:attrName>style.visibility</p:attrName>
                                        </p:attrNameLst>
                                      </p:cBhvr>
                                      <p:to>
                                        <p:strVal val="visible"/>
                                      </p:to>
                                    </p:set>
                                    <p:animEffect filter="fade" transition="in">
                                      <p:cBhvr>
                                        <p:cTn dur="500"/>
                                        <p:tgtEl>
                                          <p:spTgt spid="4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3"/>
                                        </p:tgtEl>
                                        <p:attrNameLst>
                                          <p:attrName>style.visibility</p:attrName>
                                        </p:attrNameLst>
                                      </p:cBhvr>
                                      <p:to>
                                        <p:strVal val="visible"/>
                                      </p:to>
                                    </p:set>
                                    <p:animEffect filter="fade" transition="in">
                                      <p:cBhvr>
                                        <p:cTn dur="500"/>
                                        <p:tgtEl>
                                          <p:spTgt spid="4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0" name="Shape 4380"/>
        <p:cNvGrpSpPr/>
        <p:nvPr/>
      </p:nvGrpSpPr>
      <p:grpSpPr>
        <a:xfrm>
          <a:off x="0" y="0"/>
          <a:ext cx="0" cy="0"/>
          <a:chOff x="0" y="0"/>
          <a:chExt cx="0" cy="0"/>
        </a:xfrm>
      </p:grpSpPr>
      <p:sp>
        <p:nvSpPr>
          <p:cNvPr id="4381" name="Google Shape;4381;p64"/>
          <p:cNvSpPr txBox="1"/>
          <p:nvPr>
            <p:ph type="title"/>
          </p:nvPr>
        </p:nvSpPr>
        <p:spPr>
          <a:xfrm>
            <a:off x="838199" y="354060"/>
            <a:ext cx="1117962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Dijkstra’s algorithm: an example</a:t>
            </a:r>
            <a:endParaRPr/>
          </a:p>
        </p:txBody>
      </p:sp>
      <p:sp>
        <p:nvSpPr>
          <p:cNvPr id="4382" name="Google Shape;4382;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grpSp>
        <p:nvGrpSpPr>
          <p:cNvPr id="4383" name="Google Shape;4383;p64"/>
          <p:cNvGrpSpPr/>
          <p:nvPr/>
        </p:nvGrpSpPr>
        <p:grpSpPr>
          <a:xfrm>
            <a:off x="4237238" y="1377591"/>
            <a:ext cx="3571875" cy="2236788"/>
            <a:chOff x="3162" y="1071"/>
            <a:chExt cx="2250" cy="1409"/>
          </a:xfrm>
        </p:grpSpPr>
        <p:sp>
          <p:nvSpPr>
            <p:cNvPr id="4384" name="Google Shape;4384;p64"/>
            <p:cNvSpPr/>
            <p:nvPr/>
          </p:nvSpPr>
          <p:spPr>
            <a:xfrm>
              <a:off x="3162" y="1071"/>
              <a:ext cx="2250" cy="1409"/>
            </a:xfrm>
            <a:custGeom>
              <a:rect b="b" l="l" r="r" t="t"/>
              <a:pathLst>
                <a:path extrusionOk="0" h="1409" w="2250">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85" name="Google Shape;4385;p64"/>
            <p:cNvSpPr/>
            <p:nvPr/>
          </p:nvSpPr>
          <p:spPr>
            <a:xfrm>
              <a:off x="3498" y="1620"/>
              <a:ext cx="342" cy="186"/>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86" name="Google Shape;4386;p64"/>
            <p:cNvSpPr/>
            <p:nvPr/>
          </p:nvSpPr>
          <p:spPr>
            <a:xfrm>
              <a:off x="3238" y="1862"/>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387" name="Google Shape;4387;p64"/>
            <p:cNvCxnSpPr/>
            <p:nvPr/>
          </p:nvCxnSpPr>
          <p:spPr>
            <a:xfrm>
              <a:off x="3238" y="1855"/>
              <a:ext cx="0" cy="50"/>
            </a:xfrm>
            <a:prstGeom prst="straightConnector1">
              <a:avLst/>
            </a:prstGeom>
            <a:noFill/>
            <a:ln cap="flat" cmpd="sng" w="12700">
              <a:solidFill>
                <a:srgbClr val="000000"/>
              </a:solidFill>
              <a:prstDash val="solid"/>
              <a:round/>
              <a:headEnd len="med" w="med" type="none"/>
              <a:tailEnd len="med" w="med" type="none"/>
            </a:ln>
          </p:spPr>
        </p:cxnSp>
        <p:cxnSp>
          <p:nvCxnSpPr>
            <p:cNvPr id="4388" name="Google Shape;4388;p64"/>
            <p:cNvCxnSpPr/>
            <p:nvPr/>
          </p:nvCxnSpPr>
          <p:spPr>
            <a:xfrm>
              <a:off x="3551" y="1855"/>
              <a:ext cx="0" cy="50"/>
            </a:xfrm>
            <a:prstGeom prst="straightConnector1">
              <a:avLst/>
            </a:prstGeom>
            <a:noFill/>
            <a:ln cap="flat" cmpd="sng" w="12700">
              <a:solidFill>
                <a:srgbClr val="000000"/>
              </a:solidFill>
              <a:prstDash val="solid"/>
              <a:round/>
              <a:headEnd len="med" w="med" type="none"/>
              <a:tailEnd len="med" w="med" type="none"/>
            </a:ln>
          </p:spPr>
        </p:cxnSp>
        <p:sp>
          <p:nvSpPr>
            <p:cNvPr id="4389" name="Google Shape;4389;p64"/>
            <p:cNvSpPr/>
            <p:nvPr/>
          </p:nvSpPr>
          <p:spPr>
            <a:xfrm>
              <a:off x="3238" y="1855"/>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390" name="Google Shape;4390;p64"/>
            <p:cNvSpPr/>
            <p:nvPr/>
          </p:nvSpPr>
          <p:spPr>
            <a:xfrm>
              <a:off x="3235" y="1796"/>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91" name="Google Shape;4391;p64"/>
            <p:cNvSpPr/>
            <p:nvPr/>
          </p:nvSpPr>
          <p:spPr>
            <a:xfrm>
              <a:off x="3712" y="2249"/>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392" name="Google Shape;4392;p64"/>
            <p:cNvCxnSpPr/>
            <p:nvPr/>
          </p:nvCxnSpPr>
          <p:spPr>
            <a:xfrm>
              <a:off x="3712" y="2242"/>
              <a:ext cx="0" cy="50"/>
            </a:xfrm>
            <a:prstGeom prst="straightConnector1">
              <a:avLst/>
            </a:prstGeom>
            <a:noFill/>
            <a:ln cap="flat" cmpd="sng" w="12700">
              <a:solidFill>
                <a:srgbClr val="000000"/>
              </a:solidFill>
              <a:prstDash val="solid"/>
              <a:round/>
              <a:headEnd len="med" w="med" type="none"/>
              <a:tailEnd len="med" w="med" type="none"/>
            </a:ln>
          </p:spPr>
        </p:cxnSp>
        <p:cxnSp>
          <p:nvCxnSpPr>
            <p:cNvPr id="4393" name="Google Shape;4393;p64"/>
            <p:cNvCxnSpPr/>
            <p:nvPr/>
          </p:nvCxnSpPr>
          <p:spPr>
            <a:xfrm>
              <a:off x="4025" y="2242"/>
              <a:ext cx="0" cy="50"/>
            </a:xfrm>
            <a:prstGeom prst="straightConnector1">
              <a:avLst/>
            </a:prstGeom>
            <a:noFill/>
            <a:ln cap="flat" cmpd="sng" w="12700">
              <a:solidFill>
                <a:srgbClr val="000000"/>
              </a:solidFill>
              <a:prstDash val="solid"/>
              <a:round/>
              <a:headEnd len="med" w="med" type="none"/>
              <a:tailEnd len="med" w="med" type="none"/>
            </a:ln>
          </p:spPr>
        </p:cxnSp>
        <p:sp>
          <p:nvSpPr>
            <p:cNvPr id="4394" name="Google Shape;4394;p64"/>
            <p:cNvSpPr/>
            <p:nvPr/>
          </p:nvSpPr>
          <p:spPr>
            <a:xfrm>
              <a:off x="3712" y="2242"/>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395" name="Google Shape;4395;p64"/>
            <p:cNvSpPr/>
            <p:nvPr/>
          </p:nvSpPr>
          <p:spPr>
            <a:xfrm>
              <a:off x="3709" y="2183"/>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396" name="Google Shape;4396;p64"/>
            <p:cNvSpPr/>
            <p:nvPr/>
          </p:nvSpPr>
          <p:spPr>
            <a:xfrm>
              <a:off x="3708" y="1559"/>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397" name="Google Shape;4397;p64"/>
            <p:cNvCxnSpPr/>
            <p:nvPr/>
          </p:nvCxnSpPr>
          <p:spPr>
            <a:xfrm>
              <a:off x="3708" y="1552"/>
              <a:ext cx="0" cy="50"/>
            </a:xfrm>
            <a:prstGeom prst="straightConnector1">
              <a:avLst/>
            </a:prstGeom>
            <a:noFill/>
            <a:ln cap="flat" cmpd="sng" w="12700">
              <a:solidFill>
                <a:srgbClr val="000000"/>
              </a:solidFill>
              <a:prstDash val="solid"/>
              <a:round/>
              <a:headEnd len="med" w="med" type="none"/>
              <a:tailEnd len="med" w="med" type="none"/>
            </a:ln>
          </p:spPr>
        </p:cxnSp>
        <p:cxnSp>
          <p:nvCxnSpPr>
            <p:cNvPr id="4398" name="Google Shape;4398;p64"/>
            <p:cNvCxnSpPr/>
            <p:nvPr/>
          </p:nvCxnSpPr>
          <p:spPr>
            <a:xfrm>
              <a:off x="4021" y="1552"/>
              <a:ext cx="0" cy="50"/>
            </a:xfrm>
            <a:prstGeom prst="straightConnector1">
              <a:avLst/>
            </a:prstGeom>
            <a:noFill/>
            <a:ln cap="flat" cmpd="sng" w="12700">
              <a:solidFill>
                <a:srgbClr val="000000"/>
              </a:solidFill>
              <a:prstDash val="solid"/>
              <a:round/>
              <a:headEnd len="med" w="med" type="none"/>
              <a:tailEnd len="med" w="med" type="none"/>
            </a:ln>
          </p:spPr>
        </p:cxnSp>
        <p:sp>
          <p:nvSpPr>
            <p:cNvPr id="4399" name="Google Shape;4399;p64"/>
            <p:cNvSpPr/>
            <p:nvPr/>
          </p:nvSpPr>
          <p:spPr>
            <a:xfrm>
              <a:off x="3708" y="1552"/>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00" name="Google Shape;4400;p64"/>
            <p:cNvSpPr/>
            <p:nvPr/>
          </p:nvSpPr>
          <p:spPr>
            <a:xfrm>
              <a:off x="3705" y="1493"/>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01" name="Google Shape;4401;p64"/>
            <p:cNvSpPr/>
            <p:nvPr/>
          </p:nvSpPr>
          <p:spPr>
            <a:xfrm>
              <a:off x="4391" y="1555"/>
              <a:ext cx="312"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02" name="Google Shape;4402;p64"/>
            <p:cNvCxnSpPr/>
            <p:nvPr/>
          </p:nvCxnSpPr>
          <p:spPr>
            <a:xfrm>
              <a:off x="4391" y="1548"/>
              <a:ext cx="0" cy="50"/>
            </a:xfrm>
            <a:prstGeom prst="straightConnector1">
              <a:avLst/>
            </a:prstGeom>
            <a:noFill/>
            <a:ln cap="flat" cmpd="sng" w="12700">
              <a:solidFill>
                <a:srgbClr val="000000"/>
              </a:solidFill>
              <a:prstDash val="solid"/>
              <a:round/>
              <a:headEnd len="med" w="med" type="none"/>
              <a:tailEnd len="med" w="med" type="none"/>
            </a:ln>
          </p:spPr>
        </p:cxnSp>
        <p:cxnSp>
          <p:nvCxnSpPr>
            <p:cNvPr id="4403" name="Google Shape;4403;p64"/>
            <p:cNvCxnSpPr/>
            <p:nvPr/>
          </p:nvCxnSpPr>
          <p:spPr>
            <a:xfrm>
              <a:off x="4703" y="1548"/>
              <a:ext cx="0" cy="50"/>
            </a:xfrm>
            <a:prstGeom prst="straightConnector1">
              <a:avLst/>
            </a:prstGeom>
            <a:noFill/>
            <a:ln cap="flat" cmpd="sng" w="12700">
              <a:solidFill>
                <a:srgbClr val="000000"/>
              </a:solidFill>
              <a:prstDash val="solid"/>
              <a:round/>
              <a:headEnd len="med" w="med" type="none"/>
              <a:tailEnd len="med" w="med" type="none"/>
            </a:ln>
          </p:spPr>
        </p:cxnSp>
        <p:sp>
          <p:nvSpPr>
            <p:cNvPr id="4404" name="Google Shape;4404;p64"/>
            <p:cNvSpPr/>
            <p:nvPr/>
          </p:nvSpPr>
          <p:spPr>
            <a:xfrm>
              <a:off x="4391" y="1548"/>
              <a:ext cx="309"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05" name="Google Shape;4405;p64"/>
            <p:cNvSpPr/>
            <p:nvPr/>
          </p:nvSpPr>
          <p:spPr>
            <a:xfrm>
              <a:off x="4394" y="1492"/>
              <a:ext cx="312"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06" name="Google Shape;4406;p64"/>
            <p:cNvSpPr/>
            <p:nvPr/>
          </p:nvSpPr>
          <p:spPr>
            <a:xfrm>
              <a:off x="4401" y="2246"/>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07" name="Google Shape;4407;p64"/>
            <p:cNvCxnSpPr/>
            <p:nvPr/>
          </p:nvCxnSpPr>
          <p:spPr>
            <a:xfrm>
              <a:off x="4401" y="2239"/>
              <a:ext cx="0" cy="50"/>
            </a:xfrm>
            <a:prstGeom prst="straightConnector1">
              <a:avLst/>
            </a:prstGeom>
            <a:noFill/>
            <a:ln cap="flat" cmpd="sng" w="12700">
              <a:solidFill>
                <a:srgbClr val="000000"/>
              </a:solidFill>
              <a:prstDash val="solid"/>
              <a:round/>
              <a:headEnd len="med" w="med" type="none"/>
              <a:tailEnd len="med" w="med" type="none"/>
            </a:ln>
          </p:spPr>
        </p:cxnSp>
        <p:cxnSp>
          <p:nvCxnSpPr>
            <p:cNvPr id="4408" name="Google Shape;4408;p64"/>
            <p:cNvCxnSpPr/>
            <p:nvPr/>
          </p:nvCxnSpPr>
          <p:spPr>
            <a:xfrm>
              <a:off x="4714" y="2239"/>
              <a:ext cx="0" cy="50"/>
            </a:xfrm>
            <a:prstGeom prst="straightConnector1">
              <a:avLst/>
            </a:prstGeom>
            <a:noFill/>
            <a:ln cap="flat" cmpd="sng" w="12700">
              <a:solidFill>
                <a:srgbClr val="000000"/>
              </a:solidFill>
              <a:prstDash val="solid"/>
              <a:round/>
              <a:headEnd len="med" w="med" type="none"/>
              <a:tailEnd len="med" w="med" type="none"/>
            </a:ln>
          </p:spPr>
        </p:cxnSp>
        <p:sp>
          <p:nvSpPr>
            <p:cNvPr id="4409" name="Google Shape;4409;p64"/>
            <p:cNvSpPr/>
            <p:nvPr/>
          </p:nvSpPr>
          <p:spPr>
            <a:xfrm>
              <a:off x="4401" y="2239"/>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10" name="Google Shape;4410;p64"/>
            <p:cNvSpPr/>
            <p:nvPr/>
          </p:nvSpPr>
          <p:spPr>
            <a:xfrm>
              <a:off x="4398" y="2180"/>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11" name="Google Shape;4411;p64"/>
            <p:cNvSpPr/>
            <p:nvPr/>
          </p:nvSpPr>
          <p:spPr>
            <a:xfrm>
              <a:off x="4966" y="1905"/>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12" name="Google Shape;4412;p64"/>
            <p:cNvCxnSpPr/>
            <p:nvPr/>
          </p:nvCxnSpPr>
          <p:spPr>
            <a:xfrm>
              <a:off x="4966" y="1898"/>
              <a:ext cx="0" cy="50"/>
            </a:xfrm>
            <a:prstGeom prst="straightConnector1">
              <a:avLst/>
            </a:prstGeom>
            <a:noFill/>
            <a:ln cap="flat" cmpd="sng" w="12700">
              <a:solidFill>
                <a:srgbClr val="000000"/>
              </a:solidFill>
              <a:prstDash val="solid"/>
              <a:round/>
              <a:headEnd len="med" w="med" type="none"/>
              <a:tailEnd len="med" w="med" type="none"/>
            </a:ln>
          </p:spPr>
        </p:cxnSp>
        <p:cxnSp>
          <p:nvCxnSpPr>
            <p:cNvPr id="4413" name="Google Shape;4413;p64"/>
            <p:cNvCxnSpPr/>
            <p:nvPr/>
          </p:nvCxnSpPr>
          <p:spPr>
            <a:xfrm>
              <a:off x="5279" y="1898"/>
              <a:ext cx="0" cy="50"/>
            </a:xfrm>
            <a:prstGeom prst="straightConnector1">
              <a:avLst/>
            </a:prstGeom>
            <a:noFill/>
            <a:ln cap="flat" cmpd="sng" w="12700">
              <a:solidFill>
                <a:srgbClr val="000000"/>
              </a:solidFill>
              <a:prstDash val="solid"/>
              <a:round/>
              <a:headEnd len="med" w="med" type="none"/>
              <a:tailEnd len="med" w="med" type="none"/>
            </a:ln>
          </p:spPr>
        </p:cxnSp>
        <p:sp>
          <p:nvSpPr>
            <p:cNvPr id="4414" name="Google Shape;4414;p64"/>
            <p:cNvSpPr/>
            <p:nvPr/>
          </p:nvSpPr>
          <p:spPr>
            <a:xfrm>
              <a:off x="4966" y="1898"/>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15" name="Google Shape;4415;p64"/>
            <p:cNvSpPr/>
            <p:nvPr/>
          </p:nvSpPr>
          <p:spPr>
            <a:xfrm>
              <a:off x="4963" y="1839"/>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16" name="Google Shape;4416;p64"/>
            <p:cNvSpPr/>
            <p:nvPr/>
          </p:nvSpPr>
          <p:spPr>
            <a:xfrm>
              <a:off x="4557" y="1647"/>
              <a:ext cx="1" cy="522"/>
            </a:xfrm>
            <a:custGeom>
              <a:rect b="b" l="l" r="r" t="t"/>
              <a:pathLst>
                <a:path extrusionOk="0" h="522" w="1">
                  <a:moveTo>
                    <a:pt x="0" y="0"/>
                  </a:moveTo>
                  <a:lnTo>
                    <a:pt x="0" y="522"/>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17" name="Google Shape;4417;p64"/>
            <p:cNvSpPr/>
            <p:nvPr/>
          </p:nvSpPr>
          <p:spPr>
            <a:xfrm>
              <a:off x="3864" y="1653"/>
              <a:ext cx="1" cy="537"/>
            </a:xfrm>
            <a:custGeom>
              <a:rect b="b" l="l" r="r" t="t"/>
              <a:pathLst>
                <a:path extrusionOk="0" h="537" w="1">
                  <a:moveTo>
                    <a:pt x="0" y="0"/>
                  </a:moveTo>
                  <a:lnTo>
                    <a:pt x="0" y="537"/>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18" name="Google Shape;4418;p64"/>
            <p:cNvSpPr/>
            <p:nvPr/>
          </p:nvSpPr>
          <p:spPr>
            <a:xfrm>
              <a:off x="4029" y="1638"/>
              <a:ext cx="504" cy="60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19" name="Google Shape;4419;p64"/>
            <p:cNvSpPr/>
            <p:nvPr/>
          </p:nvSpPr>
          <p:spPr>
            <a:xfrm>
              <a:off x="4716" y="1986"/>
              <a:ext cx="366" cy="270"/>
            </a:xfrm>
            <a:custGeom>
              <a:rect b="b" l="l" r="r" t="t"/>
              <a:pathLst>
                <a:path extrusionOk="0" h="270" w="366">
                  <a:moveTo>
                    <a:pt x="0" y="270"/>
                  </a:moveTo>
                  <a:lnTo>
                    <a:pt x="366"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20" name="Google Shape;4420;p64"/>
            <p:cNvSpPr/>
            <p:nvPr/>
          </p:nvSpPr>
          <p:spPr>
            <a:xfrm>
              <a:off x="4035" y="2268"/>
              <a:ext cx="366" cy="1"/>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21" name="Google Shape;4421;p64"/>
            <p:cNvSpPr/>
            <p:nvPr/>
          </p:nvSpPr>
          <p:spPr>
            <a:xfrm>
              <a:off x="3444" y="1944"/>
              <a:ext cx="276" cy="264"/>
            </a:xfrm>
            <a:custGeom>
              <a:rect b="b" l="l" r="r" t="t"/>
              <a:pathLst>
                <a:path extrusionOk="0" h="264" w="276">
                  <a:moveTo>
                    <a:pt x="276" y="264"/>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22" name="Google Shape;4422;p64"/>
            <p:cNvSpPr/>
            <p:nvPr/>
          </p:nvSpPr>
          <p:spPr>
            <a:xfrm>
              <a:off x="4029" y="1578"/>
              <a:ext cx="366" cy="1"/>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23" name="Google Shape;4423;p64"/>
            <p:cNvSpPr/>
            <p:nvPr/>
          </p:nvSpPr>
          <p:spPr>
            <a:xfrm>
              <a:off x="4704" y="1575"/>
              <a:ext cx="396" cy="267"/>
            </a:xfrm>
            <a:custGeom>
              <a:rect b="b" l="l" r="r" t="t"/>
              <a:pathLst>
                <a:path extrusionOk="0" h="267" w="396">
                  <a:moveTo>
                    <a:pt x="396" y="267"/>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24" name="Google Shape;4424;p64"/>
            <p:cNvSpPr/>
            <p:nvPr/>
          </p:nvSpPr>
          <p:spPr>
            <a:xfrm>
              <a:off x="3387" y="1146"/>
              <a:ext cx="1110" cy="645"/>
            </a:xfrm>
            <a:custGeom>
              <a:rect b="b" l="l" r="r" t="t"/>
              <a:pathLst>
                <a:path extrusionOk="0" h="645" w="1110">
                  <a:moveTo>
                    <a:pt x="1110" y="342"/>
                  </a:moveTo>
                  <a:cubicBezTo>
                    <a:pt x="1104" y="0"/>
                    <a:pt x="21" y="63"/>
                    <a:pt x="0" y="645"/>
                  </a:cubicBez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425" name="Google Shape;4425;p64"/>
            <p:cNvGrpSpPr/>
            <p:nvPr/>
          </p:nvGrpSpPr>
          <p:grpSpPr>
            <a:xfrm>
              <a:off x="3287" y="1744"/>
              <a:ext cx="205" cy="250"/>
              <a:chOff x="2954" y="2425"/>
              <a:chExt cx="208" cy="250"/>
            </a:xfrm>
          </p:grpSpPr>
          <p:sp>
            <p:nvSpPr>
              <p:cNvPr id="4426" name="Google Shape;4426;p6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27" name="Google Shape;4427;p64"/>
              <p:cNvSpPr txBox="1"/>
              <p:nvPr/>
            </p:nvSpPr>
            <p:spPr>
              <a:xfrm>
                <a:off x="2954" y="2425"/>
                <a:ext cx="208"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u</a:t>
                </a:r>
                <a:endParaRPr sz="2400">
                  <a:solidFill>
                    <a:srgbClr val="000000"/>
                  </a:solidFill>
                  <a:latin typeface="Arial"/>
                  <a:ea typeface="Arial"/>
                  <a:cs typeface="Arial"/>
                  <a:sym typeface="Arial"/>
                </a:endParaRPr>
              </a:p>
            </p:txBody>
          </p:sp>
        </p:grpSp>
        <p:grpSp>
          <p:nvGrpSpPr>
            <p:cNvPr id="4428" name="Google Shape;4428;p64"/>
            <p:cNvGrpSpPr/>
            <p:nvPr/>
          </p:nvGrpSpPr>
          <p:grpSpPr>
            <a:xfrm>
              <a:off x="4461" y="2128"/>
              <a:ext cx="196" cy="250"/>
              <a:chOff x="2958" y="2425"/>
              <a:chExt cx="199" cy="250"/>
            </a:xfrm>
          </p:grpSpPr>
          <p:sp>
            <p:nvSpPr>
              <p:cNvPr id="4429" name="Google Shape;4429;p64"/>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30" name="Google Shape;4430;p64"/>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y</a:t>
                </a:r>
                <a:endParaRPr sz="2400">
                  <a:solidFill>
                    <a:srgbClr val="000000"/>
                  </a:solidFill>
                  <a:latin typeface="Arial"/>
                  <a:ea typeface="Arial"/>
                  <a:cs typeface="Arial"/>
                  <a:sym typeface="Arial"/>
                </a:endParaRPr>
              </a:p>
            </p:txBody>
          </p:sp>
        </p:grpSp>
        <p:grpSp>
          <p:nvGrpSpPr>
            <p:cNvPr id="4431" name="Google Shape;4431;p64"/>
            <p:cNvGrpSpPr/>
            <p:nvPr/>
          </p:nvGrpSpPr>
          <p:grpSpPr>
            <a:xfrm>
              <a:off x="3772" y="2095"/>
              <a:ext cx="212" cy="288"/>
              <a:chOff x="2951" y="2395"/>
              <a:chExt cx="213" cy="288"/>
            </a:xfrm>
          </p:grpSpPr>
          <p:sp>
            <p:nvSpPr>
              <p:cNvPr id="4432" name="Google Shape;4432;p6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33" name="Google Shape;4433;p64"/>
              <p:cNvSpPr txBox="1"/>
              <p:nvPr/>
            </p:nvSpPr>
            <p:spPr>
              <a:xfrm>
                <a:off x="2951" y="2395"/>
                <a:ext cx="21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Arial"/>
                    <a:ea typeface="Arial"/>
                    <a:cs typeface="Arial"/>
                    <a:sym typeface="Arial"/>
                  </a:rPr>
                  <a:t>x</a:t>
                </a:r>
                <a:endParaRPr/>
              </a:p>
            </p:txBody>
          </p:sp>
        </p:grpSp>
        <p:grpSp>
          <p:nvGrpSpPr>
            <p:cNvPr id="4434" name="Google Shape;4434;p64"/>
            <p:cNvGrpSpPr/>
            <p:nvPr/>
          </p:nvGrpSpPr>
          <p:grpSpPr>
            <a:xfrm>
              <a:off x="4438" y="1438"/>
              <a:ext cx="232" cy="250"/>
              <a:chOff x="2941" y="2425"/>
              <a:chExt cx="235" cy="250"/>
            </a:xfrm>
          </p:grpSpPr>
          <p:sp>
            <p:nvSpPr>
              <p:cNvPr id="4435" name="Google Shape;4435;p64"/>
              <p:cNvSpPr/>
              <p:nvPr/>
            </p:nvSpPr>
            <p:spPr>
              <a:xfrm>
                <a:off x="2982" y="2490"/>
                <a:ext cx="146"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36" name="Google Shape;4436;p64"/>
              <p:cNvSpPr txBox="1"/>
              <p:nvPr/>
            </p:nvSpPr>
            <p:spPr>
              <a:xfrm>
                <a:off x="2941" y="2425"/>
                <a:ext cx="235"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w</a:t>
                </a:r>
                <a:endParaRPr sz="2400">
                  <a:solidFill>
                    <a:srgbClr val="000000"/>
                  </a:solidFill>
                  <a:latin typeface="Arial"/>
                  <a:ea typeface="Arial"/>
                  <a:cs typeface="Arial"/>
                  <a:sym typeface="Arial"/>
                </a:endParaRPr>
              </a:p>
            </p:txBody>
          </p:sp>
        </p:grpSp>
        <p:grpSp>
          <p:nvGrpSpPr>
            <p:cNvPr id="4437" name="Google Shape;4437;p64"/>
            <p:cNvGrpSpPr/>
            <p:nvPr/>
          </p:nvGrpSpPr>
          <p:grpSpPr>
            <a:xfrm>
              <a:off x="3771" y="1438"/>
              <a:ext cx="196" cy="250"/>
              <a:chOff x="2958" y="2425"/>
              <a:chExt cx="199" cy="250"/>
            </a:xfrm>
          </p:grpSpPr>
          <p:sp>
            <p:nvSpPr>
              <p:cNvPr id="4438" name="Google Shape;4438;p64"/>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39" name="Google Shape;4439;p64"/>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v</a:t>
                </a:r>
                <a:endParaRPr sz="2400">
                  <a:solidFill>
                    <a:srgbClr val="000000"/>
                  </a:solidFill>
                  <a:latin typeface="Arial"/>
                  <a:ea typeface="Arial"/>
                  <a:cs typeface="Arial"/>
                  <a:sym typeface="Arial"/>
                </a:endParaRPr>
              </a:p>
            </p:txBody>
          </p:sp>
        </p:grpSp>
        <p:grpSp>
          <p:nvGrpSpPr>
            <p:cNvPr id="4440" name="Google Shape;4440;p64"/>
            <p:cNvGrpSpPr/>
            <p:nvPr/>
          </p:nvGrpSpPr>
          <p:grpSpPr>
            <a:xfrm>
              <a:off x="5025" y="1756"/>
              <a:ext cx="212" cy="288"/>
              <a:chOff x="2949" y="2395"/>
              <a:chExt cx="214" cy="288"/>
            </a:xfrm>
          </p:grpSpPr>
          <p:sp>
            <p:nvSpPr>
              <p:cNvPr id="4441" name="Google Shape;4441;p64"/>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42" name="Google Shape;4442;p64"/>
              <p:cNvSpPr txBox="1"/>
              <p:nvPr/>
            </p:nvSpPr>
            <p:spPr>
              <a:xfrm>
                <a:off x="2949" y="2395"/>
                <a:ext cx="21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Arial"/>
                    <a:ea typeface="Arial"/>
                    <a:cs typeface="Arial"/>
                    <a:sym typeface="Arial"/>
                  </a:rPr>
                  <a:t>z</a:t>
                </a:r>
                <a:endParaRPr/>
              </a:p>
            </p:txBody>
          </p:sp>
        </p:grpSp>
        <p:sp>
          <p:nvSpPr>
            <p:cNvPr id="4443" name="Google Shape;4443;p64"/>
            <p:cNvSpPr txBox="1"/>
            <p:nvPr/>
          </p:nvSpPr>
          <p:spPr>
            <a:xfrm>
              <a:off x="3493" y="1568"/>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444" name="Google Shape;4444;p64"/>
            <p:cNvSpPr txBox="1"/>
            <p:nvPr/>
          </p:nvSpPr>
          <p:spPr>
            <a:xfrm>
              <a:off x="3841" y="1787"/>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445" name="Google Shape;4445;p64"/>
            <p:cNvSpPr txBox="1"/>
            <p:nvPr/>
          </p:nvSpPr>
          <p:spPr>
            <a:xfrm>
              <a:off x="3406" y="2000"/>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446" name="Google Shape;4446;p64"/>
            <p:cNvSpPr txBox="1"/>
            <p:nvPr/>
          </p:nvSpPr>
          <p:spPr>
            <a:xfrm>
              <a:off x="4225" y="1880"/>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3</a:t>
              </a:r>
              <a:endParaRPr sz="2400">
                <a:solidFill>
                  <a:srgbClr val="000000"/>
                </a:solidFill>
                <a:latin typeface="Arial"/>
                <a:ea typeface="Arial"/>
                <a:cs typeface="Arial"/>
                <a:sym typeface="Arial"/>
              </a:endParaRPr>
            </a:p>
          </p:txBody>
        </p:sp>
        <p:sp>
          <p:nvSpPr>
            <p:cNvPr id="4447" name="Google Shape;4447;p64"/>
            <p:cNvSpPr txBox="1"/>
            <p:nvPr/>
          </p:nvSpPr>
          <p:spPr>
            <a:xfrm>
              <a:off x="4162" y="2234"/>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448" name="Google Shape;4448;p64"/>
            <p:cNvSpPr txBox="1"/>
            <p:nvPr/>
          </p:nvSpPr>
          <p:spPr>
            <a:xfrm>
              <a:off x="4522" y="1805"/>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449" name="Google Shape;4449;p64"/>
            <p:cNvSpPr txBox="1"/>
            <p:nvPr/>
          </p:nvSpPr>
          <p:spPr>
            <a:xfrm>
              <a:off x="4882" y="2069"/>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450" name="Google Shape;4450;p64"/>
            <p:cNvSpPr txBox="1"/>
            <p:nvPr/>
          </p:nvSpPr>
          <p:spPr>
            <a:xfrm>
              <a:off x="4855" y="1532"/>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5</a:t>
              </a:r>
              <a:endParaRPr sz="2400">
                <a:solidFill>
                  <a:srgbClr val="000000"/>
                </a:solidFill>
                <a:latin typeface="Arial"/>
                <a:ea typeface="Arial"/>
                <a:cs typeface="Arial"/>
                <a:sym typeface="Arial"/>
              </a:endParaRPr>
            </a:p>
          </p:txBody>
        </p:sp>
        <p:sp>
          <p:nvSpPr>
            <p:cNvPr id="4451" name="Google Shape;4451;p64"/>
            <p:cNvSpPr txBox="1"/>
            <p:nvPr/>
          </p:nvSpPr>
          <p:spPr>
            <a:xfrm>
              <a:off x="4120" y="1382"/>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3</a:t>
              </a:r>
              <a:endParaRPr sz="2400">
                <a:solidFill>
                  <a:srgbClr val="000000"/>
                </a:solidFill>
                <a:latin typeface="Arial"/>
                <a:ea typeface="Arial"/>
                <a:cs typeface="Arial"/>
                <a:sym typeface="Arial"/>
              </a:endParaRPr>
            </a:p>
          </p:txBody>
        </p:sp>
        <p:sp>
          <p:nvSpPr>
            <p:cNvPr id="4452" name="Google Shape;4452;p64"/>
            <p:cNvSpPr txBox="1"/>
            <p:nvPr/>
          </p:nvSpPr>
          <p:spPr>
            <a:xfrm>
              <a:off x="3769" y="1115"/>
              <a:ext cx="1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5</a:t>
              </a:r>
              <a:endParaRPr sz="2400">
                <a:solidFill>
                  <a:srgbClr val="000000"/>
                </a:solidFill>
                <a:latin typeface="Arial"/>
                <a:ea typeface="Arial"/>
                <a:cs typeface="Arial"/>
                <a:sym typeface="Arial"/>
              </a:endParaRPr>
            </a:p>
          </p:txBody>
        </p:sp>
      </p:grpSp>
      <p:sp>
        <p:nvSpPr>
          <p:cNvPr id="4453" name="Google Shape;4453;p64"/>
          <p:cNvSpPr txBox="1"/>
          <p:nvPr/>
        </p:nvSpPr>
        <p:spPr>
          <a:xfrm>
            <a:off x="13837414" y="2958717"/>
            <a:ext cx="1284288" cy="16160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D(w),p(w)</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5,u</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4,x</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3,y</a:t>
            </a:r>
            <a:endParaRPr/>
          </a:p>
          <a:p>
            <a:pPr indent="0" lvl="0" marL="0" marR="0" rtl="0" algn="r">
              <a:spcBef>
                <a:spcPts val="0"/>
              </a:spcBef>
              <a:spcAft>
                <a:spcPts val="0"/>
              </a:spcAft>
              <a:buNone/>
            </a:pPr>
            <a:r>
              <a:rPr lang="en-US" sz="2000">
                <a:solidFill>
                  <a:srgbClr val="000000"/>
                </a:solidFill>
                <a:latin typeface="Arial"/>
                <a:ea typeface="Arial"/>
                <a:cs typeface="Arial"/>
                <a:sym typeface="Arial"/>
              </a:rPr>
              <a:t>3,y</a:t>
            </a:r>
            <a:endParaRPr/>
          </a:p>
        </p:txBody>
      </p:sp>
      <p:cxnSp>
        <p:nvCxnSpPr>
          <p:cNvPr id="4454" name="Google Shape;4454;p64"/>
          <p:cNvCxnSpPr>
            <a:endCxn id="4395" idx="2"/>
          </p:cNvCxnSpPr>
          <p:nvPr/>
        </p:nvCxnSpPr>
        <p:spPr>
          <a:xfrm>
            <a:off x="4666101" y="2789598"/>
            <a:ext cx="439500" cy="428700"/>
          </a:xfrm>
          <a:prstGeom prst="straightConnector1">
            <a:avLst/>
          </a:prstGeom>
          <a:noFill/>
          <a:ln cap="flat" cmpd="sng" w="31750">
            <a:solidFill>
              <a:srgbClr val="FF0000"/>
            </a:solidFill>
            <a:prstDash val="solid"/>
            <a:miter lim="8000"/>
            <a:headEnd len="sm" w="sm" type="none"/>
            <a:tailEnd len="med" w="med" type="triangle"/>
          </a:ln>
        </p:spPr>
      </p:cxnSp>
      <p:cxnSp>
        <p:nvCxnSpPr>
          <p:cNvPr id="4455" name="Google Shape;4455;p64"/>
          <p:cNvCxnSpPr>
            <a:endCxn id="4406" idx="2"/>
          </p:cNvCxnSpPr>
          <p:nvPr/>
        </p:nvCxnSpPr>
        <p:spPr>
          <a:xfrm>
            <a:off x="5617051" y="3300598"/>
            <a:ext cx="587100" cy="6600"/>
          </a:xfrm>
          <a:prstGeom prst="straightConnector1">
            <a:avLst/>
          </a:prstGeom>
          <a:noFill/>
          <a:ln cap="flat" cmpd="sng" w="31750">
            <a:solidFill>
              <a:srgbClr val="FF0000"/>
            </a:solidFill>
            <a:prstDash val="solid"/>
            <a:miter lim="8000"/>
            <a:headEnd len="sm" w="sm" type="none"/>
            <a:tailEnd len="med" w="med" type="triangle"/>
          </a:ln>
        </p:spPr>
      </p:cxnSp>
      <p:cxnSp>
        <p:nvCxnSpPr>
          <p:cNvPr id="4456" name="Google Shape;4456;p64"/>
          <p:cNvCxnSpPr>
            <a:stCxn id="4390" idx="7"/>
          </p:cNvCxnSpPr>
          <p:nvPr/>
        </p:nvCxnSpPr>
        <p:spPr>
          <a:xfrm flipH="1" rot="10800000">
            <a:off x="4777246" y="2268615"/>
            <a:ext cx="502200" cy="282000"/>
          </a:xfrm>
          <a:prstGeom prst="straightConnector1">
            <a:avLst/>
          </a:prstGeom>
          <a:noFill/>
          <a:ln cap="flat" cmpd="sng" w="31750">
            <a:solidFill>
              <a:srgbClr val="FF0000"/>
            </a:solidFill>
            <a:prstDash val="solid"/>
            <a:miter lim="8000"/>
            <a:headEnd len="sm" w="sm" type="none"/>
            <a:tailEnd len="med" w="med" type="triangle"/>
          </a:ln>
        </p:spPr>
      </p:cxnSp>
      <p:cxnSp>
        <p:nvCxnSpPr>
          <p:cNvPr id="4457" name="Google Shape;4457;p64"/>
          <p:cNvCxnSpPr/>
          <p:nvPr/>
        </p:nvCxnSpPr>
        <p:spPr>
          <a:xfrm rot="10800000">
            <a:off x="6452488" y="2233914"/>
            <a:ext cx="0" cy="883534"/>
          </a:xfrm>
          <a:prstGeom prst="straightConnector1">
            <a:avLst/>
          </a:prstGeom>
          <a:noFill/>
          <a:ln cap="flat" cmpd="sng" w="31750">
            <a:solidFill>
              <a:srgbClr val="FF0000"/>
            </a:solidFill>
            <a:prstDash val="solid"/>
            <a:miter lim="8000"/>
            <a:headEnd len="sm" w="sm" type="none"/>
            <a:tailEnd len="med" w="med" type="triangle"/>
          </a:ln>
        </p:spPr>
      </p:cxnSp>
      <p:cxnSp>
        <p:nvCxnSpPr>
          <p:cNvPr id="4458" name="Google Shape;4458;p64"/>
          <p:cNvCxnSpPr/>
          <p:nvPr/>
        </p:nvCxnSpPr>
        <p:spPr>
          <a:xfrm flipH="1" rot="10800000">
            <a:off x="6715788" y="2822294"/>
            <a:ext cx="606730" cy="448060"/>
          </a:xfrm>
          <a:prstGeom prst="straightConnector1">
            <a:avLst/>
          </a:prstGeom>
          <a:noFill/>
          <a:ln cap="flat" cmpd="sng" w="31750">
            <a:solidFill>
              <a:srgbClr val="FF0000"/>
            </a:solidFill>
            <a:prstDash val="solid"/>
            <a:miter lim="8000"/>
            <a:headEnd len="sm" w="sm" type="none"/>
            <a:tailEnd len="med" w="med" type="triangle"/>
          </a:ln>
        </p:spPr>
      </p:cxnSp>
      <p:grpSp>
        <p:nvGrpSpPr>
          <p:cNvPr id="4459" name="Google Shape;4459;p64"/>
          <p:cNvGrpSpPr/>
          <p:nvPr/>
        </p:nvGrpSpPr>
        <p:grpSpPr>
          <a:xfrm>
            <a:off x="1182356" y="4594769"/>
            <a:ext cx="3244850" cy="1500187"/>
            <a:chOff x="1385" y="1283"/>
            <a:chExt cx="2044" cy="945"/>
          </a:xfrm>
        </p:grpSpPr>
        <p:sp>
          <p:nvSpPr>
            <p:cNvPr id="4460" name="Google Shape;4460;p64"/>
            <p:cNvSpPr/>
            <p:nvPr/>
          </p:nvSpPr>
          <p:spPr>
            <a:xfrm>
              <a:off x="1648" y="1465"/>
              <a:ext cx="342" cy="186"/>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61" name="Google Shape;4461;p64"/>
            <p:cNvSpPr/>
            <p:nvPr/>
          </p:nvSpPr>
          <p:spPr>
            <a:xfrm>
              <a:off x="1388" y="1707"/>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62" name="Google Shape;4462;p64"/>
            <p:cNvCxnSpPr/>
            <p:nvPr/>
          </p:nvCxnSpPr>
          <p:spPr>
            <a:xfrm>
              <a:off x="1388" y="1700"/>
              <a:ext cx="0" cy="50"/>
            </a:xfrm>
            <a:prstGeom prst="straightConnector1">
              <a:avLst/>
            </a:prstGeom>
            <a:noFill/>
            <a:ln cap="flat" cmpd="sng" w="12700">
              <a:solidFill>
                <a:srgbClr val="000000"/>
              </a:solidFill>
              <a:prstDash val="solid"/>
              <a:round/>
              <a:headEnd len="med" w="med" type="none"/>
              <a:tailEnd len="med" w="med" type="none"/>
            </a:ln>
          </p:spPr>
        </p:cxnSp>
        <p:cxnSp>
          <p:nvCxnSpPr>
            <p:cNvPr id="4463" name="Google Shape;4463;p64"/>
            <p:cNvCxnSpPr/>
            <p:nvPr/>
          </p:nvCxnSpPr>
          <p:spPr>
            <a:xfrm>
              <a:off x="1701" y="1700"/>
              <a:ext cx="0" cy="50"/>
            </a:xfrm>
            <a:prstGeom prst="straightConnector1">
              <a:avLst/>
            </a:prstGeom>
            <a:noFill/>
            <a:ln cap="flat" cmpd="sng" w="12700">
              <a:solidFill>
                <a:srgbClr val="000000"/>
              </a:solidFill>
              <a:prstDash val="solid"/>
              <a:round/>
              <a:headEnd len="med" w="med" type="none"/>
              <a:tailEnd len="med" w="med" type="none"/>
            </a:ln>
          </p:spPr>
        </p:cxnSp>
        <p:sp>
          <p:nvSpPr>
            <p:cNvPr id="4464" name="Google Shape;4464;p64"/>
            <p:cNvSpPr/>
            <p:nvPr/>
          </p:nvSpPr>
          <p:spPr>
            <a:xfrm>
              <a:off x="1388" y="1700"/>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65" name="Google Shape;4465;p64"/>
            <p:cNvSpPr/>
            <p:nvPr/>
          </p:nvSpPr>
          <p:spPr>
            <a:xfrm>
              <a:off x="1385" y="1641"/>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66" name="Google Shape;4466;p64"/>
            <p:cNvSpPr/>
            <p:nvPr/>
          </p:nvSpPr>
          <p:spPr>
            <a:xfrm>
              <a:off x="1862" y="2094"/>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67" name="Google Shape;4467;p64"/>
            <p:cNvCxnSpPr/>
            <p:nvPr/>
          </p:nvCxnSpPr>
          <p:spPr>
            <a:xfrm>
              <a:off x="1862" y="2087"/>
              <a:ext cx="0" cy="50"/>
            </a:xfrm>
            <a:prstGeom prst="straightConnector1">
              <a:avLst/>
            </a:prstGeom>
            <a:noFill/>
            <a:ln cap="flat" cmpd="sng" w="12700">
              <a:solidFill>
                <a:srgbClr val="000000"/>
              </a:solidFill>
              <a:prstDash val="solid"/>
              <a:round/>
              <a:headEnd len="med" w="med" type="none"/>
              <a:tailEnd len="med" w="med" type="none"/>
            </a:ln>
          </p:spPr>
        </p:cxnSp>
        <p:cxnSp>
          <p:nvCxnSpPr>
            <p:cNvPr id="4468" name="Google Shape;4468;p64"/>
            <p:cNvCxnSpPr/>
            <p:nvPr/>
          </p:nvCxnSpPr>
          <p:spPr>
            <a:xfrm>
              <a:off x="2175" y="2087"/>
              <a:ext cx="0" cy="50"/>
            </a:xfrm>
            <a:prstGeom prst="straightConnector1">
              <a:avLst/>
            </a:prstGeom>
            <a:noFill/>
            <a:ln cap="flat" cmpd="sng" w="12700">
              <a:solidFill>
                <a:srgbClr val="000000"/>
              </a:solidFill>
              <a:prstDash val="solid"/>
              <a:round/>
              <a:headEnd len="med" w="med" type="none"/>
              <a:tailEnd len="med" w="med" type="none"/>
            </a:ln>
          </p:spPr>
        </p:cxnSp>
        <p:sp>
          <p:nvSpPr>
            <p:cNvPr id="4469" name="Google Shape;4469;p64"/>
            <p:cNvSpPr/>
            <p:nvPr/>
          </p:nvSpPr>
          <p:spPr>
            <a:xfrm>
              <a:off x="1862" y="2087"/>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70" name="Google Shape;4470;p64"/>
            <p:cNvSpPr/>
            <p:nvPr/>
          </p:nvSpPr>
          <p:spPr>
            <a:xfrm>
              <a:off x="1859" y="2028"/>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71" name="Google Shape;4471;p64"/>
            <p:cNvSpPr/>
            <p:nvPr/>
          </p:nvSpPr>
          <p:spPr>
            <a:xfrm>
              <a:off x="1858" y="1404"/>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72" name="Google Shape;4472;p64"/>
            <p:cNvCxnSpPr/>
            <p:nvPr/>
          </p:nvCxnSpPr>
          <p:spPr>
            <a:xfrm>
              <a:off x="1858" y="1397"/>
              <a:ext cx="0" cy="50"/>
            </a:xfrm>
            <a:prstGeom prst="straightConnector1">
              <a:avLst/>
            </a:prstGeom>
            <a:noFill/>
            <a:ln cap="flat" cmpd="sng" w="12700">
              <a:solidFill>
                <a:srgbClr val="000000"/>
              </a:solidFill>
              <a:prstDash val="solid"/>
              <a:round/>
              <a:headEnd len="med" w="med" type="none"/>
              <a:tailEnd len="med" w="med" type="none"/>
            </a:ln>
          </p:spPr>
        </p:cxnSp>
        <p:cxnSp>
          <p:nvCxnSpPr>
            <p:cNvPr id="4473" name="Google Shape;4473;p64"/>
            <p:cNvCxnSpPr/>
            <p:nvPr/>
          </p:nvCxnSpPr>
          <p:spPr>
            <a:xfrm>
              <a:off x="2171" y="1397"/>
              <a:ext cx="0" cy="50"/>
            </a:xfrm>
            <a:prstGeom prst="straightConnector1">
              <a:avLst/>
            </a:prstGeom>
            <a:noFill/>
            <a:ln cap="flat" cmpd="sng" w="12700">
              <a:solidFill>
                <a:srgbClr val="000000"/>
              </a:solidFill>
              <a:prstDash val="solid"/>
              <a:round/>
              <a:headEnd len="med" w="med" type="none"/>
              <a:tailEnd len="med" w="med" type="none"/>
            </a:ln>
          </p:spPr>
        </p:cxnSp>
        <p:sp>
          <p:nvSpPr>
            <p:cNvPr id="4474" name="Google Shape;4474;p64"/>
            <p:cNvSpPr/>
            <p:nvPr/>
          </p:nvSpPr>
          <p:spPr>
            <a:xfrm>
              <a:off x="1858" y="1397"/>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75" name="Google Shape;4475;p64"/>
            <p:cNvSpPr/>
            <p:nvPr/>
          </p:nvSpPr>
          <p:spPr>
            <a:xfrm>
              <a:off x="1855" y="1338"/>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76" name="Google Shape;4476;p64"/>
            <p:cNvSpPr/>
            <p:nvPr/>
          </p:nvSpPr>
          <p:spPr>
            <a:xfrm>
              <a:off x="2541" y="1400"/>
              <a:ext cx="312"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77" name="Google Shape;4477;p64"/>
            <p:cNvCxnSpPr/>
            <p:nvPr/>
          </p:nvCxnSpPr>
          <p:spPr>
            <a:xfrm>
              <a:off x="2541" y="1393"/>
              <a:ext cx="0" cy="50"/>
            </a:xfrm>
            <a:prstGeom prst="straightConnector1">
              <a:avLst/>
            </a:prstGeom>
            <a:noFill/>
            <a:ln cap="flat" cmpd="sng" w="12700">
              <a:solidFill>
                <a:srgbClr val="000000"/>
              </a:solidFill>
              <a:prstDash val="solid"/>
              <a:round/>
              <a:headEnd len="med" w="med" type="none"/>
              <a:tailEnd len="med" w="med" type="none"/>
            </a:ln>
          </p:spPr>
        </p:cxnSp>
        <p:cxnSp>
          <p:nvCxnSpPr>
            <p:cNvPr id="4478" name="Google Shape;4478;p64"/>
            <p:cNvCxnSpPr/>
            <p:nvPr/>
          </p:nvCxnSpPr>
          <p:spPr>
            <a:xfrm>
              <a:off x="2853" y="1393"/>
              <a:ext cx="0" cy="50"/>
            </a:xfrm>
            <a:prstGeom prst="straightConnector1">
              <a:avLst/>
            </a:prstGeom>
            <a:noFill/>
            <a:ln cap="flat" cmpd="sng" w="12700">
              <a:solidFill>
                <a:srgbClr val="000000"/>
              </a:solidFill>
              <a:prstDash val="solid"/>
              <a:round/>
              <a:headEnd len="med" w="med" type="none"/>
              <a:tailEnd len="med" w="med" type="none"/>
            </a:ln>
          </p:spPr>
        </p:cxnSp>
        <p:sp>
          <p:nvSpPr>
            <p:cNvPr id="4479" name="Google Shape;4479;p64"/>
            <p:cNvSpPr/>
            <p:nvPr/>
          </p:nvSpPr>
          <p:spPr>
            <a:xfrm>
              <a:off x="2541" y="1393"/>
              <a:ext cx="309"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80" name="Google Shape;4480;p64"/>
            <p:cNvSpPr/>
            <p:nvPr/>
          </p:nvSpPr>
          <p:spPr>
            <a:xfrm>
              <a:off x="2544" y="1337"/>
              <a:ext cx="312"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81" name="Google Shape;4481;p64"/>
            <p:cNvSpPr/>
            <p:nvPr/>
          </p:nvSpPr>
          <p:spPr>
            <a:xfrm>
              <a:off x="2551" y="2091"/>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82" name="Google Shape;4482;p64"/>
            <p:cNvCxnSpPr/>
            <p:nvPr/>
          </p:nvCxnSpPr>
          <p:spPr>
            <a:xfrm>
              <a:off x="2551" y="2084"/>
              <a:ext cx="0" cy="50"/>
            </a:xfrm>
            <a:prstGeom prst="straightConnector1">
              <a:avLst/>
            </a:prstGeom>
            <a:noFill/>
            <a:ln cap="flat" cmpd="sng" w="12700">
              <a:solidFill>
                <a:srgbClr val="000000"/>
              </a:solidFill>
              <a:prstDash val="solid"/>
              <a:round/>
              <a:headEnd len="med" w="med" type="none"/>
              <a:tailEnd len="med" w="med" type="none"/>
            </a:ln>
          </p:spPr>
        </p:cxnSp>
        <p:cxnSp>
          <p:nvCxnSpPr>
            <p:cNvPr id="4483" name="Google Shape;4483;p64"/>
            <p:cNvCxnSpPr/>
            <p:nvPr/>
          </p:nvCxnSpPr>
          <p:spPr>
            <a:xfrm>
              <a:off x="2864" y="2084"/>
              <a:ext cx="0" cy="50"/>
            </a:xfrm>
            <a:prstGeom prst="straightConnector1">
              <a:avLst/>
            </a:prstGeom>
            <a:noFill/>
            <a:ln cap="flat" cmpd="sng" w="12700">
              <a:solidFill>
                <a:srgbClr val="000000"/>
              </a:solidFill>
              <a:prstDash val="solid"/>
              <a:round/>
              <a:headEnd len="med" w="med" type="none"/>
              <a:tailEnd len="med" w="med" type="none"/>
            </a:ln>
          </p:spPr>
        </p:cxnSp>
        <p:sp>
          <p:nvSpPr>
            <p:cNvPr id="4484" name="Google Shape;4484;p64"/>
            <p:cNvSpPr/>
            <p:nvPr/>
          </p:nvSpPr>
          <p:spPr>
            <a:xfrm>
              <a:off x="2551" y="2084"/>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85" name="Google Shape;4485;p64"/>
            <p:cNvSpPr/>
            <p:nvPr/>
          </p:nvSpPr>
          <p:spPr>
            <a:xfrm>
              <a:off x="2548" y="2025"/>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86" name="Google Shape;4486;p64"/>
            <p:cNvSpPr/>
            <p:nvPr/>
          </p:nvSpPr>
          <p:spPr>
            <a:xfrm>
              <a:off x="3116" y="1750"/>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487" name="Google Shape;4487;p64"/>
            <p:cNvCxnSpPr/>
            <p:nvPr/>
          </p:nvCxnSpPr>
          <p:spPr>
            <a:xfrm>
              <a:off x="3116" y="1743"/>
              <a:ext cx="0" cy="50"/>
            </a:xfrm>
            <a:prstGeom prst="straightConnector1">
              <a:avLst/>
            </a:prstGeom>
            <a:noFill/>
            <a:ln cap="flat" cmpd="sng" w="12700">
              <a:solidFill>
                <a:srgbClr val="000000"/>
              </a:solidFill>
              <a:prstDash val="solid"/>
              <a:round/>
              <a:headEnd len="med" w="med" type="none"/>
              <a:tailEnd len="med" w="med" type="none"/>
            </a:ln>
          </p:spPr>
        </p:cxnSp>
        <p:cxnSp>
          <p:nvCxnSpPr>
            <p:cNvPr id="4488" name="Google Shape;4488;p64"/>
            <p:cNvCxnSpPr/>
            <p:nvPr/>
          </p:nvCxnSpPr>
          <p:spPr>
            <a:xfrm>
              <a:off x="3429" y="1743"/>
              <a:ext cx="0" cy="50"/>
            </a:xfrm>
            <a:prstGeom prst="straightConnector1">
              <a:avLst/>
            </a:prstGeom>
            <a:noFill/>
            <a:ln cap="flat" cmpd="sng" w="12700">
              <a:solidFill>
                <a:srgbClr val="000000"/>
              </a:solidFill>
              <a:prstDash val="solid"/>
              <a:round/>
              <a:headEnd len="med" w="med" type="none"/>
              <a:tailEnd len="med" w="med" type="none"/>
            </a:ln>
          </p:spPr>
        </p:cxnSp>
        <p:sp>
          <p:nvSpPr>
            <p:cNvPr id="4489" name="Google Shape;4489;p64"/>
            <p:cNvSpPr/>
            <p:nvPr/>
          </p:nvSpPr>
          <p:spPr>
            <a:xfrm>
              <a:off x="3116" y="1743"/>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490" name="Google Shape;4490;p64"/>
            <p:cNvSpPr/>
            <p:nvPr/>
          </p:nvSpPr>
          <p:spPr>
            <a:xfrm>
              <a:off x="3113" y="1684"/>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91" name="Google Shape;4491;p64"/>
            <p:cNvSpPr/>
            <p:nvPr/>
          </p:nvSpPr>
          <p:spPr>
            <a:xfrm>
              <a:off x="2707" y="1492"/>
              <a:ext cx="1" cy="522"/>
            </a:xfrm>
            <a:custGeom>
              <a:rect b="b" l="l" r="r" t="t"/>
              <a:pathLst>
                <a:path extrusionOk="0" h="522" w="1">
                  <a:moveTo>
                    <a:pt x="0" y="0"/>
                  </a:moveTo>
                  <a:lnTo>
                    <a:pt x="0" y="522"/>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92" name="Google Shape;4492;p64"/>
            <p:cNvSpPr/>
            <p:nvPr/>
          </p:nvSpPr>
          <p:spPr>
            <a:xfrm>
              <a:off x="2866" y="1831"/>
              <a:ext cx="366" cy="270"/>
            </a:xfrm>
            <a:custGeom>
              <a:rect b="b" l="l" r="r" t="t"/>
              <a:pathLst>
                <a:path extrusionOk="0" h="270" w="366">
                  <a:moveTo>
                    <a:pt x="0" y="270"/>
                  </a:moveTo>
                  <a:lnTo>
                    <a:pt x="366"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93" name="Google Shape;4493;p64"/>
            <p:cNvSpPr/>
            <p:nvPr/>
          </p:nvSpPr>
          <p:spPr>
            <a:xfrm>
              <a:off x="2185" y="2113"/>
              <a:ext cx="366" cy="1"/>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94" name="Google Shape;4494;p64"/>
            <p:cNvSpPr/>
            <p:nvPr/>
          </p:nvSpPr>
          <p:spPr>
            <a:xfrm>
              <a:off x="1594" y="1789"/>
              <a:ext cx="276" cy="264"/>
            </a:xfrm>
            <a:custGeom>
              <a:rect b="b" l="l" r="r" t="t"/>
              <a:pathLst>
                <a:path extrusionOk="0" h="264" w="276">
                  <a:moveTo>
                    <a:pt x="276" y="264"/>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495" name="Google Shape;4495;p64"/>
            <p:cNvGrpSpPr/>
            <p:nvPr/>
          </p:nvGrpSpPr>
          <p:grpSpPr>
            <a:xfrm>
              <a:off x="1437" y="1589"/>
              <a:ext cx="205" cy="250"/>
              <a:chOff x="2954" y="2425"/>
              <a:chExt cx="208" cy="250"/>
            </a:xfrm>
          </p:grpSpPr>
          <p:sp>
            <p:nvSpPr>
              <p:cNvPr id="4496" name="Google Shape;4496;p6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97" name="Google Shape;4497;p64"/>
              <p:cNvSpPr txBox="1"/>
              <p:nvPr/>
            </p:nvSpPr>
            <p:spPr>
              <a:xfrm>
                <a:off x="2954" y="2425"/>
                <a:ext cx="208"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u</a:t>
                </a:r>
                <a:endParaRPr sz="2400">
                  <a:solidFill>
                    <a:srgbClr val="000000"/>
                  </a:solidFill>
                  <a:latin typeface="Arial"/>
                  <a:ea typeface="Arial"/>
                  <a:cs typeface="Arial"/>
                  <a:sym typeface="Arial"/>
                </a:endParaRPr>
              </a:p>
            </p:txBody>
          </p:sp>
        </p:grpSp>
        <p:grpSp>
          <p:nvGrpSpPr>
            <p:cNvPr id="4498" name="Google Shape;4498;p64"/>
            <p:cNvGrpSpPr/>
            <p:nvPr/>
          </p:nvGrpSpPr>
          <p:grpSpPr>
            <a:xfrm>
              <a:off x="2611" y="1973"/>
              <a:ext cx="196" cy="250"/>
              <a:chOff x="2958" y="2425"/>
              <a:chExt cx="199" cy="250"/>
            </a:xfrm>
          </p:grpSpPr>
          <p:sp>
            <p:nvSpPr>
              <p:cNvPr id="4499" name="Google Shape;4499;p64"/>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00" name="Google Shape;4500;p64"/>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y</a:t>
                </a:r>
                <a:endParaRPr sz="2400">
                  <a:solidFill>
                    <a:srgbClr val="000000"/>
                  </a:solidFill>
                  <a:latin typeface="Arial"/>
                  <a:ea typeface="Arial"/>
                  <a:cs typeface="Arial"/>
                  <a:sym typeface="Arial"/>
                </a:endParaRPr>
              </a:p>
            </p:txBody>
          </p:sp>
        </p:grpSp>
        <p:grpSp>
          <p:nvGrpSpPr>
            <p:cNvPr id="4501" name="Google Shape;4501;p64"/>
            <p:cNvGrpSpPr/>
            <p:nvPr/>
          </p:nvGrpSpPr>
          <p:grpSpPr>
            <a:xfrm>
              <a:off x="1922" y="1940"/>
              <a:ext cx="212" cy="288"/>
              <a:chOff x="2951" y="2395"/>
              <a:chExt cx="213" cy="288"/>
            </a:xfrm>
          </p:grpSpPr>
          <p:sp>
            <p:nvSpPr>
              <p:cNvPr id="4502" name="Google Shape;4502;p6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03" name="Google Shape;4503;p64"/>
              <p:cNvSpPr txBox="1"/>
              <p:nvPr/>
            </p:nvSpPr>
            <p:spPr>
              <a:xfrm>
                <a:off x="2951" y="2395"/>
                <a:ext cx="21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Arial"/>
                    <a:ea typeface="Arial"/>
                    <a:cs typeface="Arial"/>
                    <a:sym typeface="Arial"/>
                  </a:rPr>
                  <a:t>x</a:t>
                </a:r>
                <a:endParaRPr/>
              </a:p>
            </p:txBody>
          </p:sp>
        </p:grpSp>
        <p:grpSp>
          <p:nvGrpSpPr>
            <p:cNvPr id="4504" name="Google Shape;4504;p64"/>
            <p:cNvGrpSpPr/>
            <p:nvPr/>
          </p:nvGrpSpPr>
          <p:grpSpPr>
            <a:xfrm>
              <a:off x="2588" y="1283"/>
              <a:ext cx="232" cy="250"/>
              <a:chOff x="2941" y="2425"/>
              <a:chExt cx="235" cy="250"/>
            </a:xfrm>
          </p:grpSpPr>
          <p:sp>
            <p:nvSpPr>
              <p:cNvPr id="4505" name="Google Shape;4505;p64"/>
              <p:cNvSpPr/>
              <p:nvPr/>
            </p:nvSpPr>
            <p:spPr>
              <a:xfrm>
                <a:off x="2982" y="2490"/>
                <a:ext cx="146"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06" name="Google Shape;4506;p64"/>
              <p:cNvSpPr txBox="1"/>
              <p:nvPr/>
            </p:nvSpPr>
            <p:spPr>
              <a:xfrm>
                <a:off x="2941" y="2425"/>
                <a:ext cx="235"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w</a:t>
                </a:r>
                <a:endParaRPr sz="2400">
                  <a:solidFill>
                    <a:srgbClr val="000000"/>
                  </a:solidFill>
                  <a:latin typeface="Arial"/>
                  <a:ea typeface="Arial"/>
                  <a:cs typeface="Arial"/>
                  <a:sym typeface="Arial"/>
                </a:endParaRPr>
              </a:p>
            </p:txBody>
          </p:sp>
        </p:grpSp>
        <p:grpSp>
          <p:nvGrpSpPr>
            <p:cNvPr id="4507" name="Google Shape;4507;p64"/>
            <p:cNvGrpSpPr/>
            <p:nvPr/>
          </p:nvGrpSpPr>
          <p:grpSpPr>
            <a:xfrm>
              <a:off x="1921" y="1283"/>
              <a:ext cx="196" cy="250"/>
              <a:chOff x="2958" y="2425"/>
              <a:chExt cx="199" cy="250"/>
            </a:xfrm>
          </p:grpSpPr>
          <p:sp>
            <p:nvSpPr>
              <p:cNvPr id="4508" name="Google Shape;4508;p64"/>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09" name="Google Shape;4509;p64"/>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v</a:t>
                </a:r>
                <a:endParaRPr sz="2400">
                  <a:solidFill>
                    <a:srgbClr val="000000"/>
                  </a:solidFill>
                  <a:latin typeface="Arial"/>
                  <a:ea typeface="Arial"/>
                  <a:cs typeface="Arial"/>
                  <a:sym typeface="Arial"/>
                </a:endParaRPr>
              </a:p>
            </p:txBody>
          </p:sp>
        </p:grpSp>
        <p:grpSp>
          <p:nvGrpSpPr>
            <p:cNvPr id="4510" name="Google Shape;4510;p64"/>
            <p:cNvGrpSpPr/>
            <p:nvPr/>
          </p:nvGrpSpPr>
          <p:grpSpPr>
            <a:xfrm>
              <a:off x="3175" y="1601"/>
              <a:ext cx="212" cy="288"/>
              <a:chOff x="2949" y="2395"/>
              <a:chExt cx="214" cy="288"/>
            </a:xfrm>
          </p:grpSpPr>
          <p:sp>
            <p:nvSpPr>
              <p:cNvPr id="4511" name="Google Shape;4511;p64"/>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12" name="Google Shape;4512;p64"/>
              <p:cNvSpPr txBox="1"/>
              <p:nvPr/>
            </p:nvSpPr>
            <p:spPr>
              <a:xfrm>
                <a:off x="2949" y="2395"/>
                <a:ext cx="21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Arial"/>
                    <a:ea typeface="Arial"/>
                    <a:cs typeface="Arial"/>
                    <a:sym typeface="Arial"/>
                  </a:rPr>
                  <a:t>z</a:t>
                </a:r>
                <a:endParaRPr/>
              </a:p>
            </p:txBody>
          </p:sp>
        </p:grpSp>
      </p:grpSp>
      <p:sp>
        <p:nvSpPr>
          <p:cNvPr id="4513" name="Google Shape;4513;p64"/>
          <p:cNvSpPr txBox="1"/>
          <p:nvPr/>
        </p:nvSpPr>
        <p:spPr>
          <a:xfrm>
            <a:off x="441194" y="3975560"/>
            <a:ext cx="475213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resulting least-cost-path tree from u:</a:t>
            </a:r>
            <a:endParaRPr/>
          </a:p>
        </p:txBody>
      </p:sp>
      <p:grpSp>
        <p:nvGrpSpPr>
          <p:cNvPr id="4514" name="Google Shape;4514;p64"/>
          <p:cNvGrpSpPr/>
          <p:nvPr/>
        </p:nvGrpSpPr>
        <p:grpSpPr>
          <a:xfrm>
            <a:off x="5736310" y="3974818"/>
            <a:ext cx="4022768" cy="2583002"/>
            <a:chOff x="6731733" y="3986393"/>
            <a:chExt cx="4022768" cy="2583002"/>
          </a:xfrm>
        </p:grpSpPr>
        <p:sp>
          <p:nvSpPr>
            <p:cNvPr id="4515" name="Google Shape;4515;p64"/>
            <p:cNvSpPr txBox="1"/>
            <p:nvPr/>
          </p:nvSpPr>
          <p:spPr>
            <a:xfrm>
              <a:off x="6731733" y="3986393"/>
              <a:ext cx="402276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resulting forwarding table in u:</a:t>
              </a:r>
              <a:endParaRPr/>
            </a:p>
          </p:txBody>
        </p:sp>
        <p:grpSp>
          <p:nvGrpSpPr>
            <p:cNvPr id="4516" name="Google Shape;4516;p64"/>
            <p:cNvGrpSpPr/>
            <p:nvPr/>
          </p:nvGrpSpPr>
          <p:grpSpPr>
            <a:xfrm>
              <a:off x="7373074" y="4495305"/>
              <a:ext cx="2423080" cy="2074090"/>
              <a:chOff x="9178724" y="1740531"/>
              <a:chExt cx="2423080" cy="2074090"/>
            </a:xfrm>
          </p:grpSpPr>
          <p:sp>
            <p:nvSpPr>
              <p:cNvPr id="4517" name="Google Shape;4517;p64"/>
              <p:cNvSpPr/>
              <p:nvPr/>
            </p:nvSpPr>
            <p:spPr>
              <a:xfrm>
                <a:off x="9199418" y="1778000"/>
                <a:ext cx="2373746" cy="277091"/>
              </a:xfrm>
              <a:prstGeom prst="rect">
                <a:avLst/>
              </a:prstGeom>
              <a:solidFill>
                <a:srgbClr val="D8D8D8"/>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518" name="Google Shape;4518;p64"/>
              <p:cNvSpPr/>
              <p:nvPr/>
            </p:nvSpPr>
            <p:spPr>
              <a:xfrm>
                <a:off x="9190298" y="1770927"/>
                <a:ext cx="2384385" cy="1979271"/>
              </a:xfrm>
              <a:prstGeom prst="rect">
                <a:avLst/>
              </a:prstGeom>
              <a:noFill/>
              <a:ln cap="flat" cmpd="sng" w="127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519" name="Google Shape;4519;p64"/>
              <p:cNvSpPr txBox="1"/>
              <p:nvPr/>
            </p:nvSpPr>
            <p:spPr>
              <a:xfrm>
                <a:off x="9572264" y="2060295"/>
                <a:ext cx="404278"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lang="en-US" sz="2400">
                    <a:solidFill>
                      <a:srgbClr val="000000"/>
                    </a:solidFill>
                    <a:latin typeface="Calibri"/>
                    <a:ea typeface="Calibri"/>
                    <a:cs typeface="Calibri"/>
                    <a:sym typeface="Calibri"/>
                  </a:rPr>
                  <a:t>v</a:t>
                </a:r>
                <a:endParaRPr/>
              </a:p>
              <a:p>
                <a:pPr indent="0" lvl="0" marL="0" marR="0" rtl="0" algn="ctr">
                  <a:lnSpc>
                    <a:spcPct val="90000"/>
                  </a:lnSpc>
                  <a:spcBef>
                    <a:spcPts val="0"/>
                  </a:spcBef>
                  <a:spcAft>
                    <a:spcPts val="0"/>
                  </a:spcAft>
                  <a:buNone/>
                </a:pPr>
                <a:r>
                  <a:rPr lang="en-US" sz="2400">
                    <a:solidFill>
                      <a:srgbClr val="000000"/>
                    </a:solidFill>
                    <a:latin typeface="Calibri"/>
                    <a:ea typeface="Calibri"/>
                    <a:cs typeface="Calibri"/>
                    <a:sym typeface="Calibri"/>
                  </a:rPr>
                  <a:t>x</a:t>
                </a:r>
                <a:endParaRPr/>
              </a:p>
              <a:p>
                <a:pPr indent="0" lvl="0" marL="0" marR="0" rtl="0" algn="ctr">
                  <a:lnSpc>
                    <a:spcPct val="90000"/>
                  </a:lnSpc>
                  <a:spcBef>
                    <a:spcPts val="0"/>
                  </a:spcBef>
                  <a:spcAft>
                    <a:spcPts val="0"/>
                  </a:spcAft>
                  <a:buNone/>
                </a:pPr>
                <a:r>
                  <a:rPr lang="en-US" sz="2400">
                    <a:solidFill>
                      <a:srgbClr val="000000"/>
                    </a:solidFill>
                    <a:latin typeface="Calibri"/>
                    <a:ea typeface="Calibri"/>
                    <a:cs typeface="Calibri"/>
                    <a:sym typeface="Calibri"/>
                  </a:rPr>
                  <a:t>y</a:t>
                </a:r>
                <a:endParaRPr/>
              </a:p>
              <a:p>
                <a:pPr indent="0" lvl="0" marL="0" marR="0" rtl="0" algn="ctr">
                  <a:lnSpc>
                    <a:spcPct val="90000"/>
                  </a:lnSpc>
                  <a:spcBef>
                    <a:spcPts val="0"/>
                  </a:spcBef>
                  <a:spcAft>
                    <a:spcPts val="0"/>
                  </a:spcAft>
                  <a:buNone/>
                </a:pPr>
                <a:r>
                  <a:rPr lang="en-US" sz="2400">
                    <a:solidFill>
                      <a:srgbClr val="000000"/>
                    </a:solidFill>
                    <a:latin typeface="Calibri"/>
                    <a:ea typeface="Calibri"/>
                    <a:cs typeface="Calibri"/>
                    <a:sym typeface="Calibri"/>
                  </a:rPr>
                  <a:t>w</a:t>
                </a:r>
                <a:endParaRPr/>
              </a:p>
              <a:p>
                <a:pPr indent="0" lvl="0" marL="0" marR="0" rtl="0" algn="ctr">
                  <a:lnSpc>
                    <a:spcPct val="90000"/>
                  </a:lnSpc>
                  <a:spcBef>
                    <a:spcPts val="0"/>
                  </a:spcBef>
                  <a:spcAft>
                    <a:spcPts val="0"/>
                  </a:spcAft>
                  <a:buNone/>
                </a:pPr>
                <a:r>
                  <a:rPr lang="en-US" sz="2400">
                    <a:solidFill>
                      <a:srgbClr val="000000"/>
                    </a:solidFill>
                    <a:latin typeface="Calibri"/>
                    <a:ea typeface="Calibri"/>
                    <a:cs typeface="Calibri"/>
                    <a:sym typeface="Calibri"/>
                  </a:rPr>
                  <a:t>x</a:t>
                </a:r>
                <a:endParaRPr sz="1800">
                  <a:solidFill>
                    <a:srgbClr val="000000"/>
                  </a:solidFill>
                  <a:latin typeface="Calibri"/>
                  <a:ea typeface="Calibri"/>
                  <a:cs typeface="Calibri"/>
                  <a:sym typeface="Calibri"/>
                </a:endParaRPr>
              </a:p>
            </p:txBody>
          </p:sp>
          <p:sp>
            <p:nvSpPr>
              <p:cNvPr id="4520" name="Google Shape;4520;p64"/>
              <p:cNvSpPr txBox="1"/>
              <p:nvPr/>
            </p:nvSpPr>
            <p:spPr>
              <a:xfrm>
                <a:off x="10615914" y="2050649"/>
                <a:ext cx="748923" cy="1754326"/>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(u,v)</a:t>
                </a:r>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(u,x)</a:t>
                </a:r>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(u,x)</a:t>
                </a:r>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(u,x)</a:t>
                </a:r>
                <a:endParaRPr/>
              </a:p>
              <a:p>
                <a:pPr indent="0" lvl="0" marL="0" marR="0" rtl="0" algn="l">
                  <a:lnSpc>
                    <a:spcPct val="90000"/>
                  </a:lnSpc>
                  <a:spcBef>
                    <a:spcPts val="0"/>
                  </a:spcBef>
                  <a:spcAft>
                    <a:spcPts val="0"/>
                  </a:spcAft>
                  <a:buNone/>
                </a:pPr>
                <a:r>
                  <a:rPr lang="en-US" sz="2400">
                    <a:solidFill>
                      <a:srgbClr val="000000"/>
                    </a:solidFill>
                    <a:latin typeface="Calibri"/>
                    <a:ea typeface="Calibri"/>
                    <a:cs typeface="Calibri"/>
                    <a:sym typeface="Calibri"/>
                  </a:rPr>
                  <a:t>(u,x)</a:t>
                </a:r>
                <a:endParaRPr sz="1800">
                  <a:solidFill>
                    <a:srgbClr val="000000"/>
                  </a:solidFill>
                  <a:latin typeface="Calibri"/>
                  <a:ea typeface="Calibri"/>
                  <a:cs typeface="Calibri"/>
                  <a:sym typeface="Calibri"/>
                </a:endParaRPr>
              </a:p>
            </p:txBody>
          </p:sp>
          <p:sp>
            <p:nvSpPr>
              <p:cNvPr id="4521" name="Google Shape;4521;p64"/>
              <p:cNvSpPr txBox="1"/>
              <p:nvPr/>
            </p:nvSpPr>
            <p:spPr>
              <a:xfrm>
                <a:off x="9220467" y="1747835"/>
                <a:ext cx="1123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destination</a:t>
                </a:r>
                <a:endParaRPr sz="1800">
                  <a:solidFill>
                    <a:srgbClr val="000000"/>
                  </a:solidFill>
                  <a:latin typeface="Calibri"/>
                  <a:ea typeface="Calibri"/>
                  <a:cs typeface="Calibri"/>
                  <a:sym typeface="Calibri"/>
                </a:endParaRPr>
              </a:p>
            </p:txBody>
          </p:sp>
          <p:sp>
            <p:nvSpPr>
              <p:cNvPr id="4522" name="Google Shape;4522;p64"/>
              <p:cNvSpPr txBox="1"/>
              <p:nvPr/>
            </p:nvSpPr>
            <p:spPr>
              <a:xfrm>
                <a:off x="10338125" y="1740531"/>
                <a:ext cx="126367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outgoing link</a:t>
                </a:r>
                <a:endParaRPr/>
              </a:p>
            </p:txBody>
          </p:sp>
          <p:cxnSp>
            <p:nvCxnSpPr>
              <p:cNvPr id="4523" name="Google Shape;4523;p64"/>
              <p:cNvCxnSpPr/>
              <p:nvPr/>
            </p:nvCxnSpPr>
            <p:spPr>
              <a:xfrm>
                <a:off x="9178724" y="2060293"/>
                <a:ext cx="2395960" cy="0"/>
              </a:xfrm>
              <a:prstGeom prst="straightConnector1">
                <a:avLst/>
              </a:prstGeom>
              <a:noFill/>
              <a:ln cap="flat" cmpd="sng" w="12700">
                <a:solidFill>
                  <a:srgbClr val="0000A8"/>
                </a:solidFill>
                <a:prstDash val="solid"/>
                <a:miter lim="8000"/>
                <a:headEnd len="sm" w="sm" type="none"/>
                <a:tailEnd len="sm" w="sm" type="none"/>
              </a:ln>
            </p:spPr>
          </p:cxnSp>
          <p:cxnSp>
            <p:nvCxnSpPr>
              <p:cNvPr id="4524" name="Google Shape;4524;p64"/>
              <p:cNvCxnSpPr/>
              <p:nvPr/>
            </p:nvCxnSpPr>
            <p:spPr>
              <a:xfrm>
                <a:off x="10359342" y="1770927"/>
                <a:ext cx="0" cy="1990845"/>
              </a:xfrm>
              <a:prstGeom prst="straightConnector1">
                <a:avLst/>
              </a:prstGeom>
              <a:noFill/>
              <a:ln cap="flat" cmpd="sng" w="12700">
                <a:solidFill>
                  <a:srgbClr val="0000A8"/>
                </a:solidFill>
                <a:prstDash val="solid"/>
                <a:miter lim="8000"/>
                <a:headEnd len="sm" w="sm" type="none"/>
                <a:tailEnd len="sm" w="sm" type="none"/>
              </a:ln>
            </p:spPr>
          </p:cxnSp>
        </p:grpSp>
      </p:grpSp>
      <p:grpSp>
        <p:nvGrpSpPr>
          <p:cNvPr id="4525" name="Google Shape;4525;p64"/>
          <p:cNvGrpSpPr/>
          <p:nvPr/>
        </p:nvGrpSpPr>
        <p:grpSpPr>
          <a:xfrm>
            <a:off x="8565265" y="4815068"/>
            <a:ext cx="3170508" cy="369332"/>
            <a:chOff x="8565265" y="4815068"/>
            <a:chExt cx="3170508" cy="369332"/>
          </a:xfrm>
        </p:grpSpPr>
        <p:sp>
          <p:nvSpPr>
            <p:cNvPr id="4526" name="Google Shape;4526;p64"/>
            <p:cNvSpPr txBox="1"/>
            <p:nvPr/>
          </p:nvSpPr>
          <p:spPr>
            <a:xfrm>
              <a:off x="9201874" y="4815068"/>
              <a:ext cx="25338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route from </a:t>
              </a:r>
              <a:r>
                <a:rPr i="1" lang="en-US" sz="1800">
                  <a:solidFill>
                    <a:srgbClr val="000000"/>
                  </a:solidFill>
                  <a:latin typeface="Calibri"/>
                  <a:ea typeface="Calibri"/>
                  <a:cs typeface="Calibri"/>
                  <a:sym typeface="Calibri"/>
                </a:rPr>
                <a:t>u</a:t>
              </a:r>
              <a:r>
                <a:rPr lang="en-US" sz="1800">
                  <a:solidFill>
                    <a:srgbClr val="000000"/>
                  </a:solidFill>
                  <a:latin typeface="Calibri"/>
                  <a:ea typeface="Calibri"/>
                  <a:cs typeface="Calibri"/>
                  <a:sym typeface="Calibri"/>
                </a:rPr>
                <a:t> to</a:t>
              </a:r>
              <a:r>
                <a:rPr i="1" lang="en-US" sz="1800">
                  <a:solidFill>
                    <a:srgbClr val="000000"/>
                  </a:solidFill>
                  <a:latin typeface="Calibri"/>
                  <a:ea typeface="Calibri"/>
                  <a:cs typeface="Calibri"/>
                  <a:sym typeface="Calibri"/>
                </a:rPr>
                <a:t> v </a:t>
              </a:r>
              <a:r>
                <a:rPr lang="en-US" sz="1800">
                  <a:solidFill>
                    <a:srgbClr val="000000"/>
                  </a:solidFill>
                  <a:latin typeface="Calibri"/>
                  <a:ea typeface="Calibri"/>
                  <a:cs typeface="Calibri"/>
                  <a:sym typeface="Calibri"/>
                </a:rPr>
                <a:t>directly</a:t>
              </a:r>
              <a:endParaRPr/>
            </a:p>
          </p:txBody>
        </p:sp>
        <p:cxnSp>
          <p:nvCxnSpPr>
            <p:cNvPr id="4527" name="Google Shape;4527;p64"/>
            <p:cNvCxnSpPr/>
            <p:nvPr/>
          </p:nvCxnSpPr>
          <p:spPr>
            <a:xfrm>
              <a:off x="8565265" y="5000264"/>
              <a:ext cx="682907" cy="0"/>
            </a:xfrm>
            <a:prstGeom prst="straightConnector1">
              <a:avLst/>
            </a:prstGeom>
            <a:noFill/>
            <a:ln cap="flat" cmpd="sng" w="12700">
              <a:solidFill>
                <a:srgbClr val="C00000"/>
              </a:solidFill>
              <a:prstDash val="solid"/>
              <a:miter lim="8000"/>
              <a:headEnd len="sm" w="sm" type="none"/>
              <a:tailEnd len="sm" w="sm" type="none"/>
            </a:ln>
          </p:spPr>
        </p:cxnSp>
      </p:grpSp>
      <p:grpSp>
        <p:nvGrpSpPr>
          <p:cNvPr id="4528" name="Google Shape;4528;p64"/>
          <p:cNvGrpSpPr/>
          <p:nvPr/>
        </p:nvGrpSpPr>
        <p:grpSpPr>
          <a:xfrm>
            <a:off x="8877782" y="5197032"/>
            <a:ext cx="2372811" cy="1260926"/>
            <a:chOff x="8877782" y="5197032"/>
            <a:chExt cx="2372811" cy="1260926"/>
          </a:xfrm>
        </p:grpSpPr>
        <p:sp>
          <p:nvSpPr>
            <p:cNvPr id="4529" name="Google Shape;4529;p64"/>
            <p:cNvSpPr txBox="1"/>
            <p:nvPr/>
          </p:nvSpPr>
          <p:spPr>
            <a:xfrm>
              <a:off x="9215379" y="5534628"/>
              <a:ext cx="203521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route from u to all other destinations via </a:t>
              </a:r>
              <a:r>
                <a:rPr i="1" lang="en-US" sz="1800">
                  <a:solidFill>
                    <a:srgbClr val="000000"/>
                  </a:solidFill>
                  <a:latin typeface="Calibri"/>
                  <a:ea typeface="Calibri"/>
                  <a:cs typeface="Calibri"/>
                  <a:sym typeface="Calibri"/>
                </a:rPr>
                <a:t>x</a:t>
              </a:r>
              <a:r>
                <a:rPr lang="en-US" sz="1800">
                  <a:solidFill>
                    <a:srgbClr val="000000"/>
                  </a:solidFill>
                  <a:latin typeface="Calibri"/>
                  <a:ea typeface="Calibri"/>
                  <a:cs typeface="Calibri"/>
                  <a:sym typeface="Calibri"/>
                </a:rPr>
                <a:t> </a:t>
              </a:r>
              <a:endParaRPr/>
            </a:p>
          </p:txBody>
        </p:sp>
        <p:sp>
          <p:nvSpPr>
            <p:cNvPr id="4530" name="Google Shape;4530;p64"/>
            <p:cNvSpPr/>
            <p:nvPr/>
          </p:nvSpPr>
          <p:spPr>
            <a:xfrm>
              <a:off x="8877782" y="5197032"/>
              <a:ext cx="352218" cy="1238491"/>
            </a:xfrm>
            <a:prstGeom prst="rightBrace">
              <a:avLst>
                <a:gd fmla="val 8333" name="adj1"/>
                <a:gd fmla="val 50000" name="adj2"/>
              </a:avLst>
            </a:prstGeom>
            <a:noFill/>
            <a:ln cap="flat" cmpd="sng" w="127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4"/>
                                        </p:tgtEl>
                                        <p:attrNameLst>
                                          <p:attrName>style.visibility</p:attrName>
                                        </p:attrNameLst>
                                      </p:cBhvr>
                                      <p:to>
                                        <p:strVal val="visible"/>
                                      </p:to>
                                    </p:set>
                                    <p:animEffect filter="fade" transition="in">
                                      <p:cBhvr>
                                        <p:cTn dur="500"/>
                                        <p:tgtEl>
                                          <p:spTgt spid="4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5"/>
                                        </p:tgtEl>
                                        <p:attrNameLst>
                                          <p:attrName>style.visibility</p:attrName>
                                        </p:attrNameLst>
                                      </p:cBhvr>
                                      <p:to>
                                        <p:strVal val="visible"/>
                                      </p:to>
                                    </p:set>
                                    <p:animEffect filter="fade" transition="in">
                                      <p:cBhvr>
                                        <p:cTn dur="500"/>
                                        <p:tgtEl>
                                          <p:spTgt spid="4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8"/>
                                        </p:tgtEl>
                                        <p:attrNameLst>
                                          <p:attrName>style.visibility</p:attrName>
                                        </p:attrNameLst>
                                      </p:cBhvr>
                                      <p:to>
                                        <p:strVal val="visible"/>
                                      </p:to>
                                    </p:set>
                                    <p:animEffect filter="fade" transition="in">
                                      <p:cBhvr>
                                        <p:cTn dur="500"/>
                                        <p:tgtEl>
                                          <p:spTgt spid="4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5" name="Shape 4535"/>
        <p:cNvGrpSpPr/>
        <p:nvPr/>
      </p:nvGrpSpPr>
      <p:grpSpPr>
        <a:xfrm>
          <a:off x="0" y="0"/>
          <a:ext cx="0" cy="0"/>
          <a:chOff x="0" y="0"/>
          <a:chExt cx="0" cy="0"/>
        </a:xfrm>
      </p:grpSpPr>
      <p:sp>
        <p:nvSpPr>
          <p:cNvPr id="4536" name="Google Shape;4536;p65"/>
          <p:cNvSpPr txBox="1"/>
          <p:nvPr>
            <p:ph type="title"/>
          </p:nvPr>
        </p:nvSpPr>
        <p:spPr>
          <a:xfrm>
            <a:off x="838199" y="354060"/>
            <a:ext cx="1117962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Dijkstra’s algorithm: another example</a:t>
            </a:r>
            <a:endParaRPr/>
          </a:p>
        </p:txBody>
      </p:sp>
      <p:sp>
        <p:nvSpPr>
          <p:cNvPr id="4537" name="Google Shape;4537;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grpSp>
        <p:nvGrpSpPr>
          <p:cNvPr id="4538" name="Google Shape;4538;p65"/>
          <p:cNvGrpSpPr/>
          <p:nvPr/>
        </p:nvGrpSpPr>
        <p:grpSpPr>
          <a:xfrm>
            <a:off x="7267328" y="1497821"/>
            <a:ext cx="4217987" cy="3361377"/>
            <a:chOff x="415" y="856"/>
            <a:chExt cx="2910" cy="2256"/>
          </a:xfrm>
        </p:grpSpPr>
        <p:grpSp>
          <p:nvGrpSpPr>
            <p:cNvPr id="4539" name="Google Shape;4539;p65"/>
            <p:cNvGrpSpPr/>
            <p:nvPr/>
          </p:nvGrpSpPr>
          <p:grpSpPr>
            <a:xfrm>
              <a:off x="1290" y="1997"/>
              <a:ext cx="316" cy="265"/>
              <a:chOff x="1613" y="2011"/>
              <a:chExt cx="316" cy="265"/>
            </a:xfrm>
          </p:grpSpPr>
          <p:sp>
            <p:nvSpPr>
              <p:cNvPr id="4540" name="Google Shape;4540;p65"/>
              <p:cNvSpPr/>
              <p:nvPr/>
            </p:nvSpPr>
            <p:spPr>
              <a:xfrm>
                <a:off x="1616" y="2138"/>
                <a:ext cx="311"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541" name="Google Shape;4541;p65"/>
              <p:cNvCxnSpPr/>
              <p:nvPr/>
            </p:nvCxnSpPr>
            <p:spPr>
              <a:xfrm>
                <a:off x="1616" y="2129"/>
                <a:ext cx="0" cy="50"/>
              </a:xfrm>
              <a:prstGeom prst="straightConnector1">
                <a:avLst/>
              </a:prstGeom>
              <a:noFill/>
              <a:ln cap="flat" cmpd="sng" w="12700">
                <a:solidFill>
                  <a:srgbClr val="000000"/>
                </a:solidFill>
                <a:prstDash val="solid"/>
                <a:round/>
                <a:headEnd len="med" w="med" type="none"/>
                <a:tailEnd len="med" w="med" type="none"/>
              </a:ln>
            </p:spPr>
          </p:cxnSp>
          <p:cxnSp>
            <p:nvCxnSpPr>
              <p:cNvPr id="4542" name="Google Shape;4542;p65"/>
              <p:cNvCxnSpPr/>
              <p:nvPr/>
            </p:nvCxnSpPr>
            <p:spPr>
              <a:xfrm>
                <a:off x="1929" y="2129"/>
                <a:ext cx="0" cy="50"/>
              </a:xfrm>
              <a:prstGeom prst="straightConnector1">
                <a:avLst/>
              </a:prstGeom>
              <a:noFill/>
              <a:ln cap="flat" cmpd="sng" w="12700">
                <a:solidFill>
                  <a:srgbClr val="000000"/>
                </a:solidFill>
                <a:prstDash val="solid"/>
                <a:round/>
                <a:headEnd len="med" w="med" type="none"/>
                <a:tailEnd len="med" w="med" type="none"/>
              </a:ln>
            </p:spPr>
          </p:cxnSp>
          <p:sp>
            <p:nvSpPr>
              <p:cNvPr id="4543" name="Google Shape;4543;p65"/>
              <p:cNvSpPr/>
              <p:nvPr/>
            </p:nvSpPr>
            <p:spPr>
              <a:xfrm>
                <a:off x="1616" y="2129"/>
                <a:ext cx="308"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544" name="Google Shape;4544;p65"/>
              <p:cNvSpPr/>
              <p:nvPr/>
            </p:nvSpPr>
            <p:spPr>
              <a:xfrm>
                <a:off x="1613" y="2072"/>
                <a:ext cx="311"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45" name="Google Shape;4545;p65"/>
              <p:cNvSpPr/>
              <p:nvPr/>
            </p:nvSpPr>
            <p:spPr>
              <a:xfrm>
                <a:off x="1686" y="2100"/>
                <a:ext cx="140" cy="105"/>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46" name="Google Shape;4546;p65"/>
              <p:cNvSpPr txBox="1"/>
              <p:nvPr/>
            </p:nvSpPr>
            <p:spPr>
              <a:xfrm>
                <a:off x="1633" y="2011"/>
                <a:ext cx="254"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w</a:t>
                </a:r>
                <a:endParaRPr sz="2400">
                  <a:solidFill>
                    <a:srgbClr val="000000"/>
                  </a:solidFill>
                  <a:latin typeface="Arial"/>
                  <a:ea typeface="Arial"/>
                  <a:cs typeface="Arial"/>
                  <a:sym typeface="Arial"/>
                </a:endParaRPr>
              </a:p>
            </p:txBody>
          </p:sp>
        </p:grpSp>
        <p:sp>
          <p:nvSpPr>
            <p:cNvPr id="4547" name="Google Shape;4547;p65"/>
            <p:cNvSpPr txBox="1"/>
            <p:nvPr/>
          </p:nvSpPr>
          <p:spPr>
            <a:xfrm>
              <a:off x="925" y="1959"/>
              <a:ext cx="215" cy="2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3</a:t>
              </a:r>
              <a:endParaRPr sz="2400">
                <a:solidFill>
                  <a:srgbClr val="000000"/>
                </a:solidFill>
                <a:latin typeface="Arial"/>
                <a:ea typeface="Arial"/>
                <a:cs typeface="Arial"/>
                <a:sym typeface="Arial"/>
              </a:endParaRPr>
            </a:p>
          </p:txBody>
        </p:sp>
        <p:sp>
          <p:nvSpPr>
            <p:cNvPr id="4548" name="Google Shape;4548;p65"/>
            <p:cNvSpPr txBox="1"/>
            <p:nvPr/>
          </p:nvSpPr>
          <p:spPr>
            <a:xfrm>
              <a:off x="1430" y="1478"/>
              <a:ext cx="215" cy="2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4</a:t>
              </a:r>
              <a:endParaRPr sz="2400">
                <a:solidFill>
                  <a:srgbClr val="000000"/>
                </a:solidFill>
                <a:latin typeface="Arial"/>
                <a:ea typeface="Arial"/>
                <a:cs typeface="Arial"/>
                <a:sym typeface="Arial"/>
              </a:endParaRPr>
            </a:p>
          </p:txBody>
        </p:sp>
        <p:grpSp>
          <p:nvGrpSpPr>
            <p:cNvPr id="4549" name="Google Shape;4549;p65"/>
            <p:cNvGrpSpPr/>
            <p:nvPr/>
          </p:nvGrpSpPr>
          <p:grpSpPr>
            <a:xfrm>
              <a:off x="1299" y="2848"/>
              <a:ext cx="316" cy="264"/>
              <a:chOff x="1613" y="2011"/>
              <a:chExt cx="316" cy="264"/>
            </a:xfrm>
          </p:grpSpPr>
          <p:sp>
            <p:nvSpPr>
              <p:cNvPr id="4550" name="Google Shape;4550;p65"/>
              <p:cNvSpPr/>
              <p:nvPr/>
            </p:nvSpPr>
            <p:spPr>
              <a:xfrm>
                <a:off x="1616" y="2138"/>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551" name="Google Shape;4551;p65"/>
              <p:cNvCxnSpPr/>
              <p:nvPr/>
            </p:nvCxnSpPr>
            <p:spPr>
              <a:xfrm>
                <a:off x="1616" y="2131"/>
                <a:ext cx="0" cy="50"/>
              </a:xfrm>
              <a:prstGeom prst="straightConnector1">
                <a:avLst/>
              </a:prstGeom>
              <a:noFill/>
              <a:ln cap="flat" cmpd="sng" w="12700">
                <a:solidFill>
                  <a:srgbClr val="000000"/>
                </a:solidFill>
                <a:prstDash val="solid"/>
                <a:round/>
                <a:headEnd len="med" w="med" type="none"/>
                <a:tailEnd len="med" w="med" type="none"/>
              </a:ln>
            </p:spPr>
          </p:cxnSp>
          <p:cxnSp>
            <p:nvCxnSpPr>
              <p:cNvPr id="4552" name="Google Shape;4552;p65"/>
              <p:cNvCxnSpPr/>
              <p:nvPr/>
            </p:nvCxnSpPr>
            <p:spPr>
              <a:xfrm>
                <a:off x="1929" y="2131"/>
                <a:ext cx="0" cy="50"/>
              </a:xfrm>
              <a:prstGeom prst="straightConnector1">
                <a:avLst/>
              </a:prstGeom>
              <a:noFill/>
              <a:ln cap="flat" cmpd="sng" w="12700">
                <a:solidFill>
                  <a:srgbClr val="000000"/>
                </a:solidFill>
                <a:prstDash val="solid"/>
                <a:round/>
                <a:headEnd len="med" w="med" type="none"/>
                <a:tailEnd len="med" w="med" type="none"/>
              </a:ln>
            </p:spPr>
          </p:cxnSp>
          <p:sp>
            <p:nvSpPr>
              <p:cNvPr id="4553" name="Google Shape;4553;p65"/>
              <p:cNvSpPr/>
              <p:nvPr/>
            </p:nvSpPr>
            <p:spPr>
              <a:xfrm>
                <a:off x="1616" y="2131"/>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554" name="Google Shape;4554;p65"/>
              <p:cNvSpPr/>
              <p:nvPr/>
            </p:nvSpPr>
            <p:spPr>
              <a:xfrm>
                <a:off x="1613" y="2072"/>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55" name="Google Shape;4555;p65"/>
              <p:cNvSpPr/>
              <p:nvPr/>
            </p:nvSpPr>
            <p:spPr>
              <a:xfrm>
                <a:off x="1687" y="2100"/>
                <a:ext cx="141" cy="105"/>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56" name="Google Shape;4556;p65"/>
              <p:cNvSpPr txBox="1"/>
              <p:nvPr/>
            </p:nvSpPr>
            <p:spPr>
              <a:xfrm>
                <a:off x="1652" y="2011"/>
                <a:ext cx="215"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v</a:t>
                </a:r>
                <a:endParaRPr sz="2400">
                  <a:solidFill>
                    <a:srgbClr val="000000"/>
                  </a:solidFill>
                  <a:latin typeface="Arial"/>
                  <a:ea typeface="Arial"/>
                  <a:cs typeface="Arial"/>
                  <a:sym typeface="Arial"/>
                </a:endParaRPr>
              </a:p>
            </p:txBody>
          </p:sp>
        </p:grpSp>
        <p:grpSp>
          <p:nvGrpSpPr>
            <p:cNvPr id="4557" name="Google Shape;4557;p65"/>
            <p:cNvGrpSpPr/>
            <p:nvPr/>
          </p:nvGrpSpPr>
          <p:grpSpPr>
            <a:xfrm>
              <a:off x="1293" y="856"/>
              <a:ext cx="318" cy="266"/>
              <a:chOff x="1611" y="2011"/>
              <a:chExt cx="318" cy="266"/>
            </a:xfrm>
          </p:grpSpPr>
          <p:sp>
            <p:nvSpPr>
              <p:cNvPr id="4558" name="Google Shape;4558;p65"/>
              <p:cNvSpPr/>
              <p:nvPr/>
            </p:nvSpPr>
            <p:spPr>
              <a:xfrm>
                <a:off x="1616" y="2138"/>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559" name="Google Shape;4559;p65"/>
              <p:cNvCxnSpPr/>
              <p:nvPr/>
            </p:nvCxnSpPr>
            <p:spPr>
              <a:xfrm>
                <a:off x="1616" y="2131"/>
                <a:ext cx="0" cy="50"/>
              </a:xfrm>
              <a:prstGeom prst="straightConnector1">
                <a:avLst/>
              </a:prstGeom>
              <a:noFill/>
              <a:ln cap="flat" cmpd="sng" w="12700">
                <a:solidFill>
                  <a:srgbClr val="000000"/>
                </a:solidFill>
                <a:prstDash val="solid"/>
                <a:round/>
                <a:headEnd len="med" w="med" type="none"/>
                <a:tailEnd len="med" w="med" type="none"/>
              </a:ln>
            </p:spPr>
          </p:cxnSp>
          <p:cxnSp>
            <p:nvCxnSpPr>
              <p:cNvPr id="4560" name="Google Shape;4560;p65"/>
              <p:cNvCxnSpPr/>
              <p:nvPr/>
            </p:nvCxnSpPr>
            <p:spPr>
              <a:xfrm>
                <a:off x="1929" y="2131"/>
                <a:ext cx="0" cy="50"/>
              </a:xfrm>
              <a:prstGeom prst="straightConnector1">
                <a:avLst/>
              </a:prstGeom>
              <a:noFill/>
              <a:ln cap="flat" cmpd="sng" w="12700">
                <a:solidFill>
                  <a:srgbClr val="000000"/>
                </a:solidFill>
                <a:prstDash val="solid"/>
                <a:round/>
                <a:headEnd len="med" w="med" type="none"/>
                <a:tailEnd len="med" w="med" type="none"/>
              </a:ln>
            </p:spPr>
          </p:cxnSp>
          <p:sp>
            <p:nvSpPr>
              <p:cNvPr id="4561" name="Google Shape;4561;p65"/>
              <p:cNvSpPr/>
              <p:nvPr/>
            </p:nvSpPr>
            <p:spPr>
              <a:xfrm>
                <a:off x="1616" y="2131"/>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562" name="Google Shape;4562;p65"/>
              <p:cNvSpPr/>
              <p:nvPr/>
            </p:nvSpPr>
            <p:spPr>
              <a:xfrm>
                <a:off x="1611" y="2072"/>
                <a:ext cx="313" cy="97"/>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63" name="Google Shape;4563;p65"/>
              <p:cNvSpPr/>
              <p:nvPr/>
            </p:nvSpPr>
            <p:spPr>
              <a:xfrm>
                <a:off x="1687" y="2100"/>
                <a:ext cx="141" cy="103"/>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64" name="Google Shape;4564;p65"/>
              <p:cNvSpPr txBox="1"/>
              <p:nvPr/>
            </p:nvSpPr>
            <p:spPr>
              <a:xfrm>
                <a:off x="1652" y="2011"/>
                <a:ext cx="215" cy="2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x</a:t>
                </a:r>
                <a:endParaRPr sz="2400">
                  <a:solidFill>
                    <a:srgbClr val="000000"/>
                  </a:solidFill>
                  <a:latin typeface="Arial"/>
                  <a:ea typeface="Arial"/>
                  <a:cs typeface="Arial"/>
                  <a:sym typeface="Arial"/>
                </a:endParaRPr>
              </a:p>
            </p:txBody>
          </p:sp>
        </p:grpSp>
        <p:grpSp>
          <p:nvGrpSpPr>
            <p:cNvPr id="4565" name="Google Shape;4565;p65"/>
            <p:cNvGrpSpPr/>
            <p:nvPr/>
          </p:nvGrpSpPr>
          <p:grpSpPr>
            <a:xfrm>
              <a:off x="415" y="2028"/>
              <a:ext cx="318" cy="267"/>
              <a:chOff x="1613" y="2011"/>
              <a:chExt cx="318" cy="267"/>
            </a:xfrm>
          </p:grpSpPr>
          <p:sp>
            <p:nvSpPr>
              <p:cNvPr id="4566" name="Google Shape;4566;p65"/>
              <p:cNvSpPr/>
              <p:nvPr/>
            </p:nvSpPr>
            <p:spPr>
              <a:xfrm>
                <a:off x="1616" y="2138"/>
                <a:ext cx="313" cy="82"/>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567" name="Google Shape;4567;p65"/>
              <p:cNvCxnSpPr/>
              <p:nvPr/>
            </p:nvCxnSpPr>
            <p:spPr>
              <a:xfrm>
                <a:off x="1616" y="2131"/>
                <a:ext cx="0" cy="50"/>
              </a:xfrm>
              <a:prstGeom prst="straightConnector1">
                <a:avLst/>
              </a:prstGeom>
              <a:noFill/>
              <a:ln cap="flat" cmpd="sng" w="12700">
                <a:solidFill>
                  <a:srgbClr val="000000"/>
                </a:solidFill>
                <a:prstDash val="solid"/>
                <a:round/>
                <a:headEnd len="med" w="med" type="none"/>
                <a:tailEnd len="med" w="med" type="none"/>
              </a:ln>
            </p:spPr>
          </p:cxnSp>
          <p:cxnSp>
            <p:nvCxnSpPr>
              <p:cNvPr id="4568" name="Google Shape;4568;p65"/>
              <p:cNvCxnSpPr/>
              <p:nvPr/>
            </p:nvCxnSpPr>
            <p:spPr>
              <a:xfrm>
                <a:off x="1931" y="2131"/>
                <a:ext cx="0" cy="50"/>
              </a:xfrm>
              <a:prstGeom prst="straightConnector1">
                <a:avLst/>
              </a:prstGeom>
              <a:noFill/>
              <a:ln cap="flat" cmpd="sng" w="12700">
                <a:solidFill>
                  <a:srgbClr val="000000"/>
                </a:solidFill>
                <a:prstDash val="solid"/>
                <a:round/>
                <a:headEnd len="med" w="med" type="none"/>
                <a:tailEnd len="med" w="med" type="none"/>
              </a:ln>
            </p:spPr>
          </p:cxnSp>
          <p:sp>
            <p:nvSpPr>
              <p:cNvPr id="4569" name="Google Shape;4569;p65"/>
              <p:cNvSpPr/>
              <p:nvPr/>
            </p:nvSpPr>
            <p:spPr>
              <a:xfrm>
                <a:off x="1616" y="2131"/>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570" name="Google Shape;4570;p65"/>
              <p:cNvSpPr/>
              <p:nvPr/>
            </p:nvSpPr>
            <p:spPr>
              <a:xfrm>
                <a:off x="1613" y="2072"/>
                <a:ext cx="313" cy="97"/>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71" name="Google Shape;4571;p65"/>
              <p:cNvSpPr/>
              <p:nvPr/>
            </p:nvSpPr>
            <p:spPr>
              <a:xfrm>
                <a:off x="1687" y="2102"/>
                <a:ext cx="141" cy="103"/>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72" name="Google Shape;4572;p65"/>
              <p:cNvSpPr txBox="1"/>
              <p:nvPr/>
            </p:nvSpPr>
            <p:spPr>
              <a:xfrm>
                <a:off x="1648" y="2011"/>
                <a:ext cx="226" cy="26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u</a:t>
                </a:r>
                <a:endParaRPr sz="2400">
                  <a:solidFill>
                    <a:srgbClr val="000000"/>
                  </a:solidFill>
                  <a:latin typeface="Arial"/>
                  <a:ea typeface="Arial"/>
                  <a:cs typeface="Arial"/>
                  <a:sym typeface="Arial"/>
                </a:endParaRPr>
              </a:p>
            </p:txBody>
          </p:sp>
        </p:grpSp>
        <p:cxnSp>
          <p:nvCxnSpPr>
            <p:cNvPr id="4573" name="Google Shape;4573;p65"/>
            <p:cNvCxnSpPr/>
            <p:nvPr/>
          </p:nvCxnSpPr>
          <p:spPr>
            <a:xfrm>
              <a:off x="738" y="2156"/>
              <a:ext cx="632" cy="0"/>
            </a:xfrm>
            <a:prstGeom prst="straightConnector1">
              <a:avLst/>
            </a:prstGeom>
            <a:noFill/>
            <a:ln cap="flat" cmpd="sng" w="9525">
              <a:solidFill>
                <a:srgbClr val="000000"/>
              </a:solidFill>
              <a:prstDash val="solid"/>
              <a:round/>
              <a:headEnd len="med" w="med" type="none"/>
              <a:tailEnd len="med" w="med" type="none"/>
            </a:ln>
          </p:spPr>
        </p:cxnSp>
        <p:cxnSp>
          <p:nvCxnSpPr>
            <p:cNvPr id="4574" name="Google Shape;4574;p65"/>
            <p:cNvCxnSpPr/>
            <p:nvPr/>
          </p:nvCxnSpPr>
          <p:spPr>
            <a:xfrm>
              <a:off x="1440" y="1082"/>
              <a:ext cx="0" cy="962"/>
            </a:xfrm>
            <a:prstGeom prst="straightConnector1">
              <a:avLst/>
            </a:prstGeom>
            <a:noFill/>
            <a:ln cap="flat" cmpd="sng" w="9525">
              <a:solidFill>
                <a:srgbClr val="000000"/>
              </a:solidFill>
              <a:prstDash val="solid"/>
              <a:round/>
              <a:headEnd len="med" w="med" type="none"/>
              <a:tailEnd len="med" w="med" type="none"/>
            </a:ln>
          </p:spPr>
        </p:cxnSp>
        <p:cxnSp>
          <p:nvCxnSpPr>
            <p:cNvPr id="4575" name="Google Shape;4575;p65"/>
            <p:cNvCxnSpPr/>
            <p:nvPr/>
          </p:nvCxnSpPr>
          <p:spPr>
            <a:xfrm flipH="1">
              <a:off x="614" y="1021"/>
              <a:ext cx="674" cy="1080"/>
            </a:xfrm>
            <a:prstGeom prst="straightConnector1">
              <a:avLst/>
            </a:prstGeom>
            <a:noFill/>
            <a:ln cap="flat" cmpd="sng" w="9525">
              <a:solidFill>
                <a:srgbClr val="000000"/>
              </a:solidFill>
              <a:prstDash val="solid"/>
              <a:round/>
              <a:headEnd len="med" w="med" type="none"/>
              <a:tailEnd len="med" w="med" type="none"/>
            </a:ln>
          </p:spPr>
        </p:cxnSp>
        <p:sp>
          <p:nvSpPr>
            <p:cNvPr id="4576" name="Google Shape;4576;p65"/>
            <p:cNvSpPr txBox="1"/>
            <p:nvPr/>
          </p:nvSpPr>
          <p:spPr>
            <a:xfrm>
              <a:off x="772" y="1368"/>
              <a:ext cx="215" cy="2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5</a:t>
              </a:r>
              <a:endParaRPr sz="2400">
                <a:solidFill>
                  <a:srgbClr val="000000"/>
                </a:solidFill>
                <a:latin typeface="Arial"/>
                <a:ea typeface="Arial"/>
                <a:cs typeface="Arial"/>
                <a:sym typeface="Arial"/>
              </a:endParaRPr>
            </a:p>
          </p:txBody>
        </p:sp>
        <p:cxnSp>
          <p:nvCxnSpPr>
            <p:cNvPr id="4577" name="Google Shape;4577;p65"/>
            <p:cNvCxnSpPr/>
            <p:nvPr/>
          </p:nvCxnSpPr>
          <p:spPr>
            <a:xfrm>
              <a:off x="1447" y="2206"/>
              <a:ext cx="9" cy="710"/>
            </a:xfrm>
            <a:prstGeom prst="straightConnector1">
              <a:avLst/>
            </a:prstGeom>
            <a:noFill/>
            <a:ln cap="flat" cmpd="sng" w="9525">
              <a:solidFill>
                <a:srgbClr val="000000"/>
              </a:solidFill>
              <a:prstDash val="solid"/>
              <a:round/>
              <a:headEnd len="med" w="med" type="none"/>
              <a:tailEnd len="med" w="med" type="none"/>
            </a:ln>
          </p:spPr>
        </p:cxnSp>
        <p:sp>
          <p:nvSpPr>
            <p:cNvPr id="4578" name="Google Shape;4578;p65"/>
            <p:cNvSpPr txBox="1"/>
            <p:nvPr/>
          </p:nvSpPr>
          <p:spPr>
            <a:xfrm>
              <a:off x="1454" y="2407"/>
              <a:ext cx="215" cy="2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3</a:t>
              </a:r>
              <a:endParaRPr sz="2400">
                <a:solidFill>
                  <a:srgbClr val="000000"/>
                </a:solidFill>
                <a:latin typeface="Arial"/>
                <a:ea typeface="Arial"/>
                <a:cs typeface="Arial"/>
                <a:sym typeface="Arial"/>
              </a:endParaRPr>
            </a:p>
          </p:txBody>
        </p:sp>
        <p:sp>
          <p:nvSpPr>
            <p:cNvPr id="4579" name="Google Shape;4579;p65"/>
            <p:cNvSpPr/>
            <p:nvPr/>
          </p:nvSpPr>
          <p:spPr>
            <a:xfrm>
              <a:off x="601" y="2227"/>
              <a:ext cx="860" cy="799"/>
            </a:xfrm>
            <a:custGeom>
              <a:rect b="b" l="l" r="r" t="t"/>
              <a:pathLst>
                <a:path extrusionOk="0" h="10136" w="10032">
                  <a:moveTo>
                    <a:pt x="32" y="0"/>
                  </a:moveTo>
                  <a:cubicBezTo>
                    <a:pt x="62" y="4573"/>
                    <a:pt x="-465" y="5047"/>
                    <a:pt x="1834" y="7734"/>
                  </a:cubicBezTo>
                  <a:cubicBezTo>
                    <a:pt x="4132" y="9414"/>
                    <a:pt x="9320" y="10802"/>
                    <a:pt x="10032" y="9798"/>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80" name="Google Shape;4580;p65"/>
            <p:cNvSpPr txBox="1"/>
            <p:nvPr/>
          </p:nvSpPr>
          <p:spPr>
            <a:xfrm>
              <a:off x="768" y="2582"/>
              <a:ext cx="216" cy="2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7</a:t>
              </a:r>
              <a:endParaRPr sz="2400">
                <a:solidFill>
                  <a:srgbClr val="000000"/>
                </a:solidFill>
                <a:latin typeface="Arial"/>
                <a:ea typeface="Arial"/>
                <a:cs typeface="Arial"/>
                <a:sym typeface="Arial"/>
              </a:endParaRPr>
            </a:p>
          </p:txBody>
        </p:sp>
        <p:cxnSp>
          <p:nvCxnSpPr>
            <p:cNvPr id="4581" name="Google Shape;4581;p65"/>
            <p:cNvCxnSpPr/>
            <p:nvPr/>
          </p:nvCxnSpPr>
          <p:spPr>
            <a:xfrm flipH="1">
              <a:off x="1450" y="2158"/>
              <a:ext cx="998" cy="823"/>
            </a:xfrm>
            <a:prstGeom prst="straightConnector1">
              <a:avLst/>
            </a:prstGeom>
            <a:noFill/>
            <a:ln cap="flat" cmpd="sng" w="9525">
              <a:solidFill>
                <a:srgbClr val="000000"/>
              </a:solidFill>
              <a:prstDash val="solid"/>
              <a:round/>
              <a:headEnd len="med" w="med" type="none"/>
              <a:tailEnd len="med" w="med" type="none"/>
            </a:ln>
          </p:spPr>
        </p:cxnSp>
        <p:sp>
          <p:nvSpPr>
            <p:cNvPr id="4582" name="Google Shape;4582;p65"/>
            <p:cNvSpPr txBox="1"/>
            <p:nvPr/>
          </p:nvSpPr>
          <p:spPr>
            <a:xfrm>
              <a:off x="1896" y="2569"/>
              <a:ext cx="216" cy="2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4</a:t>
              </a:r>
              <a:endParaRPr sz="2400">
                <a:solidFill>
                  <a:srgbClr val="000000"/>
                </a:solidFill>
                <a:latin typeface="Arial"/>
                <a:ea typeface="Arial"/>
                <a:cs typeface="Arial"/>
                <a:sym typeface="Arial"/>
              </a:endParaRPr>
            </a:p>
          </p:txBody>
        </p:sp>
        <p:sp>
          <p:nvSpPr>
            <p:cNvPr id="4583" name="Google Shape;4583;p65"/>
            <p:cNvSpPr/>
            <p:nvPr/>
          </p:nvSpPr>
          <p:spPr>
            <a:xfrm>
              <a:off x="1477" y="1946"/>
              <a:ext cx="991" cy="484"/>
            </a:xfrm>
            <a:custGeom>
              <a:rect b="b" l="l" r="r" t="t"/>
              <a:pathLst>
                <a:path extrusionOk="0" h="484" w="991">
                  <a:moveTo>
                    <a:pt x="0" y="168"/>
                  </a:moveTo>
                  <a:cubicBezTo>
                    <a:pt x="0" y="168"/>
                    <a:pt x="145" y="484"/>
                    <a:pt x="204" y="484"/>
                  </a:cubicBezTo>
                  <a:cubicBezTo>
                    <a:pt x="263" y="484"/>
                    <a:pt x="253" y="6"/>
                    <a:pt x="302" y="7"/>
                  </a:cubicBezTo>
                  <a:cubicBezTo>
                    <a:pt x="331" y="0"/>
                    <a:pt x="313" y="444"/>
                    <a:pt x="379" y="442"/>
                  </a:cubicBezTo>
                  <a:cubicBezTo>
                    <a:pt x="418" y="444"/>
                    <a:pt x="475" y="24"/>
                    <a:pt x="534" y="21"/>
                  </a:cubicBezTo>
                  <a:cubicBezTo>
                    <a:pt x="573" y="6"/>
                    <a:pt x="575" y="360"/>
                    <a:pt x="611" y="351"/>
                  </a:cubicBezTo>
                  <a:cubicBezTo>
                    <a:pt x="647" y="342"/>
                    <a:pt x="577" y="80"/>
                    <a:pt x="660" y="77"/>
                  </a:cubicBezTo>
                  <a:cubicBezTo>
                    <a:pt x="743" y="74"/>
                    <a:pt x="922" y="189"/>
                    <a:pt x="991" y="218"/>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584" name="Google Shape;4584;p65"/>
            <p:cNvGrpSpPr/>
            <p:nvPr/>
          </p:nvGrpSpPr>
          <p:grpSpPr>
            <a:xfrm>
              <a:off x="2332" y="2021"/>
              <a:ext cx="316" cy="266"/>
              <a:chOff x="1613" y="2011"/>
              <a:chExt cx="316" cy="266"/>
            </a:xfrm>
          </p:grpSpPr>
          <p:sp>
            <p:nvSpPr>
              <p:cNvPr id="4585" name="Google Shape;4585;p65"/>
              <p:cNvSpPr/>
              <p:nvPr/>
            </p:nvSpPr>
            <p:spPr>
              <a:xfrm>
                <a:off x="1616" y="2136"/>
                <a:ext cx="313" cy="82"/>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586" name="Google Shape;4586;p65"/>
              <p:cNvCxnSpPr/>
              <p:nvPr/>
            </p:nvCxnSpPr>
            <p:spPr>
              <a:xfrm>
                <a:off x="1616" y="2131"/>
                <a:ext cx="0" cy="50"/>
              </a:xfrm>
              <a:prstGeom prst="straightConnector1">
                <a:avLst/>
              </a:prstGeom>
              <a:noFill/>
              <a:ln cap="flat" cmpd="sng" w="12700">
                <a:solidFill>
                  <a:srgbClr val="000000"/>
                </a:solidFill>
                <a:prstDash val="solid"/>
                <a:round/>
                <a:headEnd len="med" w="med" type="none"/>
                <a:tailEnd len="med" w="med" type="none"/>
              </a:ln>
            </p:spPr>
          </p:cxnSp>
          <p:cxnSp>
            <p:nvCxnSpPr>
              <p:cNvPr id="4587" name="Google Shape;4587;p65"/>
              <p:cNvCxnSpPr/>
              <p:nvPr/>
            </p:nvCxnSpPr>
            <p:spPr>
              <a:xfrm>
                <a:off x="1929" y="2131"/>
                <a:ext cx="0" cy="50"/>
              </a:xfrm>
              <a:prstGeom prst="straightConnector1">
                <a:avLst/>
              </a:prstGeom>
              <a:noFill/>
              <a:ln cap="flat" cmpd="sng" w="12700">
                <a:solidFill>
                  <a:srgbClr val="000000"/>
                </a:solidFill>
                <a:prstDash val="solid"/>
                <a:round/>
                <a:headEnd len="med" w="med" type="none"/>
                <a:tailEnd len="med" w="med" type="none"/>
              </a:ln>
            </p:spPr>
          </p:cxnSp>
          <p:sp>
            <p:nvSpPr>
              <p:cNvPr id="4588" name="Google Shape;4588;p65"/>
              <p:cNvSpPr/>
              <p:nvPr/>
            </p:nvSpPr>
            <p:spPr>
              <a:xfrm>
                <a:off x="1616" y="2131"/>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589" name="Google Shape;4589;p65"/>
              <p:cNvSpPr/>
              <p:nvPr/>
            </p:nvSpPr>
            <p:spPr>
              <a:xfrm>
                <a:off x="1613" y="2070"/>
                <a:ext cx="313" cy="97"/>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90" name="Google Shape;4590;p65"/>
              <p:cNvSpPr/>
              <p:nvPr/>
            </p:nvSpPr>
            <p:spPr>
              <a:xfrm>
                <a:off x="1687" y="2100"/>
                <a:ext cx="141" cy="103"/>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91" name="Google Shape;4591;p65"/>
              <p:cNvSpPr txBox="1"/>
              <p:nvPr/>
            </p:nvSpPr>
            <p:spPr>
              <a:xfrm>
                <a:off x="1652" y="2011"/>
                <a:ext cx="215" cy="2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y</a:t>
                </a:r>
                <a:endParaRPr sz="2400">
                  <a:solidFill>
                    <a:srgbClr val="000000"/>
                  </a:solidFill>
                  <a:latin typeface="Arial"/>
                  <a:ea typeface="Arial"/>
                  <a:cs typeface="Arial"/>
                  <a:sym typeface="Arial"/>
                </a:endParaRPr>
              </a:p>
            </p:txBody>
          </p:sp>
        </p:grpSp>
        <p:sp>
          <p:nvSpPr>
            <p:cNvPr id="4592" name="Google Shape;4592;p65"/>
            <p:cNvSpPr txBox="1"/>
            <p:nvPr/>
          </p:nvSpPr>
          <p:spPr>
            <a:xfrm>
              <a:off x="1814" y="1721"/>
              <a:ext cx="216" cy="2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8</a:t>
              </a:r>
              <a:endParaRPr sz="2400">
                <a:solidFill>
                  <a:srgbClr val="000000"/>
                </a:solidFill>
                <a:latin typeface="Arial"/>
                <a:ea typeface="Arial"/>
                <a:cs typeface="Arial"/>
                <a:sym typeface="Arial"/>
              </a:endParaRPr>
            </a:p>
          </p:txBody>
        </p:sp>
        <p:grpSp>
          <p:nvGrpSpPr>
            <p:cNvPr id="4593" name="Google Shape;4593;p65"/>
            <p:cNvGrpSpPr/>
            <p:nvPr/>
          </p:nvGrpSpPr>
          <p:grpSpPr>
            <a:xfrm>
              <a:off x="3007" y="2002"/>
              <a:ext cx="318" cy="264"/>
              <a:chOff x="1611" y="2011"/>
              <a:chExt cx="318" cy="264"/>
            </a:xfrm>
          </p:grpSpPr>
          <p:sp>
            <p:nvSpPr>
              <p:cNvPr id="4594" name="Google Shape;4594;p65"/>
              <p:cNvSpPr/>
              <p:nvPr/>
            </p:nvSpPr>
            <p:spPr>
              <a:xfrm>
                <a:off x="1616" y="2138"/>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595" name="Google Shape;4595;p65"/>
              <p:cNvCxnSpPr/>
              <p:nvPr/>
            </p:nvCxnSpPr>
            <p:spPr>
              <a:xfrm>
                <a:off x="1616" y="2131"/>
                <a:ext cx="0" cy="50"/>
              </a:xfrm>
              <a:prstGeom prst="straightConnector1">
                <a:avLst/>
              </a:prstGeom>
              <a:noFill/>
              <a:ln cap="flat" cmpd="sng" w="12700">
                <a:solidFill>
                  <a:srgbClr val="000000"/>
                </a:solidFill>
                <a:prstDash val="solid"/>
                <a:round/>
                <a:headEnd len="med" w="med" type="none"/>
                <a:tailEnd len="med" w="med" type="none"/>
              </a:ln>
            </p:spPr>
          </p:cxnSp>
          <p:cxnSp>
            <p:nvCxnSpPr>
              <p:cNvPr id="4596" name="Google Shape;4596;p65"/>
              <p:cNvCxnSpPr/>
              <p:nvPr/>
            </p:nvCxnSpPr>
            <p:spPr>
              <a:xfrm>
                <a:off x="1929" y="2131"/>
                <a:ext cx="0" cy="50"/>
              </a:xfrm>
              <a:prstGeom prst="straightConnector1">
                <a:avLst/>
              </a:prstGeom>
              <a:noFill/>
              <a:ln cap="flat" cmpd="sng" w="12700">
                <a:solidFill>
                  <a:srgbClr val="000000"/>
                </a:solidFill>
                <a:prstDash val="solid"/>
                <a:round/>
                <a:headEnd len="med" w="med" type="none"/>
                <a:tailEnd len="med" w="med" type="none"/>
              </a:ln>
            </p:spPr>
          </p:cxnSp>
          <p:sp>
            <p:nvSpPr>
              <p:cNvPr id="4597" name="Google Shape;4597;p65"/>
              <p:cNvSpPr/>
              <p:nvPr/>
            </p:nvSpPr>
            <p:spPr>
              <a:xfrm>
                <a:off x="1616" y="2131"/>
                <a:ext cx="310" cy="4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598" name="Google Shape;4598;p65"/>
              <p:cNvSpPr/>
              <p:nvPr/>
            </p:nvSpPr>
            <p:spPr>
              <a:xfrm>
                <a:off x="1611" y="2072"/>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99" name="Google Shape;4599;p65"/>
              <p:cNvSpPr/>
              <p:nvPr/>
            </p:nvSpPr>
            <p:spPr>
              <a:xfrm>
                <a:off x="1687" y="2100"/>
                <a:ext cx="141" cy="105"/>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00" name="Google Shape;4600;p65"/>
              <p:cNvSpPr txBox="1"/>
              <p:nvPr/>
            </p:nvSpPr>
            <p:spPr>
              <a:xfrm>
                <a:off x="1653" y="2011"/>
                <a:ext cx="215"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z</a:t>
                </a:r>
                <a:endParaRPr sz="2400">
                  <a:solidFill>
                    <a:srgbClr val="000000"/>
                  </a:solidFill>
                  <a:latin typeface="Arial"/>
                  <a:ea typeface="Arial"/>
                  <a:cs typeface="Arial"/>
                  <a:sym typeface="Arial"/>
                </a:endParaRPr>
              </a:p>
            </p:txBody>
          </p:sp>
        </p:grpSp>
        <p:cxnSp>
          <p:nvCxnSpPr>
            <p:cNvPr id="4601" name="Google Shape;4601;p65"/>
            <p:cNvCxnSpPr/>
            <p:nvPr/>
          </p:nvCxnSpPr>
          <p:spPr>
            <a:xfrm>
              <a:off x="2640" y="2149"/>
              <a:ext cx="352" cy="0"/>
            </a:xfrm>
            <a:prstGeom prst="straightConnector1">
              <a:avLst/>
            </a:prstGeom>
            <a:noFill/>
            <a:ln cap="flat" cmpd="sng" w="9525">
              <a:solidFill>
                <a:srgbClr val="000000"/>
              </a:solidFill>
              <a:prstDash val="solid"/>
              <a:round/>
              <a:headEnd len="med" w="med" type="none"/>
              <a:tailEnd len="med" w="med" type="none"/>
            </a:ln>
          </p:spPr>
        </p:cxnSp>
        <p:sp>
          <p:nvSpPr>
            <p:cNvPr id="4602" name="Google Shape;4602;p65"/>
            <p:cNvSpPr txBox="1"/>
            <p:nvPr/>
          </p:nvSpPr>
          <p:spPr>
            <a:xfrm>
              <a:off x="2706" y="2149"/>
              <a:ext cx="215" cy="2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cxnSp>
          <p:nvCxnSpPr>
            <p:cNvPr id="4603" name="Google Shape;4603;p65"/>
            <p:cNvCxnSpPr/>
            <p:nvPr/>
          </p:nvCxnSpPr>
          <p:spPr>
            <a:xfrm>
              <a:off x="1503" y="990"/>
              <a:ext cx="965" cy="1138"/>
            </a:xfrm>
            <a:prstGeom prst="straightConnector1">
              <a:avLst/>
            </a:prstGeom>
            <a:noFill/>
            <a:ln cap="flat" cmpd="sng" w="9525">
              <a:solidFill>
                <a:srgbClr val="000000"/>
              </a:solidFill>
              <a:prstDash val="solid"/>
              <a:round/>
              <a:headEnd len="med" w="med" type="none"/>
              <a:tailEnd len="med" w="med" type="none"/>
            </a:ln>
          </p:spPr>
        </p:cxnSp>
        <p:sp>
          <p:nvSpPr>
            <p:cNvPr id="4604" name="Google Shape;4604;p65"/>
            <p:cNvSpPr txBox="1"/>
            <p:nvPr/>
          </p:nvSpPr>
          <p:spPr>
            <a:xfrm>
              <a:off x="1919" y="1343"/>
              <a:ext cx="216" cy="2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7</a:t>
              </a:r>
              <a:endParaRPr sz="2400">
                <a:solidFill>
                  <a:srgbClr val="000000"/>
                </a:solidFill>
                <a:latin typeface="Arial"/>
                <a:ea typeface="Arial"/>
                <a:cs typeface="Arial"/>
                <a:sym typeface="Arial"/>
              </a:endParaRPr>
            </a:p>
          </p:txBody>
        </p:sp>
        <p:sp>
          <p:nvSpPr>
            <p:cNvPr id="4605" name="Google Shape;4605;p65"/>
            <p:cNvSpPr/>
            <p:nvPr/>
          </p:nvSpPr>
          <p:spPr>
            <a:xfrm>
              <a:off x="1489" y="976"/>
              <a:ext cx="28" cy="14"/>
            </a:xfrm>
            <a:custGeom>
              <a:rect b="b" l="l" r="r" t="t"/>
              <a:pathLst>
                <a:path extrusionOk="0" h="14" w="28">
                  <a:moveTo>
                    <a:pt x="0" y="14"/>
                  </a:moveTo>
                  <a:cubicBezTo>
                    <a:pt x="9" y="9"/>
                    <a:pt x="28" y="0"/>
                    <a:pt x="28" y="0"/>
                  </a:cubicBezTo>
                  <a:cubicBezTo>
                    <a:pt x="28" y="0"/>
                    <a:pt x="9" y="9"/>
                    <a:pt x="0" y="14"/>
                  </a:cubicBezTo>
                  <a:close/>
                </a:path>
              </a:pathLst>
            </a:custGeom>
            <a:solidFill>
              <a:srgbClr val="00CC99"/>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06" name="Google Shape;4606;p65"/>
            <p:cNvSpPr/>
            <p:nvPr/>
          </p:nvSpPr>
          <p:spPr>
            <a:xfrm>
              <a:off x="1623" y="999"/>
              <a:ext cx="1510" cy="1052"/>
            </a:xfrm>
            <a:custGeom>
              <a:rect b="b" l="l" r="r" t="t"/>
              <a:pathLst>
                <a:path extrusionOk="0" h="1052" w="1510">
                  <a:moveTo>
                    <a:pt x="0" y="5"/>
                  </a:moveTo>
                  <a:cubicBezTo>
                    <a:pt x="184" y="33"/>
                    <a:pt x="851" y="0"/>
                    <a:pt x="1102" y="174"/>
                  </a:cubicBezTo>
                  <a:cubicBezTo>
                    <a:pt x="1353" y="348"/>
                    <a:pt x="1425" y="869"/>
                    <a:pt x="1510" y="1052"/>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607" name="Google Shape;4607;p65"/>
            <p:cNvSpPr txBox="1"/>
            <p:nvPr/>
          </p:nvSpPr>
          <p:spPr>
            <a:xfrm>
              <a:off x="2680" y="1008"/>
              <a:ext cx="215" cy="2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9</a:t>
              </a:r>
              <a:endParaRPr sz="2400">
                <a:solidFill>
                  <a:srgbClr val="000000"/>
                </a:solidFill>
                <a:latin typeface="Arial"/>
                <a:ea typeface="Arial"/>
                <a:cs typeface="Arial"/>
                <a:sym typeface="Arial"/>
              </a:endParaRPr>
            </a:p>
          </p:txBody>
        </p:sp>
      </p:grpSp>
      <p:sp>
        <p:nvSpPr>
          <p:cNvPr id="4608" name="Google Shape;4608;p65"/>
          <p:cNvSpPr txBox="1"/>
          <p:nvPr/>
        </p:nvSpPr>
        <p:spPr>
          <a:xfrm>
            <a:off x="593232" y="1792545"/>
            <a:ext cx="817916"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rgbClr val="000000"/>
                </a:solidFill>
                <a:latin typeface="Arial"/>
                <a:ea typeface="Arial"/>
                <a:cs typeface="Arial"/>
                <a:sym typeface="Arial"/>
              </a:rPr>
              <a:t>Step</a:t>
            </a:r>
            <a:endParaRPr/>
          </a:p>
          <a:p>
            <a:pPr indent="0" lvl="0" marL="0" marR="0" rtl="0" algn="r">
              <a:spcBef>
                <a:spcPts val="0"/>
              </a:spcBef>
              <a:spcAft>
                <a:spcPts val="0"/>
              </a:spcAft>
              <a:buNone/>
            </a:pPr>
            <a:r>
              <a:t/>
            </a:r>
            <a:endParaRPr sz="2400">
              <a:solidFill>
                <a:srgbClr val="000000"/>
              </a:solidFill>
              <a:latin typeface="Arial"/>
              <a:ea typeface="Arial"/>
              <a:cs typeface="Arial"/>
              <a:sym typeface="Arial"/>
            </a:endParaRPr>
          </a:p>
        </p:txBody>
      </p:sp>
      <p:sp>
        <p:nvSpPr>
          <p:cNvPr id="4609" name="Google Shape;4609;p65"/>
          <p:cNvSpPr txBox="1"/>
          <p:nvPr/>
        </p:nvSpPr>
        <p:spPr>
          <a:xfrm>
            <a:off x="1661579" y="1793419"/>
            <a:ext cx="466795"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a:solidFill>
                  <a:srgbClr val="000000"/>
                </a:solidFill>
                <a:latin typeface="Arial"/>
                <a:ea typeface="Arial"/>
                <a:cs typeface="Arial"/>
                <a:sym typeface="Arial"/>
              </a:rPr>
              <a:t>N'</a:t>
            </a:r>
            <a:endParaRPr/>
          </a:p>
        </p:txBody>
      </p:sp>
      <p:sp>
        <p:nvSpPr>
          <p:cNvPr id="4610" name="Google Shape;4610;p65"/>
          <p:cNvSpPr txBox="1"/>
          <p:nvPr/>
        </p:nvSpPr>
        <p:spPr>
          <a:xfrm>
            <a:off x="2373738" y="1644712"/>
            <a:ext cx="641522" cy="5355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D(v),</a:t>
            </a:r>
            <a:endParaRPr/>
          </a:p>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p(v)</a:t>
            </a:r>
            <a:endParaRPr/>
          </a:p>
        </p:txBody>
      </p:sp>
      <p:sp>
        <p:nvSpPr>
          <p:cNvPr id="4611" name="Google Shape;4611;p65"/>
          <p:cNvSpPr txBox="1"/>
          <p:nvPr/>
        </p:nvSpPr>
        <p:spPr>
          <a:xfrm>
            <a:off x="785268" y="2280100"/>
            <a:ext cx="327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0</a:t>
            </a:r>
            <a:endParaRPr/>
          </a:p>
        </p:txBody>
      </p:sp>
      <p:sp>
        <p:nvSpPr>
          <p:cNvPr id="4612" name="Google Shape;4612;p65"/>
          <p:cNvSpPr txBox="1"/>
          <p:nvPr/>
        </p:nvSpPr>
        <p:spPr>
          <a:xfrm>
            <a:off x="770326" y="2715388"/>
            <a:ext cx="327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1</a:t>
            </a:r>
            <a:endParaRPr/>
          </a:p>
        </p:txBody>
      </p:sp>
      <p:sp>
        <p:nvSpPr>
          <p:cNvPr id="4613" name="Google Shape;4613;p65"/>
          <p:cNvSpPr txBox="1"/>
          <p:nvPr/>
        </p:nvSpPr>
        <p:spPr>
          <a:xfrm>
            <a:off x="767972" y="3193935"/>
            <a:ext cx="327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2</a:t>
            </a:r>
            <a:endParaRPr/>
          </a:p>
        </p:txBody>
      </p:sp>
      <p:sp>
        <p:nvSpPr>
          <p:cNvPr id="4614" name="Google Shape;4614;p65"/>
          <p:cNvSpPr txBox="1"/>
          <p:nvPr/>
        </p:nvSpPr>
        <p:spPr>
          <a:xfrm>
            <a:off x="765563" y="3622020"/>
            <a:ext cx="327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3</a:t>
            </a:r>
            <a:endParaRPr/>
          </a:p>
        </p:txBody>
      </p:sp>
      <p:sp>
        <p:nvSpPr>
          <p:cNvPr id="4615" name="Google Shape;4615;p65"/>
          <p:cNvSpPr txBox="1"/>
          <p:nvPr/>
        </p:nvSpPr>
        <p:spPr>
          <a:xfrm>
            <a:off x="762130" y="4110058"/>
            <a:ext cx="327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4</a:t>
            </a:r>
            <a:endParaRPr/>
          </a:p>
        </p:txBody>
      </p:sp>
      <p:sp>
        <p:nvSpPr>
          <p:cNvPr id="4616" name="Google Shape;4616;p65"/>
          <p:cNvSpPr txBox="1"/>
          <p:nvPr/>
        </p:nvSpPr>
        <p:spPr>
          <a:xfrm>
            <a:off x="760856" y="4551045"/>
            <a:ext cx="327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5</a:t>
            </a:r>
            <a:endParaRPr/>
          </a:p>
        </p:txBody>
      </p:sp>
      <p:sp>
        <p:nvSpPr>
          <p:cNvPr id="4617" name="Google Shape;4617;p65"/>
          <p:cNvSpPr txBox="1"/>
          <p:nvPr/>
        </p:nvSpPr>
        <p:spPr>
          <a:xfrm>
            <a:off x="3207477" y="1647177"/>
            <a:ext cx="688010" cy="5355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D(w),</a:t>
            </a:r>
            <a:endParaRPr/>
          </a:p>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p(w)</a:t>
            </a:r>
            <a:endParaRPr/>
          </a:p>
        </p:txBody>
      </p:sp>
      <p:sp>
        <p:nvSpPr>
          <p:cNvPr id="4618" name="Google Shape;4618;p65"/>
          <p:cNvSpPr txBox="1"/>
          <p:nvPr/>
        </p:nvSpPr>
        <p:spPr>
          <a:xfrm>
            <a:off x="4098638" y="1647176"/>
            <a:ext cx="641522" cy="5355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D(x),</a:t>
            </a:r>
            <a:endParaRPr/>
          </a:p>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p(x)</a:t>
            </a:r>
            <a:endParaRPr/>
          </a:p>
        </p:txBody>
      </p:sp>
      <p:sp>
        <p:nvSpPr>
          <p:cNvPr id="4619" name="Google Shape;4619;p65"/>
          <p:cNvSpPr txBox="1"/>
          <p:nvPr/>
        </p:nvSpPr>
        <p:spPr>
          <a:xfrm>
            <a:off x="4934206" y="1652652"/>
            <a:ext cx="641522" cy="5355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D(y),</a:t>
            </a:r>
            <a:endParaRPr/>
          </a:p>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p(y)</a:t>
            </a:r>
            <a:endParaRPr/>
          </a:p>
        </p:txBody>
      </p:sp>
      <p:sp>
        <p:nvSpPr>
          <p:cNvPr id="4620" name="Google Shape;4620;p65"/>
          <p:cNvSpPr txBox="1"/>
          <p:nvPr/>
        </p:nvSpPr>
        <p:spPr>
          <a:xfrm>
            <a:off x="5771830" y="1651940"/>
            <a:ext cx="630302" cy="5355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D(z),</a:t>
            </a:r>
            <a:endParaRPr/>
          </a:p>
          <a:p>
            <a:pPr indent="0" lvl="0" marL="0" marR="0" rtl="0" algn="ctr">
              <a:lnSpc>
                <a:spcPct val="90000"/>
              </a:lnSpc>
              <a:spcBef>
                <a:spcPts val="0"/>
              </a:spcBef>
              <a:spcAft>
                <a:spcPts val="0"/>
              </a:spcAft>
              <a:buNone/>
            </a:pPr>
            <a:r>
              <a:rPr i="1" lang="en-US" sz="1600">
                <a:solidFill>
                  <a:srgbClr val="000000"/>
                </a:solidFill>
                <a:latin typeface="Arial"/>
                <a:ea typeface="Arial"/>
                <a:cs typeface="Arial"/>
                <a:sym typeface="Arial"/>
              </a:rPr>
              <a:t>p(z)</a:t>
            </a:r>
            <a:endParaRPr/>
          </a:p>
        </p:txBody>
      </p:sp>
      <p:cxnSp>
        <p:nvCxnSpPr>
          <p:cNvPr id="4621" name="Google Shape;4621;p65"/>
          <p:cNvCxnSpPr/>
          <p:nvPr/>
        </p:nvCxnSpPr>
        <p:spPr>
          <a:xfrm>
            <a:off x="939397" y="2690590"/>
            <a:ext cx="5150117" cy="0"/>
          </a:xfrm>
          <a:prstGeom prst="straightConnector1">
            <a:avLst/>
          </a:prstGeom>
          <a:noFill/>
          <a:ln cap="flat" cmpd="sng" w="12700">
            <a:solidFill>
              <a:srgbClr val="A5A5A5"/>
            </a:solidFill>
            <a:prstDash val="solid"/>
            <a:round/>
            <a:headEnd len="med" w="med" type="none"/>
            <a:tailEnd len="med" w="med" type="none"/>
          </a:ln>
        </p:spPr>
      </p:cxnSp>
      <p:sp>
        <p:nvSpPr>
          <p:cNvPr id="4622" name="Google Shape;4622;p65"/>
          <p:cNvSpPr txBox="1"/>
          <p:nvPr/>
        </p:nvSpPr>
        <p:spPr>
          <a:xfrm>
            <a:off x="1766343" y="2270575"/>
            <a:ext cx="327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FF0000"/>
                </a:solidFill>
                <a:latin typeface="Arial"/>
                <a:ea typeface="Arial"/>
                <a:cs typeface="Arial"/>
                <a:sym typeface="Arial"/>
              </a:rPr>
              <a:t>u</a:t>
            </a:r>
            <a:endParaRPr/>
          </a:p>
        </p:txBody>
      </p:sp>
      <p:cxnSp>
        <p:nvCxnSpPr>
          <p:cNvPr id="4623" name="Google Shape;4623;p65"/>
          <p:cNvCxnSpPr/>
          <p:nvPr/>
        </p:nvCxnSpPr>
        <p:spPr>
          <a:xfrm>
            <a:off x="871302" y="3151241"/>
            <a:ext cx="5224698" cy="0"/>
          </a:xfrm>
          <a:prstGeom prst="straightConnector1">
            <a:avLst/>
          </a:prstGeom>
          <a:noFill/>
          <a:ln cap="flat" cmpd="sng" w="12700">
            <a:solidFill>
              <a:srgbClr val="A5A5A5"/>
            </a:solidFill>
            <a:prstDash val="solid"/>
            <a:round/>
            <a:headEnd len="med" w="med" type="none"/>
            <a:tailEnd len="med" w="med" type="none"/>
          </a:ln>
        </p:spPr>
      </p:cxnSp>
      <p:cxnSp>
        <p:nvCxnSpPr>
          <p:cNvPr id="4624" name="Google Shape;4624;p65"/>
          <p:cNvCxnSpPr/>
          <p:nvPr/>
        </p:nvCxnSpPr>
        <p:spPr>
          <a:xfrm>
            <a:off x="871302" y="3618848"/>
            <a:ext cx="5224698" cy="0"/>
          </a:xfrm>
          <a:prstGeom prst="straightConnector1">
            <a:avLst/>
          </a:prstGeom>
          <a:noFill/>
          <a:ln cap="flat" cmpd="sng" w="12700">
            <a:solidFill>
              <a:srgbClr val="A5A5A5"/>
            </a:solidFill>
            <a:prstDash val="solid"/>
            <a:round/>
            <a:headEnd len="med" w="med" type="none"/>
            <a:tailEnd len="med" w="med" type="none"/>
          </a:ln>
        </p:spPr>
      </p:cxnSp>
      <p:cxnSp>
        <p:nvCxnSpPr>
          <p:cNvPr id="4625" name="Google Shape;4625;p65"/>
          <p:cNvCxnSpPr/>
          <p:nvPr/>
        </p:nvCxnSpPr>
        <p:spPr>
          <a:xfrm>
            <a:off x="818428" y="4551040"/>
            <a:ext cx="5277571" cy="0"/>
          </a:xfrm>
          <a:prstGeom prst="straightConnector1">
            <a:avLst/>
          </a:prstGeom>
          <a:noFill/>
          <a:ln cap="flat" cmpd="sng" w="12700">
            <a:solidFill>
              <a:srgbClr val="A5A5A5"/>
            </a:solidFill>
            <a:prstDash val="solid"/>
            <a:round/>
            <a:headEnd len="med" w="med" type="none"/>
            <a:tailEnd len="med" w="med" type="none"/>
          </a:ln>
        </p:spPr>
      </p:cxnSp>
      <p:cxnSp>
        <p:nvCxnSpPr>
          <p:cNvPr id="4626" name="Google Shape;4626;p65"/>
          <p:cNvCxnSpPr/>
          <p:nvPr/>
        </p:nvCxnSpPr>
        <p:spPr>
          <a:xfrm>
            <a:off x="866540" y="4075166"/>
            <a:ext cx="5229460" cy="0"/>
          </a:xfrm>
          <a:prstGeom prst="straightConnector1">
            <a:avLst/>
          </a:prstGeom>
          <a:noFill/>
          <a:ln cap="flat" cmpd="sng" w="12700">
            <a:solidFill>
              <a:srgbClr val="A5A5A5"/>
            </a:solidFill>
            <a:prstDash val="solid"/>
            <a:round/>
            <a:headEnd len="med" w="med" type="none"/>
            <a:tailEnd len="med" w="med" type="none"/>
          </a:ln>
        </p:spPr>
      </p:cxnSp>
      <p:cxnSp>
        <p:nvCxnSpPr>
          <p:cNvPr id="4627" name="Google Shape;4627;p65"/>
          <p:cNvCxnSpPr/>
          <p:nvPr/>
        </p:nvCxnSpPr>
        <p:spPr>
          <a:xfrm>
            <a:off x="866016" y="5009992"/>
            <a:ext cx="5229984" cy="0"/>
          </a:xfrm>
          <a:prstGeom prst="straightConnector1">
            <a:avLst/>
          </a:prstGeom>
          <a:noFill/>
          <a:ln cap="flat" cmpd="sng" w="12700">
            <a:solidFill>
              <a:srgbClr val="A5A5A5"/>
            </a:solidFill>
            <a:prstDash val="solid"/>
            <a:round/>
            <a:headEnd len="med" w="med" type="none"/>
            <a:tailEnd len="med" w="med" type="none"/>
          </a:ln>
        </p:spPr>
      </p:cxnSp>
      <p:grpSp>
        <p:nvGrpSpPr>
          <p:cNvPr id="4628" name="Google Shape;4628;p65"/>
          <p:cNvGrpSpPr/>
          <p:nvPr/>
        </p:nvGrpSpPr>
        <p:grpSpPr>
          <a:xfrm>
            <a:off x="2400069" y="2268766"/>
            <a:ext cx="3937006" cy="409575"/>
            <a:chOff x="1329" y="1036"/>
            <a:chExt cx="2480" cy="258"/>
          </a:xfrm>
        </p:grpSpPr>
        <p:sp>
          <p:nvSpPr>
            <p:cNvPr id="4629" name="Google Shape;4629;p65"/>
            <p:cNvSpPr txBox="1"/>
            <p:nvPr/>
          </p:nvSpPr>
          <p:spPr>
            <a:xfrm>
              <a:off x="3509" y="1036"/>
              <a:ext cx="300"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Comic Sans MS"/>
                  <a:ea typeface="Comic Sans MS"/>
                  <a:cs typeface="Comic Sans MS"/>
                  <a:sym typeface="Comic Sans MS"/>
                </a:rPr>
                <a:t>∞ </a:t>
              </a:r>
              <a:endParaRPr sz="2400">
                <a:solidFill>
                  <a:srgbClr val="000000"/>
                </a:solidFill>
                <a:latin typeface="Arial"/>
                <a:ea typeface="Arial"/>
                <a:cs typeface="Arial"/>
                <a:sym typeface="Arial"/>
              </a:endParaRPr>
            </a:p>
          </p:txBody>
        </p:sp>
        <p:sp>
          <p:nvSpPr>
            <p:cNvPr id="4630" name="Google Shape;4630;p65"/>
            <p:cNvSpPr txBox="1"/>
            <p:nvPr/>
          </p:nvSpPr>
          <p:spPr>
            <a:xfrm>
              <a:off x="2989" y="1042"/>
              <a:ext cx="300"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Comic Sans MS"/>
                  <a:ea typeface="Comic Sans MS"/>
                  <a:cs typeface="Comic Sans MS"/>
                  <a:sym typeface="Comic Sans MS"/>
                </a:rPr>
                <a:t>∞ </a:t>
              </a:r>
              <a:endParaRPr sz="2400">
                <a:solidFill>
                  <a:srgbClr val="000000"/>
                </a:solidFill>
                <a:latin typeface="Arial"/>
                <a:ea typeface="Arial"/>
                <a:cs typeface="Arial"/>
                <a:sym typeface="Arial"/>
              </a:endParaRPr>
            </a:p>
          </p:txBody>
        </p:sp>
        <p:sp>
          <p:nvSpPr>
            <p:cNvPr id="4631" name="Google Shape;4631;p65"/>
            <p:cNvSpPr txBox="1"/>
            <p:nvPr/>
          </p:nvSpPr>
          <p:spPr>
            <a:xfrm>
              <a:off x="1329" y="1038"/>
              <a:ext cx="340"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7,u</a:t>
              </a:r>
              <a:endParaRPr/>
            </a:p>
          </p:txBody>
        </p:sp>
        <p:sp>
          <p:nvSpPr>
            <p:cNvPr id="4632" name="Google Shape;4632;p65"/>
            <p:cNvSpPr txBox="1"/>
            <p:nvPr/>
          </p:nvSpPr>
          <p:spPr>
            <a:xfrm>
              <a:off x="1855" y="1041"/>
              <a:ext cx="340"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3,u</a:t>
              </a:r>
              <a:endParaRPr/>
            </a:p>
          </p:txBody>
        </p:sp>
        <p:sp>
          <p:nvSpPr>
            <p:cNvPr id="4633" name="Google Shape;4633;p65"/>
            <p:cNvSpPr txBox="1"/>
            <p:nvPr/>
          </p:nvSpPr>
          <p:spPr>
            <a:xfrm>
              <a:off x="2407" y="1038"/>
              <a:ext cx="340"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5,u</a:t>
              </a:r>
              <a:endParaRPr/>
            </a:p>
          </p:txBody>
        </p:sp>
      </p:grpSp>
      <p:sp>
        <p:nvSpPr>
          <p:cNvPr id="4634" name="Google Shape;4634;p65"/>
          <p:cNvSpPr txBox="1"/>
          <p:nvPr/>
        </p:nvSpPr>
        <p:spPr>
          <a:xfrm>
            <a:off x="1595504" y="2721633"/>
            <a:ext cx="513282"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uw</a:t>
            </a:r>
            <a:endParaRPr/>
          </a:p>
        </p:txBody>
      </p:sp>
      <p:grpSp>
        <p:nvGrpSpPr>
          <p:cNvPr id="4635" name="Google Shape;4635;p65"/>
          <p:cNvGrpSpPr/>
          <p:nvPr/>
        </p:nvGrpSpPr>
        <p:grpSpPr>
          <a:xfrm>
            <a:off x="2409590" y="2707832"/>
            <a:ext cx="3933824" cy="420688"/>
            <a:chOff x="1328" y="1004"/>
            <a:chExt cx="2478" cy="265"/>
          </a:xfrm>
        </p:grpSpPr>
        <p:sp>
          <p:nvSpPr>
            <p:cNvPr id="4636" name="Google Shape;4636;p65"/>
            <p:cNvSpPr txBox="1"/>
            <p:nvPr/>
          </p:nvSpPr>
          <p:spPr>
            <a:xfrm>
              <a:off x="3506" y="1004"/>
              <a:ext cx="300"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Comic Sans MS"/>
                  <a:ea typeface="Comic Sans MS"/>
                  <a:cs typeface="Comic Sans MS"/>
                  <a:sym typeface="Comic Sans MS"/>
                </a:rPr>
                <a:t>∞ </a:t>
              </a:r>
              <a:endParaRPr sz="2400">
                <a:solidFill>
                  <a:srgbClr val="000000"/>
                </a:solidFill>
                <a:latin typeface="Arial"/>
                <a:ea typeface="Arial"/>
                <a:cs typeface="Arial"/>
                <a:sym typeface="Arial"/>
              </a:endParaRPr>
            </a:p>
          </p:txBody>
        </p:sp>
        <p:sp>
          <p:nvSpPr>
            <p:cNvPr id="4637" name="Google Shape;4637;p65"/>
            <p:cNvSpPr txBox="1"/>
            <p:nvPr/>
          </p:nvSpPr>
          <p:spPr>
            <a:xfrm>
              <a:off x="2880" y="1014"/>
              <a:ext cx="488"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Arial"/>
                  <a:ea typeface="Arial"/>
                  <a:cs typeface="Arial"/>
                  <a:sym typeface="Arial"/>
                </a:rPr>
                <a:t>11</a:t>
              </a:r>
              <a:r>
                <a:rPr lang="en-US" sz="2000">
                  <a:solidFill>
                    <a:srgbClr val="000000"/>
                  </a:solidFill>
                  <a:latin typeface="Arial"/>
                  <a:ea typeface="Arial"/>
                  <a:cs typeface="Arial"/>
                  <a:sym typeface="Arial"/>
                </a:rPr>
                <a:t>,w</a:t>
              </a:r>
              <a:r>
                <a:rPr lang="en-US" sz="2000">
                  <a:solidFill>
                    <a:srgbClr val="000000"/>
                  </a:solidFill>
                  <a:latin typeface="Comic Sans MS"/>
                  <a:ea typeface="Comic Sans MS"/>
                  <a:cs typeface="Comic Sans MS"/>
                  <a:sym typeface="Comic Sans MS"/>
                </a:rPr>
                <a:t> </a:t>
              </a:r>
              <a:endParaRPr sz="2400">
                <a:solidFill>
                  <a:srgbClr val="000000"/>
                </a:solidFill>
                <a:latin typeface="Arial"/>
                <a:ea typeface="Arial"/>
                <a:cs typeface="Arial"/>
                <a:sym typeface="Arial"/>
              </a:endParaRPr>
            </a:p>
          </p:txBody>
        </p:sp>
        <p:sp>
          <p:nvSpPr>
            <p:cNvPr id="4638" name="Google Shape;4638;p65"/>
            <p:cNvSpPr txBox="1"/>
            <p:nvPr/>
          </p:nvSpPr>
          <p:spPr>
            <a:xfrm>
              <a:off x="1328" y="1017"/>
              <a:ext cx="368"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6,w</a:t>
              </a:r>
              <a:endParaRPr/>
            </a:p>
          </p:txBody>
        </p:sp>
        <p:sp>
          <p:nvSpPr>
            <p:cNvPr id="4639" name="Google Shape;4639;p65"/>
            <p:cNvSpPr txBox="1"/>
            <p:nvPr/>
          </p:nvSpPr>
          <p:spPr>
            <a:xfrm>
              <a:off x="1987" y="1015"/>
              <a:ext cx="116"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t/>
              </a:r>
              <a:endParaRPr sz="2000">
                <a:solidFill>
                  <a:srgbClr val="000000"/>
                </a:solidFill>
                <a:latin typeface="Arial"/>
                <a:ea typeface="Arial"/>
                <a:cs typeface="Arial"/>
                <a:sym typeface="Arial"/>
              </a:endParaRPr>
            </a:p>
          </p:txBody>
        </p:sp>
        <p:sp>
          <p:nvSpPr>
            <p:cNvPr id="4640" name="Google Shape;4640;p65"/>
            <p:cNvSpPr txBox="1"/>
            <p:nvPr/>
          </p:nvSpPr>
          <p:spPr>
            <a:xfrm>
              <a:off x="2400" y="1013"/>
              <a:ext cx="340"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5,u</a:t>
              </a:r>
              <a:endParaRPr/>
            </a:p>
          </p:txBody>
        </p:sp>
      </p:grpSp>
      <p:grpSp>
        <p:nvGrpSpPr>
          <p:cNvPr id="4641" name="Google Shape;4641;p65"/>
          <p:cNvGrpSpPr/>
          <p:nvPr/>
        </p:nvGrpSpPr>
        <p:grpSpPr>
          <a:xfrm>
            <a:off x="2398427" y="3156225"/>
            <a:ext cx="4005263" cy="414336"/>
            <a:chOff x="1328" y="1008"/>
            <a:chExt cx="2523" cy="261"/>
          </a:xfrm>
        </p:grpSpPr>
        <p:sp>
          <p:nvSpPr>
            <p:cNvPr id="4642" name="Google Shape;4642;p65"/>
            <p:cNvSpPr txBox="1"/>
            <p:nvPr/>
          </p:nvSpPr>
          <p:spPr>
            <a:xfrm>
              <a:off x="3403" y="1011"/>
              <a:ext cx="448"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Arial"/>
                  <a:ea typeface="Arial"/>
                  <a:cs typeface="Arial"/>
                  <a:sym typeface="Arial"/>
                </a:rPr>
                <a:t>14</a:t>
              </a:r>
              <a:r>
                <a:rPr lang="en-US" sz="2000">
                  <a:solidFill>
                    <a:srgbClr val="000000"/>
                  </a:solidFill>
                  <a:latin typeface="Arial"/>
                  <a:ea typeface="Arial"/>
                  <a:cs typeface="Arial"/>
                  <a:sym typeface="Arial"/>
                </a:rPr>
                <a:t>,x </a:t>
              </a:r>
              <a:endParaRPr/>
            </a:p>
          </p:txBody>
        </p:sp>
        <p:sp>
          <p:nvSpPr>
            <p:cNvPr id="4643" name="Google Shape;4643;p65"/>
            <p:cNvSpPr txBox="1"/>
            <p:nvPr/>
          </p:nvSpPr>
          <p:spPr>
            <a:xfrm>
              <a:off x="2885" y="1008"/>
              <a:ext cx="480"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Arial"/>
                  <a:ea typeface="Arial"/>
                  <a:cs typeface="Arial"/>
                  <a:sym typeface="Arial"/>
                </a:rPr>
                <a:t>11,</a:t>
              </a:r>
              <a:r>
                <a:rPr lang="en-US" sz="2000">
                  <a:solidFill>
                    <a:srgbClr val="000000"/>
                  </a:solidFill>
                  <a:latin typeface="Arial"/>
                  <a:ea typeface="Arial"/>
                  <a:cs typeface="Arial"/>
                  <a:sym typeface="Arial"/>
                </a:rPr>
                <a:t>w </a:t>
              </a:r>
              <a:endParaRPr sz="2400">
                <a:solidFill>
                  <a:srgbClr val="000000"/>
                </a:solidFill>
                <a:latin typeface="Arial"/>
                <a:ea typeface="Arial"/>
                <a:cs typeface="Arial"/>
                <a:sym typeface="Arial"/>
              </a:endParaRPr>
            </a:p>
          </p:txBody>
        </p:sp>
        <p:sp>
          <p:nvSpPr>
            <p:cNvPr id="4644" name="Google Shape;4644;p65"/>
            <p:cNvSpPr txBox="1"/>
            <p:nvPr/>
          </p:nvSpPr>
          <p:spPr>
            <a:xfrm>
              <a:off x="1328" y="1017"/>
              <a:ext cx="368"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6,w</a:t>
              </a:r>
              <a:endParaRPr/>
            </a:p>
          </p:txBody>
        </p:sp>
        <p:sp>
          <p:nvSpPr>
            <p:cNvPr id="4645" name="Google Shape;4645;p65"/>
            <p:cNvSpPr txBox="1"/>
            <p:nvPr/>
          </p:nvSpPr>
          <p:spPr>
            <a:xfrm>
              <a:off x="1987" y="1015"/>
              <a:ext cx="116"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t/>
              </a:r>
              <a:endParaRPr sz="2000">
                <a:solidFill>
                  <a:srgbClr val="000000"/>
                </a:solidFill>
                <a:latin typeface="Arial"/>
                <a:ea typeface="Arial"/>
                <a:cs typeface="Arial"/>
                <a:sym typeface="Arial"/>
              </a:endParaRPr>
            </a:p>
          </p:txBody>
        </p:sp>
        <p:sp>
          <p:nvSpPr>
            <p:cNvPr id="4646" name="Google Shape;4646;p65"/>
            <p:cNvSpPr txBox="1"/>
            <p:nvPr/>
          </p:nvSpPr>
          <p:spPr>
            <a:xfrm>
              <a:off x="2390" y="1016"/>
              <a:ext cx="116"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t/>
              </a:r>
              <a:endParaRPr sz="2000">
                <a:solidFill>
                  <a:srgbClr val="000000"/>
                </a:solidFill>
                <a:latin typeface="Arial"/>
                <a:ea typeface="Arial"/>
                <a:cs typeface="Arial"/>
                <a:sym typeface="Arial"/>
              </a:endParaRPr>
            </a:p>
          </p:txBody>
        </p:sp>
      </p:grpSp>
      <p:sp>
        <p:nvSpPr>
          <p:cNvPr id="4647" name="Google Shape;4647;p65"/>
          <p:cNvSpPr/>
          <p:nvPr/>
        </p:nvSpPr>
        <p:spPr>
          <a:xfrm>
            <a:off x="3192476" y="2263739"/>
            <a:ext cx="661410" cy="406374"/>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sp>
        <p:nvSpPr>
          <p:cNvPr id="4648" name="Google Shape;4648;p65"/>
          <p:cNvSpPr/>
          <p:nvPr/>
        </p:nvSpPr>
        <p:spPr>
          <a:xfrm>
            <a:off x="4050170" y="2719263"/>
            <a:ext cx="679816" cy="40693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sp>
        <p:nvSpPr>
          <p:cNvPr id="4649" name="Google Shape;4649;p65"/>
          <p:cNvSpPr txBox="1"/>
          <p:nvPr/>
        </p:nvSpPr>
        <p:spPr>
          <a:xfrm>
            <a:off x="1479143" y="3195058"/>
            <a:ext cx="641522"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uwx</a:t>
            </a:r>
            <a:endParaRPr/>
          </a:p>
        </p:txBody>
      </p:sp>
      <p:sp>
        <p:nvSpPr>
          <p:cNvPr id="4650" name="Google Shape;4650;p65"/>
          <p:cNvSpPr/>
          <p:nvPr/>
        </p:nvSpPr>
        <p:spPr>
          <a:xfrm>
            <a:off x="2374191" y="3175054"/>
            <a:ext cx="665830" cy="425097"/>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sp>
        <p:nvSpPr>
          <p:cNvPr id="4651" name="Google Shape;4651;p65"/>
          <p:cNvSpPr txBox="1"/>
          <p:nvPr/>
        </p:nvSpPr>
        <p:spPr>
          <a:xfrm>
            <a:off x="1373894" y="3653711"/>
            <a:ext cx="762334"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uwxv</a:t>
            </a:r>
            <a:endParaRPr/>
          </a:p>
        </p:txBody>
      </p:sp>
      <p:grpSp>
        <p:nvGrpSpPr>
          <p:cNvPr id="4652" name="Google Shape;4652;p65"/>
          <p:cNvGrpSpPr/>
          <p:nvPr/>
        </p:nvGrpSpPr>
        <p:grpSpPr>
          <a:xfrm>
            <a:off x="4873416" y="3639944"/>
            <a:ext cx="1544638" cy="400050"/>
            <a:chOff x="1851" y="2756"/>
            <a:chExt cx="973" cy="252"/>
          </a:xfrm>
        </p:grpSpPr>
        <p:sp>
          <p:nvSpPr>
            <p:cNvPr id="4653" name="Google Shape;4653;p65"/>
            <p:cNvSpPr txBox="1"/>
            <p:nvPr/>
          </p:nvSpPr>
          <p:spPr>
            <a:xfrm>
              <a:off x="2376" y="2756"/>
              <a:ext cx="448"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Arial"/>
                  <a:ea typeface="Arial"/>
                  <a:cs typeface="Arial"/>
                  <a:sym typeface="Arial"/>
                </a:rPr>
                <a:t>14</a:t>
              </a:r>
              <a:r>
                <a:rPr lang="en-US" sz="2000">
                  <a:solidFill>
                    <a:srgbClr val="000000"/>
                  </a:solidFill>
                  <a:latin typeface="Arial"/>
                  <a:ea typeface="Arial"/>
                  <a:cs typeface="Arial"/>
                  <a:sym typeface="Arial"/>
                </a:rPr>
                <a:t>,x </a:t>
              </a:r>
              <a:endParaRPr/>
            </a:p>
          </p:txBody>
        </p:sp>
        <p:sp>
          <p:nvSpPr>
            <p:cNvPr id="4654" name="Google Shape;4654;p65"/>
            <p:cNvSpPr txBox="1"/>
            <p:nvPr/>
          </p:nvSpPr>
          <p:spPr>
            <a:xfrm>
              <a:off x="1851" y="2756"/>
              <a:ext cx="443" cy="25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Arial"/>
                  <a:ea typeface="Arial"/>
                  <a:cs typeface="Arial"/>
                  <a:sym typeface="Arial"/>
                </a:rPr>
                <a:t>10,</a:t>
              </a:r>
              <a:r>
                <a:rPr lang="en-US" sz="2000">
                  <a:solidFill>
                    <a:srgbClr val="000000"/>
                  </a:solidFill>
                  <a:latin typeface="Arial"/>
                  <a:ea typeface="Arial"/>
                  <a:cs typeface="Arial"/>
                  <a:sym typeface="Arial"/>
                </a:rPr>
                <a:t>v </a:t>
              </a:r>
              <a:endParaRPr sz="2400">
                <a:solidFill>
                  <a:srgbClr val="000000"/>
                </a:solidFill>
                <a:latin typeface="Arial"/>
                <a:ea typeface="Arial"/>
                <a:cs typeface="Arial"/>
                <a:sym typeface="Arial"/>
              </a:endParaRPr>
            </a:p>
          </p:txBody>
        </p:sp>
      </p:grpSp>
      <p:sp>
        <p:nvSpPr>
          <p:cNvPr id="4655" name="Google Shape;4655;p65"/>
          <p:cNvSpPr/>
          <p:nvPr/>
        </p:nvSpPr>
        <p:spPr>
          <a:xfrm>
            <a:off x="4848116" y="3652013"/>
            <a:ext cx="676583" cy="393367"/>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sp>
        <p:nvSpPr>
          <p:cNvPr id="4656" name="Google Shape;4656;p65"/>
          <p:cNvSpPr txBox="1"/>
          <p:nvPr/>
        </p:nvSpPr>
        <p:spPr>
          <a:xfrm>
            <a:off x="1295811" y="4107137"/>
            <a:ext cx="89800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uwxvy</a:t>
            </a:r>
            <a:endParaRPr/>
          </a:p>
        </p:txBody>
      </p:sp>
      <p:sp>
        <p:nvSpPr>
          <p:cNvPr id="4657" name="Google Shape;4657;p65"/>
          <p:cNvSpPr txBox="1"/>
          <p:nvPr/>
        </p:nvSpPr>
        <p:spPr>
          <a:xfrm>
            <a:off x="5621287" y="4095635"/>
            <a:ext cx="70770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000000"/>
                </a:solidFill>
                <a:latin typeface="Arial"/>
                <a:ea typeface="Arial"/>
                <a:cs typeface="Arial"/>
                <a:sym typeface="Arial"/>
              </a:rPr>
              <a:t>12</a:t>
            </a:r>
            <a:r>
              <a:rPr lang="en-US" sz="2000">
                <a:solidFill>
                  <a:srgbClr val="000000"/>
                </a:solidFill>
                <a:latin typeface="Arial"/>
                <a:ea typeface="Arial"/>
                <a:cs typeface="Arial"/>
                <a:sym typeface="Arial"/>
              </a:rPr>
              <a:t>,y </a:t>
            </a:r>
            <a:endParaRPr/>
          </a:p>
        </p:txBody>
      </p:sp>
      <p:sp>
        <p:nvSpPr>
          <p:cNvPr id="4658" name="Google Shape;4658;p65"/>
          <p:cNvSpPr/>
          <p:nvPr/>
        </p:nvSpPr>
        <p:spPr>
          <a:xfrm>
            <a:off x="5669111" y="4130222"/>
            <a:ext cx="707756" cy="38911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omic Sans MS"/>
              <a:ea typeface="Comic Sans MS"/>
              <a:cs typeface="Comic Sans MS"/>
              <a:sym typeface="Comic Sans MS"/>
            </a:endParaRPr>
          </a:p>
        </p:txBody>
      </p:sp>
      <p:sp>
        <p:nvSpPr>
          <p:cNvPr id="4659" name="Google Shape;4659;p65"/>
          <p:cNvSpPr/>
          <p:nvPr/>
        </p:nvSpPr>
        <p:spPr>
          <a:xfrm>
            <a:off x="1229773" y="5251763"/>
            <a:ext cx="8910647" cy="142104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lang="en-US" sz="2800">
                <a:solidFill>
                  <a:srgbClr val="CC0000"/>
                </a:solidFill>
                <a:latin typeface="Calibri"/>
                <a:ea typeface="Calibri"/>
                <a:cs typeface="Calibri"/>
                <a:sym typeface="Calibri"/>
              </a:rPr>
              <a:t>notes:</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construct least-cost-path tree by tracing predecessor nodes</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ties can exist (can be broken arbitrarily)</a:t>
            </a:r>
            <a:endParaRPr/>
          </a:p>
        </p:txBody>
      </p:sp>
      <p:cxnSp>
        <p:nvCxnSpPr>
          <p:cNvPr id="4660" name="Google Shape;4660;p65"/>
          <p:cNvCxnSpPr/>
          <p:nvPr/>
        </p:nvCxnSpPr>
        <p:spPr>
          <a:xfrm>
            <a:off x="10477917" y="3471860"/>
            <a:ext cx="590550" cy="0"/>
          </a:xfrm>
          <a:prstGeom prst="straightConnector1">
            <a:avLst/>
          </a:prstGeom>
          <a:noFill/>
          <a:ln cap="flat" cmpd="sng" w="38100">
            <a:solidFill>
              <a:srgbClr val="FF0000"/>
            </a:solidFill>
            <a:prstDash val="solid"/>
            <a:round/>
            <a:headEnd len="med" w="med" type="none"/>
            <a:tailEnd len="med" w="med" type="triangle"/>
          </a:ln>
        </p:spPr>
      </p:cxnSp>
      <p:cxnSp>
        <p:nvCxnSpPr>
          <p:cNvPr id="4661" name="Google Shape;4661;p65"/>
          <p:cNvCxnSpPr/>
          <p:nvPr/>
        </p:nvCxnSpPr>
        <p:spPr>
          <a:xfrm flipH="1" rot="10800000">
            <a:off x="8821087" y="3483435"/>
            <a:ext cx="1463675" cy="1204912"/>
          </a:xfrm>
          <a:prstGeom prst="straightConnector1">
            <a:avLst/>
          </a:prstGeom>
          <a:noFill/>
          <a:ln cap="flat" cmpd="sng" w="38100">
            <a:solidFill>
              <a:srgbClr val="FF0000"/>
            </a:solidFill>
            <a:prstDash val="solid"/>
            <a:round/>
            <a:headEnd len="med" w="med" type="none"/>
            <a:tailEnd len="med" w="med" type="triangle"/>
          </a:ln>
        </p:spPr>
      </p:cxnSp>
      <p:cxnSp>
        <p:nvCxnSpPr>
          <p:cNvPr id="4662" name="Google Shape;4662;p65"/>
          <p:cNvCxnSpPr/>
          <p:nvPr/>
        </p:nvCxnSpPr>
        <p:spPr>
          <a:xfrm>
            <a:off x="8718966" y="3539863"/>
            <a:ext cx="9525" cy="1047750"/>
          </a:xfrm>
          <a:prstGeom prst="straightConnector1">
            <a:avLst/>
          </a:prstGeom>
          <a:noFill/>
          <a:ln cap="flat" cmpd="sng" w="38100">
            <a:solidFill>
              <a:srgbClr val="FF0000"/>
            </a:solidFill>
            <a:prstDash val="solid"/>
            <a:round/>
            <a:headEnd len="med" w="med" type="none"/>
            <a:tailEnd len="med" w="med" type="triangle"/>
          </a:ln>
        </p:spPr>
      </p:cxnSp>
      <p:cxnSp>
        <p:nvCxnSpPr>
          <p:cNvPr id="4663" name="Google Shape;4663;p65"/>
          <p:cNvCxnSpPr/>
          <p:nvPr/>
        </p:nvCxnSpPr>
        <p:spPr>
          <a:xfrm flipH="1" rot="10800000">
            <a:off x="7577755" y="1754709"/>
            <a:ext cx="1012825" cy="1628775"/>
          </a:xfrm>
          <a:prstGeom prst="straightConnector1">
            <a:avLst/>
          </a:prstGeom>
          <a:noFill/>
          <a:ln cap="flat" cmpd="sng" w="38100">
            <a:solidFill>
              <a:srgbClr val="FF0000"/>
            </a:solidFill>
            <a:prstDash val="solid"/>
            <a:round/>
            <a:headEnd len="med" w="med" type="none"/>
            <a:tailEnd len="med" w="med" type="triangle"/>
          </a:ln>
        </p:spPr>
      </p:cxnSp>
      <p:cxnSp>
        <p:nvCxnSpPr>
          <p:cNvPr id="4664" name="Google Shape;4664;p65"/>
          <p:cNvCxnSpPr/>
          <p:nvPr/>
        </p:nvCxnSpPr>
        <p:spPr>
          <a:xfrm>
            <a:off x="7693502" y="3475036"/>
            <a:ext cx="944562" cy="0"/>
          </a:xfrm>
          <a:prstGeom prst="straightConnector1">
            <a:avLst/>
          </a:prstGeom>
          <a:noFill/>
          <a:ln cap="flat" cmpd="sng" w="38100">
            <a:solidFill>
              <a:srgbClr val="FF0000"/>
            </a:solidFill>
            <a:prstDash val="solid"/>
            <a:round/>
            <a:headEnd len="med" w="med" type="none"/>
            <a:tailEnd len="med" w="med" type="triangle"/>
          </a:ln>
        </p:spPr>
      </p:cxnSp>
      <p:sp>
        <p:nvSpPr>
          <p:cNvPr id="4665" name="Google Shape;4665;p65"/>
          <p:cNvSpPr txBox="1"/>
          <p:nvPr/>
        </p:nvSpPr>
        <p:spPr>
          <a:xfrm>
            <a:off x="1138922" y="4584970"/>
            <a:ext cx="1026243"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rgbClr val="000000"/>
                </a:solidFill>
                <a:latin typeface="Arial"/>
                <a:ea typeface="Arial"/>
                <a:cs typeface="Arial"/>
                <a:sym typeface="Arial"/>
              </a:rPr>
              <a:t>uwxvyz</a:t>
            </a:r>
            <a:endParaRPr/>
          </a:p>
        </p:txBody>
      </p:sp>
      <p:cxnSp>
        <p:nvCxnSpPr>
          <p:cNvPr id="4666" name="Google Shape;4666;p65"/>
          <p:cNvCxnSpPr/>
          <p:nvPr/>
        </p:nvCxnSpPr>
        <p:spPr>
          <a:xfrm>
            <a:off x="668005" y="2233984"/>
            <a:ext cx="5645188" cy="0"/>
          </a:xfrm>
          <a:prstGeom prst="straightConnector1">
            <a:avLst/>
          </a:prstGeom>
          <a:noFill/>
          <a:ln cap="flat" cmpd="sng" w="25400">
            <a:solidFill>
              <a:srgbClr val="0000A8"/>
            </a:solidFill>
            <a:prstDash val="solid"/>
            <a:miter lim="8000"/>
            <a:headEnd len="sm" w="sm" type="none"/>
            <a:tailEnd len="sm" w="sm" type="none"/>
          </a:ln>
        </p:spPr>
      </p:cxnSp>
      <p:sp>
        <p:nvSpPr>
          <p:cNvPr id="4667" name="Google Shape;4667;p65"/>
          <p:cNvSpPr txBox="1"/>
          <p:nvPr/>
        </p:nvSpPr>
        <p:spPr>
          <a:xfrm>
            <a:off x="2529460" y="1384347"/>
            <a:ext cx="3704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Calibri"/>
                <a:ea typeface="Calibri"/>
                <a:cs typeface="Calibri"/>
                <a:sym typeface="Calibri"/>
              </a:rPr>
              <a:t>v</a:t>
            </a:r>
            <a:endParaRPr/>
          </a:p>
        </p:txBody>
      </p:sp>
      <p:sp>
        <p:nvSpPr>
          <p:cNvPr id="4668" name="Google Shape;4668;p65"/>
          <p:cNvSpPr txBox="1"/>
          <p:nvPr/>
        </p:nvSpPr>
        <p:spPr>
          <a:xfrm>
            <a:off x="3373839" y="1382288"/>
            <a:ext cx="3704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Calibri"/>
                <a:ea typeface="Calibri"/>
                <a:cs typeface="Calibri"/>
                <a:sym typeface="Calibri"/>
              </a:rPr>
              <a:t>w</a:t>
            </a:r>
            <a:endParaRPr/>
          </a:p>
        </p:txBody>
      </p:sp>
      <p:sp>
        <p:nvSpPr>
          <p:cNvPr id="4669" name="Google Shape;4669;p65"/>
          <p:cNvSpPr txBox="1"/>
          <p:nvPr/>
        </p:nvSpPr>
        <p:spPr>
          <a:xfrm>
            <a:off x="4255287" y="1380228"/>
            <a:ext cx="3704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Calibri"/>
                <a:ea typeface="Calibri"/>
                <a:cs typeface="Calibri"/>
                <a:sym typeface="Calibri"/>
              </a:rPr>
              <a:t>x</a:t>
            </a:r>
            <a:endParaRPr/>
          </a:p>
        </p:txBody>
      </p:sp>
      <p:sp>
        <p:nvSpPr>
          <p:cNvPr id="4670" name="Google Shape;4670;p65"/>
          <p:cNvSpPr txBox="1"/>
          <p:nvPr/>
        </p:nvSpPr>
        <p:spPr>
          <a:xfrm>
            <a:off x="5099667" y="1378168"/>
            <a:ext cx="3704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Calibri"/>
                <a:ea typeface="Calibri"/>
                <a:cs typeface="Calibri"/>
                <a:sym typeface="Calibri"/>
              </a:rPr>
              <a:t>y</a:t>
            </a:r>
            <a:endParaRPr/>
          </a:p>
        </p:txBody>
      </p:sp>
      <p:sp>
        <p:nvSpPr>
          <p:cNvPr id="4671" name="Google Shape;4671;p65"/>
          <p:cNvSpPr txBox="1"/>
          <p:nvPr/>
        </p:nvSpPr>
        <p:spPr>
          <a:xfrm>
            <a:off x="5968759" y="1376108"/>
            <a:ext cx="3704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Calibri"/>
                <a:ea typeface="Calibri"/>
                <a:cs typeface="Calibri"/>
                <a:sym typeface="Calibri"/>
              </a:rPr>
              <a:t>z</a:t>
            </a:r>
            <a:endParaRPr/>
          </a:p>
        </p:txBody>
      </p:sp>
      <p:grpSp>
        <p:nvGrpSpPr>
          <p:cNvPr id="4672" name="Google Shape;4672;p65"/>
          <p:cNvGrpSpPr/>
          <p:nvPr/>
        </p:nvGrpSpPr>
        <p:grpSpPr>
          <a:xfrm>
            <a:off x="1771136" y="1428236"/>
            <a:ext cx="1923534" cy="1652716"/>
            <a:chOff x="1771136" y="1428236"/>
            <a:chExt cx="1923534" cy="1652716"/>
          </a:xfrm>
        </p:grpSpPr>
        <p:sp>
          <p:nvSpPr>
            <p:cNvPr id="4673" name="Google Shape;4673;p65"/>
            <p:cNvSpPr/>
            <p:nvPr/>
          </p:nvSpPr>
          <p:spPr>
            <a:xfrm>
              <a:off x="3379574" y="1428236"/>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674" name="Google Shape;4674;p65"/>
            <p:cNvCxnSpPr/>
            <p:nvPr/>
          </p:nvCxnSpPr>
          <p:spPr>
            <a:xfrm flipH="1">
              <a:off x="2007973" y="1686697"/>
              <a:ext cx="1414851" cy="1143000"/>
            </a:xfrm>
            <a:prstGeom prst="straightConnector1">
              <a:avLst/>
            </a:prstGeom>
            <a:noFill/>
            <a:ln cap="flat" cmpd="sng" w="15875">
              <a:solidFill>
                <a:srgbClr val="FF0000"/>
              </a:solidFill>
              <a:prstDash val="solid"/>
              <a:miter lim="8000"/>
              <a:headEnd len="sm" w="sm" type="none"/>
              <a:tailEnd len="med" w="med" type="triangle"/>
            </a:ln>
          </p:spPr>
        </p:cxnSp>
        <p:sp>
          <p:nvSpPr>
            <p:cNvPr id="4675" name="Google Shape;4675;p65"/>
            <p:cNvSpPr/>
            <p:nvPr/>
          </p:nvSpPr>
          <p:spPr>
            <a:xfrm>
              <a:off x="1771136" y="2785420"/>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4676" name="Google Shape;4676;p65"/>
          <p:cNvGrpSpPr/>
          <p:nvPr/>
        </p:nvGrpSpPr>
        <p:grpSpPr>
          <a:xfrm>
            <a:off x="1812326" y="1419997"/>
            <a:ext cx="2739080" cy="2146986"/>
            <a:chOff x="955590" y="1428236"/>
            <a:chExt cx="2739080" cy="2146986"/>
          </a:xfrm>
        </p:grpSpPr>
        <p:sp>
          <p:nvSpPr>
            <p:cNvPr id="4677" name="Google Shape;4677;p65"/>
            <p:cNvSpPr/>
            <p:nvPr/>
          </p:nvSpPr>
          <p:spPr>
            <a:xfrm>
              <a:off x="3379574" y="1428236"/>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678" name="Google Shape;4678;p65"/>
            <p:cNvCxnSpPr>
              <a:endCxn id="4679" idx="7"/>
            </p:cNvCxnSpPr>
            <p:nvPr/>
          </p:nvCxnSpPr>
          <p:spPr>
            <a:xfrm flipH="1">
              <a:off x="1224541" y="1686770"/>
              <a:ext cx="2198400" cy="1636200"/>
            </a:xfrm>
            <a:prstGeom prst="straightConnector1">
              <a:avLst/>
            </a:prstGeom>
            <a:noFill/>
            <a:ln cap="flat" cmpd="sng" w="15875">
              <a:solidFill>
                <a:srgbClr val="FF0000"/>
              </a:solidFill>
              <a:prstDash val="solid"/>
              <a:miter lim="8000"/>
              <a:headEnd len="sm" w="sm" type="none"/>
              <a:tailEnd len="med" w="med" type="triangle"/>
            </a:ln>
          </p:spPr>
        </p:cxnSp>
        <p:sp>
          <p:nvSpPr>
            <p:cNvPr id="4679" name="Google Shape;4679;p65"/>
            <p:cNvSpPr/>
            <p:nvPr/>
          </p:nvSpPr>
          <p:spPr>
            <a:xfrm>
              <a:off x="955590" y="3279690"/>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4680" name="Google Shape;4680;p65"/>
          <p:cNvGrpSpPr/>
          <p:nvPr/>
        </p:nvGrpSpPr>
        <p:grpSpPr>
          <a:xfrm>
            <a:off x="1853514" y="1417939"/>
            <a:ext cx="990599" cy="2598007"/>
            <a:chOff x="955590" y="977215"/>
            <a:chExt cx="990599" cy="2598007"/>
          </a:xfrm>
        </p:grpSpPr>
        <p:sp>
          <p:nvSpPr>
            <p:cNvPr id="4681" name="Google Shape;4681;p65"/>
            <p:cNvSpPr/>
            <p:nvPr/>
          </p:nvSpPr>
          <p:spPr>
            <a:xfrm>
              <a:off x="1631093" y="977215"/>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682" name="Google Shape;4682;p65"/>
            <p:cNvCxnSpPr>
              <a:stCxn id="4681" idx="4"/>
              <a:endCxn id="4683" idx="0"/>
            </p:cNvCxnSpPr>
            <p:nvPr/>
          </p:nvCxnSpPr>
          <p:spPr>
            <a:xfrm flipH="1">
              <a:off x="1113041" y="1272747"/>
              <a:ext cx="675600" cy="2007000"/>
            </a:xfrm>
            <a:prstGeom prst="straightConnector1">
              <a:avLst/>
            </a:prstGeom>
            <a:noFill/>
            <a:ln cap="flat" cmpd="sng" w="15875">
              <a:solidFill>
                <a:srgbClr val="FF0000"/>
              </a:solidFill>
              <a:prstDash val="solid"/>
              <a:miter lim="8000"/>
              <a:headEnd len="sm" w="sm" type="none"/>
              <a:tailEnd len="med" w="med" type="triangle"/>
            </a:ln>
          </p:spPr>
        </p:cxnSp>
        <p:sp>
          <p:nvSpPr>
            <p:cNvPr id="4683" name="Google Shape;4683;p65"/>
            <p:cNvSpPr/>
            <p:nvPr/>
          </p:nvSpPr>
          <p:spPr>
            <a:xfrm>
              <a:off x="955590" y="3279690"/>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4684" name="Google Shape;4684;p65"/>
          <p:cNvGrpSpPr/>
          <p:nvPr/>
        </p:nvGrpSpPr>
        <p:grpSpPr>
          <a:xfrm>
            <a:off x="1915299" y="1436471"/>
            <a:ext cx="3480486" cy="3049030"/>
            <a:chOff x="955590" y="526192"/>
            <a:chExt cx="3480486" cy="3049030"/>
          </a:xfrm>
        </p:grpSpPr>
        <p:sp>
          <p:nvSpPr>
            <p:cNvPr id="4685" name="Google Shape;4685;p65"/>
            <p:cNvSpPr/>
            <p:nvPr/>
          </p:nvSpPr>
          <p:spPr>
            <a:xfrm>
              <a:off x="4120980" y="526192"/>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686" name="Google Shape;4686;p65"/>
            <p:cNvCxnSpPr>
              <a:stCxn id="4685" idx="3"/>
              <a:endCxn id="4687" idx="7"/>
            </p:cNvCxnSpPr>
            <p:nvPr/>
          </p:nvCxnSpPr>
          <p:spPr>
            <a:xfrm flipH="1">
              <a:off x="1224425" y="778444"/>
              <a:ext cx="2942700" cy="2544600"/>
            </a:xfrm>
            <a:prstGeom prst="straightConnector1">
              <a:avLst/>
            </a:prstGeom>
            <a:noFill/>
            <a:ln cap="flat" cmpd="sng" w="15875">
              <a:solidFill>
                <a:srgbClr val="FF0000"/>
              </a:solidFill>
              <a:prstDash val="solid"/>
              <a:miter lim="8000"/>
              <a:headEnd len="sm" w="sm" type="none"/>
              <a:tailEnd len="med" w="med" type="triangle"/>
            </a:ln>
          </p:spPr>
        </p:cxnSp>
        <p:sp>
          <p:nvSpPr>
            <p:cNvPr id="4687" name="Google Shape;4687;p65"/>
            <p:cNvSpPr/>
            <p:nvPr/>
          </p:nvSpPr>
          <p:spPr>
            <a:xfrm>
              <a:off x="955590" y="3279690"/>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4688" name="Google Shape;4688;p65"/>
          <p:cNvGrpSpPr/>
          <p:nvPr/>
        </p:nvGrpSpPr>
        <p:grpSpPr>
          <a:xfrm>
            <a:off x="1839100" y="1422055"/>
            <a:ext cx="4419599" cy="3537122"/>
            <a:chOff x="16477" y="526192"/>
            <a:chExt cx="4419599" cy="3537122"/>
          </a:xfrm>
        </p:grpSpPr>
        <p:sp>
          <p:nvSpPr>
            <p:cNvPr id="4689" name="Google Shape;4689;p65"/>
            <p:cNvSpPr/>
            <p:nvPr/>
          </p:nvSpPr>
          <p:spPr>
            <a:xfrm>
              <a:off x="4120980" y="526192"/>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690" name="Google Shape;4690;p65"/>
            <p:cNvCxnSpPr>
              <a:stCxn id="4689" idx="3"/>
              <a:endCxn id="4691" idx="7"/>
            </p:cNvCxnSpPr>
            <p:nvPr/>
          </p:nvCxnSpPr>
          <p:spPr>
            <a:xfrm flipH="1">
              <a:off x="285425" y="778444"/>
              <a:ext cx="3881700" cy="3032700"/>
            </a:xfrm>
            <a:prstGeom prst="straightConnector1">
              <a:avLst/>
            </a:prstGeom>
            <a:noFill/>
            <a:ln cap="flat" cmpd="sng" w="15875">
              <a:solidFill>
                <a:srgbClr val="FF0000"/>
              </a:solidFill>
              <a:prstDash val="solid"/>
              <a:miter lim="8000"/>
              <a:headEnd len="sm" w="sm" type="none"/>
              <a:tailEnd len="med" w="med" type="triangle"/>
            </a:ln>
          </p:spPr>
        </p:cxnSp>
        <p:sp>
          <p:nvSpPr>
            <p:cNvPr id="4691" name="Google Shape;4691;p65"/>
            <p:cNvSpPr/>
            <p:nvPr/>
          </p:nvSpPr>
          <p:spPr>
            <a:xfrm>
              <a:off x="16477" y="3767782"/>
              <a:ext cx="315096" cy="295532"/>
            </a:xfrm>
            <a:prstGeom prst="ellipse">
              <a:avLst/>
            </a:prstGeom>
            <a:noFill/>
            <a:ln cap="flat" cmpd="sng" w="1905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8"/>
                                        </p:tgtEl>
                                        <p:attrNameLst>
                                          <p:attrName>style.visibility</p:attrName>
                                        </p:attrNameLst>
                                      </p:cBhvr>
                                      <p:to>
                                        <p:strVal val="visible"/>
                                      </p:to>
                                    </p:set>
                                    <p:animEffect filter="fade" transition="in">
                                      <p:cBhvr>
                                        <p:cTn dur="1000"/>
                                        <p:tgtEl>
                                          <p:spTgt spid="4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7"/>
                                        </p:tgtEl>
                                        <p:attrNameLst>
                                          <p:attrName>style.visibility</p:attrName>
                                        </p:attrNameLst>
                                      </p:cBhvr>
                                      <p:to>
                                        <p:strVal val="visible"/>
                                      </p:to>
                                    </p:set>
                                    <p:animEffect filter="fade" transition="in">
                                      <p:cBhvr>
                                        <p:cTn dur="500"/>
                                        <p:tgtEl>
                                          <p:spTgt spid="46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72"/>
                                        </p:tgtEl>
                                        <p:attrNameLst>
                                          <p:attrName>style.visibility</p:attrName>
                                        </p:attrNameLst>
                                      </p:cBhvr>
                                      <p:to>
                                        <p:strVal val="visible"/>
                                      </p:to>
                                    </p:set>
                                    <p:animEffect filter="fade" transition="in">
                                      <p:cBhvr>
                                        <p:cTn dur="1000"/>
                                        <p:tgtEl>
                                          <p:spTgt spid="467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34"/>
                                        </p:tgtEl>
                                        <p:attrNameLst>
                                          <p:attrName>style.visibility</p:attrName>
                                        </p:attrNameLst>
                                      </p:cBhvr>
                                      <p:to>
                                        <p:strVal val="visible"/>
                                      </p:to>
                                    </p:set>
                                    <p:animEffect filter="fade" transition="in">
                                      <p:cBhvr>
                                        <p:cTn dur="500"/>
                                        <p:tgtEl>
                                          <p:spTgt spid="463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64"/>
                                        </p:tgtEl>
                                        <p:attrNameLst>
                                          <p:attrName>style.visibility</p:attrName>
                                        </p:attrNameLst>
                                      </p:cBhvr>
                                      <p:to>
                                        <p:strVal val="visible"/>
                                      </p:to>
                                    </p:set>
                                    <p:animEffect filter="fade" transition="in">
                                      <p:cBhvr>
                                        <p:cTn dur="1000"/>
                                        <p:tgtEl>
                                          <p:spTgt spid="4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5"/>
                                        </p:tgtEl>
                                        <p:attrNameLst>
                                          <p:attrName>style.visibility</p:attrName>
                                        </p:attrNameLst>
                                      </p:cBhvr>
                                      <p:to>
                                        <p:strVal val="visible"/>
                                      </p:to>
                                    </p:set>
                                    <p:animEffect filter="fade" transition="in">
                                      <p:cBhvr>
                                        <p:cTn dur="1000"/>
                                        <p:tgtEl>
                                          <p:spTgt spid="4635"/>
                                        </p:tgtEl>
                                      </p:cBhvr>
                                    </p:animEffect>
                                  </p:childTnLst>
                                </p:cTn>
                              </p:par>
                              <p:par>
                                <p:cTn fill="hold" nodeType="withEffect" presetClass="exit" presetID="10" presetSubtype="0">
                                  <p:stCondLst>
                                    <p:cond delay="0"/>
                                  </p:stCondLst>
                                  <p:childTnLst>
                                    <p:animEffect filter="fade" transition="out">
                                      <p:cBhvr>
                                        <p:cTn dur="500"/>
                                        <p:tgtEl>
                                          <p:spTgt spid="4672"/>
                                        </p:tgtEl>
                                      </p:cBhvr>
                                    </p:animEffect>
                                    <p:set>
                                      <p:cBhvr>
                                        <p:cTn dur="1" fill="hold">
                                          <p:stCondLst>
                                            <p:cond delay="500"/>
                                          </p:stCondLst>
                                        </p:cTn>
                                        <p:tgtEl>
                                          <p:spTgt spid="46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8"/>
                                        </p:tgtEl>
                                        <p:attrNameLst>
                                          <p:attrName>style.visibility</p:attrName>
                                        </p:attrNameLst>
                                      </p:cBhvr>
                                      <p:to>
                                        <p:strVal val="visible"/>
                                      </p:to>
                                    </p:set>
                                    <p:animEffect filter="fade" transition="in">
                                      <p:cBhvr>
                                        <p:cTn dur="500"/>
                                        <p:tgtEl>
                                          <p:spTgt spid="46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76"/>
                                        </p:tgtEl>
                                        <p:attrNameLst>
                                          <p:attrName>style.visibility</p:attrName>
                                        </p:attrNameLst>
                                      </p:cBhvr>
                                      <p:to>
                                        <p:strVal val="visible"/>
                                      </p:to>
                                    </p:set>
                                    <p:animEffect filter="fade" transition="in">
                                      <p:cBhvr>
                                        <p:cTn dur="1000"/>
                                        <p:tgtEl>
                                          <p:spTgt spid="467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49"/>
                                        </p:tgtEl>
                                        <p:attrNameLst>
                                          <p:attrName>style.visibility</p:attrName>
                                        </p:attrNameLst>
                                      </p:cBhvr>
                                      <p:to>
                                        <p:strVal val="visible"/>
                                      </p:to>
                                    </p:set>
                                    <p:animEffect filter="fade" transition="in">
                                      <p:cBhvr>
                                        <p:cTn dur="500"/>
                                        <p:tgtEl>
                                          <p:spTgt spid="464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63"/>
                                        </p:tgtEl>
                                        <p:attrNameLst>
                                          <p:attrName>style.visibility</p:attrName>
                                        </p:attrNameLst>
                                      </p:cBhvr>
                                      <p:to>
                                        <p:strVal val="visible"/>
                                      </p:to>
                                    </p:set>
                                    <p:animEffect filter="fade" transition="in">
                                      <p:cBhvr>
                                        <p:cTn dur="1000"/>
                                        <p:tgtEl>
                                          <p:spTgt spid="4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1"/>
                                        </p:tgtEl>
                                        <p:attrNameLst>
                                          <p:attrName>style.visibility</p:attrName>
                                        </p:attrNameLst>
                                      </p:cBhvr>
                                      <p:to>
                                        <p:strVal val="visible"/>
                                      </p:to>
                                    </p:set>
                                    <p:animEffect filter="fade" transition="in">
                                      <p:cBhvr>
                                        <p:cTn dur="1000"/>
                                        <p:tgtEl>
                                          <p:spTgt spid="4641"/>
                                        </p:tgtEl>
                                      </p:cBhvr>
                                    </p:animEffect>
                                  </p:childTnLst>
                                </p:cTn>
                              </p:par>
                              <p:par>
                                <p:cTn fill="hold" nodeType="withEffect" presetClass="exit" presetID="10" presetSubtype="0">
                                  <p:stCondLst>
                                    <p:cond delay="0"/>
                                  </p:stCondLst>
                                  <p:childTnLst>
                                    <p:animEffect filter="fade" transition="out">
                                      <p:cBhvr>
                                        <p:cTn dur="500"/>
                                        <p:tgtEl>
                                          <p:spTgt spid="4676"/>
                                        </p:tgtEl>
                                      </p:cBhvr>
                                    </p:animEffect>
                                    <p:set>
                                      <p:cBhvr>
                                        <p:cTn dur="1" fill="hold">
                                          <p:stCondLst>
                                            <p:cond delay="500"/>
                                          </p:stCondLst>
                                        </p:cTn>
                                        <p:tgtEl>
                                          <p:spTgt spid="46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0"/>
                                        </p:tgtEl>
                                        <p:attrNameLst>
                                          <p:attrName>style.visibility</p:attrName>
                                        </p:attrNameLst>
                                      </p:cBhvr>
                                      <p:to>
                                        <p:strVal val="visible"/>
                                      </p:to>
                                    </p:set>
                                    <p:animEffect filter="fade" transition="in">
                                      <p:cBhvr>
                                        <p:cTn dur="500"/>
                                        <p:tgtEl>
                                          <p:spTgt spid="46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80"/>
                                        </p:tgtEl>
                                        <p:attrNameLst>
                                          <p:attrName>style.visibility</p:attrName>
                                        </p:attrNameLst>
                                      </p:cBhvr>
                                      <p:to>
                                        <p:strVal val="visible"/>
                                      </p:to>
                                    </p:set>
                                    <p:animEffect filter="fade" transition="in">
                                      <p:cBhvr>
                                        <p:cTn dur="1000"/>
                                        <p:tgtEl>
                                          <p:spTgt spid="468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51"/>
                                        </p:tgtEl>
                                        <p:attrNameLst>
                                          <p:attrName>style.visibility</p:attrName>
                                        </p:attrNameLst>
                                      </p:cBhvr>
                                      <p:to>
                                        <p:strVal val="visible"/>
                                      </p:to>
                                    </p:set>
                                    <p:animEffect filter="fade" transition="in">
                                      <p:cBhvr>
                                        <p:cTn dur="500"/>
                                        <p:tgtEl>
                                          <p:spTgt spid="465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62"/>
                                        </p:tgtEl>
                                        <p:attrNameLst>
                                          <p:attrName>style.visibility</p:attrName>
                                        </p:attrNameLst>
                                      </p:cBhvr>
                                      <p:to>
                                        <p:strVal val="visible"/>
                                      </p:to>
                                    </p:set>
                                    <p:animEffect filter="fade" transition="in">
                                      <p:cBhvr>
                                        <p:cTn dur="1000"/>
                                        <p:tgtEl>
                                          <p:spTgt spid="4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2"/>
                                        </p:tgtEl>
                                        <p:attrNameLst>
                                          <p:attrName>style.visibility</p:attrName>
                                        </p:attrNameLst>
                                      </p:cBhvr>
                                      <p:to>
                                        <p:strVal val="visible"/>
                                      </p:to>
                                    </p:set>
                                    <p:animEffect filter="fade" transition="in">
                                      <p:cBhvr>
                                        <p:cTn dur="1000"/>
                                        <p:tgtEl>
                                          <p:spTgt spid="4652"/>
                                        </p:tgtEl>
                                      </p:cBhvr>
                                    </p:animEffect>
                                  </p:childTnLst>
                                </p:cTn>
                              </p:par>
                              <p:par>
                                <p:cTn fill="hold" nodeType="withEffect" presetClass="exit" presetID="10" presetSubtype="0">
                                  <p:stCondLst>
                                    <p:cond delay="0"/>
                                  </p:stCondLst>
                                  <p:childTnLst>
                                    <p:animEffect filter="fade" transition="out">
                                      <p:cBhvr>
                                        <p:cTn dur="500"/>
                                        <p:tgtEl>
                                          <p:spTgt spid="4680"/>
                                        </p:tgtEl>
                                      </p:cBhvr>
                                    </p:animEffect>
                                    <p:set>
                                      <p:cBhvr>
                                        <p:cTn dur="1" fill="hold">
                                          <p:stCondLst>
                                            <p:cond delay="500"/>
                                          </p:stCondLst>
                                        </p:cTn>
                                        <p:tgtEl>
                                          <p:spTgt spid="46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5"/>
                                        </p:tgtEl>
                                        <p:attrNameLst>
                                          <p:attrName>style.visibility</p:attrName>
                                        </p:attrNameLst>
                                      </p:cBhvr>
                                      <p:to>
                                        <p:strVal val="visible"/>
                                      </p:to>
                                    </p:set>
                                    <p:animEffect filter="fade" transition="in">
                                      <p:cBhvr>
                                        <p:cTn dur="500"/>
                                        <p:tgtEl>
                                          <p:spTgt spid="465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84"/>
                                        </p:tgtEl>
                                        <p:attrNameLst>
                                          <p:attrName>style.visibility</p:attrName>
                                        </p:attrNameLst>
                                      </p:cBhvr>
                                      <p:to>
                                        <p:strVal val="visible"/>
                                      </p:to>
                                    </p:set>
                                    <p:animEffect filter="fade" transition="in">
                                      <p:cBhvr>
                                        <p:cTn dur="1000"/>
                                        <p:tgtEl>
                                          <p:spTgt spid="468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56"/>
                                        </p:tgtEl>
                                        <p:attrNameLst>
                                          <p:attrName>style.visibility</p:attrName>
                                        </p:attrNameLst>
                                      </p:cBhvr>
                                      <p:to>
                                        <p:strVal val="visible"/>
                                      </p:to>
                                    </p:set>
                                    <p:animEffect filter="fade" transition="in">
                                      <p:cBhvr>
                                        <p:cTn dur="500"/>
                                        <p:tgtEl>
                                          <p:spTgt spid="465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61"/>
                                        </p:tgtEl>
                                        <p:attrNameLst>
                                          <p:attrName>style.visibility</p:attrName>
                                        </p:attrNameLst>
                                      </p:cBhvr>
                                      <p:to>
                                        <p:strVal val="visible"/>
                                      </p:to>
                                    </p:set>
                                    <p:animEffect filter="fade" transition="in">
                                      <p:cBhvr>
                                        <p:cTn dur="1000"/>
                                        <p:tgtEl>
                                          <p:spTgt spid="4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7"/>
                                        </p:tgtEl>
                                        <p:attrNameLst>
                                          <p:attrName>style.visibility</p:attrName>
                                        </p:attrNameLst>
                                      </p:cBhvr>
                                      <p:to>
                                        <p:strVal val="visible"/>
                                      </p:to>
                                    </p:set>
                                    <p:animEffect filter="fade" transition="in">
                                      <p:cBhvr>
                                        <p:cTn dur="1000"/>
                                        <p:tgtEl>
                                          <p:spTgt spid="4657"/>
                                        </p:tgtEl>
                                      </p:cBhvr>
                                    </p:animEffect>
                                  </p:childTnLst>
                                </p:cTn>
                              </p:par>
                              <p:par>
                                <p:cTn fill="hold" nodeType="withEffect" presetClass="exit" presetID="10" presetSubtype="0">
                                  <p:stCondLst>
                                    <p:cond delay="0"/>
                                  </p:stCondLst>
                                  <p:childTnLst>
                                    <p:animEffect filter="fade" transition="out">
                                      <p:cBhvr>
                                        <p:cTn dur="500"/>
                                        <p:tgtEl>
                                          <p:spTgt spid="4684"/>
                                        </p:tgtEl>
                                      </p:cBhvr>
                                    </p:animEffect>
                                    <p:set>
                                      <p:cBhvr>
                                        <p:cTn dur="1" fill="hold">
                                          <p:stCondLst>
                                            <p:cond delay="500"/>
                                          </p:stCondLst>
                                        </p:cTn>
                                        <p:tgtEl>
                                          <p:spTgt spid="468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8"/>
                                        </p:tgtEl>
                                        <p:attrNameLst>
                                          <p:attrName>style.visibility</p:attrName>
                                        </p:attrNameLst>
                                      </p:cBhvr>
                                      <p:to>
                                        <p:strVal val="visible"/>
                                      </p:to>
                                    </p:set>
                                    <p:animEffect filter="fade" transition="in">
                                      <p:cBhvr>
                                        <p:cTn dur="500"/>
                                        <p:tgtEl>
                                          <p:spTgt spid="46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88"/>
                                        </p:tgtEl>
                                        <p:attrNameLst>
                                          <p:attrName>style.visibility</p:attrName>
                                        </p:attrNameLst>
                                      </p:cBhvr>
                                      <p:to>
                                        <p:strVal val="visible"/>
                                      </p:to>
                                    </p:set>
                                    <p:animEffect filter="fade" transition="in">
                                      <p:cBhvr>
                                        <p:cTn dur="1000"/>
                                        <p:tgtEl>
                                          <p:spTgt spid="468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65"/>
                                        </p:tgtEl>
                                        <p:attrNameLst>
                                          <p:attrName>style.visibility</p:attrName>
                                        </p:attrNameLst>
                                      </p:cBhvr>
                                      <p:to>
                                        <p:strVal val="visible"/>
                                      </p:to>
                                    </p:set>
                                    <p:animEffect filter="fade" transition="in">
                                      <p:cBhvr>
                                        <p:cTn dur="500"/>
                                        <p:tgtEl>
                                          <p:spTgt spid="466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60"/>
                                        </p:tgtEl>
                                        <p:attrNameLst>
                                          <p:attrName>style.visibility</p:attrName>
                                        </p:attrNameLst>
                                      </p:cBhvr>
                                      <p:to>
                                        <p:strVal val="visible"/>
                                      </p:to>
                                    </p:set>
                                    <p:animEffect filter="fade" transition="in">
                                      <p:cBhvr>
                                        <p:cTn dur="1000"/>
                                        <p:tgtEl>
                                          <p:spTgt spid="4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9"/>
                                        </p:tgtEl>
                                        <p:attrNameLst>
                                          <p:attrName>style.visibility</p:attrName>
                                        </p:attrNameLst>
                                      </p:cBhvr>
                                      <p:to>
                                        <p:strVal val="visible"/>
                                      </p:to>
                                    </p:set>
                                    <p:animEffect filter="fade" transition="in">
                                      <p:cBhvr>
                                        <p:cTn dur="500"/>
                                        <p:tgtEl>
                                          <p:spTgt spid="4659"/>
                                        </p:tgtEl>
                                      </p:cBhvr>
                                    </p:animEffect>
                                  </p:childTnLst>
                                </p:cTn>
                              </p:par>
                              <p:par>
                                <p:cTn fill="hold" nodeType="withEffect" presetClass="exit" presetID="10" presetSubtype="0">
                                  <p:stCondLst>
                                    <p:cond delay="0"/>
                                  </p:stCondLst>
                                  <p:childTnLst>
                                    <p:animEffect filter="fade" transition="out">
                                      <p:cBhvr>
                                        <p:cTn dur="500"/>
                                        <p:tgtEl>
                                          <p:spTgt spid="4688"/>
                                        </p:tgtEl>
                                      </p:cBhvr>
                                    </p:animEffect>
                                    <p:set>
                                      <p:cBhvr>
                                        <p:cTn dur="1" fill="hold">
                                          <p:stCondLst>
                                            <p:cond delay="500"/>
                                          </p:stCondLst>
                                        </p:cTn>
                                        <p:tgtEl>
                                          <p:spTgt spid="46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5" name="Shape 4695"/>
        <p:cNvGrpSpPr/>
        <p:nvPr/>
      </p:nvGrpSpPr>
      <p:grpSpPr>
        <a:xfrm>
          <a:off x="0" y="0"/>
          <a:ext cx="0" cy="0"/>
          <a:chOff x="0" y="0"/>
          <a:chExt cx="0" cy="0"/>
        </a:xfrm>
      </p:grpSpPr>
      <p:sp>
        <p:nvSpPr>
          <p:cNvPr id="4696" name="Google Shape;4696;p66"/>
          <p:cNvSpPr txBox="1"/>
          <p:nvPr>
            <p:ph idx="1" type="body"/>
          </p:nvPr>
        </p:nvSpPr>
        <p:spPr>
          <a:xfrm>
            <a:off x="838200" y="1724027"/>
            <a:ext cx="10813026" cy="517728"/>
          </a:xfrm>
          <a:prstGeom prst="rect">
            <a:avLst/>
          </a:prstGeom>
          <a:noFill/>
          <a:ln>
            <a:noFill/>
          </a:ln>
        </p:spPr>
        <p:txBody>
          <a:bodyPr anchorCtr="0" anchor="t" bIns="45700" lIns="91425" spcFirstLastPara="1" rIns="91425" wrap="square" tIns="45700">
            <a:normAutofit lnSpcReduction="10000"/>
          </a:bodyPr>
          <a:lstStyle/>
          <a:p>
            <a:pPr indent="0" lvl="0" marL="130175" rtl="0" algn="l">
              <a:lnSpc>
                <a:spcPct val="90000"/>
              </a:lnSpc>
              <a:spcBef>
                <a:spcPts val="0"/>
              </a:spcBef>
              <a:spcAft>
                <a:spcPts val="0"/>
              </a:spcAft>
              <a:buSzPts val="3200"/>
              <a:buNone/>
            </a:pPr>
            <a:r>
              <a:rPr lang="en-US" sz="3200"/>
              <a:t>Based on </a:t>
            </a:r>
            <a:r>
              <a:rPr i="1" lang="en-US" sz="3200">
                <a:solidFill>
                  <a:srgbClr val="0000A8"/>
                </a:solidFill>
              </a:rPr>
              <a:t>Bellman-Ford</a:t>
            </a:r>
            <a:r>
              <a:rPr lang="en-US" sz="3200"/>
              <a:t> (BF) equation (dynamic programming):</a:t>
            </a:r>
            <a:endParaRPr/>
          </a:p>
          <a:p>
            <a:pPr indent="-44450" lvl="0" marL="352425" rtl="0" algn="l">
              <a:lnSpc>
                <a:spcPct val="90000"/>
              </a:lnSpc>
              <a:spcBef>
                <a:spcPts val="1000"/>
              </a:spcBef>
              <a:spcAft>
                <a:spcPts val="0"/>
              </a:spcAft>
              <a:buSzPts val="2800"/>
              <a:buNone/>
            </a:pPr>
            <a:r>
              <a:t/>
            </a:r>
            <a:endParaRPr/>
          </a:p>
        </p:txBody>
      </p:sp>
      <p:sp>
        <p:nvSpPr>
          <p:cNvPr id="4697" name="Google Shape;4697;p6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algorithm </a:t>
            </a:r>
            <a:endParaRPr/>
          </a:p>
        </p:txBody>
      </p:sp>
      <p:sp>
        <p:nvSpPr>
          <p:cNvPr id="4698" name="Google Shape;4698;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grpSp>
        <p:nvGrpSpPr>
          <p:cNvPr id="4699" name="Google Shape;4699;p66"/>
          <p:cNvGrpSpPr/>
          <p:nvPr/>
        </p:nvGrpSpPr>
        <p:grpSpPr>
          <a:xfrm>
            <a:off x="1902542" y="2507226"/>
            <a:ext cx="8854256" cy="2757948"/>
            <a:chOff x="1902542" y="2507226"/>
            <a:chExt cx="8854256" cy="2757948"/>
          </a:xfrm>
        </p:grpSpPr>
        <p:sp>
          <p:nvSpPr>
            <p:cNvPr id="4700" name="Google Shape;4700;p66"/>
            <p:cNvSpPr txBox="1"/>
            <p:nvPr/>
          </p:nvSpPr>
          <p:spPr>
            <a:xfrm>
              <a:off x="2803423" y="3288890"/>
              <a:ext cx="7953375" cy="1976284"/>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90000"/>
                </a:lnSpc>
                <a:spcBef>
                  <a:spcPts val="0"/>
                </a:spcBef>
                <a:spcAft>
                  <a:spcPts val="0"/>
                </a:spcAft>
                <a:buClr>
                  <a:srgbClr val="0000A3"/>
                </a:buClr>
                <a:buSzPct val="100000"/>
                <a:buFont typeface="Noto Sans Symbols"/>
                <a:buNone/>
              </a:pPr>
              <a:r>
                <a:rPr lang="en-US" sz="3000">
                  <a:solidFill>
                    <a:srgbClr val="000000"/>
                  </a:solidFill>
                  <a:latin typeface="Arial"/>
                  <a:ea typeface="Arial"/>
                  <a:cs typeface="Arial"/>
                  <a:sym typeface="Arial"/>
                </a:rPr>
                <a:t>Let </a:t>
              </a:r>
              <a:r>
                <a:rPr i="1" lang="en-US" sz="3000">
                  <a:solidFill>
                    <a:srgbClr val="000000"/>
                  </a:solidFill>
                  <a:latin typeface="Arial"/>
                  <a:ea typeface="Arial"/>
                  <a:cs typeface="Arial"/>
                  <a:sym typeface="Arial"/>
                </a:rPr>
                <a:t>D</a:t>
              </a:r>
              <a:r>
                <a:rPr baseline="-25000" i="1" lang="en-US" sz="3000">
                  <a:solidFill>
                    <a:srgbClr val="000000"/>
                  </a:solidFill>
                  <a:latin typeface="Arial"/>
                  <a:ea typeface="Arial"/>
                  <a:cs typeface="Arial"/>
                  <a:sym typeface="Arial"/>
                </a:rPr>
                <a:t>x</a:t>
              </a:r>
              <a:r>
                <a:rPr i="1" lang="en-US" sz="3000">
                  <a:solidFill>
                    <a:srgbClr val="000000"/>
                  </a:solidFill>
                  <a:latin typeface="Arial"/>
                  <a:ea typeface="Arial"/>
                  <a:cs typeface="Arial"/>
                  <a:sym typeface="Arial"/>
                </a:rPr>
                <a:t>(y): </a:t>
              </a:r>
              <a:r>
                <a:rPr lang="en-US" sz="3000">
                  <a:solidFill>
                    <a:srgbClr val="000000"/>
                  </a:solidFill>
                  <a:latin typeface="Arial"/>
                  <a:ea typeface="Arial"/>
                  <a:cs typeface="Arial"/>
                  <a:sym typeface="Arial"/>
                </a:rPr>
                <a:t>cost of least-cost path from </a:t>
              </a:r>
              <a:r>
                <a:rPr i="1" lang="en-US" sz="3000">
                  <a:solidFill>
                    <a:srgbClr val="000000"/>
                  </a:solidFill>
                  <a:latin typeface="Arial"/>
                  <a:ea typeface="Arial"/>
                  <a:cs typeface="Arial"/>
                  <a:sym typeface="Arial"/>
                </a:rPr>
                <a:t>x</a:t>
              </a:r>
              <a:r>
                <a:rPr lang="en-US" sz="3000">
                  <a:solidFill>
                    <a:srgbClr val="000000"/>
                  </a:solidFill>
                  <a:latin typeface="Arial"/>
                  <a:ea typeface="Arial"/>
                  <a:cs typeface="Arial"/>
                  <a:sym typeface="Arial"/>
                </a:rPr>
                <a:t> to </a:t>
              </a:r>
              <a:r>
                <a:rPr i="1" lang="en-US" sz="3000">
                  <a:solidFill>
                    <a:srgbClr val="000000"/>
                  </a:solidFill>
                  <a:latin typeface="Arial"/>
                  <a:ea typeface="Arial"/>
                  <a:cs typeface="Arial"/>
                  <a:sym typeface="Arial"/>
                </a:rPr>
                <a:t>y</a:t>
              </a:r>
              <a:r>
                <a:rPr lang="en-US" sz="3000">
                  <a:solidFill>
                    <a:srgbClr val="000000"/>
                  </a:solidFill>
                  <a:latin typeface="Arial"/>
                  <a:ea typeface="Arial"/>
                  <a:cs typeface="Arial"/>
                  <a:sym typeface="Arial"/>
                </a:rPr>
                <a:t>.</a:t>
              </a:r>
              <a:endParaRPr/>
            </a:p>
            <a:p>
              <a:pPr indent="-222250" lvl="0" marL="352425" marR="0" rtl="0" algn="l">
                <a:lnSpc>
                  <a:spcPct val="90000"/>
                </a:lnSpc>
                <a:spcBef>
                  <a:spcPts val="1000"/>
                </a:spcBef>
                <a:spcAft>
                  <a:spcPts val="0"/>
                </a:spcAft>
                <a:buClr>
                  <a:srgbClr val="0000A3"/>
                </a:buClr>
                <a:buSzPct val="100000"/>
                <a:buFont typeface="Noto Sans Symbols"/>
                <a:buNone/>
              </a:pPr>
              <a:r>
                <a:rPr lang="en-US" sz="3000">
                  <a:solidFill>
                    <a:srgbClr val="000000"/>
                  </a:solidFill>
                  <a:latin typeface="Arial"/>
                  <a:ea typeface="Arial"/>
                  <a:cs typeface="Arial"/>
                  <a:sym typeface="Arial"/>
                </a:rPr>
                <a:t>Then:</a:t>
              </a:r>
              <a:endParaRPr/>
            </a:p>
            <a:p>
              <a:pPr indent="-222250" lvl="0" marL="352425" marR="0" rtl="0" algn="l">
                <a:lnSpc>
                  <a:spcPct val="90000"/>
                </a:lnSpc>
                <a:spcBef>
                  <a:spcPts val="1000"/>
                </a:spcBef>
                <a:spcAft>
                  <a:spcPts val="0"/>
                </a:spcAft>
                <a:buClr>
                  <a:srgbClr val="0000A3"/>
                </a:buClr>
                <a:buSzPct val="100000"/>
                <a:buFont typeface="Noto Sans Symbols"/>
                <a:buNone/>
              </a:pPr>
              <a:r>
                <a:rPr lang="en-US" sz="2800">
                  <a:solidFill>
                    <a:srgbClr val="CC0000"/>
                  </a:solidFill>
                  <a:latin typeface="Arial"/>
                  <a:ea typeface="Arial"/>
                  <a:cs typeface="Arial"/>
                  <a:sym typeface="Arial"/>
                </a:rPr>
                <a:t>   </a:t>
              </a:r>
              <a:r>
                <a:rPr i="1" lang="en-US" sz="3200">
                  <a:solidFill>
                    <a:srgbClr val="CC0000"/>
                  </a:solidFill>
                  <a:latin typeface="Arial"/>
                  <a:ea typeface="Arial"/>
                  <a:cs typeface="Arial"/>
                  <a:sym typeface="Arial"/>
                </a:rPr>
                <a:t>D</a:t>
              </a:r>
              <a:r>
                <a:rPr baseline="-25000" i="1" lang="en-US" sz="3200">
                  <a:solidFill>
                    <a:srgbClr val="CC0000"/>
                  </a:solidFill>
                  <a:latin typeface="Arial"/>
                  <a:ea typeface="Arial"/>
                  <a:cs typeface="Arial"/>
                  <a:sym typeface="Arial"/>
                </a:rPr>
                <a:t>x</a:t>
              </a:r>
              <a:r>
                <a:rPr i="1" lang="en-US" sz="3200">
                  <a:solidFill>
                    <a:srgbClr val="CC0000"/>
                  </a:solidFill>
                  <a:latin typeface="Arial"/>
                  <a:ea typeface="Arial"/>
                  <a:cs typeface="Arial"/>
                  <a:sym typeface="Arial"/>
                </a:rPr>
                <a:t>(y) = </a:t>
              </a:r>
              <a:r>
                <a:rPr lang="en-US" sz="3200">
                  <a:solidFill>
                    <a:srgbClr val="CC0000"/>
                  </a:solidFill>
                  <a:latin typeface="Arial"/>
                  <a:ea typeface="Arial"/>
                  <a:cs typeface="Arial"/>
                  <a:sym typeface="Arial"/>
                </a:rPr>
                <a:t>min</a:t>
              </a:r>
              <a:r>
                <a:rPr baseline="-25000" i="1" lang="en-US" sz="3200">
                  <a:solidFill>
                    <a:srgbClr val="CC0000"/>
                  </a:solidFill>
                  <a:latin typeface="Arial"/>
                  <a:ea typeface="Arial"/>
                  <a:cs typeface="Arial"/>
                  <a:sym typeface="Arial"/>
                </a:rPr>
                <a:t>v</a:t>
              </a:r>
              <a:r>
                <a:rPr i="1" lang="en-US" sz="3200">
                  <a:solidFill>
                    <a:srgbClr val="CC0000"/>
                  </a:solidFill>
                  <a:latin typeface="Arial"/>
                  <a:ea typeface="Arial"/>
                  <a:cs typeface="Arial"/>
                  <a:sym typeface="Arial"/>
                </a:rPr>
                <a:t> { c</a:t>
              </a:r>
              <a:r>
                <a:rPr baseline="-25000" i="1" lang="en-US" sz="3200">
                  <a:solidFill>
                    <a:srgbClr val="CC0000"/>
                  </a:solidFill>
                  <a:latin typeface="Arial"/>
                  <a:ea typeface="Arial"/>
                  <a:cs typeface="Arial"/>
                  <a:sym typeface="Arial"/>
                </a:rPr>
                <a:t>x,v </a:t>
              </a:r>
              <a:r>
                <a:rPr i="1" lang="en-US" sz="3200">
                  <a:solidFill>
                    <a:srgbClr val="CC0000"/>
                  </a:solidFill>
                  <a:latin typeface="Arial"/>
                  <a:ea typeface="Arial"/>
                  <a:cs typeface="Arial"/>
                  <a:sym typeface="Arial"/>
                </a:rPr>
                <a:t>+ D</a:t>
              </a:r>
              <a:r>
                <a:rPr baseline="-25000" i="1" lang="en-US" sz="3200">
                  <a:solidFill>
                    <a:srgbClr val="CC0000"/>
                  </a:solidFill>
                  <a:latin typeface="Arial"/>
                  <a:ea typeface="Arial"/>
                  <a:cs typeface="Arial"/>
                  <a:sym typeface="Arial"/>
                </a:rPr>
                <a:t>v</a:t>
              </a:r>
              <a:r>
                <a:rPr i="1" lang="en-US" sz="3200">
                  <a:solidFill>
                    <a:srgbClr val="CC0000"/>
                  </a:solidFill>
                  <a:latin typeface="Arial"/>
                  <a:ea typeface="Arial"/>
                  <a:cs typeface="Arial"/>
                  <a:sym typeface="Arial"/>
                </a:rPr>
                <a:t>(y) }</a:t>
              </a:r>
              <a:endParaRPr/>
            </a:p>
            <a:p>
              <a:pPr indent="-222250" lvl="0" marL="352425" marR="0" rtl="0" algn="l">
                <a:lnSpc>
                  <a:spcPct val="90000"/>
                </a:lnSpc>
                <a:spcBef>
                  <a:spcPts val="1000"/>
                </a:spcBef>
                <a:spcAft>
                  <a:spcPts val="0"/>
                </a:spcAft>
                <a:buClr>
                  <a:srgbClr val="0000A3"/>
                </a:buClr>
                <a:buSzPct val="100000"/>
                <a:buFont typeface="Noto Sans Symbols"/>
                <a:buNone/>
              </a:pPr>
              <a:r>
                <a:rPr lang="en-US" sz="3200">
                  <a:solidFill>
                    <a:srgbClr val="000000"/>
                  </a:solidFill>
                  <a:latin typeface="Arial"/>
                  <a:ea typeface="Arial"/>
                  <a:cs typeface="Arial"/>
                  <a:sym typeface="Arial"/>
                </a:rPr>
                <a:t>   </a:t>
              </a:r>
              <a:endParaRPr/>
            </a:p>
            <a:p>
              <a:pPr indent="-222250" lvl="0" marL="352425" marR="0" rtl="0" algn="l">
                <a:lnSpc>
                  <a:spcPct val="90000"/>
                </a:lnSpc>
                <a:spcBef>
                  <a:spcPts val="1000"/>
                </a:spcBef>
                <a:spcAft>
                  <a:spcPts val="0"/>
                </a:spcAft>
                <a:buClr>
                  <a:srgbClr val="0000A3"/>
                </a:buClr>
                <a:buSzPct val="100000"/>
                <a:buFont typeface="Noto Sans Symbols"/>
                <a:buNone/>
              </a:pPr>
              <a:r>
                <a:t/>
              </a:r>
              <a:endParaRPr sz="2800">
                <a:solidFill>
                  <a:srgbClr val="000000"/>
                </a:solidFill>
                <a:latin typeface="Gill Sans"/>
                <a:ea typeface="Gill Sans"/>
                <a:cs typeface="Gill Sans"/>
                <a:sym typeface="Gill Sans"/>
              </a:endParaRPr>
            </a:p>
          </p:txBody>
        </p:sp>
        <p:sp>
          <p:nvSpPr>
            <p:cNvPr id="4701" name="Google Shape;4701;p66"/>
            <p:cNvSpPr/>
            <p:nvPr/>
          </p:nvSpPr>
          <p:spPr>
            <a:xfrm>
              <a:off x="1902542" y="2743199"/>
              <a:ext cx="8686800" cy="2182761"/>
            </a:xfrm>
            <a:prstGeom prst="rect">
              <a:avLst/>
            </a:prstGeom>
            <a:noFill/>
            <a:ln cap="flat" cmpd="sng" w="254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702" name="Google Shape;4702;p66"/>
            <p:cNvSpPr txBox="1"/>
            <p:nvPr/>
          </p:nvSpPr>
          <p:spPr>
            <a:xfrm>
              <a:off x="2418735" y="2507226"/>
              <a:ext cx="304750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Calibri"/>
                  <a:ea typeface="Calibri"/>
                  <a:cs typeface="Calibri"/>
                  <a:sym typeface="Calibri"/>
                </a:rPr>
                <a:t>Bellman-Ford equation</a:t>
              </a:r>
              <a:endParaRPr/>
            </a:p>
          </p:txBody>
        </p:sp>
      </p:grpSp>
      <p:grpSp>
        <p:nvGrpSpPr>
          <p:cNvPr id="4703" name="Google Shape;4703;p66"/>
          <p:cNvGrpSpPr/>
          <p:nvPr/>
        </p:nvGrpSpPr>
        <p:grpSpPr>
          <a:xfrm>
            <a:off x="882140" y="4742711"/>
            <a:ext cx="4443412" cy="1557316"/>
            <a:chOff x="2040982" y="4374411"/>
            <a:chExt cx="4443412" cy="1557316"/>
          </a:xfrm>
        </p:grpSpPr>
        <p:sp>
          <p:nvSpPr>
            <p:cNvPr id="4704" name="Google Shape;4704;p66"/>
            <p:cNvSpPr txBox="1"/>
            <p:nvPr/>
          </p:nvSpPr>
          <p:spPr>
            <a:xfrm>
              <a:off x="2040982" y="5474527"/>
              <a:ext cx="4443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000000"/>
                  </a:solidFill>
                  <a:latin typeface="Calibri"/>
                  <a:ea typeface="Calibri"/>
                  <a:cs typeface="Calibri"/>
                  <a:sym typeface="Calibri"/>
                </a:rPr>
                <a:t>min</a:t>
              </a:r>
              <a:r>
                <a:rPr lang="en-US" sz="2400">
                  <a:solidFill>
                    <a:srgbClr val="000000"/>
                  </a:solidFill>
                  <a:latin typeface="Calibri"/>
                  <a:ea typeface="Calibri"/>
                  <a:cs typeface="Calibri"/>
                  <a:sym typeface="Calibri"/>
                </a:rPr>
                <a:t> taken over all neighbors</a:t>
              </a:r>
              <a:r>
                <a:rPr i="1" lang="en-US" sz="2400">
                  <a:solidFill>
                    <a:srgbClr val="000000"/>
                  </a:solidFill>
                  <a:latin typeface="Calibri"/>
                  <a:ea typeface="Calibri"/>
                  <a:cs typeface="Calibri"/>
                  <a:sym typeface="Calibri"/>
                </a:rPr>
                <a:t> v </a:t>
              </a:r>
              <a:r>
                <a:rPr lang="en-US" sz="2400">
                  <a:solidFill>
                    <a:srgbClr val="000000"/>
                  </a:solidFill>
                  <a:latin typeface="Calibri"/>
                  <a:ea typeface="Calibri"/>
                  <a:cs typeface="Calibri"/>
                  <a:sym typeface="Calibri"/>
                </a:rPr>
                <a:t>of </a:t>
              </a:r>
              <a:r>
                <a:rPr i="1" lang="en-US" sz="2400">
                  <a:solidFill>
                    <a:srgbClr val="000000"/>
                  </a:solidFill>
                  <a:latin typeface="Calibri"/>
                  <a:ea typeface="Calibri"/>
                  <a:cs typeface="Calibri"/>
                  <a:sym typeface="Calibri"/>
                </a:rPr>
                <a:t>x</a:t>
              </a:r>
              <a:endParaRPr/>
            </a:p>
          </p:txBody>
        </p:sp>
        <p:cxnSp>
          <p:nvCxnSpPr>
            <p:cNvPr id="4705" name="Google Shape;4705;p66"/>
            <p:cNvCxnSpPr/>
            <p:nvPr/>
          </p:nvCxnSpPr>
          <p:spPr>
            <a:xfrm>
              <a:off x="6409694" y="4374411"/>
              <a:ext cx="0" cy="1357464"/>
            </a:xfrm>
            <a:prstGeom prst="straightConnector1">
              <a:avLst/>
            </a:prstGeom>
            <a:noFill/>
            <a:ln cap="flat" cmpd="sng" w="12700">
              <a:solidFill>
                <a:srgbClr val="0000A8"/>
              </a:solidFill>
              <a:prstDash val="solid"/>
              <a:round/>
              <a:headEnd len="med" w="med" type="none"/>
              <a:tailEnd len="med" w="med" type="none"/>
            </a:ln>
          </p:spPr>
        </p:cxnSp>
      </p:grpSp>
      <p:grpSp>
        <p:nvGrpSpPr>
          <p:cNvPr id="4706" name="Google Shape;4706;p66"/>
          <p:cNvGrpSpPr/>
          <p:nvPr/>
        </p:nvGrpSpPr>
        <p:grpSpPr>
          <a:xfrm>
            <a:off x="6490417" y="4684735"/>
            <a:ext cx="4855304" cy="1072830"/>
            <a:chOff x="6490417" y="4684735"/>
            <a:chExt cx="4855304" cy="1072830"/>
          </a:xfrm>
        </p:grpSpPr>
        <p:sp>
          <p:nvSpPr>
            <p:cNvPr id="4707" name="Google Shape;4707;p66"/>
            <p:cNvSpPr txBox="1"/>
            <p:nvPr/>
          </p:nvSpPr>
          <p:spPr>
            <a:xfrm>
              <a:off x="6490417" y="5295900"/>
              <a:ext cx="485530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000000"/>
                  </a:solidFill>
                  <a:latin typeface="Calibri"/>
                  <a:ea typeface="Calibri"/>
                  <a:cs typeface="Calibri"/>
                  <a:sym typeface="Calibri"/>
                </a:rPr>
                <a:t>v</a:t>
              </a:r>
              <a:r>
                <a:rPr lang="en-US" sz="2400">
                  <a:solidFill>
                    <a:srgbClr val="000000"/>
                  </a:solidFill>
                  <a:latin typeface="Calibri"/>
                  <a:ea typeface="Calibri"/>
                  <a:cs typeface="Calibri"/>
                  <a:sym typeface="Calibri"/>
                </a:rPr>
                <a:t>’s estimated least-cost-path cost to </a:t>
              </a:r>
              <a:r>
                <a:rPr i="1" lang="en-US" sz="2400">
                  <a:solidFill>
                    <a:srgbClr val="000000"/>
                  </a:solidFill>
                  <a:latin typeface="Calibri"/>
                  <a:ea typeface="Calibri"/>
                  <a:cs typeface="Calibri"/>
                  <a:sym typeface="Calibri"/>
                </a:rPr>
                <a:t>y</a:t>
              </a:r>
              <a:endParaRPr/>
            </a:p>
          </p:txBody>
        </p:sp>
        <p:cxnSp>
          <p:nvCxnSpPr>
            <p:cNvPr id="4708" name="Google Shape;4708;p66"/>
            <p:cNvCxnSpPr/>
            <p:nvPr/>
          </p:nvCxnSpPr>
          <p:spPr>
            <a:xfrm rot="10800000">
              <a:off x="6789107" y="4684735"/>
              <a:ext cx="0" cy="713983"/>
            </a:xfrm>
            <a:prstGeom prst="straightConnector1">
              <a:avLst/>
            </a:prstGeom>
            <a:noFill/>
            <a:ln cap="flat" cmpd="sng" w="12700">
              <a:solidFill>
                <a:srgbClr val="0000A8"/>
              </a:solidFill>
              <a:prstDash val="solid"/>
              <a:miter lim="8000"/>
              <a:headEnd len="sm" w="sm" type="none"/>
              <a:tailEnd len="sm" w="sm" type="none"/>
            </a:ln>
          </p:spPr>
        </p:cxnSp>
      </p:grpSp>
      <p:grpSp>
        <p:nvGrpSpPr>
          <p:cNvPr id="4709" name="Google Shape;4709;p66"/>
          <p:cNvGrpSpPr/>
          <p:nvPr/>
        </p:nvGrpSpPr>
        <p:grpSpPr>
          <a:xfrm>
            <a:off x="5898825" y="4749453"/>
            <a:ext cx="3734933" cy="1589812"/>
            <a:chOff x="5898825" y="4749453"/>
            <a:chExt cx="3734933" cy="1589812"/>
          </a:xfrm>
        </p:grpSpPr>
        <p:sp>
          <p:nvSpPr>
            <p:cNvPr id="4710" name="Google Shape;4710;p66"/>
            <p:cNvSpPr txBox="1"/>
            <p:nvPr/>
          </p:nvSpPr>
          <p:spPr>
            <a:xfrm>
              <a:off x="5898825" y="5877600"/>
              <a:ext cx="3734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direct cost of link from</a:t>
              </a:r>
              <a:r>
                <a:rPr i="1" lang="en-US" sz="2400">
                  <a:solidFill>
                    <a:srgbClr val="000000"/>
                  </a:solidFill>
                  <a:latin typeface="Calibri"/>
                  <a:ea typeface="Calibri"/>
                  <a:cs typeface="Calibri"/>
                  <a:sym typeface="Calibri"/>
                </a:rPr>
                <a:t> x </a:t>
              </a:r>
              <a:r>
                <a:rPr lang="en-US" sz="2400">
                  <a:solidFill>
                    <a:srgbClr val="000000"/>
                  </a:solidFill>
                  <a:latin typeface="Calibri"/>
                  <a:ea typeface="Calibri"/>
                  <a:cs typeface="Calibri"/>
                  <a:sym typeface="Calibri"/>
                </a:rPr>
                <a:t>to </a:t>
              </a:r>
              <a:r>
                <a:rPr i="1" lang="en-US" sz="2400">
                  <a:solidFill>
                    <a:srgbClr val="000000"/>
                  </a:solidFill>
                  <a:latin typeface="Calibri"/>
                  <a:ea typeface="Calibri"/>
                  <a:cs typeface="Calibri"/>
                  <a:sym typeface="Calibri"/>
                </a:rPr>
                <a:t>v</a:t>
              </a:r>
              <a:endParaRPr/>
            </a:p>
          </p:txBody>
        </p:sp>
        <p:cxnSp>
          <p:nvCxnSpPr>
            <p:cNvPr id="4711" name="Google Shape;4711;p66"/>
            <p:cNvCxnSpPr/>
            <p:nvPr/>
          </p:nvCxnSpPr>
          <p:spPr>
            <a:xfrm rot="10800000">
              <a:off x="5901847" y="4749453"/>
              <a:ext cx="0" cy="1338196"/>
            </a:xfrm>
            <a:prstGeom prst="straightConnector1">
              <a:avLst/>
            </a:prstGeom>
            <a:noFill/>
            <a:ln cap="flat" cmpd="sng" w="12700">
              <a:solidFill>
                <a:srgbClr val="0000A8"/>
              </a:solidFill>
              <a:prstDash val="solid"/>
              <a:miter lim="8000"/>
              <a:headEnd len="sm" w="sm" type="none"/>
              <a:tailEnd len="sm" w="sm" type="none"/>
            </a:ln>
          </p:spPr>
        </p:cxn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9"/>
                                        </p:tgtEl>
                                        <p:attrNameLst>
                                          <p:attrName>style.visibility</p:attrName>
                                        </p:attrNameLst>
                                      </p:cBhvr>
                                      <p:to>
                                        <p:strVal val="visible"/>
                                      </p:to>
                                    </p:set>
                                    <p:animEffect filter="fade" transition="in">
                                      <p:cBhvr>
                                        <p:cTn dur="500"/>
                                        <p:tgtEl>
                                          <p:spTgt spid="4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9"/>
                                        </p:tgtEl>
                                        <p:attrNameLst>
                                          <p:attrName>style.visibility</p:attrName>
                                        </p:attrNameLst>
                                      </p:cBhvr>
                                      <p:to>
                                        <p:strVal val="visible"/>
                                      </p:to>
                                    </p:set>
                                    <p:animEffect filter="fade" transition="in">
                                      <p:cBhvr>
                                        <p:cTn dur="500"/>
                                        <p:tgtEl>
                                          <p:spTgt spid="47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6"/>
                                        </p:tgtEl>
                                        <p:attrNameLst>
                                          <p:attrName>style.visibility</p:attrName>
                                        </p:attrNameLst>
                                      </p:cBhvr>
                                      <p:to>
                                        <p:strVal val="visible"/>
                                      </p:to>
                                    </p:set>
                                    <p:animEffect filter="fade" transition="in">
                                      <p:cBhvr>
                                        <p:cTn dur="500"/>
                                        <p:tgtEl>
                                          <p:spTgt spid="47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3"/>
                                        </p:tgtEl>
                                        <p:attrNameLst>
                                          <p:attrName>style.visibility</p:attrName>
                                        </p:attrNameLst>
                                      </p:cBhvr>
                                      <p:to>
                                        <p:strVal val="visible"/>
                                      </p:to>
                                    </p:set>
                                    <p:animEffect filter="fade" transition="in">
                                      <p:cBhvr>
                                        <p:cTn dur="500"/>
                                        <p:tgtEl>
                                          <p:spTgt spid="47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5" name="Shape 4715"/>
        <p:cNvGrpSpPr/>
        <p:nvPr/>
      </p:nvGrpSpPr>
      <p:grpSpPr>
        <a:xfrm>
          <a:off x="0" y="0"/>
          <a:ext cx="0" cy="0"/>
          <a:chOff x="0" y="0"/>
          <a:chExt cx="0" cy="0"/>
        </a:xfrm>
      </p:grpSpPr>
      <p:sp>
        <p:nvSpPr>
          <p:cNvPr id="4716" name="Google Shape;4716;p6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Bellman-Ford Example</a:t>
            </a:r>
            <a:endParaRPr/>
          </a:p>
        </p:txBody>
      </p:sp>
      <p:sp>
        <p:nvSpPr>
          <p:cNvPr id="4717" name="Google Shape;4717;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4718" name="Google Shape;4718;p67"/>
          <p:cNvSpPr/>
          <p:nvPr/>
        </p:nvSpPr>
        <p:spPr>
          <a:xfrm>
            <a:off x="1464895" y="2577601"/>
            <a:ext cx="3571875" cy="2236788"/>
          </a:xfrm>
          <a:custGeom>
            <a:rect b="b" l="l" r="r" t="t"/>
            <a:pathLst>
              <a:path extrusionOk="0" h="1409" w="2250">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19" name="Google Shape;4719;p67"/>
          <p:cNvSpPr/>
          <p:nvPr/>
        </p:nvSpPr>
        <p:spPr>
          <a:xfrm>
            <a:off x="1974545" y="3431326"/>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20" name="Google Shape;4720;p67"/>
          <p:cNvSpPr/>
          <p:nvPr/>
        </p:nvSpPr>
        <p:spPr>
          <a:xfrm>
            <a:off x="1561795" y="381550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721" name="Google Shape;4721;p67"/>
          <p:cNvCxnSpPr/>
          <p:nvPr/>
        </p:nvCxnSpPr>
        <p:spPr>
          <a:xfrm>
            <a:off x="1561795" y="380438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722" name="Google Shape;4722;p67"/>
          <p:cNvCxnSpPr/>
          <p:nvPr/>
        </p:nvCxnSpPr>
        <p:spPr>
          <a:xfrm>
            <a:off x="2058683" y="3804388"/>
            <a:ext cx="0" cy="79375"/>
          </a:xfrm>
          <a:prstGeom prst="straightConnector1">
            <a:avLst/>
          </a:prstGeom>
          <a:noFill/>
          <a:ln cap="flat" cmpd="sng" w="12700">
            <a:solidFill>
              <a:srgbClr val="000000"/>
            </a:solidFill>
            <a:prstDash val="solid"/>
            <a:round/>
            <a:headEnd len="med" w="med" type="none"/>
            <a:tailEnd len="med" w="med" type="none"/>
          </a:ln>
        </p:spPr>
      </p:cxnSp>
      <p:sp>
        <p:nvSpPr>
          <p:cNvPr id="4723" name="Google Shape;4723;p67"/>
          <p:cNvSpPr/>
          <p:nvPr/>
        </p:nvSpPr>
        <p:spPr>
          <a:xfrm>
            <a:off x="1561795" y="380438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724" name="Google Shape;4724;p67"/>
          <p:cNvSpPr/>
          <p:nvPr/>
        </p:nvSpPr>
        <p:spPr>
          <a:xfrm>
            <a:off x="1557033" y="371072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25" name="Google Shape;4725;p67"/>
          <p:cNvSpPr/>
          <p:nvPr/>
        </p:nvSpPr>
        <p:spPr>
          <a:xfrm>
            <a:off x="3408058" y="442510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726" name="Google Shape;4726;p67"/>
          <p:cNvCxnSpPr/>
          <p:nvPr/>
        </p:nvCxnSpPr>
        <p:spPr>
          <a:xfrm>
            <a:off x="3408058" y="441398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727" name="Google Shape;4727;p67"/>
          <p:cNvCxnSpPr/>
          <p:nvPr/>
        </p:nvCxnSpPr>
        <p:spPr>
          <a:xfrm>
            <a:off x="3904945" y="4413988"/>
            <a:ext cx="0" cy="79375"/>
          </a:xfrm>
          <a:prstGeom prst="straightConnector1">
            <a:avLst/>
          </a:prstGeom>
          <a:noFill/>
          <a:ln cap="flat" cmpd="sng" w="12700">
            <a:solidFill>
              <a:srgbClr val="000000"/>
            </a:solidFill>
            <a:prstDash val="solid"/>
            <a:round/>
            <a:headEnd len="med" w="med" type="none"/>
            <a:tailEnd len="med" w="med" type="none"/>
          </a:ln>
        </p:spPr>
      </p:cxnSp>
      <p:sp>
        <p:nvSpPr>
          <p:cNvPr id="4728" name="Google Shape;4728;p67"/>
          <p:cNvSpPr/>
          <p:nvPr/>
        </p:nvSpPr>
        <p:spPr>
          <a:xfrm>
            <a:off x="3408058" y="441398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729" name="Google Shape;4729;p67"/>
          <p:cNvSpPr/>
          <p:nvPr/>
        </p:nvSpPr>
        <p:spPr>
          <a:xfrm>
            <a:off x="3403295" y="432032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30" name="Google Shape;4730;p67"/>
          <p:cNvSpPr/>
          <p:nvPr/>
        </p:nvSpPr>
        <p:spPr>
          <a:xfrm>
            <a:off x="4304995" y="3883763"/>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731" name="Google Shape;4731;p67"/>
          <p:cNvCxnSpPr/>
          <p:nvPr/>
        </p:nvCxnSpPr>
        <p:spPr>
          <a:xfrm>
            <a:off x="4304995" y="3872651"/>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732" name="Google Shape;4732;p67"/>
          <p:cNvCxnSpPr/>
          <p:nvPr/>
        </p:nvCxnSpPr>
        <p:spPr>
          <a:xfrm>
            <a:off x="4801883" y="3872651"/>
            <a:ext cx="0" cy="79375"/>
          </a:xfrm>
          <a:prstGeom prst="straightConnector1">
            <a:avLst/>
          </a:prstGeom>
          <a:noFill/>
          <a:ln cap="flat" cmpd="sng" w="12700">
            <a:solidFill>
              <a:srgbClr val="000000"/>
            </a:solidFill>
            <a:prstDash val="solid"/>
            <a:round/>
            <a:headEnd len="med" w="med" type="none"/>
            <a:tailEnd len="med" w="med" type="none"/>
          </a:ln>
        </p:spPr>
      </p:cxnSp>
      <p:sp>
        <p:nvSpPr>
          <p:cNvPr id="4733" name="Google Shape;4733;p67"/>
          <p:cNvSpPr/>
          <p:nvPr/>
        </p:nvSpPr>
        <p:spPr>
          <a:xfrm>
            <a:off x="4304995" y="3872651"/>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734" name="Google Shape;4734;p67"/>
          <p:cNvSpPr/>
          <p:nvPr/>
        </p:nvSpPr>
        <p:spPr>
          <a:xfrm>
            <a:off x="4300233" y="3778988"/>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35" name="Google Shape;4735;p67"/>
          <p:cNvSpPr/>
          <p:nvPr/>
        </p:nvSpPr>
        <p:spPr>
          <a:xfrm>
            <a:off x="3655708" y="3474188"/>
            <a:ext cx="1588" cy="828675"/>
          </a:xfrm>
          <a:custGeom>
            <a:rect b="b" l="l" r="r" t="t"/>
            <a:pathLst>
              <a:path extrusionOk="0" h="522" w="1">
                <a:moveTo>
                  <a:pt x="0" y="0"/>
                </a:moveTo>
                <a:lnTo>
                  <a:pt x="0" y="522"/>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36" name="Google Shape;4736;p67"/>
          <p:cNvSpPr/>
          <p:nvPr/>
        </p:nvSpPr>
        <p:spPr>
          <a:xfrm>
            <a:off x="2555570" y="3483713"/>
            <a:ext cx="1588" cy="852488"/>
          </a:xfrm>
          <a:custGeom>
            <a:rect b="b" l="l" r="r" t="t"/>
            <a:pathLst>
              <a:path extrusionOk="0" h="537" w="1">
                <a:moveTo>
                  <a:pt x="0" y="0"/>
                </a:moveTo>
                <a:lnTo>
                  <a:pt x="0" y="537"/>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37" name="Google Shape;4737;p67"/>
          <p:cNvSpPr/>
          <p:nvPr/>
        </p:nvSpPr>
        <p:spPr>
          <a:xfrm>
            <a:off x="2817508" y="3459901"/>
            <a:ext cx="800100" cy="95250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38" name="Google Shape;4738;p67"/>
          <p:cNvSpPr/>
          <p:nvPr/>
        </p:nvSpPr>
        <p:spPr>
          <a:xfrm>
            <a:off x="3908120" y="4012351"/>
            <a:ext cx="581025" cy="428625"/>
          </a:xfrm>
          <a:custGeom>
            <a:rect b="b" l="l" r="r" t="t"/>
            <a:pathLst>
              <a:path extrusionOk="0" h="270" w="366">
                <a:moveTo>
                  <a:pt x="0" y="270"/>
                </a:moveTo>
                <a:lnTo>
                  <a:pt x="366"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39" name="Google Shape;4739;p67"/>
          <p:cNvSpPr/>
          <p:nvPr/>
        </p:nvSpPr>
        <p:spPr>
          <a:xfrm>
            <a:off x="2827033" y="4460026"/>
            <a:ext cx="581025" cy="1588"/>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40" name="Google Shape;4740;p67"/>
          <p:cNvSpPr/>
          <p:nvPr/>
        </p:nvSpPr>
        <p:spPr>
          <a:xfrm>
            <a:off x="1888820" y="3945676"/>
            <a:ext cx="438150" cy="419100"/>
          </a:xfrm>
          <a:custGeom>
            <a:rect b="b" l="l" r="r" t="t"/>
            <a:pathLst>
              <a:path extrusionOk="0" h="264" w="276">
                <a:moveTo>
                  <a:pt x="276" y="264"/>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41" name="Google Shape;4741;p67"/>
          <p:cNvSpPr/>
          <p:nvPr/>
        </p:nvSpPr>
        <p:spPr>
          <a:xfrm>
            <a:off x="2817508" y="3364651"/>
            <a:ext cx="581025" cy="1588"/>
          </a:xfrm>
          <a:custGeom>
            <a:rect b="b" l="l" r="r" t="t"/>
            <a:pathLst>
              <a:path extrusionOk="0" h="1" w="366">
                <a:moveTo>
                  <a:pt x="366" y="0"/>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42" name="Google Shape;4742;p67"/>
          <p:cNvSpPr/>
          <p:nvPr/>
        </p:nvSpPr>
        <p:spPr>
          <a:xfrm>
            <a:off x="3889070" y="3359888"/>
            <a:ext cx="628650" cy="423863"/>
          </a:xfrm>
          <a:custGeom>
            <a:rect b="b" l="l" r="r" t="t"/>
            <a:pathLst>
              <a:path extrusionOk="0" h="267" w="396">
                <a:moveTo>
                  <a:pt x="396" y="267"/>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43" name="Google Shape;4743;p67"/>
          <p:cNvSpPr/>
          <p:nvPr/>
        </p:nvSpPr>
        <p:spPr>
          <a:xfrm>
            <a:off x="1798333" y="2678851"/>
            <a:ext cx="1762125" cy="1023938"/>
          </a:xfrm>
          <a:custGeom>
            <a:rect b="b" l="l" r="r" t="t"/>
            <a:pathLst>
              <a:path extrusionOk="0" h="645" w="1110">
                <a:moveTo>
                  <a:pt x="1110" y="342"/>
                </a:moveTo>
                <a:cubicBezTo>
                  <a:pt x="1104" y="0"/>
                  <a:pt x="21" y="63"/>
                  <a:pt x="0" y="645"/>
                </a:cubicBez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744" name="Google Shape;4744;p67"/>
          <p:cNvGrpSpPr/>
          <p:nvPr/>
        </p:nvGrpSpPr>
        <p:grpSpPr>
          <a:xfrm>
            <a:off x="1639583" y="3628176"/>
            <a:ext cx="325438" cy="396875"/>
            <a:chOff x="2954" y="2425"/>
            <a:chExt cx="208" cy="250"/>
          </a:xfrm>
        </p:grpSpPr>
        <p:sp>
          <p:nvSpPr>
            <p:cNvPr id="4745" name="Google Shape;4745;p67"/>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46" name="Google Shape;4746;p67"/>
            <p:cNvSpPr txBox="1"/>
            <p:nvPr/>
          </p:nvSpPr>
          <p:spPr>
            <a:xfrm>
              <a:off x="2954" y="2425"/>
              <a:ext cx="208"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u</a:t>
              </a:r>
              <a:endParaRPr sz="2400">
                <a:solidFill>
                  <a:srgbClr val="000000"/>
                </a:solidFill>
                <a:latin typeface="Arial"/>
                <a:ea typeface="Arial"/>
                <a:cs typeface="Arial"/>
                <a:sym typeface="Arial"/>
              </a:endParaRPr>
            </a:p>
          </p:txBody>
        </p:sp>
      </p:grpSp>
      <p:grpSp>
        <p:nvGrpSpPr>
          <p:cNvPr id="4747" name="Google Shape;4747;p67"/>
          <p:cNvGrpSpPr/>
          <p:nvPr/>
        </p:nvGrpSpPr>
        <p:grpSpPr>
          <a:xfrm>
            <a:off x="3503308" y="4237776"/>
            <a:ext cx="311150" cy="396875"/>
            <a:chOff x="2958" y="2425"/>
            <a:chExt cx="199" cy="250"/>
          </a:xfrm>
        </p:grpSpPr>
        <p:sp>
          <p:nvSpPr>
            <p:cNvPr id="4748" name="Google Shape;4748;p67"/>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49" name="Google Shape;4749;p67"/>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y</a:t>
              </a:r>
              <a:endParaRPr sz="2400">
                <a:solidFill>
                  <a:srgbClr val="000000"/>
                </a:solidFill>
                <a:latin typeface="Arial"/>
                <a:ea typeface="Arial"/>
                <a:cs typeface="Arial"/>
                <a:sym typeface="Arial"/>
              </a:endParaRPr>
            </a:p>
          </p:txBody>
        </p:sp>
      </p:grpSp>
      <p:grpSp>
        <p:nvGrpSpPr>
          <p:cNvPr id="4750" name="Google Shape;4750;p67"/>
          <p:cNvGrpSpPr/>
          <p:nvPr/>
        </p:nvGrpSpPr>
        <p:grpSpPr>
          <a:xfrm>
            <a:off x="4398658" y="3647226"/>
            <a:ext cx="336550" cy="457200"/>
            <a:chOff x="2949" y="2395"/>
            <a:chExt cx="214" cy="288"/>
          </a:xfrm>
        </p:grpSpPr>
        <p:sp>
          <p:nvSpPr>
            <p:cNvPr id="4751" name="Google Shape;4751;p67"/>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52" name="Google Shape;4752;p67"/>
            <p:cNvSpPr txBox="1"/>
            <p:nvPr/>
          </p:nvSpPr>
          <p:spPr>
            <a:xfrm>
              <a:off x="2949" y="2395"/>
              <a:ext cx="21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Arial"/>
                  <a:ea typeface="Arial"/>
                  <a:cs typeface="Arial"/>
                  <a:sym typeface="Arial"/>
                </a:rPr>
                <a:t>z</a:t>
              </a:r>
              <a:endParaRPr/>
            </a:p>
          </p:txBody>
        </p:sp>
      </p:grpSp>
      <p:sp>
        <p:nvSpPr>
          <p:cNvPr id="4753" name="Google Shape;4753;p67"/>
          <p:cNvSpPr txBox="1"/>
          <p:nvPr/>
        </p:nvSpPr>
        <p:spPr>
          <a:xfrm>
            <a:off x="1966608" y="3348776"/>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754" name="Google Shape;4754;p67"/>
          <p:cNvSpPr txBox="1"/>
          <p:nvPr/>
        </p:nvSpPr>
        <p:spPr>
          <a:xfrm>
            <a:off x="2519058" y="3696438"/>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755" name="Google Shape;4755;p67"/>
          <p:cNvSpPr txBox="1"/>
          <p:nvPr/>
        </p:nvSpPr>
        <p:spPr>
          <a:xfrm>
            <a:off x="1828495" y="4034576"/>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756" name="Google Shape;4756;p67"/>
          <p:cNvSpPr txBox="1"/>
          <p:nvPr/>
        </p:nvSpPr>
        <p:spPr>
          <a:xfrm>
            <a:off x="3128658" y="3844076"/>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3</a:t>
            </a:r>
            <a:endParaRPr sz="2400">
              <a:solidFill>
                <a:srgbClr val="000000"/>
              </a:solidFill>
              <a:latin typeface="Arial"/>
              <a:ea typeface="Arial"/>
              <a:cs typeface="Arial"/>
              <a:sym typeface="Arial"/>
            </a:endParaRPr>
          </a:p>
        </p:txBody>
      </p:sp>
      <p:sp>
        <p:nvSpPr>
          <p:cNvPr id="4757" name="Google Shape;4757;p67"/>
          <p:cNvSpPr txBox="1"/>
          <p:nvPr/>
        </p:nvSpPr>
        <p:spPr>
          <a:xfrm>
            <a:off x="3028645" y="4406051"/>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758" name="Google Shape;4758;p67"/>
          <p:cNvSpPr txBox="1"/>
          <p:nvPr/>
        </p:nvSpPr>
        <p:spPr>
          <a:xfrm>
            <a:off x="3600145" y="3725013"/>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1</a:t>
            </a:r>
            <a:endParaRPr sz="2400">
              <a:solidFill>
                <a:srgbClr val="000000"/>
              </a:solidFill>
              <a:latin typeface="Arial"/>
              <a:ea typeface="Arial"/>
              <a:cs typeface="Arial"/>
              <a:sym typeface="Arial"/>
            </a:endParaRPr>
          </a:p>
        </p:txBody>
      </p:sp>
      <p:sp>
        <p:nvSpPr>
          <p:cNvPr id="4759" name="Google Shape;4759;p67"/>
          <p:cNvSpPr txBox="1"/>
          <p:nvPr/>
        </p:nvSpPr>
        <p:spPr>
          <a:xfrm>
            <a:off x="4171645" y="4144113"/>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2</a:t>
            </a:r>
            <a:endParaRPr sz="2400">
              <a:solidFill>
                <a:srgbClr val="000000"/>
              </a:solidFill>
              <a:latin typeface="Arial"/>
              <a:ea typeface="Arial"/>
              <a:cs typeface="Arial"/>
              <a:sym typeface="Arial"/>
            </a:endParaRPr>
          </a:p>
        </p:txBody>
      </p:sp>
      <p:sp>
        <p:nvSpPr>
          <p:cNvPr id="4760" name="Google Shape;4760;p67"/>
          <p:cNvSpPr txBox="1"/>
          <p:nvPr/>
        </p:nvSpPr>
        <p:spPr>
          <a:xfrm>
            <a:off x="4128783" y="3291626"/>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5</a:t>
            </a:r>
            <a:endParaRPr sz="2400">
              <a:solidFill>
                <a:srgbClr val="000000"/>
              </a:solidFill>
              <a:latin typeface="Arial"/>
              <a:ea typeface="Arial"/>
              <a:cs typeface="Arial"/>
              <a:sym typeface="Arial"/>
            </a:endParaRPr>
          </a:p>
        </p:txBody>
      </p:sp>
      <p:sp>
        <p:nvSpPr>
          <p:cNvPr id="4761" name="Google Shape;4761;p67"/>
          <p:cNvSpPr txBox="1"/>
          <p:nvPr/>
        </p:nvSpPr>
        <p:spPr>
          <a:xfrm>
            <a:off x="2961970" y="3053501"/>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3</a:t>
            </a:r>
            <a:endParaRPr sz="2400">
              <a:solidFill>
                <a:srgbClr val="000000"/>
              </a:solidFill>
              <a:latin typeface="Arial"/>
              <a:ea typeface="Arial"/>
              <a:cs typeface="Arial"/>
              <a:sym typeface="Arial"/>
            </a:endParaRPr>
          </a:p>
        </p:txBody>
      </p:sp>
      <p:sp>
        <p:nvSpPr>
          <p:cNvPr id="4762" name="Google Shape;4762;p67"/>
          <p:cNvSpPr txBox="1"/>
          <p:nvPr/>
        </p:nvSpPr>
        <p:spPr>
          <a:xfrm>
            <a:off x="2404758" y="2629638"/>
            <a:ext cx="311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5</a:t>
            </a:r>
            <a:endParaRPr sz="2400">
              <a:solidFill>
                <a:srgbClr val="000000"/>
              </a:solidFill>
              <a:latin typeface="Arial"/>
              <a:ea typeface="Arial"/>
              <a:cs typeface="Arial"/>
              <a:sym typeface="Arial"/>
            </a:endParaRPr>
          </a:p>
        </p:txBody>
      </p:sp>
      <p:sp>
        <p:nvSpPr>
          <p:cNvPr id="4763" name="Google Shape;4763;p67"/>
          <p:cNvSpPr txBox="1"/>
          <p:nvPr/>
        </p:nvSpPr>
        <p:spPr>
          <a:xfrm>
            <a:off x="826718" y="1453057"/>
            <a:ext cx="1106048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Suppose that </a:t>
            </a:r>
            <a:r>
              <a:rPr i="1" lang="en-US" sz="2800">
                <a:solidFill>
                  <a:srgbClr val="000000"/>
                </a:solidFill>
                <a:latin typeface="Calibri"/>
                <a:ea typeface="Calibri"/>
                <a:cs typeface="Calibri"/>
                <a:sym typeface="Calibri"/>
              </a:rPr>
              <a:t>u</a:t>
            </a:r>
            <a:r>
              <a:rPr lang="en-US" sz="2800">
                <a:solidFill>
                  <a:srgbClr val="000000"/>
                </a:solidFill>
                <a:latin typeface="Calibri"/>
                <a:ea typeface="Calibri"/>
                <a:cs typeface="Calibri"/>
                <a:sym typeface="Calibri"/>
              </a:rPr>
              <a:t>’s neighboring node</a:t>
            </a:r>
            <a:r>
              <a:rPr i="1" lang="en-US" sz="2800">
                <a:solidFill>
                  <a:srgbClr val="000000"/>
                </a:solidFill>
                <a:latin typeface="Calibri"/>
                <a:ea typeface="Calibri"/>
                <a:cs typeface="Calibri"/>
                <a:sym typeface="Calibri"/>
              </a:rPr>
              <a:t>s, x,v,w, </a:t>
            </a:r>
            <a:r>
              <a:rPr lang="en-US" sz="2800">
                <a:solidFill>
                  <a:srgbClr val="000000"/>
                </a:solidFill>
                <a:latin typeface="Calibri"/>
                <a:ea typeface="Calibri"/>
                <a:cs typeface="Calibri"/>
                <a:sym typeface="Calibri"/>
              </a:rPr>
              <a:t>know that for destination</a:t>
            </a:r>
            <a:r>
              <a:rPr i="1" lang="en-US" sz="2800">
                <a:solidFill>
                  <a:srgbClr val="000000"/>
                </a:solidFill>
                <a:latin typeface="Calibri"/>
                <a:ea typeface="Calibri"/>
                <a:cs typeface="Calibri"/>
                <a:sym typeface="Calibri"/>
              </a:rPr>
              <a:t> z</a:t>
            </a:r>
            <a:r>
              <a:rPr lang="en-US" sz="2800">
                <a:solidFill>
                  <a:srgbClr val="000000"/>
                </a:solidFill>
                <a:latin typeface="Calibri"/>
                <a:ea typeface="Calibri"/>
                <a:cs typeface="Calibri"/>
                <a:sym typeface="Calibri"/>
              </a:rPr>
              <a:t>:</a:t>
            </a:r>
            <a:endParaRPr/>
          </a:p>
        </p:txBody>
      </p:sp>
      <p:grpSp>
        <p:nvGrpSpPr>
          <p:cNvPr id="4764" name="Google Shape;4764;p67"/>
          <p:cNvGrpSpPr/>
          <p:nvPr/>
        </p:nvGrpSpPr>
        <p:grpSpPr>
          <a:xfrm>
            <a:off x="5954236" y="2228981"/>
            <a:ext cx="4331635" cy="1775026"/>
            <a:chOff x="5954236" y="2228981"/>
            <a:chExt cx="4331635" cy="1775026"/>
          </a:xfrm>
        </p:grpSpPr>
        <p:sp>
          <p:nvSpPr>
            <p:cNvPr id="4765" name="Google Shape;4765;p67"/>
            <p:cNvSpPr txBox="1"/>
            <p:nvPr/>
          </p:nvSpPr>
          <p:spPr>
            <a:xfrm>
              <a:off x="6467193" y="2803678"/>
              <a:ext cx="359585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000000"/>
                  </a:solidFill>
                  <a:latin typeface="Arial"/>
                  <a:ea typeface="Arial"/>
                  <a:cs typeface="Arial"/>
                  <a:sym typeface="Arial"/>
                </a:rPr>
                <a:t>D</a:t>
              </a:r>
              <a:r>
                <a:rPr baseline="-25000" i="1" lang="en-US" sz="2400">
                  <a:solidFill>
                    <a:srgbClr val="000000"/>
                  </a:solidFill>
                  <a:latin typeface="Arial"/>
                  <a:ea typeface="Arial"/>
                  <a:cs typeface="Arial"/>
                  <a:sym typeface="Arial"/>
                </a:rPr>
                <a:t>u</a:t>
              </a:r>
              <a:r>
                <a:rPr i="1" lang="en-US" sz="2400">
                  <a:solidFill>
                    <a:srgbClr val="000000"/>
                  </a:solidFill>
                  <a:latin typeface="Arial"/>
                  <a:ea typeface="Arial"/>
                  <a:cs typeface="Arial"/>
                  <a:sym typeface="Arial"/>
                </a:rPr>
                <a:t>(z) </a:t>
              </a:r>
              <a:r>
                <a:rPr lang="en-US" sz="2400">
                  <a:solidFill>
                    <a:srgbClr val="000000"/>
                  </a:solidFill>
                  <a:latin typeface="Arial"/>
                  <a:ea typeface="Arial"/>
                  <a:cs typeface="Arial"/>
                  <a:sym typeface="Arial"/>
                </a:rPr>
                <a:t>= min { </a:t>
              </a:r>
              <a:r>
                <a:rPr i="1" lang="en-US" sz="2400">
                  <a:solidFill>
                    <a:srgbClr val="000000"/>
                  </a:solidFill>
                  <a:latin typeface="Arial"/>
                  <a:ea typeface="Arial"/>
                  <a:cs typeface="Arial"/>
                  <a:sym typeface="Arial"/>
                </a:rPr>
                <a:t>c</a:t>
              </a:r>
              <a:r>
                <a:rPr baseline="-25000" i="1" lang="en-US" sz="2400">
                  <a:solidFill>
                    <a:srgbClr val="000000"/>
                  </a:solidFill>
                  <a:latin typeface="Arial"/>
                  <a:ea typeface="Arial"/>
                  <a:cs typeface="Arial"/>
                  <a:sym typeface="Arial"/>
                </a:rPr>
                <a:t>u,v </a:t>
              </a:r>
              <a:r>
                <a:rPr i="1" lang="en-US" sz="2400">
                  <a:solidFill>
                    <a:srgbClr val="000000"/>
                  </a:solidFill>
                  <a:latin typeface="Arial"/>
                  <a:ea typeface="Arial"/>
                  <a:cs typeface="Arial"/>
                  <a:sym typeface="Arial"/>
                </a:rPr>
                <a:t>+ D</a:t>
              </a:r>
              <a:r>
                <a:rPr baseline="-25000" i="1" lang="en-US" sz="2400">
                  <a:solidFill>
                    <a:srgbClr val="000000"/>
                  </a:solidFill>
                  <a:latin typeface="Arial"/>
                  <a:ea typeface="Arial"/>
                  <a:cs typeface="Arial"/>
                  <a:sym typeface="Arial"/>
                </a:rPr>
                <a:t>v</a:t>
              </a:r>
              <a:r>
                <a:rPr i="1" lang="en-US" sz="2400">
                  <a:solidFill>
                    <a:srgbClr val="000000"/>
                  </a:solidFill>
                  <a:latin typeface="Arial"/>
                  <a:ea typeface="Arial"/>
                  <a:cs typeface="Arial"/>
                  <a:sym typeface="Arial"/>
                </a:rPr>
                <a:t>(z),</a:t>
              </a:r>
              <a:endParaRPr/>
            </a:p>
            <a:p>
              <a:pPr indent="0" lvl="0" marL="0" marR="0" rtl="0" algn="l">
                <a:spcBef>
                  <a:spcPts val="0"/>
                </a:spcBef>
                <a:spcAft>
                  <a:spcPts val="0"/>
                </a:spcAft>
                <a:buNone/>
              </a:pPr>
              <a:r>
                <a:rPr i="1" lang="en-US" sz="2400">
                  <a:solidFill>
                    <a:srgbClr val="000000"/>
                  </a:solidFill>
                  <a:latin typeface="Arial"/>
                  <a:ea typeface="Arial"/>
                  <a:cs typeface="Arial"/>
                  <a:sym typeface="Arial"/>
                </a:rPr>
                <a:t>                    c</a:t>
              </a:r>
              <a:r>
                <a:rPr baseline="-25000" i="1" lang="en-US" sz="2400">
                  <a:solidFill>
                    <a:srgbClr val="000000"/>
                  </a:solidFill>
                  <a:latin typeface="Arial"/>
                  <a:ea typeface="Arial"/>
                  <a:cs typeface="Arial"/>
                  <a:sym typeface="Arial"/>
                </a:rPr>
                <a:t>u,x </a:t>
              </a:r>
              <a:r>
                <a:rPr i="1" lang="en-US" sz="2400">
                  <a:solidFill>
                    <a:srgbClr val="000000"/>
                  </a:solidFill>
                  <a:latin typeface="Arial"/>
                  <a:ea typeface="Arial"/>
                  <a:cs typeface="Arial"/>
                  <a:sym typeface="Arial"/>
                </a:rPr>
                <a:t>+ D</a:t>
              </a:r>
              <a:r>
                <a:rPr baseline="-25000" i="1" lang="en-US" sz="2400">
                  <a:solidFill>
                    <a:srgbClr val="000000"/>
                  </a:solidFill>
                  <a:latin typeface="Arial"/>
                  <a:ea typeface="Arial"/>
                  <a:cs typeface="Arial"/>
                  <a:sym typeface="Arial"/>
                </a:rPr>
                <a:t>x</a:t>
              </a:r>
              <a:r>
                <a:rPr i="1" lang="en-US" sz="2400">
                  <a:solidFill>
                    <a:srgbClr val="000000"/>
                  </a:solidFill>
                  <a:latin typeface="Arial"/>
                  <a:ea typeface="Arial"/>
                  <a:cs typeface="Arial"/>
                  <a:sym typeface="Arial"/>
                </a:rPr>
                <a:t>(z),</a:t>
              </a:r>
              <a:endParaRPr/>
            </a:p>
            <a:p>
              <a:pPr indent="0" lvl="0" marL="0" marR="0" rtl="0" algn="l">
                <a:spcBef>
                  <a:spcPts val="0"/>
                </a:spcBef>
                <a:spcAft>
                  <a:spcPts val="0"/>
                </a:spcAft>
                <a:buNone/>
              </a:pPr>
              <a:r>
                <a:rPr i="1" lang="en-US" sz="2400">
                  <a:solidFill>
                    <a:srgbClr val="000000"/>
                  </a:solidFill>
                  <a:latin typeface="Arial"/>
                  <a:ea typeface="Arial"/>
                  <a:cs typeface="Arial"/>
                  <a:sym typeface="Arial"/>
                </a:rPr>
                <a:t>                    c</a:t>
              </a:r>
              <a:r>
                <a:rPr baseline="-25000" i="1" lang="en-US" sz="2400">
                  <a:solidFill>
                    <a:srgbClr val="000000"/>
                  </a:solidFill>
                  <a:latin typeface="Arial"/>
                  <a:ea typeface="Arial"/>
                  <a:cs typeface="Arial"/>
                  <a:sym typeface="Arial"/>
                </a:rPr>
                <a:t>u,w </a:t>
              </a:r>
              <a:r>
                <a:rPr i="1" lang="en-US" sz="2400">
                  <a:solidFill>
                    <a:srgbClr val="000000"/>
                  </a:solidFill>
                  <a:latin typeface="Arial"/>
                  <a:ea typeface="Arial"/>
                  <a:cs typeface="Arial"/>
                  <a:sym typeface="Arial"/>
                </a:rPr>
                <a:t>+ D</a:t>
              </a:r>
              <a:r>
                <a:rPr baseline="-25000" i="1" lang="en-US" sz="2400">
                  <a:solidFill>
                    <a:srgbClr val="000000"/>
                  </a:solidFill>
                  <a:latin typeface="Arial"/>
                  <a:ea typeface="Arial"/>
                  <a:cs typeface="Arial"/>
                  <a:sym typeface="Arial"/>
                </a:rPr>
                <a:t>w</a:t>
              </a:r>
              <a:r>
                <a:rPr i="1" lang="en-US" sz="2400">
                  <a:solidFill>
                    <a:srgbClr val="000000"/>
                  </a:solidFill>
                  <a:latin typeface="Arial"/>
                  <a:ea typeface="Arial"/>
                  <a:cs typeface="Arial"/>
                  <a:sym typeface="Arial"/>
                </a:rPr>
                <a:t>(z) </a:t>
              </a:r>
              <a:r>
                <a:rPr lang="en-US" sz="2400">
                  <a:solidFill>
                    <a:srgbClr val="000000"/>
                  </a:solidFill>
                  <a:latin typeface="Arial"/>
                  <a:ea typeface="Arial"/>
                  <a:cs typeface="Arial"/>
                  <a:sym typeface="Arial"/>
                </a:rPr>
                <a:t>}</a:t>
              </a:r>
              <a:endParaRPr/>
            </a:p>
          </p:txBody>
        </p:sp>
        <p:sp>
          <p:nvSpPr>
            <p:cNvPr id="4766" name="Google Shape;4766;p67"/>
            <p:cNvSpPr txBox="1"/>
            <p:nvPr/>
          </p:nvSpPr>
          <p:spPr>
            <a:xfrm>
              <a:off x="5954236" y="2228981"/>
              <a:ext cx="43316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Bellman-Ford equation says:</a:t>
              </a:r>
              <a:endParaRPr/>
            </a:p>
          </p:txBody>
        </p:sp>
      </p:grpSp>
      <p:sp>
        <p:nvSpPr>
          <p:cNvPr id="4767" name="Google Shape;4767;p67"/>
          <p:cNvSpPr/>
          <p:nvPr/>
        </p:nvSpPr>
        <p:spPr>
          <a:xfrm>
            <a:off x="1490598" y="3507287"/>
            <a:ext cx="613776" cy="613776"/>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768" name="Google Shape;4768;p67"/>
          <p:cNvGrpSpPr/>
          <p:nvPr/>
        </p:nvGrpSpPr>
        <p:grpSpPr>
          <a:xfrm>
            <a:off x="764088" y="2192055"/>
            <a:ext cx="1691013" cy="1127342"/>
            <a:chOff x="764088" y="2192055"/>
            <a:chExt cx="1691013" cy="1127342"/>
          </a:xfrm>
        </p:grpSpPr>
        <p:sp>
          <p:nvSpPr>
            <p:cNvPr id="4769" name="Google Shape;4769;p67"/>
            <p:cNvSpPr/>
            <p:nvPr/>
          </p:nvSpPr>
          <p:spPr>
            <a:xfrm>
              <a:off x="851770" y="2630466"/>
              <a:ext cx="1603331" cy="688931"/>
            </a:xfrm>
            <a:custGeom>
              <a:rect b="b" l="l" r="r" t="t"/>
              <a:pathLst>
                <a:path extrusionOk="0" h="688931" w="1603331">
                  <a:moveTo>
                    <a:pt x="1603331" y="626301"/>
                  </a:moveTo>
                  <a:lnTo>
                    <a:pt x="1453019" y="688931"/>
                  </a:lnTo>
                  <a:cubicBezTo>
                    <a:pt x="1028055" y="405848"/>
                    <a:pt x="858413" y="306834"/>
                    <a:pt x="0" y="0"/>
                  </a:cubicBezTo>
                  <a:lnTo>
                    <a:pt x="1240077" y="0"/>
                  </a:lnTo>
                  <a:cubicBezTo>
                    <a:pt x="1367100" y="327520"/>
                    <a:pt x="1416932" y="417534"/>
                    <a:pt x="1603331" y="626301"/>
                  </a:cubicBezTo>
                  <a:close/>
                </a:path>
              </a:pathLst>
            </a:custGeom>
            <a:gradFill>
              <a:gsLst>
                <a:gs pos="0">
                  <a:schemeClr val="lt1"/>
                </a:gs>
                <a:gs pos="98000">
                  <a:srgbClr val="D8D8D8"/>
                </a:gs>
                <a:gs pos="100000">
                  <a:srgbClr val="D8D8D8"/>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770" name="Google Shape;4770;p67"/>
            <p:cNvGrpSpPr/>
            <p:nvPr/>
          </p:nvGrpSpPr>
          <p:grpSpPr>
            <a:xfrm>
              <a:off x="764088" y="2192055"/>
              <a:ext cx="1346844" cy="461665"/>
              <a:chOff x="764088" y="2192055"/>
              <a:chExt cx="1346844" cy="461665"/>
            </a:xfrm>
          </p:grpSpPr>
          <p:sp>
            <p:nvSpPr>
              <p:cNvPr id="4771" name="Google Shape;4771;p67"/>
              <p:cNvSpPr/>
              <p:nvPr/>
            </p:nvSpPr>
            <p:spPr>
              <a:xfrm>
                <a:off x="851770" y="2242159"/>
                <a:ext cx="1240077" cy="388307"/>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772" name="Google Shape;4772;p67"/>
              <p:cNvSpPr txBox="1"/>
              <p:nvPr/>
            </p:nvSpPr>
            <p:spPr>
              <a:xfrm>
                <a:off x="764088" y="2192055"/>
                <a:ext cx="1346844" cy="461665"/>
              </a:xfrm>
              <a:prstGeom prst="rect">
                <a:avLst/>
              </a:prstGeom>
              <a:noFill/>
              <a:ln>
                <a:noFill/>
              </a:ln>
            </p:spPr>
            <p:txBody>
              <a:bodyPr anchorCtr="0" anchor="t" bIns="45700" lIns="91425" spcFirstLastPara="1" rIns="91425" wrap="square" tIns="45700">
                <a:spAutoFit/>
              </a:bodyPr>
              <a:lstStyle/>
              <a:p>
                <a:pPr indent="0" lvl="0" marL="123825" marR="0" rtl="0" algn="l">
                  <a:spcBef>
                    <a:spcPts val="0"/>
                  </a:spcBef>
                  <a:spcAft>
                    <a:spcPts val="0"/>
                  </a:spcAft>
                  <a:buNone/>
                </a:pPr>
                <a:r>
                  <a:rPr i="1" lang="en-US" sz="2400">
                    <a:solidFill>
                      <a:srgbClr val="000000"/>
                    </a:solidFill>
                    <a:latin typeface="Calibri"/>
                    <a:ea typeface="Calibri"/>
                    <a:cs typeface="Calibri"/>
                    <a:sym typeface="Calibri"/>
                  </a:rPr>
                  <a:t>D</a:t>
                </a:r>
                <a:r>
                  <a:rPr baseline="-25000" i="1" lang="en-US" sz="2400">
                    <a:solidFill>
                      <a:srgbClr val="000000"/>
                    </a:solidFill>
                    <a:latin typeface="Calibri"/>
                    <a:ea typeface="Calibri"/>
                    <a:cs typeface="Calibri"/>
                    <a:sym typeface="Calibri"/>
                  </a:rPr>
                  <a:t>v</a:t>
                </a:r>
                <a:r>
                  <a:rPr i="1" lang="en-US" sz="2400">
                    <a:solidFill>
                      <a:srgbClr val="000000"/>
                    </a:solidFill>
                    <a:latin typeface="Calibri"/>
                    <a:ea typeface="Calibri"/>
                    <a:cs typeface="Calibri"/>
                    <a:sym typeface="Calibri"/>
                  </a:rPr>
                  <a:t>(z) </a:t>
                </a:r>
                <a:r>
                  <a:rPr lang="en-US" sz="2400">
                    <a:solidFill>
                      <a:srgbClr val="000000"/>
                    </a:solidFill>
                    <a:latin typeface="Calibri"/>
                    <a:ea typeface="Calibri"/>
                    <a:cs typeface="Calibri"/>
                    <a:sym typeface="Calibri"/>
                  </a:rPr>
                  <a:t>= 5</a:t>
                </a:r>
                <a:endParaRPr sz="2400">
                  <a:solidFill>
                    <a:srgbClr val="000000"/>
                  </a:solidFill>
                  <a:latin typeface="Calibri"/>
                  <a:ea typeface="Calibri"/>
                  <a:cs typeface="Calibri"/>
                  <a:sym typeface="Calibri"/>
                </a:endParaRPr>
              </a:p>
            </p:txBody>
          </p:sp>
        </p:grpSp>
      </p:grpSp>
      <p:grpSp>
        <p:nvGrpSpPr>
          <p:cNvPr id="4773" name="Google Shape;4773;p67"/>
          <p:cNvGrpSpPr/>
          <p:nvPr/>
        </p:nvGrpSpPr>
        <p:grpSpPr>
          <a:xfrm>
            <a:off x="2315033" y="3160213"/>
            <a:ext cx="501650" cy="396875"/>
            <a:chOff x="836555" y="3112712"/>
            <a:chExt cx="501650" cy="396875"/>
          </a:xfrm>
        </p:grpSpPr>
        <p:grpSp>
          <p:nvGrpSpPr>
            <p:cNvPr id="4774" name="Google Shape;4774;p67"/>
            <p:cNvGrpSpPr/>
            <p:nvPr/>
          </p:nvGrpSpPr>
          <p:grpSpPr>
            <a:xfrm>
              <a:off x="836555" y="3205962"/>
              <a:ext cx="501650" cy="233363"/>
              <a:chOff x="2303158" y="3229713"/>
              <a:chExt cx="501650" cy="233363"/>
            </a:xfrm>
          </p:grpSpPr>
          <p:sp>
            <p:nvSpPr>
              <p:cNvPr id="4775" name="Google Shape;4775;p67"/>
              <p:cNvSpPr/>
              <p:nvPr/>
            </p:nvSpPr>
            <p:spPr>
              <a:xfrm>
                <a:off x="2307920" y="3334488"/>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776" name="Google Shape;4776;p67"/>
              <p:cNvCxnSpPr/>
              <p:nvPr/>
            </p:nvCxnSpPr>
            <p:spPr>
              <a:xfrm>
                <a:off x="2307920" y="3323376"/>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777" name="Google Shape;4777;p67"/>
              <p:cNvCxnSpPr/>
              <p:nvPr/>
            </p:nvCxnSpPr>
            <p:spPr>
              <a:xfrm>
                <a:off x="2804808" y="3323376"/>
                <a:ext cx="0" cy="79375"/>
              </a:xfrm>
              <a:prstGeom prst="straightConnector1">
                <a:avLst/>
              </a:prstGeom>
              <a:noFill/>
              <a:ln cap="flat" cmpd="sng" w="12700">
                <a:solidFill>
                  <a:srgbClr val="000000"/>
                </a:solidFill>
                <a:prstDash val="solid"/>
                <a:round/>
                <a:headEnd len="med" w="med" type="none"/>
                <a:tailEnd len="med" w="med" type="none"/>
              </a:ln>
            </p:spPr>
          </p:cxnSp>
          <p:sp>
            <p:nvSpPr>
              <p:cNvPr id="4778" name="Google Shape;4778;p67"/>
              <p:cNvSpPr/>
              <p:nvPr/>
            </p:nvSpPr>
            <p:spPr>
              <a:xfrm>
                <a:off x="2307920" y="3323376"/>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779" name="Google Shape;4779;p67"/>
              <p:cNvSpPr/>
              <p:nvPr/>
            </p:nvSpPr>
            <p:spPr>
              <a:xfrm>
                <a:off x="2303158" y="3229713"/>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4780" name="Google Shape;4780;p67"/>
            <p:cNvGrpSpPr/>
            <p:nvPr/>
          </p:nvGrpSpPr>
          <p:grpSpPr>
            <a:xfrm>
              <a:off x="929455" y="3112712"/>
              <a:ext cx="311150" cy="396875"/>
              <a:chOff x="2958" y="2425"/>
              <a:chExt cx="199" cy="250"/>
            </a:xfrm>
          </p:grpSpPr>
          <p:sp>
            <p:nvSpPr>
              <p:cNvPr id="4781" name="Google Shape;4781;p67"/>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82" name="Google Shape;4782;p67"/>
              <p:cNvSpPr txBox="1"/>
              <p:nvPr/>
            </p:nvSpPr>
            <p:spPr>
              <a:xfrm>
                <a:off x="2958" y="2425"/>
                <a:ext cx="199"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v</a:t>
                </a:r>
                <a:endParaRPr sz="2400">
                  <a:solidFill>
                    <a:srgbClr val="000000"/>
                  </a:solidFill>
                  <a:latin typeface="Arial"/>
                  <a:ea typeface="Arial"/>
                  <a:cs typeface="Arial"/>
                  <a:sym typeface="Arial"/>
                </a:endParaRPr>
              </a:p>
            </p:txBody>
          </p:sp>
        </p:grpSp>
      </p:grpSp>
      <p:grpSp>
        <p:nvGrpSpPr>
          <p:cNvPr id="4783" name="Google Shape;4783;p67"/>
          <p:cNvGrpSpPr/>
          <p:nvPr/>
        </p:nvGrpSpPr>
        <p:grpSpPr>
          <a:xfrm>
            <a:off x="3717682" y="2156537"/>
            <a:ext cx="1617434" cy="1131193"/>
            <a:chOff x="3717682" y="2156537"/>
            <a:chExt cx="1617434" cy="1131193"/>
          </a:xfrm>
        </p:grpSpPr>
        <p:sp>
          <p:nvSpPr>
            <p:cNvPr id="4784" name="Google Shape;4784;p67"/>
            <p:cNvSpPr/>
            <p:nvPr/>
          </p:nvSpPr>
          <p:spPr>
            <a:xfrm flipH="1">
              <a:off x="3717682" y="2598799"/>
              <a:ext cx="1603331" cy="688931"/>
            </a:xfrm>
            <a:custGeom>
              <a:rect b="b" l="l" r="r" t="t"/>
              <a:pathLst>
                <a:path extrusionOk="0" h="688931" w="1603331">
                  <a:moveTo>
                    <a:pt x="1603331" y="626301"/>
                  </a:moveTo>
                  <a:lnTo>
                    <a:pt x="1453019" y="688931"/>
                  </a:lnTo>
                  <a:cubicBezTo>
                    <a:pt x="1028055" y="405848"/>
                    <a:pt x="858413" y="306834"/>
                    <a:pt x="0" y="0"/>
                  </a:cubicBezTo>
                  <a:lnTo>
                    <a:pt x="1240077" y="0"/>
                  </a:lnTo>
                  <a:cubicBezTo>
                    <a:pt x="1367100" y="327520"/>
                    <a:pt x="1416932" y="417534"/>
                    <a:pt x="1603331" y="626301"/>
                  </a:cubicBezTo>
                  <a:close/>
                </a:path>
              </a:pathLst>
            </a:custGeom>
            <a:gradFill>
              <a:gsLst>
                <a:gs pos="0">
                  <a:schemeClr val="lt1"/>
                </a:gs>
                <a:gs pos="98000">
                  <a:srgbClr val="D8D8D8"/>
                </a:gs>
                <a:gs pos="100000">
                  <a:srgbClr val="D8D8D8"/>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785" name="Google Shape;4785;p67"/>
            <p:cNvGrpSpPr/>
            <p:nvPr/>
          </p:nvGrpSpPr>
          <p:grpSpPr>
            <a:xfrm>
              <a:off x="3933770" y="2156537"/>
              <a:ext cx="1401346" cy="461665"/>
              <a:chOff x="5257869" y="2364355"/>
              <a:chExt cx="1401346" cy="461665"/>
            </a:xfrm>
          </p:grpSpPr>
          <p:sp>
            <p:nvSpPr>
              <p:cNvPr id="4786" name="Google Shape;4786;p67"/>
              <p:cNvSpPr/>
              <p:nvPr/>
            </p:nvSpPr>
            <p:spPr>
              <a:xfrm>
                <a:off x="5402893" y="2421699"/>
                <a:ext cx="1240077" cy="388307"/>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787" name="Google Shape;4787;p67"/>
              <p:cNvSpPr txBox="1"/>
              <p:nvPr/>
            </p:nvSpPr>
            <p:spPr>
              <a:xfrm>
                <a:off x="5257869" y="2364355"/>
                <a:ext cx="1401346" cy="461665"/>
              </a:xfrm>
              <a:prstGeom prst="rect">
                <a:avLst/>
              </a:prstGeom>
              <a:noFill/>
              <a:ln>
                <a:noFill/>
              </a:ln>
            </p:spPr>
            <p:txBody>
              <a:bodyPr anchorCtr="0" anchor="t" bIns="45700" lIns="91425" spcFirstLastPara="1" rIns="91425" wrap="square" tIns="45700">
                <a:spAutoFit/>
              </a:bodyPr>
              <a:lstStyle/>
              <a:p>
                <a:pPr indent="0" lvl="0" marL="123825" marR="0" rtl="0" algn="l">
                  <a:spcBef>
                    <a:spcPts val="0"/>
                  </a:spcBef>
                  <a:spcAft>
                    <a:spcPts val="0"/>
                  </a:spcAft>
                  <a:buNone/>
                </a:pPr>
                <a:r>
                  <a:rPr i="1" lang="en-US" sz="2400">
                    <a:solidFill>
                      <a:srgbClr val="000000"/>
                    </a:solidFill>
                    <a:latin typeface="Calibri"/>
                    <a:ea typeface="Calibri"/>
                    <a:cs typeface="Calibri"/>
                    <a:sym typeface="Calibri"/>
                  </a:rPr>
                  <a:t>D</a:t>
                </a:r>
                <a:r>
                  <a:rPr baseline="-25000" i="1" lang="en-US" sz="2400">
                    <a:solidFill>
                      <a:srgbClr val="000000"/>
                    </a:solidFill>
                    <a:latin typeface="Calibri"/>
                    <a:ea typeface="Calibri"/>
                    <a:cs typeface="Calibri"/>
                    <a:sym typeface="Calibri"/>
                  </a:rPr>
                  <a:t>w</a:t>
                </a:r>
                <a:r>
                  <a:rPr i="1" lang="en-US" sz="2400">
                    <a:solidFill>
                      <a:srgbClr val="000000"/>
                    </a:solidFill>
                    <a:latin typeface="Calibri"/>
                    <a:ea typeface="Calibri"/>
                    <a:cs typeface="Calibri"/>
                    <a:sym typeface="Calibri"/>
                  </a:rPr>
                  <a:t>(z) = </a:t>
                </a:r>
                <a:r>
                  <a:rPr lang="en-US" sz="2400">
                    <a:solidFill>
                      <a:srgbClr val="000000"/>
                    </a:solidFill>
                    <a:latin typeface="Calibri"/>
                    <a:ea typeface="Calibri"/>
                    <a:cs typeface="Calibri"/>
                    <a:sym typeface="Calibri"/>
                  </a:rPr>
                  <a:t>3</a:t>
                </a:r>
                <a:endParaRPr/>
              </a:p>
            </p:txBody>
          </p:sp>
        </p:grpSp>
      </p:grpSp>
      <p:grpSp>
        <p:nvGrpSpPr>
          <p:cNvPr id="4788" name="Google Shape;4788;p67"/>
          <p:cNvGrpSpPr/>
          <p:nvPr/>
        </p:nvGrpSpPr>
        <p:grpSpPr>
          <a:xfrm>
            <a:off x="3392183" y="3123351"/>
            <a:ext cx="500062" cy="396875"/>
            <a:chOff x="3392183" y="3123351"/>
            <a:chExt cx="500062" cy="396875"/>
          </a:xfrm>
        </p:grpSpPr>
        <p:sp>
          <p:nvSpPr>
            <p:cNvPr id="4789" name="Google Shape;4789;p67"/>
            <p:cNvSpPr/>
            <p:nvPr/>
          </p:nvSpPr>
          <p:spPr>
            <a:xfrm>
              <a:off x="3392183" y="3328138"/>
              <a:ext cx="495300"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790" name="Google Shape;4790;p67"/>
            <p:cNvCxnSpPr/>
            <p:nvPr/>
          </p:nvCxnSpPr>
          <p:spPr>
            <a:xfrm>
              <a:off x="3392183" y="3317026"/>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791" name="Google Shape;4791;p67"/>
            <p:cNvCxnSpPr/>
            <p:nvPr/>
          </p:nvCxnSpPr>
          <p:spPr>
            <a:xfrm>
              <a:off x="3887483" y="3317026"/>
              <a:ext cx="0" cy="79375"/>
            </a:xfrm>
            <a:prstGeom prst="straightConnector1">
              <a:avLst/>
            </a:prstGeom>
            <a:noFill/>
            <a:ln cap="flat" cmpd="sng" w="12700">
              <a:solidFill>
                <a:srgbClr val="000000"/>
              </a:solidFill>
              <a:prstDash val="solid"/>
              <a:round/>
              <a:headEnd len="med" w="med" type="none"/>
              <a:tailEnd len="med" w="med" type="none"/>
            </a:ln>
          </p:spPr>
        </p:cxnSp>
        <p:sp>
          <p:nvSpPr>
            <p:cNvPr id="4792" name="Google Shape;4792;p67"/>
            <p:cNvSpPr/>
            <p:nvPr/>
          </p:nvSpPr>
          <p:spPr>
            <a:xfrm>
              <a:off x="3392183" y="3317026"/>
              <a:ext cx="490538"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793" name="Google Shape;4793;p67"/>
            <p:cNvSpPr/>
            <p:nvPr/>
          </p:nvSpPr>
          <p:spPr>
            <a:xfrm>
              <a:off x="3396945" y="3228126"/>
              <a:ext cx="495300"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794" name="Google Shape;4794;p67"/>
            <p:cNvGrpSpPr/>
            <p:nvPr/>
          </p:nvGrpSpPr>
          <p:grpSpPr>
            <a:xfrm>
              <a:off x="3466795" y="3123351"/>
              <a:ext cx="368300" cy="396875"/>
              <a:chOff x="2941" y="2413"/>
              <a:chExt cx="235" cy="250"/>
            </a:xfrm>
          </p:grpSpPr>
          <p:sp>
            <p:nvSpPr>
              <p:cNvPr id="4795" name="Google Shape;4795;p67"/>
              <p:cNvSpPr/>
              <p:nvPr/>
            </p:nvSpPr>
            <p:spPr>
              <a:xfrm>
                <a:off x="2982" y="2490"/>
                <a:ext cx="146"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796" name="Google Shape;4796;p67"/>
              <p:cNvSpPr txBox="1"/>
              <p:nvPr/>
            </p:nvSpPr>
            <p:spPr>
              <a:xfrm>
                <a:off x="2941" y="2413"/>
                <a:ext cx="235"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w</a:t>
                </a:r>
                <a:endParaRPr sz="2400">
                  <a:solidFill>
                    <a:srgbClr val="000000"/>
                  </a:solidFill>
                  <a:latin typeface="Arial"/>
                  <a:ea typeface="Arial"/>
                  <a:cs typeface="Arial"/>
                  <a:sym typeface="Arial"/>
                </a:endParaRPr>
              </a:p>
            </p:txBody>
          </p:sp>
        </p:grpSp>
      </p:grpSp>
      <p:grpSp>
        <p:nvGrpSpPr>
          <p:cNvPr id="4797" name="Google Shape;4797;p67"/>
          <p:cNvGrpSpPr/>
          <p:nvPr/>
        </p:nvGrpSpPr>
        <p:grpSpPr>
          <a:xfrm>
            <a:off x="848468" y="4372180"/>
            <a:ext cx="1691740" cy="1106944"/>
            <a:chOff x="848468" y="4372180"/>
            <a:chExt cx="1691740" cy="1106944"/>
          </a:xfrm>
        </p:grpSpPr>
        <p:sp>
          <p:nvSpPr>
            <p:cNvPr id="4798" name="Google Shape;4798;p67"/>
            <p:cNvSpPr/>
            <p:nvPr/>
          </p:nvSpPr>
          <p:spPr>
            <a:xfrm flipH="1" rot="10800000">
              <a:off x="936877" y="4372180"/>
              <a:ext cx="1603331" cy="688931"/>
            </a:xfrm>
            <a:custGeom>
              <a:rect b="b" l="l" r="r" t="t"/>
              <a:pathLst>
                <a:path extrusionOk="0" h="688931" w="1603331">
                  <a:moveTo>
                    <a:pt x="1603331" y="626301"/>
                  </a:moveTo>
                  <a:lnTo>
                    <a:pt x="1453019" y="688931"/>
                  </a:lnTo>
                  <a:cubicBezTo>
                    <a:pt x="1028055" y="405848"/>
                    <a:pt x="858413" y="306834"/>
                    <a:pt x="0" y="0"/>
                  </a:cubicBezTo>
                  <a:lnTo>
                    <a:pt x="1240077" y="0"/>
                  </a:lnTo>
                  <a:cubicBezTo>
                    <a:pt x="1367100" y="327520"/>
                    <a:pt x="1416932" y="417534"/>
                    <a:pt x="1603331" y="626301"/>
                  </a:cubicBezTo>
                  <a:close/>
                </a:path>
              </a:pathLst>
            </a:custGeom>
            <a:gradFill>
              <a:gsLst>
                <a:gs pos="0">
                  <a:schemeClr val="lt1"/>
                </a:gs>
                <a:gs pos="98000">
                  <a:srgbClr val="D8D8D8"/>
                </a:gs>
                <a:gs pos="100000">
                  <a:srgbClr val="D8D8D8"/>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799" name="Google Shape;4799;p67"/>
            <p:cNvGrpSpPr/>
            <p:nvPr/>
          </p:nvGrpSpPr>
          <p:grpSpPr>
            <a:xfrm>
              <a:off x="848468" y="5017459"/>
              <a:ext cx="1342034" cy="461665"/>
              <a:chOff x="296266" y="4536509"/>
              <a:chExt cx="1342034" cy="461665"/>
            </a:xfrm>
          </p:grpSpPr>
          <p:sp>
            <p:nvSpPr>
              <p:cNvPr id="4800" name="Google Shape;4800;p67"/>
              <p:cNvSpPr/>
              <p:nvPr/>
            </p:nvSpPr>
            <p:spPr>
              <a:xfrm>
                <a:off x="398223" y="4576176"/>
                <a:ext cx="1240077" cy="388307"/>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801" name="Google Shape;4801;p67"/>
              <p:cNvSpPr txBox="1"/>
              <p:nvPr/>
            </p:nvSpPr>
            <p:spPr>
              <a:xfrm>
                <a:off x="296266" y="4536509"/>
                <a:ext cx="1342034" cy="461665"/>
              </a:xfrm>
              <a:prstGeom prst="rect">
                <a:avLst/>
              </a:prstGeom>
              <a:noFill/>
              <a:ln>
                <a:noFill/>
              </a:ln>
            </p:spPr>
            <p:txBody>
              <a:bodyPr anchorCtr="0" anchor="t" bIns="45700" lIns="91425" spcFirstLastPara="1" rIns="91425" wrap="square" tIns="45700">
                <a:spAutoFit/>
              </a:bodyPr>
              <a:lstStyle/>
              <a:p>
                <a:pPr indent="0" lvl="0" marL="123825" marR="0" rtl="0" algn="l">
                  <a:spcBef>
                    <a:spcPts val="0"/>
                  </a:spcBef>
                  <a:spcAft>
                    <a:spcPts val="0"/>
                  </a:spcAft>
                  <a:buNone/>
                </a:pPr>
                <a:r>
                  <a:rPr i="1" lang="en-US" sz="2400">
                    <a:solidFill>
                      <a:srgbClr val="000000"/>
                    </a:solidFill>
                    <a:latin typeface="Calibri"/>
                    <a:ea typeface="Calibri"/>
                    <a:cs typeface="Calibri"/>
                    <a:sym typeface="Calibri"/>
                  </a:rPr>
                  <a:t>D</a:t>
                </a:r>
                <a:r>
                  <a:rPr baseline="-25000" i="1" lang="en-US" sz="2400">
                    <a:solidFill>
                      <a:srgbClr val="000000"/>
                    </a:solidFill>
                    <a:latin typeface="Calibri"/>
                    <a:ea typeface="Calibri"/>
                    <a:cs typeface="Calibri"/>
                    <a:sym typeface="Calibri"/>
                  </a:rPr>
                  <a:t>x</a:t>
                </a:r>
                <a:r>
                  <a:rPr i="1" lang="en-US" sz="2400">
                    <a:solidFill>
                      <a:srgbClr val="000000"/>
                    </a:solidFill>
                    <a:latin typeface="Calibri"/>
                    <a:ea typeface="Calibri"/>
                    <a:cs typeface="Calibri"/>
                    <a:sym typeface="Calibri"/>
                  </a:rPr>
                  <a:t>(z)</a:t>
                </a:r>
                <a:r>
                  <a:rPr lang="en-US" sz="2400">
                    <a:solidFill>
                      <a:srgbClr val="000000"/>
                    </a:solidFill>
                    <a:latin typeface="Calibri"/>
                    <a:ea typeface="Calibri"/>
                    <a:cs typeface="Calibri"/>
                    <a:sym typeface="Calibri"/>
                  </a:rPr>
                  <a:t> = 3</a:t>
                </a:r>
                <a:endParaRPr sz="2400">
                  <a:solidFill>
                    <a:srgbClr val="000000"/>
                  </a:solidFill>
                  <a:latin typeface="Calibri"/>
                  <a:ea typeface="Calibri"/>
                  <a:cs typeface="Calibri"/>
                  <a:sym typeface="Calibri"/>
                </a:endParaRPr>
              </a:p>
            </p:txBody>
          </p:sp>
        </p:grpSp>
      </p:grpSp>
      <p:grpSp>
        <p:nvGrpSpPr>
          <p:cNvPr id="4802" name="Google Shape;4802;p67"/>
          <p:cNvGrpSpPr/>
          <p:nvPr/>
        </p:nvGrpSpPr>
        <p:grpSpPr>
          <a:xfrm>
            <a:off x="2309508" y="4185388"/>
            <a:ext cx="501650" cy="457200"/>
            <a:chOff x="2309508" y="4185388"/>
            <a:chExt cx="501650" cy="457200"/>
          </a:xfrm>
        </p:grpSpPr>
        <p:sp>
          <p:nvSpPr>
            <p:cNvPr id="4803" name="Google Shape;4803;p67"/>
            <p:cNvSpPr/>
            <p:nvPr/>
          </p:nvSpPr>
          <p:spPr>
            <a:xfrm>
              <a:off x="2314270" y="4429863"/>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804" name="Google Shape;4804;p67"/>
            <p:cNvCxnSpPr/>
            <p:nvPr/>
          </p:nvCxnSpPr>
          <p:spPr>
            <a:xfrm>
              <a:off x="2314270" y="4418751"/>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805" name="Google Shape;4805;p67"/>
            <p:cNvCxnSpPr/>
            <p:nvPr/>
          </p:nvCxnSpPr>
          <p:spPr>
            <a:xfrm>
              <a:off x="2811158" y="4418751"/>
              <a:ext cx="0" cy="79375"/>
            </a:xfrm>
            <a:prstGeom prst="straightConnector1">
              <a:avLst/>
            </a:prstGeom>
            <a:noFill/>
            <a:ln cap="flat" cmpd="sng" w="12700">
              <a:solidFill>
                <a:srgbClr val="000000"/>
              </a:solidFill>
              <a:prstDash val="solid"/>
              <a:round/>
              <a:headEnd len="med" w="med" type="none"/>
              <a:tailEnd len="med" w="med" type="none"/>
            </a:ln>
          </p:spPr>
        </p:cxnSp>
        <p:sp>
          <p:nvSpPr>
            <p:cNvPr id="4806" name="Google Shape;4806;p67"/>
            <p:cNvSpPr/>
            <p:nvPr/>
          </p:nvSpPr>
          <p:spPr>
            <a:xfrm>
              <a:off x="2314270" y="4418751"/>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4807" name="Google Shape;4807;p67"/>
            <p:cNvSpPr/>
            <p:nvPr/>
          </p:nvSpPr>
          <p:spPr>
            <a:xfrm>
              <a:off x="2309508" y="4325088"/>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808" name="Google Shape;4808;p67"/>
            <p:cNvGrpSpPr/>
            <p:nvPr/>
          </p:nvGrpSpPr>
          <p:grpSpPr>
            <a:xfrm>
              <a:off x="2409520" y="4185388"/>
              <a:ext cx="336550" cy="457200"/>
              <a:chOff x="2951" y="2395"/>
              <a:chExt cx="213" cy="288"/>
            </a:xfrm>
          </p:grpSpPr>
          <p:sp>
            <p:nvSpPr>
              <p:cNvPr id="4809" name="Google Shape;4809;p67"/>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810" name="Google Shape;4810;p67"/>
              <p:cNvSpPr txBox="1"/>
              <p:nvPr/>
            </p:nvSpPr>
            <p:spPr>
              <a:xfrm>
                <a:off x="2951" y="2395"/>
                <a:ext cx="21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Arial"/>
                    <a:ea typeface="Arial"/>
                    <a:cs typeface="Arial"/>
                    <a:sym typeface="Arial"/>
                  </a:rPr>
                  <a:t>x</a:t>
                </a:r>
                <a:endParaRPr/>
              </a:p>
            </p:txBody>
          </p:sp>
        </p:grpSp>
      </p:grpSp>
      <p:sp>
        <p:nvSpPr>
          <p:cNvPr id="4811" name="Google Shape;4811;p67"/>
          <p:cNvSpPr txBox="1"/>
          <p:nvPr/>
        </p:nvSpPr>
        <p:spPr>
          <a:xfrm>
            <a:off x="7446311" y="3940800"/>
            <a:ext cx="26052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Arial"/>
                <a:ea typeface="Arial"/>
                <a:cs typeface="Arial"/>
                <a:sym typeface="Arial"/>
              </a:rPr>
              <a:t>= min {2 + 5,</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           1 + 3,</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           5 + 3}  = 4</a:t>
            </a:r>
            <a:endParaRPr/>
          </a:p>
        </p:txBody>
      </p:sp>
      <p:grpSp>
        <p:nvGrpSpPr>
          <p:cNvPr id="4812" name="Google Shape;4812;p67"/>
          <p:cNvGrpSpPr/>
          <p:nvPr/>
        </p:nvGrpSpPr>
        <p:grpSpPr>
          <a:xfrm>
            <a:off x="6270932" y="2745287"/>
            <a:ext cx="4777024" cy="3733537"/>
            <a:chOff x="6270932" y="2745287"/>
            <a:chExt cx="4777024" cy="3733537"/>
          </a:xfrm>
        </p:grpSpPr>
        <p:sp>
          <p:nvSpPr>
            <p:cNvPr id="4813" name="Google Shape;4813;p67"/>
            <p:cNvSpPr txBox="1"/>
            <p:nvPr/>
          </p:nvSpPr>
          <p:spPr>
            <a:xfrm>
              <a:off x="6270932" y="5284523"/>
              <a:ext cx="4777024" cy="119430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i="1" lang="en-US" sz="2800">
                  <a:solidFill>
                    <a:srgbClr val="000000"/>
                  </a:solidFill>
                  <a:latin typeface="Calibri"/>
                  <a:ea typeface="Calibri"/>
                  <a:cs typeface="Calibri"/>
                  <a:sym typeface="Calibri"/>
                </a:rPr>
                <a:t>node achieving minimum (x) is next hop on estimated least-cost path to destination (z)</a:t>
              </a:r>
              <a:endParaRPr/>
            </a:p>
          </p:txBody>
        </p:sp>
        <p:grpSp>
          <p:nvGrpSpPr>
            <p:cNvPr id="4814" name="Google Shape;4814;p67"/>
            <p:cNvGrpSpPr/>
            <p:nvPr/>
          </p:nvGrpSpPr>
          <p:grpSpPr>
            <a:xfrm>
              <a:off x="6465518" y="2745287"/>
              <a:ext cx="3645073" cy="2469715"/>
              <a:chOff x="6465518" y="2745287"/>
              <a:chExt cx="3645073" cy="2469715"/>
            </a:xfrm>
          </p:grpSpPr>
          <p:sp>
            <p:nvSpPr>
              <p:cNvPr id="4815" name="Google Shape;4815;p67"/>
              <p:cNvSpPr/>
              <p:nvPr/>
            </p:nvSpPr>
            <p:spPr>
              <a:xfrm>
                <a:off x="6465518" y="2745287"/>
                <a:ext cx="874734" cy="613776"/>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816" name="Google Shape;4816;p67"/>
              <p:cNvSpPr/>
              <p:nvPr/>
            </p:nvSpPr>
            <p:spPr>
              <a:xfrm>
                <a:off x="9235857" y="4601226"/>
                <a:ext cx="874734" cy="613776"/>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817" name="Google Shape;4817;p67"/>
              <p:cNvSpPr/>
              <p:nvPr/>
            </p:nvSpPr>
            <p:spPr>
              <a:xfrm>
                <a:off x="8098076" y="3187872"/>
                <a:ext cx="1722329" cy="482254"/>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767"/>
                                        </p:tgtEl>
                                        <p:attrNameLst>
                                          <p:attrName>style.visibility</p:attrName>
                                        </p:attrNameLst>
                                      </p:cBhvr>
                                      <p:to>
                                        <p:strVal val="visible"/>
                                      </p:to>
                                    </p:set>
                                    <p:animEffect filter="fade" transition="in">
                                      <p:cBhvr>
                                        <p:cTn dur="500"/>
                                        <p:tgtEl>
                                          <p:spTgt spid="47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8"/>
                                        </p:tgtEl>
                                        <p:attrNameLst>
                                          <p:attrName>style.visibility</p:attrName>
                                        </p:attrNameLst>
                                      </p:cBhvr>
                                      <p:to>
                                        <p:strVal val="visible"/>
                                      </p:to>
                                    </p:set>
                                    <p:animEffect filter="fade" transition="in">
                                      <p:cBhvr>
                                        <p:cTn dur="500"/>
                                        <p:tgtEl>
                                          <p:spTgt spid="47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7"/>
                                        </p:tgtEl>
                                        <p:attrNameLst>
                                          <p:attrName>style.visibility</p:attrName>
                                        </p:attrNameLst>
                                      </p:cBhvr>
                                      <p:to>
                                        <p:strVal val="visible"/>
                                      </p:to>
                                    </p:set>
                                    <p:animEffect filter="fade" transition="in">
                                      <p:cBhvr>
                                        <p:cTn dur="500"/>
                                        <p:tgtEl>
                                          <p:spTgt spid="4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3"/>
                                        </p:tgtEl>
                                        <p:attrNameLst>
                                          <p:attrName>style.visibility</p:attrName>
                                        </p:attrNameLst>
                                      </p:cBhvr>
                                      <p:to>
                                        <p:strVal val="visible"/>
                                      </p:to>
                                    </p:set>
                                    <p:animEffect filter="fade" transition="in">
                                      <p:cBhvr>
                                        <p:cTn dur="500"/>
                                        <p:tgtEl>
                                          <p:spTgt spid="47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4"/>
                                        </p:tgtEl>
                                        <p:attrNameLst>
                                          <p:attrName>style.visibility</p:attrName>
                                        </p:attrNameLst>
                                      </p:cBhvr>
                                      <p:to>
                                        <p:strVal val="visible"/>
                                      </p:to>
                                    </p:set>
                                    <p:animEffect filter="fade" transition="in">
                                      <p:cBhvr>
                                        <p:cTn dur="500"/>
                                        <p:tgtEl>
                                          <p:spTgt spid="4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1"/>
                                        </p:tgtEl>
                                        <p:attrNameLst>
                                          <p:attrName>style.visibility</p:attrName>
                                        </p:attrNameLst>
                                      </p:cBhvr>
                                      <p:to>
                                        <p:strVal val="visible"/>
                                      </p:to>
                                    </p:set>
                                    <p:animEffect filter="fade" transition="in">
                                      <p:cBhvr>
                                        <p:cTn dur="500"/>
                                        <p:tgtEl>
                                          <p:spTgt spid="48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2"/>
                                        </p:tgtEl>
                                        <p:attrNameLst>
                                          <p:attrName>style.visibility</p:attrName>
                                        </p:attrNameLst>
                                      </p:cBhvr>
                                      <p:to>
                                        <p:strVal val="visible"/>
                                      </p:to>
                                    </p:set>
                                    <p:animEffect filter="fade" transition="in">
                                      <p:cBhvr>
                                        <p:cTn dur="500"/>
                                        <p:tgtEl>
                                          <p:spTgt spid="48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1" name="Shape 4821"/>
        <p:cNvGrpSpPr/>
        <p:nvPr/>
      </p:nvGrpSpPr>
      <p:grpSpPr>
        <a:xfrm>
          <a:off x="0" y="0"/>
          <a:ext cx="0" cy="0"/>
          <a:chOff x="0" y="0"/>
          <a:chExt cx="0" cy="0"/>
        </a:xfrm>
      </p:grpSpPr>
      <p:sp>
        <p:nvSpPr>
          <p:cNvPr id="4822" name="Google Shape;4822;p6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algorithm </a:t>
            </a:r>
            <a:endParaRPr/>
          </a:p>
        </p:txBody>
      </p:sp>
      <p:sp>
        <p:nvSpPr>
          <p:cNvPr id="4823" name="Google Shape;4823;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4824" name="Google Shape;4824;p68"/>
          <p:cNvSpPr txBox="1"/>
          <p:nvPr/>
        </p:nvSpPr>
        <p:spPr>
          <a:xfrm>
            <a:off x="696238" y="1449887"/>
            <a:ext cx="10815181" cy="1380995"/>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key idea: </a:t>
            </a:r>
            <a:endParaRPr/>
          </a:p>
          <a:p>
            <a:pPr indent="-330200" lvl="0" marL="460375" marR="0" rtl="0" algn="l">
              <a:lnSpc>
                <a:spcPct val="90000"/>
              </a:lnSpc>
              <a:spcBef>
                <a:spcPts val="1000"/>
              </a:spcBef>
              <a:spcAft>
                <a:spcPts val="0"/>
              </a:spcAft>
              <a:buClr>
                <a:srgbClr val="0000A3"/>
              </a:buClr>
              <a:buSzPts val="2800"/>
              <a:buFont typeface="Noto Sans Symbols"/>
              <a:buChar char="▪"/>
            </a:pPr>
            <a:r>
              <a:rPr lang="en-US" sz="2800">
                <a:solidFill>
                  <a:srgbClr val="000000"/>
                </a:solidFill>
                <a:latin typeface="Calibri"/>
                <a:ea typeface="Calibri"/>
                <a:cs typeface="Calibri"/>
                <a:sym typeface="Calibri"/>
              </a:rPr>
              <a:t>from time-to-time, each node sends its own distance vector estimate to neighbors</a:t>
            </a:r>
            <a:endParaRPr/>
          </a:p>
        </p:txBody>
      </p:sp>
      <p:sp>
        <p:nvSpPr>
          <p:cNvPr id="4825" name="Google Shape;4825;p68"/>
          <p:cNvSpPr/>
          <p:nvPr/>
        </p:nvSpPr>
        <p:spPr>
          <a:xfrm>
            <a:off x="824173" y="4778050"/>
            <a:ext cx="10674719" cy="1500187"/>
          </a:xfrm>
          <a:prstGeom prst="rect">
            <a:avLst/>
          </a:prstGeom>
          <a:noFill/>
          <a:ln>
            <a:noFill/>
          </a:ln>
        </p:spPr>
        <p:txBody>
          <a:bodyPr anchorCtr="0" anchor="t" bIns="45700" lIns="91425" spcFirstLastPara="1" rIns="91425" wrap="square" tIns="45700">
            <a:noAutofit/>
          </a:bodyPr>
          <a:lstStyle/>
          <a:p>
            <a:pPr indent="-347663" lvl="0" marL="347663" marR="0" rtl="0" algn="l">
              <a:lnSpc>
                <a:spcPct val="90000"/>
              </a:lnSpc>
              <a:spcBef>
                <a:spcPts val="0"/>
              </a:spcBef>
              <a:spcAft>
                <a:spcPts val="0"/>
              </a:spcAft>
              <a:buClr>
                <a:srgbClr val="0000A8"/>
              </a:buClr>
              <a:buSzPts val="2800"/>
              <a:buFont typeface="Noto Sans Symbols"/>
              <a:buChar char="▪"/>
            </a:pPr>
            <a:r>
              <a:rPr lang="en-US" sz="2800">
                <a:solidFill>
                  <a:srgbClr val="000000"/>
                </a:solidFill>
                <a:latin typeface="Calibri"/>
                <a:ea typeface="Calibri"/>
                <a:cs typeface="Calibri"/>
                <a:sym typeface="Calibri"/>
              </a:rPr>
              <a:t>under minor, natural conditions, the estimate </a:t>
            </a:r>
            <a:r>
              <a:rPr i="1" lang="en-US" sz="2800">
                <a:solidFill>
                  <a:srgbClr val="000000"/>
                </a:solidFill>
                <a:latin typeface="Calibri"/>
                <a:ea typeface="Calibri"/>
                <a:cs typeface="Calibri"/>
                <a:sym typeface="Calibri"/>
              </a:rPr>
              <a:t>D</a:t>
            </a:r>
            <a:r>
              <a:rPr baseline="-25000" i="1" lang="en-US" sz="2800">
                <a:solidFill>
                  <a:srgbClr val="000000"/>
                </a:solidFill>
                <a:latin typeface="Calibri"/>
                <a:ea typeface="Calibri"/>
                <a:cs typeface="Calibri"/>
                <a:sym typeface="Calibri"/>
              </a:rPr>
              <a:t>x</a:t>
            </a:r>
            <a:r>
              <a:rPr i="1" lang="en-US" sz="2800">
                <a:solidFill>
                  <a:srgbClr val="000000"/>
                </a:solidFill>
                <a:latin typeface="Calibri"/>
                <a:ea typeface="Calibri"/>
                <a:cs typeface="Calibri"/>
                <a:sym typeface="Calibri"/>
              </a:rPr>
              <a:t>(y) converge to the actual least cost </a:t>
            </a:r>
            <a:r>
              <a:rPr lang="en-US" sz="2800">
                <a:solidFill>
                  <a:srgbClr val="000000"/>
                </a:solidFill>
                <a:latin typeface="Calibri"/>
                <a:ea typeface="Calibri"/>
                <a:cs typeface="Calibri"/>
                <a:sym typeface="Calibri"/>
              </a:rPr>
              <a:t>d</a:t>
            </a:r>
            <a:r>
              <a:rPr baseline="-25000" lang="en-US" sz="2800">
                <a:solidFill>
                  <a:srgbClr val="000000"/>
                </a:solidFill>
                <a:latin typeface="Calibri"/>
                <a:ea typeface="Calibri"/>
                <a:cs typeface="Calibri"/>
                <a:sym typeface="Calibri"/>
              </a:rPr>
              <a:t>x</a:t>
            </a:r>
            <a:r>
              <a:rPr lang="en-US" sz="2800">
                <a:solidFill>
                  <a:srgbClr val="000000"/>
                </a:solidFill>
                <a:latin typeface="Calibri"/>
                <a:ea typeface="Calibri"/>
                <a:cs typeface="Calibri"/>
                <a:sym typeface="Calibri"/>
              </a:rPr>
              <a:t>(y)</a:t>
            </a:r>
            <a:r>
              <a:rPr lang="en-US" sz="2400">
                <a:solidFill>
                  <a:srgbClr val="000000"/>
                </a:solidFill>
                <a:latin typeface="Calibri"/>
                <a:ea typeface="Calibri"/>
                <a:cs typeface="Calibri"/>
                <a:sym typeface="Calibri"/>
              </a:rPr>
              <a:t> </a:t>
            </a:r>
            <a:endParaRPr/>
          </a:p>
        </p:txBody>
      </p:sp>
      <p:grpSp>
        <p:nvGrpSpPr>
          <p:cNvPr id="4826" name="Google Shape;4826;p68"/>
          <p:cNvGrpSpPr/>
          <p:nvPr/>
        </p:nvGrpSpPr>
        <p:grpSpPr>
          <a:xfrm>
            <a:off x="648222" y="2792259"/>
            <a:ext cx="10815181" cy="1412234"/>
            <a:chOff x="648222" y="2792259"/>
            <a:chExt cx="10815181" cy="1412234"/>
          </a:xfrm>
        </p:grpSpPr>
        <p:sp>
          <p:nvSpPr>
            <p:cNvPr id="4827" name="Google Shape;4827;p68"/>
            <p:cNvSpPr/>
            <p:nvPr/>
          </p:nvSpPr>
          <p:spPr>
            <a:xfrm>
              <a:off x="2556528" y="3681273"/>
              <a:ext cx="6709465"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i="1" lang="en-US" sz="2800">
                  <a:solidFill>
                    <a:srgbClr val="CC0000"/>
                  </a:solidFill>
                  <a:latin typeface="Calibri"/>
                  <a:ea typeface="Calibri"/>
                  <a:cs typeface="Calibri"/>
                  <a:sym typeface="Calibri"/>
                </a:rPr>
                <a:t>D</a:t>
              </a:r>
              <a:r>
                <a:rPr baseline="-25000" i="1" lang="en-US" sz="2800">
                  <a:solidFill>
                    <a:srgbClr val="CC0000"/>
                  </a:solidFill>
                  <a:latin typeface="Calibri"/>
                  <a:ea typeface="Calibri"/>
                  <a:cs typeface="Calibri"/>
                  <a:sym typeface="Calibri"/>
                </a:rPr>
                <a:t>x</a:t>
              </a:r>
              <a:r>
                <a:rPr i="1" lang="en-US" sz="2800">
                  <a:solidFill>
                    <a:srgbClr val="CC0000"/>
                  </a:solidFill>
                  <a:latin typeface="Calibri"/>
                  <a:ea typeface="Calibri"/>
                  <a:cs typeface="Calibri"/>
                  <a:sym typeface="Calibri"/>
                </a:rPr>
                <a:t>(y) ← min</a:t>
              </a:r>
              <a:r>
                <a:rPr baseline="-25000" i="1" lang="en-US" sz="2800">
                  <a:solidFill>
                    <a:srgbClr val="CC0000"/>
                  </a:solidFill>
                  <a:latin typeface="Calibri"/>
                  <a:ea typeface="Calibri"/>
                  <a:cs typeface="Calibri"/>
                  <a:sym typeface="Calibri"/>
                </a:rPr>
                <a:t>v</a:t>
              </a:r>
              <a:r>
                <a:rPr i="1" lang="en-US" sz="2800">
                  <a:solidFill>
                    <a:srgbClr val="CC0000"/>
                  </a:solidFill>
                  <a:latin typeface="Calibri"/>
                  <a:ea typeface="Calibri"/>
                  <a:cs typeface="Calibri"/>
                  <a:sym typeface="Calibri"/>
                </a:rPr>
                <a:t>{c</a:t>
              </a:r>
              <a:r>
                <a:rPr baseline="-25000" i="1" lang="en-US" sz="2800">
                  <a:solidFill>
                    <a:srgbClr val="CC0000"/>
                  </a:solidFill>
                  <a:latin typeface="Calibri"/>
                  <a:ea typeface="Calibri"/>
                  <a:cs typeface="Calibri"/>
                  <a:sym typeface="Calibri"/>
                </a:rPr>
                <a:t>x,v </a:t>
              </a:r>
              <a:r>
                <a:rPr i="1" lang="en-US" sz="2800">
                  <a:solidFill>
                    <a:srgbClr val="CC0000"/>
                  </a:solidFill>
                  <a:latin typeface="Calibri"/>
                  <a:ea typeface="Calibri"/>
                  <a:cs typeface="Calibri"/>
                  <a:sym typeface="Calibri"/>
                </a:rPr>
                <a:t>+ D</a:t>
              </a:r>
              <a:r>
                <a:rPr baseline="-25000" i="1" lang="en-US" sz="2800">
                  <a:solidFill>
                    <a:srgbClr val="CC0000"/>
                  </a:solidFill>
                  <a:latin typeface="Calibri"/>
                  <a:ea typeface="Calibri"/>
                  <a:cs typeface="Calibri"/>
                  <a:sym typeface="Calibri"/>
                </a:rPr>
                <a:t>v</a:t>
              </a:r>
              <a:r>
                <a:rPr i="1" lang="en-US" sz="2800">
                  <a:solidFill>
                    <a:srgbClr val="CC0000"/>
                  </a:solidFill>
                  <a:latin typeface="Calibri"/>
                  <a:ea typeface="Calibri"/>
                  <a:cs typeface="Calibri"/>
                  <a:sym typeface="Calibri"/>
                </a:rPr>
                <a:t>(y)}  </a:t>
              </a:r>
              <a:r>
                <a:rPr lang="en-US" sz="2800">
                  <a:solidFill>
                    <a:srgbClr val="000000"/>
                  </a:solidFill>
                  <a:latin typeface="Calibri"/>
                  <a:ea typeface="Calibri"/>
                  <a:cs typeface="Calibri"/>
                  <a:sym typeface="Calibri"/>
                </a:rPr>
                <a:t>for each node </a:t>
              </a:r>
              <a:r>
                <a:rPr i="1" lang="en-US" sz="2800">
                  <a:solidFill>
                    <a:srgbClr val="000000"/>
                  </a:solidFill>
                  <a:latin typeface="Calibri"/>
                  <a:ea typeface="Calibri"/>
                  <a:cs typeface="Calibri"/>
                  <a:sym typeface="Calibri"/>
                </a:rPr>
                <a:t>y</a:t>
              </a:r>
              <a:r>
                <a:rPr lang="en-US" sz="2800">
                  <a:solidFill>
                    <a:srgbClr val="000000"/>
                  </a:solidFill>
                  <a:latin typeface="Calibri"/>
                  <a:ea typeface="Calibri"/>
                  <a:cs typeface="Calibri"/>
                  <a:sym typeface="Calibri"/>
                </a:rPr>
                <a:t> ∊ </a:t>
              </a:r>
              <a:r>
                <a:rPr i="1" lang="en-US" sz="2800">
                  <a:solidFill>
                    <a:srgbClr val="000000"/>
                  </a:solidFill>
                  <a:latin typeface="Calibri"/>
                  <a:ea typeface="Calibri"/>
                  <a:cs typeface="Calibri"/>
                  <a:sym typeface="Calibri"/>
                </a:rPr>
                <a:t>N</a:t>
              </a:r>
              <a:endParaRPr/>
            </a:p>
          </p:txBody>
        </p:sp>
        <p:sp>
          <p:nvSpPr>
            <p:cNvPr id="4828" name="Google Shape;4828;p68"/>
            <p:cNvSpPr txBox="1"/>
            <p:nvPr/>
          </p:nvSpPr>
          <p:spPr>
            <a:xfrm>
              <a:off x="648222" y="2792259"/>
              <a:ext cx="10815181" cy="1015653"/>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lang="en-US" sz="2800">
                  <a:solidFill>
                    <a:srgbClr val="000000"/>
                  </a:solidFill>
                  <a:latin typeface="Calibri"/>
                  <a:ea typeface="Calibri"/>
                  <a:cs typeface="Calibri"/>
                  <a:sym typeface="Calibri"/>
                </a:rPr>
                <a:t>when </a:t>
              </a:r>
              <a:r>
                <a:rPr i="1" lang="en-US" sz="2800">
                  <a:solidFill>
                    <a:srgbClr val="000000"/>
                  </a:solidFill>
                  <a:latin typeface="Calibri"/>
                  <a:ea typeface="Calibri"/>
                  <a:cs typeface="Calibri"/>
                  <a:sym typeface="Calibri"/>
                </a:rPr>
                <a:t>x</a:t>
              </a:r>
              <a:r>
                <a:rPr lang="en-US" sz="2800">
                  <a:solidFill>
                    <a:srgbClr val="000000"/>
                  </a:solidFill>
                  <a:latin typeface="Calibri"/>
                  <a:ea typeface="Calibri"/>
                  <a:cs typeface="Calibri"/>
                  <a:sym typeface="Calibri"/>
                </a:rPr>
                <a:t> receives new DV estimate from any neighbor, it updates its own DV using B-F equation:</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6"/>
                                        </p:tgtEl>
                                        <p:attrNameLst>
                                          <p:attrName>style.visibility</p:attrName>
                                        </p:attrNameLst>
                                      </p:cBhvr>
                                      <p:to>
                                        <p:strVal val="visible"/>
                                      </p:to>
                                    </p:set>
                                    <p:animEffect filter="fade" transition="in">
                                      <p:cBhvr>
                                        <p:cTn dur="500"/>
                                        <p:tgtEl>
                                          <p:spTgt spid="4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gtEl>
                                        <p:attrNameLst>
                                          <p:attrName>style.visibility</p:attrName>
                                        </p:attrNameLst>
                                      </p:cBhvr>
                                      <p:to>
                                        <p:strVal val="visible"/>
                                      </p:to>
                                    </p:set>
                                    <p:animEffect filter="fade" transition="in">
                                      <p:cBhvr>
                                        <p:cTn dur="500"/>
                                        <p:tgtEl>
                                          <p:spTgt spid="48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2" name="Shape 4832"/>
        <p:cNvGrpSpPr/>
        <p:nvPr/>
      </p:nvGrpSpPr>
      <p:grpSpPr>
        <a:xfrm>
          <a:off x="0" y="0"/>
          <a:ext cx="0" cy="0"/>
          <a:chOff x="0" y="0"/>
          <a:chExt cx="0" cy="0"/>
        </a:xfrm>
      </p:grpSpPr>
      <p:sp>
        <p:nvSpPr>
          <p:cNvPr id="4833" name="Google Shape;4833;p6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algorithm:  </a:t>
            </a:r>
            <a:endParaRPr/>
          </a:p>
        </p:txBody>
      </p:sp>
      <p:sp>
        <p:nvSpPr>
          <p:cNvPr id="4834" name="Google Shape;4834;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4835" name="Google Shape;4835;p69"/>
          <p:cNvSpPr txBox="1"/>
          <p:nvPr/>
        </p:nvSpPr>
        <p:spPr>
          <a:xfrm>
            <a:off x="6173635" y="1530372"/>
            <a:ext cx="5400414" cy="197691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iterative, asynchronous:</a:t>
            </a:r>
            <a:r>
              <a:rPr lang="en-US" sz="2800">
                <a:solidFill>
                  <a:srgbClr val="FF0000"/>
                </a:solidFill>
                <a:latin typeface="Calibri"/>
                <a:ea typeface="Calibri"/>
                <a:cs typeface="Calibri"/>
                <a:sym typeface="Calibri"/>
              </a:rPr>
              <a:t> </a:t>
            </a:r>
            <a:r>
              <a:rPr lang="en-US" sz="2400">
                <a:solidFill>
                  <a:srgbClr val="000000"/>
                </a:solidFill>
                <a:latin typeface="Calibri"/>
                <a:ea typeface="Calibri"/>
                <a:cs typeface="Calibri"/>
                <a:sym typeface="Calibri"/>
              </a:rPr>
              <a:t>each local iteration caused by: </a:t>
            </a:r>
            <a:endParaRPr/>
          </a:p>
          <a:p>
            <a:pPr indent="-223838" lvl="0" marL="460375" marR="0" rtl="0" algn="l">
              <a:lnSpc>
                <a:spcPct val="90000"/>
              </a:lnSpc>
              <a:spcBef>
                <a:spcPts val="1000"/>
              </a:spcBef>
              <a:spcAft>
                <a:spcPts val="0"/>
              </a:spcAft>
              <a:buClr>
                <a:srgbClr val="0000A3"/>
              </a:buClr>
              <a:buSzPts val="2400"/>
              <a:buFont typeface="Noto Sans Symbols"/>
              <a:buChar char="▪"/>
            </a:pPr>
            <a:r>
              <a:rPr lang="en-US" sz="2400">
                <a:solidFill>
                  <a:srgbClr val="000000"/>
                </a:solidFill>
                <a:latin typeface="Calibri"/>
                <a:ea typeface="Calibri"/>
                <a:cs typeface="Calibri"/>
                <a:sym typeface="Calibri"/>
              </a:rPr>
              <a:t>local link cost change </a:t>
            </a:r>
            <a:endParaRPr/>
          </a:p>
          <a:p>
            <a:pPr indent="-223838" lvl="0" marL="460375" marR="0" rtl="0" algn="l">
              <a:lnSpc>
                <a:spcPct val="90000"/>
              </a:lnSpc>
              <a:spcBef>
                <a:spcPts val="1000"/>
              </a:spcBef>
              <a:spcAft>
                <a:spcPts val="0"/>
              </a:spcAft>
              <a:buClr>
                <a:srgbClr val="0000A3"/>
              </a:buClr>
              <a:buSzPts val="2400"/>
              <a:buFont typeface="Noto Sans Symbols"/>
              <a:buChar char="▪"/>
            </a:pPr>
            <a:r>
              <a:rPr lang="en-US" sz="2400">
                <a:solidFill>
                  <a:srgbClr val="000000"/>
                </a:solidFill>
                <a:latin typeface="Calibri"/>
                <a:ea typeface="Calibri"/>
                <a:cs typeface="Calibri"/>
                <a:sym typeface="Calibri"/>
              </a:rPr>
              <a:t>DV update message from neighbor</a:t>
            </a:r>
            <a:endParaRPr/>
          </a:p>
        </p:txBody>
      </p:sp>
      <p:sp>
        <p:nvSpPr>
          <p:cNvPr id="4836" name="Google Shape;4836;p69"/>
          <p:cNvSpPr txBox="1"/>
          <p:nvPr/>
        </p:nvSpPr>
        <p:spPr>
          <a:xfrm>
            <a:off x="1077577" y="2097023"/>
            <a:ext cx="4622104" cy="234525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a:p>
            <a:pPr indent="0" lvl="0" marL="0" marR="0" rtl="0" algn="ctr">
              <a:lnSpc>
                <a:spcPct val="90000"/>
              </a:lnSpc>
              <a:spcBef>
                <a:spcPts val="0"/>
              </a:spcBef>
              <a:spcAft>
                <a:spcPts val="0"/>
              </a:spcAft>
              <a:buNone/>
            </a:pPr>
            <a:r>
              <a:rPr i="1" lang="en-US" sz="2800">
                <a:solidFill>
                  <a:srgbClr val="000099"/>
                </a:solidFill>
                <a:latin typeface="Calibri"/>
                <a:ea typeface="Calibri"/>
                <a:cs typeface="Calibri"/>
                <a:sym typeface="Calibri"/>
              </a:rPr>
              <a:t>wait</a:t>
            </a:r>
            <a:r>
              <a:rPr lang="en-US" sz="2400">
                <a:solidFill>
                  <a:srgbClr val="000099"/>
                </a:solidFill>
                <a:latin typeface="Calibri"/>
                <a:ea typeface="Calibri"/>
                <a:cs typeface="Calibri"/>
                <a:sym typeface="Calibri"/>
              </a:rPr>
              <a:t> </a:t>
            </a:r>
            <a:r>
              <a:rPr lang="en-US" sz="2800">
                <a:solidFill>
                  <a:srgbClr val="000000"/>
                </a:solidFill>
                <a:latin typeface="Calibri"/>
                <a:ea typeface="Calibri"/>
                <a:cs typeface="Calibri"/>
                <a:sym typeface="Calibri"/>
              </a:rPr>
              <a:t>for (change in local link cost or msg from neighbor)</a:t>
            </a:r>
            <a:endParaRPr/>
          </a:p>
          <a:p>
            <a:pPr indent="0" lvl="0" marL="0" marR="0" rtl="0" algn="l">
              <a:lnSpc>
                <a:spcPct val="90000"/>
              </a:lnSpc>
              <a:spcBef>
                <a:spcPts val="0"/>
              </a:spcBef>
              <a:spcAft>
                <a:spcPts val="0"/>
              </a:spcAft>
              <a:buNone/>
            </a:pPr>
            <a:r>
              <a:t/>
            </a:r>
            <a:endParaRPr sz="2000">
              <a:solidFill>
                <a:srgbClr val="000000"/>
              </a:solidFill>
              <a:latin typeface="Calibri"/>
              <a:ea typeface="Calibri"/>
              <a:cs typeface="Calibri"/>
              <a:sym typeface="Calibri"/>
            </a:endParaRPr>
          </a:p>
          <a:p>
            <a:pPr indent="0" lvl="0" marL="0" marR="0" rtl="0" algn="l">
              <a:lnSpc>
                <a:spcPct val="90000"/>
              </a:lnSpc>
              <a:spcBef>
                <a:spcPts val="0"/>
              </a:spcBef>
              <a:spcAft>
                <a:spcPts val="0"/>
              </a:spcAft>
              <a:buNone/>
            </a:pPr>
            <a:r>
              <a:t/>
            </a:r>
            <a:endParaRPr sz="2000">
              <a:solidFill>
                <a:srgbClr val="000000"/>
              </a:solidFill>
              <a:latin typeface="Calibri"/>
              <a:ea typeface="Calibri"/>
              <a:cs typeface="Calibri"/>
              <a:sym typeface="Calibri"/>
            </a:endParaRPr>
          </a:p>
          <a:p>
            <a:pPr indent="0" lvl="0" marL="0" marR="0" rtl="0" algn="ctr">
              <a:spcBef>
                <a:spcPts val="120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37" name="Google Shape;4837;p69"/>
          <p:cNvSpPr txBox="1"/>
          <p:nvPr/>
        </p:nvSpPr>
        <p:spPr>
          <a:xfrm>
            <a:off x="977032" y="1397588"/>
            <a:ext cx="203132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CC0000"/>
                </a:solidFill>
                <a:latin typeface="Calibri"/>
                <a:ea typeface="Calibri"/>
                <a:cs typeface="Calibri"/>
                <a:sym typeface="Calibri"/>
              </a:rPr>
              <a:t>each node:</a:t>
            </a:r>
            <a:endParaRPr/>
          </a:p>
        </p:txBody>
      </p:sp>
      <p:sp>
        <p:nvSpPr>
          <p:cNvPr id="4838" name="Google Shape;4838;p69"/>
          <p:cNvSpPr txBox="1"/>
          <p:nvPr/>
        </p:nvSpPr>
        <p:spPr>
          <a:xfrm>
            <a:off x="6138145" y="3549151"/>
            <a:ext cx="4936951" cy="2914279"/>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distributed, self-stopping: </a:t>
            </a:r>
            <a:r>
              <a:rPr lang="en-US" sz="2400">
                <a:solidFill>
                  <a:srgbClr val="000000"/>
                </a:solidFill>
                <a:latin typeface="Calibri"/>
                <a:ea typeface="Calibri"/>
                <a:cs typeface="Calibri"/>
                <a:sym typeface="Calibri"/>
              </a:rPr>
              <a:t>each node notifies neighbors </a:t>
            </a:r>
            <a:r>
              <a:rPr i="1" lang="en-US" sz="2400">
                <a:solidFill>
                  <a:srgbClr val="000000"/>
                </a:solidFill>
                <a:latin typeface="Calibri"/>
                <a:ea typeface="Calibri"/>
                <a:cs typeface="Calibri"/>
                <a:sym typeface="Calibri"/>
              </a:rPr>
              <a:t>only</a:t>
            </a:r>
            <a:r>
              <a:rPr lang="en-US" sz="2400">
                <a:solidFill>
                  <a:srgbClr val="000000"/>
                </a:solidFill>
                <a:latin typeface="Calibri"/>
                <a:ea typeface="Calibri"/>
                <a:cs typeface="Calibri"/>
                <a:sym typeface="Calibri"/>
              </a:rPr>
              <a:t> when its DV changes</a:t>
            </a:r>
            <a:endParaRPr/>
          </a:p>
          <a:p>
            <a:pPr indent="-236538" lvl="1" marL="522288"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neighbors then notify their neighbors – </a:t>
            </a:r>
            <a:r>
              <a:rPr b="0" i="1" lang="en-US" sz="2400" u="none" cap="none" strike="noStrike">
                <a:solidFill>
                  <a:srgbClr val="000000"/>
                </a:solidFill>
                <a:latin typeface="Calibri"/>
                <a:ea typeface="Calibri"/>
                <a:cs typeface="Calibri"/>
                <a:sym typeface="Calibri"/>
              </a:rPr>
              <a:t>only if necessary</a:t>
            </a:r>
            <a:endParaRPr/>
          </a:p>
          <a:p>
            <a:pPr indent="-236538" lvl="1" marL="522288"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no notification received, no actions taken!</a:t>
            </a:r>
            <a:endParaRPr/>
          </a:p>
        </p:txBody>
      </p:sp>
      <p:grpSp>
        <p:nvGrpSpPr>
          <p:cNvPr id="4839" name="Google Shape;4839;p69"/>
          <p:cNvGrpSpPr/>
          <p:nvPr/>
        </p:nvGrpSpPr>
        <p:grpSpPr>
          <a:xfrm>
            <a:off x="1092191" y="3294344"/>
            <a:ext cx="4622104" cy="1554474"/>
            <a:chOff x="1317659" y="3169084"/>
            <a:chExt cx="4622104" cy="1554474"/>
          </a:xfrm>
        </p:grpSpPr>
        <p:cxnSp>
          <p:nvCxnSpPr>
            <p:cNvPr id="4840" name="Google Shape;4840;p69"/>
            <p:cNvCxnSpPr/>
            <p:nvPr/>
          </p:nvCxnSpPr>
          <p:spPr>
            <a:xfrm>
              <a:off x="3601463" y="3169084"/>
              <a:ext cx="0" cy="422581"/>
            </a:xfrm>
            <a:prstGeom prst="straightConnector1">
              <a:avLst/>
            </a:prstGeom>
            <a:noFill/>
            <a:ln cap="flat" cmpd="sng" w="19050">
              <a:solidFill>
                <a:srgbClr val="000099"/>
              </a:solidFill>
              <a:prstDash val="solid"/>
              <a:round/>
              <a:headEnd len="med" w="med" type="none"/>
              <a:tailEnd len="med" w="med" type="triangle"/>
            </a:ln>
          </p:spPr>
        </p:cxnSp>
        <p:sp>
          <p:nvSpPr>
            <p:cNvPr id="4841" name="Google Shape;4841;p69"/>
            <p:cNvSpPr txBox="1"/>
            <p:nvPr/>
          </p:nvSpPr>
          <p:spPr>
            <a:xfrm>
              <a:off x="1317659" y="3301630"/>
              <a:ext cx="4622104"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t/>
              </a:r>
              <a:endParaRPr sz="2000">
                <a:solidFill>
                  <a:srgbClr val="000000"/>
                </a:solidFill>
                <a:latin typeface="Calibri"/>
                <a:ea typeface="Calibri"/>
                <a:cs typeface="Calibri"/>
                <a:sym typeface="Calibri"/>
              </a:endParaRPr>
            </a:p>
            <a:p>
              <a:pPr indent="0" lvl="0" marL="0" marR="0" rtl="0" algn="ctr">
                <a:lnSpc>
                  <a:spcPct val="90000"/>
                </a:lnSpc>
                <a:spcBef>
                  <a:spcPts val="0"/>
                </a:spcBef>
                <a:spcAft>
                  <a:spcPts val="0"/>
                </a:spcAft>
                <a:buNone/>
              </a:pPr>
              <a:r>
                <a:rPr i="1" lang="en-US" sz="2800">
                  <a:solidFill>
                    <a:srgbClr val="000099"/>
                  </a:solidFill>
                  <a:latin typeface="Calibri"/>
                  <a:ea typeface="Calibri"/>
                  <a:cs typeface="Calibri"/>
                  <a:sym typeface="Calibri"/>
                </a:rPr>
                <a:t>recompute</a:t>
              </a:r>
              <a:r>
                <a:rPr lang="en-US" sz="2800">
                  <a:solidFill>
                    <a:srgbClr val="000000"/>
                  </a:solidFill>
                  <a:latin typeface="Calibri"/>
                  <a:ea typeface="Calibri"/>
                  <a:cs typeface="Calibri"/>
                  <a:sym typeface="Calibri"/>
                </a:rPr>
                <a:t> DV estimates using DV received from neighbor</a:t>
              </a:r>
              <a:endParaRPr/>
            </a:p>
            <a:p>
              <a:pPr indent="0" lvl="0" marL="0" marR="0" rtl="0" algn="l">
                <a:lnSpc>
                  <a:spcPct val="90000"/>
                </a:lnSpc>
                <a:spcBef>
                  <a:spcPts val="0"/>
                </a:spcBef>
                <a:spcAft>
                  <a:spcPts val="0"/>
                </a:spcAft>
                <a:buNone/>
              </a:pPr>
              <a:r>
                <a:t/>
              </a:r>
              <a:endParaRPr sz="2000">
                <a:solidFill>
                  <a:srgbClr val="000000"/>
                </a:solidFill>
                <a:latin typeface="Calibri"/>
                <a:ea typeface="Calibri"/>
                <a:cs typeface="Calibri"/>
                <a:sym typeface="Calibri"/>
              </a:endParaRPr>
            </a:p>
          </p:txBody>
        </p:sp>
      </p:grpSp>
      <p:grpSp>
        <p:nvGrpSpPr>
          <p:cNvPr id="4842" name="Google Shape;4842;p69"/>
          <p:cNvGrpSpPr/>
          <p:nvPr/>
        </p:nvGrpSpPr>
        <p:grpSpPr>
          <a:xfrm>
            <a:off x="1054612" y="4521895"/>
            <a:ext cx="4622104" cy="1284197"/>
            <a:chOff x="1280080" y="4396635"/>
            <a:chExt cx="4622104" cy="1284197"/>
          </a:xfrm>
        </p:grpSpPr>
        <p:cxnSp>
          <p:nvCxnSpPr>
            <p:cNvPr id="4843" name="Google Shape;4843;p69"/>
            <p:cNvCxnSpPr/>
            <p:nvPr/>
          </p:nvCxnSpPr>
          <p:spPr>
            <a:xfrm>
              <a:off x="3578268" y="4396635"/>
              <a:ext cx="0" cy="439673"/>
            </a:xfrm>
            <a:prstGeom prst="straightConnector1">
              <a:avLst/>
            </a:prstGeom>
            <a:noFill/>
            <a:ln cap="flat" cmpd="sng" w="19050">
              <a:solidFill>
                <a:srgbClr val="000099"/>
              </a:solidFill>
              <a:prstDash val="solid"/>
              <a:round/>
              <a:headEnd len="med" w="med" type="none"/>
              <a:tailEnd len="med" w="med" type="triangle"/>
            </a:ln>
          </p:spPr>
        </p:cxnSp>
        <p:sp>
          <p:nvSpPr>
            <p:cNvPr id="4844" name="Google Shape;4844;p69"/>
            <p:cNvSpPr txBox="1"/>
            <p:nvPr/>
          </p:nvSpPr>
          <p:spPr>
            <a:xfrm>
              <a:off x="1280080" y="4535903"/>
              <a:ext cx="4622104" cy="11449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t/>
              </a:r>
              <a:endParaRPr sz="2000">
                <a:solidFill>
                  <a:srgbClr val="000000"/>
                </a:solidFill>
                <a:latin typeface="Calibri"/>
                <a:ea typeface="Calibri"/>
                <a:cs typeface="Calibri"/>
                <a:sym typeface="Calibri"/>
              </a:endParaRPr>
            </a:p>
            <a:p>
              <a:pPr indent="0" lvl="0" marL="0" marR="0" rtl="0" algn="ctr">
                <a:lnSpc>
                  <a:spcPct val="90000"/>
                </a:lnSpc>
                <a:spcBef>
                  <a:spcPts val="0"/>
                </a:spcBef>
                <a:spcAft>
                  <a:spcPts val="0"/>
                </a:spcAft>
                <a:buNone/>
              </a:pPr>
              <a:r>
                <a:rPr lang="en-US" sz="2800">
                  <a:solidFill>
                    <a:srgbClr val="000000"/>
                  </a:solidFill>
                  <a:latin typeface="Calibri"/>
                  <a:ea typeface="Calibri"/>
                  <a:cs typeface="Calibri"/>
                  <a:sym typeface="Calibri"/>
                </a:rPr>
                <a:t>if DV to any destination has changed, </a:t>
              </a:r>
              <a:r>
                <a:rPr i="1" lang="en-US" sz="2800">
                  <a:solidFill>
                    <a:srgbClr val="000099"/>
                  </a:solidFill>
                  <a:latin typeface="Calibri"/>
                  <a:ea typeface="Calibri"/>
                  <a:cs typeface="Calibri"/>
                  <a:sym typeface="Calibri"/>
                </a:rPr>
                <a:t>notify</a:t>
              </a:r>
              <a:r>
                <a:rPr lang="en-US" sz="2800">
                  <a:solidFill>
                    <a:srgbClr val="000000"/>
                  </a:solidFill>
                  <a:latin typeface="Calibri"/>
                  <a:ea typeface="Calibri"/>
                  <a:cs typeface="Calibri"/>
                  <a:sym typeface="Calibri"/>
                </a:rPr>
                <a:t> neighbors </a:t>
              </a:r>
              <a:endParaRPr/>
            </a:p>
          </p:txBody>
        </p:sp>
      </p:grpSp>
      <p:cxnSp>
        <p:nvCxnSpPr>
          <p:cNvPr id="4845" name="Google Shape;4845;p69"/>
          <p:cNvCxnSpPr/>
          <p:nvPr/>
        </p:nvCxnSpPr>
        <p:spPr>
          <a:xfrm rot="10800000">
            <a:off x="3369501" y="5718132"/>
            <a:ext cx="0" cy="454068"/>
          </a:xfrm>
          <a:prstGeom prst="straightConnector1">
            <a:avLst/>
          </a:prstGeom>
          <a:noFill/>
          <a:ln cap="flat" cmpd="sng" w="19050">
            <a:solidFill>
              <a:srgbClr val="0000A8"/>
            </a:solidFill>
            <a:prstDash val="solid"/>
            <a:miter lim="8000"/>
            <a:headEnd len="sm" w="sm" type="none"/>
            <a:tailEnd len="sm" w="sm" type="none"/>
          </a:ln>
        </p:spPr>
      </p:cxnSp>
      <p:cxnSp>
        <p:nvCxnSpPr>
          <p:cNvPr id="4846" name="Google Shape;4846;p69"/>
          <p:cNvCxnSpPr/>
          <p:nvPr/>
        </p:nvCxnSpPr>
        <p:spPr>
          <a:xfrm>
            <a:off x="3352800" y="2179529"/>
            <a:ext cx="0" cy="338203"/>
          </a:xfrm>
          <a:prstGeom prst="straightConnector1">
            <a:avLst/>
          </a:prstGeom>
          <a:noFill/>
          <a:ln cap="flat" cmpd="sng" w="19050">
            <a:solidFill>
              <a:schemeClr val="accent1"/>
            </a:solidFill>
            <a:prstDash val="solid"/>
            <a:miter lim="8000"/>
            <a:headEnd len="sm" w="sm" type="none"/>
            <a:tailEnd len="med" w="med" type="triangle"/>
          </a:ln>
        </p:spPr>
      </p:cxnSp>
      <p:cxnSp>
        <p:nvCxnSpPr>
          <p:cNvPr id="4847" name="Google Shape;4847;p69"/>
          <p:cNvCxnSpPr/>
          <p:nvPr/>
        </p:nvCxnSpPr>
        <p:spPr>
          <a:xfrm>
            <a:off x="1052186" y="6172200"/>
            <a:ext cx="2300614" cy="0"/>
          </a:xfrm>
          <a:prstGeom prst="straightConnector1">
            <a:avLst/>
          </a:prstGeom>
          <a:noFill/>
          <a:ln cap="flat" cmpd="sng" w="19050">
            <a:solidFill>
              <a:schemeClr val="accent1"/>
            </a:solidFill>
            <a:prstDash val="solid"/>
            <a:miter lim="8000"/>
            <a:headEnd len="sm" w="sm" type="none"/>
            <a:tailEnd len="sm" w="sm" type="none"/>
          </a:ln>
        </p:spPr>
      </p:cxnSp>
      <p:cxnSp>
        <p:nvCxnSpPr>
          <p:cNvPr id="4848" name="Google Shape;4848;p69"/>
          <p:cNvCxnSpPr/>
          <p:nvPr/>
        </p:nvCxnSpPr>
        <p:spPr>
          <a:xfrm>
            <a:off x="1052186" y="2178485"/>
            <a:ext cx="2300614" cy="0"/>
          </a:xfrm>
          <a:prstGeom prst="straightConnector1">
            <a:avLst/>
          </a:prstGeom>
          <a:noFill/>
          <a:ln cap="flat" cmpd="sng" w="19050">
            <a:solidFill>
              <a:schemeClr val="accent1"/>
            </a:solidFill>
            <a:prstDash val="solid"/>
            <a:miter lim="8000"/>
            <a:headEnd len="sm" w="sm" type="none"/>
            <a:tailEnd len="sm" w="sm" type="none"/>
          </a:ln>
        </p:spPr>
      </p:cxnSp>
      <p:cxnSp>
        <p:nvCxnSpPr>
          <p:cNvPr id="4849" name="Google Shape;4849;p69"/>
          <p:cNvCxnSpPr/>
          <p:nvPr/>
        </p:nvCxnSpPr>
        <p:spPr>
          <a:xfrm>
            <a:off x="1039660" y="2167003"/>
            <a:ext cx="0" cy="4005197"/>
          </a:xfrm>
          <a:prstGeom prst="straightConnector1">
            <a:avLst/>
          </a:prstGeom>
          <a:noFill/>
          <a:ln cap="flat" cmpd="sng" w="19050">
            <a:solidFill>
              <a:schemeClr val="accent1"/>
            </a:solidFill>
            <a:prstDash val="solid"/>
            <a:miter lim="8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6"/>
                                        </p:tgtEl>
                                        <p:attrNameLst>
                                          <p:attrName>style.visibility</p:attrName>
                                        </p:attrNameLst>
                                      </p:cBhvr>
                                      <p:to>
                                        <p:strVal val="visible"/>
                                      </p:to>
                                    </p:set>
                                    <p:animEffect filter="fade" transition="in">
                                      <p:cBhvr>
                                        <p:cTn dur="500"/>
                                        <p:tgtEl>
                                          <p:spTgt spid="48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9"/>
                                        </p:tgtEl>
                                        <p:attrNameLst>
                                          <p:attrName>style.visibility</p:attrName>
                                        </p:attrNameLst>
                                      </p:cBhvr>
                                      <p:to>
                                        <p:strVal val="visible"/>
                                      </p:to>
                                    </p:set>
                                    <p:animEffect filter="fade" transition="in">
                                      <p:cBhvr>
                                        <p:cTn dur="500"/>
                                        <p:tgtEl>
                                          <p:spTgt spid="48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2"/>
                                        </p:tgtEl>
                                        <p:attrNameLst>
                                          <p:attrName>style.visibility</p:attrName>
                                        </p:attrNameLst>
                                      </p:cBhvr>
                                      <p:to>
                                        <p:strVal val="visible"/>
                                      </p:to>
                                    </p:set>
                                    <p:animEffect filter="fade" transition="in">
                                      <p:cBhvr>
                                        <p:cTn dur="500"/>
                                        <p:tgtEl>
                                          <p:spTgt spid="4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5"/>
                                        </p:tgtEl>
                                        <p:attrNameLst>
                                          <p:attrName>style.visibility</p:attrName>
                                        </p:attrNameLst>
                                      </p:cBhvr>
                                      <p:to>
                                        <p:strVal val="visible"/>
                                      </p:to>
                                    </p:set>
                                    <p:animEffect filter="fade" transition="in">
                                      <p:cBhvr>
                                        <p:cTn dur="500"/>
                                        <p:tgtEl>
                                          <p:spTgt spid="484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47"/>
                                        </p:tgtEl>
                                        <p:attrNameLst>
                                          <p:attrName>style.visibility</p:attrName>
                                        </p:attrNameLst>
                                      </p:cBhvr>
                                      <p:to>
                                        <p:strVal val="visible"/>
                                      </p:to>
                                    </p:set>
                                    <p:animEffect filter="fade" transition="in">
                                      <p:cBhvr>
                                        <p:cTn dur="500"/>
                                        <p:tgtEl>
                                          <p:spTgt spid="48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49"/>
                                        </p:tgtEl>
                                        <p:attrNameLst>
                                          <p:attrName>style.visibility</p:attrName>
                                        </p:attrNameLst>
                                      </p:cBhvr>
                                      <p:to>
                                        <p:strVal val="visible"/>
                                      </p:to>
                                    </p:set>
                                    <p:animEffect filter="fade" transition="in">
                                      <p:cBhvr>
                                        <p:cTn dur="500"/>
                                        <p:tgtEl>
                                          <p:spTgt spid="484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848"/>
                                        </p:tgtEl>
                                        <p:attrNameLst>
                                          <p:attrName>style.visibility</p:attrName>
                                        </p:attrNameLst>
                                      </p:cBhvr>
                                      <p:to>
                                        <p:strVal val="visible"/>
                                      </p:to>
                                    </p:set>
                                    <p:animEffect filter="fade" transition="in">
                                      <p:cBhvr>
                                        <p:cTn dur="500"/>
                                        <p:tgtEl>
                                          <p:spTgt spid="484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846"/>
                                        </p:tgtEl>
                                        <p:attrNameLst>
                                          <p:attrName>style.visibility</p:attrName>
                                        </p:attrNameLst>
                                      </p:cBhvr>
                                      <p:to>
                                        <p:strVal val="visible"/>
                                      </p:to>
                                    </p:set>
                                    <p:animEffect filter="fade" transition="in">
                                      <p:cBhvr>
                                        <p:cTn dur="500"/>
                                        <p:tgtEl>
                                          <p:spTgt spid="4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5"/>
                                        </p:tgtEl>
                                        <p:attrNameLst>
                                          <p:attrName>style.visibility</p:attrName>
                                        </p:attrNameLst>
                                      </p:cBhvr>
                                      <p:to>
                                        <p:strVal val="visible"/>
                                      </p:to>
                                    </p:set>
                                    <p:animEffect filter="fade" transition="in">
                                      <p:cBhvr>
                                        <p:cTn dur="500"/>
                                        <p:tgtEl>
                                          <p:spTgt spid="48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8"/>
                                        </p:tgtEl>
                                        <p:attrNameLst>
                                          <p:attrName>style.visibility</p:attrName>
                                        </p:attrNameLst>
                                      </p:cBhvr>
                                      <p:to>
                                        <p:strVal val="visible"/>
                                      </p:to>
                                    </p:set>
                                    <p:animEffect filter="fade" transition="in">
                                      <p:cBhvr>
                                        <p:cTn dur="500"/>
                                        <p:tgtEl>
                                          <p:spTgt spid="48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4" name="Shape 4854"/>
        <p:cNvGrpSpPr/>
        <p:nvPr/>
      </p:nvGrpSpPr>
      <p:grpSpPr>
        <a:xfrm>
          <a:off x="0" y="0"/>
          <a:ext cx="0" cy="0"/>
          <a:chOff x="0" y="0"/>
          <a:chExt cx="0" cy="0"/>
        </a:xfrm>
      </p:grpSpPr>
      <p:grpSp>
        <p:nvGrpSpPr>
          <p:cNvPr id="4855" name="Google Shape;4855;p70"/>
          <p:cNvGrpSpPr/>
          <p:nvPr/>
        </p:nvGrpSpPr>
        <p:grpSpPr>
          <a:xfrm>
            <a:off x="2822712" y="1130710"/>
            <a:ext cx="1552644" cy="2620631"/>
            <a:chOff x="3216002" y="1012723"/>
            <a:chExt cx="1552644" cy="2620631"/>
          </a:xfrm>
        </p:grpSpPr>
        <p:sp>
          <p:nvSpPr>
            <p:cNvPr id="4856" name="Google Shape;4856;p70"/>
            <p:cNvSpPr/>
            <p:nvPr/>
          </p:nvSpPr>
          <p:spPr>
            <a:xfrm>
              <a:off x="4316362" y="1042219"/>
              <a:ext cx="452284" cy="2389239"/>
            </a:xfrm>
            <a:custGeom>
              <a:rect b="b" l="l" r="r" t="t"/>
              <a:pathLst>
                <a:path extrusionOk="0" h="2389239" w="452284">
                  <a:moveTo>
                    <a:pt x="0" y="0"/>
                  </a:moveTo>
                  <a:cubicBezTo>
                    <a:pt x="170425" y="625988"/>
                    <a:pt x="242530" y="681703"/>
                    <a:pt x="452284" y="904568"/>
                  </a:cubicBezTo>
                  <a:lnTo>
                    <a:pt x="452284" y="1052052"/>
                  </a:lnTo>
                  <a:cubicBezTo>
                    <a:pt x="206477" y="1507613"/>
                    <a:pt x="137653" y="1825523"/>
                    <a:pt x="9833" y="2389239"/>
                  </a:cubicBezTo>
                  <a:cubicBezTo>
                    <a:pt x="6555" y="1592826"/>
                    <a:pt x="3278" y="796413"/>
                    <a:pt x="0" y="0"/>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857" name="Google Shape;4857;p70"/>
            <p:cNvGrpSpPr/>
            <p:nvPr/>
          </p:nvGrpSpPr>
          <p:grpSpPr>
            <a:xfrm>
              <a:off x="3216002" y="1012723"/>
              <a:ext cx="1130292" cy="2620631"/>
              <a:chOff x="3216002" y="1012723"/>
              <a:chExt cx="1130292" cy="2620631"/>
            </a:xfrm>
          </p:grpSpPr>
          <p:sp>
            <p:nvSpPr>
              <p:cNvPr id="4858" name="Google Shape;4858;p70"/>
              <p:cNvSpPr/>
              <p:nvPr/>
            </p:nvSpPr>
            <p:spPr>
              <a:xfrm>
                <a:off x="3224981" y="1012723"/>
                <a:ext cx="1111045" cy="241873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859" name="Google Shape;4859;p70"/>
              <p:cNvGrpSpPr/>
              <p:nvPr/>
            </p:nvGrpSpPr>
            <p:grpSpPr>
              <a:xfrm>
                <a:off x="3216002" y="1017253"/>
                <a:ext cx="1130292" cy="2616101"/>
                <a:chOff x="9472118" y="702026"/>
                <a:chExt cx="1130292" cy="2616101"/>
              </a:xfrm>
            </p:grpSpPr>
            <p:sp>
              <p:nvSpPr>
                <p:cNvPr id="4860" name="Google Shape;4860;p70"/>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861" name="Google Shape;4861;p70"/>
                <p:cNvSpPr txBox="1"/>
                <p:nvPr/>
              </p:nvSpPr>
              <p:spPr>
                <a:xfrm>
                  <a:off x="9472118" y="702026"/>
                  <a:ext cx="1117197" cy="261610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a: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(a)=0</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(b) = 8</a:t>
                  </a:r>
                  <a:endParaRPr sz="1600">
                    <a:solidFill>
                      <a:srgbClr val="000000"/>
                    </a:solidFill>
                    <a:latin typeface="Calibri"/>
                    <a:ea typeface="Calibri"/>
                    <a:cs typeface="Calibri"/>
                    <a:sym typeface="Calibri"/>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(c) = ∞</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(d) = 1</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(e) = ∞</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(f) = ∞</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(g) = ∞</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(h) = ∞</a:t>
                  </a:r>
                  <a:endParaRPr/>
                </a:p>
                <a:p>
                  <a:pPr indent="0" lvl="0" marL="0" marR="0" rtl="0" algn="ctr">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4862" name="Google Shape;4862;p70"/>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4863" name="Google Shape;4863;p70"/>
                <p:cNvSpPr/>
                <p:nvPr/>
              </p:nvSpPr>
              <p:spPr>
                <a:xfrm>
                  <a:off x="9479666" y="706056"/>
                  <a:ext cx="1122744" cy="2589450"/>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sp>
        <p:nvSpPr>
          <p:cNvPr id="4864" name="Google Shape;4864;p70"/>
          <p:cNvSpPr txBox="1"/>
          <p:nvPr>
            <p:ph type="title"/>
          </p:nvPr>
        </p:nvSpPr>
        <p:spPr>
          <a:xfrm>
            <a:off x="826625" y="17402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a:t>
            </a:r>
            <a:endParaRPr/>
          </a:p>
        </p:txBody>
      </p:sp>
      <p:sp>
        <p:nvSpPr>
          <p:cNvPr id="4865" name="Google Shape;4865;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4866" name="Google Shape;4866;p70"/>
          <p:cNvCxnSpPr>
            <a:stCxn id="4867" idx="2"/>
            <a:endCxn id="4867"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4868" name="Google Shape;4868;p70"/>
          <p:cNvCxnSpPr>
            <a:stCxn id="4867" idx="1"/>
            <a:endCxn id="4867"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4867" name="Google Shape;4867;p70"/>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4869" name="Google Shape;4869;p70"/>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4870" name="Google Shape;4870;p70"/>
          <p:cNvGrpSpPr/>
          <p:nvPr/>
        </p:nvGrpSpPr>
        <p:grpSpPr>
          <a:xfrm>
            <a:off x="4333785" y="5772213"/>
            <a:ext cx="4395351" cy="404576"/>
            <a:chOff x="4333785" y="5772213"/>
            <a:chExt cx="4395351" cy="404576"/>
          </a:xfrm>
        </p:grpSpPr>
        <p:grpSp>
          <p:nvGrpSpPr>
            <p:cNvPr id="4871" name="Google Shape;4871;p70"/>
            <p:cNvGrpSpPr/>
            <p:nvPr/>
          </p:nvGrpSpPr>
          <p:grpSpPr>
            <a:xfrm>
              <a:off x="4333785" y="5772213"/>
              <a:ext cx="531821" cy="369069"/>
              <a:chOff x="1348328" y="2475647"/>
              <a:chExt cx="603916" cy="419100"/>
            </a:xfrm>
          </p:grpSpPr>
          <p:grpSp>
            <p:nvGrpSpPr>
              <p:cNvPr id="4872" name="Google Shape;4872;p70"/>
              <p:cNvGrpSpPr/>
              <p:nvPr/>
            </p:nvGrpSpPr>
            <p:grpSpPr>
              <a:xfrm>
                <a:off x="1348328" y="2555748"/>
                <a:ext cx="603916" cy="308999"/>
                <a:chOff x="5278570" y="2983486"/>
                <a:chExt cx="501650" cy="233363"/>
              </a:xfrm>
            </p:grpSpPr>
            <p:sp>
              <p:nvSpPr>
                <p:cNvPr id="4873" name="Google Shape;4873;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874" name="Google Shape;4874;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875" name="Google Shape;4875;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4876" name="Google Shape;4876;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4877" name="Google Shape;4877;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4878" name="Google Shape;4878;p70"/>
              <p:cNvGrpSpPr/>
              <p:nvPr/>
            </p:nvGrpSpPr>
            <p:grpSpPr>
              <a:xfrm>
                <a:off x="1456374" y="2475647"/>
                <a:ext cx="355165" cy="419100"/>
                <a:chOff x="2944" y="2405"/>
                <a:chExt cx="227" cy="264"/>
              </a:xfrm>
            </p:grpSpPr>
            <p:sp>
              <p:nvSpPr>
                <p:cNvPr id="4879" name="Google Shape;4879;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4880" name="Google Shape;4880;p70"/>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4881" name="Google Shape;4881;p70"/>
            <p:cNvGrpSpPr/>
            <p:nvPr/>
          </p:nvGrpSpPr>
          <p:grpSpPr>
            <a:xfrm>
              <a:off x="6263949" y="5807720"/>
              <a:ext cx="531821" cy="369069"/>
              <a:chOff x="1348328" y="2507397"/>
              <a:chExt cx="603916" cy="419100"/>
            </a:xfrm>
          </p:grpSpPr>
          <p:grpSp>
            <p:nvGrpSpPr>
              <p:cNvPr id="4882" name="Google Shape;4882;p70"/>
              <p:cNvGrpSpPr/>
              <p:nvPr/>
            </p:nvGrpSpPr>
            <p:grpSpPr>
              <a:xfrm>
                <a:off x="1348328" y="2555748"/>
                <a:ext cx="603916" cy="308999"/>
                <a:chOff x="5278570" y="2983486"/>
                <a:chExt cx="501650" cy="233363"/>
              </a:xfrm>
            </p:grpSpPr>
            <p:sp>
              <p:nvSpPr>
                <p:cNvPr id="4883" name="Google Shape;4883;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884" name="Google Shape;4884;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885" name="Google Shape;4885;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4886" name="Google Shape;4886;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4887" name="Google Shape;4887;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4888" name="Google Shape;4888;p70"/>
              <p:cNvGrpSpPr/>
              <p:nvPr/>
            </p:nvGrpSpPr>
            <p:grpSpPr>
              <a:xfrm>
                <a:off x="1456374" y="2507397"/>
                <a:ext cx="355165" cy="419100"/>
                <a:chOff x="2944" y="2425"/>
                <a:chExt cx="227" cy="264"/>
              </a:xfrm>
            </p:grpSpPr>
            <p:sp>
              <p:nvSpPr>
                <p:cNvPr id="4889" name="Google Shape;4889;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4890" name="Google Shape;4890;p70"/>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4891" name="Google Shape;4891;p70"/>
            <p:cNvGrpSpPr/>
            <p:nvPr/>
          </p:nvGrpSpPr>
          <p:grpSpPr>
            <a:xfrm>
              <a:off x="8197315" y="5805271"/>
              <a:ext cx="531821" cy="369069"/>
              <a:chOff x="1348328" y="2507397"/>
              <a:chExt cx="603916" cy="419100"/>
            </a:xfrm>
          </p:grpSpPr>
          <p:grpSp>
            <p:nvGrpSpPr>
              <p:cNvPr id="4892" name="Google Shape;4892;p70"/>
              <p:cNvGrpSpPr/>
              <p:nvPr/>
            </p:nvGrpSpPr>
            <p:grpSpPr>
              <a:xfrm>
                <a:off x="1348328" y="2555748"/>
                <a:ext cx="603916" cy="308999"/>
                <a:chOff x="5278570" y="2983486"/>
                <a:chExt cx="501650" cy="233363"/>
              </a:xfrm>
            </p:grpSpPr>
            <p:sp>
              <p:nvSpPr>
                <p:cNvPr id="4893" name="Google Shape;4893;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894" name="Google Shape;4894;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895" name="Google Shape;4895;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4896" name="Google Shape;4896;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4897" name="Google Shape;4897;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4898" name="Google Shape;4898;p70"/>
              <p:cNvGrpSpPr/>
              <p:nvPr/>
            </p:nvGrpSpPr>
            <p:grpSpPr>
              <a:xfrm>
                <a:off x="1500196" y="2507397"/>
                <a:ext cx="267548" cy="419100"/>
                <a:chOff x="2972" y="2425"/>
                <a:chExt cx="171" cy="264"/>
              </a:xfrm>
            </p:grpSpPr>
            <p:sp>
              <p:nvSpPr>
                <p:cNvPr id="4899" name="Google Shape;4899;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4900" name="Google Shape;4900;p70"/>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4901" name="Google Shape;4901;p70"/>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02" name="Google Shape;4902;p70"/>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03" name="Google Shape;4903;p70"/>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04" name="Google Shape;4904;p70"/>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05" name="Google Shape;4905;p70"/>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06" name="Google Shape;4906;p70"/>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07" name="Google Shape;4907;p70"/>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08" name="Google Shape;4908;p70"/>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09" name="Google Shape;4909;p70"/>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4910" name="Google Shape;4910;p70"/>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4911" name="Google Shape;4911;p70"/>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grpSp>
        <p:nvGrpSpPr>
          <p:cNvPr id="4912" name="Google Shape;4912;p70"/>
          <p:cNvGrpSpPr/>
          <p:nvPr/>
        </p:nvGrpSpPr>
        <p:grpSpPr>
          <a:xfrm>
            <a:off x="584365" y="1859143"/>
            <a:ext cx="736099" cy="1229581"/>
            <a:chOff x="10030307" y="3444875"/>
            <a:chExt cx="736099" cy="1229581"/>
          </a:xfrm>
        </p:grpSpPr>
        <p:sp>
          <p:nvSpPr>
            <p:cNvPr id="4913" name="Google Shape;4913;p70"/>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t=0</a:t>
              </a:r>
              <a:endParaRPr/>
            </a:p>
          </p:txBody>
        </p:sp>
        <p:grpSp>
          <p:nvGrpSpPr>
            <p:cNvPr id="4914" name="Google Shape;4914;p70"/>
            <p:cNvGrpSpPr/>
            <p:nvPr/>
          </p:nvGrpSpPr>
          <p:grpSpPr>
            <a:xfrm>
              <a:off x="10034588" y="3444875"/>
              <a:ext cx="682627" cy="682625"/>
              <a:chOff x="10034589" y="3444875"/>
              <a:chExt cx="682627" cy="682625"/>
            </a:xfrm>
          </p:grpSpPr>
          <p:sp>
            <p:nvSpPr>
              <p:cNvPr id="4915" name="Google Shape;4915;p70"/>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916" name="Google Shape;4916;p70"/>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4917" name="Google Shape;4917;p70"/>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4918" name="Google Shape;4918;p70"/>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4919" name="Google Shape;4919;p70"/>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4920" name="Google Shape;4920;p70"/>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4921" name="Google Shape;4921;p70"/>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4922" name="Google Shape;4922;p70"/>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4923" name="Google Shape;4923;p70"/>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4924" name="Google Shape;4924;p70"/>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4925" name="Google Shape;4925;p70"/>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4926" name="Google Shape;4926;p70"/>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4927" name="Google Shape;4927;p70"/>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4928" name="Google Shape;4928;p70"/>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929" name="Google Shape;4929;p70"/>
              <p:cNvCxnSpPr/>
              <p:nvPr/>
            </p:nvCxnSpPr>
            <p:spPr>
              <a:xfrm>
                <a:off x="10372725" y="3548510"/>
                <a:ext cx="0" cy="207515"/>
              </a:xfrm>
              <a:prstGeom prst="straightConnector1">
                <a:avLst/>
              </a:prstGeom>
              <a:noFill/>
              <a:ln cap="flat" cmpd="sng" w="25400">
                <a:solidFill>
                  <a:srgbClr val="C00000"/>
                </a:solidFill>
                <a:prstDash val="solid"/>
                <a:miter lim="8000"/>
                <a:headEnd len="sm" w="sm" type="none"/>
                <a:tailEnd len="sm" w="sm" type="none"/>
              </a:ln>
            </p:spPr>
          </p:cxnSp>
        </p:grpSp>
      </p:grpSp>
      <p:sp>
        <p:nvSpPr>
          <p:cNvPr id="4930" name="Google Shape;4930;p70"/>
          <p:cNvSpPr txBox="1"/>
          <p:nvPr/>
        </p:nvSpPr>
        <p:spPr>
          <a:xfrm flipH="1">
            <a:off x="427284" y="3275636"/>
            <a:ext cx="2195814" cy="1089529"/>
          </a:xfrm>
          <a:prstGeom prst="rect">
            <a:avLst/>
          </a:prstGeom>
          <a:noFill/>
          <a:ln>
            <a:noFill/>
          </a:ln>
        </p:spPr>
        <p:txBody>
          <a:bodyPr anchorCtr="0" anchor="t" bIns="45700" lIns="91425" spcFirstLastPara="1" rIns="91425" wrap="square" tIns="45700">
            <a:spAutoFit/>
          </a:bodyPr>
          <a:lstStyle/>
          <a:p>
            <a:pPr indent="-285750" lvl="0" marL="285750"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All nodes have distance estimates to nearest neighbors (only)</a:t>
            </a:r>
            <a:endParaRPr/>
          </a:p>
        </p:txBody>
      </p:sp>
      <p:grpSp>
        <p:nvGrpSpPr>
          <p:cNvPr id="4931" name="Google Shape;4931;p70"/>
          <p:cNvGrpSpPr/>
          <p:nvPr/>
        </p:nvGrpSpPr>
        <p:grpSpPr>
          <a:xfrm>
            <a:off x="5663694" y="2293717"/>
            <a:ext cx="5624685" cy="2298788"/>
            <a:chOff x="5663694" y="2293717"/>
            <a:chExt cx="5624685" cy="2298788"/>
          </a:xfrm>
        </p:grpSpPr>
        <p:sp>
          <p:nvSpPr>
            <p:cNvPr id="4932" name="Google Shape;4932;p70"/>
            <p:cNvSpPr txBox="1"/>
            <p:nvPr/>
          </p:nvSpPr>
          <p:spPr>
            <a:xfrm>
              <a:off x="9259747" y="3669175"/>
              <a:ext cx="202863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A few asymmetries:</a:t>
              </a:r>
              <a:endParaRPr/>
            </a:p>
            <a:p>
              <a:pPr indent="-285750" lvl="0" marL="285750" marR="0" rtl="0" algn="l">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missing link</a:t>
              </a:r>
              <a:endParaRPr/>
            </a:p>
            <a:p>
              <a:pPr indent="-285750" lvl="0" marL="285750" marR="0" rtl="0" algn="l">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larger cost</a:t>
              </a:r>
              <a:endParaRPr/>
            </a:p>
          </p:txBody>
        </p:sp>
        <p:cxnSp>
          <p:nvCxnSpPr>
            <p:cNvPr id="4933" name="Google Shape;4933;p70"/>
            <p:cNvCxnSpPr/>
            <p:nvPr/>
          </p:nvCxnSpPr>
          <p:spPr>
            <a:xfrm rot="10800000">
              <a:off x="8414795" y="3032568"/>
              <a:ext cx="995423" cy="1111169"/>
            </a:xfrm>
            <a:prstGeom prst="straightConnector1">
              <a:avLst/>
            </a:prstGeom>
            <a:noFill/>
            <a:ln cap="flat" cmpd="sng" w="9525">
              <a:solidFill>
                <a:srgbClr val="0000A8"/>
              </a:solidFill>
              <a:prstDash val="solid"/>
              <a:miter lim="8000"/>
              <a:headEnd len="sm" w="sm" type="none"/>
              <a:tailEnd len="med" w="med" type="triangle"/>
            </a:ln>
          </p:spPr>
        </p:cxnSp>
        <p:cxnSp>
          <p:nvCxnSpPr>
            <p:cNvPr id="4934" name="Google Shape;4934;p70"/>
            <p:cNvCxnSpPr/>
            <p:nvPr/>
          </p:nvCxnSpPr>
          <p:spPr>
            <a:xfrm rot="10800000">
              <a:off x="5663694" y="2293717"/>
              <a:ext cx="3726112" cy="2091470"/>
            </a:xfrm>
            <a:prstGeom prst="straightConnector1">
              <a:avLst/>
            </a:prstGeom>
            <a:noFill/>
            <a:ln cap="flat" cmpd="sng" w="9525">
              <a:solidFill>
                <a:srgbClr val="0000A8"/>
              </a:solidFill>
              <a:prstDash val="solid"/>
              <a:miter lim="8000"/>
              <a:headEnd len="sm" w="sm" type="none"/>
              <a:tailEnd len="med" w="med" type="triangle"/>
            </a:ln>
          </p:spPr>
        </p:cxnSp>
      </p:grpSp>
      <p:sp>
        <p:nvSpPr>
          <p:cNvPr id="4935" name="Google Shape;4935;p70"/>
          <p:cNvSpPr/>
          <p:nvPr/>
        </p:nvSpPr>
        <p:spPr>
          <a:xfrm rot="5400000">
            <a:off x="4399933" y="256130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36" name="Google Shape;4936;p70"/>
          <p:cNvSpPr/>
          <p:nvPr/>
        </p:nvSpPr>
        <p:spPr>
          <a:xfrm rot="-5400000">
            <a:off x="4395017" y="347078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37" name="Google Shape;4937;p70"/>
          <p:cNvSpPr/>
          <p:nvPr/>
        </p:nvSpPr>
        <p:spPr>
          <a:xfrm rot="5400000">
            <a:off x="6302474" y="2546557"/>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38" name="Google Shape;4938;p70"/>
          <p:cNvSpPr/>
          <p:nvPr/>
        </p:nvSpPr>
        <p:spPr>
          <a:xfrm rot="-5400000">
            <a:off x="6297558" y="345604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39" name="Google Shape;4939;p70"/>
          <p:cNvSpPr/>
          <p:nvPr/>
        </p:nvSpPr>
        <p:spPr>
          <a:xfrm rot="5400000">
            <a:off x="4370435" y="445893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40" name="Google Shape;4940;p70"/>
          <p:cNvSpPr/>
          <p:nvPr/>
        </p:nvSpPr>
        <p:spPr>
          <a:xfrm rot="-5400000">
            <a:off x="4365519" y="536841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41" name="Google Shape;4941;p70"/>
          <p:cNvSpPr/>
          <p:nvPr/>
        </p:nvSpPr>
        <p:spPr>
          <a:xfrm rot="5400000">
            <a:off x="6312308" y="4454022"/>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42" name="Google Shape;4942;p70"/>
          <p:cNvSpPr/>
          <p:nvPr/>
        </p:nvSpPr>
        <p:spPr>
          <a:xfrm rot="-5400000">
            <a:off x="6307392" y="5363506"/>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43" name="Google Shape;4943;p70"/>
          <p:cNvSpPr/>
          <p:nvPr/>
        </p:nvSpPr>
        <p:spPr>
          <a:xfrm rot="5400000">
            <a:off x="8254181" y="4449110"/>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44" name="Google Shape;4944;p70"/>
          <p:cNvSpPr/>
          <p:nvPr/>
        </p:nvSpPr>
        <p:spPr>
          <a:xfrm rot="-5400000">
            <a:off x="8249265" y="535859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45" name="Google Shape;4945;p70"/>
          <p:cNvSpPr/>
          <p:nvPr/>
        </p:nvSpPr>
        <p:spPr>
          <a:xfrm rot="10800000">
            <a:off x="7582395" y="5829665"/>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946" name="Google Shape;4946;p70"/>
          <p:cNvSpPr/>
          <p:nvPr/>
        </p:nvSpPr>
        <p:spPr>
          <a:xfrm>
            <a:off x="6819704" y="583458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947" name="Google Shape;4947;p70"/>
          <p:cNvGrpSpPr/>
          <p:nvPr/>
        </p:nvGrpSpPr>
        <p:grpSpPr>
          <a:xfrm>
            <a:off x="4336458" y="3833790"/>
            <a:ext cx="4395351" cy="404576"/>
            <a:chOff x="4333785" y="5772213"/>
            <a:chExt cx="4395351" cy="404576"/>
          </a:xfrm>
        </p:grpSpPr>
        <p:grpSp>
          <p:nvGrpSpPr>
            <p:cNvPr id="4948" name="Google Shape;4948;p70"/>
            <p:cNvGrpSpPr/>
            <p:nvPr/>
          </p:nvGrpSpPr>
          <p:grpSpPr>
            <a:xfrm>
              <a:off x="4333785" y="5772213"/>
              <a:ext cx="531821" cy="369069"/>
              <a:chOff x="1348328" y="2475647"/>
              <a:chExt cx="603916" cy="419100"/>
            </a:xfrm>
          </p:grpSpPr>
          <p:grpSp>
            <p:nvGrpSpPr>
              <p:cNvPr id="4949" name="Google Shape;4949;p70"/>
              <p:cNvGrpSpPr/>
              <p:nvPr/>
            </p:nvGrpSpPr>
            <p:grpSpPr>
              <a:xfrm>
                <a:off x="1348328" y="2555748"/>
                <a:ext cx="603916" cy="308999"/>
                <a:chOff x="5278570" y="2983486"/>
                <a:chExt cx="501650" cy="233363"/>
              </a:xfrm>
            </p:grpSpPr>
            <p:sp>
              <p:nvSpPr>
                <p:cNvPr id="4950" name="Google Shape;4950;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951" name="Google Shape;4951;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952" name="Google Shape;4952;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4953" name="Google Shape;4953;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4954" name="Google Shape;4954;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4955" name="Google Shape;4955;p70"/>
              <p:cNvGrpSpPr/>
              <p:nvPr/>
            </p:nvGrpSpPr>
            <p:grpSpPr>
              <a:xfrm>
                <a:off x="1456374" y="2475647"/>
                <a:ext cx="355165" cy="419100"/>
                <a:chOff x="2944" y="2405"/>
                <a:chExt cx="227" cy="264"/>
              </a:xfrm>
            </p:grpSpPr>
            <p:sp>
              <p:nvSpPr>
                <p:cNvPr id="4956" name="Google Shape;4956;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4957" name="Google Shape;4957;p70"/>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4958" name="Google Shape;4958;p70"/>
            <p:cNvGrpSpPr/>
            <p:nvPr/>
          </p:nvGrpSpPr>
          <p:grpSpPr>
            <a:xfrm>
              <a:off x="6263949" y="5807720"/>
              <a:ext cx="531821" cy="369069"/>
              <a:chOff x="1348328" y="2507397"/>
              <a:chExt cx="603916" cy="419100"/>
            </a:xfrm>
          </p:grpSpPr>
          <p:grpSp>
            <p:nvGrpSpPr>
              <p:cNvPr id="4959" name="Google Shape;4959;p70"/>
              <p:cNvGrpSpPr/>
              <p:nvPr/>
            </p:nvGrpSpPr>
            <p:grpSpPr>
              <a:xfrm>
                <a:off x="1348328" y="2555748"/>
                <a:ext cx="603916" cy="308999"/>
                <a:chOff x="5278570" y="2983486"/>
                <a:chExt cx="501650" cy="233363"/>
              </a:xfrm>
            </p:grpSpPr>
            <p:sp>
              <p:nvSpPr>
                <p:cNvPr id="4960" name="Google Shape;4960;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961" name="Google Shape;4961;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962" name="Google Shape;4962;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4963" name="Google Shape;4963;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4964" name="Google Shape;4964;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4965" name="Google Shape;4965;p70"/>
              <p:cNvGrpSpPr/>
              <p:nvPr/>
            </p:nvGrpSpPr>
            <p:grpSpPr>
              <a:xfrm>
                <a:off x="1456374" y="2507397"/>
                <a:ext cx="355165" cy="419100"/>
                <a:chOff x="2944" y="2425"/>
                <a:chExt cx="227" cy="264"/>
              </a:xfrm>
            </p:grpSpPr>
            <p:sp>
              <p:nvSpPr>
                <p:cNvPr id="4966" name="Google Shape;4966;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4967" name="Google Shape;4967;p70"/>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4968" name="Google Shape;4968;p70"/>
            <p:cNvGrpSpPr/>
            <p:nvPr/>
          </p:nvGrpSpPr>
          <p:grpSpPr>
            <a:xfrm>
              <a:off x="8197315" y="5805271"/>
              <a:ext cx="531821" cy="369069"/>
              <a:chOff x="1348328" y="2507397"/>
              <a:chExt cx="603916" cy="419100"/>
            </a:xfrm>
          </p:grpSpPr>
          <p:grpSp>
            <p:nvGrpSpPr>
              <p:cNvPr id="4969" name="Google Shape;4969;p70"/>
              <p:cNvGrpSpPr/>
              <p:nvPr/>
            </p:nvGrpSpPr>
            <p:grpSpPr>
              <a:xfrm>
                <a:off x="1348328" y="2555748"/>
                <a:ext cx="603916" cy="308999"/>
                <a:chOff x="5278570" y="2983486"/>
                <a:chExt cx="501650" cy="233363"/>
              </a:xfrm>
            </p:grpSpPr>
            <p:sp>
              <p:nvSpPr>
                <p:cNvPr id="4970" name="Google Shape;4970;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971" name="Google Shape;4971;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972" name="Google Shape;4972;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4973" name="Google Shape;4973;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4974" name="Google Shape;4974;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4975" name="Google Shape;4975;p70"/>
              <p:cNvGrpSpPr/>
              <p:nvPr/>
            </p:nvGrpSpPr>
            <p:grpSpPr>
              <a:xfrm>
                <a:off x="1492372" y="2507397"/>
                <a:ext cx="283194" cy="419100"/>
                <a:chOff x="2967" y="2425"/>
                <a:chExt cx="181" cy="264"/>
              </a:xfrm>
            </p:grpSpPr>
            <p:sp>
              <p:nvSpPr>
                <p:cNvPr id="4976" name="Google Shape;4976;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4977" name="Google Shape;4977;p70"/>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4978" name="Google Shape;4978;p70"/>
          <p:cNvGrpSpPr/>
          <p:nvPr/>
        </p:nvGrpSpPr>
        <p:grpSpPr>
          <a:xfrm>
            <a:off x="4333785" y="1906063"/>
            <a:ext cx="4395351" cy="404576"/>
            <a:chOff x="4333785" y="5772213"/>
            <a:chExt cx="4395351" cy="404576"/>
          </a:xfrm>
        </p:grpSpPr>
        <p:grpSp>
          <p:nvGrpSpPr>
            <p:cNvPr id="4979" name="Google Shape;4979;p70"/>
            <p:cNvGrpSpPr/>
            <p:nvPr/>
          </p:nvGrpSpPr>
          <p:grpSpPr>
            <a:xfrm>
              <a:off x="4333785" y="5772213"/>
              <a:ext cx="531821" cy="369069"/>
              <a:chOff x="1348328" y="2475647"/>
              <a:chExt cx="603916" cy="419100"/>
            </a:xfrm>
          </p:grpSpPr>
          <p:grpSp>
            <p:nvGrpSpPr>
              <p:cNvPr id="4980" name="Google Shape;4980;p70"/>
              <p:cNvGrpSpPr/>
              <p:nvPr/>
            </p:nvGrpSpPr>
            <p:grpSpPr>
              <a:xfrm>
                <a:off x="1348328" y="2555748"/>
                <a:ext cx="603916" cy="308999"/>
                <a:chOff x="5278570" y="2983486"/>
                <a:chExt cx="501650" cy="233363"/>
              </a:xfrm>
            </p:grpSpPr>
            <p:sp>
              <p:nvSpPr>
                <p:cNvPr id="4981" name="Google Shape;4981;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982" name="Google Shape;4982;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983" name="Google Shape;4983;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4984" name="Google Shape;4984;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4985" name="Google Shape;4985;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4986" name="Google Shape;4986;p70"/>
              <p:cNvGrpSpPr/>
              <p:nvPr/>
            </p:nvGrpSpPr>
            <p:grpSpPr>
              <a:xfrm>
                <a:off x="1456374" y="2475647"/>
                <a:ext cx="355165" cy="419100"/>
                <a:chOff x="2944" y="2405"/>
                <a:chExt cx="227" cy="264"/>
              </a:xfrm>
            </p:grpSpPr>
            <p:sp>
              <p:nvSpPr>
                <p:cNvPr id="4987" name="Google Shape;4987;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4988" name="Google Shape;4988;p70"/>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4989" name="Google Shape;4989;p70"/>
            <p:cNvGrpSpPr/>
            <p:nvPr/>
          </p:nvGrpSpPr>
          <p:grpSpPr>
            <a:xfrm>
              <a:off x="6263949" y="5807720"/>
              <a:ext cx="531821" cy="369069"/>
              <a:chOff x="1348328" y="2507397"/>
              <a:chExt cx="603916" cy="419100"/>
            </a:xfrm>
          </p:grpSpPr>
          <p:grpSp>
            <p:nvGrpSpPr>
              <p:cNvPr id="4990" name="Google Shape;4990;p70"/>
              <p:cNvGrpSpPr/>
              <p:nvPr/>
            </p:nvGrpSpPr>
            <p:grpSpPr>
              <a:xfrm>
                <a:off x="1348328" y="2555748"/>
                <a:ext cx="603916" cy="308999"/>
                <a:chOff x="5278570" y="2983486"/>
                <a:chExt cx="501650" cy="233363"/>
              </a:xfrm>
            </p:grpSpPr>
            <p:sp>
              <p:nvSpPr>
                <p:cNvPr id="4991" name="Google Shape;4991;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992" name="Google Shape;4992;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4993" name="Google Shape;4993;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4994" name="Google Shape;4994;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4995" name="Google Shape;4995;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4996" name="Google Shape;4996;p70"/>
              <p:cNvGrpSpPr/>
              <p:nvPr/>
            </p:nvGrpSpPr>
            <p:grpSpPr>
              <a:xfrm>
                <a:off x="1456374" y="2507397"/>
                <a:ext cx="355165" cy="419100"/>
                <a:chOff x="2944" y="2425"/>
                <a:chExt cx="227" cy="264"/>
              </a:xfrm>
            </p:grpSpPr>
            <p:sp>
              <p:nvSpPr>
                <p:cNvPr id="4997" name="Google Shape;4997;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4998" name="Google Shape;4998;p70"/>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4999" name="Google Shape;4999;p70"/>
            <p:cNvGrpSpPr/>
            <p:nvPr/>
          </p:nvGrpSpPr>
          <p:grpSpPr>
            <a:xfrm>
              <a:off x="8197315" y="5805271"/>
              <a:ext cx="531821" cy="369069"/>
              <a:chOff x="1348328" y="2507397"/>
              <a:chExt cx="603916" cy="419100"/>
            </a:xfrm>
          </p:grpSpPr>
          <p:grpSp>
            <p:nvGrpSpPr>
              <p:cNvPr id="5000" name="Google Shape;5000;p70"/>
              <p:cNvGrpSpPr/>
              <p:nvPr/>
            </p:nvGrpSpPr>
            <p:grpSpPr>
              <a:xfrm>
                <a:off x="1348328" y="2555748"/>
                <a:ext cx="603916" cy="308999"/>
                <a:chOff x="5278570" y="2983486"/>
                <a:chExt cx="501650" cy="233363"/>
              </a:xfrm>
            </p:grpSpPr>
            <p:sp>
              <p:nvSpPr>
                <p:cNvPr id="5001" name="Google Shape;5001;p7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002" name="Google Shape;5002;p7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003" name="Google Shape;5003;p7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004" name="Google Shape;5004;p7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005" name="Google Shape;5005;p7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006" name="Google Shape;5006;p70"/>
              <p:cNvGrpSpPr/>
              <p:nvPr/>
            </p:nvGrpSpPr>
            <p:grpSpPr>
              <a:xfrm>
                <a:off x="1464202" y="2507397"/>
                <a:ext cx="341084" cy="419100"/>
                <a:chOff x="2949" y="2425"/>
                <a:chExt cx="218" cy="264"/>
              </a:xfrm>
            </p:grpSpPr>
            <p:sp>
              <p:nvSpPr>
                <p:cNvPr id="5007" name="Google Shape;5007;p7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008" name="Google Shape;5008;p70"/>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sp>
        <p:nvSpPr>
          <p:cNvPr id="5009" name="Google Shape;5009;p70"/>
          <p:cNvSpPr/>
          <p:nvPr/>
        </p:nvSpPr>
        <p:spPr>
          <a:xfrm rot="10800000">
            <a:off x="5660017" y="584303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0" name="Google Shape;5010;p70"/>
          <p:cNvSpPr/>
          <p:nvPr/>
        </p:nvSpPr>
        <p:spPr>
          <a:xfrm>
            <a:off x="4897326" y="584795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1" name="Google Shape;5011;p70"/>
          <p:cNvSpPr/>
          <p:nvPr/>
        </p:nvSpPr>
        <p:spPr>
          <a:xfrm rot="10800000">
            <a:off x="5651998" y="3904611"/>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2" name="Google Shape;5012;p70"/>
          <p:cNvSpPr/>
          <p:nvPr/>
        </p:nvSpPr>
        <p:spPr>
          <a:xfrm>
            <a:off x="4905348" y="3909528"/>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3" name="Google Shape;5013;p70"/>
          <p:cNvSpPr/>
          <p:nvPr/>
        </p:nvSpPr>
        <p:spPr>
          <a:xfrm rot="10800000">
            <a:off x="5660020" y="196618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4" name="Google Shape;5014;p70"/>
          <p:cNvSpPr/>
          <p:nvPr/>
        </p:nvSpPr>
        <p:spPr>
          <a:xfrm>
            <a:off x="4924064" y="198714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5" name="Google Shape;5015;p70"/>
          <p:cNvSpPr/>
          <p:nvPr/>
        </p:nvSpPr>
        <p:spPr>
          <a:xfrm rot="10800000">
            <a:off x="7582399" y="196886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6" name="Google Shape;5016;p70"/>
          <p:cNvSpPr/>
          <p:nvPr/>
        </p:nvSpPr>
        <p:spPr>
          <a:xfrm>
            <a:off x="6819708" y="197377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7" name="Google Shape;5017;p70"/>
          <p:cNvSpPr/>
          <p:nvPr/>
        </p:nvSpPr>
        <p:spPr>
          <a:xfrm rot="10800000">
            <a:off x="7595769" y="390728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8" name="Google Shape;5018;p70"/>
          <p:cNvSpPr/>
          <p:nvPr/>
        </p:nvSpPr>
        <p:spPr>
          <a:xfrm>
            <a:off x="6833078" y="391220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19" name="Google Shape;5019;p70"/>
          <p:cNvSpPr txBox="1"/>
          <p:nvPr/>
        </p:nvSpPr>
        <p:spPr>
          <a:xfrm flipH="1">
            <a:off x="435306" y="4375569"/>
            <a:ext cx="2195814" cy="1089529"/>
          </a:xfrm>
          <a:prstGeom prst="rect">
            <a:avLst/>
          </a:prstGeom>
          <a:noFill/>
          <a:ln>
            <a:noFill/>
          </a:ln>
        </p:spPr>
        <p:txBody>
          <a:bodyPr anchorCtr="0" anchor="t" bIns="45700" lIns="91425" spcFirstLastPara="1" rIns="91425" wrap="square" tIns="45700">
            <a:spAutoFit/>
          </a:bodyPr>
          <a:lstStyle/>
          <a:p>
            <a:pPr indent="-285750" lvl="0" marL="285750"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All nodes send their local distance vector to their neighbors</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1"/>
                                        </p:tgtEl>
                                        <p:attrNameLst>
                                          <p:attrName>style.visibility</p:attrName>
                                        </p:attrNameLst>
                                      </p:cBhvr>
                                      <p:to>
                                        <p:strVal val="visible"/>
                                      </p:to>
                                    </p:set>
                                    <p:animEffect filter="fade" transition="in">
                                      <p:cBhvr>
                                        <p:cTn dur="1000"/>
                                        <p:tgtEl>
                                          <p:spTgt spid="49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9"/>
                                        </p:tgtEl>
                                        <p:attrNameLst>
                                          <p:attrName>style.visibility</p:attrName>
                                        </p:attrNameLst>
                                      </p:cBhvr>
                                      <p:to>
                                        <p:strVal val="visible"/>
                                      </p:to>
                                    </p:set>
                                    <p:animEffect filter="fade" transition="in">
                                      <p:cBhvr>
                                        <p:cTn dur="500"/>
                                        <p:tgtEl>
                                          <p:spTgt spid="5019"/>
                                        </p:tgtEl>
                                      </p:cBhvr>
                                    </p:animEffect>
                                  </p:childTnLst>
                                </p:cTn>
                              </p:par>
                              <p:par>
                                <p:cTn fill="hold" nodeType="withEffect" presetClass="exit" presetID="10" presetSubtype="0">
                                  <p:stCondLst>
                                    <p:cond delay="0"/>
                                  </p:stCondLst>
                                  <p:childTnLst>
                                    <p:animEffect filter="fade" transition="out">
                                      <p:cBhvr>
                                        <p:cTn dur="500"/>
                                        <p:tgtEl>
                                          <p:spTgt spid="4931"/>
                                        </p:tgtEl>
                                      </p:cBhvr>
                                    </p:animEffect>
                                    <p:set>
                                      <p:cBhvr>
                                        <p:cTn dur="1" fill="hold">
                                          <p:stCondLst>
                                            <p:cond delay="500"/>
                                          </p:stCondLst>
                                        </p:cTn>
                                        <p:tgtEl>
                                          <p:spTgt spid="493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855"/>
                                        </p:tgtEl>
                                      </p:cBhvr>
                                    </p:animEffect>
                                    <p:set>
                                      <p:cBhvr>
                                        <p:cTn dur="1" fill="hold">
                                          <p:stCondLst>
                                            <p:cond delay="500"/>
                                          </p:stCondLst>
                                        </p:cTn>
                                        <p:tgtEl>
                                          <p:spTgt spid="48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5"/>
                                        </p:tgtEl>
                                        <p:attrNameLst>
                                          <p:attrName>style.visibility</p:attrName>
                                        </p:attrNameLst>
                                      </p:cBhvr>
                                      <p:to>
                                        <p:strVal val="visible"/>
                                      </p:to>
                                    </p:set>
                                    <p:animEffect filter="fade" transition="in">
                                      <p:cBhvr>
                                        <p:cTn dur="500"/>
                                        <p:tgtEl>
                                          <p:spTgt spid="4935"/>
                                        </p:tgtEl>
                                      </p:cBhvr>
                                    </p:animEffect>
                                  </p:childTnLst>
                                </p:cTn>
                              </p:par>
                              <p:par>
                                <p:cTn fill="hold" nodeType="withEffect" presetClass="entr" presetID="10" presetSubtype="0">
                                  <p:stCondLst>
                                    <p:cond delay="0"/>
                                  </p:stCondLst>
                                  <p:childTnLst>
                                    <p:set>
                                      <p:cBhvr>
                                        <p:cTn dur="1" fill="hold">
                                          <p:stCondLst>
                                            <p:cond delay="0"/>
                                          </p:stCondLst>
                                        </p:cTn>
                                        <p:tgtEl>
                                          <p:spTgt spid="5014"/>
                                        </p:tgtEl>
                                        <p:attrNameLst>
                                          <p:attrName>style.visibility</p:attrName>
                                        </p:attrNameLst>
                                      </p:cBhvr>
                                      <p:to>
                                        <p:strVal val="visible"/>
                                      </p:to>
                                    </p:set>
                                    <p:animEffect filter="fade" transition="in">
                                      <p:cBhvr>
                                        <p:cTn dur="500"/>
                                        <p:tgtEl>
                                          <p:spTgt spid="50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013"/>
                                        </p:tgtEl>
                                        <p:attrNameLst>
                                          <p:attrName>style.visibility</p:attrName>
                                        </p:attrNameLst>
                                      </p:cBhvr>
                                      <p:to>
                                        <p:strVal val="visible"/>
                                      </p:to>
                                    </p:set>
                                    <p:animEffect filter="fade" transition="in">
                                      <p:cBhvr>
                                        <p:cTn dur="500"/>
                                        <p:tgtEl>
                                          <p:spTgt spid="5013"/>
                                        </p:tgtEl>
                                      </p:cBhvr>
                                    </p:animEffect>
                                  </p:childTnLst>
                                </p:cTn>
                              </p:par>
                              <p:par>
                                <p:cTn fill="hold" nodeType="withEffect" presetClass="entr" presetID="10" presetSubtype="0">
                                  <p:stCondLst>
                                    <p:cond delay="0"/>
                                  </p:stCondLst>
                                  <p:childTnLst>
                                    <p:set>
                                      <p:cBhvr>
                                        <p:cTn dur="1" fill="hold">
                                          <p:stCondLst>
                                            <p:cond delay="0"/>
                                          </p:stCondLst>
                                        </p:cTn>
                                        <p:tgtEl>
                                          <p:spTgt spid="4937"/>
                                        </p:tgtEl>
                                        <p:attrNameLst>
                                          <p:attrName>style.visibility</p:attrName>
                                        </p:attrNameLst>
                                      </p:cBhvr>
                                      <p:to>
                                        <p:strVal val="visible"/>
                                      </p:to>
                                    </p:set>
                                    <p:animEffect filter="fade" transition="in">
                                      <p:cBhvr>
                                        <p:cTn dur="500"/>
                                        <p:tgtEl>
                                          <p:spTgt spid="4937"/>
                                        </p:tgtEl>
                                      </p:cBhvr>
                                    </p:animEffect>
                                  </p:childTnLst>
                                </p:cTn>
                              </p:par>
                              <p:par>
                                <p:cTn fill="hold" nodeType="withEffect" presetClass="entr" presetID="10" presetSubtype="0">
                                  <p:stCondLst>
                                    <p:cond delay="0"/>
                                  </p:stCondLst>
                                  <p:childTnLst>
                                    <p:set>
                                      <p:cBhvr>
                                        <p:cTn dur="1" fill="hold">
                                          <p:stCondLst>
                                            <p:cond delay="0"/>
                                          </p:stCondLst>
                                        </p:cTn>
                                        <p:tgtEl>
                                          <p:spTgt spid="5016"/>
                                        </p:tgtEl>
                                        <p:attrNameLst>
                                          <p:attrName>style.visibility</p:attrName>
                                        </p:attrNameLst>
                                      </p:cBhvr>
                                      <p:to>
                                        <p:strVal val="visible"/>
                                      </p:to>
                                    </p:set>
                                    <p:animEffect filter="fade" transition="in">
                                      <p:cBhvr>
                                        <p:cTn dur="500"/>
                                        <p:tgtEl>
                                          <p:spTgt spid="50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15"/>
                                        </p:tgtEl>
                                        <p:attrNameLst>
                                          <p:attrName>style.visibility</p:attrName>
                                        </p:attrNameLst>
                                      </p:cBhvr>
                                      <p:to>
                                        <p:strVal val="visible"/>
                                      </p:to>
                                    </p:set>
                                    <p:animEffect filter="fade" transition="in">
                                      <p:cBhvr>
                                        <p:cTn dur="500"/>
                                        <p:tgtEl>
                                          <p:spTgt spid="501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936"/>
                                        </p:tgtEl>
                                        <p:attrNameLst>
                                          <p:attrName>style.visibility</p:attrName>
                                        </p:attrNameLst>
                                      </p:cBhvr>
                                      <p:to>
                                        <p:strVal val="visible"/>
                                      </p:to>
                                    </p:set>
                                    <p:animEffect filter="fade" transition="in">
                                      <p:cBhvr>
                                        <p:cTn dur="500"/>
                                        <p:tgtEl>
                                          <p:spTgt spid="4936"/>
                                        </p:tgtEl>
                                      </p:cBhvr>
                                    </p:animEffect>
                                  </p:childTnLst>
                                </p:cTn>
                              </p:par>
                              <p:par>
                                <p:cTn fill="hold" nodeType="withEffect" presetClass="entr" presetID="10" presetSubtype="0">
                                  <p:stCondLst>
                                    <p:cond delay="0"/>
                                  </p:stCondLst>
                                  <p:childTnLst>
                                    <p:set>
                                      <p:cBhvr>
                                        <p:cTn dur="1" fill="hold">
                                          <p:stCondLst>
                                            <p:cond delay="0"/>
                                          </p:stCondLst>
                                        </p:cTn>
                                        <p:tgtEl>
                                          <p:spTgt spid="5012"/>
                                        </p:tgtEl>
                                        <p:attrNameLst>
                                          <p:attrName>style.visibility</p:attrName>
                                        </p:attrNameLst>
                                      </p:cBhvr>
                                      <p:to>
                                        <p:strVal val="visible"/>
                                      </p:to>
                                    </p:set>
                                    <p:animEffect filter="fade" transition="in">
                                      <p:cBhvr>
                                        <p:cTn dur="500"/>
                                        <p:tgtEl>
                                          <p:spTgt spid="5012"/>
                                        </p:tgtEl>
                                      </p:cBhvr>
                                    </p:animEffect>
                                  </p:childTnLst>
                                </p:cTn>
                              </p:par>
                              <p:par>
                                <p:cTn fill="hold" nodeType="withEffect" presetClass="entr" presetID="10" presetSubtype="0">
                                  <p:stCondLst>
                                    <p:cond delay="0"/>
                                  </p:stCondLst>
                                  <p:childTnLst>
                                    <p:set>
                                      <p:cBhvr>
                                        <p:cTn dur="1" fill="hold">
                                          <p:stCondLst>
                                            <p:cond delay="0"/>
                                          </p:stCondLst>
                                        </p:cTn>
                                        <p:tgtEl>
                                          <p:spTgt spid="4939"/>
                                        </p:tgtEl>
                                        <p:attrNameLst>
                                          <p:attrName>style.visibility</p:attrName>
                                        </p:attrNameLst>
                                      </p:cBhvr>
                                      <p:to>
                                        <p:strVal val="visible"/>
                                      </p:to>
                                    </p:set>
                                    <p:animEffect filter="fade" transition="in">
                                      <p:cBhvr>
                                        <p:cTn dur="500"/>
                                        <p:tgtEl>
                                          <p:spTgt spid="493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011"/>
                                        </p:tgtEl>
                                        <p:attrNameLst>
                                          <p:attrName>style.visibility</p:attrName>
                                        </p:attrNameLst>
                                      </p:cBhvr>
                                      <p:to>
                                        <p:strVal val="visible"/>
                                      </p:to>
                                    </p:set>
                                    <p:animEffect filter="fade" transition="in">
                                      <p:cBhvr>
                                        <p:cTn dur="500"/>
                                        <p:tgtEl>
                                          <p:spTgt spid="5011"/>
                                        </p:tgtEl>
                                      </p:cBhvr>
                                    </p:animEffect>
                                  </p:childTnLst>
                                </p:cTn>
                              </p:par>
                              <p:par>
                                <p:cTn fill="hold" nodeType="withEffect" presetClass="entr" presetID="10" presetSubtype="0">
                                  <p:stCondLst>
                                    <p:cond delay="0"/>
                                  </p:stCondLst>
                                  <p:childTnLst>
                                    <p:set>
                                      <p:cBhvr>
                                        <p:cTn dur="1" fill="hold">
                                          <p:stCondLst>
                                            <p:cond delay="0"/>
                                          </p:stCondLst>
                                        </p:cTn>
                                        <p:tgtEl>
                                          <p:spTgt spid="4938"/>
                                        </p:tgtEl>
                                        <p:attrNameLst>
                                          <p:attrName>style.visibility</p:attrName>
                                        </p:attrNameLst>
                                      </p:cBhvr>
                                      <p:to>
                                        <p:strVal val="visible"/>
                                      </p:to>
                                    </p:set>
                                    <p:animEffect filter="fade" transition="in">
                                      <p:cBhvr>
                                        <p:cTn dur="500"/>
                                        <p:tgtEl>
                                          <p:spTgt spid="4938"/>
                                        </p:tgtEl>
                                      </p:cBhvr>
                                    </p:animEffect>
                                  </p:childTnLst>
                                </p:cTn>
                              </p:par>
                              <p:par>
                                <p:cTn fill="hold" nodeType="withEffect" presetClass="entr" presetID="10" presetSubtype="0">
                                  <p:stCondLst>
                                    <p:cond delay="0"/>
                                  </p:stCondLst>
                                  <p:childTnLst>
                                    <p:set>
                                      <p:cBhvr>
                                        <p:cTn dur="1" fill="hold">
                                          <p:stCondLst>
                                            <p:cond delay="0"/>
                                          </p:stCondLst>
                                        </p:cTn>
                                        <p:tgtEl>
                                          <p:spTgt spid="5018"/>
                                        </p:tgtEl>
                                        <p:attrNameLst>
                                          <p:attrName>style.visibility</p:attrName>
                                        </p:attrNameLst>
                                      </p:cBhvr>
                                      <p:to>
                                        <p:strVal val="visible"/>
                                      </p:to>
                                    </p:set>
                                    <p:animEffect filter="fade" transition="in">
                                      <p:cBhvr>
                                        <p:cTn dur="500"/>
                                        <p:tgtEl>
                                          <p:spTgt spid="5018"/>
                                        </p:tgtEl>
                                      </p:cBhvr>
                                    </p:animEffect>
                                  </p:childTnLst>
                                </p:cTn>
                              </p:par>
                              <p:par>
                                <p:cTn fill="hold" nodeType="withEffect" presetClass="entr" presetID="10" presetSubtype="0">
                                  <p:stCondLst>
                                    <p:cond delay="0"/>
                                  </p:stCondLst>
                                  <p:childTnLst>
                                    <p:set>
                                      <p:cBhvr>
                                        <p:cTn dur="1" fill="hold">
                                          <p:stCondLst>
                                            <p:cond delay="0"/>
                                          </p:stCondLst>
                                        </p:cTn>
                                        <p:tgtEl>
                                          <p:spTgt spid="4941"/>
                                        </p:tgtEl>
                                        <p:attrNameLst>
                                          <p:attrName>style.visibility</p:attrName>
                                        </p:attrNameLst>
                                      </p:cBhvr>
                                      <p:to>
                                        <p:strVal val="visible"/>
                                      </p:to>
                                    </p:set>
                                    <p:animEffect filter="fade" transition="in">
                                      <p:cBhvr>
                                        <p:cTn dur="500"/>
                                        <p:tgtEl>
                                          <p:spTgt spid="494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017"/>
                                        </p:tgtEl>
                                        <p:attrNameLst>
                                          <p:attrName>style.visibility</p:attrName>
                                        </p:attrNameLst>
                                      </p:cBhvr>
                                      <p:to>
                                        <p:strVal val="visible"/>
                                      </p:to>
                                    </p:set>
                                    <p:animEffect filter="fade" transition="in">
                                      <p:cBhvr>
                                        <p:cTn dur="500"/>
                                        <p:tgtEl>
                                          <p:spTgt spid="5017"/>
                                        </p:tgtEl>
                                      </p:cBhvr>
                                    </p:animEffect>
                                  </p:childTnLst>
                                </p:cTn>
                              </p:par>
                              <p:par>
                                <p:cTn fill="hold" nodeType="withEffect" presetClass="entr" presetID="10" presetSubtype="0">
                                  <p:stCondLst>
                                    <p:cond delay="0"/>
                                  </p:stCondLst>
                                  <p:childTnLst>
                                    <p:set>
                                      <p:cBhvr>
                                        <p:cTn dur="1" fill="hold">
                                          <p:stCondLst>
                                            <p:cond delay="0"/>
                                          </p:stCondLst>
                                        </p:cTn>
                                        <p:tgtEl>
                                          <p:spTgt spid="4943"/>
                                        </p:tgtEl>
                                        <p:attrNameLst>
                                          <p:attrName>style.visibility</p:attrName>
                                        </p:attrNameLst>
                                      </p:cBhvr>
                                      <p:to>
                                        <p:strVal val="visible"/>
                                      </p:to>
                                    </p:set>
                                    <p:animEffect filter="fade" transition="in">
                                      <p:cBhvr>
                                        <p:cTn dur="500"/>
                                        <p:tgtEl>
                                          <p:spTgt spid="494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940"/>
                                        </p:tgtEl>
                                        <p:attrNameLst>
                                          <p:attrName>style.visibility</p:attrName>
                                        </p:attrNameLst>
                                      </p:cBhvr>
                                      <p:to>
                                        <p:strVal val="visible"/>
                                      </p:to>
                                    </p:set>
                                    <p:animEffect filter="fade" transition="in">
                                      <p:cBhvr>
                                        <p:cTn dur="500"/>
                                        <p:tgtEl>
                                          <p:spTgt spid="4940"/>
                                        </p:tgtEl>
                                      </p:cBhvr>
                                    </p:animEffect>
                                  </p:childTnLst>
                                </p:cTn>
                              </p:par>
                              <p:par>
                                <p:cTn fill="hold" nodeType="withEffect" presetClass="entr" presetID="10" presetSubtype="0">
                                  <p:stCondLst>
                                    <p:cond delay="0"/>
                                  </p:stCondLst>
                                  <p:childTnLst>
                                    <p:set>
                                      <p:cBhvr>
                                        <p:cTn dur="1" fill="hold">
                                          <p:stCondLst>
                                            <p:cond delay="0"/>
                                          </p:stCondLst>
                                        </p:cTn>
                                        <p:tgtEl>
                                          <p:spTgt spid="5010"/>
                                        </p:tgtEl>
                                        <p:attrNameLst>
                                          <p:attrName>style.visibility</p:attrName>
                                        </p:attrNameLst>
                                      </p:cBhvr>
                                      <p:to>
                                        <p:strVal val="visible"/>
                                      </p:to>
                                    </p:set>
                                    <p:animEffect filter="fade" transition="in">
                                      <p:cBhvr>
                                        <p:cTn dur="500"/>
                                        <p:tgtEl>
                                          <p:spTgt spid="501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009"/>
                                        </p:tgtEl>
                                        <p:attrNameLst>
                                          <p:attrName>style.visibility</p:attrName>
                                        </p:attrNameLst>
                                      </p:cBhvr>
                                      <p:to>
                                        <p:strVal val="visible"/>
                                      </p:to>
                                    </p:set>
                                    <p:animEffect filter="fade" transition="in">
                                      <p:cBhvr>
                                        <p:cTn dur="500"/>
                                        <p:tgtEl>
                                          <p:spTgt spid="5009"/>
                                        </p:tgtEl>
                                      </p:cBhvr>
                                    </p:animEffect>
                                  </p:childTnLst>
                                </p:cTn>
                              </p:par>
                              <p:par>
                                <p:cTn fill="hold" nodeType="withEffect" presetClass="entr" presetID="10" presetSubtype="0">
                                  <p:stCondLst>
                                    <p:cond delay="0"/>
                                  </p:stCondLst>
                                  <p:childTnLst>
                                    <p:set>
                                      <p:cBhvr>
                                        <p:cTn dur="1" fill="hold">
                                          <p:stCondLst>
                                            <p:cond delay="0"/>
                                          </p:stCondLst>
                                        </p:cTn>
                                        <p:tgtEl>
                                          <p:spTgt spid="4942"/>
                                        </p:tgtEl>
                                        <p:attrNameLst>
                                          <p:attrName>style.visibility</p:attrName>
                                        </p:attrNameLst>
                                      </p:cBhvr>
                                      <p:to>
                                        <p:strVal val="visible"/>
                                      </p:to>
                                    </p:set>
                                    <p:animEffect filter="fade" transition="in">
                                      <p:cBhvr>
                                        <p:cTn dur="500"/>
                                        <p:tgtEl>
                                          <p:spTgt spid="4942"/>
                                        </p:tgtEl>
                                      </p:cBhvr>
                                    </p:animEffect>
                                  </p:childTnLst>
                                </p:cTn>
                              </p:par>
                              <p:par>
                                <p:cTn fill="hold" nodeType="withEffect" presetClass="entr" presetID="10" presetSubtype="0">
                                  <p:stCondLst>
                                    <p:cond delay="0"/>
                                  </p:stCondLst>
                                  <p:childTnLst>
                                    <p:set>
                                      <p:cBhvr>
                                        <p:cTn dur="1" fill="hold">
                                          <p:stCondLst>
                                            <p:cond delay="0"/>
                                          </p:stCondLst>
                                        </p:cTn>
                                        <p:tgtEl>
                                          <p:spTgt spid="4946"/>
                                        </p:tgtEl>
                                        <p:attrNameLst>
                                          <p:attrName>style.visibility</p:attrName>
                                        </p:attrNameLst>
                                      </p:cBhvr>
                                      <p:to>
                                        <p:strVal val="visible"/>
                                      </p:to>
                                    </p:set>
                                    <p:animEffect filter="fade" transition="in">
                                      <p:cBhvr>
                                        <p:cTn dur="500"/>
                                        <p:tgtEl>
                                          <p:spTgt spid="494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945"/>
                                        </p:tgtEl>
                                        <p:attrNameLst>
                                          <p:attrName>style.visibility</p:attrName>
                                        </p:attrNameLst>
                                      </p:cBhvr>
                                      <p:to>
                                        <p:strVal val="visible"/>
                                      </p:to>
                                    </p:set>
                                    <p:animEffect filter="fade" transition="in">
                                      <p:cBhvr>
                                        <p:cTn dur="500"/>
                                        <p:tgtEl>
                                          <p:spTgt spid="4945"/>
                                        </p:tgtEl>
                                      </p:cBhvr>
                                    </p:animEffect>
                                  </p:childTnLst>
                                </p:cTn>
                              </p:par>
                              <p:par>
                                <p:cTn fill="hold" nodeType="withEffect" presetClass="entr" presetID="10" presetSubtype="0">
                                  <p:stCondLst>
                                    <p:cond delay="0"/>
                                  </p:stCondLst>
                                  <p:childTnLst>
                                    <p:set>
                                      <p:cBhvr>
                                        <p:cTn dur="1" fill="hold">
                                          <p:stCondLst>
                                            <p:cond delay="0"/>
                                          </p:stCondLst>
                                        </p:cTn>
                                        <p:tgtEl>
                                          <p:spTgt spid="4944"/>
                                        </p:tgtEl>
                                        <p:attrNameLst>
                                          <p:attrName>style.visibility</p:attrName>
                                        </p:attrNameLst>
                                      </p:cBhvr>
                                      <p:to>
                                        <p:strVal val="visible"/>
                                      </p:to>
                                    </p:set>
                                    <p:animEffect filter="fade" transition="in">
                                      <p:cBhvr>
                                        <p:cTn dur="500"/>
                                        <p:tgtEl>
                                          <p:spTgt spid="49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4" name="Shape 5024"/>
        <p:cNvGrpSpPr/>
        <p:nvPr/>
      </p:nvGrpSpPr>
      <p:grpSpPr>
        <a:xfrm>
          <a:off x="0" y="0"/>
          <a:ext cx="0" cy="0"/>
          <a:chOff x="0" y="0"/>
          <a:chExt cx="0" cy="0"/>
        </a:xfrm>
      </p:grpSpPr>
      <p:sp>
        <p:nvSpPr>
          <p:cNvPr id="5025" name="Google Shape;5025;p71"/>
          <p:cNvSpPr txBox="1"/>
          <p:nvPr>
            <p:ph type="title"/>
          </p:nvPr>
        </p:nvSpPr>
        <p:spPr>
          <a:xfrm>
            <a:off x="826625" y="17402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8"/>
              </a:buClr>
              <a:buSzPts val="4400"/>
              <a:buFont typeface="Calibri"/>
              <a:buNone/>
            </a:pPr>
            <a:r>
              <a:rPr lang="en-US">
                <a:solidFill>
                  <a:srgbClr val="0000A8"/>
                </a:solidFill>
              </a:rPr>
              <a:t>Distance vector example: iteration</a:t>
            </a:r>
            <a:endParaRPr/>
          </a:p>
        </p:txBody>
      </p:sp>
      <p:sp>
        <p:nvSpPr>
          <p:cNvPr id="5026" name="Google Shape;5026;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5027" name="Google Shape;5027;p71"/>
          <p:cNvSpPr txBox="1"/>
          <p:nvPr/>
        </p:nvSpPr>
        <p:spPr>
          <a:xfrm flipH="1">
            <a:off x="476445" y="3078991"/>
            <a:ext cx="2195814" cy="258532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rgbClr val="000000"/>
                </a:solidFill>
                <a:latin typeface="Calibri"/>
                <a:ea typeface="Calibri"/>
                <a:cs typeface="Calibri"/>
                <a:sym typeface="Calibri"/>
              </a:rPr>
              <a:t>All nodes:</a:t>
            </a:r>
            <a:endParaRPr/>
          </a:p>
          <a:p>
            <a:pPr indent="-174625" lvl="0" marL="174625"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receive distance vectors from neighbors</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compute their new local  distance vector</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send their new local distance vector to neighbors</a:t>
            </a:r>
            <a:endParaRPr/>
          </a:p>
        </p:txBody>
      </p:sp>
      <p:grpSp>
        <p:nvGrpSpPr>
          <p:cNvPr id="5028" name="Google Shape;5028;p71"/>
          <p:cNvGrpSpPr/>
          <p:nvPr/>
        </p:nvGrpSpPr>
        <p:grpSpPr>
          <a:xfrm>
            <a:off x="584365" y="1859143"/>
            <a:ext cx="736099" cy="1229581"/>
            <a:chOff x="10030307" y="3444875"/>
            <a:chExt cx="736099" cy="1229581"/>
          </a:xfrm>
        </p:grpSpPr>
        <p:sp>
          <p:nvSpPr>
            <p:cNvPr id="5029" name="Google Shape;5029;p71"/>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t=1</a:t>
              </a:r>
              <a:endParaRPr/>
            </a:p>
          </p:txBody>
        </p:sp>
        <p:grpSp>
          <p:nvGrpSpPr>
            <p:cNvPr id="5030" name="Google Shape;5030;p71"/>
            <p:cNvGrpSpPr/>
            <p:nvPr/>
          </p:nvGrpSpPr>
          <p:grpSpPr>
            <a:xfrm>
              <a:off x="10034588" y="3444875"/>
              <a:ext cx="682627" cy="682625"/>
              <a:chOff x="10034589" y="3444875"/>
              <a:chExt cx="682627" cy="682625"/>
            </a:xfrm>
          </p:grpSpPr>
          <p:sp>
            <p:nvSpPr>
              <p:cNvPr id="5031" name="Google Shape;5031;p71"/>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032" name="Google Shape;5032;p71"/>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033" name="Google Shape;5033;p71"/>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034" name="Google Shape;5034;p71"/>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035" name="Google Shape;5035;p71"/>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036" name="Google Shape;5036;p71"/>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037" name="Google Shape;5037;p71"/>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038" name="Google Shape;5038;p71"/>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039" name="Google Shape;5039;p71"/>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040" name="Google Shape;5040;p71"/>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041" name="Google Shape;5041;p71"/>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042" name="Google Shape;5042;p71"/>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043" name="Google Shape;5043;p71"/>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5044" name="Google Shape;5044;p71"/>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045" name="Google Shape;5045;p71"/>
              <p:cNvCxnSpPr/>
              <p:nvPr/>
            </p:nvCxnSpPr>
            <p:spPr>
              <a:xfrm flipH="1">
                <a:off x="10361752" y="3564494"/>
                <a:ext cx="137579" cy="231764"/>
              </a:xfrm>
              <a:prstGeom prst="straightConnector1">
                <a:avLst/>
              </a:prstGeom>
              <a:noFill/>
              <a:ln cap="flat" cmpd="sng" w="25400">
                <a:solidFill>
                  <a:srgbClr val="C00000"/>
                </a:solidFill>
                <a:prstDash val="solid"/>
                <a:miter lim="8000"/>
                <a:headEnd len="sm" w="sm" type="none"/>
                <a:tailEnd len="sm" w="sm" type="none"/>
              </a:ln>
            </p:spPr>
          </p:cxnSp>
        </p:grpSp>
      </p:grpSp>
      <p:cxnSp>
        <p:nvCxnSpPr>
          <p:cNvPr id="5046" name="Google Shape;5046;p71"/>
          <p:cNvCxnSpPr>
            <a:stCxn id="5047" idx="2"/>
            <a:endCxn id="5047"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5048" name="Google Shape;5048;p71"/>
          <p:cNvCxnSpPr>
            <a:stCxn id="5047" idx="1"/>
            <a:endCxn id="5047"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5047" name="Google Shape;5047;p71"/>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5049" name="Google Shape;5049;p71"/>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5050" name="Google Shape;5050;p71"/>
          <p:cNvGrpSpPr/>
          <p:nvPr/>
        </p:nvGrpSpPr>
        <p:grpSpPr>
          <a:xfrm>
            <a:off x="4333785" y="5772213"/>
            <a:ext cx="4395351" cy="404576"/>
            <a:chOff x="4333785" y="5772213"/>
            <a:chExt cx="4395351" cy="404576"/>
          </a:xfrm>
        </p:grpSpPr>
        <p:grpSp>
          <p:nvGrpSpPr>
            <p:cNvPr id="5051" name="Google Shape;5051;p71"/>
            <p:cNvGrpSpPr/>
            <p:nvPr/>
          </p:nvGrpSpPr>
          <p:grpSpPr>
            <a:xfrm>
              <a:off x="4333785" y="5772213"/>
              <a:ext cx="531821" cy="369069"/>
              <a:chOff x="1348328" y="2475647"/>
              <a:chExt cx="603916" cy="419100"/>
            </a:xfrm>
          </p:grpSpPr>
          <p:grpSp>
            <p:nvGrpSpPr>
              <p:cNvPr id="5052" name="Google Shape;5052;p71"/>
              <p:cNvGrpSpPr/>
              <p:nvPr/>
            </p:nvGrpSpPr>
            <p:grpSpPr>
              <a:xfrm>
                <a:off x="1348328" y="2555748"/>
                <a:ext cx="603916" cy="308999"/>
                <a:chOff x="5278570" y="2983486"/>
                <a:chExt cx="501650" cy="233363"/>
              </a:xfrm>
            </p:grpSpPr>
            <p:sp>
              <p:nvSpPr>
                <p:cNvPr id="5053" name="Google Shape;5053;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054" name="Google Shape;5054;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055" name="Google Shape;5055;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056" name="Google Shape;5056;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057" name="Google Shape;5057;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058" name="Google Shape;5058;p71"/>
              <p:cNvGrpSpPr/>
              <p:nvPr/>
            </p:nvGrpSpPr>
            <p:grpSpPr>
              <a:xfrm>
                <a:off x="1456374" y="2475647"/>
                <a:ext cx="355165" cy="419100"/>
                <a:chOff x="2944" y="2405"/>
                <a:chExt cx="227" cy="264"/>
              </a:xfrm>
            </p:grpSpPr>
            <p:sp>
              <p:nvSpPr>
                <p:cNvPr id="5059" name="Google Shape;5059;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060" name="Google Shape;5060;p71"/>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5061" name="Google Shape;5061;p71"/>
            <p:cNvGrpSpPr/>
            <p:nvPr/>
          </p:nvGrpSpPr>
          <p:grpSpPr>
            <a:xfrm>
              <a:off x="6263949" y="5807720"/>
              <a:ext cx="531821" cy="369069"/>
              <a:chOff x="1348328" y="2507397"/>
              <a:chExt cx="603916" cy="419100"/>
            </a:xfrm>
          </p:grpSpPr>
          <p:grpSp>
            <p:nvGrpSpPr>
              <p:cNvPr id="5062" name="Google Shape;5062;p71"/>
              <p:cNvGrpSpPr/>
              <p:nvPr/>
            </p:nvGrpSpPr>
            <p:grpSpPr>
              <a:xfrm>
                <a:off x="1348328" y="2555748"/>
                <a:ext cx="603916" cy="308999"/>
                <a:chOff x="5278570" y="2983486"/>
                <a:chExt cx="501650" cy="233363"/>
              </a:xfrm>
            </p:grpSpPr>
            <p:sp>
              <p:nvSpPr>
                <p:cNvPr id="5063" name="Google Shape;5063;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064" name="Google Shape;5064;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065" name="Google Shape;5065;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066" name="Google Shape;5066;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067" name="Google Shape;5067;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068" name="Google Shape;5068;p71"/>
              <p:cNvGrpSpPr/>
              <p:nvPr/>
            </p:nvGrpSpPr>
            <p:grpSpPr>
              <a:xfrm>
                <a:off x="1456374" y="2507397"/>
                <a:ext cx="355165" cy="419100"/>
                <a:chOff x="2944" y="2425"/>
                <a:chExt cx="227" cy="264"/>
              </a:xfrm>
            </p:grpSpPr>
            <p:sp>
              <p:nvSpPr>
                <p:cNvPr id="5069" name="Google Shape;5069;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070" name="Google Shape;5070;p71"/>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5071" name="Google Shape;5071;p71"/>
            <p:cNvGrpSpPr/>
            <p:nvPr/>
          </p:nvGrpSpPr>
          <p:grpSpPr>
            <a:xfrm>
              <a:off x="8197315" y="5805271"/>
              <a:ext cx="531821" cy="369069"/>
              <a:chOff x="1348328" y="2507397"/>
              <a:chExt cx="603916" cy="419100"/>
            </a:xfrm>
          </p:grpSpPr>
          <p:grpSp>
            <p:nvGrpSpPr>
              <p:cNvPr id="5072" name="Google Shape;5072;p71"/>
              <p:cNvGrpSpPr/>
              <p:nvPr/>
            </p:nvGrpSpPr>
            <p:grpSpPr>
              <a:xfrm>
                <a:off x="1348328" y="2555748"/>
                <a:ext cx="603916" cy="308999"/>
                <a:chOff x="5278570" y="2983486"/>
                <a:chExt cx="501650" cy="233363"/>
              </a:xfrm>
            </p:grpSpPr>
            <p:sp>
              <p:nvSpPr>
                <p:cNvPr id="5073" name="Google Shape;5073;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074" name="Google Shape;5074;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075" name="Google Shape;5075;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076" name="Google Shape;5076;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077" name="Google Shape;5077;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078" name="Google Shape;5078;p71"/>
              <p:cNvGrpSpPr/>
              <p:nvPr/>
            </p:nvGrpSpPr>
            <p:grpSpPr>
              <a:xfrm>
                <a:off x="1500196" y="2507397"/>
                <a:ext cx="267548" cy="419100"/>
                <a:chOff x="2972" y="2425"/>
                <a:chExt cx="171" cy="264"/>
              </a:xfrm>
            </p:grpSpPr>
            <p:sp>
              <p:nvSpPr>
                <p:cNvPr id="5079" name="Google Shape;5079;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080" name="Google Shape;5080;p71"/>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5081" name="Google Shape;5081;p71"/>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82" name="Google Shape;5082;p71"/>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83" name="Google Shape;5083;p71"/>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84" name="Google Shape;5084;p71"/>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85" name="Google Shape;5085;p71"/>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86" name="Google Shape;5086;p71"/>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87" name="Google Shape;5087;p71"/>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88" name="Google Shape;5088;p71"/>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89" name="Google Shape;5089;p71"/>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90" name="Google Shape;5090;p71"/>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5091" name="Google Shape;5091;p71"/>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092" name="Google Shape;5092;p71"/>
          <p:cNvSpPr/>
          <p:nvPr/>
        </p:nvSpPr>
        <p:spPr>
          <a:xfrm flipH="1" rot="5400000">
            <a:off x="4399933" y="256130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93" name="Google Shape;5093;p71"/>
          <p:cNvSpPr/>
          <p:nvPr/>
        </p:nvSpPr>
        <p:spPr>
          <a:xfrm flipH="1" rot="-5400000">
            <a:off x="4395017" y="347078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94" name="Google Shape;5094;p71"/>
          <p:cNvSpPr/>
          <p:nvPr/>
        </p:nvSpPr>
        <p:spPr>
          <a:xfrm flipH="1" rot="5400000">
            <a:off x="6302474" y="2546557"/>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95" name="Google Shape;5095;p71"/>
          <p:cNvSpPr/>
          <p:nvPr/>
        </p:nvSpPr>
        <p:spPr>
          <a:xfrm flipH="1" rot="-5400000">
            <a:off x="6297558" y="345604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96" name="Google Shape;5096;p71"/>
          <p:cNvSpPr/>
          <p:nvPr/>
        </p:nvSpPr>
        <p:spPr>
          <a:xfrm flipH="1" rot="5400000">
            <a:off x="4370435" y="445893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97" name="Google Shape;5097;p71"/>
          <p:cNvSpPr/>
          <p:nvPr/>
        </p:nvSpPr>
        <p:spPr>
          <a:xfrm flipH="1" rot="-5400000">
            <a:off x="4365519" y="536841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98" name="Google Shape;5098;p71"/>
          <p:cNvSpPr/>
          <p:nvPr/>
        </p:nvSpPr>
        <p:spPr>
          <a:xfrm flipH="1" rot="5400000">
            <a:off x="6312308" y="4454022"/>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099" name="Google Shape;5099;p71"/>
          <p:cNvSpPr/>
          <p:nvPr/>
        </p:nvSpPr>
        <p:spPr>
          <a:xfrm flipH="1" rot="-5400000">
            <a:off x="6307392" y="5363506"/>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00" name="Google Shape;5100;p71"/>
          <p:cNvSpPr/>
          <p:nvPr/>
        </p:nvSpPr>
        <p:spPr>
          <a:xfrm flipH="1" rot="5400000">
            <a:off x="8254181" y="4449110"/>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01" name="Google Shape;5101;p71"/>
          <p:cNvSpPr/>
          <p:nvPr/>
        </p:nvSpPr>
        <p:spPr>
          <a:xfrm flipH="1" rot="-5400000">
            <a:off x="8249265" y="535859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02" name="Google Shape;5102;p71"/>
          <p:cNvSpPr/>
          <p:nvPr/>
        </p:nvSpPr>
        <p:spPr>
          <a:xfrm flipH="1" rot="10800000">
            <a:off x="7582395" y="5829665"/>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03" name="Google Shape;5103;p71"/>
          <p:cNvSpPr/>
          <p:nvPr/>
        </p:nvSpPr>
        <p:spPr>
          <a:xfrm flipH="1">
            <a:off x="6819704" y="583458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104" name="Google Shape;5104;p71"/>
          <p:cNvGrpSpPr/>
          <p:nvPr/>
        </p:nvGrpSpPr>
        <p:grpSpPr>
          <a:xfrm>
            <a:off x="4336458" y="3833790"/>
            <a:ext cx="4395351" cy="404576"/>
            <a:chOff x="4333785" y="5772213"/>
            <a:chExt cx="4395351" cy="404576"/>
          </a:xfrm>
        </p:grpSpPr>
        <p:grpSp>
          <p:nvGrpSpPr>
            <p:cNvPr id="5105" name="Google Shape;5105;p71"/>
            <p:cNvGrpSpPr/>
            <p:nvPr/>
          </p:nvGrpSpPr>
          <p:grpSpPr>
            <a:xfrm>
              <a:off x="4333785" y="5772213"/>
              <a:ext cx="531821" cy="369069"/>
              <a:chOff x="1348328" y="2475647"/>
              <a:chExt cx="603916" cy="419100"/>
            </a:xfrm>
          </p:grpSpPr>
          <p:grpSp>
            <p:nvGrpSpPr>
              <p:cNvPr id="5106" name="Google Shape;5106;p71"/>
              <p:cNvGrpSpPr/>
              <p:nvPr/>
            </p:nvGrpSpPr>
            <p:grpSpPr>
              <a:xfrm>
                <a:off x="1348328" y="2555748"/>
                <a:ext cx="603916" cy="308999"/>
                <a:chOff x="5278570" y="2983486"/>
                <a:chExt cx="501650" cy="233363"/>
              </a:xfrm>
            </p:grpSpPr>
            <p:sp>
              <p:nvSpPr>
                <p:cNvPr id="5107" name="Google Shape;5107;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108" name="Google Shape;5108;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109" name="Google Shape;5109;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110" name="Google Shape;5110;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111" name="Google Shape;5111;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112" name="Google Shape;5112;p71"/>
              <p:cNvGrpSpPr/>
              <p:nvPr/>
            </p:nvGrpSpPr>
            <p:grpSpPr>
              <a:xfrm>
                <a:off x="1456374" y="2475647"/>
                <a:ext cx="355165" cy="419100"/>
                <a:chOff x="2944" y="2405"/>
                <a:chExt cx="227" cy="264"/>
              </a:xfrm>
            </p:grpSpPr>
            <p:sp>
              <p:nvSpPr>
                <p:cNvPr id="5113" name="Google Shape;5113;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114" name="Google Shape;5114;p71"/>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5115" name="Google Shape;5115;p71"/>
            <p:cNvGrpSpPr/>
            <p:nvPr/>
          </p:nvGrpSpPr>
          <p:grpSpPr>
            <a:xfrm>
              <a:off x="6263949" y="5807720"/>
              <a:ext cx="531821" cy="369069"/>
              <a:chOff x="1348328" y="2507397"/>
              <a:chExt cx="603916" cy="419100"/>
            </a:xfrm>
          </p:grpSpPr>
          <p:grpSp>
            <p:nvGrpSpPr>
              <p:cNvPr id="5116" name="Google Shape;5116;p71"/>
              <p:cNvGrpSpPr/>
              <p:nvPr/>
            </p:nvGrpSpPr>
            <p:grpSpPr>
              <a:xfrm>
                <a:off x="1348328" y="2555748"/>
                <a:ext cx="603916" cy="308999"/>
                <a:chOff x="5278570" y="2983486"/>
                <a:chExt cx="501650" cy="233363"/>
              </a:xfrm>
            </p:grpSpPr>
            <p:sp>
              <p:nvSpPr>
                <p:cNvPr id="5117" name="Google Shape;5117;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118" name="Google Shape;5118;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119" name="Google Shape;5119;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120" name="Google Shape;5120;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121" name="Google Shape;5121;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122" name="Google Shape;5122;p71"/>
              <p:cNvGrpSpPr/>
              <p:nvPr/>
            </p:nvGrpSpPr>
            <p:grpSpPr>
              <a:xfrm>
                <a:off x="1456374" y="2507397"/>
                <a:ext cx="355165" cy="419100"/>
                <a:chOff x="2944" y="2425"/>
                <a:chExt cx="227" cy="264"/>
              </a:xfrm>
            </p:grpSpPr>
            <p:sp>
              <p:nvSpPr>
                <p:cNvPr id="5123" name="Google Shape;5123;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124" name="Google Shape;5124;p71"/>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5125" name="Google Shape;5125;p71"/>
            <p:cNvGrpSpPr/>
            <p:nvPr/>
          </p:nvGrpSpPr>
          <p:grpSpPr>
            <a:xfrm>
              <a:off x="8197315" y="5805271"/>
              <a:ext cx="531821" cy="369069"/>
              <a:chOff x="1348328" y="2507397"/>
              <a:chExt cx="603916" cy="419100"/>
            </a:xfrm>
          </p:grpSpPr>
          <p:grpSp>
            <p:nvGrpSpPr>
              <p:cNvPr id="5126" name="Google Shape;5126;p71"/>
              <p:cNvGrpSpPr/>
              <p:nvPr/>
            </p:nvGrpSpPr>
            <p:grpSpPr>
              <a:xfrm>
                <a:off x="1348328" y="2555748"/>
                <a:ext cx="603916" cy="308999"/>
                <a:chOff x="5278570" y="2983486"/>
                <a:chExt cx="501650" cy="233363"/>
              </a:xfrm>
            </p:grpSpPr>
            <p:sp>
              <p:nvSpPr>
                <p:cNvPr id="5127" name="Google Shape;5127;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128" name="Google Shape;5128;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129" name="Google Shape;5129;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130" name="Google Shape;5130;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131" name="Google Shape;5131;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132" name="Google Shape;5132;p71"/>
              <p:cNvGrpSpPr/>
              <p:nvPr/>
            </p:nvGrpSpPr>
            <p:grpSpPr>
              <a:xfrm>
                <a:off x="1492372" y="2507397"/>
                <a:ext cx="283194" cy="419100"/>
                <a:chOff x="2967" y="2425"/>
                <a:chExt cx="181" cy="264"/>
              </a:xfrm>
            </p:grpSpPr>
            <p:sp>
              <p:nvSpPr>
                <p:cNvPr id="5133" name="Google Shape;5133;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134" name="Google Shape;5134;p71"/>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5135" name="Google Shape;5135;p71"/>
          <p:cNvGrpSpPr/>
          <p:nvPr/>
        </p:nvGrpSpPr>
        <p:grpSpPr>
          <a:xfrm>
            <a:off x="4333785" y="1906063"/>
            <a:ext cx="4395351" cy="404576"/>
            <a:chOff x="4333785" y="5772213"/>
            <a:chExt cx="4395351" cy="404576"/>
          </a:xfrm>
        </p:grpSpPr>
        <p:grpSp>
          <p:nvGrpSpPr>
            <p:cNvPr id="5136" name="Google Shape;5136;p71"/>
            <p:cNvGrpSpPr/>
            <p:nvPr/>
          </p:nvGrpSpPr>
          <p:grpSpPr>
            <a:xfrm>
              <a:off x="4333785" y="5772213"/>
              <a:ext cx="531821" cy="369069"/>
              <a:chOff x="1348328" y="2475647"/>
              <a:chExt cx="603916" cy="419100"/>
            </a:xfrm>
          </p:grpSpPr>
          <p:grpSp>
            <p:nvGrpSpPr>
              <p:cNvPr id="5137" name="Google Shape;5137;p71"/>
              <p:cNvGrpSpPr/>
              <p:nvPr/>
            </p:nvGrpSpPr>
            <p:grpSpPr>
              <a:xfrm>
                <a:off x="1348328" y="2555748"/>
                <a:ext cx="603916" cy="308999"/>
                <a:chOff x="5278570" y="2983486"/>
                <a:chExt cx="501650" cy="233363"/>
              </a:xfrm>
            </p:grpSpPr>
            <p:sp>
              <p:nvSpPr>
                <p:cNvPr id="5138" name="Google Shape;5138;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139" name="Google Shape;5139;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140" name="Google Shape;5140;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141" name="Google Shape;5141;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142" name="Google Shape;5142;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143" name="Google Shape;5143;p71"/>
              <p:cNvGrpSpPr/>
              <p:nvPr/>
            </p:nvGrpSpPr>
            <p:grpSpPr>
              <a:xfrm>
                <a:off x="1456374" y="2475647"/>
                <a:ext cx="355165" cy="419100"/>
                <a:chOff x="2944" y="2405"/>
                <a:chExt cx="227" cy="264"/>
              </a:xfrm>
            </p:grpSpPr>
            <p:sp>
              <p:nvSpPr>
                <p:cNvPr id="5144" name="Google Shape;5144;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145" name="Google Shape;5145;p71"/>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5146" name="Google Shape;5146;p71"/>
            <p:cNvGrpSpPr/>
            <p:nvPr/>
          </p:nvGrpSpPr>
          <p:grpSpPr>
            <a:xfrm>
              <a:off x="6263949" y="5807720"/>
              <a:ext cx="531821" cy="369069"/>
              <a:chOff x="1348328" y="2507397"/>
              <a:chExt cx="603916" cy="419100"/>
            </a:xfrm>
          </p:grpSpPr>
          <p:grpSp>
            <p:nvGrpSpPr>
              <p:cNvPr id="5147" name="Google Shape;5147;p71"/>
              <p:cNvGrpSpPr/>
              <p:nvPr/>
            </p:nvGrpSpPr>
            <p:grpSpPr>
              <a:xfrm>
                <a:off x="1348328" y="2555748"/>
                <a:ext cx="603916" cy="308999"/>
                <a:chOff x="5278570" y="2983486"/>
                <a:chExt cx="501650" cy="233363"/>
              </a:xfrm>
            </p:grpSpPr>
            <p:sp>
              <p:nvSpPr>
                <p:cNvPr id="5148" name="Google Shape;5148;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149" name="Google Shape;5149;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150" name="Google Shape;5150;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151" name="Google Shape;5151;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152" name="Google Shape;5152;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153" name="Google Shape;5153;p71"/>
              <p:cNvGrpSpPr/>
              <p:nvPr/>
            </p:nvGrpSpPr>
            <p:grpSpPr>
              <a:xfrm>
                <a:off x="1456374" y="2507397"/>
                <a:ext cx="355165" cy="419100"/>
                <a:chOff x="2944" y="2425"/>
                <a:chExt cx="227" cy="264"/>
              </a:xfrm>
            </p:grpSpPr>
            <p:sp>
              <p:nvSpPr>
                <p:cNvPr id="5154" name="Google Shape;5154;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155" name="Google Shape;5155;p71"/>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5156" name="Google Shape;5156;p71"/>
            <p:cNvGrpSpPr/>
            <p:nvPr/>
          </p:nvGrpSpPr>
          <p:grpSpPr>
            <a:xfrm>
              <a:off x="8197315" y="5805271"/>
              <a:ext cx="531821" cy="369069"/>
              <a:chOff x="1348328" y="2507397"/>
              <a:chExt cx="603916" cy="419100"/>
            </a:xfrm>
          </p:grpSpPr>
          <p:grpSp>
            <p:nvGrpSpPr>
              <p:cNvPr id="5157" name="Google Shape;5157;p71"/>
              <p:cNvGrpSpPr/>
              <p:nvPr/>
            </p:nvGrpSpPr>
            <p:grpSpPr>
              <a:xfrm>
                <a:off x="1348328" y="2555748"/>
                <a:ext cx="603916" cy="308999"/>
                <a:chOff x="5278570" y="2983486"/>
                <a:chExt cx="501650" cy="233363"/>
              </a:xfrm>
            </p:grpSpPr>
            <p:sp>
              <p:nvSpPr>
                <p:cNvPr id="5158" name="Google Shape;5158;p7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159" name="Google Shape;5159;p7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160" name="Google Shape;5160;p7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161" name="Google Shape;5161;p7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162" name="Google Shape;5162;p7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163" name="Google Shape;5163;p71"/>
              <p:cNvGrpSpPr/>
              <p:nvPr/>
            </p:nvGrpSpPr>
            <p:grpSpPr>
              <a:xfrm>
                <a:off x="1464202" y="2507397"/>
                <a:ext cx="341084" cy="419100"/>
                <a:chOff x="2949" y="2425"/>
                <a:chExt cx="218" cy="264"/>
              </a:xfrm>
            </p:grpSpPr>
            <p:sp>
              <p:nvSpPr>
                <p:cNvPr id="5164" name="Google Shape;5164;p7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165" name="Google Shape;5165;p71"/>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sp>
        <p:nvSpPr>
          <p:cNvPr id="5166" name="Google Shape;5166;p71"/>
          <p:cNvSpPr/>
          <p:nvPr/>
        </p:nvSpPr>
        <p:spPr>
          <a:xfrm flipH="1" rot="10800000">
            <a:off x="5660017" y="584303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67" name="Google Shape;5167;p71"/>
          <p:cNvSpPr/>
          <p:nvPr/>
        </p:nvSpPr>
        <p:spPr>
          <a:xfrm flipH="1">
            <a:off x="4897326" y="584795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68" name="Google Shape;5168;p71"/>
          <p:cNvSpPr/>
          <p:nvPr/>
        </p:nvSpPr>
        <p:spPr>
          <a:xfrm flipH="1" rot="10800000">
            <a:off x="5651998" y="3904611"/>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69" name="Google Shape;5169;p71"/>
          <p:cNvSpPr/>
          <p:nvPr/>
        </p:nvSpPr>
        <p:spPr>
          <a:xfrm flipH="1">
            <a:off x="4905348" y="3909528"/>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70" name="Google Shape;5170;p71"/>
          <p:cNvSpPr/>
          <p:nvPr/>
        </p:nvSpPr>
        <p:spPr>
          <a:xfrm>
            <a:off x="5660020" y="196618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71" name="Google Shape;5171;p71"/>
          <p:cNvSpPr/>
          <p:nvPr/>
        </p:nvSpPr>
        <p:spPr>
          <a:xfrm rot="10800000">
            <a:off x="4924064" y="198714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72" name="Google Shape;5172;p71"/>
          <p:cNvSpPr/>
          <p:nvPr/>
        </p:nvSpPr>
        <p:spPr>
          <a:xfrm flipH="1" rot="10800000">
            <a:off x="7582399" y="196886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73" name="Google Shape;5173;p71"/>
          <p:cNvSpPr/>
          <p:nvPr/>
        </p:nvSpPr>
        <p:spPr>
          <a:xfrm rot="10800000">
            <a:off x="6819708" y="197377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74" name="Google Shape;5174;p71"/>
          <p:cNvSpPr/>
          <p:nvPr/>
        </p:nvSpPr>
        <p:spPr>
          <a:xfrm flipH="1" rot="10800000">
            <a:off x="7595769" y="390728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75" name="Google Shape;5175;p71"/>
          <p:cNvSpPr/>
          <p:nvPr/>
        </p:nvSpPr>
        <p:spPr>
          <a:xfrm flipH="1">
            <a:off x="6833078" y="391220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92"/>
                                        </p:tgtEl>
                                        <p:attrNameLst>
                                          <p:attrName>style.visibility</p:attrName>
                                        </p:attrNameLst>
                                      </p:cBhvr>
                                      <p:to>
                                        <p:strVal val="visible"/>
                                      </p:to>
                                    </p:set>
                                    <p:animEffect filter="fade" transition="in">
                                      <p:cBhvr>
                                        <p:cTn dur="1000"/>
                                        <p:tgtEl>
                                          <p:spTgt spid="5092"/>
                                        </p:tgtEl>
                                      </p:cBhvr>
                                    </p:animEffect>
                                  </p:childTnLst>
                                </p:cTn>
                              </p:par>
                              <p:par>
                                <p:cTn fill="hold" nodeType="withEffect" presetClass="entr" presetID="10" presetSubtype="0">
                                  <p:stCondLst>
                                    <p:cond delay="0"/>
                                  </p:stCondLst>
                                  <p:childTnLst>
                                    <p:set>
                                      <p:cBhvr>
                                        <p:cTn dur="1" fill="hold">
                                          <p:stCondLst>
                                            <p:cond delay="0"/>
                                          </p:stCondLst>
                                        </p:cTn>
                                        <p:tgtEl>
                                          <p:spTgt spid="5171"/>
                                        </p:tgtEl>
                                        <p:attrNameLst>
                                          <p:attrName>style.visibility</p:attrName>
                                        </p:attrNameLst>
                                      </p:cBhvr>
                                      <p:to>
                                        <p:strVal val="visible"/>
                                      </p:to>
                                    </p:set>
                                    <p:animEffect filter="fade" transition="in">
                                      <p:cBhvr>
                                        <p:cTn dur="1000"/>
                                        <p:tgtEl>
                                          <p:spTgt spid="5171"/>
                                        </p:tgtEl>
                                      </p:cBhvr>
                                    </p:animEffect>
                                  </p:childTnLst>
                                </p:cTn>
                              </p:par>
                              <p:par>
                                <p:cTn fill="hold" nodeType="withEffect" presetClass="entr" presetID="10" presetSubtype="0">
                                  <p:stCondLst>
                                    <p:cond delay="0"/>
                                  </p:stCondLst>
                                  <p:childTnLst>
                                    <p:set>
                                      <p:cBhvr>
                                        <p:cTn dur="1" fill="hold">
                                          <p:stCondLst>
                                            <p:cond delay="0"/>
                                          </p:stCondLst>
                                        </p:cTn>
                                        <p:tgtEl>
                                          <p:spTgt spid="5170"/>
                                        </p:tgtEl>
                                        <p:attrNameLst>
                                          <p:attrName>style.visibility</p:attrName>
                                        </p:attrNameLst>
                                      </p:cBhvr>
                                      <p:to>
                                        <p:strVal val="visible"/>
                                      </p:to>
                                    </p:set>
                                    <p:animEffect filter="fade" transition="in">
                                      <p:cBhvr>
                                        <p:cTn dur="1000"/>
                                        <p:tgtEl>
                                          <p:spTgt spid="5170"/>
                                        </p:tgtEl>
                                      </p:cBhvr>
                                    </p:animEffect>
                                  </p:childTnLst>
                                </p:cTn>
                              </p:par>
                              <p:par>
                                <p:cTn fill="hold" nodeType="withEffect" presetClass="entr" presetID="10" presetSubtype="0">
                                  <p:stCondLst>
                                    <p:cond delay="0"/>
                                  </p:stCondLst>
                                  <p:childTnLst>
                                    <p:set>
                                      <p:cBhvr>
                                        <p:cTn dur="1" fill="hold">
                                          <p:stCondLst>
                                            <p:cond delay="0"/>
                                          </p:stCondLst>
                                        </p:cTn>
                                        <p:tgtEl>
                                          <p:spTgt spid="5094"/>
                                        </p:tgtEl>
                                        <p:attrNameLst>
                                          <p:attrName>style.visibility</p:attrName>
                                        </p:attrNameLst>
                                      </p:cBhvr>
                                      <p:to>
                                        <p:strVal val="visible"/>
                                      </p:to>
                                    </p:set>
                                    <p:animEffect filter="fade" transition="in">
                                      <p:cBhvr>
                                        <p:cTn dur="1000"/>
                                        <p:tgtEl>
                                          <p:spTgt spid="5094"/>
                                        </p:tgtEl>
                                      </p:cBhvr>
                                    </p:animEffect>
                                  </p:childTnLst>
                                </p:cTn>
                              </p:par>
                              <p:par>
                                <p:cTn fill="hold" nodeType="withEffect" presetClass="entr" presetID="10" presetSubtype="0">
                                  <p:stCondLst>
                                    <p:cond delay="0"/>
                                  </p:stCondLst>
                                  <p:childTnLst>
                                    <p:set>
                                      <p:cBhvr>
                                        <p:cTn dur="1" fill="hold">
                                          <p:stCondLst>
                                            <p:cond delay="0"/>
                                          </p:stCondLst>
                                        </p:cTn>
                                        <p:tgtEl>
                                          <p:spTgt spid="5173"/>
                                        </p:tgtEl>
                                        <p:attrNameLst>
                                          <p:attrName>style.visibility</p:attrName>
                                        </p:attrNameLst>
                                      </p:cBhvr>
                                      <p:to>
                                        <p:strVal val="visible"/>
                                      </p:to>
                                    </p:set>
                                    <p:animEffect filter="fade" transition="in">
                                      <p:cBhvr>
                                        <p:cTn dur="1000"/>
                                        <p:tgtEl>
                                          <p:spTgt spid="5173"/>
                                        </p:tgtEl>
                                      </p:cBhvr>
                                    </p:animEffect>
                                  </p:childTnLst>
                                </p:cTn>
                              </p:par>
                              <p:par>
                                <p:cTn fill="hold" nodeType="withEffect" presetClass="entr" presetID="10" presetSubtype="0">
                                  <p:stCondLst>
                                    <p:cond delay="0"/>
                                  </p:stCondLst>
                                  <p:childTnLst>
                                    <p:set>
                                      <p:cBhvr>
                                        <p:cTn dur="1" fill="hold">
                                          <p:stCondLst>
                                            <p:cond delay="0"/>
                                          </p:stCondLst>
                                        </p:cTn>
                                        <p:tgtEl>
                                          <p:spTgt spid="5172"/>
                                        </p:tgtEl>
                                        <p:attrNameLst>
                                          <p:attrName>style.visibility</p:attrName>
                                        </p:attrNameLst>
                                      </p:cBhvr>
                                      <p:to>
                                        <p:strVal val="visible"/>
                                      </p:to>
                                    </p:set>
                                    <p:animEffect filter="fade" transition="in">
                                      <p:cBhvr>
                                        <p:cTn dur="1000"/>
                                        <p:tgtEl>
                                          <p:spTgt spid="5172"/>
                                        </p:tgtEl>
                                      </p:cBhvr>
                                    </p:animEffect>
                                  </p:childTnLst>
                                </p:cTn>
                              </p:par>
                              <p:par>
                                <p:cTn fill="hold" nodeType="withEffect" presetClass="entr" presetID="10" presetSubtype="0">
                                  <p:stCondLst>
                                    <p:cond delay="0"/>
                                  </p:stCondLst>
                                  <p:childTnLst>
                                    <p:set>
                                      <p:cBhvr>
                                        <p:cTn dur="1" fill="hold">
                                          <p:stCondLst>
                                            <p:cond delay="0"/>
                                          </p:stCondLst>
                                        </p:cTn>
                                        <p:tgtEl>
                                          <p:spTgt spid="5093"/>
                                        </p:tgtEl>
                                        <p:attrNameLst>
                                          <p:attrName>style.visibility</p:attrName>
                                        </p:attrNameLst>
                                      </p:cBhvr>
                                      <p:to>
                                        <p:strVal val="visible"/>
                                      </p:to>
                                    </p:set>
                                    <p:animEffect filter="fade" transition="in">
                                      <p:cBhvr>
                                        <p:cTn dur="1000"/>
                                        <p:tgtEl>
                                          <p:spTgt spid="5093"/>
                                        </p:tgtEl>
                                      </p:cBhvr>
                                    </p:animEffect>
                                  </p:childTnLst>
                                </p:cTn>
                              </p:par>
                              <p:par>
                                <p:cTn fill="hold" nodeType="withEffect" presetClass="entr" presetID="10" presetSubtype="0">
                                  <p:stCondLst>
                                    <p:cond delay="0"/>
                                  </p:stCondLst>
                                  <p:childTnLst>
                                    <p:set>
                                      <p:cBhvr>
                                        <p:cTn dur="1" fill="hold">
                                          <p:stCondLst>
                                            <p:cond delay="0"/>
                                          </p:stCondLst>
                                        </p:cTn>
                                        <p:tgtEl>
                                          <p:spTgt spid="5169"/>
                                        </p:tgtEl>
                                        <p:attrNameLst>
                                          <p:attrName>style.visibility</p:attrName>
                                        </p:attrNameLst>
                                      </p:cBhvr>
                                      <p:to>
                                        <p:strVal val="visible"/>
                                      </p:to>
                                    </p:set>
                                    <p:animEffect filter="fade" transition="in">
                                      <p:cBhvr>
                                        <p:cTn dur="1000"/>
                                        <p:tgtEl>
                                          <p:spTgt spid="5169"/>
                                        </p:tgtEl>
                                      </p:cBhvr>
                                    </p:animEffect>
                                  </p:childTnLst>
                                </p:cTn>
                              </p:par>
                              <p:par>
                                <p:cTn fill="hold" nodeType="withEffect" presetClass="entr" presetID="10" presetSubtype="0">
                                  <p:stCondLst>
                                    <p:cond delay="0"/>
                                  </p:stCondLst>
                                  <p:childTnLst>
                                    <p:set>
                                      <p:cBhvr>
                                        <p:cTn dur="1" fill="hold">
                                          <p:stCondLst>
                                            <p:cond delay="0"/>
                                          </p:stCondLst>
                                        </p:cTn>
                                        <p:tgtEl>
                                          <p:spTgt spid="5096"/>
                                        </p:tgtEl>
                                        <p:attrNameLst>
                                          <p:attrName>style.visibility</p:attrName>
                                        </p:attrNameLst>
                                      </p:cBhvr>
                                      <p:to>
                                        <p:strVal val="visible"/>
                                      </p:to>
                                    </p:set>
                                    <p:animEffect filter="fade" transition="in">
                                      <p:cBhvr>
                                        <p:cTn dur="1000"/>
                                        <p:tgtEl>
                                          <p:spTgt spid="5096"/>
                                        </p:tgtEl>
                                      </p:cBhvr>
                                    </p:animEffect>
                                  </p:childTnLst>
                                </p:cTn>
                              </p:par>
                              <p:par>
                                <p:cTn fill="hold" nodeType="withEffect" presetClass="entr" presetID="10" presetSubtype="0">
                                  <p:stCondLst>
                                    <p:cond delay="0"/>
                                  </p:stCondLst>
                                  <p:childTnLst>
                                    <p:set>
                                      <p:cBhvr>
                                        <p:cTn dur="1" fill="hold">
                                          <p:stCondLst>
                                            <p:cond delay="0"/>
                                          </p:stCondLst>
                                        </p:cTn>
                                        <p:tgtEl>
                                          <p:spTgt spid="5168"/>
                                        </p:tgtEl>
                                        <p:attrNameLst>
                                          <p:attrName>style.visibility</p:attrName>
                                        </p:attrNameLst>
                                      </p:cBhvr>
                                      <p:to>
                                        <p:strVal val="visible"/>
                                      </p:to>
                                    </p:set>
                                    <p:animEffect filter="fade" transition="in">
                                      <p:cBhvr>
                                        <p:cTn dur="1000"/>
                                        <p:tgtEl>
                                          <p:spTgt spid="5168"/>
                                        </p:tgtEl>
                                      </p:cBhvr>
                                    </p:animEffect>
                                  </p:childTnLst>
                                </p:cTn>
                              </p:par>
                              <p:par>
                                <p:cTn fill="hold" nodeType="withEffect" presetClass="entr" presetID="10" presetSubtype="0">
                                  <p:stCondLst>
                                    <p:cond delay="0"/>
                                  </p:stCondLst>
                                  <p:childTnLst>
                                    <p:set>
                                      <p:cBhvr>
                                        <p:cTn dur="1" fill="hold">
                                          <p:stCondLst>
                                            <p:cond delay="0"/>
                                          </p:stCondLst>
                                        </p:cTn>
                                        <p:tgtEl>
                                          <p:spTgt spid="5095"/>
                                        </p:tgtEl>
                                        <p:attrNameLst>
                                          <p:attrName>style.visibility</p:attrName>
                                        </p:attrNameLst>
                                      </p:cBhvr>
                                      <p:to>
                                        <p:strVal val="visible"/>
                                      </p:to>
                                    </p:set>
                                    <p:animEffect filter="fade" transition="in">
                                      <p:cBhvr>
                                        <p:cTn dur="1000"/>
                                        <p:tgtEl>
                                          <p:spTgt spid="5095"/>
                                        </p:tgtEl>
                                      </p:cBhvr>
                                    </p:animEffect>
                                  </p:childTnLst>
                                </p:cTn>
                              </p:par>
                              <p:par>
                                <p:cTn fill="hold" nodeType="withEffect" presetClass="entr" presetID="10" presetSubtype="0">
                                  <p:stCondLst>
                                    <p:cond delay="0"/>
                                  </p:stCondLst>
                                  <p:childTnLst>
                                    <p:set>
                                      <p:cBhvr>
                                        <p:cTn dur="1" fill="hold">
                                          <p:stCondLst>
                                            <p:cond delay="0"/>
                                          </p:stCondLst>
                                        </p:cTn>
                                        <p:tgtEl>
                                          <p:spTgt spid="5175"/>
                                        </p:tgtEl>
                                        <p:attrNameLst>
                                          <p:attrName>style.visibility</p:attrName>
                                        </p:attrNameLst>
                                      </p:cBhvr>
                                      <p:to>
                                        <p:strVal val="visible"/>
                                      </p:to>
                                    </p:set>
                                    <p:animEffect filter="fade" transition="in">
                                      <p:cBhvr>
                                        <p:cTn dur="1000"/>
                                        <p:tgtEl>
                                          <p:spTgt spid="5175"/>
                                        </p:tgtEl>
                                      </p:cBhvr>
                                    </p:animEffect>
                                  </p:childTnLst>
                                </p:cTn>
                              </p:par>
                              <p:par>
                                <p:cTn fill="hold" nodeType="withEffect" presetClass="entr" presetID="10" presetSubtype="0">
                                  <p:stCondLst>
                                    <p:cond delay="0"/>
                                  </p:stCondLst>
                                  <p:childTnLst>
                                    <p:set>
                                      <p:cBhvr>
                                        <p:cTn dur="1" fill="hold">
                                          <p:stCondLst>
                                            <p:cond delay="0"/>
                                          </p:stCondLst>
                                        </p:cTn>
                                        <p:tgtEl>
                                          <p:spTgt spid="5098"/>
                                        </p:tgtEl>
                                        <p:attrNameLst>
                                          <p:attrName>style.visibility</p:attrName>
                                        </p:attrNameLst>
                                      </p:cBhvr>
                                      <p:to>
                                        <p:strVal val="visible"/>
                                      </p:to>
                                    </p:set>
                                    <p:animEffect filter="fade" transition="in">
                                      <p:cBhvr>
                                        <p:cTn dur="1000"/>
                                        <p:tgtEl>
                                          <p:spTgt spid="5098"/>
                                        </p:tgtEl>
                                      </p:cBhvr>
                                    </p:animEffect>
                                  </p:childTnLst>
                                </p:cTn>
                              </p:par>
                              <p:par>
                                <p:cTn fill="hold" nodeType="withEffect" presetClass="entr" presetID="10" presetSubtype="0">
                                  <p:stCondLst>
                                    <p:cond delay="0"/>
                                  </p:stCondLst>
                                  <p:childTnLst>
                                    <p:set>
                                      <p:cBhvr>
                                        <p:cTn dur="1" fill="hold">
                                          <p:stCondLst>
                                            <p:cond delay="0"/>
                                          </p:stCondLst>
                                        </p:cTn>
                                        <p:tgtEl>
                                          <p:spTgt spid="5174"/>
                                        </p:tgtEl>
                                        <p:attrNameLst>
                                          <p:attrName>style.visibility</p:attrName>
                                        </p:attrNameLst>
                                      </p:cBhvr>
                                      <p:to>
                                        <p:strVal val="visible"/>
                                      </p:to>
                                    </p:set>
                                    <p:animEffect filter="fade" transition="in">
                                      <p:cBhvr>
                                        <p:cTn dur="1000"/>
                                        <p:tgtEl>
                                          <p:spTgt spid="5174"/>
                                        </p:tgtEl>
                                      </p:cBhvr>
                                    </p:animEffect>
                                  </p:childTnLst>
                                </p:cTn>
                              </p:par>
                              <p:par>
                                <p:cTn fill="hold" nodeType="withEffect" presetClass="entr" presetID="10" presetSubtype="0">
                                  <p:stCondLst>
                                    <p:cond delay="0"/>
                                  </p:stCondLst>
                                  <p:childTnLst>
                                    <p:set>
                                      <p:cBhvr>
                                        <p:cTn dur="1" fill="hold">
                                          <p:stCondLst>
                                            <p:cond delay="0"/>
                                          </p:stCondLst>
                                        </p:cTn>
                                        <p:tgtEl>
                                          <p:spTgt spid="5100"/>
                                        </p:tgtEl>
                                        <p:attrNameLst>
                                          <p:attrName>style.visibility</p:attrName>
                                        </p:attrNameLst>
                                      </p:cBhvr>
                                      <p:to>
                                        <p:strVal val="visible"/>
                                      </p:to>
                                    </p:set>
                                    <p:animEffect filter="fade" transition="in">
                                      <p:cBhvr>
                                        <p:cTn dur="1000"/>
                                        <p:tgtEl>
                                          <p:spTgt spid="5100"/>
                                        </p:tgtEl>
                                      </p:cBhvr>
                                    </p:animEffect>
                                  </p:childTnLst>
                                </p:cTn>
                              </p:par>
                              <p:par>
                                <p:cTn fill="hold" nodeType="withEffect" presetClass="entr" presetID="10" presetSubtype="0">
                                  <p:stCondLst>
                                    <p:cond delay="0"/>
                                  </p:stCondLst>
                                  <p:childTnLst>
                                    <p:set>
                                      <p:cBhvr>
                                        <p:cTn dur="1" fill="hold">
                                          <p:stCondLst>
                                            <p:cond delay="0"/>
                                          </p:stCondLst>
                                        </p:cTn>
                                        <p:tgtEl>
                                          <p:spTgt spid="5097"/>
                                        </p:tgtEl>
                                        <p:attrNameLst>
                                          <p:attrName>style.visibility</p:attrName>
                                        </p:attrNameLst>
                                      </p:cBhvr>
                                      <p:to>
                                        <p:strVal val="visible"/>
                                      </p:to>
                                    </p:set>
                                    <p:animEffect filter="fade" transition="in">
                                      <p:cBhvr>
                                        <p:cTn dur="1000"/>
                                        <p:tgtEl>
                                          <p:spTgt spid="5097"/>
                                        </p:tgtEl>
                                      </p:cBhvr>
                                    </p:animEffect>
                                  </p:childTnLst>
                                </p:cTn>
                              </p:par>
                              <p:par>
                                <p:cTn fill="hold" nodeType="withEffect" presetClass="entr" presetID="10" presetSubtype="0">
                                  <p:stCondLst>
                                    <p:cond delay="0"/>
                                  </p:stCondLst>
                                  <p:childTnLst>
                                    <p:set>
                                      <p:cBhvr>
                                        <p:cTn dur="1" fill="hold">
                                          <p:stCondLst>
                                            <p:cond delay="0"/>
                                          </p:stCondLst>
                                        </p:cTn>
                                        <p:tgtEl>
                                          <p:spTgt spid="5167"/>
                                        </p:tgtEl>
                                        <p:attrNameLst>
                                          <p:attrName>style.visibility</p:attrName>
                                        </p:attrNameLst>
                                      </p:cBhvr>
                                      <p:to>
                                        <p:strVal val="visible"/>
                                      </p:to>
                                    </p:set>
                                    <p:animEffect filter="fade" transition="in">
                                      <p:cBhvr>
                                        <p:cTn dur="1000"/>
                                        <p:tgtEl>
                                          <p:spTgt spid="5167"/>
                                        </p:tgtEl>
                                      </p:cBhvr>
                                    </p:animEffect>
                                  </p:childTnLst>
                                </p:cTn>
                              </p:par>
                              <p:par>
                                <p:cTn fill="hold" nodeType="withEffect" presetClass="entr" presetID="10" presetSubtype="0">
                                  <p:stCondLst>
                                    <p:cond delay="0"/>
                                  </p:stCondLst>
                                  <p:childTnLst>
                                    <p:set>
                                      <p:cBhvr>
                                        <p:cTn dur="1" fill="hold">
                                          <p:stCondLst>
                                            <p:cond delay="0"/>
                                          </p:stCondLst>
                                        </p:cTn>
                                        <p:tgtEl>
                                          <p:spTgt spid="5166"/>
                                        </p:tgtEl>
                                        <p:attrNameLst>
                                          <p:attrName>style.visibility</p:attrName>
                                        </p:attrNameLst>
                                      </p:cBhvr>
                                      <p:to>
                                        <p:strVal val="visible"/>
                                      </p:to>
                                    </p:set>
                                    <p:animEffect filter="fade" transition="in">
                                      <p:cBhvr>
                                        <p:cTn dur="1000"/>
                                        <p:tgtEl>
                                          <p:spTgt spid="5166"/>
                                        </p:tgtEl>
                                      </p:cBhvr>
                                    </p:animEffect>
                                  </p:childTnLst>
                                </p:cTn>
                              </p:par>
                              <p:par>
                                <p:cTn fill="hold" nodeType="withEffect" presetClass="entr" presetID="10" presetSubtype="0">
                                  <p:stCondLst>
                                    <p:cond delay="0"/>
                                  </p:stCondLst>
                                  <p:childTnLst>
                                    <p:set>
                                      <p:cBhvr>
                                        <p:cTn dur="1" fill="hold">
                                          <p:stCondLst>
                                            <p:cond delay="0"/>
                                          </p:stCondLst>
                                        </p:cTn>
                                        <p:tgtEl>
                                          <p:spTgt spid="5099"/>
                                        </p:tgtEl>
                                        <p:attrNameLst>
                                          <p:attrName>style.visibility</p:attrName>
                                        </p:attrNameLst>
                                      </p:cBhvr>
                                      <p:to>
                                        <p:strVal val="visible"/>
                                      </p:to>
                                    </p:set>
                                    <p:animEffect filter="fade" transition="in">
                                      <p:cBhvr>
                                        <p:cTn dur="1000"/>
                                        <p:tgtEl>
                                          <p:spTgt spid="5099"/>
                                        </p:tgtEl>
                                      </p:cBhvr>
                                    </p:animEffect>
                                  </p:childTnLst>
                                </p:cTn>
                              </p:par>
                              <p:par>
                                <p:cTn fill="hold" nodeType="withEffect" presetClass="entr" presetID="10" presetSubtype="0">
                                  <p:stCondLst>
                                    <p:cond delay="0"/>
                                  </p:stCondLst>
                                  <p:childTnLst>
                                    <p:set>
                                      <p:cBhvr>
                                        <p:cTn dur="1" fill="hold">
                                          <p:stCondLst>
                                            <p:cond delay="0"/>
                                          </p:stCondLst>
                                        </p:cTn>
                                        <p:tgtEl>
                                          <p:spTgt spid="5103"/>
                                        </p:tgtEl>
                                        <p:attrNameLst>
                                          <p:attrName>style.visibility</p:attrName>
                                        </p:attrNameLst>
                                      </p:cBhvr>
                                      <p:to>
                                        <p:strVal val="visible"/>
                                      </p:to>
                                    </p:set>
                                    <p:animEffect filter="fade" transition="in">
                                      <p:cBhvr>
                                        <p:cTn dur="1000"/>
                                        <p:tgtEl>
                                          <p:spTgt spid="5103"/>
                                        </p:tgtEl>
                                      </p:cBhvr>
                                    </p:animEffect>
                                  </p:childTnLst>
                                </p:cTn>
                              </p:par>
                              <p:par>
                                <p:cTn fill="hold" nodeType="withEffect" presetClass="entr" presetID="10" presetSubtype="0">
                                  <p:stCondLst>
                                    <p:cond delay="0"/>
                                  </p:stCondLst>
                                  <p:childTnLst>
                                    <p:set>
                                      <p:cBhvr>
                                        <p:cTn dur="1" fill="hold">
                                          <p:stCondLst>
                                            <p:cond delay="0"/>
                                          </p:stCondLst>
                                        </p:cTn>
                                        <p:tgtEl>
                                          <p:spTgt spid="5102"/>
                                        </p:tgtEl>
                                        <p:attrNameLst>
                                          <p:attrName>style.visibility</p:attrName>
                                        </p:attrNameLst>
                                      </p:cBhvr>
                                      <p:to>
                                        <p:strVal val="visible"/>
                                      </p:to>
                                    </p:set>
                                    <p:animEffect filter="fade" transition="in">
                                      <p:cBhvr>
                                        <p:cTn dur="1000"/>
                                        <p:tgtEl>
                                          <p:spTgt spid="5102"/>
                                        </p:tgtEl>
                                      </p:cBhvr>
                                    </p:animEffect>
                                  </p:childTnLst>
                                </p:cTn>
                              </p:par>
                              <p:par>
                                <p:cTn fill="hold" nodeType="withEffect" presetClass="entr" presetID="10" presetSubtype="0">
                                  <p:stCondLst>
                                    <p:cond delay="0"/>
                                  </p:stCondLst>
                                  <p:childTnLst>
                                    <p:set>
                                      <p:cBhvr>
                                        <p:cTn dur="1" fill="hold">
                                          <p:stCondLst>
                                            <p:cond delay="0"/>
                                          </p:stCondLst>
                                        </p:cTn>
                                        <p:tgtEl>
                                          <p:spTgt spid="5101"/>
                                        </p:tgtEl>
                                        <p:attrNameLst>
                                          <p:attrName>style.visibility</p:attrName>
                                        </p:attrNameLst>
                                      </p:cBhvr>
                                      <p:to>
                                        <p:strVal val="visible"/>
                                      </p:to>
                                    </p:set>
                                    <p:animEffect filter="fade" transition="in">
                                      <p:cBhvr>
                                        <p:cTn dur="1000"/>
                                        <p:tgtEl>
                                          <p:spTgt spid="5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0" name="Shape 5180"/>
        <p:cNvGrpSpPr/>
        <p:nvPr/>
      </p:nvGrpSpPr>
      <p:grpSpPr>
        <a:xfrm>
          <a:off x="0" y="0"/>
          <a:ext cx="0" cy="0"/>
          <a:chOff x="0" y="0"/>
          <a:chExt cx="0" cy="0"/>
        </a:xfrm>
      </p:grpSpPr>
      <p:sp>
        <p:nvSpPr>
          <p:cNvPr id="5181" name="Google Shape;5181;p72"/>
          <p:cNvSpPr txBox="1"/>
          <p:nvPr>
            <p:ph type="title"/>
          </p:nvPr>
        </p:nvSpPr>
        <p:spPr>
          <a:xfrm>
            <a:off x="826625" y="17402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8"/>
              </a:buClr>
              <a:buSzPts val="4400"/>
              <a:buFont typeface="Calibri"/>
              <a:buNone/>
            </a:pPr>
            <a:r>
              <a:rPr lang="en-US">
                <a:solidFill>
                  <a:srgbClr val="0000A8"/>
                </a:solidFill>
              </a:rPr>
              <a:t>Distance vector example: iteration</a:t>
            </a:r>
            <a:endParaRPr/>
          </a:p>
        </p:txBody>
      </p:sp>
      <p:sp>
        <p:nvSpPr>
          <p:cNvPr id="5182" name="Google Shape;5182;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5183" name="Google Shape;5183;p72"/>
          <p:cNvCxnSpPr>
            <a:stCxn id="5184" idx="2"/>
            <a:endCxn id="5184"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5185" name="Google Shape;5185;p72"/>
          <p:cNvCxnSpPr>
            <a:stCxn id="5184" idx="1"/>
            <a:endCxn id="5184"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5184" name="Google Shape;5184;p72"/>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5186" name="Google Shape;5186;p72"/>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5187" name="Google Shape;5187;p72"/>
          <p:cNvGrpSpPr/>
          <p:nvPr/>
        </p:nvGrpSpPr>
        <p:grpSpPr>
          <a:xfrm>
            <a:off x="4333785" y="5772213"/>
            <a:ext cx="4395351" cy="404576"/>
            <a:chOff x="4333785" y="5772213"/>
            <a:chExt cx="4395351" cy="404576"/>
          </a:xfrm>
        </p:grpSpPr>
        <p:grpSp>
          <p:nvGrpSpPr>
            <p:cNvPr id="5188" name="Google Shape;5188;p72"/>
            <p:cNvGrpSpPr/>
            <p:nvPr/>
          </p:nvGrpSpPr>
          <p:grpSpPr>
            <a:xfrm>
              <a:off x="4333785" y="5772213"/>
              <a:ext cx="531821" cy="369069"/>
              <a:chOff x="1348328" y="2475647"/>
              <a:chExt cx="603916" cy="419100"/>
            </a:xfrm>
          </p:grpSpPr>
          <p:grpSp>
            <p:nvGrpSpPr>
              <p:cNvPr id="5189" name="Google Shape;5189;p72"/>
              <p:cNvGrpSpPr/>
              <p:nvPr/>
            </p:nvGrpSpPr>
            <p:grpSpPr>
              <a:xfrm>
                <a:off x="1348328" y="2555748"/>
                <a:ext cx="603916" cy="308999"/>
                <a:chOff x="5278570" y="2983486"/>
                <a:chExt cx="501650" cy="233363"/>
              </a:xfrm>
            </p:grpSpPr>
            <p:sp>
              <p:nvSpPr>
                <p:cNvPr id="5190" name="Google Shape;5190;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191" name="Google Shape;5191;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192" name="Google Shape;5192;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193" name="Google Shape;5193;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194" name="Google Shape;5194;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195" name="Google Shape;5195;p72"/>
              <p:cNvGrpSpPr/>
              <p:nvPr/>
            </p:nvGrpSpPr>
            <p:grpSpPr>
              <a:xfrm>
                <a:off x="1456374" y="2475647"/>
                <a:ext cx="355165" cy="419100"/>
                <a:chOff x="2944" y="2405"/>
                <a:chExt cx="227" cy="264"/>
              </a:xfrm>
            </p:grpSpPr>
            <p:sp>
              <p:nvSpPr>
                <p:cNvPr id="5196" name="Google Shape;5196;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197" name="Google Shape;5197;p72"/>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5198" name="Google Shape;5198;p72"/>
            <p:cNvGrpSpPr/>
            <p:nvPr/>
          </p:nvGrpSpPr>
          <p:grpSpPr>
            <a:xfrm>
              <a:off x="6263949" y="5807720"/>
              <a:ext cx="531821" cy="369069"/>
              <a:chOff x="1348328" y="2507397"/>
              <a:chExt cx="603916" cy="419100"/>
            </a:xfrm>
          </p:grpSpPr>
          <p:grpSp>
            <p:nvGrpSpPr>
              <p:cNvPr id="5199" name="Google Shape;5199;p72"/>
              <p:cNvGrpSpPr/>
              <p:nvPr/>
            </p:nvGrpSpPr>
            <p:grpSpPr>
              <a:xfrm>
                <a:off x="1348328" y="2555748"/>
                <a:ext cx="603916" cy="308999"/>
                <a:chOff x="5278570" y="2983486"/>
                <a:chExt cx="501650" cy="233363"/>
              </a:xfrm>
            </p:grpSpPr>
            <p:sp>
              <p:nvSpPr>
                <p:cNvPr id="5200" name="Google Shape;5200;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201" name="Google Shape;5201;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202" name="Google Shape;5202;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203" name="Google Shape;5203;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204" name="Google Shape;5204;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205" name="Google Shape;5205;p72"/>
              <p:cNvGrpSpPr/>
              <p:nvPr/>
            </p:nvGrpSpPr>
            <p:grpSpPr>
              <a:xfrm>
                <a:off x="1456374" y="2507397"/>
                <a:ext cx="355165" cy="419100"/>
                <a:chOff x="2944" y="2425"/>
                <a:chExt cx="227" cy="264"/>
              </a:xfrm>
            </p:grpSpPr>
            <p:sp>
              <p:nvSpPr>
                <p:cNvPr id="5206" name="Google Shape;5206;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07" name="Google Shape;5207;p72"/>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5208" name="Google Shape;5208;p72"/>
            <p:cNvGrpSpPr/>
            <p:nvPr/>
          </p:nvGrpSpPr>
          <p:grpSpPr>
            <a:xfrm>
              <a:off x="8197315" y="5805271"/>
              <a:ext cx="531821" cy="369069"/>
              <a:chOff x="1348328" y="2507397"/>
              <a:chExt cx="603916" cy="419100"/>
            </a:xfrm>
          </p:grpSpPr>
          <p:grpSp>
            <p:nvGrpSpPr>
              <p:cNvPr id="5209" name="Google Shape;5209;p72"/>
              <p:cNvGrpSpPr/>
              <p:nvPr/>
            </p:nvGrpSpPr>
            <p:grpSpPr>
              <a:xfrm>
                <a:off x="1348328" y="2555748"/>
                <a:ext cx="603916" cy="308999"/>
                <a:chOff x="5278570" y="2983486"/>
                <a:chExt cx="501650" cy="233363"/>
              </a:xfrm>
            </p:grpSpPr>
            <p:sp>
              <p:nvSpPr>
                <p:cNvPr id="5210" name="Google Shape;5210;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211" name="Google Shape;5211;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212" name="Google Shape;5212;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213" name="Google Shape;5213;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214" name="Google Shape;5214;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215" name="Google Shape;5215;p72"/>
              <p:cNvGrpSpPr/>
              <p:nvPr/>
            </p:nvGrpSpPr>
            <p:grpSpPr>
              <a:xfrm>
                <a:off x="1500196" y="2507397"/>
                <a:ext cx="267548" cy="419100"/>
                <a:chOff x="2972" y="2425"/>
                <a:chExt cx="171" cy="264"/>
              </a:xfrm>
            </p:grpSpPr>
            <p:sp>
              <p:nvSpPr>
                <p:cNvPr id="5216" name="Google Shape;5216;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17" name="Google Shape;5217;p72"/>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5218" name="Google Shape;5218;p72"/>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19" name="Google Shape;5219;p72"/>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20" name="Google Shape;5220;p72"/>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21" name="Google Shape;5221;p72"/>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22" name="Google Shape;5222;p72"/>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23" name="Google Shape;5223;p72"/>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24" name="Google Shape;5224;p72"/>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25" name="Google Shape;5225;p72"/>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26" name="Google Shape;5226;p72"/>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227" name="Google Shape;5227;p72"/>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5228" name="Google Shape;5228;p72"/>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grpSp>
        <p:nvGrpSpPr>
          <p:cNvPr id="5229" name="Google Shape;5229;p72"/>
          <p:cNvGrpSpPr/>
          <p:nvPr/>
        </p:nvGrpSpPr>
        <p:grpSpPr>
          <a:xfrm>
            <a:off x="4336458" y="3833790"/>
            <a:ext cx="4395351" cy="404576"/>
            <a:chOff x="4333785" y="5772213"/>
            <a:chExt cx="4395351" cy="404576"/>
          </a:xfrm>
        </p:grpSpPr>
        <p:grpSp>
          <p:nvGrpSpPr>
            <p:cNvPr id="5230" name="Google Shape;5230;p72"/>
            <p:cNvGrpSpPr/>
            <p:nvPr/>
          </p:nvGrpSpPr>
          <p:grpSpPr>
            <a:xfrm>
              <a:off x="4333785" y="5772213"/>
              <a:ext cx="531821" cy="369069"/>
              <a:chOff x="1348328" y="2475647"/>
              <a:chExt cx="603916" cy="419100"/>
            </a:xfrm>
          </p:grpSpPr>
          <p:grpSp>
            <p:nvGrpSpPr>
              <p:cNvPr id="5231" name="Google Shape;5231;p72"/>
              <p:cNvGrpSpPr/>
              <p:nvPr/>
            </p:nvGrpSpPr>
            <p:grpSpPr>
              <a:xfrm>
                <a:off x="1348328" y="2555748"/>
                <a:ext cx="603916" cy="308999"/>
                <a:chOff x="5278570" y="2983486"/>
                <a:chExt cx="501650" cy="233363"/>
              </a:xfrm>
            </p:grpSpPr>
            <p:sp>
              <p:nvSpPr>
                <p:cNvPr id="5232" name="Google Shape;5232;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233" name="Google Shape;5233;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234" name="Google Shape;5234;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235" name="Google Shape;5235;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236" name="Google Shape;5236;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237" name="Google Shape;5237;p72"/>
              <p:cNvGrpSpPr/>
              <p:nvPr/>
            </p:nvGrpSpPr>
            <p:grpSpPr>
              <a:xfrm>
                <a:off x="1456374" y="2475647"/>
                <a:ext cx="355165" cy="419100"/>
                <a:chOff x="2944" y="2405"/>
                <a:chExt cx="227" cy="264"/>
              </a:xfrm>
            </p:grpSpPr>
            <p:sp>
              <p:nvSpPr>
                <p:cNvPr id="5238" name="Google Shape;5238;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39" name="Google Shape;5239;p72"/>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5240" name="Google Shape;5240;p72"/>
            <p:cNvGrpSpPr/>
            <p:nvPr/>
          </p:nvGrpSpPr>
          <p:grpSpPr>
            <a:xfrm>
              <a:off x="6263949" y="5807720"/>
              <a:ext cx="531821" cy="369069"/>
              <a:chOff x="1348328" y="2507397"/>
              <a:chExt cx="603916" cy="419100"/>
            </a:xfrm>
          </p:grpSpPr>
          <p:grpSp>
            <p:nvGrpSpPr>
              <p:cNvPr id="5241" name="Google Shape;5241;p72"/>
              <p:cNvGrpSpPr/>
              <p:nvPr/>
            </p:nvGrpSpPr>
            <p:grpSpPr>
              <a:xfrm>
                <a:off x="1348328" y="2555748"/>
                <a:ext cx="603916" cy="308999"/>
                <a:chOff x="5278570" y="2983486"/>
                <a:chExt cx="501650" cy="233363"/>
              </a:xfrm>
            </p:grpSpPr>
            <p:sp>
              <p:nvSpPr>
                <p:cNvPr id="5242" name="Google Shape;5242;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243" name="Google Shape;5243;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244" name="Google Shape;5244;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245" name="Google Shape;5245;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246" name="Google Shape;5246;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247" name="Google Shape;5247;p72"/>
              <p:cNvGrpSpPr/>
              <p:nvPr/>
            </p:nvGrpSpPr>
            <p:grpSpPr>
              <a:xfrm>
                <a:off x="1456374" y="2507397"/>
                <a:ext cx="355165" cy="419100"/>
                <a:chOff x="2944" y="2425"/>
                <a:chExt cx="227" cy="264"/>
              </a:xfrm>
            </p:grpSpPr>
            <p:sp>
              <p:nvSpPr>
                <p:cNvPr id="5248" name="Google Shape;5248;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49" name="Google Shape;5249;p72"/>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5250" name="Google Shape;5250;p72"/>
            <p:cNvGrpSpPr/>
            <p:nvPr/>
          </p:nvGrpSpPr>
          <p:grpSpPr>
            <a:xfrm>
              <a:off x="8197315" y="5805271"/>
              <a:ext cx="531821" cy="369069"/>
              <a:chOff x="1348328" y="2507397"/>
              <a:chExt cx="603916" cy="419100"/>
            </a:xfrm>
          </p:grpSpPr>
          <p:grpSp>
            <p:nvGrpSpPr>
              <p:cNvPr id="5251" name="Google Shape;5251;p72"/>
              <p:cNvGrpSpPr/>
              <p:nvPr/>
            </p:nvGrpSpPr>
            <p:grpSpPr>
              <a:xfrm>
                <a:off x="1348328" y="2555748"/>
                <a:ext cx="603916" cy="308999"/>
                <a:chOff x="5278570" y="2983486"/>
                <a:chExt cx="501650" cy="233363"/>
              </a:xfrm>
            </p:grpSpPr>
            <p:sp>
              <p:nvSpPr>
                <p:cNvPr id="5252" name="Google Shape;5252;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253" name="Google Shape;5253;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254" name="Google Shape;5254;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255" name="Google Shape;5255;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256" name="Google Shape;5256;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257" name="Google Shape;5257;p72"/>
              <p:cNvGrpSpPr/>
              <p:nvPr/>
            </p:nvGrpSpPr>
            <p:grpSpPr>
              <a:xfrm>
                <a:off x="1492372" y="2507397"/>
                <a:ext cx="283194" cy="419100"/>
                <a:chOff x="2967" y="2425"/>
                <a:chExt cx="181" cy="264"/>
              </a:xfrm>
            </p:grpSpPr>
            <p:sp>
              <p:nvSpPr>
                <p:cNvPr id="5258" name="Google Shape;5258;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59" name="Google Shape;5259;p72"/>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5260" name="Google Shape;5260;p72"/>
          <p:cNvGrpSpPr/>
          <p:nvPr/>
        </p:nvGrpSpPr>
        <p:grpSpPr>
          <a:xfrm>
            <a:off x="4333785" y="1906063"/>
            <a:ext cx="4395351" cy="404576"/>
            <a:chOff x="4333785" y="5772213"/>
            <a:chExt cx="4395351" cy="404576"/>
          </a:xfrm>
        </p:grpSpPr>
        <p:grpSp>
          <p:nvGrpSpPr>
            <p:cNvPr id="5261" name="Google Shape;5261;p72"/>
            <p:cNvGrpSpPr/>
            <p:nvPr/>
          </p:nvGrpSpPr>
          <p:grpSpPr>
            <a:xfrm>
              <a:off x="4333785" y="5772213"/>
              <a:ext cx="531821" cy="369069"/>
              <a:chOff x="1348328" y="2475647"/>
              <a:chExt cx="603916" cy="419100"/>
            </a:xfrm>
          </p:grpSpPr>
          <p:grpSp>
            <p:nvGrpSpPr>
              <p:cNvPr id="5262" name="Google Shape;5262;p72"/>
              <p:cNvGrpSpPr/>
              <p:nvPr/>
            </p:nvGrpSpPr>
            <p:grpSpPr>
              <a:xfrm>
                <a:off x="1348328" y="2555748"/>
                <a:ext cx="603916" cy="308999"/>
                <a:chOff x="5278570" y="2983486"/>
                <a:chExt cx="501650" cy="233363"/>
              </a:xfrm>
            </p:grpSpPr>
            <p:sp>
              <p:nvSpPr>
                <p:cNvPr id="5263" name="Google Shape;5263;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264" name="Google Shape;5264;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265" name="Google Shape;5265;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266" name="Google Shape;5266;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267" name="Google Shape;5267;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268" name="Google Shape;5268;p72"/>
              <p:cNvGrpSpPr/>
              <p:nvPr/>
            </p:nvGrpSpPr>
            <p:grpSpPr>
              <a:xfrm>
                <a:off x="1456374" y="2475647"/>
                <a:ext cx="355165" cy="419100"/>
                <a:chOff x="2944" y="2405"/>
                <a:chExt cx="227" cy="264"/>
              </a:xfrm>
            </p:grpSpPr>
            <p:sp>
              <p:nvSpPr>
                <p:cNvPr id="5269" name="Google Shape;5269;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70" name="Google Shape;5270;p72"/>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5271" name="Google Shape;5271;p72"/>
            <p:cNvGrpSpPr/>
            <p:nvPr/>
          </p:nvGrpSpPr>
          <p:grpSpPr>
            <a:xfrm>
              <a:off x="6263949" y="5807720"/>
              <a:ext cx="531821" cy="369069"/>
              <a:chOff x="1348328" y="2507397"/>
              <a:chExt cx="603916" cy="419100"/>
            </a:xfrm>
          </p:grpSpPr>
          <p:grpSp>
            <p:nvGrpSpPr>
              <p:cNvPr id="5272" name="Google Shape;5272;p72"/>
              <p:cNvGrpSpPr/>
              <p:nvPr/>
            </p:nvGrpSpPr>
            <p:grpSpPr>
              <a:xfrm>
                <a:off x="1348328" y="2555748"/>
                <a:ext cx="603916" cy="308999"/>
                <a:chOff x="5278570" y="2983486"/>
                <a:chExt cx="501650" cy="233363"/>
              </a:xfrm>
            </p:grpSpPr>
            <p:sp>
              <p:nvSpPr>
                <p:cNvPr id="5273" name="Google Shape;5273;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274" name="Google Shape;5274;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275" name="Google Shape;5275;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276" name="Google Shape;5276;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277" name="Google Shape;5277;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278" name="Google Shape;5278;p72"/>
              <p:cNvGrpSpPr/>
              <p:nvPr/>
            </p:nvGrpSpPr>
            <p:grpSpPr>
              <a:xfrm>
                <a:off x="1456374" y="2507397"/>
                <a:ext cx="355165" cy="419100"/>
                <a:chOff x="2944" y="2425"/>
                <a:chExt cx="227" cy="264"/>
              </a:xfrm>
            </p:grpSpPr>
            <p:sp>
              <p:nvSpPr>
                <p:cNvPr id="5279" name="Google Shape;5279;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80" name="Google Shape;5280;p72"/>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5281" name="Google Shape;5281;p72"/>
            <p:cNvGrpSpPr/>
            <p:nvPr/>
          </p:nvGrpSpPr>
          <p:grpSpPr>
            <a:xfrm>
              <a:off x="8197315" y="5805271"/>
              <a:ext cx="531821" cy="369069"/>
              <a:chOff x="1348328" y="2507397"/>
              <a:chExt cx="603916" cy="419100"/>
            </a:xfrm>
          </p:grpSpPr>
          <p:grpSp>
            <p:nvGrpSpPr>
              <p:cNvPr id="5282" name="Google Shape;5282;p72"/>
              <p:cNvGrpSpPr/>
              <p:nvPr/>
            </p:nvGrpSpPr>
            <p:grpSpPr>
              <a:xfrm>
                <a:off x="1348328" y="2555748"/>
                <a:ext cx="603916" cy="308999"/>
                <a:chOff x="5278570" y="2983486"/>
                <a:chExt cx="501650" cy="233363"/>
              </a:xfrm>
            </p:grpSpPr>
            <p:sp>
              <p:nvSpPr>
                <p:cNvPr id="5283" name="Google Shape;5283;p7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284" name="Google Shape;5284;p7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285" name="Google Shape;5285;p7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286" name="Google Shape;5286;p7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287" name="Google Shape;5287;p7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288" name="Google Shape;5288;p72"/>
              <p:cNvGrpSpPr/>
              <p:nvPr/>
            </p:nvGrpSpPr>
            <p:grpSpPr>
              <a:xfrm>
                <a:off x="1464202" y="2507397"/>
                <a:ext cx="341084" cy="419100"/>
                <a:chOff x="2949" y="2425"/>
                <a:chExt cx="218" cy="264"/>
              </a:xfrm>
            </p:grpSpPr>
            <p:sp>
              <p:nvSpPr>
                <p:cNvPr id="5289" name="Google Shape;5289;p7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90" name="Google Shape;5290;p72"/>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sp>
        <p:nvSpPr>
          <p:cNvPr id="5291" name="Google Shape;5291;p72"/>
          <p:cNvSpPr txBox="1"/>
          <p:nvPr/>
        </p:nvSpPr>
        <p:spPr>
          <a:xfrm flipH="1">
            <a:off x="476445" y="3078991"/>
            <a:ext cx="2195814" cy="258532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rgbClr val="000000"/>
                </a:solidFill>
                <a:latin typeface="Calibri"/>
                <a:ea typeface="Calibri"/>
                <a:cs typeface="Calibri"/>
                <a:sym typeface="Calibri"/>
              </a:rPr>
              <a:t>All nodes:</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receive distance vectors from neighbors</a:t>
            </a:r>
            <a:endParaRPr/>
          </a:p>
          <a:p>
            <a:pPr indent="-174625" lvl="0" marL="174625"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compute their new local  distance vector</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send their new local distance vector to neighbors</a:t>
            </a:r>
            <a:endParaRPr/>
          </a:p>
        </p:txBody>
      </p:sp>
      <p:grpSp>
        <p:nvGrpSpPr>
          <p:cNvPr id="5292" name="Google Shape;5292;p72"/>
          <p:cNvGrpSpPr/>
          <p:nvPr/>
        </p:nvGrpSpPr>
        <p:grpSpPr>
          <a:xfrm>
            <a:off x="584365" y="1859143"/>
            <a:ext cx="736099" cy="1229581"/>
            <a:chOff x="10030307" y="3444875"/>
            <a:chExt cx="736099" cy="1229581"/>
          </a:xfrm>
        </p:grpSpPr>
        <p:sp>
          <p:nvSpPr>
            <p:cNvPr id="5293" name="Google Shape;5293;p72"/>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t=1</a:t>
              </a:r>
              <a:endParaRPr/>
            </a:p>
          </p:txBody>
        </p:sp>
        <p:grpSp>
          <p:nvGrpSpPr>
            <p:cNvPr id="5294" name="Google Shape;5294;p72"/>
            <p:cNvGrpSpPr/>
            <p:nvPr/>
          </p:nvGrpSpPr>
          <p:grpSpPr>
            <a:xfrm>
              <a:off x="10034588" y="3444875"/>
              <a:ext cx="682627" cy="682625"/>
              <a:chOff x="10034589" y="3444875"/>
              <a:chExt cx="682627" cy="682625"/>
            </a:xfrm>
          </p:grpSpPr>
          <p:sp>
            <p:nvSpPr>
              <p:cNvPr id="5295" name="Google Shape;5295;p72"/>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296" name="Google Shape;5296;p72"/>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297" name="Google Shape;5297;p72"/>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298" name="Google Shape;5298;p72"/>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299" name="Google Shape;5299;p72"/>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300" name="Google Shape;5300;p72"/>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301" name="Google Shape;5301;p72"/>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302" name="Google Shape;5302;p72"/>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303" name="Google Shape;5303;p72"/>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304" name="Google Shape;5304;p72"/>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305" name="Google Shape;5305;p72"/>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306" name="Google Shape;5306;p72"/>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307" name="Google Shape;5307;p72"/>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5308" name="Google Shape;5308;p72"/>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nvGrpSpPr>
          <p:cNvPr id="5309" name="Google Shape;5309;p72"/>
          <p:cNvGrpSpPr/>
          <p:nvPr/>
        </p:nvGrpSpPr>
        <p:grpSpPr>
          <a:xfrm>
            <a:off x="3972233" y="1627242"/>
            <a:ext cx="5089626" cy="4955455"/>
            <a:chOff x="3982064" y="1612491"/>
            <a:chExt cx="5089626" cy="4955455"/>
          </a:xfrm>
        </p:grpSpPr>
        <p:grpSp>
          <p:nvGrpSpPr>
            <p:cNvPr id="5310" name="Google Shape;5310;p72"/>
            <p:cNvGrpSpPr/>
            <p:nvPr/>
          </p:nvGrpSpPr>
          <p:grpSpPr>
            <a:xfrm>
              <a:off x="4011560" y="1641985"/>
              <a:ext cx="1196054" cy="1022555"/>
              <a:chOff x="9655277" y="2349909"/>
              <a:chExt cx="1196054" cy="1022555"/>
            </a:xfrm>
          </p:grpSpPr>
          <p:sp>
            <p:nvSpPr>
              <p:cNvPr id="5311" name="Google Shape;5311;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12" name="Google Shape;5312;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313" name="Google Shape;5313;p72"/>
            <p:cNvGrpSpPr/>
            <p:nvPr/>
          </p:nvGrpSpPr>
          <p:grpSpPr>
            <a:xfrm>
              <a:off x="5943598" y="1627238"/>
              <a:ext cx="1196054" cy="1022555"/>
              <a:chOff x="9655277" y="2349909"/>
              <a:chExt cx="1196054" cy="1022555"/>
            </a:xfrm>
          </p:grpSpPr>
          <p:sp>
            <p:nvSpPr>
              <p:cNvPr id="5314" name="Google Shape;5314;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15" name="Google Shape;5315;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316" name="Google Shape;5316;p72"/>
            <p:cNvGrpSpPr/>
            <p:nvPr/>
          </p:nvGrpSpPr>
          <p:grpSpPr>
            <a:xfrm>
              <a:off x="7875636" y="1612491"/>
              <a:ext cx="1196054" cy="1022555"/>
              <a:chOff x="9655277" y="2349909"/>
              <a:chExt cx="1196054" cy="1022555"/>
            </a:xfrm>
          </p:grpSpPr>
          <p:sp>
            <p:nvSpPr>
              <p:cNvPr id="5317" name="Google Shape;5317;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18" name="Google Shape;5318;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319" name="Google Shape;5319;p72"/>
            <p:cNvGrpSpPr/>
            <p:nvPr/>
          </p:nvGrpSpPr>
          <p:grpSpPr>
            <a:xfrm>
              <a:off x="3996812" y="3593688"/>
              <a:ext cx="1196054" cy="1022555"/>
              <a:chOff x="9655277" y="2349909"/>
              <a:chExt cx="1196054" cy="1022555"/>
            </a:xfrm>
          </p:grpSpPr>
          <p:sp>
            <p:nvSpPr>
              <p:cNvPr id="5320" name="Google Shape;5320;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21" name="Google Shape;5321;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322" name="Google Shape;5322;p72"/>
            <p:cNvGrpSpPr/>
            <p:nvPr/>
          </p:nvGrpSpPr>
          <p:grpSpPr>
            <a:xfrm>
              <a:off x="5928850" y="3578941"/>
              <a:ext cx="1196054" cy="1022555"/>
              <a:chOff x="9655277" y="2349909"/>
              <a:chExt cx="1196054" cy="1022555"/>
            </a:xfrm>
          </p:grpSpPr>
          <p:sp>
            <p:nvSpPr>
              <p:cNvPr id="5323" name="Google Shape;5323;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24" name="Google Shape;5324;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325" name="Google Shape;5325;p72"/>
            <p:cNvGrpSpPr/>
            <p:nvPr/>
          </p:nvGrpSpPr>
          <p:grpSpPr>
            <a:xfrm>
              <a:off x="7860888" y="3564194"/>
              <a:ext cx="1196054" cy="1022555"/>
              <a:chOff x="9655277" y="2349909"/>
              <a:chExt cx="1196054" cy="1022555"/>
            </a:xfrm>
          </p:grpSpPr>
          <p:sp>
            <p:nvSpPr>
              <p:cNvPr id="5326" name="Google Shape;5326;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27" name="Google Shape;5327;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328" name="Google Shape;5328;p72"/>
            <p:cNvGrpSpPr/>
            <p:nvPr/>
          </p:nvGrpSpPr>
          <p:grpSpPr>
            <a:xfrm>
              <a:off x="3982064" y="5545391"/>
              <a:ext cx="1196054" cy="1022555"/>
              <a:chOff x="9655277" y="2349909"/>
              <a:chExt cx="1196054" cy="1022555"/>
            </a:xfrm>
          </p:grpSpPr>
          <p:sp>
            <p:nvSpPr>
              <p:cNvPr id="5329" name="Google Shape;5329;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30" name="Google Shape;5330;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331" name="Google Shape;5331;p72"/>
            <p:cNvGrpSpPr/>
            <p:nvPr/>
          </p:nvGrpSpPr>
          <p:grpSpPr>
            <a:xfrm>
              <a:off x="5914102" y="5530644"/>
              <a:ext cx="1196054" cy="1022555"/>
              <a:chOff x="9655277" y="2349909"/>
              <a:chExt cx="1196054" cy="1022555"/>
            </a:xfrm>
          </p:grpSpPr>
          <p:sp>
            <p:nvSpPr>
              <p:cNvPr id="5332" name="Google Shape;5332;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33" name="Google Shape;5333;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334" name="Google Shape;5334;p72"/>
            <p:cNvGrpSpPr/>
            <p:nvPr/>
          </p:nvGrpSpPr>
          <p:grpSpPr>
            <a:xfrm>
              <a:off x="7846140" y="5515897"/>
              <a:ext cx="1196054" cy="1022555"/>
              <a:chOff x="9655277" y="2349909"/>
              <a:chExt cx="1196054" cy="1022555"/>
            </a:xfrm>
          </p:grpSpPr>
          <p:sp>
            <p:nvSpPr>
              <p:cNvPr id="5335" name="Google Shape;5335;p7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36" name="Google Shape;5336;p7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cxnSp>
        <p:nvCxnSpPr>
          <p:cNvPr id="5337" name="Google Shape;5337;p72"/>
          <p:cNvCxnSpPr/>
          <p:nvPr/>
        </p:nvCxnSpPr>
        <p:spPr>
          <a:xfrm flipH="1">
            <a:off x="901961" y="1975104"/>
            <a:ext cx="151428" cy="257429"/>
          </a:xfrm>
          <a:prstGeom prst="straightConnector1">
            <a:avLst/>
          </a:prstGeom>
          <a:noFill/>
          <a:ln cap="flat" cmpd="sng" w="25400">
            <a:solidFill>
              <a:srgbClr val="C00000"/>
            </a:solidFill>
            <a:prstDash val="solid"/>
            <a:miter lim="8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09"/>
                                        </p:tgtEl>
                                        <p:attrNameLst>
                                          <p:attrName>style.visibility</p:attrName>
                                        </p:attrNameLst>
                                      </p:cBhvr>
                                      <p:to>
                                        <p:strVal val="visible"/>
                                      </p:to>
                                    </p:set>
                                    <p:animEffect filter="fade" transition="in">
                                      <p:cBhvr>
                                        <p:cTn dur="500"/>
                                        <p:tgtEl>
                                          <p:spTgt spid="5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2" name="Shape 5342"/>
        <p:cNvGrpSpPr/>
        <p:nvPr/>
      </p:nvGrpSpPr>
      <p:grpSpPr>
        <a:xfrm>
          <a:off x="0" y="0"/>
          <a:ext cx="0" cy="0"/>
          <a:chOff x="0" y="0"/>
          <a:chExt cx="0" cy="0"/>
        </a:xfrm>
      </p:grpSpPr>
      <p:sp>
        <p:nvSpPr>
          <p:cNvPr id="5343" name="Google Shape;5343;p73"/>
          <p:cNvSpPr txBox="1"/>
          <p:nvPr>
            <p:ph type="title"/>
          </p:nvPr>
        </p:nvSpPr>
        <p:spPr>
          <a:xfrm>
            <a:off x="826625" y="17402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 </a:t>
            </a:r>
            <a:r>
              <a:rPr lang="en-US">
                <a:solidFill>
                  <a:srgbClr val="0000A8"/>
                </a:solidFill>
              </a:rPr>
              <a:t>iteration</a:t>
            </a:r>
            <a:endParaRPr/>
          </a:p>
        </p:txBody>
      </p:sp>
      <p:sp>
        <p:nvSpPr>
          <p:cNvPr id="5344" name="Google Shape;5344;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5345" name="Google Shape;5345;p73"/>
          <p:cNvCxnSpPr>
            <a:stCxn id="5346" idx="2"/>
            <a:endCxn id="5346"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5347" name="Google Shape;5347;p73"/>
          <p:cNvCxnSpPr>
            <a:stCxn id="5346" idx="1"/>
            <a:endCxn id="5346"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5346" name="Google Shape;5346;p73"/>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5348" name="Google Shape;5348;p73"/>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5349" name="Google Shape;5349;p73"/>
          <p:cNvGrpSpPr/>
          <p:nvPr/>
        </p:nvGrpSpPr>
        <p:grpSpPr>
          <a:xfrm>
            <a:off x="4333785" y="5772213"/>
            <a:ext cx="4395351" cy="404576"/>
            <a:chOff x="4333785" y="5772213"/>
            <a:chExt cx="4395351" cy="404576"/>
          </a:xfrm>
        </p:grpSpPr>
        <p:grpSp>
          <p:nvGrpSpPr>
            <p:cNvPr id="5350" name="Google Shape;5350;p73"/>
            <p:cNvGrpSpPr/>
            <p:nvPr/>
          </p:nvGrpSpPr>
          <p:grpSpPr>
            <a:xfrm>
              <a:off x="4333785" y="5772213"/>
              <a:ext cx="531821" cy="369069"/>
              <a:chOff x="1348328" y="2475647"/>
              <a:chExt cx="603916" cy="419100"/>
            </a:xfrm>
          </p:grpSpPr>
          <p:grpSp>
            <p:nvGrpSpPr>
              <p:cNvPr id="5351" name="Google Shape;5351;p73"/>
              <p:cNvGrpSpPr/>
              <p:nvPr/>
            </p:nvGrpSpPr>
            <p:grpSpPr>
              <a:xfrm>
                <a:off x="1348328" y="2555748"/>
                <a:ext cx="603916" cy="308999"/>
                <a:chOff x="5278570" y="2983486"/>
                <a:chExt cx="501650" cy="233363"/>
              </a:xfrm>
            </p:grpSpPr>
            <p:sp>
              <p:nvSpPr>
                <p:cNvPr id="5352" name="Google Shape;5352;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353" name="Google Shape;5353;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354" name="Google Shape;5354;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355" name="Google Shape;5355;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356" name="Google Shape;5356;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357" name="Google Shape;5357;p73"/>
              <p:cNvGrpSpPr/>
              <p:nvPr/>
            </p:nvGrpSpPr>
            <p:grpSpPr>
              <a:xfrm>
                <a:off x="1456374" y="2475647"/>
                <a:ext cx="355165" cy="419100"/>
                <a:chOff x="2944" y="2405"/>
                <a:chExt cx="227" cy="264"/>
              </a:xfrm>
            </p:grpSpPr>
            <p:sp>
              <p:nvSpPr>
                <p:cNvPr id="5358" name="Google Shape;5358;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359" name="Google Shape;5359;p73"/>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5360" name="Google Shape;5360;p73"/>
            <p:cNvGrpSpPr/>
            <p:nvPr/>
          </p:nvGrpSpPr>
          <p:grpSpPr>
            <a:xfrm>
              <a:off x="6263949" y="5807720"/>
              <a:ext cx="531821" cy="369069"/>
              <a:chOff x="1348328" y="2507397"/>
              <a:chExt cx="603916" cy="419100"/>
            </a:xfrm>
          </p:grpSpPr>
          <p:grpSp>
            <p:nvGrpSpPr>
              <p:cNvPr id="5361" name="Google Shape;5361;p73"/>
              <p:cNvGrpSpPr/>
              <p:nvPr/>
            </p:nvGrpSpPr>
            <p:grpSpPr>
              <a:xfrm>
                <a:off x="1348328" y="2555748"/>
                <a:ext cx="603916" cy="308999"/>
                <a:chOff x="5278570" y="2983486"/>
                <a:chExt cx="501650" cy="233363"/>
              </a:xfrm>
            </p:grpSpPr>
            <p:sp>
              <p:nvSpPr>
                <p:cNvPr id="5362" name="Google Shape;5362;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363" name="Google Shape;5363;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364" name="Google Shape;5364;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365" name="Google Shape;5365;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366" name="Google Shape;5366;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367" name="Google Shape;5367;p73"/>
              <p:cNvGrpSpPr/>
              <p:nvPr/>
            </p:nvGrpSpPr>
            <p:grpSpPr>
              <a:xfrm>
                <a:off x="1456374" y="2507397"/>
                <a:ext cx="355165" cy="419100"/>
                <a:chOff x="2944" y="2425"/>
                <a:chExt cx="227" cy="264"/>
              </a:xfrm>
            </p:grpSpPr>
            <p:sp>
              <p:nvSpPr>
                <p:cNvPr id="5368" name="Google Shape;5368;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369" name="Google Shape;5369;p73"/>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5370" name="Google Shape;5370;p73"/>
            <p:cNvGrpSpPr/>
            <p:nvPr/>
          </p:nvGrpSpPr>
          <p:grpSpPr>
            <a:xfrm>
              <a:off x="8197315" y="5805271"/>
              <a:ext cx="531821" cy="369069"/>
              <a:chOff x="1348328" y="2507397"/>
              <a:chExt cx="603916" cy="419100"/>
            </a:xfrm>
          </p:grpSpPr>
          <p:grpSp>
            <p:nvGrpSpPr>
              <p:cNvPr id="5371" name="Google Shape;5371;p73"/>
              <p:cNvGrpSpPr/>
              <p:nvPr/>
            </p:nvGrpSpPr>
            <p:grpSpPr>
              <a:xfrm>
                <a:off x="1348328" y="2555748"/>
                <a:ext cx="603916" cy="308999"/>
                <a:chOff x="5278570" y="2983486"/>
                <a:chExt cx="501650" cy="233363"/>
              </a:xfrm>
            </p:grpSpPr>
            <p:sp>
              <p:nvSpPr>
                <p:cNvPr id="5372" name="Google Shape;5372;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373" name="Google Shape;5373;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374" name="Google Shape;5374;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375" name="Google Shape;5375;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376" name="Google Shape;5376;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377" name="Google Shape;5377;p73"/>
              <p:cNvGrpSpPr/>
              <p:nvPr/>
            </p:nvGrpSpPr>
            <p:grpSpPr>
              <a:xfrm>
                <a:off x="1500196" y="2507397"/>
                <a:ext cx="267548" cy="419100"/>
                <a:chOff x="2972" y="2425"/>
                <a:chExt cx="171" cy="264"/>
              </a:xfrm>
            </p:grpSpPr>
            <p:sp>
              <p:nvSpPr>
                <p:cNvPr id="5378" name="Google Shape;5378;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379" name="Google Shape;5379;p73"/>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5380" name="Google Shape;5380;p73"/>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1" name="Google Shape;5381;p73"/>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2" name="Google Shape;5382;p73"/>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3" name="Google Shape;5383;p73"/>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4" name="Google Shape;5384;p73"/>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5" name="Google Shape;5385;p73"/>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6" name="Google Shape;5386;p73"/>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7" name="Google Shape;5387;p73"/>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8" name="Google Shape;5388;p73"/>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89" name="Google Shape;5389;p73"/>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5390" name="Google Shape;5390;p73"/>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391" name="Google Shape;5391;p73"/>
          <p:cNvSpPr/>
          <p:nvPr/>
        </p:nvSpPr>
        <p:spPr>
          <a:xfrm rot="5400000">
            <a:off x="4399933" y="256130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2" name="Google Shape;5392;p73"/>
          <p:cNvSpPr/>
          <p:nvPr/>
        </p:nvSpPr>
        <p:spPr>
          <a:xfrm rot="-5400000">
            <a:off x="4395017" y="347078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3" name="Google Shape;5393;p73"/>
          <p:cNvSpPr/>
          <p:nvPr/>
        </p:nvSpPr>
        <p:spPr>
          <a:xfrm rot="5400000">
            <a:off x="6302474" y="2546557"/>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4" name="Google Shape;5394;p73"/>
          <p:cNvSpPr/>
          <p:nvPr/>
        </p:nvSpPr>
        <p:spPr>
          <a:xfrm rot="-5400000">
            <a:off x="6297558" y="345604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5" name="Google Shape;5395;p73"/>
          <p:cNvSpPr/>
          <p:nvPr/>
        </p:nvSpPr>
        <p:spPr>
          <a:xfrm rot="5400000">
            <a:off x="4370435" y="445893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6" name="Google Shape;5396;p73"/>
          <p:cNvSpPr/>
          <p:nvPr/>
        </p:nvSpPr>
        <p:spPr>
          <a:xfrm rot="-5400000">
            <a:off x="4365519" y="536841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7" name="Google Shape;5397;p73"/>
          <p:cNvSpPr/>
          <p:nvPr/>
        </p:nvSpPr>
        <p:spPr>
          <a:xfrm rot="5400000">
            <a:off x="6312308" y="4454022"/>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8" name="Google Shape;5398;p73"/>
          <p:cNvSpPr/>
          <p:nvPr/>
        </p:nvSpPr>
        <p:spPr>
          <a:xfrm rot="-5400000">
            <a:off x="6307392" y="5363506"/>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9" name="Google Shape;5399;p73"/>
          <p:cNvSpPr/>
          <p:nvPr/>
        </p:nvSpPr>
        <p:spPr>
          <a:xfrm rot="5400000">
            <a:off x="8254181" y="4449110"/>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00" name="Google Shape;5400;p73"/>
          <p:cNvSpPr/>
          <p:nvPr/>
        </p:nvSpPr>
        <p:spPr>
          <a:xfrm rot="-5400000">
            <a:off x="8249265" y="535859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01" name="Google Shape;5401;p73"/>
          <p:cNvSpPr/>
          <p:nvPr/>
        </p:nvSpPr>
        <p:spPr>
          <a:xfrm rot="10800000">
            <a:off x="7582395" y="5829665"/>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02" name="Google Shape;5402;p73"/>
          <p:cNvSpPr/>
          <p:nvPr/>
        </p:nvSpPr>
        <p:spPr>
          <a:xfrm>
            <a:off x="6819704" y="583458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403" name="Google Shape;5403;p73"/>
          <p:cNvGrpSpPr/>
          <p:nvPr/>
        </p:nvGrpSpPr>
        <p:grpSpPr>
          <a:xfrm>
            <a:off x="4336458" y="3833790"/>
            <a:ext cx="4395351" cy="404576"/>
            <a:chOff x="4333785" y="5772213"/>
            <a:chExt cx="4395351" cy="404576"/>
          </a:xfrm>
        </p:grpSpPr>
        <p:grpSp>
          <p:nvGrpSpPr>
            <p:cNvPr id="5404" name="Google Shape;5404;p73"/>
            <p:cNvGrpSpPr/>
            <p:nvPr/>
          </p:nvGrpSpPr>
          <p:grpSpPr>
            <a:xfrm>
              <a:off x="4333785" y="5772213"/>
              <a:ext cx="531821" cy="369069"/>
              <a:chOff x="1348328" y="2475647"/>
              <a:chExt cx="603916" cy="419100"/>
            </a:xfrm>
          </p:grpSpPr>
          <p:grpSp>
            <p:nvGrpSpPr>
              <p:cNvPr id="5405" name="Google Shape;5405;p73"/>
              <p:cNvGrpSpPr/>
              <p:nvPr/>
            </p:nvGrpSpPr>
            <p:grpSpPr>
              <a:xfrm>
                <a:off x="1348328" y="2555748"/>
                <a:ext cx="603916" cy="308999"/>
                <a:chOff x="5278570" y="2983486"/>
                <a:chExt cx="501650" cy="233363"/>
              </a:xfrm>
            </p:grpSpPr>
            <p:sp>
              <p:nvSpPr>
                <p:cNvPr id="5406" name="Google Shape;5406;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407" name="Google Shape;5407;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408" name="Google Shape;5408;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409" name="Google Shape;5409;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410" name="Google Shape;5410;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411" name="Google Shape;5411;p73"/>
              <p:cNvGrpSpPr/>
              <p:nvPr/>
            </p:nvGrpSpPr>
            <p:grpSpPr>
              <a:xfrm>
                <a:off x="1456374" y="2475647"/>
                <a:ext cx="355165" cy="419100"/>
                <a:chOff x="2944" y="2405"/>
                <a:chExt cx="227" cy="264"/>
              </a:xfrm>
            </p:grpSpPr>
            <p:sp>
              <p:nvSpPr>
                <p:cNvPr id="5412" name="Google Shape;5412;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413" name="Google Shape;5413;p73"/>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5414" name="Google Shape;5414;p73"/>
            <p:cNvGrpSpPr/>
            <p:nvPr/>
          </p:nvGrpSpPr>
          <p:grpSpPr>
            <a:xfrm>
              <a:off x="6263949" y="5807720"/>
              <a:ext cx="531821" cy="369069"/>
              <a:chOff x="1348328" y="2507397"/>
              <a:chExt cx="603916" cy="419100"/>
            </a:xfrm>
          </p:grpSpPr>
          <p:grpSp>
            <p:nvGrpSpPr>
              <p:cNvPr id="5415" name="Google Shape;5415;p73"/>
              <p:cNvGrpSpPr/>
              <p:nvPr/>
            </p:nvGrpSpPr>
            <p:grpSpPr>
              <a:xfrm>
                <a:off x="1348328" y="2555748"/>
                <a:ext cx="603916" cy="308999"/>
                <a:chOff x="5278570" y="2983486"/>
                <a:chExt cx="501650" cy="233363"/>
              </a:xfrm>
            </p:grpSpPr>
            <p:sp>
              <p:nvSpPr>
                <p:cNvPr id="5416" name="Google Shape;5416;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417" name="Google Shape;5417;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418" name="Google Shape;5418;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419" name="Google Shape;5419;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420" name="Google Shape;5420;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421" name="Google Shape;5421;p73"/>
              <p:cNvGrpSpPr/>
              <p:nvPr/>
            </p:nvGrpSpPr>
            <p:grpSpPr>
              <a:xfrm>
                <a:off x="1456374" y="2507397"/>
                <a:ext cx="355165" cy="419100"/>
                <a:chOff x="2944" y="2425"/>
                <a:chExt cx="227" cy="264"/>
              </a:xfrm>
            </p:grpSpPr>
            <p:sp>
              <p:nvSpPr>
                <p:cNvPr id="5422" name="Google Shape;5422;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423" name="Google Shape;5423;p73"/>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5424" name="Google Shape;5424;p73"/>
            <p:cNvGrpSpPr/>
            <p:nvPr/>
          </p:nvGrpSpPr>
          <p:grpSpPr>
            <a:xfrm>
              <a:off x="8197315" y="5805271"/>
              <a:ext cx="531821" cy="369069"/>
              <a:chOff x="1348328" y="2507397"/>
              <a:chExt cx="603916" cy="419100"/>
            </a:xfrm>
          </p:grpSpPr>
          <p:grpSp>
            <p:nvGrpSpPr>
              <p:cNvPr id="5425" name="Google Shape;5425;p73"/>
              <p:cNvGrpSpPr/>
              <p:nvPr/>
            </p:nvGrpSpPr>
            <p:grpSpPr>
              <a:xfrm>
                <a:off x="1348328" y="2555748"/>
                <a:ext cx="603916" cy="308999"/>
                <a:chOff x="5278570" y="2983486"/>
                <a:chExt cx="501650" cy="233363"/>
              </a:xfrm>
            </p:grpSpPr>
            <p:sp>
              <p:nvSpPr>
                <p:cNvPr id="5426" name="Google Shape;5426;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427" name="Google Shape;5427;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428" name="Google Shape;5428;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429" name="Google Shape;5429;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430" name="Google Shape;5430;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431" name="Google Shape;5431;p73"/>
              <p:cNvGrpSpPr/>
              <p:nvPr/>
            </p:nvGrpSpPr>
            <p:grpSpPr>
              <a:xfrm>
                <a:off x="1492372" y="2507397"/>
                <a:ext cx="283194" cy="419100"/>
                <a:chOff x="2967" y="2425"/>
                <a:chExt cx="181" cy="264"/>
              </a:xfrm>
            </p:grpSpPr>
            <p:sp>
              <p:nvSpPr>
                <p:cNvPr id="5432" name="Google Shape;5432;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433" name="Google Shape;5433;p73"/>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5434" name="Google Shape;5434;p73"/>
          <p:cNvGrpSpPr/>
          <p:nvPr/>
        </p:nvGrpSpPr>
        <p:grpSpPr>
          <a:xfrm>
            <a:off x="4333785" y="1906063"/>
            <a:ext cx="4395351" cy="404576"/>
            <a:chOff x="4333785" y="5772213"/>
            <a:chExt cx="4395351" cy="404576"/>
          </a:xfrm>
        </p:grpSpPr>
        <p:grpSp>
          <p:nvGrpSpPr>
            <p:cNvPr id="5435" name="Google Shape;5435;p73"/>
            <p:cNvGrpSpPr/>
            <p:nvPr/>
          </p:nvGrpSpPr>
          <p:grpSpPr>
            <a:xfrm>
              <a:off x="4333785" y="5772213"/>
              <a:ext cx="531821" cy="369069"/>
              <a:chOff x="1348328" y="2475647"/>
              <a:chExt cx="603916" cy="419100"/>
            </a:xfrm>
          </p:grpSpPr>
          <p:grpSp>
            <p:nvGrpSpPr>
              <p:cNvPr id="5436" name="Google Shape;5436;p73"/>
              <p:cNvGrpSpPr/>
              <p:nvPr/>
            </p:nvGrpSpPr>
            <p:grpSpPr>
              <a:xfrm>
                <a:off x="1348328" y="2555748"/>
                <a:ext cx="603916" cy="308999"/>
                <a:chOff x="5278570" y="2983486"/>
                <a:chExt cx="501650" cy="233363"/>
              </a:xfrm>
            </p:grpSpPr>
            <p:sp>
              <p:nvSpPr>
                <p:cNvPr id="5437" name="Google Shape;5437;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438" name="Google Shape;5438;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439" name="Google Shape;5439;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440" name="Google Shape;5440;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441" name="Google Shape;5441;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442" name="Google Shape;5442;p73"/>
              <p:cNvGrpSpPr/>
              <p:nvPr/>
            </p:nvGrpSpPr>
            <p:grpSpPr>
              <a:xfrm>
                <a:off x="1456374" y="2475647"/>
                <a:ext cx="355165" cy="419100"/>
                <a:chOff x="2944" y="2405"/>
                <a:chExt cx="227" cy="264"/>
              </a:xfrm>
            </p:grpSpPr>
            <p:sp>
              <p:nvSpPr>
                <p:cNvPr id="5443" name="Google Shape;5443;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444" name="Google Shape;5444;p73"/>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5445" name="Google Shape;5445;p73"/>
            <p:cNvGrpSpPr/>
            <p:nvPr/>
          </p:nvGrpSpPr>
          <p:grpSpPr>
            <a:xfrm>
              <a:off x="6263949" y="5807720"/>
              <a:ext cx="531821" cy="369069"/>
              <a:chOff x="1348328" y="2507397"/>
              <a:chExt cx="603916" cy="419100"/>
            </a:xfrm>
          </p:grpSpPr>
          <p:grpSp>
            <p:nvGrpSpPr>
              <p:cNvPr id="5446" name="Google Shape;5446;p73"/>
              <p:cNvGrpSpPr/>
              <p:nvPr/>
            </p:nvGrpSpPr>
            <p:grpSpPr>
              <a:xfrm>
                <a:off x="1348328" y="2555748"/>
                <a:ext cx="603916" cy="308999"/>
                <a:chOff x="5278570" y="2983486"/>
                <a:chExt cx="501650" cy="233363"/>
              </a:xfrm>
            </p:grpSpPr>
            <p:sp>
              <p:nvSpPr>
                <p:cNvPr id="5447" name="Google Shape;5447;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448" name="Google Shape;5448;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449" name="Google Shape;5449;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450" name="Google Shape;5450;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451" name="Google Shape;5451;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452" name="Google Shape;5452;p73"/>
              <p:cNvGrpSpPr/>
              <p:nvPr/>
            </p:nvGrpSpPr>
            <p:grpSpPr>
              <a:xfrm>
                <a:off x="1456374" y="2507397"/>
                <a:ext cx="355165" cy="419100"/>
                <a:chOff x="2944" y="2425"/>
                <a:chExt cx="227" cy="264"/>
              </a:xfrm>
            </p:grpSpPr>
            <p:sp>
              <p:nvSpPr>
                <p:cNvPr id="5453" name="Google Shape;5453;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454" name="Google Shape;5454;p73"/>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5455" name="Google Shape;5455;p73"/>
            <p:cNvGrpSpPr/>
            <p:nvPr/>
          </p:nvGrpSpPr>
          <p:grpSpPr>
            <a:xfrm>
              <a:off x="8197315" y="5805271"/>
              <a:ext cx="531821" cy="369069"/>
              <a:chOff x="1348328" y="2507397"/>
              <a:chExt cx="603916" cy="419100"/>
            </a:xfrm>
          </p:grpSpPr>
          <p:grpSp>
            <p:nvGrpSpPr>
              <p:cNvPr id="5456" name="Google Shape;5456;p73"/>
              <p:cNvGrpSpPr/>
              <p:nvPr/>
            </p:nvGrpSpPr>
            <p:grpSpPr>
              <a:xfrm>
                <a:off x="1348328" y="2555748"/>
                <a:ext cx="603916" cy="308999"/>
                <a:chOff x="5278570" y="2983486"/>
                <a:chExt cx="501650" cy="233363"/>
              </a:xfrm>
            </p:grpSpPr>
            <p:sp>
              <p:nvSpPr>
                <p:cNvPr id="5457" name="Google Shape;5457;p73"/>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458" name="Google Shape;5458;p73"/>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459" name="Google Shape;5459;p73"/>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460" name="Google Shape;5460;p73"/>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461" name="Google Shape;5461;p73"/>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462" name="Google Shape;5462;p73"/>
              <p:cNvGrpSpPr/>
              <p:nvPr/>
            </p:nvGrpSpPr>
            <p:grpSpPr>
              <a:xfrm>
                <a:off x="1464202" y="2507397"/>
                <a:ext cx="341084" cy="419100"/>
                <a:chOff x="2949" y="2425"/>
                <a:chExt cx="218" cy="264"/>
              </a:xfrm>
            </p:grpSpPr>
            <p:sp>
              <p:nvSpPr>
                <p:cNvPr id="5463" name="Google Shape;5463;p73"/>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464" name="Google Shape;5464;p73"/>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sp>
        <p:nvSpPr>
          <p:cNvPr id="5465" name="Google Shape;5465;p73"/>
          <p:cNvSpPr/>
          <p:nvPr/>
        </p:nvSpPr>
        <p:spPr>
          <a:xfrm rot="10800000">
            <a:off x="5660017" y="584303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66" name="Google Shape;5466;p73"/>
          <p:cNvSpPr/>
          <p:nvPr/>
        </p:nvSpPr>
        <p:spPr>
          <a:xfrm>
            <a:off x="4897326" y="584795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67" name="Google Shape;5467;p73"/>
          <p:cNvSpPr/>
          <p:nvPr/>
        </p:nvSpPr>
        <p:spPr>
          <a:xfrm rot="10800000">
            <a:off x="5651998" y="3904611"/>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68" name="Google Shape;5468;p73"/>
          <p:cNvSpPr/>
          <p:nvPr/>
        </p:nvSpPr>
        <p:spPr>
          <a:xfrm>
            <a:off x="4905348" y="3909528"/>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69" name="Google Shape;5469;p73"/>
          <p:cNvSpPr/>
          <p:nvPr/>
        </p:nvSpPr>
        <p:spPr>
          <a:xfrm rot="10800000">
            <a:off x="5660020" y="196618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70" name="Google Shape;5470;p73"/>
          <p:cNvSpPr/>
          <p:nvPr/>
        </p:nvSpPr>
        <p:spPr>
          <a:xfrm>
            <a:off x="4924064" y="198714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71" name="Google Shape;5471;p73"/>
          <p:cNvSpPr/>
          <p:nvPr/>
        </p:nvSpPr>
        <p:spPr>
          <a:xfrm rot="10800000">
            <a:off x="7582399" y="196886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72" name="Google Shape;5472;p73"/>
          <p:cNvSpPr/>
          <p:nvPr/>
        </p:nvSpPr>
        <p:spPr>
          <a:xfrm>
            <a:off x="6819708" y="197377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73" name="Google Shape;5473;p73"/>
          <p:cNvSpPr/>
          <p:nvPr/>
        </p:nvSpPr>
        <p:spPr>
          <a:xfrm rot="10800000">
            <a:off x="7595769" y="390728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74" name="Google Shape;5474;p73"/>
          <p:cNvSpPr/>
          <p:nvPr/>
        </p:nvSpPr>
        <p:spPr>
          <a:xfrm>
            <a:off x="6833078" y="391220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475" name="Google Shape;5475;p73"/>
          <p:cNvSpPr txBox="1"/>
          <p:nvPr/>
        </p:nvSpPr>
        <p:spPr>
          <a:xfrm flipH="1">
            <a:off x="476445" y="3078991"/>
            <a:ext cx="2195814" cy="258532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rgbClr val="000000"/>
                </a:solidFill>
                <a:latin typeface="Calibri"/>
                <a:ea typeface="Calibri"/>
                <a:cs typeface="Calibri"/>
                <a:sym typeface="Calibri"/>
              </a:rPr>
              <a:t>All nodes:</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receive distance vectors from neighbors</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compute their new local  distance vector</a:t>
            </a:r>
            <a:endParaRPr/>
          </a:p>
          <a:p>
            <a:pPr indent="-174625" lvl="0" marL="174625"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send their new local distance vector to neighbors</a:t>
            </a:r>
            <a:endParaRPr/>
          </a:p>
        </p:txBody>
      </p:sp>
      <p:grpSp>
        <p:nvGrpSpPr>
          <p:cNvPr id="5476" name="Google Shape;5476;p73"/>
          <p:cNvGrpSpPr/>
          <p:nvPr/>
        </p:nvGrpSpPr>
        <p:grpSpPr>
          <a:xfrm>
            <a:off x="584365" y="1859143"/>
            <a:ext cx="736099" cy="1229581"/>
            <a:chOff x="10030307" y="3444875"/>
            <a:chExt cx="736099" cy="1229581"/>
          </a:xfrm>
        </p:grpSpPr>
        <p:sp>
          <p:nvSpPr>
            <p:cNvPr id="5477" name="Google Shape;5477;p73"/>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t=1</a:t>
              </a:r>
              <a:endParaRPr/>
            </a:p>
          </p:txBody>
        </p:sp>
        <p:grpSp>
          <p:nvGrpSpPr>
            <p:cNvPr id="5478" name="Google Shape;5478;p73"/>
            <p:cNvGrpSpPr/>
            <p:nvPr/>
          </p:nvGrpSpPr>
          <p:grpSpPr>
            <a:xfrm>
              <a:off x="10034588" y="3444875"/>
              <a:ext cx="682627" cy="682625"/>
              <a:chOff x="10034589" y="3444875"/>
              <a:chExt cx="682627" cy="682625"/>
            </a:xfrm>
          </p:grpSpPr>
          <p:sp>
            <p:nvSpPr>
              <p:cNvPr id="5479" name="Google Shape;5479;p73"/>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480" name="Google Shape;5480;p73"/>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481" name="Google Shape;5481;p73"/>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482" name="Google Shape;5482;p73"/>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483" name="Google Shape;5483;p73"/>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484" name="Google Shape;5484;p73"/>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485" name="Google Shape;5485;p73"/>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486" name="Google Shape;5486;p73"/>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487" name="Google Shape;5487;p73"/>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488" name="Google Shape;5488;p73"/>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489" name="Google Shape;5489;p73"/>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490" name="Google Shape;5490;p73"/>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491" name="Google Shape;5491;p73"/>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5492" name="Google Shape;5492;p73"/>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cxnSp>
        <p:nvCxnSpPr>
          <p:cNvPr id="5493" name="Google Shape;5493;p73"/>
          <p:cNvCxnSpPr/>
          <p:nvPr/>
        </p:nvCxnSpPr>
        <p:spPr>
          <a:xfrm flipH="1">
            <a:off x="908583" y="1975104"/>
            <a:ext cx="148463" cy="246136"/>
          </a:xfrm>
          <a:prstGeom prst="straightConnector1">
            <a:avLst/>
          </a:prstGeom>
          <a:noFill/>
          <a:ln cap="flat" cmpd="sng" w="25400">
            <a:solidFill>
              <a:srgbClr val="C00000"/>
            </a:solidFill>
            <a:prstDash val="solid"/>
            <a:miter lim="8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91"/>
                                        </p:tgtEl>
                                        <p:attrNameLst>
                                          <p:attrName>style.visibility</p:attrName>
                                        </p:attrNameLst>
                                      </p:cBhvr>
                                      <p:to>
                                        <p:strVal val="visible"/>
                                      </p:to>
                                    </p:set>
                                    <p:animEffect filter="fade" transition="in">
                                      <p:cBhvr>
                                        <p:cTn dur="1000"/>
                                        <p:tgtEl>
                                          <p:spTgt spid="5391"/>
                                        </p:tgtEl>
                                      </p:cBhvr>
                                    </p:animEffect>
                                  </p:childTnLst>
                                </p:cTn>
                              </p:par>
                              <p:par>
                                <p:cTn fill="hold" nodeType="withEffect" presetClass="entr" presetID="10" presetSubtype="0">
                                  <p:stCondLst>
                                    <p:cond delay="0"/>
                                  </p:stCondLst>
                                  <p:childTnLst>
                                    <p:set>
                                      <p:cBhvr>
                                        <p:cTn dur="1" fill="hold">
                                          <p:stCondLst>
                                            <p:cond delay="0"/>
                                          </p:stCondLst>
                                        </p:cTn>
                                        <p:tgtEl>
                                          <p:spTgt spid="5470"/>
                                        </p:tgtEl>
                                        <p:attrNameLst>
                                          <p:attrName>style.visibility</p:attrName>
                                        </p:attrNameLst>
                                      </p:cBhvr>
                                      <p:to>
                                        <p:strVal val="visible"/>
                                      </p:to>
                                    </p:set>
                                    <p:animEffect filter="fade" transition="in">
                                      <p:cBhvr>
                                        <p:cTn dur="1000"/>
                                        <p:tgtEl>
                                          <p:spTgt spid="5470"/>
                                        </p:tgtEl>
                                      </p:cBhvr>
                                    </p:animEffect>
                                  </p:childTnLst>
                                </p:cTn>
                              </p:par>
                              <p:par>
                                <p:cTn fill="hold" nodeType="withEffect" presetClass="entr" presetID="10" presetSubtype="0">
                                  <p:stCondLst>
                                    <p:cond delay="0"/>
                                  </p:stCondLst>
                                  <p:childTnLst>
                                    <p:set>
                                      <p:cBhvr>
                                        <p:cTn dur="1" fill="hold">
                                          <p:stCondLst>
                                            <p:cond delay="0"/>
                                          </p:stCondLst>
                                        </p:cTn>
                                        <p:tgtEl>
                                          <p:spTgt spid="5469"/>
                                        </p:tgtEl>
                                        <p:attrNameLst>
                                          <p:attrName>style.visibility</p:attrName>
                                        </p:attrNameLst>
                                      </p:cBhvr>
                                      <p:to>
                                        <p:strVal val="visible"/>
                                      </p:to>
                                    </p:set>
                                    <p:animEffect filter="fade" transition="in">
                                      <p:cBhvr>
                                        <p:cTn dur="1000"/>
                                        <p:tgtEl>
                                          <p:spTgt spid="5469"/>
                                        </p:tgtEl>
                                      </p:cBhvr>
                                    </p:animEffect>
                                  </p:childTnLst>
                                </p:cTn>
                              </p:par>
                              <p:par>
                                <p:cTn fill="hold" nodeType="withEffect" presetClass="entr" presetID="10" presetSubtype="0">
                                  <p:stCondLst>
                                    <p:cond delay="0"/>
                                  </p:stCondLst>
                                  <p:childTnLst>
                                    <p:set>
                                      <p:cBhvr>
                                        <p:cTn dur="1" fill="hold">
                                          <p:stCondLst>
                                            <p:cond delay="0"/>
                                          </p:stCondLst>
                                        </p:cTn>
                                        <p:tgtEl>
                                          <p:spTgt spid="5393"/>
                                        </p:tgtEl>
                                        <p:attrNameLst>
                                          <p:attrName>style.visibility</p:attrName>
                                        </p:attrNameLst>
                                      </p:cBhvr>
                                      <p:to>
                                        <p:strVal val="visible"/>
                                      </p:to>
                                    </p:set>
                                    <p:animEffect filter="fade" transition="in">
                                      <p:cBhvr>
                                        <p:cTn dur="1000"/>
                                        <p:tgtEl>
                                          <p:spTgt spid="5393"/>
                                        </p:tgtEl>
                                      </p:cBhvr>
                                    </p:animEffect>
                                  </p:childTnLst>
                                </p:cTn>
                              </p:par>
                              <p:par>
                                <p:cTn fill="hold" nodeType="withEffect" presetClass="entr" presetID="10" presetSubtype="0">
                                  <p:stCondLst>
                                    <p:cond delay="0"/>
                                  </p:stCondLst>
                                  <p:childTnLst>
                                    <p:set>
                                      <p:cBhvr>
                                        <p:cTn dur="1" fill="hold">
                                          <p:stCondLst>
                                            <p:cond delay="0"/>
                                          </p:stCondLst>
                                        </p:cTn>
                                        <p:tgtEl>
                                          <p:spTgt spid="5472"/>
                                        </p:tgtEl>
                                        <p:attrNameLst>
                                          <p:attrName>style.visibility</p:attrName>
                                        </p:attrNameLst>
                                      </p:cBhvr>
                                      <p:to>
                                        <p:strVal val="visible"/>
                                      </p:to>
                                    </p:set>
                                    <p:animEffect filter="fade" transition="in">
                                      <p:cBhvr>
                                        <p:cTn dur="1000"/>
                                        <p:tgtEl>
                                          <p:spTgt spid="5472"/>
                                        </p:tgtEl>
                                      </p:cBhvr>
                                    </p:animEffect>
                                  </p:childTnLst>
                                </p:cTn>
                              </p:par>
                              <p:par>
                                <p:cTn fill="hold" nodeType="withEffect" presetClass="entr" presetID="10" presetSubtype="0">
                                  <p:stCondLst>
                                    <p:cond delay="0"/>
                                  </p:stCondLst>
                                  <p:childTnLst>
                                    <p:set>
                                      <p:cBhvr>
                                        <p:cTn dur="1" fill="hold">
                                          <p:stCondLst>
                                            <p:cond delay="0"/>
                                          </p:stCondLst>
                                        </p:cTn>
                                        <p:tgtEl>
                                          <p:spTgt spid="5471"/>
                                        </p:tgtEl>
                                        <p:attrNameLst>
                                          <p:attrName>style.visibility</p:attrName>
                                        </p:attrNameLst>
                                      </p:cBhvr>
                                      <p:to>
                                        <p:strVal val="visible"/>
                                      </p:to>
                                    </p:set>
                                    <p:animEffect filter="fade" transition="in">
                                      <p:cBhvr>
                                        <p:cTn dur="1000"/>
                                        <p:tgtEl>
                                          <p:spTgt spid="5471"/>
                                        </p:tgtEl>
                                      </p:cBhvr>
                                    </p:animEffect>
                                  </p:childTnLst>
                                </p:cTn>
                              </p:par>
                              <p:par>
                                <p:cTn fill="hold" nodeType="withEffect" presetClass="entr" presetID="10" presetSubtype="0">
                                  <p:stCondLst>
                                    <p:cond delay="0"/>
                                  </p:stCondLst>
                                  <p:childTnLst>
                                    <p:set>
                                      <p:cBhvr>
                                        <p:cTn dur="1" fill="hold">
                                          <p:stCondLst>
                                            <p:cond delay="0"/>
                                          </p:stCondLst>
                                        </p:cTn>
                                        <p:tgtEl>
                                          <p:spTgt spid="5392"/>
                                        </p:tgtEl>
                                        <p:attrNameLst>
                                          <p:attrName>style.visibility</p:attrName>
                                        </p:attrNameLst>
                                      </p:cBhvr>
                                      <p:to>
                                        <p:strVal val="visible"/>
                                      </p:to>
                                    </p:set>
                                    <p:animEffect filter="fade" transition="in">
                                      <p:cBhvr>
                                        <p:cTn dur="1000"/>
                                        <p:tgtEl>
                                          <p:spTgt spid="5392"/>
                                        </p:tgtEl>
                                      </p:cBhvr>
                                    </p:animEffect>
                                  </p:childTnLst>
                                </p:cTn>
                              </p:par>
                              <p:par>
                                <p:cTn fill="hold" nodeType="withEffect" presetClass="entr" presetID="10" presetSubtype="0">
                                  <p:stCondLst>
                                    <p:cond delay="0"/>
                                  </p:stCondLst>
                                  <p:childTnLst>
                                    <p:set>
                                      <p:cBhvr>
                                        <p:cTn dur="1" fill="hold">
                                          <p:stCondLst>
                                            <p:cond delay="0"/>
                                          </p:stCondLst>
                                        </p:cTn>
                                        <p:tgtEl>
                                          <p:spTgt spid="5468"/>
                                        </p:tgtEl>
                                        <p:attrNameLst>
                                          <p:attrName>style.visibility</p:attrName>
                                        </p:attrNameLst>
                                      </p:cBhvr>
                                      <p:to>
                                        <p:strVal val="visible"/>
                                      </p:to>
                                    </p:set>
                                    <p:animEffect filter="fade" transition="in">
                                      <p:cBhvr>
                                        <p:cTn dur="1000"/>
                                        <p:tgtEl>
                                          <p:spTgt spid="5468"/>
                                        </p:tgtEl>
                                      </p:cBhvr>
                                    </p:animEffect>
                                  </p:childTnLst>
                                </p:cTn>
                              </p:par>
                              <p:par>
                                <p:cTn fill="hold" nodeType="withEffect" presetClass="entr" presetID="10" presetSubtype="0">
                                  <p:stCondLst>
                                    <p:cond delay="0"/>
                                  </p:stCondLst>
                                  <p:childTnLst>
                                    <p:set>
                                      <p:cBhvr>
                                        <p:cTn dur="1" fill="hold">
                                          <p:stCondLst>
                                            <p:cond delay="0"/>
                                          </p:stCondLst>
                                        </p:cTn>
                                        <p:tgtEl>
                                          <p:spTgt spid="5395"/>
                                        </p:tgtEl>
                                        <p:attrNameLst>
                                          <p:attrName>style.visibility</p:attrName>
                                        </p:attrNameLst>
                                      </p:cBhvr>
                                      <p:to>
                                        <p:strVal val="visible"/>
                                      </p:to>
                                    </p:set>
                                    <p:animEffect filter="fade" transition="in">
                                      <p:cBhvr>
                                        <p:cTn dur="1000"/>
                                        <p:tgtEl>
                                          <p:spTgt spid="5395"/>
                                        </p:tgtEl>
                                      </p:cBhvr>
                                    </p:animEffect>
                                  </p:childTnLst>
                                </p:cTn>
                              </p:par>
                              <p:par>
                                <p:cTn fill="hold" nodeType="withEffect" presetClass="entr" presetID="10" presetSubtype="0">
                                  <p:stCondLst>
                                    <p:cond delay="0"/>
                                  </p:stCondLst>
                                  <p:childTnLst>
                                    <p:set>
                                      <p:cBhvr>
                                        <p:cTn dur="1" fill="hold">
                                          <p:stCondLst>
                                            <p:cond delay="0"/>
                                          </p:stCondLst>
                                        </p:cTn>
                                        <p:tgtEl>
                                          <p:spTgt spid="5467"/>
                                        </p:tgtEl>
                                        <p:attrNameLst>
                                          <p:attrName>style.visibility</p:attrName>
                                        </p:attrNameLst>
                                      </p:cBhvr>
                                      <p:to>
                                        <p:strVal val="visible"/>
                                      </p:to>
                                    </p:set>
                                    <p:animEffect filter="fade" transition="in">
                                      <p:cBhvr>
                                        <p:cTn dur="1000"/>
                                        <p:tgtEl>
                                          <p:spTgt spid="5467"/>
                                        </p:tgtEl>
                                      </p:cBhvr>
                                    </p:animEffect>
                                  </p:childTnLst>
                                </p:cTn>
                              </p:par>
                              <p:par>
                                <p:cTn fill="hold" nodeType="withEffect" presetClass="entr" presetID="10" presetSubtype="0">
                                  <p:stCondLst>
                                    <p:cond delay="0"/>
                                  </p:stCondLst>
                                  <p:childTnLst>
                                    <p:set>
                                      <p:cBhvr>
                                        <p:cTn dur="1" fill="hold">
                                          <p:stCondLst>
                                            <p:cond delay="0"/>
                                          </p:stCondLst>
                                        </p:cTn>
                                        <p:tgtEl>
                                          <p:spTgt spid="5394"/>
                                        </p:tgtEl>
                                        <p:attrNameLst>
                                          <p:attrName>style.visibility</p:attrName>
                                        </p:attrNameLst>
                                      </p:cBhvr>
                                      <p:to>
                                        <p:strVal val="visible"/>
                                      </p:to>
                                    </p:set>
                                    <p:animEffect filter="fade" transition="in">
                                      <p:cBhvr>
                                        <p:cTn dur="1000"/>
                                        <p:tgtEl>
                                          <p:spTgt spid="5394"/>
                                        </p:tgtEl>
                                      </p:cBhvr>
                                    </p:animEffect>
                                  </p:childTnLst>
                                </p:cTn>
                              </p:par>
                              <p:par>
                                <p:cTn fill="hold" nodeType="withEffect" presetClass="entr" presetID="10" presetSubtype="0">
                                  <p:stCondLst>
                                    <p:cond delay="0"/>
                                  </p:stCondLst>
                                  <p:childTnLst>
                                    <p:set>
                                      <p:cBhvr>
                                        <p:cTn dur="1" fill="hold">
                                          <p:stCondLst>
                                            <p:cond delay="0"/>
                                          </p:stCondLst>
                                        </p:cTn>
                                        <p:tgtEl>
                                          <p:spTgt spid="5474"/>
                                        </p:tgtEl>
                                        <p:attrNameLst>
                                          <p:attrName>style.visibility</p:attrName>
                                        </p:attrNameLst>
                                      </p:cBhvr>
                                      <p:to>
                                        <p:strVal val="visible"/>
                                      </p:to>
                                    </p:set>
                                    <p:animEffect filter="fade" transition="in">
                                      <p:cBhvr>
                                        <p:cTn dur="1000"/>
                                        <p:tgtEl>
                                          <p:spTgt spid="5474"/>
                                        </p:tgtEl>
                                      </p:cBhvr>
                                    </p:animEffect>
                                  </p:childTnLst>
                                </p:cTn>
                              </p:par>
                              <p:par>
                                <p:cTn fill="hold" nodeType="withEffect" presetClass="entr" presetID="10" presetSubtype="0">
                                  <p:stCondLst>
                                    <p:cond delay="0"/>
                                  </p:stCondLst>
                                  <p:childTnLst>
                                    <p:set>
                                      <p:cBhvr>
                                        <p:cTn dur="1" fill="hold">
                                          <p:stCondLst>
                                            <p:cond delay="0"/>
                                          </p:stCondLst>
                                        </p:cTn>
                                        <p:tgtEl>
                                          <p:spTgt spid="5397"/>
                                        </p:tgtEl>
                                        <p:attrNameLst>
                                          <p:attrName>style.visibility</p:attrName>
                                        </p:attrNameLst>
                                      </p:cBhvr>
                                      <p:to>
                                        <p:strVal val="visible"/>
                                      </p:to>
                                    </p:set>
                                    <p:animEffect filter="fade" transition="in">
                                      <p:cBhvr>
                                        <p:cTn dur="1000"/>
                                        <p:tgtEl>
                                          <p:spTgt spid="5397"/>
                                        </p:tgtEl>
                                      </p:cBhvr>
                                    </p:animEffect>
                                  </p:childTnLst>
                                </p:cTn>
                              </p:par>
                              <p:par>
                                <p:cTn fill="hold" nodeType="withEffect" presetClass="entr" presetID="10" presetSubtype="0">
                                  <p:stCondLst>
                                    <p:cond delay="0"/>
                                  </p:stCondLst>
                                  <p:childTnLst>
                                    <p:set>
                                      <p:cBhvr>
                                        <p:cTn dur="1" fill="hold">
                                          <p:stCondLst>
                                            <p:cond delay="0"/>
                                          </p:stCondLst>
                                        </p:cTn>
                                        <p:tgtEl>
                                          <p:spTgt spid="5473"/>
                                        </p:tgtEl>
                                        <p:attrNameLst>
                                          <p:attrName>style.visibility</p:attrName>
                                        </p:attrNameLst>
                                      </p:cBhvr>
                                      <p:to>
                                        <p:strVal val="visible"/>
                                      </p:to>
                                    </p:set>
                                    <p:animEffect filter="fade" transition="in">
                                      <p:cBhvr>
                                        <p:cTn dur="1000"/>
                                        <p:tgtEl>
                                          <p:spTgt spid="5473"/>
                                        </p:tgtEl>
                                      </p:cBhvr>
                                    </p:animEffect>
                                  </p:childTnLst>
                                </p:cTn>
                              </p:par>
                              <p:par>
                                <p:cTn fill="hold" nodeType="withEffect" presetClass="entr" presetID="10" presetSubtype="0">
                                  <p:stCondLst>
                                    <p:cond delay="0"/>
                                  </p:stCondLst>
                                  <p:childTnLst>
                                    <p:set>
                                      <p:cBhvr>
                                        <p:cTn dur="1" fill="hold">
                                          <p:stCondLst>
                                            <p:cond delay="0"/>
                                          </p:stCondLst>
                                        </p:cTn>
                                        <p:tgtEl>
                                          <p:spTgt spid="5399"/>
                                        </p:tgtEl>
                                        <p:attrNameLst>
                                          <p:attrName>style.visibility</p:attrName>
                                        </p:attrNameLst>
                                      </p:cBhvr>
                                      <p:to>
                                        <p:strVal val="visible"/>
                                      </p:to>
                                    </p:set>
                                    <p:animEffect filter="fade" transition="in">
                                      <p:cBhvr>
                                        <p:cTn dur="1000"/>
                                        <p:tgtEl>
                                          <p:spTgt spid="5399"/>
                                        </p:tgtEl>
                                      </p:cBhvr>
                                    </p:animEffect>
                                  </p:childTnLst>
                                </p:cTn>
                              </p:par>
                              <p:par>
                                <p:cTn fill="hold" nodeType="withEffect" presetClass="entr" presetID="10" presetSubtype="0">
                                  <p:stCondLst>
                                    <p:cond delay="0"/>
                                  </p:stCondLst>
                                  <p:childTnLst>
                                    <p:set>
                                      <p:cBhvr>
                                        <p:cTn dur="1" fill="hold">
                                          <p:stCondLst>
                                            <p:cond delay="0"/>
                                          </p:stCondLst>
                                        </p:cTn>
                                        <p:tgtEl>
                                          <p:spTgt spid="5396"/>
                                        </p:tgtEl>
                                        <p:attrNameLst>
                                          <p:attrName>style.visibility</p:attrName>
                                        </p:attrNameLst>
                                      </p:cBhvr>
                                      <p:to>
                                        <p:strVal val="visible"/>
                                      </p:to>
                                    </p:set>
                                    <p:animEffect filter="fade" transition="in">
                                      <p:cBhvr>
                                        <p:cTn dur="1000"/>
                                        <p:tgtEl>
                                          <p:spTgt spid="5396"/>
                                        </p:tgtEl>
                                      </p:cBhvr>
                                    </p:animEffect>
                                  </p:childTnLst>
                                </p:cTn>
                              </p:par>
                              <p:par>
                                <p:cTn fill="hold" nodeType="withEffect" presetClass="entr" presetID="10" presetSubtype="0">
                                  <p:stCondLst>
                                    <p:cond delay="0"/>
                                  </p:stCondLst>
                                  <p:childTnLst>
                                    <p:set>
                                      <p:cBhvr>
                                        <p:cTn dur="1" fill="hold">
                                          <p:stCondLst>
                                            <p:cond delay="0"/>
                                          </p:stCondLst>
                                        </p:cTn>
                                        <p:tgtEl>
                                          <p:spTgt spid="5466"/>
                                        </p:tgtEl>
                                        <p:attrNameLst>
                                          <p:attrName>style.visibility</p:attrName>
                                        </p:attrNameLst>
                                      </p:cBhvr>
                                      <p:to>
                                        <p:strVal val="visible"/>
                                      </p:to>
                                    </p:set>
                                    <p:animEffect filter="fade" transition="in">
                                      <p:cBhvr>
                                        <p:cTn dur="1000"/>
                                        <p:tgtEl>
                                          <p:spTgt spid="5466"/>
                                        </p:tgtEl>
                                      </p:cBhvr>
                                    </p:animEffect>
                                  </p:childTnLst>
                                </p:cTn>
                              </p:par>
                              <p:par>
                                <p:cTn fill="hold" nodeType="withEffect" presetClass="entr" presetID="10" presetSubtype="0">
                                  <p:stCondLst>
                                    <p:cond delay="0"/>
                                  </p:stCondLst>
                                  <p:childTnLst>
                                    <p:set>
                                      <p:cBhvr>
                                        <p:cTn dur="1" fill="hold">
                                          <p:stCondLst>
                                            <p:cond delay="0"/>
                                          </p:stCondLst>
                                        </p:cTn>
                                        <p:tgtEl>
                                          <p:spTgt spid="5465"/>
                                        </p:tgtEl>
                                        <p:attrNameLst>
                                          <p:attrName>style.visibility</p:attrName>
                                        </p:attrNameLst>
                                      </p:cBhvr>
                                      <p:to>
                                        <p:strVal val="visible"/>
                                      </p:to>
                                    </p:set>
                                    <p:animEffect filter="fade" transition="in">
                                      <p:cBhvr>
                                        <p:cTn dur="1000"/>
                                        <p:tgtEl>
                                          <p:spTgt spid="5465"/>
                                        </p:tgtEl>
                                      </p:cBhvr>
                                    </p:animEffect>
                                  </p:childTnLst>
                                </p:cTn>
                              </p:par>
                              <p:par>
                                <p:cTn fill="hold" nodeType="withEffect" presetClass="entr" presetID="10" presetSubtype="0">
                                  <p:stCondLst>
                                    <p:cond delay="0"/>
                                  </p:stCondLst>
                                  <p:childTnLst>
                                    <p:set>
                                      <p:cBhvr>
                                        <p:cTn dur="1" fill="hold">
                                          <p:stCondLst>
                                            <p:cond delay="0"/>
                                          </p:stCondLst>
                                        </p:cTn>
                                        <p:tgtEl>
                                          <p:spTgt spid="5398"/>
                                        </p:tgtEl>
                                        <p:attrNameLst>
                                          <p:attrName>style.visibility</p:attrName>
                                        </p:attrNameLst>
                                      </p:cBhvr>
                                      <p:to>
                                        <p:strVal val="visible"/>
                                      </p:to>
                                    </p:set>
                                    <p:animEffect filter="fade" transition="in">
                                      <p:cBhvr>
                                        <p:cTn dur="1000"/>
                                        <p:tgtEl>
                                          <p:spTgt spid="5398"/>
                                        </p:tgtEl>
                                      </p:cBhvr>
                                    </p:animEffect>
                                  </p:childTnLst>
                                </p:cTn>
                              </p:par>
                              <p:par>
                                <p:cTn fill="hold" nodeType="withEffect" presetClass="entr" presetID="10" presetSubtype="0">
                                  <p:stCondLst>
                                    <p:cond delay="0"/>
                                  </p:stCondLst>
                                  <p:childTnLst>
                                    <p:set>
                                      <p:cBhvr>
                                        <p:cTn dur="1" fill="hold">
                                          <p:stCondLst>
                                            <p:cond delay="0"/>
                                          </p:stCondLst>
                                        </p:cTn>
                                        <p:tgtEl>
                                          <p:spTgt spid="5402"/>
                                        </p:tgtEl>
                                        <p:attrNameLst>
                                          <p:attrName>style.visibility</p:attrName>
                                        </p:attrNameLst>
                                      </p:cBhvr>
                                      <p:to>
                                        <p:strVal val="visible"/>
                                      </p:to>
                                    </p:set>
                                    <p:animEffect filter="fade" transition="in">
                                      <p:cBhvr>
                                        <p:cTn dur="1000"/>
                                        <p:tgtEl>
                                          <p:spTgt spid="5402"/>
                                        </p:tgtEl>
                                      </p:cBhvr>
                                    </p:animEffect>
                                  </p:childTnLst>
                                </p:cTn>
                              </p:par>
                              <p:par>
                                <p:cTn fill="hold" nodeType="withEffect" presetClass="entr" presetID="10" presetSubtype="0">
                                  <p:stCondLst>
                                    <p:cond delay="0"/>
                                  </p:stCondLst>
                                  <p:childTnLst>
                                    <p:set>
                                      <p:cBhvr>
                                        <p:cTn dur="1" fill="hold">
                                          <p:stCondLst>
                                            <p:cond delay="0"/>
                                          </p:stCondLst>
                                        </p:cTn>
                                        <p:tgtEl>
                                          <p:spTgt spid="5401"/>
                                        </p:tgtEl>
                                        <p:attrNameLst>
                                          <p:attrName>style.visibility</p:attrName>
                                        </p:attrNameLst>
                                      </p:cBhvr>
                                      <p:to>
                                        <p:strVal val="visible"/>
                                      </p:to>
                                    </p:set>
                                    <p:animEffect filter="fade" transition="in">
                                      <p:cBhvr>
                                        <p:cTn dur="1000"/>
                                        <p:tgtEl>
                                          <p:spTgt spid="5401"/>
                                        </p:tgtEl>
                                      </p:cBhvr>
                                    </p:animEffect>
                                  </p:childTnLst>
                                </p:cTn>
                              </p:par>
                              <p:par>
                                <p:cTn fill="hold" nodeType="withEffect" presetClass="entr" presetID="10" presetSubtype="0">
                                  <p:stCondLst>
                                    <p:cond delay="0"/>
                                  </p:stCondLst>
                                  <p:childTnLst>
                                    <p:set>
                                      <p:cBhvr>
                                        <p:cTn dur="1" fill="hold">
                                          <p:stCondLst>
                                            <p:cond delay="0"/>
                                          </p:stCondLst>
                                        </p:cTn>
                                        <p:tgtEl>
                                          <p:spTgt spid="5400"/>
                                        </p:tgtEl>
                                        <p:attrNameLst>
                                          <p:attrName>style.visibility</p:attrName>
                                        </p:attrNameLst>
                                      </p:cBhvr>
                                      <p:to>
                                        <p:strVal val="visible"/>
                                      </p:to>
                                    </p:set>
                                    <p:animEffect filter="fade" transition="in">
                                      <p:cBhvr>
                                        <p:cTn dur="1000"/>
                                        <p:tgtEl>
                                          <p:spTgt spid="5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8" name="Shape 5498"/>
        <p:cNvGrpSpPr/>
        <p:nvPr/>
      </p:nvGrpSpPr>
      <p:grpSpPr>
        <a:xfrm>
          <a:off x="0" y="0"/>
          <a:ext cx="0" cy="0"/>
          <a:chOff x="0" y="0"/>
          <a:chExt cx="0" cy="0"/>
        </a:xfrm>
      </p:grpSpPr>
      <p:sp>
        <p:nvSpPr>
          <p:cNvPr id="5499" name="Google Shape;5499;p74"/>
          <p:cNvSpPr txBox="1"/>
          <p:nvPr>
            <p:ph type="title"/>
          </p:nvPr>
        </p:nvSpPr>
        <p:spPr>
          <a:xfrm>
            <a:off x="826625" y="17402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8"/>
              </a:buClr>
              <a:buSzPts val="4400"/>
              <a:buFont typeface="Calibri"/>
              <a:buNone/>
            </a:pPr>
            <a:r>
              <a:rPr lang="en-US">
                <a:solidFill>
                  <a:srgbClr val="0000A8"/>
                </a:solidFill>
              </a:rPr>
              <a:t>Distance vector example: iteration</a:t>
            </a:r>
            <a:endParaRPr/>
          </a:p>
        </p:txBody>
      </p:sp>
      <p:sp>
        <p:nvSpPr>
          <p:cNvPr id="5500" name="Google Shape;5500;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5501" name="Google Shape;5501;p74"/>
          <p:cNvCxnSpPr>
            <a:stCxn id="5502" idx="2"/>
            <a:endCxn id="5502"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5503" name="Google Shape;5503;p74"/>
          <p:cNvCxnSpPr>
            <a:stCxn id="5502" idx="1"/>
            <a:endCxn id="5502"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5502" name="Google Shape;5502;p74"/>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5504" name="Google Shape;5504;p74"/>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5505" name="Google Shape;5505;p74"/>
          <p:cNvGrpSpPr/>
          <p:nvPr/>
        </p:nvGrpSpPr>
        <p:grpSpPr>
          <a:xfrm>
            <a:off x="4333785" y="5772213"/>
            <a:ext cx="4395351" cy="404576"/>
            <a:chOff x="4333785" y="5772213"/>
            <a:chExt cx="4395351" cy="404576"/>
          </a:xfrm>
        </p:grpSpPr>
        <p:grpSp>
          <p:nvGrpSpPr>
            <p:cNvPr id="5506" name="Google Shape;5506;p74"/>
            <p:cNvGrpSpPr/>
            <p:nvPr/>
          </p:nvGrpSpPr>
          <p:grpSpPr>
            <a:xfrm>
              <a:off x="4333785" y="5772213"/>
              <a:ext cx="531821" cy="369069"/>
              <a:chOff x="1348328" y="2475647"/>
              <a:chExt cx="603916" cy="419100"/>
            </a:xfrm>
          </p:grpSpPr>
          <p:grpSp>
            <p:nvGrpSpPr>
              <p:cNvPr id="5507" name="Google Shape;5507;p74"/>
              <p:cNvGrpSpPr/>
              <p:nvPr/>
            </p:nvGrpSpPr>
            <p:grpSpPr>
              <a:xfrm>
                <a:off x="1348328" y="2555748"/>
                <a:ext cx="603916" cy="308999"/>
                <a:chOff x="5278570" y="2983486"/>
                <a:chExt cx="501650" cy="233363"/>
              </a:xfrm>
            </p:grpSpPr>
            <p:sp>
              <p:nvSpPr>
                <p:cNvPr id="5508" name="Google Shape;5508;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509" name="Google Shape;5509;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510" name="Google Shape;5510;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511" name="Google Shape;5511;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512" name="Google Shape;5512;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513" name="Google Shape;5513;p74"/>
              <p:cNvGrpSpPr/>
              <p:nvPr/>
            </p:nvGrpSpPr>
            <p:grpSpPr>
              <a:xfrm>
                <a:off x="1456374" y="2475647"/>
                <a:ext cx="355165" cy="419100"/>
                <a:chOff x="2944" y="2405"/>
                <a:chExt cx="227" cy="264"/>
              </a:xfrm>
            </p:grpSpPr>
            <p:sp>
              <p:nvSpPr>
                <p:cNvPr id="5514" name="Google Shape;5514;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515" name="Google Shape;5515;p74"/>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5516" name="Google Shape;5516;p74"/>
            <p:cNvGrpSpPr/>
            <p:nvPr/>
          </p:nvGrpSpPr>
          <p:grpSpPr>
            <a:xfrm>
              <a:off x="6263949" y="5807720"/>
              <a:ext cx="531821" cy="369069"/>
              <a:chOff x="1348328" y="2507397"/>
              <a:chExt cx="603916" cy="419100"/>
            </a:xfrm>
          </p:grpSpPr>
          <p:grpSp>
            <p:nvGrpSpPr>
              <p:cNvPr id="5517" name="Google Shape;5517;p74"/>
              <p:cNvGrpSpPr/>
              <p:nvPr/>
            </p:nvGrpSpPr>
            <p:grpSpPr>
              <a:xfrm>
                <a:off x="1348328" y="2555748"/>
                <a:ext cx="603916" cy="308999"/>
                <a:chOff x="5278570" y="2983486"/>
                <a:chExt cx="501650" cy="233363"/>
              </a:xfrm>
            </p:grpSpPr>
            <p:sp>
              <p:nvSpPr>
                <p:cNvPr id="5518" name="Google Shape;5518;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519" name="Google Shape;5519;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520" name="Google Shape;5520;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521" name="Google Shape;5521;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522" name="Google Shape;5522;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523" name="Google Shape;5523;p74"/>
              <p:cNvGrpSpPr/>
              <p:nvPr/>
            </p:nvGrpSpPr>
            <p:grpSpPr>
              <a:xfrm>
                <a:off x="1456374" y="2507397"/>
                <a:ext cx="355165" cy="419100"/>
                <a:chOff x="2944" y="2425"/>
                <a:chExt cx="227" cy="264"/>
              </a:xfrm>
            </p:grpSpPr>
            <p:sp>
              <p:nvSpPr>
                <p:cNvPr id="5524" name="Google Shape;5524;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525" name="Google Shape;5525;p74"/>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5526" name="Google Shape;5526;p74"/>
            <p:cNvGrpSpPr/>
            <p:nvPr/>
          </p:nvGrpSpPr>
          <p:grpSpPr>
            <a:xfrm>
              <a:off x="8197315" y="5805271"/>
              <a:ext cx="531821" cy="369069"/>
              <a:chOff x="1348328" y="2507397"/>
              <a:chExt cx="603916" cy="419100"/>
            </a:xfrm>
          </p:grpSpPr>
          <p:grpSp>
            <p:nvGrpSpPr>
              <p:cNvPr id="5527" name="Google Shape;5527;p74"/>
              <p:cNvGrpSpPr/>
              <p:nvPr/>
            </p:nvGrpSpPr>
            <p:grpSpPr>
              <a:xfrm>
                <a:off x="1348328" y="2555748"/>
                <a:ext cx="603916" cy="308999"/>
                <a:chOff x="5278570" y="2983486"/>
                <a:chExt cx="501650" cy="233363"/>
              </a:xfrm>
            </p:grpSpPr>
            <p:sp>
              <p:nvSpPr>
                <p:cNvPr id="5528" name="Google Shape;5528;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529" name="Google Shape;5529;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530" name="Google Shape;5530;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531" name="Google Shape;5531;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532" name="Google Shape;5532;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533" name="Google Shape;5533;p74"/>
              <p:cNvGrpSpPr/>
              <p:nvPr/>
            </p:nvGrpSpPr>
            <p:grpSpPr>
              <a:xfrm>
                <a:off x="1500196" y="2507397"/>
                <a:ext cx="267548" cy="419100"/>
                <a:chOff x="2972" y="2425"/>
                <a:chExt cx="171" cy="264"/>
              </a:xfrm>
            </p:grpSpPr>
            <p:sp>
              <p:nvSpPr>
                <p:cNvPr id="5534" name="Google Shape;5534;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535" name="Google Shape;5535;p74"/>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5536" name="Google Shape;5536;p74"/>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37" name="Google Shape;5537;p74"/>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38" name="Google Shape;5538;p74"/>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39" name="Google Shape;5539;p74"/>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40" name="Google Shape;5540;p74"/>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41" name="Google Shape;5541;p74"/>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42" name="Google Shape;5542;p74"/>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43" name="Google Shape;5543;p74"/>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44" name="Google Shape;5544;p74"/>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45" name="Google Shape;5545;p74"/>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5546" name="Google Shape;5546;p74"/>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547" name="Google Shape;5547;p74"/>
          <p:cNvSpPr/>
          <p:nvPr/>
        </p:nvSpPr>
        <p:spPr>
          <a:xfrm flipH="1" rot="5400000">
            <a:off x="4399933" y="256130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48" name="Google Shape;5548;p74"/>
          <p:cNvSpPr/>
          <p:nvPr/>
        </p:nvSpPr>
        <p:spPr>
          <a:xfrm flipH="1" rot="-5400000">
            <a:off x="4395017" y="347078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49" name="Google Shape;5549;p74"/>
          <p:cNvSpPr/>
          <p:nvPr/>
        </p:nvSpPr>
        <p:spPr>
          <a:xfrm flipH="1" rot="5400000">
            <a:off x="6302474" y="2546557"/>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0" name="Google Shape;5550;p74"/>
          <p:cNvSpPr/>
          <p:nvPr/>
        </p:nvSpPr>
        <p:spPr>
          <a:xfrm flipH="1" rot="-5400000">
            <a:off x="6297558" y="345604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1" name="Google Shape;5551;p74"/>
          <p:cNvSpPr/>
          <p:nvPr/>
        </p:nvSpPr>
        <p:spPr>
          <a:xfrm flipH="1" rot="5400000">
            <a:off x="4370435" y="445893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2" name="Google Shape;5552;p74"/>
          <p:cNvSpPr/>
          <p:nvPr/>
        </p:nvSpPr>
        <p:spPr>
          <a:xfrm flipH="1" rot="-5400000">
            <a:off x="4365519" y="536841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3" name="Google Shape;5553;p74"/>
          <p:cNvSpPr/>
          <p:nvPr/>
        </p:nvSpPr>
        <p:spPr>
          <a:xfrm flipH="1" rot="5400000">
            <a:off x="6312308" y="4454022"/>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4" name="Google Shape;5554;p74"/>
          <p:cNvSpPr/>
          <p:nvPr/>
        </p:nvSpPr>
        <p:spPr>
          <a:xfrm flipH="1" rot="-5400000">
            <a:off x="6307392" y="5363506"/>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5" name="Google Shape;5555;p74"/>
          <p:cNvSpPr/>
          <p:nvPr/>
        </p:nvSpPr>
        <p:spPr>
          <a:xfrm flipH="1" rot="5400000">
            <a:off x="8254181" y="4449110"/>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6" name="Google Shape;5556;p74"/>
          <p:cNvSpPr/>
          <p:nvPr/>
        </p:nvSpPr>
        <p:spPr>
          <a:xfrm flipH="1" rot="-5400000">
            <a:off x="8249265" y="535859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7" name="Google Shape;5557;p74"/>
          <p:cNvSpPr/>
          <p:nvPr/>
        </p:nvSpPr>
        <p:spPr>
          <a:xfrm flipH="1" rot="10800000">
            <a:off x="7582395" y="5829665"/>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558" name="Google Shape;5558;p74"/>
          <p:cNvSpPr/>
          <p:nvPr/>
        </p:nvSpPr>
        <p:spPr>
          <a:xfrm flipH="1">
            <a:off x="6819704" y="583458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559" name="Google Shape;5559;p74"/>
          <p:cNvGrpSpPr/>
          <p:nvPr/>
        </p:nvGrpSpPr>
        <p:grpSpPr>
          <a:xfrm>
            <a:off x="4336458" y="3833790"/>
            <a:ext cx="4395351" cy="404576"/>
            <a:chOff x="4333785" y="5772213"/>
            <a:chExt cx="4395351" cy="404576"/>
          </a:xfrm>
        </p:grpSpPr>
        <p:grpSp>
          <p:nvGrpSpPr>
            <p:cNvPr id="5560" name="Google Shape;5560;p74"/>
            <p:cNvGrpSpPr/>
            <p:nvPr/>
          </p:nvGrpSpPr>
          <p:grpSpPr>
            <a:xfrm>
              <a:off x="4333785" y="5772213"/>
              <a:ext cx="531821" cy="369069"/>
              <a:chOff x="1348328" y="2475647"/>
              <a:chExt cx="603916" cy="419100"/>
            </a:xfrm>
          </p:grpSpPr>
          <p:grpSp>
            <p:nvGrpSpPr>
              <p:cNvPr id="5561" name="Google Shape;5561;p74"/>
              <p:cNvGrpSpPr/>
              <p:nvPr/>
            </p:nvGrpSpPr>
            <p:grpSpPr>
              <a:xfrm>
                <a:off x="1348328" y="2555748"/>
                <a:ext cx="603916" cy="308999"/>
                <a:chOff x="5278570" y="2983486"/>
                <a:chExt cx="501650" cy="233363"/>
              </a:xfrm>
            </p:grpSpPr>
            <p:sp>
              <p:nvSpPr>
                <p:cNvPr id="5562" name="Google Shape;5562;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563" name="Google Shape;5563;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564" name="Google Shape;5564;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565" name="Google Shape;5565;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566" name="Google Shape;5566;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567" name="Google Shape;5567;p74"/>
              <p:cNvGrpSpPr/>
              <p:nvPr/>
            </p:nvGrpSpPr>
            <p:grpSpPr>
              <a:xfrm>
                <a:off x="1456374" y="2475647"/>
                <a:ext cx="355165" cy="419100"/>
                <a:chOff x="2944" y="2405"/>
                <a:chExt cx="227" cy="264"/>
              </a:xfrm>
            </p:grpSpPr>
            <p:sp>
              <p:nvSpPr>
                <p:cNvPr id="5568" name="Google Shape;5568;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569" name="Google Shape;5569;p74"/>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5570" name="Google Shape;5570;p74"/>
            <p:cNvGrpSpPr/>
            <p:nvPr/>
          </p:nvGrpSpPr>
          <p:grpSpPr>
            <a:xfrm>
              <a:off x="6263949" y="5807720"/>
              <a:ext cx="531821" cy="369069"/>
              <a:chOff x="1348328" y="2507397"/>
              <a:chExt cx="603916" cy="419100"/>
            </a:xfrm>
          </p:grpSpPr>
          <p:grpSp>
            <p:nvGrpSpPr>
              <p:cNvPr id="5571" name="Google Shape;5571;p74"/>
              <p:cNvGrpSpPr/>
              <p:nvPr/>
            </p:nvGrpSpPr>
            <p:grpSpPr>
              <a:xfrm>
                <a:off x="1348328" y="2555748"/>
                <a:ext cx="603916" cy="308999"/>
                <a:chOff x="5278570" y="2983486"/>
                <a:chExt cx="501650" cy="233363"/>
              </a:xfrm>
            </p:grpSpPr>
            <p:sp>
              <p:nvSpPr>
                <p:cNvPr id="5572" name="Google Shape;5572;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573" name="Google Shape;5573;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574" name="Google Shape;5574;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575" name="Google Shape;5575;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576" name="Google Shape;5576;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577" name="Google Shape;5577;p74"/>
              <p:cNvGrpSpPr/>
              <p:nvPr/>
            </p:nvGrpSpPr>
            <p:grpSpPr>
              <a:xfrm>
                <a:off x="1456374" y="2507397"/>
                <a:ext cx="355165" cy="419100"/>
                <a:chOff x="2944" y="2425"/>
                <a:chExt cx="227" cy="264"/>
              </a:xfrm>
            </p:grpSpPr>
            <p:sp>
              <p:nvSpPr>
                <p:cNvPr id="5578" name="Google Shape;5578;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579" name="Google Shape;5579;p74"/>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5580" name="Google Shape;5580;p74"/>
            <p:cNvGrpSpPr/>
            <p:nvPr/>
          </p:nvGrpSpPr>
          <p:grpSpPr>
            <a:xfrm>
              <a:off x="8197315" y="5805271"/>
              <a:ext cx="531821" cy="369069"/>
              <a:chOff x="1348328" y="2507397"/>
              <a:chExt cx="603916" cy="419100"/>
            </a:xfrm>
          </p:grpSpPr>
          <p:grpSp>
            <p:nvGrpSpPr>
              <p:cNvPr id="5581" name="Google Shape;5581;p74"/>
              <p:cNvGrpSpPr/>
              <p:nvPr/>
            </p:nvGrpSpPr>
            <p:grpSpPr>
              <a:xfrm>
                <a:off x="1348328" y="2555748"/>
                <a:ext cx="603916" cy="308999"/>
                <a:chOff x="5278570" y="2983486"/>
                <a:chExt cx="501650" cy="233363"/>
              </a:xfrm>
            </p:grpSpPr>
            <p:sp>
              <p:nvSpPr>
                <p:cNvPr id="5582" name="Google Shape;5582;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583" name="Google Shape;5583;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584" name="Google Shape;5584;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585" name="Google Shape;5585;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586" name="Google Shape;5586;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587" name="Google Shape;5587;p74"/>
              <p:cNvGrpSpPr/>
              <p:nvPr/>
            </p:nvGrpSpPr>
            <p:grpSpPr>
              <a:xfrm>
                <a:off x="1492372" y="2507397"/>
                <a:ext cx="283194" cy="419100"/>
                <a:chOff x="2967" y="2425"/>
                <a:chExt cx="181" cy="264"/>
              </a:xfrm>
            </p:grpSpPr>
            <p:sp>
              <p:nvSpPr>
                <p:cNvPr id="5588" name="Google Shape;5588;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589" name="Google Shape;5589;p74"/>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5590" name="Google Shape;5590;p74"/>
          <p:cNvGrpSpPr/>
          <p:nvPr/>
        </p:nvGrpSpPr>
        <p:grpSpPr>
          <a:xfrm>
            <a:off x="4333785" y="1906063"/>
            <a:ext cx="4395351" cy="404576"/>
            <a:chOff x="4333785" y="5772213"/>
            <a:chExt cx="4395351" cy="404576"/>
          </a:xfrm>
        </p:grpSpPr>
        <p:grpSp>
          <p:nvGrpSpPr>
            <p:cNvPr id="5591" name="Google Shape;5591;p74"/>
            <p:cNvGrpSpPr/>
            <p:nvPr/>
          </p:nvGrpSpPr>
          <p:grpSpPr>
            <a:xfrm>
              <a:off x="4333785" y="5772213"/>
              <a:ext cx="531821" cy="369069"/>
              <a:chOff x="1348328" y="2475647"/>
              <a:chExt cx="603916" cy="419100"/>
            </a:xfrm>
          </p:grpSpPr>
          <p:grpSp>
            <p:nvGrpSpPr>
              <p:cNvPr id="5592" name="Google Shape;5592;p74"/>
              <p:cNvGrpSpPr/>
              <p:nvPr/>
            </p:nvGrpSpPr>
            <p:grpSpPr>
              <a:xfrm>
                <a:off x="1348328" y="2555748"/>
                <a:ext cx="603916" cy="308999"/>
                <a:chOff x="5278570" y="2983486"/>
                <a:chExt cx="501650" cy="233363"/>
              </a:xfrm>
            </p:grpSpPr>
            <p:sp>
              <p:nvSpPr>
                <p:cNvPr id="5593" name="Google Shape;5593;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594" name="Google Shape;5594;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595" name="Google Shape;5595;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596" name="Google Shape;5596;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597" name="Google Shape;5597;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598" name="Google Shape;5598;p74"/>
              <p:cNvGrpSpPr/>
              <p:nvPr/>
            </p:nvGrpSpPr>
            <p:grpSpPr>
              <a:xfrm>
                <a:off x="1456374" y="2475647"/>
                <a:ext cx="355165" cy="419100"/>
                <a:chOff x="2944" y="2405"/>
                <a:chExt cx="227" cy="264"/>
              </a:xfrm>
            </p:grpSpPr>
            <p:sp>
              <p:nvSpPr>
                <p:cNvPr id="5599" name="Google Shape;5599;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00" name="Google Shape;5600;p74"/>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5601" name="Google Shape;5601;p74"/>
            <p:cNvGrpSpPr/>
            <p:nvPr/>
          </p:nvGrpSpPr>
          <p:grpSpPr>
            <a:xfrm>
              <a:off x="6263949" y="5807720"/>
              <a:ext cx="531821" cy="369069"/>
              <a:chOff x="1348328" y="2507397"/>
              <a:chExt cx="603916" cy="419100"/>
            </a:xfrm>
          </p:grpSpPr>
          <p:grpSp>
            <p:nvGrpSpPr>
              <p:cNvPr id="5602" name="Google Shape;5602;p74"/>
              <p:cNvGrpSpPr/>
              <p:nvPr/>
            </p:nvGrpSpPr>
            <p:grpSpPr>
              <a:xfrm>
                <a:off x="1348328" y="2555748"/>
                <a:ext cx="603916" cy="308999"/>
                <a:chOff x="5278570" y="2983486"/>
                <a:chExt cx="501650" cy="233363"/>
              </a:xfrm>
            </p:grpSpPr>
            <p:sp>
              <p:nvSpPr>
                <p:cNvPr id="5603" name="Google Shape;5603;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604" name="Google Shape;5604;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605" name="Google Shape;5605;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606" name="Google Shape;5606;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607" name="Google Shape;5607;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608" name="Google Shape;5608;p74"/>
              <p:cNvGrpSpPr/>
              <p:nvPr/>
            </p:nvGrpSpPr>
            <p:grpSpPr>
              <a:xfrm>
                <a:off x="1456374" y="2507397"/>
                <a:ext cx="355165" cy="419100"/>
                <a:chOff x="2944" y="2425"/>
                <a:chExt cx="227" cy="264"/>
              </a:xfrm>
            </p:grpSpPr>
            <p:sp>
              <p:nvSpPr>
                <p:cNvPr id="5609" name="Google Shape;5609;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10" name="Google Shape;5610;p74"/>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5611" name="Google Shape;5611;p74"/>
            <p:cNvGrpSpPr/>
            <p:nvPr/>
          </p:nvGrpSpPr>
          <p:grpSpPr>
            <a:xfrm>
              <a:off x="8197315" y="5805271"/>
              <a:ext cx="531821" cy="369069"/>
              <a:chOff x="1348328" y="2507397"/>
              <a:chExt cx="603916" cy="419100"/>
            </a:xfrm>
          </p:grpSpPr>
          <p:grpSp>
            <p:nvGrpSpPr>
              <p:cNvPr id="5612" name="Google Shape;5612;p74"/>
              <p:cNvGrpSpPr/>
              <p:nvPr/>
            </p:nvGrpSpPr>
            <p:grpSpPr>
              <a:xfrm>
                <a:off x="1348328" y="2555748"/>
                <a:ext cx="603916" cy="308999"/>
                <a:chOff x="5278570" y="2983486"/>
                <a:chExt cx="501650" cy="233363"/>
              </a:xfrm>
            </p:grpSpPr>
            <p:sp>
              <p:nvSpPr>
                <p:cNvPr id="5613" name="Google Shape;5613;p74"/>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614" name="Google Shape;5614;p74"/>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615" name="Google Shape;5615;p74"/>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616" name="Google Shape;5616;p74"/>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617" name="Google Shape;5617;p74"/>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618" name="Google Shape;5618;p74"/>
              <p:cNvGrpSpPr/>
              <p:nvPr/>
            </p:nvGrpSpPr>
            <p:grpSpPr>
              <a:xfrm>
                <a:off x="1464202" y="2507397"/>
                <a:ext cx="341084" cy="419100"/>
                <a:chOff x="2949" y="2425"/>
                <a:chExt cx="218" cy="264"/>
              </a:xfrm>
            </p:grpSpPr>
            <p:sp>
              <p:nvSpPr>
                <p:cNvPr id="5619" name="Google Shape;5619;p74"/>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20" name="Google Shape;5620;p74"/>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sp>
        <p:nvSpPr>
          <p:cNvPr id="5621" name="Google Shape;5621;p74"/>
          <p:cNvSpPr/>
          <p:nvPr/>
        </p:nvSpPr>
        <p:spPr>
          <a:xfrm flipH="1" rot="10800000">
            <a:off x="5660017" y="584303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2" name="Google Shape;5622;p74"/>
          <p:cNvSpPr/>
          <p:nvPr/>
        </p:nvSpPr>
        <p:spPr>
          <a:xfrm flipH="1">
            <a:off x="4897326" y="584795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3" name="Google Shape;5623;p74"/>
          <p:cNvSpPr/>
          <p:nvPr/>
        </p:nvSpPr>
        <p:spPr>
          <a:xfrm flipH="1" rot="10800000">
            <a:off x="5651998" y="3904611"/>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4" name="Google Shape;5624;p74"/>
          <p:cNvSpPr/>
          <p:nvPr/>
        </p:nvSpPr>
        <p:spPr>
          <a:xfrm flipH="1">
            <a:off x="4905348" y="3909528"/>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5" name="Google Shape;5625;p74"/>
          <p:cNvSpPr/>
          <p:nvPr/>
        </p:nvSpPr>
        <p:spPr>
          <a:xfrm>
            <a:off x="5660020" y="196618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6" name="Google Shape;5626;p74"/>
          <p:cNvSpPr/>
          <p:nvPr/>
        </p:nvSpPr>
        <p:spPr>
          <a:xfrm rot="10800000">
            <a:off x="4924064" y="198714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7" name="Google Shape;5627;p74"/>
          <p:cNvSpPr/>
          <p:nvPr/>
        </p:nvSpPr>
        <p:spPr>
          <a:xfrm flipH="1" rot="10800000">
            <a:off x="7582399" y="196886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8" name="Google Shape;5628;p74"/>
          <p:cNvSpPr/>
          <p:nvPr/>
        </p:nvSpPr>
        <p:spPr>
          <a:xfrm rot="10800000">
            <a:off x="6819708" y="197377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9" name="Google Shape;5629;p74"/>
          <p:cNvSpPr/>
          <p:nvPr/>
        </p:nvSpPr>
        <p:spPr>
          <a:xfrm flipH="1" rot="10800000">
            <a:off x="7595769" y="390728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30" name="Google Shape;5630;p74"/>
          <p:cNvSpPr/>
          <p:nvPr/>
        </p:nvSpPr>
        <p:spPr>
          <a:xfrm flipH="1">
            <a:off x="6833078" y="391220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31" name="Google Shape;5631;p74"/>
          <p:cNvSpPr txBox="1"/>
          <p:nvPr/>
        </p:nvSpPr>
        <p:spPr>
          <a:xfrm flipH="1">
            <a:off x="476445" y="3078991"/>
            <a:ext cx="2195814" cy="258532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rgbClr val="000000"/>
                </a:solidFill>
                <a:latin typeface="Calibri"/>
                <a:ea typeface="Calibri"/>
                <a:cs typeface="Calibri"/>
                <a:sym typeface="Calibri"/>
              </a:rPr>
              <a:t>All nodes:</a:t>
            </a:r>
            <a:endParaRPr/>
          </a:p>
          <a:p>
            <a:pPr indent="-174625" lvl="0" marL="174625"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receive distance vectors from neighbors</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compute their new local  distance vector</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send their new local distance vector to neighbors</a:t>
            </a:r>
            <a:endParaRPr/>
          </a:p>
        </p:txBody>
      </p:sp>
      <p:grpSp>
        <p:nvGrpSpPr>
          <p:cNvPr id="5632" name="Google Shape;5632;p74"/>
          <p:cNvGrpSpPr/>
          <p:nvPr/>
        </p:nvGrpSpPr>
        <p:grpSpPr>
          <a:xfrm>
            <a:off x="584365" y="1859143"/>
            <a:ext cx="736099" cy="1229581"/>
            <a:chOff x="10030307" y="3444875"/>
            <a:chExt cx="736099" cy="1229581"/>
          </a:xfrm>
        </p:grpSpPr>
        <p:sp>
          <p:nvSpPr>
            <p:cNvPr id="5633" name="Google Shape;5633;p74"/>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t=2</a:t>
              </a:r>
              <a:endParaRPr/>
            </a:p>
          </p:txBody>
        </p:sp>
        <p:grpSp>
          <p:nvGrpSpPr>
            <p:cNvPr id="5634" name="Google Shape;5634;p74"/>
            <p:cNvGrpSpPr/>
            <p:nvPr/>
          </p:nvGrpSpPr>
          <p:grpSpPr>
            <a:xfrm>
              <a:off x="10034588" y="3444875"/>
              <a:ext cx="682627" cy="682625"/>
              <a:chOff x="10034589" y="3444875"/>
              <a:chExt cx="682627" cy="682625"/>
            </a:xfrm>
          </p:grpSpPr>
          <p:sp>
            <p:nvSpPr>
              <p:cNvPr id="5635" name="Google Shape;5635;p74"/>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636" name="Google Shape;5636;p74"/>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637" name="Google Shape;5637;p74"/>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638" name="Google Shape;5638;p74"/>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639" name="Google Shape;5639;p74"/>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640" name="Google Shape;5640;p74"/>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641" name="Google Shape;5641;p74"/>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642" name="Google Shape;5642;p74"/>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643" name="Google Shape;5643;p74"/>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644" name="Google Shape;5644;p74"/>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645" name="Google Shape;5645;p74"/>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646" name="Google Shape;5646;p74"/>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647" name="Google Shape;5647;p74"/>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5648" name="Google Shape;5648;p74"/>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649" name="Google Shape;5649;p74"/>
              <p:cNvCxnSpPr/>
              <p:nvPr/>
            </p:nvCxnSpPr>
            <p:spPr>
              <a:xfrm flipH="1">
                <a:off x="10365498" y="3656685"/>
                <a:ext cx="240612" cy="121026"/>
              </a:xfrm>
              <a:prstGeom prst="straightConnector1">
                <a:avLst/>
              </a:prstGeom>
              <a:noFill/>
              <a:ln cap="flat" cmpd="sng" w="25400">
                <a:solidFill>
                  <a:srgbClr val="C00000"/>
                </a:solidFill>
                <a:prstDash val="solid"/>
                <a:miter lim="8000"/>
                <a:headEnd len="sm" w="sm" type="none"/>
                <a:tailEnd len="sm" w="sm" type="none"/>
              </a:ln>
            </p:spPr>
          </p:cxn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47"/>
                                        </p:tgtEl>
                                        <p:attrNameLst>
                                          <p:attrName>style.visibility</p:attrName>
                                        </p:attrNameLst>
                                      </p:cBhvr>
                                      <p:to>
                                        <p:strVal val="visible"/>
                                      </p:to>
                                    </p:set>
                                    <p:animEffect filter="fade" transition="in">
                                      <p:cBhvr>
                                        <p:cTn dur="1000"/>
                                        <p:tgtEl>
                                          <p:spTgt spid="5547"/>
                                        </p:tgtEl>
                                      </p:cBhvr>
                                    </p:animEffect>
                                  </p:childTnLst>
                                </p:cTn>
                              </p:par>
                              <p:par>
                                <p:cTn fill="hold" nodeType="withEffect" presetClass="entr" presetID="10" presetSubtype="0">
                                  <p:stCondLst>
                                    <p:cond delay="0"/>
                                  </p:stCondLst>
                                  <p:childTnLst>
                                    <p:set>
                                      <p:cBhvr>
                                        <p:cTn dur="1" fill="hold">
                                          <p:stCondLst>
                                            <p:cond delay="0"/>
                                          </p:stCondLst>
                                        </p:cTn>
                                        <p:tgtEl>
                                          <p:spTgt spid="5626"/>
                                        </p:tgtEl>
                                        <p:attrNameLst>
                                          <p:attrName>style.visibility</p:attrName>
                                        </p:attrNameLst>
                                      </p:cBhvr>
                                      <p:to>
                                        <p:strVal val="visible"/>
                                      </p:to>
                                    </p:set>
                                    <p:animEffect filter="fade" transition="in">
                                      <p:cBhvr>
                                        <p:cTn dur="1000"/>
                                        <p:tgtEl>
                                          <p:spTgt spid="5626"/>
                                        </p:tgtEl>
                                      </p:cBhvr>
                                    </p:animEffect>
                                  </p:childTnLst>
                                </p:cTn>
                              </p:par>
                              <p:par>
                                <p:cTn fill="hold" nodeType="withEffect" presetClass="entr" presetID="10" presetSubtype="0">
                                  <p:stCondLst>
                                    <p:cond delay="0"/>
                                  </p:stCondLst>
                                  <p:childTnLst>
                                    <p:set>
                                      <p:cBhvr>
                                        <p:cTn dur="1" fill="hold">
                                          <p:stCondLst>
                                            <p:cond delay="0"/>
                                          </p:stCondLst>
                                        </p:cTn>
                                        <p:tgtEl>
                                          <p:spTgt spid="5625"/>
                                        </p:tgtEl>
                                        <p:attrNameLst>
                                          <p:attrName>style.visibility</p:attrName>
                                        </p:attrNameLst>
                                      </p:cBhvr>
                                      <p:to>
                                        <p:strVal val="visible"/>
                                      </p:to>
                                    </p:set>
                                    <p:animEffect filter="fade" transition="in">
                                      <p:cBhvr>
                                        <p:cTn dur="1000"/>
                                        <p:tgtEl>
                                          <p:spTgt spid="5625"/>
                                        </p:tgtEl>
                                      </p:cBhvr>
                                    </p:animEffect>
                                  </p:childTnLst>
                                </p:cTn>
                              </p:par>
                              <p:par>
                                <p:cTn fill="hold" nodeType="withEffect" presetClass="entr" presetID="10" presetSubtype="0">
                                  <p:stCondLst>
                                    <p:cond delay="0"/>
                                  </p:stCondLst>
                                  <p:childTnLst>
                                    <p:set>
                                      <p:cBhvr>
                                        <p:cTn dur="1" fill="hold">
                                          <p:stCondLst>
                                            <p:cond delay="0"/>
                                          </p:stCondLst>
                                        </p:cTn>
                                        <p:tgtEl>
                                          <p:spTgt spid="5549"/>
                                        </p:tgtEl>
                                        <p:attrNameLst>
                                          <p:attrName>style.visibility</p:attrName>
                                        </p:attrNameLst>
                                      </p:cBhvr>
                                      <p:to>
                                        <p:strVal val="visible"/>
                                      </p:to>
                                    </p:set>
                                    <p:animEffect filter="fade" transition="in">
                                      <p:cBhvr>
                                        <p:cTn dur="1000"/>
                                        <p:tgtEl>
                                          <p:spTgt spid="5549"/>
                                        </p:tgtEl>
                                      </p:cBhvr>
                                    </p:animEffect>
                                  </p:childTnLst>
                                </p:cTn>
                              </p:par>
                              <p:par>
                                <p:cTn fill="hold" nodeType="withEffect" presetClass="entr" presetID="10" presetSubtype="0">
                                  <p:stCondLst>
                                    <p:cond delay="0"/>
                                  </p:stCondLst>
                                  <p:childTnLst>
                                    <p:set>
                                      <p:cBhvr>
                                        <p:cTn dur="1" fill="hold">
                                          <p:stCondLst>
                                            <p:cond delay="0"/>
                                          </p:stCondLst>
                                        </p:cTn>
                                        <p:tgtEl>
                                          <p:spTgt spid="5628"/>
                                        </p:tgtEl>
                                        <p:attrNameLst>
                                          <p:attrName>style.visibility</p:attrName>
                                        </p:attrNameLst>
                                      </p:cBhvr>
                                      <p:to>
                                        <p:strVal val="visible"/>
                                      </p:to>
                                    </p:set>
                                    <p:animEffect filter="fade" transition="in">
                                      <p:cBhvr>
                                        <p:cTn dur="1000"/>
                                        <p:tgtEl>
                                          <p:spTgt spid="5628"/>
                                        </p:tgtEl>
                                      </p:cBhvr>
                                    </p:animEffect>
                                  </p:childTnLst>
                                </p:cTn>
                              </p:par>
                              <p:par>
                                <p:cTn fill="hold" nodeType="withEffect" presetClass="entr" presetID="10" presetSubtype="0">
                                  <p:stCondLst>
                                    <p:cond delay="0"/>
                                  </p:stCondLst>
                                  <p:childTnLst>
                                    <p:set>
                                      <p:cBhvr>
                                        <p:cTn dur="1" fill="hold">
                                          <p:stCondLst>
                                            <p:cond delay="0"/>
                                          </p:stCondLst>
                                        </p:cTn>
                                        <p:tgtEl>
                                          <p:spTgt spid="5627"/>
                                        </p:tgtEl>
                                        <p:attrNameLst>
                                          <p:attrName>style.visibility</p:attrName>
                                        </p:attrNameLst>
                                      </p:cBhvr>
                                      <p:to>
                                        <p:strVal val="visible"/>
                                      </p:to>
                                    </p:set>
                                    <p:animEffect filter="fade" transition="in">
                                      <p:cBhvr>
                                        <p:cTn dur="1000"/>
                                        <p:tgtEl>
                                          <p:spTgt spid="5627"/>
                                        </p:tgtEl>
                                      </p:cBhvr>
                                    </p:animEffect>
                                  </p:childTnLst>
                                </p:cTn>
                              </p:par>
                              <p:par>
                                <p:cTn fill="hold" nodeType="withEffect" presetClass="entr" presetID="10" presetSubtype="0">
                                  <p:stCondLst>
                                    <p:cond delay="0"/>
                                  </p:stCondLst>
                                  <p:childTnLst>
                                    <p:set>
                                      <p:cBhvr>
                                        <p:cTn dur="1" fill="hold">
                                          <p:stCondLst>
                                            <p:cond delay="0"/>
                                          </p:stCondLst>
                                        </p:cTn>
                                        <p:tgtEl>
                                          <p:spTgt spid="5548"/>
                                        </p:tgtEl>
                                        <p:attrNameLst>
                                          <p:attrName>style.visibility</p:attrName>
                                        </p:attrNameLst>
                                      </p:cBhvr>
                                      <p:to>
                                        <p:strVal val="visible"/>
                                      </p:to>
                                    </p:set>
                                    <p:animEffect filter="fade" transition="in">
                                      <p:cBhvr>
                                        <p:cTn dur="1000"/>
                                        <p:tgtEl>
                                          <p:spTgt spid="5548"/>
                                        </p:tgtEl>
                                      </p:cBhvr>
                                    </p:animEffect>
                                  </p:childTnLst>
                                </p:cTn>
                              </p:par>
                              <p:par>
                                <p:cTn fill="hold" nodeType="withEffect" presetClass="entr" presetID="10" presetSubtype="0">
                                  <p:stCondLst>
                                    <p:cond delay="0"/>
                                  </p:stCondLst>
                                  <p:childTnLst>
                                    <p:set>
                                      <p:cBhvr>
                                        <p:cTn dur="1" fill="hold">
                                          <p:stCondLst>
                                            <p:cond delay="0"/>
                                          </p:stCondLst>
                                        </p:cTn>
                                        <p:tgtEl>
                                          <p:spTgt spid="5624"/>
                                        </p:tgtEl>
                                        <p:attrNameLst>
                                          <p:attrName>style.visibility</p:attrName>
                                        </p:attrNameLst>
                                      </p:cBhvr>
                                      <p:to>
                                        <p:strVal val="visible"/>
                                      </p:to>
                                    </p:set>
                                    <p:animEffect filter="fade" transition="in">
                                      <p:cBhvr>
                                        <p:cTn dur="1000"/>
                                        <p:tgtEl>
                                          <p:spTgt spid="5624"/>
                                        </p:tgtEl>
                                      </p:cBhvr>
                                    </p:animEffect>
                                  </p:childTnLst>
                                </p:cTn>
                              </p:par>
                              <p:par>
                                <p:cTn fill="hold" nodeType="withEffect" presetClass="entr" presetID="10" presetSubtype="0">
                                  <p:stCondLst>
                                    <p:cond delay="0"/>
                                  </p:stCondLst>
                                  <p:childTnLst>
                                    <p:set>
                                      <p:cBhvr>
                                        <p:cTn dur="1" fill="hold">
                                          <p:stCondLst>
                                            <p:cond delay="0"/>
                                          </p:stCondLst>
                                        </p:cTn>
                                        <p:tgtEl>
                                          <p:spTgt spid="5551"/>
                                        </p:tgtEl>
                                        <p:attrNameLst>
                                          <p:attrName>style.visibility</p:attrName>
                                        </p:attrNameLst>
                                      </p:cBhvr>
                                      <p:to>
                                        <p:strVal val="visible"/>
                                      </p:to>
                                    </p:set>
                                    <p:animEffect filter="fade" transition="in">
                                      <p:cBhvr>
                                        <p:cTn dur="1000"/>
                                        <p:tgtEl>
                                          <p:spTgt spid="5551"/>
                                        </p:tgtEl>
                                      </p:cBhvr>
                                    </p:animEffect>
                                  </p:childTnLst>
                                </p:cTn>
                              </p:par>
                              <p:par>
                                <p:cTn fill="hold" nodeType="withEffect" presetClass="entr" presetID="10" presetSubtype="0">
                                  <p:stCondLst>
                                    <p:cond delay="0"/>
                                  </p:stCondLst>
                                  <p:childTnLst>
                                    <p:set>
                                      <p:cBhvr>
                                        <p:cTn dur="1" fill="hold">
                                          <p:stCondLst>
                                            <p:cond delay="0"/>
                                          </p:stCondLst>
                                        </p:cTn>
                                        <p:tgtEl>
                                          <p:spTgt spid="5623"/>
                                        </p:tgtEl>
                                        <p:attrNameLst>
                                          <p:attrName>style.visibility</p:attrName>
                                        </p:attrNameLst>
                                      </p:cBhvr>
                                      <p:to>
                                        <p:strVal val="visible"/>
                                      </p:to>
                                    </p:set>
                                    <p:animEffect filter="fade" transition="in">
                                      <p:cBhvr>
                                        <p:cTn dur="1000"/>
                                        <p:tgtEl>
                                          <p:spTgt spid="5623"/>
                                        </p:tgtEl>
                                      </p:cBhvr>
                                    </p:animEffect>
                                  </p:childTnLst>
                                </p:cTn>
                              </p:par>
                              <p:par>
                                <p:cTn fill="hold" nodeType="withEffect" presetClass="entr" presetID="10" presetSubtype="0">
                                  <p:stCondLst>
                                    <p:cond delay="0"/>
                                  </p:stCondLst>
                                  <p:childTnLst>
                                    <p:set>
                                      <p:cBhvr>
                                        <p:cTn dur="1" fill="hold">
                                          <p:stCondLst>
                                            <p:cond delay="0"/>
                                          </p:stCondLst>
                                        </p:cTn>
                                        <p:tgtEl>
                                          <p:spTgt spid="5550"/>
                                        </p:tgtEl>
                                        <p:attrNameLst>
                                          <p:attrName>style.visibility</p:attrName>
                                        </p:attrNameLst>
                                      </p:cBhvr>
                                      <p:to>
                                        <p:strVal val="visible"/>
                                      </p:to>
                                    </p:set>
                                    <p:animEffect filter="fade" transition="in">
                                      <p:cBhvr>
                                        <p:cTn dur="1000"/>
                                        <p:tgtEl>
                                          <p:spTgt spid="5550"/>
                                        </p:tgtEl>
                                      </p:cBhvr>
                                    </p:animEffect>
                                  </p:childTnLst>
                                </p:cTn>
                              </p:par>
                              <p:par>
                                <p:cTn fill="hold" nodeType="withEffect" presetClass="entr" presetID="10" presetSubtype="0">
                                  <p:stCondLst>
                                    <p:cond delay="0"/>
                                  </p:stCondLst>
                                  <p:childTnLst>
                                    <p:set>
                                      <p:cBhvr>
                                        <p:cTn dur="1" fill="hold">
                                          <p:stCondLst>
                                            <p:cond delay="0"/>
                                          </p:stCondLst>
                                        </p:cTn>
                                        <p:tgtEl>
                                          <p:spTgt spid="5630"/>
                                        </p:tgtEl>
                                        <p:attrNameLst>
                                          <p:attrName>style.visibility</p:attrName>
                                        </p:attrNameLst>
                                      </p:cBhvr>
                                      <p:to>
                                        <p:strVal val="visible"/>
                                      </p:to>
                                    </p:set>
                                    <p:animEffect filter="fade" transition="in">
                                      <p:cBhvr>
                                        <p:cTn dur="1000"/>
                                        <p:tgtEl>
                                          <p:spTgt spid="5630"/>
                                        </p:tgtEl>
                                      </p:cBhvr>
                                    </p:animEffect>
                                  </p:childTnLst>
                                </p:cTn>
                              </p:par>
                              <p:par>
                                <p:cTn fill="hold" nodeType="withEffect" presetClass="entr" presetID="10" presetSubtype="0">
                                  <p:stCondLst>
                                    <p:cond delay="0"/>
                                  </p:stCondLst>
                                  <p:childTnLst>
                                    <p:set>
                                      <p:cBhvr>
                                        <p:cTn dur="1" fill="hold">
                                          <p:stCondLst>
                                            <p:cond delay="0"/>
                                          </p:stCondLst>
                                        </p:cTn>
                                        <p:tgtEl>
                                          <p:spTgt spid="5553"/>
                                        </p:tgtEl>
                                        <p:attrNameLst>
                                          <p:attrName>style.visibility</p:attrName>
                                        </p:attrNameLst>
                                      </p:cBhvr>
                                      <p:to>
                                        <p:strVal val="visible"/>
                                      </p:to>
                                    </p:set>
                                    <p:animEffect filter="fade" transition="in">
                                      <p:cBhvr>
                                        <p:cTn dur="1000"/>
                                        <p:tgtEl>
                                          <p:spTgt spid="5553"/>
                                        </p:tgtEl>
                                      </p:cBhvr>
                                    </p:animEffect>
                                  </p:childTnLst>
                                </p:cTn>
                              </p:par>
                              <p:par>
                                <p:cTn fill="hold" nodeType="withEffect" presetClass="entr" presetID="10" presetSubtype="0">
                                  <p:stCondLst>
                                    <p:cond delay="0"/>
                                  </p:stCondLst>
                                  <p:childTnLst>
                                    <p:set>
                                      <p:cBhvr>
                                        <p:cTn dur="1" fill="hold">
                                          <p:stCondLst>
                                            <p:cond delay="0"/>
                                          </p:stCondLst>
                                        </p:cTn>
                                        <p:tgtEl>
                                          <p:spTgt spid="5629"/>
                                        </p:tgtEl>
                                        <p:attrNameLst>
                                          <p:attrName>style.visibility</p:attrName>
                                        </p:attrNameLst>
                                      </p:cBhvr>
                                      <p:to>
                                        <p:strVal val="visible"/>
                                      </p:to>
                                    </p:set>
                                    <p:animEffect filter="fade" transition="in">
                                      <p:cBhvr>
                                        <p:cTn dur="1000"/>
                                        <p:tgtEl>
                                          <p:spTgt spid="5629"/>
                                        </p:tgtEl>
                                      </p:cBhvr>
                                    </p:animEffect>
                                  </p:childTnLst>
                                </p:cTn>
                              </p:par>
                              <p:par>
                                <p:cTn fill="hold" nodeType="withEffect" presetClass="entr" presetID="10" presetSubtype="0">
                                  <p:stCondLst>
                                    <p:cond delay="0"/>
                                  </p:stCondLst>
                                  <p:childTnLst>
                                    <p:set>
                                      <p:cBhvr>
                                        <p:cTn dur="1" fill="hold">
                                          <p:stCondLst>
                                            <p:cond delay="0"/>
                                          </p:stCondLst>
                                        </p:cTn>
                                        <p:tgtEl>
                                          <p:spTgt spid="5555"/>
                                        </p:tgtEl>
                                        <p:attrNameLst>
                                          <p:attrName>style.visibility</p:attrName>
                                        </p:attrNameLst>
                                      </p:cBhvr>
                                      <p:to>
                                        <p:strVal val="visible"/>
                                      </p:to>
                                    </p:set>
                                    <p:animEffect filter="fade" transition="in">
                                      <p:cBhvr>
                                        <p:cTn dur="1000"/>
                                        <p:tgtEl>
                                          <p:spTgt spid="5555"/>
                                        </p:tgtEl>
                                      </p:cBhvr>
                                    </p:animEffect>
                                  </p:childTnLst>
                                </p:cTn>
                              </p:par>
                              <p:par>
                                <p:cTn fill="hold" nodeType="withEffect" presetClass="entr" presetID="10" presetSubtype="0">
                                  <p:stCondLst>
                                    <p:cond delay="0"/>
                                  </p:stCondLst>
                                  <p:childTnLst>
                                    <p:set>
                                      <p:cBhvr>
                                        <p:cTn dur="1" fill="hold">
                                          <p:stCondLst>
                                            <p:cond delay="0"/>
                                          </p:stCondLst>
                                        </p:cTn>
                                        <p:tgtEl>
                                          <p:spTgt spid="5552"/>
                                        </p:tgtEl>
                                        <p:attrNameLst>
                                          <p:attrName>style.visibility</p:attrName>
                                        </p:attrNameLst>
                                      </p:cBhvr>
                                      <p:to>
                                        <p:strVal val="visible"/>
                                      </p:to>
                                    </p:set>
                                    <p:animEffect filter="fade" transition="in">
                                      <p:cBhvr>
                                        <p:cTn dur="1000"/>
                                        <p:tgtEl>
                                          <p:spTgt spid="5552"/>
                                        </p:tgtEl>
                                      </p:cBhvr>
                                    </p:animEffect>
                                  </p:childTnLst>
                                </p:cTn>
                              </p:par>
                              <p:par>
                                <p:cTn fill="hold" nodeType="withEffect" presetClass="entr" presetID="10" presetSubtype="0">
                                  <p:stCondLst>
                                    <p:cond delay="0"/>
                                  </p:stCondLst>
                                  <p:childTnLst>
                                    <p:set>
                                      <p:cBhvr>
                                        <p:cTn dur="1" fill="hold">
                                          <p:stCondLst>
                                            <p:cond delay="0"/>
                                          </p:stCondLst>
                                        </p:cTn>
                                        <p:tgtEl>
                                          <p:spTgt spid="5622"/>
                                        </p:tgtEl>
                                        <p:attrNameLst>
                                          <p:attrName>style.visibility</p:attrName>
                                        </p:attrNameLst>
                                      </p:cBhvr>
                                      <p:to>
                                        <p:strVal val="visible"/>
                                      </p:to>
                                    </p:set>
                                    <p:animEffect filter="fade" transition="in">
                                      <p:cBhvr>
                                        <p:cTn dur="1000"/>
                                        <p:tgtEl>
                                          <p:spTgt spid="5622"/>
                                        </p:tgtEl>
                                      </p:cBhvr>
                                    </p:animEffect>
                                  </p:childTnLst>
                                </p:cTn>
                              </p:par>
                              <p:par>
                                <p:cTn fill="hold" nodeType="withEffect" presetClass="entr" presetID="10" presetSubtype="0">
                                  <p:stCondLst>
                                    <p:cond delay="0"/>
                                  </p:stCondLst>
                                  <p:childTnLst>
                                    <p:set>
                                      <p:cBhvr>
                                        <p:cTn dur="1" fill="hold">
                                          <p:stCondLst>
                                            <p:cond delay="0"/>
                                          </p:stCondLst>
                                        </p:cTn>
                                        <p:tgtEl>
                                          <p:spTgt spid="5621"/>
                                        </p:tgtEl>
                                        <p:attrNameLst>
                                          <p:attrName>style.visibility</p:attrName>
                                        </p:attrNameLst>
                                      </p:cBhvr>
                                      <p:to>
                                        <p:strVal val="visible"/>
                                      </p:to>
                                    </p:set>
                                    <p:animEffect filter="fade" transition="in">
                                      <p:cBhvr>
                                        <p:cTn dur="1000"/>
                                        <p:tgtEl>
                                          <p:spTgt spid="5621"/>
                                        </p:tgtEl>
                                      </p:cBhvr>
                                    </p:animEffect>
                                  </p:childTnLst>
                                </p:cTn>
                              </p:par>
                              <p:par>
                                <p:cTn fill="hold" nodeType="withEffect" presetClass="entr" presetID="10" presetSubtype="0">
                                  <p:stCondLst>
                                    <p:cond delay="0"/>
                                  </p:stCondLst>
                                  <p:childTnLst>
                                    <p:set>
                                      <p:cBhvr>
                                        <p:cTn dur="1" fill="hold">
                                          <p:stCondLst>
                                            <p:cond delay="0"/>
                                          </p:stCondLst>
                                        </p:cTn>
                                        <p:tgtEl>
                                          <p:spTgt spid="5554"/>
                                        </p:tgtEl>
                                        <p:attrNameLst>
                                          <p:attrName>style.visibility</p:attrName>
                                        </p:attrNameLst>
                                      </p:cBhvr>
                                      <p:to>
                                        <p:strVal val="visible"/>
                                      </p:to>
                                    </p:set>
                                    <p:animEffect filter="fade" transition="in">
                                      <p:cBhvr>
                                        <p:cTn dur="1000"/>
                                        <p:tgtEl>
                                          <p:spTgt spid="5554"/>
                                        </p:tgtEl>
                                      </p:cBhvr>
                                    </p:animEffect>
                                  </p:childTnLst>
                                </p:cTn>
                              </p:par>
                              <p:par>
                                <p:cTn fill="hold" nodeType="withEffect" presetClass="entr" presetID="10" presetSubtype="0">
                                  <p:stCondLst>
                                    <p:cond delay="0"/>
                                  </p:stCondLst>
                                  <p:childTnLst>
                                    <p:set>
                                      <p:cBhvr>
                                        <p:cTn dur="1" fill="hold">
                                          <p:stCondLst>
                                            <p:cond delay="0"/>
                                          </p:stCondLst>
                                        </p:cTn>
                                        <p:tgtEl>
                                          <p:spTgt spid="5558"/>
                                        </p:tgtEl>
                                        <p:attrNameLst>
                                          <p:attrName>style.visibility</p:attrName>
                                        </p:attrNameLst>
                                      </p:cBhvr>
                                      <p:to>
                                        <p:strVal val="visible"/>
                                      </p:to>
                                    </p:set>
                                    <p:animEffect filter="fade" transition="in">
                                      <p:cBhvr>
                                        <p:cTn dur="1000"/>
                                        <p:tgtEl>
                                          <p:spTgt spid="5558"/>
                                        </p:tgtEl>
                                      </p:cBhvr>
                                    </p:animEffect>
                                  </p:childTnLst>
                                </p:cTn>
                              </p:par>
                              <p:par>
                                <p:cTn fill="hold" nodeType="withEffect" presetClass="entr" presetID="10" presetSubtype="0">
                                  <p:stCondLst>
                                    <p:cond delay="0"/>
                                  </p:stCondLst>
                                  <p:childTnLst>
                                    <p:set>
                                      <p:cBhvr>
                                        <p:cTn dur="1" fill="hold">
                                          <p:stCondLst>
                                            <p:cond delay="0"/>
                                          </p:stCondLst>
                                        </p:cTn>
                                        <p:tgtEl>
                                          <p:spTgt spid="5557"/>
                                        </p:tgtEl>
                                        <p:attrNameLst>
                                          <p:attrName>style.visibility</p:attrName>
                                        </p:attrNameLst>
                                      </p:cBhvr>
                                      <p:to>
                                        <p:strVal val="visible"/>
                                      </p:to>
                                    </p:set>
                                    <p:animEffect filter="fade" transition="in">
                                      <p:cBhvr>
                                        <p:cTn dur="1000"/>
                                        <p:tgtEl>
                                          <p:spTgt spid="5557"/>
                                        </p:tgtEl>
                                      </p:cBhvr>
                                    </p:animEffect>
                                  </p:childTnLst>
                                </p:cTn>
                              </p:par>
                              <p:par>
                                <p:cTn fill="hold" nodeType="withEffect" presetClass="entr" presetID="10" presetSubtype="0">
                                  <p:stCondLst>
                                    <p:cond delay="0"/>
                                  </p:stCondLst>
                                  <p:childTnLst>
                                    <p:set>
                                      <p:cBhvr>
                                        <p:cTn dur="1" fill="hold">
                                          <p:stCondLst>
                                            <p:cond delay="0"/>
                                          </p:stCondLst>
                                        </p:cTn>
                                        <p:tgtEl>
                                          <p:spTgt spid="5556"/>
                                        </p:tgtEl>
                                        <p:attrNameLst>
                                          <p:attrName>style.visibility</p:attrName>
                                        </p:attrNameLst>
                                      </p:cBhvr>
                                      <p:to>
                                        <p:strVal val="visible"/>
                                      </p:to>
                                    </p:set>
                                    <p:animEffect filter="fade" transition="in">
                                      <p:cBhvr>
                                        <p:cTn dur="1000"/>
                                        <p:tgtEl>
                                          <p:spTgt spid="55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4" name="Shape 5654"/>
        <p:cNvGrpSpPr/>
        <p:nvPr/>
      </p:nvGrpSpPr>
      <p:grpSpPr>
        <a:xfrm>
          <a:off x="0" y="0"/>
          <a:ext cx="0" cy="0"/>
          <a:chOff x="0" y="0"/>
          <a:chExt cx="0" cy="0"/>
        </a:xfrm>
      </p:grpSpPr>
      <p:sp>
        <p:nvSpPr>
          <p:cNvPr id="5655" name="Google Shape;5655;p75"/>
          <p:cNvSpPr txBox="1"/>
          <p:nvPr>
            <p:ph type="title"/>
          </p:nvPr>
        </p:nvSpPr>
        <p:spPr>
          <a:xfrm>
            <a:off x="826625" y="17402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8"/>
              </a:buClr>
              <a:buSzPts val="4400"/>
              <a:buFont typeface="Calibri"/>
              <a:buNone/>
            </a:pPr>
            <a:r>
              <a:rPr lang="en-US">
                <a:solidFill>
                  <a:srgbClr val="0000A8"/>
                </a:solidFill>
              </a:rPr>
              <a:t>Distance vector example: iteration</a:t>
            </a:r>
            <a:endParaRPr/>
          </a:p>
        </p:txBody>
      </p:sp>
      <p:sp>
        <p:nvSpPr>
          <p:cNvPr id="5656" name="Google Shape;5656;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5657" name="Google Shape;5657;p75"/>
          <p:cNvCxnSpPr>
            <a:stCxn id="5658" idx="2"/>
            <a:endCxn id="5658"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5659" name="Google Shape;5659;p75"/>
          <p:cNvCxnSpPr>
            <a:stCxn id="5658" idx="1"/>
            <a:endCxn id="5658"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5658" name="Google Shape;5658;p75"/>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5660" name="Google Shape;5660;p75"/>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5661" name="Google Shape;5661;p75"/>
          <p:cNvGrpSpPr/>
          <p:nvPr/>
        </p:nvGrpSpPr>
        <p:grpSpPr>
          <a:xfrm>
            <a:off x="4333785" y="5772213"/>
            <a:ext cx="4395351" cy="404576"/>
            <a:chOff x="4333785" y="5772213"/>
            <a:chExt cx="4395351" cy="404576"/>
          </a:xfrm>
        </p:grpSpPr>
        <p:grpSp>
          <p:nvGrpSpPr>
            <p:cNvPr id="5662" name="Google Shape;5662;p75"/>
            <p:cNvGrpSpPr/>
            <p:nvPr/>
          </p:nvGrpSpPr>
          <p:grpSpPr>
            <a:xfrm>
              <a:off x="4333785" y="5772213"/>
              <a:ext cx="531821" cy="369069"/>
              <a:chOff x="1348328" y="2475647"/>
              <a:chExt cx="603916" cy="419100"/>
            </a:xfrm>
          </p:grpSpPr>
          <p:grpSp>
            <p:nvGrpSpPr>
              <p:cNvPr id="5663" name="Google Shape;5663;p75"/>
              <p:cNvGrpSpPr/>
              <p:nvPr/>
            </p:nvGrpSpPr>
            <p:grpSpPr>
              <a:xfrm>
                <a:off x="1348328" y="2555748"/>
                <a:ext cx="603916" cy="308999"/>
                <a:chOff x="5278570" y="2983486"/>
                <a:chExt cx="501650" cy="233363"/>
              </a:xfrm>
            </p:grpSpPr>
            <p:sp>
              <p:nvSpPr>
                <p:cNvPr id="5664" name="Google Shape;5664;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665" name="Google Shape;5665;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666" name="Google Shape;5666;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667" name="Google Shape;5667;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668" name="Google Shape;5668;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669" name="Google Shape;5669;p75"/>
              <p:cNvGrpSpPr/>
              <p:nvPr/>
            </p:nvGrpSpPr>
            <p:grpSpPr>
              <a:xfrm>
                <a:off x="1456374" y="2475647"/>
                <a:ext cx="355165" cy="419100"/>
                <a:chOff x="2944" y="2405"/>
                <a:chExt cx="227" cy="264"/>
              </a:xfrm>
            </p:grpSpPr>
            <p:sp>
              <p:nvSpPr>
                <p:cNvPr id="5670" name="Google Shape;5670;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71" name="Google Shape;5671;p75"/>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5672" name="Google Shape;5672;p75"/>
            <p:cNvGrpSpPr/>
            <p:nvPr/>
          </p:nvGrpSpPr>
          <p:grpSpPr>
            <a:xfrm>
              <a:off x="6263949" y="5807720"/>
              <a:ext cx="531821" cy="369069"/>
              <a:chOff x="1348328" y="2507397"/>
              <a:chExt cx="603916" cy="419100"/>
            </a:xfrm>
          </p:grpSpPr>
          <p:grpSp>
            <p:nvGrpSpPr>
              <p:cNvPr id="5673" name="Google Shape;5673;p75"/>
              <p:cNvGrpSpPr/>
              <p:nvPr/>
            </p:nvGrpSpPr>
            <p:grpSpPr>
              <a:xfrm>
                <a:off x="1348328" y="2555748"/>
                <a:ext cx="603916" cy="308999"/>
                <a:chOff x="5278570" y="2983486"/>
                <a:chExt cx="501650" cy="233363"/>
              </a:xfrm>
            </p:grpSpPr>
            <p:sp>
              <p:nvSpPr>
                <p:cNvPr id="5674" name="Google Shape;5674;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675" name="Google Shape;5675;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676" name="Google Shape;5676;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677" name="Google Shape;5677;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678" name="Google Shape;5678;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679" name="Google Shape;5679;p75"/>
              <p:cNvGrpSpPr/>
              <p:nvPr/>
            </p:nvGrpSpPr>
            <p:grpSpPr>
              <a:xfrm>
                <a:off x="1456374" y="2507397"/>
                <a:ext cx="355165" cy="419100"/>
                <a:chOff x="2944" y="2425"/>
                <a:chExt cx="227" cy="264"/>
              </a:xfrm>
            </p:grpSpPr>
            <p:sp>
              <p:nvSpPr>
                <p:cNvPr id="5680" name="Google Shape;5680;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81" name="Google Shape;5681;p75"/>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5682" name="Google Shape;5682;p75"/>
            <p:cNvGrpSpPr/>
            <p:nvPr/>
          </p:nvGrpSpPr>
          <p:grpSpPr>
            <a:xfrm>
              <a:off x="8197315" y="5805271"/>
              <a:ext cx="531821" cy="369069"/>
              <a:chOff x="1348328" y="2507397"/>
              <a:chExt cx="603916" cy="419100"/>
            </a:xfrm>
          </p:grpSpPr>
          <p:grpSp>
            <p:nvGrpSpPr>
              <p:cNvPr id="5683" name="Google Shape;5683;p75"/>
              <p:cNvGrpSpPr/>
              <p:nvPr/>
            </p:nvGrpSpPr>
            <p:grpSpPr>
              <a:xfrm>
                <a:off x="1348328" y="2555748"/>
                <a:ext cx="603916" cy="308999"/>
                <a:chOff x="5278570" y="2983486"/>
                <a:chExt cx="501650" cy="233363"/>
              </a:xfrm>
            </p:grpSpPr>
            <p:sp>
              <p:nvSpPr>
                <p:cNvPr id="5684" name="Google Shape;5684;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685" name="Google Shape;5685;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686" name="Google Shape;5686;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687" name="Google Shape;5687;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688" name="Google Shape;5688;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689" name="Google Shape;5689;p75"/>
              <p:cNvGrpSpPr/>
              <p:nvPr/>
            </p:nvGrpSpPr>
            <p:grpSpPr>
              <a:xfrm>
                <a:off x="1500196" y="2507397"/>
                <a:ext cx="267548" cy="419100"/>
                <a:chOff x="2972" y="2425"/>
                <a:chExt cx="171" cy="264"/>
              </a:xfrm>
            </p:grpSpPr>
            <p:sp>
              <p:nvSpPr>
                <p:cNvPr id="5690" name="Google Shape;5690;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91" name="Google Shape;5691;p75"/>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5692" name="Google Shape;5692;p75"/>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693" name="Google Shape;5693;p75"/>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694" name="Google Shape;5694;p75"/>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695" name="Google Shape;5695;p75"/>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696" name="Google Shape;5696;p75"/>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697" name="Google Shape;5697;p75"/>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698" name="Google Shape;5698;p75"/>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699" name="Google Shape;5699;p75"/>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5700" name="Google Shape;5700;p75"/>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701" name="Google Shape;5701;p75"/>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a:t>
            </a:r>
            <a:endParaRPr/>
          </a:p>
        </p:txBody>
      </p:sp>
      <p:sp>
        <p:nvSpPr>
          <p:cNvPr id="5702" name="Google Shape;5702;p75"/>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grpSp>
        <p:nvGrpSpPr>
          <p:cNvPr id="5703" name="Google Shape;5703;p75"/>
          <p:cNvGrpSpPr/>
          <p:nvPr/>
        </p:nvGrpSpPr>
        <p:grpSpPr>
          <a:xfrm>
            <a:off x="4336458" y="3833790"/>
            <a:ext cx="4395351" cy="404576"/>
            <a:chOff x="4333785" y="5772213"/>
            <a:chExt cx="4395351" cy="404576"/>
          </a:xfrm>
        </p:grpSpPr>
        <p:grpSp>
          <p:nvGrpSpPr>
            <p:cNvPr id="5704" name="Google Shape;5704;p75"/>
            <p:cNvGrpSpPr/>
            <p:nvPr/>
          </p:nvGrpSpPr>
          <p:grpSpPr>
            <a:xfrm>
              <a:off x="4333785" y="5772213"/>
              <a:ext cx="531821" cy="369069"/>
              <a:chOff x="1348328" y="2475647"/>
              <a:chExt cx="603916" cy="419100"/>
            </a:xfrm>
          </p:grpSpPr>
          <p:grpSp>
            <p:nvGrpSpPr>
              <p:cNvPr id="5705" name="Google Shape;5705;p75"/>
              <p:cNvGrpSpPr/>
              <p:nvPr/>
            </p:nvGrpSpPr>
            <p:grpSpPr>
              <a:xfrm>
                <a:off x="1348328" y="2555748"/>
                <a:ext cx="603916" cy="308999"/>
                <a:chOff x="5278570" y="2983486"/>
                <a:chExt cx="501650" cy="233363"/>
              </a:xfrm>
            </p:grpSpPr>
            <p:sp>
              <p:nvSpPr>
                <p:cNvPr id="5706" name="Google Shape;5706;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707" name="Google Shape;5707;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708" name="Google Shape;5708;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709" name="Google Shape;5709;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710" name="Google Shape;5710;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711" name="Google Shape;5711;p75"/>
              <p:cNvGrpSpPr/>
              <p:nvPr/>
            </p:nvGrpSpPr>
            <p:grpSpPr>
              <a:xfrm>
                <a:off x="1456374" y="2475647"/>
                <a:ext cx="355165" cy="419100"/>
                <a:chOff x="2944" y="2405"/>
                <a:chExt cx="227" cy="264"/>
              </a:xfrm>
            </p:grpSpPr>
            <p:sp>
              <p:nvSpPr>
                <p:cNvPr id="5712" name="Google Shape;5712;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713" name="Google Shape;5713;p75"/>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5714" name="Google Shape;5714;p75"/>
            <p:cNvGrpSpPr/>
            <p:nvPr/>
          </p:nvGrpSpPr>
          <p:grpSpPr>
            <a:xfrm>
              <a:off x="6263949" y="5807720"/>
              <a:ext cx="531821" cy="369069"/>
              <a:chOff x="1348328" y="2507397"/>
              <a:chExt cx="603916" cy="419100"/>
            </a:xfrm>
          </p:grpSpPr>
          <p:grpSp>
            <p:nvGrpSpPr>
              <p:cNvPr id="5715" name="Google Shape;5715;p75"/>
              <p:cNvGrpSpPr/>
              <p:nvPr/>
            </p:nvGrpSpPr>
            <p:grpSpPr>
              <a:xfrm>
                <a:off x="1348328" y="2555748"/>
                <a:ext cx="603916" cy="308999"/>
                <a:chOff x="5278570" y="2983486"/>
                <a:chExt cx="501650" cy="233363"/>
              </a:xfrm>
            </p:grpSpPr>
            <p:sp>
              <p:nvSpPr>
                <p:cNvPr id="5716" name="Google Shape;5716;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717" name="Google Shape;5717;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718" name="Google Shape;5718;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719" name="Google Shape;5719;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720" name="Google Shape;5720;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721" name="Google Shape;5721;p75"/>
              <p:cNvGrpSpPr/>
              <p:nvPr/>
            </p:nvGrpSpPr>
            <p:grpSpPr>
              <a:xfrm>
                <a:off x="1456374" y="2507397"/>
                <a:ext cx="355165" cy="419100"/>
                <a:chOff x="2944" y="2425"/>
                <a:chExt cx="227" cy="264"/>
              </a:xfrm>
            </p:grpSpPr>
            <p:sp>
              <p:nvSpPr>
                <p:cNvPr id="5722" name="Google Shape;5722;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723" name="Google Shape;5723;p75"/>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5724" name="Google Shape;5724;p75"/>
            <p:cNvGrpSpPr/>
            <p:nvPr/>
          </p:nvGrpSpPr>
          <p:grpSpPr>
            <a:xfrm>
              <a:off x="8197315" y="5805271"/>
              <a:ext cx="531821" cy="369069"/>
              <a:chOff x="1348328" y="2507397"/>
              <a:chExt cx="603916" cy="419100"/>
            </a:xfrm>
          </p:grpSpPr>
          <p:grpSp>
            <p:nvGrpSpPr>
              <p:cNvPr id="5725" name="Google Shape;5725;p75"/>
              <p:cNvGrpSpPr/>
              <p:nvPr/>
            </p:nvGrpSpPr>
            <p:grpSpPr>
              <a:xfrm>
                <a:off x="1348328" y="2555748"/>
                <a:ext cx="603916" cy="308999"/>
                <a:chOff x="5278570" y="2983486"/>
                <a:chExt cx="501650" cy="233363"/>
              </a:xfrm>
            </p:grpSpPr>
            <p:sp>
              <p:nvSpPr>
                <p:cNvPr id="5726" name="Google Shape;5726;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727" name="Google Shape;5727;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728" name="Google Shape;5728;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729" name="Google Shape;5729;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730" name="Google Shape;5730;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731" name="Google Shape;5731;p75"/>
              <p:cNvGrpSpPr/>
              <p:nvPr/>
            </p:nvGrpSpPr>
            <p:grpSpPr>
              <a:xfrm>
                <a:off x="1492372" y="2507397"/>
                <a:ext cx="283194" cy="419100"/>
                <a:chOff x="2967" y="2425"/>
                <a:chExt cx="181" cy="264"/>
              </a:xfrm>
            </p:grpSpPr>
            <p:sp>
              <p:nvSpPr>
                <p:cNvPr id="5732" name="Google Shape;5732;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733" name="Google Shape;5733;p75"/>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5734" name="Google Shape;5734;p75"/>
          <p:cNvGrpSpPr/>
          <p:nvPr/>
        </p:nvGrpSpPr>
        <p:grpSpPr>
          <a:xfrm>
            <a:off x="4333785" y="1906063"/>
            <a:ext cx="4395351" cy="404576"/>
            <a:chOff x="4333785" y="5772213"/>
            <a:chExt cx="4395351" cy="404576"/>
          </a:xfrm>
        </p:grpSpPr>
        <p:grpSp>
          <p:nvGrpSpPr>
            <p:cNvPr id="5735" name="Google Shape;5735;p75"/>
            <p:cNvGrpSpPr/>
            <p:nvPr/>
          </p:nvGrpSpPr>
          <p:grpSpPr>
            <a:xfrm>
              <a:off x="4333785" y="5772213"/>
              <a:ext cx="531821" cy="369069"/>
              <a:chOff x="1348328" y="2475647"/>
              <a:chExt cx="603916" cy="419100"/>
            </a:xfrm>
          </p:grpSpPr>
          <p:grpSp>
            <p:nvGrpSpPr>
              <p:cNvPr id="5736" name="Google Shape;5736;p75"/>
              <p:cNvGrpSpPr/>
              <p:nvPr/>
            </p:nvGrpSpPr>
            <p:grpSpPr>
              <a:xfrm>
                <a:off x="1348328" y="2555748"/>
                <a:ext cx="603916" cy="308999"/>
                <a:chOff x="5278570" y="2983486"/>
                <a:chExt cx="501650" cy="233363"/>
              </a:xfrm>
            </p:grpSpPr>
            <p:sp>
              <p:nvSpPr>
                <p:cNvPr id="5737" name="Google Shape;5737;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738" name="Google Shape;5738;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739" name="Google Shape;5739;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740" name="Google Shape;5740;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741" name="Google Shape;5741;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742" name="Google Shape;5742;p75"/>
              <p:cNvGrpSpPr/>
              <p:nvPr/>
            </p:nvGrpSpPr>
            <p:grpSpPr>
              <a:xfrm>
                <a:off x="1456374" y="2475647"/>
                <a:ext cx="355165" cy="419100"/>
                <a:chOff x="2944" y="2405"/>
                <a:chExt cx="227" cy="264"/>
              </a:xfrm>
            </p:grpSpPr>
            <p:sp>
              <p:nvSpPr>
                <p:cNvPr id="5743" name="Google Shape;5743;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744" name="Google Shape;5744;p75"/>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5745" name="Google Shape;5745;p75"/>
            <p:cNvGrpSpPr/>
            <p:nvPr/>
          </p:nvGrpSpPr>
          <p:grpSpPr>
            <a:xfrm>
              <a:off x="6263949" y="5807720"/>
              <a:ext cx="531821" cy="369069"/>
              <a:chOff x="1348328" y="2507397"/>
              <a:chExt cx="603916" cy="419100"/>
            </a:xfrm>
          </p:grpSpPr>
          <p:grpSp>
            <p:nvGrpSpPr>
              <p:cNvPr id="5746" name="Google Shape;5746;p75"/>
              <p:cNvGrpSpPr/>
              <p:nvPr/>
            </p:nvGrpSpPr>
            <p:grpSpPr>
              <a:xfrm>
                <a:off x="1348328" y="2555748"/>
                <a:ext cx="603916" cy="308999"/>
                <a:chOff x="5278570" y="2983486"/>
                <a:chExt cx="501650" cy="233363"/>
              </a:xfrm>
            </p:grpSpPr>
            <p:sp>
              <p:nvSpPr>
                <p:cNvPr id="5747" name="Google Shape;5747;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748" name="Google Shape;5748;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749" name="Google Shape;5749;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750" name="Google Shape;5750;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751" name="Google Shape;5751;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752" name="Google Shape;5752;p75"/>
              <p:cNvGrpSpPr/>
              <p:nvPr/>
            </p:nvGrpSpPr>
            <p:grpSpPr>
              <a:xfrm>
                <a:off x="1456374" y="2507397"/>
                <a:ext cx="355165" cy="419100"/>
                <a:chOff x="2944" y="2425"/>
                <a:chExt cx="227" cy="264"/>
              </a:xfrm>
            </p:grpSpPr>
            <p:sp>
              <p:nvSpPr>
                <p:cNvPr id="5753" name="Google Shape;5753;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754" name="Google Shape;5754;p75"/>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5755" name="Google Shape;5755;p75"/>
            <p:cNvGrpSpPr/>
            <p:nvPr/>
          </p:nvGrpSpPr>
          <p:grpSpPr>
            <a:xfrm>
              <a:off x="8197315" y="5805271"/>
              <a:ext cx="531821" cy="369069"/>
              <a:chOff x="1348328" y="2507397"/>
              <a:chExt cx="603916" cy="419100"/>
            </a:xfrm>
          </p:grpSpPr>
          <p:grpSp>
            <p:nvGrpSpPr>
              <p:cNvPr id="5756" name="Google Shape;5756;p75"/>
              <p:cNvGrpSpPr/>
              <p:nvPr/>
            </p:nvGrpSpPr>
            <p:grpSpPr>
              <a:xfrm>
                <a:off x="1348328" y="2555748"/>
                <a:ext cx="603916" cy="308999"/>
                <a:chOff x="5278570" y="2983486"/>
                <a:chExt cx="501650" cy="233363"/>
              </a:xfrm>
            </p:grpSpPr>
            <p:sp>
              <p:nvSpPr>
                <p:cNvPr id="5757" name="Google Shape;5757;p75"/>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758" name="Google Shape;5758;p75"/>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759" name="Google Shape;5759;p75"/>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760" name="Google Shape;5760;p75"/>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761" name="Google Shape;5761;p75"/>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762" name="Google Shape;5762;p75"/>
              <p:cNvGrpSpPr/>
              <p:nvPr/>
            </p:nvGrpSpPr>
            <p:grpSpPr>
              <a:xfrm>
                <a:off x="1464202" y="2507397"/>
                <a:ext cx="341084" cy="419100"/>
                <a:chOff x="2949" y="2425"/>
                <a:chExt cx="218" cy="264"/>
              </a:xfrm>
            </p:grpSpPr>
            <p:sp>
              <p:nvSpPr>
                <p:cNvPr id="5763" name="Google Shape;5763;p75"/>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764" name="Google Shape;5764;p75"/>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sp>
        <p:nvSpPr>
          <p:cNvPr id="5765" name="Google Shape;5765;p75"/>
          <p:cNvSpPr txBox="1"/>
          <p:nvPr/>
        </p:nvSpPr>
        <p:spPr>
          <a:xfrm flipH="1">
            <a:off x="476445" y="3078991"/>
            <a:ext cx="2195814" cy="258532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rgbClr val="000000"/>
                </a:solidFill>
                <a:latin typeface="Calibri"/>
                <a:ea typeface="Calibri"/>
                <a:cs typeface="Calibri"/>
                <a:sym typeface="Calibri"/>
              </a:rPr>
              <a:t>All nodes:</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receive distance vectors from neighbors</a:t>
            </a:r>
            <a:endParaRPr/>
          </a:p>
          <a:p>
            <a:pPr indent="-174625" lvl="0" marL="174625"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compute their new local  distance vector</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send their new local distance vector to neighbors</a:t>
            </a:r>
            <a:endParaRPr/>
          </a:p>
        </p:txBody>
      </p:sp>
      <p:grpSp>
        <p:nvGrpSpPr>
          <p:cNvPr id="5766" name="Google Shape;5766;p75"/>
          <p:cNvGrpSpPr/>
          <p:nvPr/>
        </p:nvGrpSpPr>
        <p:grpSpPr>
          <a:xfrm>
            <a:off x="584365" y="1859143"/>
            <a:ext cx="736099" cy="1229581"/>
            <a:chOff x="10030307" y="3444875"/>
            <a:chExt cx="736099" cy="1229581"/>
          </a:xfrm>
        </p:grpSpPr>
        <p:sp>
          <p:nvSpPr>
            <p:cNvPr id="5767" name="Google Shape;5767;p75"/>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t=2</a:t>
              </a:r>
              <a:endParaRPr/>
            </a:p>
          </p:txBody>
        </p:sp>
        <p:grpSp>
          <p:nvGrpSpPr>
            <p:cNvPr id="5768" name="Google Shape;5768;p75"/>
            <p:cNvGrpSpPr/>
            <p:nvPr/>
          </p:nvGrpSpPr>
          <p:grpSpPr>
            <a:xfrm>
              <a:off x="10034588" y="3444875"/>
              <a:ext cx="682627" cy="682625"/>
              <a:chOff x="10034589" y="3444875"/>
              <a:chExt cx="682627" cy="682625"/>
            </a:xfrm>
          </p:grpSpPr>
          <p:sp>
            <p:nvSpPr>
              <p:cNvPr id="5769" name="Google Shape;5769;p75"/>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770" name="Google Shape;5770;p75"/>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771" name="Google Shape;5771;p75"/>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772" name="Google Shape;5772;p75"/>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773" name="Google Shape;5773;p75"/>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774" name="Google Shape;5774;p75"/>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775" name="Google Shape;5775;p75"/>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776" name="Google Shape;5776;p75"/>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777" name="Google Shape;5777;p75"/>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778" name="Google Shape;5778;p75"/>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779" name="Google Shape;5779;p75"/>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780" name="Google Shape;5780;p75"/>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781" name="Google Shape;5781;p75"/>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5782" name="Google Shape;5782;p75"/>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nvGrpSpPr>
          <p:cNvPr id="5783" name="Google Shape;5783;p75"/>
          <p:cNvGrpSpPr/>
          <p:nvPr/>
        </p:nvGrpSpPr>
        <p:grpSpPr>
          <a:xfrm>
            <a:off x="4041058" y="1582994"/>
            <a:ext cx="5089626" cy="4955455"/>
            <a:chOff x="3982064" y="1612491"/>
            <a:chExt cx="5089626" cy="4955455"/>
          </a:xfrm>
        </p:grpSpPr>
        <p:grpSp>
          <p:nvGrpSpPr>
            <p:cNvPr id="5784" name="Google Shape;5784;p75"/>
            <p:cNvGrpSpPr/>
            <p:nvPr/>
          </p:nvGrpSpPr>
          <p:grpSpPr>
            <a:xfrm>
              <a:off x="4011560" y="1641985"/>
              <a:ext cx="1196054" cy="1022555"/>
              <a:chOff x="9655277" y="2349909"/>
              <a:chExt cx="1196054" cy="1022555"/>
            </a:xfrm>
          </p:grpSpPr>
          <p:sp>
            <p:nvSpPr>
              <p:cNvPr id="5785" name="Google Shape;5785;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786" name="Google Shape;5786;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787" name="Google Shape;5787;p75"/>
            <p:cNvGrpSpPr/>
            <p:nvPr/>
          </p:nvGrpSpPr>
          <p:grpSpPr>
            <a:xfrm>
              <a:off x="5943598" y="1627238"/>
              <a:ext cx="1196054" cy="1022555"/>
              <a:chOff x="9655277" y="2349909"/>
              <a:chExt cx="1196054" cy="1022555"/>
            </a:xfrm>
          </p:grpSpPr>
          <p:sp>
            <p:nvSpPr>
              <p:cNvPr id="5788" name="Google Shape;5788;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789" name="Google Shape;5789;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790" name="Google Shape;5790;p75"/>
            <p:cNvGrpSpPr/>
            <p:nvPr/>
          </p:nvGrpSpPr>
          <p:grpSpPr>
            <a:xfrm>
              <a:off x="7875636" y="1612491"/>
              <a:ext cx="1196054" cy="1022555"/>
              <a:chOff x="9655277" y="2349909"/>
              <a:chExt cx="1196054" cy="1022555"/>
            </a:xfrm>
          </p:grpSpPr>
          <p:sp>
            <p:nvSpPr>
              <p:cNvPr id="5791" name="Google Shape;5791;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792" name="Google Shape;5792;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793" name="Google Shape;5793;p75"/>
            <p:cNvGrpSpPr/>
            <p:nvPr/>
          </p:nvGrpSpPr>
          <p:grpSpPr>
            <a:xfrm>
              <a:off x="3996812" y="3593688"/>
              <a:ext cx="1196054" cy="1022555"/>
              <a:chOff x="9655277" y="2349909"/>
              <a:chExt cx="1196054" cy="1022555"/>
            </a:xfrm>
          </p:grpSpPr>
          <p:sp>
            <p:nvSpPr>
              <p:cNvPr id="5794" name="Google Shape;5794;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795" name="Google Shape;5795;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796" name="Google Shape;5796;p75"/>
            <p:cNvGrpSpPr/>
            <p:nvPr/>
          </p:nvGrpSpPr>
          <p:grpSpPr>
            <a:xfrm>
              <a:off x="5928850" y="3578941"/>
              <a:ext cx="1196054" cy="1022555"/>
              <a:chOff x="9655277" y="2349909"/>
              <a:chExt cx="1196054" cy="1022555"/>
            </a:xfrm>
          </p:grpSpPr>
          <p:sp>
            <p:nvSpPr>
              <p:cNvPr id="5797" name="Google Shape;5797;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798" name="Google Shape;5798;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799" name="Google Shape;5799;p75"/>
            <p:cNvGrpSpPr/>
            <p:nvPr/>
          </p:nvGrpSpPr>
          <p:grpSpPr>
            <a:xfrm>
              <a:off x="7860888" y="3564194"/>
              <a:ext cx="1196054" cy="1022555"/>
              <a:chOff x="9655277" y="2349909"/>
              <a:chExt cx="1196054" cy="1022555"/>
            </a:xfrm>
          </p:grpSpPr>
          <p:sp>
            <p:nvSpPr>
              <p:cNvPr id="5800" name="Google Shape;5800;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01" name="Google Shape;5801;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802" name="Google Shape;5802;p75"/>
            <p:cNvGrpSpPr/>
            <p:nvPr/>
          </p:nvGrpSpPr>
          <p:grpSpPr>
            <a:xfrm>
              <a:off x="3982064" y="5545391"/>
              <a:ext cx="1196054" cy="1022555"/>
              <a:chOff x="9655277" y="2349909"/>
              <a:chExt cx="1196054" cy="1022555"/>
            </a:xfrm>
          </p:grpSpPr>
          <p:sp>
            <p:nvSpPr>
              <p:cNvPr id="5803" name="Google Shape;5803;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04" name="Google Shape;5804;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805" name="Google Shape;5805;p75"/>
            <p:cNvGrpSpPr/>
            <p:nvPr/>
          </p:nvGrpSpPr>
          <p:grpSpPr>
            <a:xfrm>
              <a:off x="5914102" y="5530644"/>
              <a:ext cx="1196054" cy="1022555"/>
              <a:chOff x="9655277" y="2349909"/>
              <a:chExt cx="1196054" cy="1022555"/>
            </a:xfrm>
          </p:grpSpPr>
          <p:sp>
            <p:nvSpPr>
              <p:cNvPr id="5806" name="Google Shape;5806;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07" name="Google Shape;5807;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nvGrpSpPr>
            <p:cNvPr id="5808" name="Google Shape;5808;p75"/>
            <p:cNvGrpSpPr/>
            <p:nvPr/>
          </p:nvGrpSpPr>
          <p:grpSpPr>
            <a:xfrm>
              <a:off x="7846140" y="5515897"/>
              <a:ext cx="1196054" cy="1022555"/>
              <a:chOff x="9655277" y="2349909"/>
              <a:chExt cx="1196054" cy="1022555"/>
            </a:xfrm>
          </p:grpSpPr>
          <p:sp>
            <p:nvSpPr>
              <p:cNvPr id="5809" name="Google Shape;5809;p75"/>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10" name="Google Shape;5810;p75"/>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grpSp>
      <p:cxnSp>
        <p:nvCxnSpPr>
          <p:cNvPr id="5811" name="Google Shape;5811;p75"/>
          <p:cNvCxnSpPr/>
          <p:nvPr/>
        </p:nvCxnSpPr>
        <p:spPr>
          <a:xfrm flipH="1">
            <a:off x="919556" y="2070953"/>
            <a:ext cx="240612" cy="121026"/>
          </a:xfrm>
          <a:prstGeom prst="straightConnector1">
            <a:avLst/>
          </a:prstGeom>
          <a:noFill/>
          <a:ln cap="flat" cmpd="sng" w="25400">
            <a:solidFill>
              <a:srgbClr val="C00000"/>
            </a:solidFill>
            <a:prstDash val="solid"/>
            <a:miter lim="8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83"/>
                                        </p:tgtEl>
                                        <p:attrNameLst>
                                          <p:attrName>style.visibility</p:attrName>
                                        </p:attrNameLst>
                                      </p:cBhvr>
                                      <p:to>
                                        <p:strVal val="visible"/>
                                      </p:to>
                                    </p:set>
                                    <p:animEffect filter="fade" transition="in">
                                      <p:cBhvr>
                                        <p:cTn dur="500"/>
                                        <p:tgtEl>
                                          <p:spTgt spid="57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6" name="Shape 5816"/>
        <p:cNvGrpSpPr/>
        <p:nvPr/>
      </p:nvGrpSpPr>
      <p:grpSpPr>
        <a:xfrm>
          <a:off x="0" y="0"/>
          <a:ext cx="0" cy="0"/>
          <a:chOff x="0" y="0"/>
          <a:chExt cx="0" cy="0"/>
        </a:xfrm>
      </p:grpSpPr>
      <p:sp>
        <p:nvSpPr>
          <p:cNvPr id="5817" name="Google Shape;5817;p76"/>
          <p:cNvSpPr txBox="1"/>
          <p:nvPr>
            <p:ph type="title"/>
          </p:nvPr>
        </p:nvSpPr>
        <p:spPr>
          <a:xfrm>
            <a:off x="826625" y="17402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 </a:t>
            </a:r>
            <a:r>
              <a:rPr lang="en-US">
                <a:solidFill>
                  <a:srgbClr val="0000A8"/>
                </a:solidFill>
              </a:rPr>
              <a:t>iteration</a:t>
            </a:r>
            <a:endParaRPr/>
          </a:p>
        </p:txBody>
      </p:sp>
      <p:sp>
        <p:nvSpPr>
          <p:cNvPr id="5818" name="Google Shape;5818;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5819" name="Google Shape;5819;p76"/>
          <p:cNvCxnSpPr>
            <a:stCxn id="5820" idx="2"/>
            <a:endCxn id="5820"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5821" name="Google Shape;5821;p76"/>
          <p:cNvCxnSpPr>
            <a:stCxn id="5820" idx="1"/>
            <a:endCxn id="5820"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5820" name="Google Shape;5820;p76"/>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5822" name="Google Shape;5822;p76"/>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5823" name="Google Shape;5823;p76"/>
          <p:cNvGrpSpPr/>
          <p:nvPr/>
        </p:nvGrpSpPr>
        <p:grpSpPr>
          <a:xfrm>
            <a:off x="4333785" y="5772213"/>
            <a:ext cx="4395351" cy="404576"/>
            <a:chOff x="4333785" y="5772213"/>
            <a:chExt cx="4395351" cy="404576"/>
          </a:xfrm>
        </p:grpSpPr>
        <p:grpSp>
          <p:nvGrpSpPr>
            <p:cNvPr id="5824" name="Google Shape;5824;p76"/>
            <p:cNvGrpSpPr/>
            <p:nvPr/>
          </p:nvGrpSpPr>
          <p:grpSpPr>
            <a:xfrm>
              <a:off x="4333785" y="5772213"/>
              <a:ext cx="531821" cy="369069"/>
              <a:chOff x="1348328" y="2475647"/>
              <a:chExt cx="603916" cy="419100"/>
            </a:xfrm>
          </p:grpSpPr>
          <p:grpSp>
            <p:nvGrpSpPr>
              <p:cNvPr id="5825" name="Google Shape;5825;p76"/>
              <p:cNvGrpSpPr/>
              <p:nvPr/>
            </p:nvGrpSpPr>
            <p:grpSpPr>
              <a:xfrm>
                <a:off x="1348328" y="2555748"/>
                <a:ext cx="603916" cy="308999"/>
                <a:chOff x="5278570" y="2983486"/>
                <a:chExt cx="501650" cy="233363"/>
              </a:xfrm>
            </p:grpSpPr>
            <p:sp>
              <p:nvSpPr>
                <p:cNvPr id="5826" name="Google Shape;5826;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827" name="Google Shape;5827;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828" name="Google Shape;5828;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829" name="Google Shape;5829;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830" name="Google Shape;5830;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831" name="Google Shape;5831;p76"/>
              <p:cNvGrpSpPr/>
              <p:nvPr/>
            </p:nvGrpSpPr>
            <p:grpSpPr>
              <a:xfrm>
                <a:off x="1456374" y="2475647"/>
                <a:ext cx="355165" cy="419100"/>
                <a:chOff x="2944" y="2405"/>
                <a:chExt cx="227" cy="264"/>
              </a:xfrm>
            </p:grpSpPr>
            <p:sp>
              <p:nvSpPr>
                <p:cNvPr id="5832" name="Google Shape;5832;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833" name="Google Shape;5833;p76"/>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5834" name="Google Shape;5834;p76"/>
            <p:cNvGrpSpPr/>
            <p:nvPr/>
          </p:nvGrpSpPr>
          <p:grpSpPr>
            <a:xfrm>
              <a:off x="6263949" y="5807720"/>
              <a:ext cx="531821" cy="369069"/>
              <a:chOff x="1348328" y="2507397"/>
              <a:chExt cx="603916" cy="419100"/>
            </a:xfrm>
          </p:grpSpPr>
          <p:grpSp>
            <p:nvGrpSpPr>
              <p:cNvPr id="5835" name="Google Shape;5835;p76"/>
              <p:cNvGrpSpPr/>
              <p:nvPr/>
            </p:nvGrpSpPr>
            <p:grpSpPr>
              <a:xfrm>
                <a:off x="1348328" y="2555748"/>
                <a:ext cx="603916" cy="308999"/>
                <a:chOff x="5278570" y="2983486"/>
                <a:chExt cx="501650" cy="233363"/>
              </a:xfrm>
            </p:grpSpPr>
            <p:sp>
              <p:nvSpPr>
                <p:cNvPr id="5836" name="Google Shape;5836;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837" name="Google Shape;5837;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838" name="Google Shape;5838;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839" name="Google Shape;5839;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840" name="Google Shape;5840;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841" name="Google Shape;5841;p76"/>
              <p:cNvGrpSpPr/>
              <p:nvPr/>
            </p:nvGrpSpPr>
            <p:grpSpPr>
              <a:xfrm>
                <a:off x="1456374" y="2507397"/>
                <a:ext cx="355165" cy="419100"/>
                <a:chOff x="2944" y="2425"/>
                <a:chExt cx="227" cy="264"/>
              </a:xfrm>
            </p:grpSpPr>
            <p:sp>
              <p:nvSpPr>
                <p:cNvPr id="5842" name="Google Shape;5842;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843" name="Google Shape;5843;p76"/>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5844" name="Google Shape;5844;p76"/>
            <p:cNvGrpSpPr/>
            <p:nvPr/>
          </p:nvGrpSpPr>
          <p:grpSpPr>
            <a:xfrm>
              <a:off x="8197315" y="5805271"/>
              <a:ext cx="531821" cy="369069"/>
              <a:chOff x="1348328" y="2507397"/>
              <a:chExt cx="603916" cy="419100"/>
            </a:xfrm>
          </p:grpSpPr>
          <p:grpSp>
            <p:nvGrpSpPr>
              <p:cNvPr id="5845" name="Google Shape;5845;p76"/>
              <p:cNvGrpSpPr/>
              <p:nvPr/>
            </p:nvGrpSpPr>
            <p:grpSpPr>
              <a:xfrm>
                <a:off x="1348328" y="2555748"/>
                <a:ext cx="603916" cy="308999"/>
                <a:chOff x="5278570" y="2983486"/>
                <a:chExt cx="501650" cy="233363"/>
              </a:xfrm>
            </p:grpSpPr>
            <p:sp>
              <p:nvSpPr>
                <p:cNvPr id="5846" name="Google Shape;5846;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847" name="Google Shape;5847;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848" name="Google Shape;5848;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849" name="Google Shape;5849;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850" name="Google Shape;5850;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851" name="Google Shape;5851;p76"/>
              <p:cNvGrpSpPr/>
              <p:nvPr/>
            </p:nvGrpSpPr>
            <p:grpSpPr>
              <a:xfrm>
                <a:off x="1500196" y="2507397"/>
                <a:ext cx="267548" cy="419100"/>
                <a:chOff x="2972" y="2425"/>
                <a:chExt cx="171" cy="264"/>
              </a:xfrm>
            </p:grpSpPr>
            <p:sp>
              <p:nvSpPr>
                <p:cNvPr id="5852" name="Google Shape;5852;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853" name="Google Shape;5853;p76"/>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5854" name="Google Shape;5854;p76"/>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55" name="Google Shape;5855;p76"/>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56" name="Google Shape;5856;p76"/>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57" name="Google Shape;5857;p76"/>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58" name="Google Shape;5858;p76"/>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59" name="Google Shape;5859;p76"/>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60" name="Google Shape;5860;p76"/>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61" name="Google Shape;5861;p76"/>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62" name="Google Shape;5862;p76"/>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63" name="Google Shape;5863;p76"/>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5864" name="Google Shape;5864;p76"/>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865" name="Google Shape;5865;p76"/>
          <p:cNvSpPr/>
          <p:nvPr/>
        </p:nvSpPr>
        <p:spPr>
          <a:xfrm rot="5400000">
            <a:off x="4399933" y="256130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66" name="Google Shape;5866;p76"/>
          <p:cNvSpPr/>
          <p:nvPr/>
        </p:nvSpPr>
        <p:spPr>
          <a:xfrm rot="-5400000">
            <a:off x="4395017" y="347078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67" name="Google Shape;5867;p76"/>
          <p:cNvSpPr/>
          <p:nvPr/>
        </p:nvSpPr>
        <p:spPr>
          <a:xfrm rot="5400000">
            <a:off x="6302474" y="2546557"/>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68" name="Google Shape;5868;p76"/>
          <p:cNvSpPr/>
          <p:nvPr/>
        </p:nvSpPr>
        <p:spPr>
          <a:xfrm rot="-5400000">
            <a:off x="6297558" y="345604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69" name="Google Shape;5869;p76"/>
          <p:cNvSpPr/>
          <p:nvPr/>
        </p:nvSpPr>
        <p:spPr>
          <a:xfrm rot="5400000">
            <a:off x="4370435" y="445893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70" name="Google Shape;5870;p76"/>
          <p:cNvSpPr/>
          <p:nvPr/>
        </p:nvSpPr>
        <p:spPr>
          <a:xfrm rot="-5400000">
            <a:off x="4365519" y="5368418"/>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71" name="Google Shape;5871;p76"/>
          <p:cNvSpPr/>
          <p:nvPr/>
        </p:nvSpPr>
        <p:spPr>
          <a:xfrm rot="5400000">
            <a:off x="6312308" y="4454022"/>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72" name="Google Shape;5872;p76"/>
          <p:cNvSpPr/>
          <p:nvPr/>
        </p:nvSpPr>
        <p:spPr>
          <a:xfrm rot="-5400000">
            <a:off x="6307392" y="5363506"/>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73" name="Google Shape;5873;p76"/>
          <p:cNvSpPr/>
          <p:nvPr/>
        </p:nvSpPr>
        <p:spPr>
          <a:xfrm rot="5400000">
            <a:off x="8254181" y="4449110"/>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74" name="Google Shape;5874;p76"/>
          <p:cNvSpPr/>
          <p:nvPr/>
        </p:nvSpPr>
        <p:spPr>
          <a:xfrm rot="-5400000">
            <a:off x="8249265" y="5358594"/>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75" name="Google Shape;5875;p76"/>
          <p:cNvSpPr/>
          <p:nvPr/>
        </p:nvSpPr>
        <p:spPr>
          <a:xfrm rot="10800000">
            <a:off x="7582395" y="5829665"/>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876" name="Google Shape;5876;p76"/>
          <p:cNvSpPr/>
          <p:nvPr/>
        </p:nvSpPr>
        <p:spPr>
          <a:xfrm>
            <a:off x="6819704" y="583458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877" name="Google Shape;5877;p76"/>
          <p:cNvGrpSpPr/>
          <p:nvPr/>
        </p:nvGrpSpPr>
        <p:grpSpPr>
          <a:xfrm>
            <a:off x="4336458" y="3833790"/>
            <a:ext cx="4395351" cy="404576"/>
            <a:chOff x="4333785" y="5772213"/>
            <a:chExt cx="4395351" cy="404576"/>
          </a:xfrm>
        </p:grpSpPr>
        <p:grpSp>
          <p:nvGrpSpPr>
            <p:cNvPr id="5878" name="Google Shape;5878;p76"/>
            <p:cNvGrpSpPr/>
            <p:nvPr/>
          </p:nvGrpSpPr>
          <p:grpSpPr>
            <a:xfrm>
              <a:off x="4333785" y="5772213"/>
              <a:ext cx="531821" cy="369069"/>
              <a:chOff x="1348328" y="2475647"/>
              <a:chExt cx="603916" cy="419100"/>
            </a:xfrm>
          </p:grpSpPr>
          <p:grpSp>
            <p:nvGrpSpPr>
              <p:cNvPr id="5879" name="Google Shape;5879;p76"/>
              <p:cNvGrpSpPr/>
              <p:nvPr/>
            </p:nvGrpSpPr>
            <p:grpSpPr>
              <a:xfrm>
                <a:off x="1348328" y="2555748"/>
                <a:ext cx="603916" cy="308999"/>
                <a:chOff x="5278570" y="2983486"/>
                <a:chExt cx="501650" cy="233363"/>
              </a:xfrm>
            </p:grpSpPr>
            <p:sp>
              <p:nvSpPr>
                <p:cNvPr id="5880" name="Google Shape;5880;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881" name="Google Shape;5881;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882" name="Google Shape;5882;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883" name="Google Shape;5883;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884" name="Google Shape;5884;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885" name="Google Shape;5885;p76"/>
              <p:cNvGrpSpPr/>
              <p:nvPr/>
            </p:nvGrpSpPr>
            <p:grpSpPr>
              <a:xfrm>
                <a:off x="1456374" y="2475647"/>
                <a:ext cx="355165" cy="419100"/>
                <a:chOff x="2944" y="2405"/>
                <a:chExt cx="227" cy="264"/>
              </a:xfrm>
            </p:grpSpPr>
            <p:sp>
              <p:nvSpPr>
                <p:cNvPr id="5886" name="Google Shape;5886;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887" name="Google Shape;5887;p76"/>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5888" name="Google Shape;5888;p76"/>
            <p:cNvGrpSpPr/>
            <p:nvPr/>
          </p:nvGrpSpPr>
          <p:grpSpPr>
            <a:xfrm>
              <a:off x="6263949" y="5807720"/>
              <a:ext cx="531821" cy="369069"/>
              <a:chOff x="1348328" y="2507397"/>
              <a:chExt cx="603916" cy="419100"/>
            </a:xfrm>
          </p:grpSpPr>
          <p:grpSp>
            <p:nvGrpSpPr>
              <p:cNvPr id="5889" name="Google Shape;5889;p76"/>
              <p:cNvGrpSpPr/>
              <p:nvPr/>
            </p:nvGrpSpPr>
            <p:grpSpPr>
              <a:xfrm>
                <a:off x="1348328" y="2555748"/>
                <a:ext cx="603916" cy="308999"/>
                <a:chOff x="5278570" y="2983486"/>
                <a:chExt cx="501650" cy="233363"/>
              </a:xfrm>
            </p:grpSpPr>
            <p:sp>
              <p:nvSpPr>
                <p:cNvPr id="5890" name="Google Shape;5890;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891" name="Google Shape;5891;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892" name="Google Shape;5892;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893" name="Google Shape;5893;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894" name="Google Shape;5894;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895" name="Google Shape;5895;p76"/>
              <p:cNvGrpSpPr/>
              <p:nvPr/>
            </p:nvGrpSpPr>
            <p:grpSpPr>
              <a:xfrm>
                <a:off x="1456374" y="2507397"/>
                <a:ext cx="355165" cy="419100"/>
                <a:chOff x="2944" y="2425"/>
                <a:chExt cx="227" cy="264"/>
              </a:xfrm>
            </p:grpSpPr>
            <p:sp>
              <p:nvSpPr>
                <p:cNvPr id="5896" name="Google Shape;5896;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897" name="Google Shape;5897;p76"/>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5898" name="Google Shape;5898;p76"/>
            <p:cNvGrpSpPr/>
            <p:nvPr/>
          </p:nvGrpSpPr>
          <p:grpSpPr>
            <a:xfrm>
              <a:off x="8197315" y="5805271"/>
              <a:ext cx="531821" cy="369069"/>
              <a:chOff x="1348328" y="2507397"/>
              <a:chExt cx="603916" cy="419100"/>
            </a:xfrm>
          </p:grpSpPr>
          <p:grpSp>
            <p:nvGrpSpPr>
              <p:cNvPr id="5899" name="Google Shape;5899;p76"/>
              <p:cNvGrpSpPr/>
              <p:nvPr/>
            </p:nvGrpSpPr>
            <p:grpSpPr>
              <a:xfrm>
                <a:off x="1348328" y="2555748"/>
                <a:ext cx="603916" cy="308999"/>
                <a:chOff x="5278570" y="2983486"/>
                <a:chExt cx="501650" cy="233363"/>
              </a:xfrm>
            </p:grpSpPr>
            <p:sp>
              <p:nvSpPr>
                <p:cNvPr id="5900" name="Google Shape;5900;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901" name="Google Shape;5901;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902" name="Google Shape;5902;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903" name="Google Shape;5903;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904" name="Google Shape;5904;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905" name="Google Shape;5905;p76"/>
              <p:cNvGrpSpPr/>
              <p:nvPr/>
            </p:nvGrpSpPr>
            <p:grpSpPr>
              <a:xfrm>
                <a:off x="1492372" y="2507397"/>
                <a:ext cx="283194" cy="419100"/>
                <a:chOff x="2967" y="2425"/>
                <a:chExt cx="181" cy="264"/>
              </a:xfrm>
            </p:grpSpPr>
            <p:sp>
              <p:nvSpPr>
                <p:cNvPr id="5906" name="Google Shape;5906;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907" name="Google Shape;5907;p76"/>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5908" name="Google Shape;5908;p76"/>
          <p:cNvGrpSpPr/>
          <p:nvPr/>
        </p:nvGrpSpPr>
        <p:grpSpPr>
          <a:xfrm>
            <a:off x="4333785" y="1906063"/>
            <a:ext cx="4395351" cy="404576"/>
            <a:chOff x="4333785" y="5772213"/>
            <a:chExt cx="4395351" cy="404576"/>
          </a:xfrm>
        </p:grpSpPr>
        <p:grpSp>
          <p:nvGrpSpPr>
            <p:cNvPr id="5909" name="Google Shape;5909;p76"/>
            <p:cNvGrpSpPr/>
            <p:nvPr/>
          </p:nvGrpSpPr>
          <p:grpSpPr>
            <a:xfrm>
              <a:off x="4333785" y="5772213"/>
              <a:ext cx="531821" cy="369069"/>
              <a:chOff x="1348328" y="2475647"/>
              <a:chExt cx="603916" cy="419100"/>
            </a:xfrm>
          </p:grpSpPr>
          <p:grpSp>
            <p:nvGrpSpPr>
              <p:cNvPr id="5910" name="Google Shape;5910;p76"/>
              <p:cNvGrpSpPr/>
              <p:nvPr/>
            </p:nvGrpSpPr>
            <p:grpSpPr>
              <a:xfrm>
                <a:off x="1348328" y="2555748"/>
                <a:ext cx="603916" cy="308999"/>
                <a:chOff x="5278570" y="2983486"/>
                <a:chExt cx="501650" cy="233363"/>
              </a:xfrm>
            </p:grpSpPr>
            <p:sp>
              <p:nvSpPr>
                <p:cNvPr id="5911" name="Google Shape;5911;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912" name="Google Shape;5912;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913" name="Google Shape;5913;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914" name="Google Shape;5914;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915" name="Google Shape;5915;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916" name="Google Shape;5916;p76"/>
              <p:cNvGrpSpPr/>
              <p:nvPr/>
            </p:nvGrpSpPr>
            <p:grpSpPr>
              <a:xfrm>
                <a:off x="1456374" y="2475647"/>
                <a:ext cx="355165" cy="419100"/>
                <a:chOff x="2944" y="2405"/>
                <a:chExt cx="227" cy="264"/>
              </a:xfrm>
            </p:grpSpPr>
            <p:sp>
              <p:nvSpPr>
                <p:cNvPr id="5917" name="Google Shape;5917;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918" name="Google Shape;5918;p76"/>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5919" name="Google Shape;5919;p76"/>
            <p:cNvGrpSpPr/>
            <p:nvPr/>
          </p:nvGrpSpPr>
          <p:grpSpPr>
            <a:xfrm>
              <a:off x="6263949" y="5807720"/>
              <a:ext cx="531821" cy="369069"/>
              <a:chOff x="1348328" y="2507397"/>
              <a:chExt cx="603916" cy="419100"/>
            </a:xfrm>
          </p:grpSpPr>
          <p:grpSp>
            <p:nvGrpSpPr>
              <p:cNvPr id="5920" name="Google Shape;5920;p76"/>
              <p:cNvGrpSpPr/>
              <p:nvPr/>
            </p:nvGrpSpPr>
            <p:grpSpPr>
              <a:xfrm>
                <a:off x="1348328" y="2555748"/>
                <a:ext cx="603916" cy="308999"/>
                <a:chOff x="5278570" y="2983486"/>
                <a:chExt cx="501650" cy="233363"/>
              </a:xfrm>
            </p:grpSpPr>
            <p:sp>
              <p:nvSpPr>
                <p:cNvPr id="5921" name="Google Shape;5921;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922" name="Google Shape;5922;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923" name="Google Shape;5923;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924" name="Google Shape;5924;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925" name="Google Shape;5925;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926" name="Google Shape;5926;p76"/>
              <p:cNvGrpSpPr/>
              <p:nvPr/>
            </p:nvGrpSpPr>
            <p:grpSpPr>
              <a:xfrm>
                <a:off x="1456374" y="2507397"/>
                <a:ext cx="355165" cy="419100"/>
                <a:chOff x="2944" y="2425"/>
                <a:chExt cx="227" cy="264"/>
              </a:xfrm>
            </p:grpSpPr>
            <p:sp>
              <p:nvSpPr>
                <p:cNvPr id="5927" name="Google Shape;5927;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928" name="Google Shape;5928;p76"/>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5929" name="Google Shape;5929;p76"/>
            <p:cNvGrpSpPr/>
            <p:nvPr/>
          </p:nvGrpSpPr>
          <p:grpSpPr>
            <a:xfrm>
              <a:off x="8197315" y="5805271"/>
              <a:ext cx="531821" cy="369069"/>
              <a:chOff x="1348328" y="2507397"/>
              <a:chExt cx="603916" cy="419100"/>
            </a:xfrm>
          </p:grpSpPr>
          <p:grpSp>
            <p:nvGrpSpPr>
              <p:cNvPr id="5930" name="Google Shape;5930;p76"/>
              <p:cNvGrpSpPr/>
              <p:nvPr/>
            </p:nvGrpSpPr>
            <p:grpSpPr>
              <a:xfrm>
                <a:off x="1348328" y="2555748"/>
                <a:ext cx="603916" cy="308999"/>
                <a:chOff x="5278570" y="2983486"/>
                <a:chExt cx="501650" cy="233363"/>
              </a:xfrm>
            </p:grpSpPr>
            <p:sp>
              <p:nvSpPr>
                <p:cNvPr id="5931" name="Google Shape;5931;p76"/>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932" name="Google Shape;5932;p76"/>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5933" name="Google Shape;5933;p76"/>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5934" name="Google Shape;5934;p76"/>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5935" name="Google Shape;5935;p76"/>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5936" name="Google Shape;5936;p76"/>
              <p:cNvGrpSpPr/>
              <p:nvPr/>
            </p:nvGrpSpPr>
            <p:grpSpPr>
              <a:xfrm>
                <a:off x="1464216" y="2507397"/>
                <a:ext cx="341085" cy="419100"/>
                <a:chOff x="2949" y="2425"/>
                <a:chExt cx="218" cy="264"/>
              </a:xfrm>
            </p:grpSpPr>
            <p:sp>
              <p:nvSpPr>
                <p:cNvPr id="5937" name="Google Shape;5937;p7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938" name="Google Shape;5938;p76"/>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sp>
        <p:nvSpPr>
          <p:cNvPr id="5939" name="Google Shape;5939;p76"/>
          <p:cNvSpPr/>
          <p:nvPr/>
        </p:nvSpPr>
        <p:spPr>
          <a:xfrm rot="10800000">
            <a:off x="5660017" y="584303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0" name="Google Shape;5940;p76"/>
          <p:cNvSpPr/>
          <p:nvPr/>
        </p:nvSpPr>
        <p:spPr>
          <a:xfrm>
            <a:off x="4897326" y="584795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1" name="Google Shape;5941;p76"/>
          <p:cNvSpPr/>
          <p:nvPr/>
        </p:nvSpPr>
        <p:spPr>
          <a:xfrm rot="10800000">
            <a:off x="5651998" y="3904611"/>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2" name="Google Shape;5942;p76"/>
          <p:cNvSpPr/>
          <p:nvPr/>
        </p:nvSpPr>
        <p:spPr>
          <a:xfrm>
            <a:off x="4905348" y="3909528"/>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3" name="Google Shape;5943;p76"/>
          <p:cNvSpPr/>
          <p:nvPr/>
        </p:nvSpPr>
        <p:spPr>
          <a:xfrm rot="10800000">
            <a:off x="5660020" y="196618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4" name="Google Shape;5944;p76"/>
          <p:cNvSpPr/>
          <p:nvPr/>
        </p:nvSpPr>
        <p:spPr>
          <a:xfrm>
            <a:off x="4924064" y="198714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5" name="Google Shape;5945;p76"/>
          <p:cNvSpPr/>
          <p:nvPr/>
        </p:nvSpPr>
        <p:spPr>
          <a:xfrm rot="10800000">
            <a:off x="7582399" y="196886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6" name="Google Shape;5946;p76"/>
          <p:cNvSpPr/>
          <p:nvPr/>
        </p:nvSpPr>
        <p:spPr>
          <a:xfrm>
            <a:off x="6819708" y="1973779"/>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7" name="Google Shape;5947;p76"/>
          <p:cNvSpPr/>
          <p:nvPr/>
        </p:nvSpPr>
        <p:spPr>
          <a:xfrm rot="10800000">
            <a:off x="7595769" y="3907283"/>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8" name="Google Shape;5948;p76"/>
          <p:cNvSpPr/>
          <p:nvPr/>
        </p:nvSpPr>
        <p:spPr>
          <a:xfrm>
            <a:off x="6833078" y="391220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49" name="Google Shape;5949;p76"/>
          <p:cNvSpPr txBox="1"/>
          <p:nvPr/>
        </p:nvSpPr>
        <p:spPr>
          <a:xfrm flipH="1">
            <a:off x="476445" y="3078991"/>
            <a:ext cx="2195814" cy="258532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rgbClr val="000000"/>
                </a:solidFill>
                <a:latin typeface="Calibri"/>
                <a:ea typeface="Calibri"/>
                <a:cs typeface="Calibri"/>
                <a:sym typeface="Calibri"/>
              </a:rPr>
              <a:t>All nodes:</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receive distance vectors from neighbors</a:t>
            </a:r>
            <a:endParaRPr/>
          </a:p>
          <a:p>
            <a:pPr indent="-174625" lvl="0" marL="174625" marR="0" rtl="0" algn="l">
              <a:lnSpc>
                <a:spcPct val="90000"/>
              </a:lnSpc>
              <a:spcBef>
                <a:spcPts val="0"/>
              </a:spcBef>
              <a:spcAft>
                <a:spcPts val="0"/>
              </a:spcAft>
              <a:buClr>
                <a:srgbClr val="BFBFBF"/>
              </a:buClr>
              <a:buSzPts val="1800"/>
              <a:buFont typeface="Noto Sans Symbols"/>
              <a:buChar char="▪"/>
            </a:pPr>
            <a:r>
              <a:rPr lang="en-US" sz="1800">
                <a:solidFill>
                  <a:srgbClr val="BFBFBF"/>
                </a:solidFill>
                <a:latin typeface="Calibri"/>
                <a:ea typeface="Calibri"/>
                <a:cs typeface="Calibri"/>
                <a:sym typeface="Calibri"/>
              </a:rPr>
              <a:t>compute their new local  distance vector</a:t>
            </a:r>
            <a:endParaRPr/>
          </a:p>
          <a:p>
            <a:pPr indent="-174625" lvl="0" marL="174625"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send their new local distance vector to neighbors</a:t>
            </a:r>
            <a:endParaRPr/>
          </a:p>
        </p:txBody>
      </p:sp>
      <p:grpSp>
        <p:nvGrpSpPr>
          <p:cNvPr id="5950" name="Google Shape;5950;p76"/>
          <p:cNvGrpSpPr/>
          <p:nvPr/>
        </p:nvGrpSpPr>
        <p:grpSpPr>
          <a:xfrm>
            <a:off x="584365" y="1859143"/>
            <a:ext cx="736099" cy="1229581"/>
            <a:chOff x="10030307" y="3444875"/>
            <a:chExt cx="736099" cy="1229581"/>
          </a:xfrm>
        </p:grpSpPr>
        <p:sp>
          <p:nvSpPr>
            <p:cNvPr id="5951" name="Google Shape;5951;p76"/>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t=2</a:t>
              </a:r>
              <a:endParaRPr/>
            </a:p>
          </p:txBody>
        </p:sp>
        <p:grpSp>
          <p:nvGrpSpPr>
            <p:cNvPr id="5952" name="Google Shape;5952;p76"/>
            <p:cNvGrpSpPr/>
            <p:nvPr/>
          </p:nvGrpSpPr>
          <p:grpSpPr>
            <a:xfrm>
              <a:off x="10034588" y="3444875"/>
              <a:ext cx="682627" cy="682625"/>
              <a:chOff x="10034589" y="3444875"/>
              <a:chExt cx="682627" cy="682625"/>
            </a:xfrm>
          </p:grpSpPr>
          <p:sp>
            <p:nvSpPr>
              <p:cNvPr id="5953" name="Google Shape;5953;p76"/>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954" name="Google Shape;5954;p76"/>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955" name="Google Shape;5955;p76"/>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956" name="Google Shape;5956;p76"/>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957" name="Google Shape;5957;p76"/>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5958" name="Google Shape;5958;p76"/>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959" name="Google Shape;5959;p76"/>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960" name="Google Shape;5960;p76"/>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961" name="Google Shape;5961;p76"/>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5962" name="Google Shape;5962;p76"/>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963" name="Google Shape;5963;p76"/>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964" name="Google Shape;5964;p76"/>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5965" name="Google Shape;5965;p76"/>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5966" name="Google Shape;5966;p76"/>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cxnSp>
        <p:nvCxnSpPr>
          <p:cNvPr id="5967" name="Google Shape;5967;p76"/>
          <p:cNvCxnSpPr/>
          <p:nvPr/>
        </p:nvCxnSpPr>
        <p:spPr>
          <a:xfrm flipH="1">
            <a:off x="919556" y="2070953"/>
            <a:ext cx="240612" cy="121026"/>
          </a:xfrm>
          <a:prstGeom prst="straightConnector1">
            <a:avLst/>
          </a:prstGeom>
          <a:noFill/>
          <a:ln cap="flat" cmpd="sng" w="25400">
            <a:solidFill>
              <a:srgbClr val="C00000"/>
            </a:solidFill>
            <a:prstDash val="solid"/>
            <a:miter lim="8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65"/>
                                        </p:tgtEl>
                                        <p:attrNameLst>
                                          <p:attrName>style.visibility</p:attrName>
                                        </p:attrNameLst>
                                      </p:cBhvr>
                                      <p:to>
                                        <p:strVal val="visible"/>
                                      </p:to>
                                    </p:set>
                                    <p:animEffect filter="fade" transition="in">
                                      <p:cBhvr>
                                        <p:cTn dur="1000"/>
                                        <p:tgtEl>
                                          <p:spTgt spid="5865"/>
                                        </p:tgtEl>
                                      </p:cBhvr>
                                    </p:animEffect>
                                  </p:childTnLst>
                                </p:cTn>
                              </p:par>
                              <p:par>
                                <p:cTn fill="hold" nodeType="withEffect" presetClass="entr" presetID="10" presetSubtype="0">
                                  <p:stCondLst>
                                    <p:cond delay="0"/>
                                  </p:stCondLst>
                                  <p:childTnLst>
                                    <p:set>
                                      <p:cBhvr>
                                        <p:cTn dur="1" fill="hold">
                                          <p:stCondLst>
                                            <p:cond delay="0"/>
                                          </p:stCondLst>
                                        </p:cTn>
                                        <p:tgtEl>
                                          <p:spTgt spid="5944"/>
                                        </p:tgtEl>
                                        <p:attrNameLst>
                                          <p:attrName>style.visibility</p:attrName>
                                        </p:attrNameLst>
                                      </p:cBhvr>
                                      <p:to>
                                        <p:strVal val="visible"/>
                                      </p:to>
                                    </p:set>
                                    <p:animEffect filter="fade" transition="in">
                                      <p:cBhvr>
                                        <p:cTn dur="1000"/>
                                        <p:tgtEl>
                                          <p:spTgt spid="5944"/>
                                        </p:tgtEl>
                                      </p:cBhvr>
                                    </p:animEffect>
                                  </p:childTnLst>
                                </p:cTn>
                              </p:par>
                              <p:par>
                                <p:cTn fill="hold" nodeType="withEffect" presetClass="entr" presetID="10" presetSubtype="0">
                                  <p:stCondLst>
                                    <p:cond delay="0"/>
                                  </p:stCondLst>
                                  <p:childTnLst>
                                    <p:set>
                                      <p:cBhvr>
                                        <p:cTn dur="1" fill="hold">
                                          <p:stCondLst>
                                            <p:cond delay="0"/>
                                          </p:stCondLst>
                                        </p:cTn>
                                        <p:tgtEl>
                                          <p:spTgt spid="5943"/>
                                        </p:tgtEl>
                                        <p:attrNameLst>
                                          <p:attrName>style.visibility</p:attrName>
                                        </p:attrNameLst>
                                      </p:cBhvr>
                                      <p:to>
                                        <p:strVal val="visible"/>
                                      </p:to>
                                    </p:set>
                                    <p:animEffect filter="fade" transition="in">
                                      <p:cBhvr>
                                        <p:cTn dur="1000"/>
                                        <p:tgtEl>
                                          <p:spTgt spid="5943"/>
                                        </p:tgtEl>
                                      </p:cBhvr>
                                    </p:animEffect>
                                  </p:childTnLst>
                                </p:cTn>
                              </p:par>
                              <p:par>
                                <p:cTn fill="hold" nodeType="withEffect" presetClass="entr" presetID="10" presetSubtype="0">
                                  <p:stCondLst>
                                    <p:cond delay="0"/>
                                  </p:stCondLst>
                                  <p:childTnLst>
                                    <p:set>
                                      <p:cBhvr>
                                        <p:cTn dur="1" fill="hold">
                                          <p:stCondLst>
                                            <p:cond delay="0"/>
                                          </p:stCondLst>
                                        </p:cTn>
                                        <p:tgtEl>
                                          <p:spTgt spid="5867"/>
                                        </p:tgtEl>
                                        <p:attrNameLst>
                                          <p:attrName>style.visibility</p:attrName>
                                        </p:attrNameLst>
                                      </p:cBhvr>
                                      <p:to>
                                        <p:strVal val="visible"/>
                                      </p:to>
                                    </p:set>
                                    <p:animEffect filter="fade" transition="in">
                                      <p:cBhvr>
                                        <p:cTn dur="1000"/>
                                        <p:tgtEl>
                                          <p:spTgt spid="5867"/>
                                        </p:tgtEl>
                                      </p:cBhvr>
                                    </p:animEffect>
                                  </p:childTnLst>
                                </p:cTn>
                              </p:par>
                              <p:par>
                                <p:cTn fill="hold" nodeType="withEffect" presetClass="entr" presetID="10" presetSubtype="0">
                                  <p:stCondLst>
                                    <p:cond delay="0"/>
                                  </p:stCondLst>
                                  <p:childTnLst>
                                    <p:set>
                                      <p:cBhvr>
                                        <p:cTn dur="1" fill="hold">
                                          <p:stCondLst>
                                            <p:cond delay="0"/>
                                          </p:stCondLst>
                                        </p:cTn>
                                        <p:tgtEl>
                                          <p:spTgt spid="5946"/>
                                        </p:tgtEl>
                                        <p:attrNameLst>
                                          <p:attrName>style.visibility</p:attrName>
                                        </p:attrNameLst>
                                      </p:cBhvr>
                                      <p:to>
                                        <p:strVal val="visible"/>
                                      </p:to>
                                    </p:set>
                                    <p:animEffect filter="fade" transition="in">
                                      <p:cBhvr>
                                        <p:cTn dur="1000"/>
                                        <p:tgtEl>
                                          <p:spTgt spid="5946"/>
                                        </p:tgtEl>
                                      </p:cBhvr>
                                    </p:animEffect>
                                  </p:childTnLst>
                                </p:cTn>
                              </p:par>
                              <p:par>
                                <p:cTn fill="hold" nodeType="withEffect" presetClass="entr" presetID="10" presetSubtype="0">
                                  <p:stCondLst>
                                    <p:cond delay="0"/>
                                  </p:stCondLst>
                                  <p:childTnLst>
                                    <p:set>
                                      <p:cBhvr>
                                        <p:cTn dur="1" fill="hold">
                                          <p:stCondLst>
                                            <p:cond delay="0"/>
                                          </p:stCondLst>
                                        </p:cTn>
                                        <p:tgtEl>
                                          <p:spTgt spid="5945"/>
                                        </p:tgtEl>
                                        <p:attrNameLst>
                                          <p:attrName>style.visibility</p:attrName>
                                        </p:attrNameLst>
                                      </p:cBhvr>
                                      <p:to>
                                        <p:strVal val="visible"/>
                                      </p:to>
                                    </p:set>
                                    <p:animEffect filter="fade" transition="in">
                                      <p:cBhvr>
                                        <p:cTn dur="1000"/>
                                        <p:tgtEl>
                                          <p:spTgt spid="5945"/>
                                        </p:tgtEl>
                                      </p:cBhvr>
                                    </p:animEffect>
                                  </p:childTnLst>
                                </p:cTn>
                              </p:par>
                              <p:par>
                                <p:cTn fill="hold" nodeType="withEffect" presetClass="entr" presetID="10" presetSubtype="0">
                                  <p:stCondLst>
                                    <p:cond delay="0"/>
                                  </p:stCondLst>
                                  <p:childTnLst>
                                    <p:set>
                                      <p:cBhvr>
                                        <p:cTn dur="1" fill="hold">
                                          <p:stCondLst>
                                            <p:cond delay="0"/>
                                          </p:stCondLst>
                                        </p:cTn>
                                        <p:tgtEl>
                                          <p:spTgt spid="5866"/>
                                        </p:tgtEl>
                                        <p:attrNameLst>
                                          <p:attrName>style.visibility</p:attrName>
                                        </p:attrNameLst>
                                      </p:cBhvr>
                                      <p:to>
                                        <p:strVal val="visible"/>
                                      </p:to>
                                    </p:set>
                                    <p:animEffect filter="fade" transition="in">
                                      <p:cBhvr>
                                        <p:cTn dur="1000"/>
                                        <p:tgtEl>
                                          <p:spTgt spid="5866"/>
                                        </p:tgtEl>
                                      </p:cBhvr>
                                    </p:animEffect>
                                  </p:childTnLst>
                                </p:cTn>
                              </p:par>
                              <p:par>
                                <p:cTn fill="hold" nodeType="withEffect" presetClass="entr" presetID="10" presetSubtype="0">
                                  <p:stCondLst>
                                    <p:cond delay="0"/>
                                  </p:stCondLst>
                                  <p:childTnLst>
                                    <p:set>
                                      <p:cBhvr>
                                        <p:cTn dur="1" fill="hold">
                                          <p:stCondLst>
                                            <p:cond delay="0"/>
                                          </p:stCondLst>
                                        </p:cTn>
                                        <p:tgtEl>
                                          <p:spTgt spid="5942"/>
                                        </p:tgtEl>
                                        <p:attrNameLst>
                                          <p:attrName>style.visibility</p:attrName>
                                        </p:attrNameLst>
                                      </p:cBhvr>
                                      <p:to>
                                        <p:strVal val="visible"/>
                                      </p:to>
                                    </p:set>
                                    <p:animEffect filter="fade" transition="in">
                                      <p:cBhvr>
                                        <p:cTn dur="1000"/>
                                        <p:tgtEl>
                                          <p:spTgt spid="5942"/>
                                        </p:tgtEl>
                                      </p:cBhvr>
                                    </p:animEffect>
                                  </p:childTnLst>
                                </p:cTn>
                              </p:par>
                              <p:par>
                                <p:cTn fill="hold" nodeType="withEffect" presetClass="entr" presetID="10" presetSubtype="0">
                                  <p:stCondLst>
                                    <p:cond delay="0"/>
                                  </p:stCondLst>
                                  <p:childTnLst>
                                    <p:set>
                                      <p:cBhvr>
                                        <p:cTn dur="1" fill="hold">
                                          <p:stCondLst>
                                            <p:cond delay="0"/>
                                          </p:stCondLst>
                                        </p:cTn>
                                        <p:tgtEl>
                                          <p:spTgt spid="5869"/>
                                        </p:tgtEl>
                                        <p:attrNameLst>
                                          <p:attrName>style.visibility</p:attrName>
                                        </p:attrNameLst>
                                      </p:cBhvr>
                                      <p:to>
                                        <p:strVal val="visible"/>
                                      </p:to>
                                    </p:set>
                                    <p:animEffect filter="fade" transition="in">
                                      <p:cBhvr>
                                        <p:cTn dur="1000"/>
                                        <p:tgtEl>
                                          <p:spTgt spid="5869"/>
                                        </p:tgtEl>
                                      </p:cBhvr>
                                    </p:animEffect>
                                  </p:childTnLst>
                                </p:cTn>
                              </p:par>
                              <p:par>
                                <p:cTn fill="hold" nodeType="withEffect" presetClass="entr" presetID="10" presetSubtype="0">
                                  <p:stCondLst>
                                    <p:cond delay="0"/>
                                  </p:stCondLst>
                                  <p:childTnLst>
                                    <p:set>
                                      <p:cBhvr>
                                        <p:cTn dur="1" fill="hold">
                                          <p:stCondLst>
                                            <p:cond delay="0"/>
                                          </p:stCondLst>
                                        </p:cTn>
                                        <p:tgtEl>
                                          <p:spTgt spid="5941"/>
                                        </p:tgtEl>
                                        <p:attrNameLst>
                                          <p:attrName>style.visibility</p:attrName>
                                        </p:attrNameLst>
                                      </p:cBhvr>
                                      <p:to>
                                        <p:strVal val="visible"/>
                                      </p:to>
                                    </p:set>
                                    <p:animEffect filter="fade" transition="in">
                                      <p:cBhvr>
                                        <p:cTn dur="1000"/>
                                        <p:tgtEl>
                                          <p:spTgt spid="5941"/>
                                        </p:tgtEl>
                                      </p:cBhvr>
                                    </p:animEffect>
                                  </p:childTnLst>
                                </p:cTn>
                              </p:par>
                              <p:par>
                                <p:cTn fill="hold" nodeType="withEffect" presetClass="entr" presetID="10" presetSubtype="0">
                                  <p:stCondLst>
                                    <p:cond delay="0"/>
                                  </p:stCondLst>
                                  <p:childTnLst>
                                    <p:set>
                                      <p:cBhvr>
                                        <p:cTn dur="1" fill="hold">
                                          <p:stCondLst>
                                            <p:cond delay="0"/>
                                          </p:stCondLst>
                                        </p:cTn>
                                        <p:tgtEl>
                                          <p:spTgt spid="5868"/>
                                        </p:tgtEl>
                                        <p:attrNameLst>
                                          <p:attrName>style.visibility</p:attrName>
                                        </p:attrNameLst>
                                      </p:cBhvr>
                                      <p:to>
                                        <p:strVal val="visible"/>
                                      </p:to>
                                    </p:set>
                                    <p:animEffect filter="fade" transition="in">
                                      <p:cBhvr>
                                        <p:cTn dur="1000"/>
                                        <p:tgtEl>
                                          <p:spTgt spid="5868"/>
                                        </p:tgtEl>
                                      </p:cBhvr>
                                    </p:animEffect>
                                  </p:childTnLst>
                                </p:cTn>
                              </p:par>
                              <p:par>
                                <p:cTn fill="hold" nodeType="withEffect" presetClass="entr" presetID="10" presetSubtype="0">
                                  <p:stCondLst>
                                    <p:cond delay="0"/>
                                  </p:stCondLst>
                                  <p:childTnLst>
                                    <p:set>
                                      <p:cBhvr>
                                        <p:cTn dur="1" fill="hold">
                                          <p:stCondLst>
                                            <p:cond delay="0"/>
                                          </p:stCondLst>
                                        </p:cTn>
                                        <p:tgtEl>
                                          <p:spTgt spid="5948"/>
                                        </p:tgtEl>
                                        <p:attrNameLst>
                                          <p:attrName>style.visibility</p:attrName>
                                        </p:attrNameLst>
                                      </p:cBhvr>
                                      <p:to>
                                        <p:strVal val="visible"/>
                                      </p:to>
                                    </p:set>
                                    <p:animEffect filter="fade" transition="in">
                                      <p:cBhvr>
                                        <p:cTn dur="1000"/>
                                        <p:tgtEl>
                                          <p:spTgt spid="5948"/>
                                        </p:tgtEl>
                                      </p:cBhvr>
                                    </p:animEffect>
                                  </p:childTnLst>
                                </p:cTn>
                              </p:par>
                              <p:par>
                                <p:cTn fill="hold" nodeType="withEffect" presetClass="entr" presetID="10" presetSubtype="0">
                                  <p:stCondLst>
                                    <p:cond delay="0"/>
                                  </p:stCondLst>
                                  <p:childTnLst>
                                    <p:set>
                                      <p:cBhvr>
                                        <p:cTn dur="1" fill="hold">
                                          <p:stCondLst>
                                            <p:cond delay="0"/>
                                          </p:stCondLst>
                                        </p:cTn>
                                        <p:tgtEl>
                                          <p:spTgt spid="5871"/>
                                        </p:tgtEl>
                                        <p:attrNameLst>
                                          <p:attrName>style.visibility</p:attrName>
                                        </p:attrNameLst>
                                      </p:cBhvr>
                                      <p:to>
                                        <p:strVal val="visible"/>
                                      </p:to>
                                    </p:set>
                                    <p:animEffect filter="fade" transition="in">
                                      <p:cBhvr>
                                        <p:cTn dur="1000"/>
                                        <p:tgtEl>
                                          <p:spTgt spid="5871"/>
                                        </p:tgtEl>
                                      </p:cBhvr>
                                    </p:animEffect>
                                  </p:childTnLst>
                                </p:cTn>
                              </p:par>
                              <p:par>
                                <p:cTn fill="hold" nodeType="withEffect" presetClass="entr" presetID="10" presetSubtype="0">
                                  <p:stCondLst>
                                    <p:cond delay="0"/>
                                  </p:stCondLst>
                                  <p:childTnLst>
                                    <p:set>
                                      <p:cBhvr>
                                        <p:cTn dur="1" fill="hold">
                                          <p:stCondLst>
                                            <p:cond delay="0"/>
                                          </p:stCondLst>
                                        </p:cTn>
                                        <p:tgtEl>
                                          <p:spTgt spid="5947"/>
                                        </p:tgtEl>
                                        <p:attrNameLst>
                                          <p:attrName>style.visibility</p:attrName>
                                        </p:attrNameLst>
                                      </p:cBhvr>
                                      <p:to>
                                        <p:strVal val="visible"/>
                                      </p:to>
                                    </p:set>
                                    <p:animEffect filter="fade" transition="in">
                                      <p:cBhvr>
                                        <p:cTn dur="1000"/>
                                        <p:tgtEl>
                                          <p:spTgt spid="5947"/>
                                        </p:tgtEl>
                                      </p:cBhvr>
                                    </p:animEffect>
                                  </p:childTnLst>
                                </p:cTn>
                              </p:par>
                              <p:par>
                                <p:cTn fill="hold" nodeType="withEffect" presetClass="entr" presetID="10" presetSubtype="0">
                                  <p:stCondLst>
                                    <p:cond delay="0"/>
                                  </p:stCondLst>
                                  <p:childTnLst>
                                    <p:set>
                                      <p:cBhvr>
                                        <p:cTn dur="1" fill="hold">
                                          <p:stCondLst>
                                            <p:cond delay="0"/>
                                          </p:stCondLst>
                                        </p:cTn>
                                        <p:tgtEl>
                                          <p:spTgt spid="5873"/>
                                        </p:tgtEl>
                                        <p:attrNameLst>
                                          <p:attrName>style.visibility</p:attrName>
                                        </p:attrNameLst>
                                      </p:cBhvr>
                                      <p:to>
                                        <p:strVal val="visible"/>
                                      </p:to>
                                    </p:set>
                                    <p:animEffect filter="fade" transition="in">
                                      <p:cBhvr>
                                        <p:cTn dur="1000"/>
                                        <p:tgtEl>
                                          <p:spTgt spid="5873"/>
                                        </p:tgtEl>
                                      </p:cBhvr>
                                    </p:animEffect>
                                  </p:childTnLst>
                                </p:cTn>
                              </p:par>
                              <p:par>
                                <p:cTn fill="hold" nodeType="withEffect" presetClass="entr" presetID="10" presetSubtype="0">
                                  <p:stCondLst>
                                    <p:cond delay="0"/>
                                  </p:stCondLst>
                                  <p:childTnLst>
                                    <p:set>
                                      <p:cBhvr>
                                        <p:cTn dur="1" fill="hold">
                                          <p:stCondLst>
                                            <p:cond delay="0"/>
                                          </p:stCondLst>
                                        </p:cTn>
                                        <p:tgtEl>
                                          <p:spTgt spid="5870"/>
                                        </p:tgtEl>
                                        <p:attrNameLst>
                                          <p:attrName>style.visibility</p:attrName>
                                        </p:attrNameLst>
                                      </p:cBhvr>
                                      <p:to>
                                        <p:strVal val="visible"/>
                                      </p:to>
                                    </p:set>
                                    <p:animEffect filter="fade" transition="in">
                                      <p:cBhvr>
                                        <p:cTn dur="1000"/>
                                        <p:tgtEl>
                                          <p:spTgt spid="5870"/>
                                        </p:tgtEl>
                                      </p:cBhvr>
                                    </p:animEffect>
                                  </p:childTnLst>
                                </p:cTn>
                              </p:par>
                              <p:par>
                                <p:cTn fill="hold" nodeType="withEffect" presetClass="entr" presetID="10" presetSubtype="0">
                                  <p:stCondLst>
                                    <p:cond delay="0"/>
                                  </p:stCondLst>
                                  <p:childTnLst>
                                    <p:set>
                                      <p:cBhvr>
                                        <p:cTn dur="1" fill="hold">
                                          <p:stCondLst>
                                            <p:cond delay="0"/>
                                          </p:stCondLst>
                                        </p:cTn>
                                        <p:tgtEl>
                                          <p:spTgt spid="5940"/>
                                        </p:tgtEl>
                                        <p:attrNameLst>
                                          <p:attrName>style.visibility</p:attrName>
                                        </p:attrNameLst>
                                      </p:cBhvr>
                                      <p:to>
                                        <p:strVal val="visible"/>
                                      </p:to>
                                    </p:set>
                                    <p:animEffect filter="fade" transition="in">
                                      <p:cBhvr>
                                        <p:cTn dur="1000"/>
                                        <p:tgtEl>
                                          <p:spTgt spid="5940"/>
                                        </p:tgtEl>
                                      </p:cBhvr>
                                    </p:animEffect>
                                  </p:childTnLst>
                                </p:cTn>
                              </p:par>
                              <p:par>
                                <p:cTn fill="hold" nodeType="withEffect" presetClass="entr" presetID="10" presetSubtype="0">
                                  <p:stCondLst>
                                    <p:cond delay="0"/>
                                  </p:stCondLst>
                                  <p:childTnLst>
                                    <p:set>
                                      <p:cBhvr>
                                        <p:cTn dur="1" fill="hold">
                                          <p:stCondLst>
                                            <p:cond delay="0"/>
                                          </p:stCondLst>
                                        </p:cTn>
                                        <p:tgtEl>
                                          <p:spTgt spid="5939"/>
                                        </p:tgtEl>
                                        <p:attrNameLst>
                                          <p:attrName>style.visibility</p:attrName>
                                        </p:attrNameLst>
                                      </p:cBhvr>
                                      <p:to>
                                        <p:strVal val="visible"/>
                                      </p:to>
                                    </p:set>
                                    <p:animEffect filter="fade" transition="in">
                                      <p:cBhvr>
                                        <p:cTn dur="1000"/>
                                        <p:tgtEl>
                                          <p:spTgt spid="5939"/>
                                        </p:tgtEl>
                                      </p:cBhvr>
                                    </p:animEffect>
                                  </p:childTnLst>
                                </p:cTn>
                              </p:par>
                              <p:par>
                                <p:cTn fill="hold" nodeType="withEffect" presetClass="entr" presetID="10" presetSubtype="0">
                                  <p:stCondLst>
                                    <p:cond delay="0"/>
                                  </p:stCondLst>
                                  <p:childTnLst>
                                    <p:set>
                                      <p:cBhvr>
                                        <p:cTn dur="1" fill="hold">
                                          <p:stCondLst>
                                            <p:cond delay="0"/>
                                          </p:stCondLst>
                                        </p:cTn>
                                        <p:tgtEl>
                                          <p:spTgt spid="5872"/>
                                        </p:tgtEl>
                                        <p:attrNameLst>
                                          <p:attrName>style.visibility</p:attrName>
                                        </p:attrNameLst>
                                      </p:cBhvr>
                                      <p:to>
                                        <p:strVal val="visible"/>
                                      </p:to>
                                    </p:set>
                                    <p:animEffect filter="fade" transition="in">
                                      <p:cBhvr>
                                        <p:cTn dur="1000"/>
                                        <p:tgtEl>
                                          <p:spTgt spid="5872"/>
                                        </p:tgtEl>
                                      </p:cBhvr>
                                    </p:animEffect>
                                  </p:childTnLst>
                                </p:cTn>
                              </p:par>
                              <p:par>
                                <p:cTn fill="hold" nodeType="withEffect" presetClass="entr" presetID="10" presetSubtype="0">
                                  <p:stCondLst>
                                    <p:cond delay="0"/>
                                  </p:stCondLst>
                                  <p:childTnLst>
                                    <p:set>
                                      <p:cBhvr>
                                        <p:cTn dur="1" fill="hold">
                                          <p:stCondLst>
                                            <p:cond delay="0"/>
                                          </p:stCondLst>
                                        </p:cTn>
                                        <p:tgtEl>
                                          <p:spTgt spid="5876"/>
                                        </p:tgtEl>
                                        <p:attrNameLst>
                                          <p:attrName>style.visibility</p:attrName>
                                        </p:attrNameLst>
                                      </p:cBhvr>
                                      <p:to>
                                        <p:strVal val="visible"/>
                                      </p:to>
                                    </p:set>
                                    <p:animEffect filter="fade" transition="in">
                                      <p:cBhvr>
                                        <p:cTn dur="1000"/>
                                        <p:tgtEl>
                                          <p:spTgt spid="5876"/>
                                        </p:tgtEl>
                                      </p:cBhvr>
                                    </p:animEffect>
                                  </p:childTnLst>
                                </p:cTn>
                              </p:par>
                              <p:par>
                                <p:cTn fill="hold" nodeType="withEffect" presetClass="entr" presetID="10" presetSubtype="0">
                                  <p:stCondLst>
                                    <p:cond delay="0"/>
                                  </p:stCondLst>
                                  <p:childTnLst>
                                    <p:set>
                                      <p:cBhvr>
                                        <p:cTn dur="1" fill="hold">
                                          <p:stCondLst>
                                            <p:cond delay="0"/>
                                          </p:stCondLst>
                                        </p:cTn>
                                        <p:tgtEl>
                                          <p:spTgt spid="5875"/>
                                        </p:tgtEl>
                                        <p:attrNameLst>
                                          <p:attrName>style.visibility</p:attrName>
                                        </p:attrNameLst>
                                      </p:cBhvr>
                                      <p:to>
                                        <p:strVal val="visible"/>
                                      </p:to>
                                    </p:set>
                                    <p:animEffect filter="fade" transition="in">
                                      <p:cBhvr>
                                        <p:cTn dur="1000"/>
                                        <p:tgtEl>
                                          <p:spTgt spid="5875"/>
                                        </p:tgtEl>
                                      </p:cBhvr>
                                    </p:animEffect>
                                  </p:childTnLst>
                                </p:cTn>
                              </p:par>
                              <p:par>
                                <p:cTn fill="hold" nodeType="withEffect" presetClass="entr" presetID="10" presetSubtype="0">
                                  <p:stCondLst>
                                    <p:cond delay="0"/>
                                  </p:stCondLst>
                                  <p:childTnLst>
                                    <p:set>
                                      <p:cBhvr>
                                        <p:cTn dur="1" fill="hold">
                                          <p:stCondLst>
                                            <p:cond delay="0"/>
                                          </p:stCondLst>
                                        </p:cTn>
                                        <p:tgtEl>
                                          <p:spTgt spid="5874"/>
                                        </p:tgtEl>
                                        <p:attrNameLst>
                                          <p:attrName>style.visibility</p:attrName>
                                        </p:attrNameLst>
                                      </p:cBhvr>
                                      <p:to>
                                        <p:strVal val="visible"/>
                                      </p:to>
                                    </p:set>
                                    <p:animEffect filter="fade" transition="in">
                                      <p:cBhvr>
                                        <p:cTn dur="1000"/>
                                        <p:tgtEl>
                                          <p:spTgt spid="58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2" name="Shape 5972"/>
        <p:cNvGrpSpPr/>
        <p:nvPr/>
      </p:nvGrpSpPr>
      <p:grpSpPr>
        <a:xfrm>
          <a:off x="0" y="0"/>
          <a:ext cx="0" cy="0"/>
          <a:chOff x="0" y="0"/>
          <a:chExt cx="0" cy="0"/>
        </a:xfrm>
      </p:grpSpPr>
      <p:sp>
        <p:nvSpPr>
          <p:cNvPr id="5973" name="Google Shape;5973;p77"/>
          <p:cNvSpPr txBox="1"/>
          <p:nvPr>
            <p:ph type="title"/>
          </p:nvPr>
        </p:nvSpPr>
        <p:spPr>
          <a:xfrm>
            <a:off x="826625" y="17402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 </a:t>
            </a:r>
            <a:r>
              <a:rPr lang="en-US">
                <a:solidFill>
                  <a:srgbClr val="0000A8"/>
                </a:solidFill>
              </a:rPr>
              <a:t>iteration</a:t>
            </a:r>
            <a:endParaRPr/>
          </a:p>
        </p:txBody>
      </p:sp>
      <p:sp>
        <p:nvSpPr>
          <p:cNvPr id="5974" name="Google Shape;5974;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5975" name="Google Shape;5975;p77"/>
          <p:cNvSpPr txBox="1"/>
          <p:nvPr/>
        </p:nvSpPr>
        <p:spPr>
          <a:xfrm>
            <a:off x="1280160" y="1859280"/>
            <a:ext cx="8864671"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 and so on</a:t>
            </a:r>
            <a:endParaRPr/>
          </a:p>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a:p>
            <a:pPr indent="0" lvl="0" marL="0" marR="0" rtl="0" algn="l">
              <a:spcBef>
                <a:spcPts val="0"/>
              </a:spcBef>
              <a:spcAft>
                <a:spcPts val="0"/>
              </a:spcAft>
              <a:buNone/>
            </a:pPr>
            <a:r>
              <a:rPr lang="en-US" sz="2800">
                <a:solidFill>
                  <a:srgbClr val="000000"/>
                </a:solidFill>
                <a:latin typeface="Calibri"/>
                <a:ea typeface="Calibri"/>
                <a:cs typeface="Calibri"/>
                <a:sym typeface="Calibri"/>
              </a:rPr>
              <a:t>Let’s next take a look at the iterative </a:t>
            </a:r>
            <a:r>
              <a:rPr i="1" lang="en-US" sz="2800">
                <a:solidFill>
                  <a:srgbClr val="000000"/>
                </a:solidFill>
                <a:latin typeface="Calibri"/>
                <a:ea typeface="Calibri"/>
                <a:cs typeface="Calibri"/>
                <a:sym typeface="Calibri"/>
              </a:rPr>
              <a:t>computations</a:t>
            </a:r>
            <a:r>
              <a:rPr lang="en-US" sz="2800">
                <a:solidFill>
                  <a:srgbClr val="000000"/>
                </a:solidFill>
                <a:latin typeface="Calibri"/>
                <a:ea typeface="Calibri"/>
                <a:cs typeface="Calibri"/>
                <a:sym typeface="Calibri"/>
              </a:rPr>
              <a:t> at nodes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0" name="Shape 5980"/>
        <p:cNvGrpSpPr/>
        <p:nvPr/>
      </p:nvGrpSpPr>
      <p:grpSpPr>
        <a:xfrm>
          <a:off x="0" y="0"/>
          <a:ext cx="0" cy="0"/>
          <a:chOff x="0" y="0"/>
          <a:chExt cx="0" cy="0"/>
        </a:xfrm>
      </p:grpSpPr>
      <p:grpSp>
        <p:nvGrpSpPr>
          <p:cNvPr id="5981" name="Google Shape;5981;p78"/>
          <p:cNvGrpSpPr/>
          <p:nvPr/>
        </p:nvGrpSpPr>
        <p:grpSpPr>
          <a:xfrm>
            <a:off x="2827965" y="1130710"/>
            <a:ext cx="1547391" cy="2620631"/>
            <a:chOff x="3221255" y="1012723"/>
            <a:chExt cx="1547391" cy="2620631"/>
          </a:xfrm>
        </p:grpSpPr>
        <p:sp>
          <p:nvSpPr>
            <p:cNvPr id="5982" name="Google Shape;5982;p78"/>
            <p:cNvSpPr/>
            <p:nvPr/>
          </p:nvSpPr>
          <p:spPr>
            <a:xfrm>
              <a:off x="4316362" y="1042219"/>
              <a:ext cx="452284" cy="2389239"/>
            </a:xfrm>
            <a:custGeom>
              <a:rect b="b" l="l" r="r" t="t"/>
              <a:pathLst>
                <a:path extrusionOk="0" h="2389239" w="452284">
                  <a:moveTo>
                    <a:pt x="0" y="0"/>
                  </a:moveTo>
                  <a:cubicBezTo>
                    <a:pt x="170425" y="625988"/>
                    <a:pt x="242530" y="681703"/>
                    <a:pt x="452284" y="904568"/>
                  </a:cubicBezTo>
                  <a:lnTo>
                    <a:pt x="452284" y="1052052"/>
                  </a:lnTo>
                  <a:cubicBezTo>
                    <a:pt x="206477" y="1507613"/>
                    <a:pt x="137653" y="1825523"/>
                    <a:pt x="9833" y="2389239"/>
                  </a:cubicBezTo>
                  <a:cubicBezTo>
                    <a:pt x="6555" y="1592826"/>
                    <a:pt x="3278" y="796413"/>
                    <a:pt x="0" y="0"/>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983" name="Google Shape;5983;p78"/>
            <p:cNvGrpSpPr/>
            <p:nvPr/>
          </p:nvGrpSpPr>
          <p:grpSpPr>
            <a:xfrm>
              <a:off x="3221255" y="1012723"/>
              <a:ext cx="1172904" cy="2620631"/>
              <a:chOff x="3221255" y="1012723"/>
              <a:chExt cx="1172904" cy="2620631"/>
            </a:xfrm>
          </p:grpSpPr>
          <p:sp>
            <p:nvSpPr>
              <p:cNvPr id="5984" name="Google Shape;5984;p78"/>
              <p:cNvSpPr/>
              <p:nvPr/>
            </p:nvSpPr>
            <p:spPr>
              <a:xfrm>
                <a:off x="3224981" y="1012723"/>
                <a:ext cx="1111045" cy="241873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985" name="Google Shape;5985;p78"/>
              <p:cNvGrpSpPr/>
              <p:nvPr/>
            </p:nvGrpSpPr>
            <p:grpSpPr>
              <a:xfrm>
                <a:off x="3221255" y="1017253"/>
                <a:ext cx="1172904" cy="2616101"/>
                <a:chOff x="9477371" y="702026"/>
                <a:chExt cx="1172904" cy="2616101"/>
              </a:xfrm>
            </p:grpSpPr>
            <p:sp>
              <p:nvSpPr>
                <p:cNvPr id="5986" name="Google Shape;5986;p78"/>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87" name="Google Shape;5987;p78"/>
                <p:cNvSpPr txBox="1"/>
                <p:nvPr/>
              </p:nvSpPr>
              <p:spPr>
                <a:xfrm>
                  <a:off x="9533078" y="702026"/>
                  <a:ext cx="1117197" cy="26161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FFFF"/>
                      </a:solidFill>
                      <a:latin typeface="Calibri"/>
                      <a:ea typeface="Calibri"/>
                      <a:cs typeface="Calibri"/>
                      <a:sym typeface="Calibri"/>
                    </a:rPr>
                    <a:t>DV in a: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(a)=0</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(b) = 8</a:t>
                  </a:r>
                  <a:endParaRPr sz="1600">
                    <a:solidFill>
                      <a:srgbClr val="000000"/>
                    </a:solidFill>
                    <a:latin typeface="Calibri"/>
                    <a:ea typeface="Calibri"/>
                    <a:cs typeface="Calibri"/>
                    <a:sym typeface="Calibri"/>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(c)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(d) = 1</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(e)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(f)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(g)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(h)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5988" name="Google Shape;5988;p78"/>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5989" name="Google Shape;5989;p78"/>
                <p:cNvSpPr/>
                <p:nvPr/>
              </p:nvSpPr>
              <p:spPr>
                <a:xfrm>
                  <a:off x="9479666" y="706056"/>
                  <a:ext cx="1122744" cy="2589450"/>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sp>
        <p:nvSpPr>
          <p:cNvPr id="5990" name="Google Shape;5990;p78"/>
          <p:cNvSpPr txBox="1"/>
          <p:nvPr>
            <p:ph type="title"/>
          </p:nvPr>
        </p:nvSpPr>
        <p:spPr>
          <a:xfrm>
            <a:off x="826624" y="174028"/>
            <a:ext cx="10893427"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 computation</a:t>
            </a:r>
            <a:endParaRPr/>
          </a:p>
        </p:txBody>
      </p:sp>
      <p:sp>
        <p:nvSpPr>
          <p:cNvPr id="5991" name="Google Shape;5991;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5992" name="Google Shape;5992;p78"/>
          <p:cNvCxnSpPr>
            <a:stCxn id="5993" idx="2"/>
            <a:endCxn id="5993"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5994" name="Google Shape;5994;p78"/>
          <p:cNvCxnSpPr>
            <a:stCxn id="5993" idx="1"/>
            <a:endCxn id="5993"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5993" name="Google Shape;5993;p78"/>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5995" name="Google Shape;5995;p78"/>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5996" name="Google Shape;5996;p78"/>
          <p:cNvGrpSpPr/>
          <p:nvPr/>
        </p:nvGrpSpPr>
        <p:grpSpPr>
          <a:xfrm>
            <a:off x="4333785" y="5772213"/>
            <a:ext cx="4395351" cy="404576"/>
            <a:chOff x="4333785" y="5772213"/>
            <a:chExt cx="4395351" cy="404576"/>
          </a:xfrm>
        </p:grpSpPr>
        <p:grpSp>
          <p:nvGrpSpPr>
            <p:cNvPr id="5997" name="Google Shape;5997;p78"/>
            <p:cNvGrpSpPr/>
            <p:nvPr/>
          </p:nvGrpSpPr>
          <p:grpSpPr>
            <a:xfrm>
              <a:off x="4333785" y="5772213"/>
              <a:ext cx="531821" cy="369069"/>
              <a:chOff x="1348328" y="2475647"/>
              <a:chExt cx="603916" cy="419100"/>
            </a:xfrm>
          </p:grpSpPr>
          <p:grpSp>
            <p:nvGrpSpPr>
              <p:cNvPr id="5998" name="Google Shape;5998;p78"/>
              <p:cNvGrpSpPr/>
              <p:nvPr/>
            </p:nvGrpSpPr>
            <p:grpSpPr>
              <a:xfrm>
                <a:off x="1348328" y="2555748"/>
                <a:ext cx="603916" cy="308999"/>
                <a:chOff x="5278570" y="2983486"/>
                <a:chExt cx="501650" cy="233363"/>
              </a:xfrm>
            </p:grpSpPr>
            <p:sp>
              <p:nvSpPr>
                <p:cNvPr id="5999" name="Google Shape;5999;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000" name="Google Shape;6000;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001" name="Google Shape;6001;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002" name="Google Shape;6002;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003" name="Google Shape;6003;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004" name="Google Shape;6004;p78"/>
              <p:cNvGrpSpPr/>
              <p:nvPr/>
            </p:nvGrpSpPr>
            <p:grpSpPr>
              <a:xfrm>
                <a:off x="1456374" y="2475647"/>
                <a:ext cx="355165" cy="419100"/>
                <a:chOff x="2944" y="2405"/>
                <a:chExt cx="227" cy="264"/>
              </a:xfrm>
            </p:grpSpPr>
            <p:sp>
              <p:nvSpPr>
                <p:cNvPr id="6005" name="Google Shape;6005;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006" name="Google Shape;6006;p78"/>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6007" name="Google Shape;6007;p78"/>
            <p:cNvGrpSpPr/>
            <p:nvPr/>
          </p:nvGrpSpPr>
          <p:grpSpPr>
            <a:xfrm>
              <a:off x="6263949" y="5807720"/>
              <a:ext cx="531821" cy="369069"/>
              <a:chOff x="1348328" y="2507397"/>
              <a:chExt cx="603916" cy="419100"/>
            </a:xfrm>
          </p:grpSpPr>
          <p:grpSp>
            <p:nvGrpSpPr>
              <p:cNvPr id="6008" name="Google Shape;6008;p78"/>
              <p:cNvGrpSpPr/>
              <p:nvPr/>
            </p:nvGrpSpPr>
            <p:grpSpPr>
              <a:xfrm>
                <a:off x="1348328" y="2555748"/>
                <a:ext cx="603916" cy="308999"/>
                <a:chOff x="5278570" y="2983486"/>
                <a:chExt cx="501650" cy="233363"/>
              </a:xfrm>
            </p:grpSpPr>
            <p:sp>
              <p:nvSpPr>
                <p:cNvPr id="6009" name="Google Shape;6009;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010" name="Google Shape;6010;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011" name="Google Shape;6011;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012" name="Google Shape;6012;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013" name="Google Shape;6013;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014" name="Google Shape;6014;p78"/>
              <p:cNvGrpSpPr/>
              <p:nvPr/>
            </p:nvGrpSpPr>
            <p:grpSpPr>
              <a:xfrm>
                <a:off x="1456374" y="2507397"/>
                <a:ext cx="355165" cy="419100"/>
                <a:chOff x="2944" y="2425"/>
                <a:chExt cx="227" cy="264"/>
              </a:xfrm>
            </p:grpSpPr>
            <p:sp>
              <p:nvSpPr>
                <p:cNvPr id="6015" name="Google Shape;6015;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016" name="Google Shape;6016;p78"/>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6017" name="Google Shape;6017;p78"/>
            <p:cNvGrpSpPr/>
            <p:nvPr/>
          </p:nvGrpSpPr>
          <p:grpSpPr>
            <a:xfrm>
              <a:off x="8197315" y="5805271"/>
              <a:ext cx="531821" cy="369069"/>
              <a:chOff x="1348328" y="2507397"/>
              <a:chExt cx="603916" cy="419100"/>
            </a:xfrm>
          </p:grpSpPr>
          <p:grpSp>
            <p:nvGrpSpPr>
              <p:cNvPr id="6018" name="Google Shape;6018;p78"/>
              <p:cNvGrpSpPr/>
              <p:nvPr/>
            </p:nvGrpSpPr>
            <p:grpSpPr>
              <a:xfrm>
                <a:off x="1348328" y="2555748"/>
                <a:ext cx="603916" cy="308999"/>
                <a:chOff x="5278570" y="2983486"/>
                <a:chExt cx="501650" cy="233363"/>
              </a:xfrm>
            </p:grpSpPr>
            <p:sp>
              <p:nvSpPr>
                <p:cNvPr id="6019" name="Google Shape;6019;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020" name="Google Shape;6020;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021" name="Google Shape;6021;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022" name="Google Shape;6022;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023" name="Google Shape;6023;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024" name="Google Shape;6024;p78"/>
              <p:cNvGrpSpPr/>
              <p:nvPr/>
            </p:nvGrpSpPr>
            <p:grpSpPr>
              <a:xfrm>
                <a:off x="1500196" y="2507397"/>
                <a:ext cx="267548" cy="419100"/>
                <a:chOff x="2972" y="2425"/>
                <a:chExt cx="171" cy="264"/>
              </a:xfrm>
            </p:grpSpPr>
            <p:sp>
              <p:nvSpPr>
                <p:cNvPr id="6025" name="Google Shape;6025;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026" name="Google Shape;6026;p78"/>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6027" name="Google Shape;6027;p78"/>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28" name="Google Shape;6028;p78"/>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29" name="Google Shape;6029;p78"/>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30" name="Google Shape;6030;p78"/>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31" name="Google Shape;6031;p78"/>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32" name="Google Shape;6032;p78"/>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33" name="Google Shape;6033;p78"/>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34" name="Google Shape;6034;p78"/>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35" name="Google Shape;6035;p78"/>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036" name="Google Shape;6036;p78"/>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6037" name="Google Shape;6037;p78"/>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grpSp>
        <p:nvGrpSpPr>
          <p:cNvPr id="6038" name="Google Shape;6038;p78"/>
          <p:cNvGrpSpPr/>
          <p:nvPr/>
        </p:nvGrpSpPr>
        <p:grpSpPr>
          <a:xfrm>
            <a:off x="584365" y="1859143"/>
            <a:ext cx="736099" cy="1229581"/>
            <a:chOff x="10030307" y="3444875"/>
            <a:chExt cx="736099" cy="1229581"/>
          </a:xfrm>
        </p:grpSpPr>
        <p:sp>
          <p:nvSpPr>
            <p:cNvPr id="6039" name="Google Shape;6039;p78"/>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t=1</a:t>
              </a:r>
              <a:endParaRPr/>
            </a:p>
          </p:txBody>
        </p:sp>
        <p:grpSp>
          <p:nvGrpSpPr>
            <p:cNvPr id="6040" name="Google Shape;6040;p78"/>
            <p:cNvGrpSpPr/>
            <p:nvPr/>
          </p:nvGrpSpPr>
          <p:grpSpPr>
            <a:xfrm>
              <a:off x="10034588" y="3444875"/>
              <a:ext cx="682627" cy="682625"/>
              <a:chOff x="10034589" y="3444875"/>
              <a:chExt cx="682627" cy="682625"/>
            </a:xfrm>
          </p:grpSpPr>
          <p:sp>
            <p:nvSpPr>
              <p:cNvPr id="6041" name="Google Shape;6041;p78"/>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6042" name="Google Shape;6042;p78"/>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043" name="Google Shape;6043;p78"/>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044" name="Google Shape;6044;p78"/>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045" name="Google Shape;6045;p78"/>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046" name="Google Shape;6046;p78"/>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047" name="Google Shape;6047;p78"/>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048" name="Google Shape;6048;p78"/>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049" name="Google Shape;6049;p78"/>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050" name="Google Shape;6050;p78"/>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051" name="Google Shape;6051;p78"/>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052" name="Google Shape;6052;p78"/>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053" name="Google Shape;6053;p78"/>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6054" name="Google Shape;6054;p78"/>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cxnSp>
        <p:nvCxnSpPr>
          <p:cNvPr id="6055" name="Google Shape;6055;p78"/>
          <p:cNvCxnSpPr/>
          <p:nvPr/>
        </p:nvCxnSpPr>
        <p:spPr>
          <a:xfrm>
            <a:off x="919556" y="1995948"/>
            <a:ext cx="0" cy="196031"/>
          </a:xfrm>
          <a:prstGeom prst="straightConnector1">
            <a:avLst/>
          </a:prstGeom>
          <a:noFill/>
          <a:ln cap="flat" cmpd="sng" w="25400">
            <a:solidFill>
              <a:srgbClr val="C00000"/>
            </a:solidFill>
            <a:prstDash val="solid"/>
            <a:miter lim="8000"/>
            <a:headEnd len="sm" w="sm" type="none"/>
            <a:tailEnd len="sm" w="sm" type="none"/>
          </a:ln>
        </p:spPr>
      </p:cxnSp>
      <p:sp>
        <p:nvSpPr>
          <p:cNvPr id="6056" name="Google Shape;6056;p78"/>
          <p:cNvSpPr/>
          <p:nvPr/>
        </p:nvSpPr>
        <p:spPr>
          <a:xfrm>
            <a:off x="6626942" y="275303"/>
            <a:ext cx="3038168" cy="629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057" name="Google Shape;6057;p78"/>
          <p:cNvGrpSpPr/>
          <p:nvPr/>
        </p:nvGrpSpPr>
        <p:grpSpPr>
          <a:xfrm>
            <a:off x="6656438" y="235974"/>
            <a:ext cx="2493133" cy="1917291"/>
            <a:chOff x="7010400" y="108155"/>
            <a:chExt cx="2493133" cy="1917291"/>
          </a:xfrm>
        </p:grpSpPr>
        <p:sp>
          <p:nvSpPr>
            <p:cNvPr id="6058" name="Google Shape;6058;p78"/>
            <p:cNvSpPr/>
            <p:nvPr/>
          </p:nvSpPr>
          <p:spPr>
            <a:xfrm>
              <a:off x="7010400" y="176982"/>
              <a:ext cx="2340077" cy="1848464"/>
            </a:xfrm>
            <a:custGeom>
              <a:rect b="b" l="l" r="r" t="t"/>
              <a:pathLst>
                <a:path extrusionOk="0" h="1848464" w="2340077">
                  <a:moveTo>
                    <a:pt x="0" y="1691148"/>
                  </a:moveTo>
                  <a:cubicBezTo>
                    <a:pt x="167148" y="1304412"/>
                    <a:pt x="285136" y="770193"/>
                    <a:pt x="383458" y="0"/>
                  </a:cubicBezTo>
                  <a:lnTo>
                    <a:pt x="2340077" y="1386348"/>
                  </a:lnTo>
                  <a:cubicBezTo>
                    <a:pt x="871794" y="1579716"/>
                    <a:pt x="740695" y="1645264"/>
                    <a:pt x="137651" y="1848464"/>
                  </a:cubicBezTo>
                  <a:lnTo>
                    <a:pt x="0" y="1691148"/>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059" name="Google Shape;6059;p78"/>
            <p:cNvGrpSpPr/>
            <p:nvPr/>
          </p:nvGrpSpPr>
          <p:grpSpPr>
            <a:xfrm>
              <a:off x="7323884" y="108155"/>
              <a:ext cx="2179649" cy="1445342"/>
              <a:chOff x="7323884" y="108155"/>
              <a:chExt cx="2179649" cy="1445342"/>
            </a:xfrm>
          </p:grpSpPr>
          <p:sp>
            <p:nvSpPr>
              <p:cNvPr id="6060" name="Google Shape;6060;p78"/>
              <p:cNvSpPr/>
              <p:nvPr/>
            </p:nvSpPr>
            <p:spPr>
              <a:xfrm>
                <a:off x="7413523" y="108155"/>
                <a:ext cx="1936954" cy="14355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061" name="Google Shape;6061;p78"/>
              <p:cNvGrpSpPr/>
              <p:nvPr/>
            </p:nvGrpSpPr>
            <p:grpSpPr>
              <a:xfrm>
                <a:off x="7323884" y="120836"/>
                <a:ext cx="2179649" cy="1432661"/>
                <a:chOff x="7323884" y="120836"/>
                <a:chExt cx="2179649" cy="1432661"/>
              </a:xfrm>
            </p:grpSpPr>
            <p:sp>
              <p:nvSpPr>
                <p:cNvPr id="6062" name="Google Shape;6062;p78"/>
                <p:cNvSpPr/>
                <p:nvPr/>
              </p:nvSpPr>
              <p:spPr>
                <a:xfrm>
                  <a:off x="7409951" y="124866"/>
                  <a:ext cx="1940525"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63" name="Google Shape;6063;p78"/>
                <p:cNvSpPr txBox="1"/>
                <p:nvPr/>
              </p:nvSpPr>
              <p:spPr>
                <a:xfrm>
                  <a:off x="7799764" y="120836"/>
                  <a:ext cx="111719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b:</a:t>
                  </a:r>
                  <a:endParaRPr/>
                </a:p>
              </p:txBody>
            </p:sp>
            <p:cxnSp>
              <p:nvCxnSpPr>
                <p:cNvPr id="6064" name="Google Shape;6064;p78"/>
                <p:cNvCxnSpPr/>
                <p:nvPr/>
              </p:nvCxnSpPr>
              <p:spPr>
                <a:xfrm>
                  <a:off x="7401895" y="49525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065" name="Google Shape;6065;p78"/>
                <p:cNvSpPr/>
                <p:nvPr/>
              </p:nvSpPr>
              <p:spPr>
                <a:xfrm>
                  <a:off x="7404189" y="124866"/>
                  <a:ext cx="1936455" cy="142863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66" name="Google Shape;6066;p78"/>
                <p:cNvSpPr txBox="1"/>
                <p:nvPr/>
              </p:nvSpPr>
              <p:spPr>
                <a:xfrm>
                  <a:off x="8392488" y="560500"/>
                  <a:ext cx="1111045"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(f)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(g)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(h)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sp>
              <p:nvSpPr>
                <p:cNvPr id="6067" name="Google Shape;6067;p78"/>
                <p:cNvSpPr txBox="1"/>
                <p:nvPr/>
              </p:nvSpPr>
              <p:spPr>
                <a:xfrm>
                  <a:off x="7323884" y="557387"/>
                  <a:ext cx="1117197" cy="978729"/>
                </a:xfrm>
                <a:prstGeom prst="rect">
                  <a:avLst/>
                </a:prstGeom>
                <a:noFill/>
                <a:ln>
                  <a:noFill/>
                </a:ln>
              </p:spPr>
              <p:txBody>
                <a:bodyPr anchorCtr="0" anchor="t" bIns="45700" lIns="91425" spcFirstLastPara="1" rIns="91425" wrap="square" tIns="45700">
                  <a:spAutoFit/>
                </a:bodyPr>
                <a:lstStyle/>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(a) = 8</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(c) = 1</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p:txBody>
            </p:sp>
          </p:grpSp>
        </p:grpSp>
      </p:grpSp>
      <p:sp>
        <p:nvSpPr>
          <p:cNvPr id="6068" name="Google Shape;6068;p78"/>
          <p:cNvSpPr txBox="1"/>
          <p:nvPr/>
        </p:nvSpPr>
        <p:spPr>
          <a:xfrm flipH="1">
            <a:off x="348626" y="3078991"/>
            <a:ext cx="2195814" cy="5909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b receives DVs from a, c, e</a:t>
            </a:r>
            <a:endParaRPr/>
          </a:p>
        </p:txBody>
      </p:sp>
      <p:sp>
        <p:nvSpPr>
          <p:cNvPr id="6069" name="Google Shape;6069;p78"/>
          <p:cNvSpPr/>
          <p:nvPr/>
        </p:nvSpPr>
        <p:spPr>
          <a:xfrm rot="-5400000">
            <a:off x="6346718" y="340688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70" name="Google Shape;6070;p78"/>
          <p:cNvSpPr/>
          <p:nvPr/>
        </p:nvSpPr>
        <p:spPr>
          <a:xfrm>
            <a:off x="4973224" y="193798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71" name="Google Shape;6071;p78"/>
          <p:cNvSpPr/>
          <p:nvPr/>
        </p:nvSpPr>
        <p:spPr>
          <a:xfrm rot="10800000">
            <a:off x="7631559" y="191970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072" name="Google Shape;6072;p78"/>
          <p:cNvGrpSpPr/>
          <p:nvPr/>
        </p:nvGrpSpPr>
        <p:grpSpPr>
          <a:xfrm>
            <a:off x="4333785" y="1906063"/>
            <a:ext cx="4395351" cy="404576"/>
            <a:chOff x="4333785" y="5772213"/>
            <a:chExt cx="4395351" cy="404576"/>
          </a:xfrm>
        </p:grpSpPr>
        <p:grpSp>
          <p:nvGrpSpPr>
            <p:cNvPr id="6073" name="Google Shape;6073;p78"/>
            <p:cNvGrpSpPr/>
            <p:nvPr/>
          </p:nvGrpSpPr>
          <p:grpSpPr>
            <a:xfrm>
              <a:off x="4333785" y="5772213"/>
              <a:ext cx="531821" cy="369069"/>
              <a:chOff x="1348328" y="2475647"/>
              <a:chExt cx="603916" cy="419100"/>
            </a:xfrm>
          </p:grpSpPr>
          <p:grpSp>
            <p:nvGrpSpPr>
              <p:cNvPr id="6074" name="Google Shape;6074;p78"/>
              <p:cNvGrpSpPr/>
              <p:nvPr/>
            </p:nvGrpSpPr>
            <p:grpSpPr>
              <a:xfrm>
                <a:off x="1348328" y="2555748"/>
                <a:ext cx="603916" cy="308999"/>
                <a:chOff x="5278570" y="2983486"/>
                <a:chExt cx="501650" cy="233363"/>
              </a:xfrm>
            </p:grpSpPr>
            <p:sp>
              <p:nvSpPr>
                <p:cNvPr id="6075" name="Google Shape;6075;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076" name="Google Shape;6076;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077" name="Google Shape;6077;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078" name="Google Shape;6078;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079" name="Google Shape;6079;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080" name="Google Shape;6080;p78"/>
              <p:cNvGrpSpPr/>
              <p:nvPr/>
            </p:nvGrpSpPr>
            <p:grpSpPr>
              <a:xfrm>
                <a:off x="1456374" y="2475647"/>
                <a:ext cx="355165" cy="419100"/>
                <a:chOff x="2944" y="2405"/>
                <a:chExt cx="227" cy="264"/>
              </a:xfrm>
            </p:grpSpPr>
            <p:sp>
              <p:nvSpPr>
                <p:cNvPr id="6081" name="Google Shape;6081;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082" name="Google Shape;6082;p78"/>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6083" name="Google Shape;6083;p78"/>
            <p:cNvGrpSpPr/>
            <p:nvPr/>
          </p:nvGrpSpPr>
          <p:grpSpPr>
            <a:xfrm>
              <a:off x="6263949" y="5807720"/>
              <a:ext cx="531821" cy="369069"/>
              <a:chOff x="1348328" y="2507397"/>
              <a:chExt cx="603916" cy="419100"/>
            </a:xfrm>
          </p:grpSpPr>
          <p:grpSp>
            <p:nvGrpSpPr>
              <p:cNvPr id="6084" name="Google Shape;6084;p78"/>
              <p:cNvGrpSpPr/>
              <p:nvPr/>
            </p:nvGrpSpPr>
            <p:grpSpPr>
              <a:xfrm>
                <a:off x="1348328" y="2555748"/>
                <a:ext cx="603916" cy="308999"/>
                <a:chOff x="5278570" y="2983486"/>
                <a:chExt cx="501650" cy="233363"/>
              </a:xfrm>
            </p:grpSpPr>
            <p:sp>
              <p:nvSpPr>
                <p:cNvPr id="6085" name="Google Shape;6085;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086" name="Google Shape;6086;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087" name="Google Shape;6087;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088" name="Google Shape;6088;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089" name="Google Shape;6089;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090" name="Google Shape;6090;p78"/>
              <p:cNvGrpSpPr/>
              <p:nvPr/>
            </p:nvGrpSpPr>
            <p:grpSpPr>
              <a:xfrm>
                <a:off x="1456374" y="2507397"/>
                <a:ext cx="355165" cy="419100"/>
                <a:chOff x="2944" y="2425"/>
                <a:chExt cx="227" cy="264"/>
              </a:xfrm>
            </p:grpSpPr>
            <p:sp>
              <p:nvSpPr>
                <p:cNvPr id="6091" name="Google Shape;6091;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092" name="Google Shape;6092;p78"/>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6093" name="Google Shape;6093;p78"/>
            <p:cNvGrpSpPr/>
            <p:nvPr/>
          </p:nvGrpSpPr>
          <p:grpSpPr>
            <a:xfrm>
              <a:off x="8197315" y="5805271"/>
              <a:ext cx="531821" cy="369069"/>
              <a:chOff x="1348328" y="2507397"/>
              <a:chExt cx="603916" cy="419100"/>
            </a:xfrm>
          </p:grpSpPr>
          <p:grpSp>
            <p:nvGrpSpPr>
              <p:cNvPr id="6094" name="Google Shape;6094;p78"/>
              <p:cNvGrpSpPr/>
              <p:nvPr/>
            </p:nvGrpSpPr>
            <p:grpSpPr>
              <a:xfrm>
                <a:off x="1348328" y="2555748"/>
                <a:ext cx="603916" cy="308999"/>
                <a:chOff x="5278570" y="2983486"/>
                <a:chExt cx="501650" cy="233363"/>
              </a:xfrm>
            </p:grpSpPr>
            <p:sp>
              <p:nvSpPr>
                <p:cNvPr id="6095" name="Google Shape;6095;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096" name="Google Shape;6096;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097" name="Google Shape;6097;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098" name="Google Shape;6098;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099" name="Google Shape;6099;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100" name="Google Shape;6100;p78"/>
              <p:cNvGrpSpPr/>
              <p:nvPr/>
            </p:nvGrpSpPr>
            <p:grpSpPr>
              <a:xfrm>
                <a:off x="1464216" y="2507397"/>
                <a:ext cx="341085" cy="419100"/>
                <a:chOff x="2949" y="2425"/>
                <a:chExt cx="218" cy="264"/>
              </a:xfrm>
            </p:grpSpPr>
            <p:sp>
              <p:nvSpPr>
                <p:cNvPr id="6101" name="Google Shape;6101;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102" name="Google Shape;6102;p78"/>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grpSp>
        <p:nvGrpSpPr>
          <p:cNvPr id="6103" name="Google Shape;6103;p78"/>
          <p:cNvGrpSpPr/>
          <p:nvPr/>
        </p:nvGrpSpPr>
        <p:grpSpPr>
          <a:xfrm>
            <a:off x="4336458" y="3833790"/>
            <a:ext cx="4395351" cy="404576"/>
            <a:chOff x="4333785" y="5772213"/>
            <a:chExt cx="4395351" cy="404576"/>
          </a:xfrm>
        </p:grpSpPr>
        <p:grpSp>
          <p:nvGrpSpPr>
            <p:cNvPr id="6104" name="Google Shape;6104;p78"/>
            <p:cNvGrpSpPr/>
            <p:nvPr/>
          </p:nvGrpSpPr>
          <p:grpSpPr>
            <a:xfrm>
              <a:off x="4333785" y="5772213"/>
              <a:ext cx="531821" cy="369069"/>
              <a:chOff x="1348328" y="2475647"/>
              <a:chExt cx="603916" cy="419100"/>
            </a:xfrm>
          </p:grpSpPr>
          <p:grpSp>
            <p:nvGrpSpPr>
              <p:cNvPr id="6105" name="Google Shape;6105;p78"/>
              <p:cNvGrpSpPr/>
              <p:nvPr/>
            </p:nvGrpSpPr>
            <p:grpSpPr>
              <a:xfrm>
                <a:off x="1348328" y="2555748"/>
                <a:ext cx="603916" cy="308999"/>
                <a:chOff x="5278570" y="2983486"/>
                <a:chExt cx="501650" cy="233363"/>
              </a:xfrm>
            </p:grpSpPr>
            <p:sp>
              <p:nvSpPr>
                <p:cNvPr id="6106" name="Google Shape;6106;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107" name="Google Shape;6107;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108" name="Google Shape;6108;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109" name="Google Shape;6109;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110" name="Google Shape;6110;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111" name="Google Shape;6111;p78"/>
              <p:cNvGrpSpPr/>
              <p:nvPr/>
            </p:nvGrpSpPr>
            <p:grpSpPr>
              <a:xfrm>
                <a:off x="1456374" y="2475647"/>
                <a:ext cx="355165" cy="419100"/>
                <a:chOff x="2944" y="2405"/>
                <a:chExt cx="227" cy="264"/>
              </a:xfrm>
            </p:grpSpPr>
            <p:sp>
              <p:nvSpPr>
                <p:cNvPr id="6112" name="Google Shape;6112;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113" name="Google Shape;6113;p78"/>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6114" name="Google Shape;6114;p78"/>
            <p:cNvGrpSpPr/>
            <p:nvPr/>
          </p:nvGrpSpPr>
          <p:grpSpPr>
            <a:xfrm>
              <a:off x="6263949" y="5807720"/>
              <a:ext cx="531821" cy="369069"/>
              <a:chOff x="1348328" y="2507397"/>
              <a:chExt cx="603916" cy="419100"/>
            </a:xfrm>
          </p:grpSpPr>
          <p:grpSp>
            <p:nvGrpSpPr>
              <p:cNvPr id="6115" name="Google Shape;6115;p78"/>
              <p:cNvGrpSpPr/>
              <p:nvPr/>
            </p:nvGrpSpPr>
            <p:grpSpPr>
              <a:xfrm>
                <a:off x="1348328" y="2555748"/>
                <a:ext cx="603916" cy="308999"/>
                <a:chOff x="5278570" y="2983486"/>
                <a:chExt cx="501650" cy="233363"/>
              </a:xfrm>
            </p:grpSpPr>
            <p:sp>
              <p:nvSpPr>
                <p:cNvPr id="6116" name="Google Shape;6116;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117" name="Google Shape;6117;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118" name="Google Shape;6118;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119" name="Google Shape;6119;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120" name="Google Shape;6120;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121" name="Google Shape;6121;p78"/>
              <p:cNvGrpSpPr/>
              <p:nvPr/>
            </p:nvGrpSpPr>
            <p:grpSpPr>
              <a:xfrm>
                <a:off x="1456374" y="2507397"/>
                <a:ext cx="355165" cy="419100"/>
                <a:chOff x="2944" y="2425"/>
                <a:chExt cx="227" cy="264"/>
              </a:xfrm>
            </p:grpSpPr>
            <p:sp>
              <p:nvSpPr>
                <p:cNvPr id="6122" name="Google Shape;6122;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123" name="Google Shape;6123;p78"/>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6124" name="Google Shape;6124;p78"/>
            <p:cNvGrpSpPr/>
            <p:nvPr/>
          </p:nvGrpSpPr>
          <p:grpSpPr>
            <a:xfrm>
              <a:off x="8197315" y="5805271"/>
              <a:ext cx="531821" cy="369069"/>
              <a:chOff x="1348328" y="2507397"/>
              <a:chExt cx="603916" cy="419100"/>
            </a:xfrm>
          </p:grpSpPr>
          <p:grpSp>
            <p:nvGrpSpPr>
              <p:cNvPr id="6125" name="Google Shape;6125;p78"/>
              <p:cNvGrpSpPr/>
              <p:nvPr/>
            </p:nvGrpSpPr>
            <p:grpSpPr>
              <a:xfrm>
                <a:off x="1348328" y="2555748"/>
                <a:ext cx="603916" cy="308999"/>
                <a:chOff x="5278570" y="2983486"/>
                <a:chExt cx="501650" cy="233363"/>
              </a:xfrm>
            </p:grpSpPr>
            <p:sp>
              <p:nvSpPr>
                <p:cNvPr id="6126" name="Google Shape;6126;p78"/>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127" name="Google Shape;6127;p78"/>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128" name="Google Shape;6128;p78"/>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129" name="Google Shape;6129;p78"/>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130" name="Google Shape;6130;p78"/>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131" name="Google Shape;6131;p78"/>
              <p:cNvGrpSpPr/>
              <p:nvPr/>
            </p:nvGrpSpPr>
            <p:grpSpPr>
              <a:xfrm>
                <a:off x="1492372" y="2507397"/>
                <a:ext cx="283194" cy="419100"/>
                <a:chOff x="2967" y="2425"/>
                <a:chExt cx="181" cy="264"/>
              </a:xfrm>
            </p:grpSpPr>
            <p:sp>
              <p:nvSpPr>
                <p:cNvPr id="6132" name="Google Shape;6132;p78"/>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133" name="Google Shape;6133;p78"/>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6134" name="Google Shape;6134;p78"/>
          <p:cNvGrpSpPr/>
          <p:nvPr/>
        </p:nvGrpSpPr>
        <p:grpSpPr>
          <a:xfrm>
            <a:off x="8740877" y="219997"/>
            <a:ext cx="2045109" cy="2667397"/>
            <a:chOff x="8740877" y="219997"/>
            <a:chExt cx="2045109" cy="2667397"/>
          </a:xfrm>
        </p:grpSpPr>
        <p:sp>
          <p:nvSpPr>
            <p:cNvPr id="6135" name="Google Shape;6135;p78"/>
            <p:cNvSpPr/>
            <p:nvPr/>
          </p:nvSpPr>
          <p:spPr>
            <a:xfrm>
              <a:off x="8740877" y="247036"/>
              <a:ext cx="924232" cy="2428567"/>
            </a:xfrm>
            <a:custGeom>
              <a:rect b="b" l="l" r="r" t="t"/>
              <a:pathLst>
                <a:path extrusionOk="0" h="2428567" w="1170039">
                  <a:moveTo>
                    <a:pt x="1" y="1809135"/>
                  </a:moveTo>
                  <a:cubicBezTo>
                    <a:pt x="353962" y="1681316"/>
                    <a:pt x="875071" y="865238"/>
                    <a:pt x="1160207" y="0"/>
                  </a:cubicBezTo>
                  <a:cubicBezTo>
                    <a:pt x="1163484" y="809522"/>
                    <a:pt x="1166762" y="1619045"/>
                    <a:pt x="1170039" y="2428567"/>
                  </a:cubicBezTo>
                  <a:cubicBezTo>
                    <a:pt x="819356" y="2058219"/>
                    <a:pt x="714478" y="2090992"/>
                    <a:pt x="0" y="1946786"/>
                  </a:cubicBezTo>
                  <a:cubicBezTo>
                    <a:pt x="0" y="1900902"/>
                    <a:pt x="1" y="1855019"/>
                    <a:pt x="1" y="1809135"/>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36" name="Google Shape;6136;p78"/>
            <p:cNvGrpSpPr/>
            <p:nvPr/>
          </p:nvGrpSpPr>
          <p:grpSpPr>
            <a:xfrm>
              <a:off x="9636528" y="219997"/>
              <a:ext cx="1149458" cy="2667397"/>
              <a:chOff x="9764348" y="1447800"/>
              <a:chExt cx="1149458" cy="2667397"/>
            </a:xfrm>
          </p:grpSpPr>
          <p:sp>
            <p:nvSpPr>
              <p:cNvPr id="6137" name="Google Shape;6137;p78"/>
              <p:cNvSpPr/>
              <p:nvPr/>
            </p:nvSpPr>
            <p:spPr>
              <a:xfrm>
                <a:off x="9783097" y="1447800"/>
                <a:ext cx="1130709" cy="24261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38" name="Google Shape;6138;p78"/>
              <p:cNvGrpSpPr/>
              <p:nvPr/>
            </p:nvGrpSpPr>
            <p:grpSpPr>
              <a:xfrm>
                <a:off x="9764348" y="1447800"/>
                <a:ext cx="1130291" cy="2667397"/>
                <a:chOff x="9472119" y="702026"/>
                <a:chExt cx="1130291" cy="2667397"/>
              </a:xfrm>
            </p:grpSpPr>
            <p:sp>
              <p:nvSpPr>
                <p:cNvPr id="6139" name="Google Shape;6139;p78"/>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140" name="Google Shape;6140;p78"/>
                <p:cNvSpPr txBox="1"/>
                <p:nvPr/>
              </p:nvSpPr>
              <p:spPr>
                <a:xfrm>
                  <a:off x="9472119" y="702026"/>
                  <a:ext cx="1088020"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c:</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(b)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(c)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(e)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(f)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(h) = ∞</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141" name="Google Shape;6141;p78"/>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142" name="Google Shape;6142;p78"/>
                <p:cNvSpPr/>
                <p:nvPr/>
              </p:nvSpPr>
              <p:spPr>
                <a:xfrm>
                  <a:off x="9479666" y="706055"/>
                  <a:ext cx="1122744" cy="262077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sp>
        <p:nvSpPr>
          <p:cNvPr id="6143" name="Google Shape;6143;p78"/>
          <p:cNvSpPr/>
          <p:nvPr/>
        </p:nvSpPr>
        <p:spPr>
          <a:xfrm>
            <a:off x="6794417" y="3016538"/>
            <a:ext cx="2889702" cy="2634390"/>
          </a:xfrm>
          <a:custGeom>
            <a:rect b="b" l="l" r="r" t="t"/>
            <a:pathLst>
              <a:path extrusionOk="0" h="2634390" w="2889702">
                <a:moveTo>
                  <a:pt x="10817" y="896701"/>
                </a:moveTo>
                <a:cubicBezTo>
                  <a:pt x="1751126" y="516521"/>
                  <a:pt x="1777345" y="533564"/>
                  <a:pt x="2869381" y="0"/>
                </a:cubicBezTo>
                <a:cubicBezTo>
                  <a:pt x="2869381" y="783303"/>
                  <a:pt x="2889702" y="1851087"/>
                  <a:pt x="2889702" y="2634390"/>
                </a:cubicBezTo>
                <a:cubicBezTo>
                  <a:pt x="2630785" y="598784"/>
                  <a:pt x="2043143" y="642374"/>
                  <a:pt x="0" y="1094330"/>
                </a:cubicBezTo>
                <a:lnTo>
                  <a:pt x="10817" y="896701"/>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44" name="Google Shape;6144;p78"/>
          <p:cNvGrpSpPr/>
          <p:nvPr/>
        </p:nvGrpSpPr>
        <p:grpSpPr>
          <a:xfrm>
            <a:off x="9654637" y="3018176"/>
            <a:ext cx="1131350" cy="2675039"/>
            <a:chOff x="9762792" y="4031226"/>
            <a:chExt cx="1131350" cy="2675039"/>
          </a:xfrm>
        </p:grpSpPr>
        <p:sp>
          <p:nvSpPr>
            <p:cNvPr id="6145" name="Google Shape;6145;p78"/>
            <p:cNvSpPr/>
            <p:nvPr/>
          </p:nvSpPr>
          <p:spPr>
            <a:xfrm>
              <a:off x="9792929" y="4031226"/>
              <a:ext cx="1101213" cy="238923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46" name="Google Shape;6146;p78"/>
            <p:cNvGrpSpPr/>
            <p:nvPr/>
          </p:nvGrpSpPr>
          <p:grpSpPr>
            <a:xfrm>
              <a:off x="9762792" y="4038868"/>
              <a:ext cx="1130292" cy="2667397"/>
              <a:chOff x="9472118" y="702026"/>
              <a:chExt cx="1130292" cy="2667397"/>
            </a:xfrm>
          </p:grpSpPr>
          <p:sp>
            <p:nvSpPr>
              <p:cNvPr id="6147" name="Google Shape;6147;p78"/>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148" name="Google Shape;6148;p78"/>
              <p:cNvSpPr txBox="1"/>
              <p:nvPr/>
            </p:nvSpPr>
            <p:spPr>
              <a:xfrm>
                <a:off x="9472118" y="702026"/>
                <a:ext cx="1117197"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e:</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(b)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(c)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(d)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(e)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(f)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(h) = 1</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149" name="Google Shape;6149;p78"/>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150" name="Google Shape;6150;p78"/>
              <p:cNvSpPr/>
              <p:nvPr/>
            </p:nvSpPr>
            <p:spPr>
              <a:xfrm>
                <a:off x="9479666" y="706055"/>
                <a:ext cx="1122744" cy="261911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7"/>
                                        </p:tgtEl>
                                        <p:attrNameLst>
                                          <p:attrName>style.visibility</p:attrName>
                                        </p:attrNameLst>
                                      </p:cBhvr>
                                      <p:to>
                                        <p:strVal val="visible"/>
                                      </p:to>
                                    </p:set>
                                    <p:animEffect filter="fade" transition="in">
                                      <p:cBhvr>
                                        <p:cTn dur="500"/>
                                        <p:tgtEl>
                                          <p:spTgt spid="6057"/>
                                        </p:tgtEl>
                                      </p:cBhvr>
                                    </p:animEffect>
                                  </p:childTnLst>
                                </p:cTn>
                              </p:par>
                              <p:par>
                                <p:cTn fill="hold" nodeType="withEffect" presetClass="entr" presetID="10" presetSubtype="0">
                                  <p:stCondLst>
                                    <p:cond delay="0"/>
                                  </p:stCondLst>
                                  <p:childTnLst>
                                    <p:set>
                                      <p:cBhvr>
                                        <p:cTn dur="1" fill="hold">
                                          <p:stCondLst>
                                            <p:cond delay="0"/>
                                          </p:stCondLst>
                                        </p:cTn>
                                        <p:tgtEl>
                                          <p:spTgt spid="6056"/>
                                        </p:tgtEl>
                                        <p:attrNameLst>
                                          <p:attrName>style.visibility</p:attrName>
                                        </p:attrNameLst>
                                      </p:cBhvr>
                                      <p:to>
                                        <p:strVal val="visible"/>
                                      </p:to>
                                    </p:set>
                                    <p:animEffect filter="fade" transition="in">
                                      <p:cBhvr>
                                        <p:cTn dur="500"/>
                                        <p:tgtEl>
                                          <p:spTgt spid="60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81"/>
                                        </p:tgtEl>
                                        <p:attrNameLst>
                                          <p:attrName>style.visibility</p:attrName>
                                        </p:attrNameLst>
                                      </p:cBhvr>
                                      <p:to>
                                        <p:strVal val="visible"/>
                                      </p:to>
                                    </p:set>
                                    <p:animEffect filter="fade" transition="in">
                                      <p:cBhvr>
                                        <p:cTn dur="500"/>
                                        <p:tgtEl>
                                          <p:spTgt spid="59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4"/>
                                        </p:tgtEl>
                                        <p:attrNameLst>
                                          <p:attrName>style.visibility</p:attrName>
                                        </p:attrNameLst>
                                      </p:cBhvr>
                                      <p:to>
                                        <p:strVal val="visible"/>
                                      </p:to>
                                    </p:set>
                                    <p:animEffect filter="fade" transition="in">
                                      <p:cBhvr>
                                        <p:cTn dur="500"/>
                                        <p:tgtEl>
                                          <p:spTgt spid="6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3"/>
                                        </p:tgtEl>
                                        <p:attrNameLst>
                                          <p:attrName>style.visibility</p:attrName>
                                        </p:attrNameLst>
                                      </p:cBhvr>
                                      <p:to>
                                        <p:strVal val="visible"/>
                                      </p:to>
                                    </p:set>
                                    <p:animEffect filter="fade" transition="in">
                                      <p:cBhvr>
                                        <p:cTn dur="500"/>
                                        <p:tgtEl>
                                          <p:spTgt spid="614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44"/>
                                        </p:tgtEl>
                                        <p:attrNameLst>
                                          <p:attrName>style.visibility</p:attrName>
                                        </p:attrNameLst>
                                      </p:cBhvr>
                                      <p:to>
                                        <p:strVal val="visible"/>
                                      </p:to>
                                    </p:set>
                                    <p:animEffect filter="fade" transition="in">
                                      <p:cBhvr>
                                        <p:cTn dur="500"/>
                                        <p:tgtEl>
                                          <p:spTgt spid="6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1"/>
                                        </p:tgtEl>
                                        <p:attrNameLst>
                                          <p:attrName>style.visibility</p:attrName>
                                        </p:attrNameLst>
                                      </p:cBhvr>
                                      <p:to>
                                        <p:strVal val="visible"/>
                                      </p:to>
                                    </p:set>
                                    <p:animEffect filter="fade" transition="in">
                                      <p:cBhvr>
                                        <p:cTn dur="500"/>
                                        <p:tgtEl>
                                          <p:spTgt spid="6071"/>
                                        </p:tgtEl>
                                      </p:cBhvr>
                                    </p:animEffect>
                                  </p:childTnLst>
                                </p:cTn>
                              </p:par>
                              <p:par>
                                <p:cTn fill="hold" nodeType="withEffect" presetClass="entr" presetID="10" presetSubtype="0">
                                  <p:stCondLst>
                                    <p:cond delay="0"/>
                                  </p:stCondLst>
                                  <p:childTnLst>
                                    <p:set>
                                      <p:cBhvr>
                                        <p:cTn dur="1" fill="hold">
                                          <p:stCondLst>
                                            <p:cond delay="0"/>
                                          </p:stCondLst>
                                        </p:cTn>
                                        <p:tgtEl>
                                          <p:spTgt spid="6070"/>
                                        </p:tgtEl>
                                        <p:attrNameLst>
                                          <p:attrName>style.visibility</p:attrName>
                                        </p:attrNameLst>
                                      </p:cBhvr>
                                      <p:to>
                                        <p:strVal val="visible"/>
                                      </p:to>
                                    </p:set>
                                    <p:animEffect filter="fade" transition="in">
                                      <p:cBhvr>
                                        <p:cTn dur="500"/>
                                        <p:tgtEl>
                                          <p:spTgt spid="6070"/>
                                        </p:tgtEl>
                                      </p:cBhvr>
                                    </p:animEffect>
                                  </p:childTnLst>
                                </p:cTn>
                              </p:par>
                              <p:par>
                                <p:cTn fill="hold" nodeType="withEffect" presetClass="entr" presetID="10" presetSubtype="0">
                                  <p:stCondLst>
                                    <p:cond delay="0"/>
                                  </p:stCondLst>
                                  <p:childTnLst>
                                    <p:set>
                                      <p:cBhvr>
                                        <p:cTn dur="1" fill="hold">
                                          <p:stCondLst>
                                            <p:cond delay="0"/>
                                          </p:stCondLst>
                                        </p:cTn>
                                        <p:tgtEl>
                                          <p:spTgt spid="6069"/>
                                        </p:tgtEl>
                                        <p:attrNameLst>
                                          <p:attrName>style.visibility</p:attrName>
                                        </p:attrNameLst>
                                      </p:cBhvr>
                                      <p:to>
                                        <p:strVal val="visible"/>
                                      </p:to>
                                    </p:set>
                                    <p:animEffect filter="fade" transition="in">
                                      <p:cBhvr>
                                        <p:cTn dur="500"/>
                                        <p:tgtEl>
                                          <p:spTgt spid="60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5" name="Shape 6155"/>
        <p:cNvGrpSpPr/>
        <p:nvPr/>
      </p:nvGrpSpPr>
      <p:grpSpPr>
        <a:xfrm>
          <a:off x="0" y="0"/>
          <a:ext cx="0" cy="0"/>
          <a:chOff x="0" y="0"/>
          <a:chExt cx="0" cy="0"/>
        </a:xfrm>
      </p:grpSpPr>
      <p:sp>
        <p:nvSpPr>
          <p:cNvPr id="6156" name="Google Shape;6156;p79"/>
          <p:cNvSpPr txBox="1"/>
          <p:nvPr>
            <p:ph type="title"/>
          </p:nvPr>
        </p:nvSpPr>
        <p:spPr>
          <a:xfrm>
            <a:off x="826624" y="174028"/>
            <a:ext cx="10893427"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 computation</a:t>
            </a:r>
            <a:endParaRPr/>
          </a:p>
        </p:txBody>
      </p:sp>
      <p:sp>
        <p:nvSpPr>
          <p:cNvPr id="6157" name="Google Shape;6157;p79"/>
          <p:cNvSpPr/>
          <p:nvPr/>
        </p:nvSpPr>
        <p:spPr>
          <a:xfrm>
            <a:off x="6626942" y="275303"/>
            <a:ext cx="3038168" cy="629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58" name="Google Shape;6158;p79"/>
          <p:cNvGrpSpPr/>
          <p:nvPr/>
        </p:nvGrpSpPr>
        <p:grpSpPr>
          <a:xfrm>
            <a:off x="2827965" y="1130710"/>
            <a:ext cx="1547391" cy="2620631"/>
            <a:chOff x="3221255" y="1012723"/>
            <a:chExt cx="1547391" cy="2620631"/>
          </a:xfrm>
        </p:grpSpPr>
        <p:sp>
          <p:nvSpPr>
            <p:cNvPr id="6159" name="Google Shape;6159;p79"/>
            <p:cNvSpPr/>
            <p:nvPr/>
          </p:nvSpPr>
          <p:spPr>
            <a:xfrm>
              <a:off x="4316362" y="1042219"/>
              <a:ext cx="452284" cy="2389239"/>
            </a:xfrm>
            <a:custGeom>
              <a:rect b="b" l="l" r="r" t="t"/>
              <a:pathLst>
                <a:path extrusionOk="0" h="2389239" w="452284">
                  <a:moveTo>
                    <a:pt x="0" y="0"/>
                  </a:moveTo>
                  <a:cubicBezTo>
                    <a:pt x="170425" y="625988"/>
                    <a:pt x="242530" y="681703"/>
                    <a:pt x="452284" y="904568"/>
                  </a:cubicBezTo>
                  <a:lnTo>
                    <a:pt x="452284" y="1052052"/>
                  </a:lnTo>
                  <a:cubicBezTo>
                    <a:pt x="206477" y="1507613"/>
                    <a:pt x="137653" y="1825523"/>
                    <a:pt x="9833" y="2389239"/>
                  </a:cubicBezTo>
                  <a:cubicBezTo>
                    <a:pt x="6555" y="1592826"/>
                    <a:pt x="3278" y="796413"/>
                    <a:pt x="0" y="0"/>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60" name="Google Shape;6160;p79"/>
            <p:cNvGrpSpPr/>
            <p:nvPr/>
          </p:nvGrpSpPr>
          <p:grpSpPr>
            <a:xfrm>
              <a:off x="3221255" y="1012723"/>
              <a:ext cx="1172904" cy="2620631"/>
              <a:chOff x="3221255" y="1012723"/>
              <a:chExt cx="1172904" cy="2620631"/>
            </a:xfrm>
          </p:grpSpPr>
          <p:sp>
            <p:nvSpPr>
              <p:cNvPr id="6161" name="Google Shape;6161;p79"/>
              <p:cNvSpPr/>
              <p:nvPr/>
            </p:nvSpPr>
            <p:spPr>
              <a:xfrm>
                <a:off x="3224981" y="1012723"/>
                <a:ext cx="1111045" cy="241873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62" name="Google Shape;6162;p79"/>
              <p:cNvGrpSpPr/>
              <p:nvPr/>
            </p:nvGrpSpPr>
            <p:grpSpPr>
              <a:xfrm>
                <a:off x="3221255" y="1017253"/>
                <a:ext cx="1172904" cy="2616101"/>
                <a:chOff x="9477371" y="702026"/>
                <a:chExt cx="1172904" cy="2616101"/>
              </a:xfrm>
            </p:grpSpPr>
            <p:sp>
              <p:nvSpPr>
                <p:cNvPr id="6163" name="Google Shape;6163;p79"/>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164" name="Google Shape;6164;p79"/>
                <p:cNvSpPr txBox="1"/>
                <p:nvPr/>
              </p:nvSpPr>
              <p:spPr>
                <a:xfrm>
                  <a:off x="9533078" y="702026"/>
                  <a:ext cx="1117197" cy="26161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FFFF"/>
                      </a:solidFill>
                      <a:latin typeface="Calibri"/>
                      <a:ea typeface="Calibri"/>
                      <a:cs typeface="Calibri"/>
                      <a:sym typeface="Calibri"/>
                    </a:rPr>
                    <a:t>DV in a: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(a)=0</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(b) = 8</a:t>
                  </a:r>
                  <a:endParaRPr sz="1600">
                    <a:solidFill>
                      <a:srgbClr val="000000"/>
                    </a:solidFill>
                    <a:latin typeface="Calibri"/>
                    <a:ea typeface="Calibri"/>
                    <a:cs typeface="Calibri"/>
                    <a:sym typeface="Calibri"/>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(c)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(d) = 1</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(e)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(f)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(g)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(h)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165" name="Google Shape;6165;p79"/>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166" name="Google Shape;6166;p79"/>
                <p:cNvSpPr/>
                <p:nvPr/>
              </p:nvSpPr>
              <p:spPr>
                <a:xfrm>
                  <a:off x="9479666" y="706056"/>
                  <a:ext cx="1122744" cy="2589450"/>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grpSp>
        <p:nvGrpSpPr>
          <p:cNvPr id="6167" name="Google Shape;6167;p79"/>
          <p:cNvGrpSpPr/>
          <p:nvPr/>
        </p:nvGrpSpPr>
        <p:grpSpPr>
          <a:xfrm>
            <a:off x="6656438" y="235974"/>
            <a:ext cx="2493133" cy="1917291"/>
            <a:chOff x="7010400" y="108155"/>
            <a:chExt cx="2493133" cy="1917291"/>
          </a:xfrm>
        </p:grpSpPr>
        <p:sp>
          <p:nvSpPr>
            <p:cNvPr id="6168" name="Google Shape;6168;p79"/>
            <p:cNvSpPr/>
            <p:nvPr/>
          </p:nvSpPr>
          <p:spPr>
            <a:xfrm>
              <a:off x="7010400" y="176982"/>
              <a:ext cx="2340077" cy="1848464"/>
            </a:xfrm>
            <a:custGeom>
              <a:rect b="b" l="l" r="r" t="t"/>
              <a:pathLst>
                <a:path extrusionOk="0" h="1848464" w="2340077">
                  <a:moveTo>
                    <a:pt x="0" y="1691148"/>
                  </a:moveTo>
                  <a:cubicBezTo>
                    <a:pt x="167148" y="1304412"/>
                    <a:pt x="285136" y="770193"/>
                    <a:pt x="383458" y="0"/>
                  </a:cubicBezTo>
                  <a:lnTo>
                    <a:pt x="2340077" y="1386348"/>
                  </a:lnTo>
                  <a:cubicBezTo>
                    <a:pt x="871794" y="1579716"/>
                    <a:pt x="740695" y="1645264"/>
                    <a:pt x="137651" y="1848464"/>
                  </a:cubicBezTo>
                  <a:lnTo>
                    <a:pt x="0" y="1691148"/>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69" name="Google Shape;6169;p79"/>
            <p:cNvGrpSpPr/>
            <p:nvPr/>
          </p:nvGrpSpPr>
          <p:grpSpPr>
            <a:xfrm>
              <a:off x="7323884" y="108155"/>
              <a:ext cx="2179649" cy="1445342"/>
              <a:chOff x="7323884" y="108155"/>
              <a:chExt cx="2179649" cy="1445342"/>
            </a:xfrm>
          </p:grpSpPr>
          <p:sp>
            <p:nvSpPr>
              <p:cNvPr id="6170" name="Google Shape;6170;p79"/>
              <p:cNvSpPr/>
              <p:nvPr/>
            </p:nvSpPr>
            <p:spPr>
              <a:xfrm>
                <a:off x="7413523" y="108155"/>
                <a:ext cx="1936954" cy="14355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71" name="Google Shape;6171;p79"/>
              <p:cNvGrpSpPr/>
              <p:nvPr/>
            </p:nvGrpSpPr>
            <p:grpSpPr>
              <a:xfrm>
                <a:off x="7323884" y="120836"/>
                <a:ext cx="2179649" cy="1432661"/>
                <a:chOff x="7323884" y="120836"/>
                <a:chExt cx="2179649" cy="1432661"/>
              </a:xfrm>
            </p:grpSpPr>
            <p:sp>
              <p:nvSpPr>
                <p:cNvPr id="6172" name="Google Shape;6172;p79"/>
                <p:cNvSpPr/>
                <p:nvPr/>
              </p:nvSpPr>
              <p:spPr>
                <a:xfrm>
                  <a:off x="7409951" y="124866"/>
                  <a:ext cx="1940525"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173" name="Google Shape;6173;p79"/>
                <p:cNvSpPr txBox="1"/>
                <p:nvPr/>
              </p:nvSpPr>
              <p:spPr>
                <a:xfrm>
                  <a:off x="7799764" y="120836"/>
                  <a:ext cx="111719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b:</a:t>
                  </a:r>
                  <a:endParaRPr/>
                </a:p>
              </p:txBody>
            </p:sp>
            <p:cxnSp>
              <p:nvCxnSpPr>
                <p:cNvPr id="6174" name="Google Shape;6174;p79"/>
                <p:cNvCxnSpPr/>
                <p:nvPr/>
              </p:nvCxnSpPr>
              <p:spPr>
                <a:xfrm>
                  <a:off x="7401895" y="49525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175" name="Google Shape;6175;p79"/>
                <p:cNvSpPr/>
                <p:nvPr/>
              </p:nvSpPr>
              <p:spPr>
                <a:xfrm>
                  <a:off x="7404189" y="124866"/>
                  <a:ext cx="1936455" cy="142863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176" name="Google Shape;6176;p79"/>
                <p:cNvSpPr txBox="1"/>
                <p:nvPr/>
              </p:nvSpPr>
              <p:spPr>
                <a:xfrm>
                  <a:off x="8392488" y="560500"/>
                  <a:ext cx="1111045"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(f)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(g)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(h)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sp>
              <p:nvSpPr>
                <p:cNvPr id="6177" name="Google Shape;6177;p79"/>
                <p:cNvSpPr txBox="1"/>
                <p:nvPr/>
              </p:nvSpPr>
              <p:spPr>
                <a:xfrm>
                  <a:off x="7323884" y="557387"/>
                  <a:ext cx="1117197" cy="978729"/>
                </a:xfrm>
                <a:prstGeom prst="rect">
                  <a:avLst/>
                </a:prstGeom>
                <a:noFill/>
                <a:ln>
                  <a:noFill/>
                </a:ln>
              </p:spPr>
              <p:txBody>
                <a:bodyPr anchorCtr="0" anchor="t" bIns="45700" lIns="91425" spcFirstLastPara="1" rIns="91425" wrap="square" tIns="45700">
                  <a:spAutoFit/>
                </a:bodyPr>
                <a:lstStyle/>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(a) = 8</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(c) = 1</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p:txBody>
            </p:sp>
          </p:grpSp>
        </p:grpSp>
      </p:grpSp>
      <p:grpSp>
        <p:nvGrpSpPr>
          <p:cNvPr id="6178" name="Google Shape;6178;p79"/>
          <p:cNvGrpSpPr/>
          <p:nvPr/>
        </p:nvGrpSpPr>
        <p:grpSpPr>
          <a:xfrm>
            <a:off x="8740877" y="219997"/>
            <a:ext cx="2045109" cy="2667397"/>
            <a:chOff x="8740877" y="219997"/>
            <a:chExt cx="2045109" cy="2667397"/>
          </a:xfrm>
        </p:grpSpPr>
        <p:sp>
          <p:nvSpPr>
            <p:cNvPr id="6179" name="Google Shape;6179;p79"/>
            <p:cNvSpPr/>
            <p:nvPr/>
          </p:nvSpPr>
          <p:spPr>
            <a:xfrm>
              <a:off x="8740877" y="247036"/>
              <a:ext cx="924232" cy="2428567"/>
            </a:xfrm>
            <a:custGeom>
              <a:rect b="b" l="l" r="r" t="t"/>
              <a:pathLst>
                <a:path extrusionOk="0" h="2428567" w="1170039">
                  <a:moveTo>
                    <a:pt x="1" y="1809135"/>
                  </a:moveTo>
                  <a:cubicBezTo>
                    <a:pt x="353962" y="1681316"/>
                    <a:pt x="875071" y="865238"/>
                    <a:pt x="1160207" y="0"/>
                  </a:cubicBezTo>
                  <a:cubicBezTo>
                    <a:pt x="1163484" y="809522"/>
                    <a:pt x="1166762" y="1619045"/>
                    <a:pt x="1170039" y="2428567"/>
                  </a:cubicBezTo>
                  <a:cubicBezTo>
                    <a:pt x="819356" y="2058219"/>
                    <a:pt x="714478" y="2090992"/>
                    <a:pt x="0" y="1946786"/>
                  </a:cubicBezTo>
                  <a:cubicBezTo>
                    <a:pt x="0" y="1900902"/>
                    <a:pt x="1" y="1855019"/>
                    <a:pt x="1" y="1809135"/>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80" name="Google Shape;6180;p79"/>
            <p:cNvGrpSpPr/>
            <p:nvPr/>
          </p:nvGrpSpPr>
          <p:grpSpPr>
            <a:xfrm>
              <a:off x="9636528" y="219997"/>
              <a:ext cx="1149458" cy="2667397"/>
              <a:chOff x="9764348" y="1447800"/>
              <a:chExt cx="1149458" cy="2667397"/>
            </a:xfrm>
          </p:grpSpPr>
          <p:sp>
            <p:nvSpPr>
              <p:cNvPr id="6181" name="Google Shape;6181;p79"/>
              <p:cNvSpPr/>
              <p:nvPr/>
            </p:nvSpPr>
            <p:spPr>
              <a:xfrm>
                <a:off x="9783097" y="1447800"/>
                <a:ext cx="1130709" cy="24261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82" name="Google Shape;6182;p79"/>
              <p:cNvGrpSpPr/>
              <p:nvPr/>
            </p:nvGrpSpPr>
            <p:grpSpPr>
              <a:xfrm>
                <a:off x="9764348" y="1447800"/>
                <a:ext cx="1130291" cy="2667397"/>
                <a:chOff x="9472119" y="702026"/>
                <a:chExt cx="1130291" cy="2667397"/>
              </a:xfrm>
            </p:grpSpPr>
            <p:sp>
              <p:nvSpPr>
                <p:cNvPr id="6183" name="Google Shape;6183;p79"/>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184" name="Google Shape;6184;p79"/>
                <p:cNvSpPr txBox="1"/>
                <p:nvPr/>
              </p:nvSpPr>
              <p:spPr>
                <a:xfrm>
                  <a:off x="9472119" y="702026"/>
                  <a:ext cx="1088020"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c:</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(b)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(c)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(e)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(f)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(h) = ∞</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185" name="Google Shape;6185;p79"/>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186" name="Google Shape;6186;p79"/>
                <p:cNvSpPr/>
                <p:nvPr/>
              </p:nvSpPr>
              <p:spPr>
                <a:xfrm>
                  <a:off x="9479666" y="706055"/>
                  <a:ext cx="1122744" cy="262077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grpSp>
        <p:nvGrpSpPr>
          <p:cNvPr id="6187" name="Google Shape;6187;p79"/>
          <p:cNvGrpSpPr/>
          <p:nvPr/>
        </p:nvGrpSpPr>
        <p:grpSpPr>
          <a:xfrm>
            <a:off x="9654637" y="3018176"/>
            <a:ext cx="1131350" cy="2675039"/>
            <a:chOff x="9762792" y="4031226"/>
            <a:chExt cx="1131350" cy="2675039"/>
          </a:xfrm>
        </p:grpSpPr>
        <p:sp>
          <p:nvSpPr>
            <p:cNvPr id="6188" name="Google Shape;6188;p79"/>
            <p:cNvSpPr/>
            <p:nvPr/>
          </p:nvSpPr>
          <p:spPr>
            <a:xfrm>
              <a:off x="9792929" y="4031226"/>
              <a:ext cx="1101213" cy="238923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189" name="Google Shape;6189;p79"/>
            <p:cNvGrpSpPr/>
            <p:nvPr/>
          </p:nvGrpSpPr>
          <p:grpSpPr>
            <a:xfrm>
              <a:off x="9762792" y="4038868"/>
              <a:ext cx="1130292" cy="2667397"/>
              <a:chOff x="9472118" y="702026"/>
              <a:chExt cx="1130292" cy="2667397"/>
            </a:xfrm>
          </p:grpSpPr>
          <p:sp>
            <p:nvSpPr>
              <p:cNvPr id="6190" name="Google Shape;6190;p79"/>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191" name="Google Shape;6191;p79"/>
              <p:cNvSpPr txBox="1"/>
              <p:nvPr/>
            </p:nvSpPr>
            <p:spPr>
              <a:xfrm>
                <a:off x="9472118" y="702026"/>
                <a:ext cx="1117197"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e:</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(b)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(c)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(d)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(e)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(f)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(h) = 1</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192" name="Google Shape;6192;p79"/>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193" name="Google Shape;6193;p79"/>
              <p:cNvSpPr/>
              <p:nvPr/>
            </p:nvSpPr>
            <p:spPr>
              <a:xfrm>
                <a:off x="9479666" y="706055"/>
                <a:ext cx="1122744" cy="261911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sp>
        <p:nvSpPr>
          <p:cNvPr id="6194" name="Google Shape;6194;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6195" name="Google Shape;6195;p79"/>
          <p:cNvCxnSpPr>
            <a:stCxn id="6196" idx="2"/>
            <a:endCxn id="6196"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6197" name="Google Shape;6197;p79"/>
          <p:cNvCxnSpPr>
            <a:stCxn id="6196" idx="1"/>
            <a:endCxn id="6196"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6196" name="Google Shape;6196;p79"/>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6198" name="Google Shape;6198;p79"/>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6199" name="Google Shape;6199;p79"/>
          <p:cNvGrpSpPr/>
          <p:nvPr/>
        </p:nvGrpSpPr>
        <p:grpSpPr>
          <a:xfrm>
            <a:off x="4333785" y="5772213"/>
            <a:ext cx="4395351" cy="404576"/>
            <a:chOff x="4333785" y="5772213"/>
            <a:chExt cx="4395351" cy="404576"/>
          </a:xfrm>
        </p:grpSpPr>
        <p:grpSp>
          <p:nvGrpSpPr>
            <p:cNvPr id="6200" name="Google Shape;6200;p79"/>
            <p:cNvGrpSpPr/>
            <p:nvPr/>
          </p:nvGrpSpPr>
          <p:grpSpPr>
            <a:xfrm>
              <a:off x="4333785" y="5772213"/>
              <a:ext cx="531821" cy="369069"/>
              <a:chOff x="1348328" y="2475647"/>
              <a:chExt cx="603916" cy="419100"/>
            </a:xfrm>
          </p:grpSpPr>
          <p:grpSp>
            <p:nvGrpSpPr>
              <p:cNvPr id="6201" name="Google Shape;6201;p79"/>
              <p:cNvGrpSpPr/>
              <p:nvPr/>
            </p:nvGrpSpPr>
            <p:grpSpPr>
              <a:xfrm>
                <a:off x="1348328" y="2555748"/>
                <a:ext cx="603916" cy="308999"/>
                <a:chOff x="5278570" y="2983486"/>
                <a:chExt cx="501650" cy="233363"/>
              </a:xfrm>
            </p:grpSpPr>
            <p:sp>
              <p:nvSpPr>
                <p:cNvPr id="6202" name="Google Shape;6202;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203" name="Google Shape;6203;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204" name="Google Shape;6204;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205" name="Google Shape;6205;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206" name="Google Shape;6206;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207" name="Google Shape;6207;p79"/>
              <p:cNvGrpSpPr/>
              <p:nvPr/>
            </p:nvGrpSpPr>
            <p:grpSpPr>
              <a:xfrm>
                <a:off x="1456374" y="2475647"/>
                <a:ext cx="355165" cy="419100"/>
                <a:chOff x="2944" y="2405"/>
                <a:chExt cx="227" cy="264"/>
              </a:xfrm>
            </p:grpSpPr>
            <p:sp>
              <p:nvSpPr>
                <p:cNvPr id="6208" name="Google Shape;6208;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209" name="Google Shape;6209;p79"/>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6210" name="Google Shape;6210;p79"/>
            <p:cNvGrpSpPr/>
            <p:nvPr/>
          </p:nvGrpSpPr>
          <p:grpSpPr>
            <a:xfrm>
              <a:off x="6263949" y="5807720"/>
              <a:ext cx="531821" cy="369069"/>
              <a:chOff x="1348328" y="2507397"/>
              <a:chExt cx="603916" cy="419100"/>
            </a:xfrm>
          </p:grpSpPr>
          <p:grpSp>
            <p:nvGrpSpPr>
              <p:cNvPr id="6211" name="Google Shape;6211;p79"/>
              <p:cNvGrpSpPr/>
              <p:nvPr/>
            </p:nvGrpSpPr>
            <p:grpSpPr>
              <a:xfrm>
                <a:off x="1348328" y="2555748"/>
                <a:ext cx="603916" cy="308999"/>
                <a:chOff x="5278570" y="2983486"/>
                <a:chExt cx="501650" cy="233363"/>
              </a:xfrm>
            </p:grpSpPr>
            <p:sp>
              <p:nvSpPr>
                <p:cNvPr id="6212" name="Google Shape;6212;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213" name="Google Shape;6213;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214" name="Google Shape;6214;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215" name="Google Shape;6215;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216" name="Google Shape;6216;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217" name="Google Shape;6217;p79"/>
              <p:cNvGrpSpPr/>
              <p:nvPr/>
            </p:nvGrpSpPr>
            <p:grpSpPr>
              <a:xfrm>
                <a:off x="1456374" y="2507397"/>
                <a:ext cx="355165" cy="419100"/>
                <a:chOff x="2944" y="2425"/>
                <a:chExt cx="227" cy="264"/>
              </a:xfrm>
            </p:grpSpPr>
            <p:sp>
              <p:nvSpPr>
                <p:cNvPr id="6218" name="Google Shape;6218;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219" name="Google Shape;6219;p79"/>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6220" name="Google Shape;6220;p79"/>
            <p:cNvGrpSpPr/>
            <p:nvPr/>
          </p:nvGrpSpPr>
          <p:grpSpPr>
            <a:xfrm>
              <a:off x="8197315" y="5805271"/>
              <a:ext cx="531821" cy="369069"/>
              <a:chOff x="1348328" y="2507397"/>
              <a:chExt cx="603916" cy="419100"/>
            </a:xfrm>
          </p:grpSpPr>
          <p:grpSp>
            <p:nvGrpSpPr>
              <p:cNvPr id="6221" name="Google Shape;6221;p79"/>
              <p:cNvGrpSpPr/>
              <p:nvPr/>
            </p:nvGrpSpPr>
            <p:grpSpPr>
              <a:xfrm>
                <a:off x="1348328" y="2555748"/>
                <a:ext cx="603916" cy="308999"/>
                <a:chOff x="5278570" y="2983486"/>
                <a:chExt cx="501650" cy="233363"/>
              </a:xfrm>
            </p:grpSpPr>
            <p:sp>
              <p:nvSpPr>
                <p:cNvPr id="6222" name="Google Shape;6222;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223" name="Google Shape;6223;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224" name="Google Shape;6224;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225" name="Google Shape;6225;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226" name="Google Shape;6226;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227" name="Google Shape;6227;p79"/>
              <p:cNvGrpSpPr/>
              <p:nvPr/>
            </p:nvGrpSpPr>
            <p:grpSpPr>
              <a:xfrm>
                <a:off x="1500196" y="2507397"/>
                <a:ext cx="267548" cy="419100"/>
                <a:chOff x="2972" y="2425"/>
                <a:chExt cx="171" cy="264"/>
              </a:xfrm>
            </p:grpSpPr>
            <p:sp>
              <p:nvSpPr>
                <p:cNvPr id="6228" name="Google Shape;6228;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229" name="Google Shape;6229;p79"/>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6230" name="Google Shape;6230;p79"/>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1" name="Google Shape;6231;p79"/>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2" name="Google Shape;6232;p79"/>
          <p:cNvSpPr txBox="1"/>
          <p:nvPr/>
        </p:nvSpPr>
        <p:spPr>
          <a:xfrm>
            <a:off x="3920218" y="485596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3" name="Google Shape;6233;p79"/>
          <p:cNvSpPr txBox="1"/>
          <p:nvPr/>
        </p:nvSpPr>
        <p:spPr>
          <a:xfrm>
            <a:off x="5855120" y="485789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4" name="Google Shape;6234;p79"/>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5" name="Google Shape;6235;p79"/>
          <p:cNvSpPr txBox="1"/>
          <p:nvPr/>
        </p:nvSpPr>
        <p:spPr>
          <a:xfrm>
            <a:off x="5066110" y="399944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6" name="Google Shape;6236;p79"/>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7" name="Google Shape;6237;p79"/>
          <p:cNvSpPr txBox="1"/>
          <p:nvPr/>
        </p:nvSpPr>
        <p:spPr>
          <a:xfrm>
            <a:off x="5068038" y="592276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8" name="Google Shape;6238;p79"/>
          <p:cNvSpPr txBox="1"/>
          <p:nvPr/>
        </p:nvSpPr>
        <p:spPr>
          <a:xfrm>
            <a:off x="7081390" y="590296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239" name="Google Shape;6239;p79"/>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6240" name="Google Shape;6240;p79"/>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grpSp>
        <p:nvGrpSpPr>
          <p:cNvPr id="6241" name="Google Shape;6241;p79"/>
          <p:cNvGrpSpPr/>
          <p:nvPr/>
        </p:nvGrpSpPr>
        <p:grpSpPr>
          <a:xfrm>
            <a:off x="584365" y="1859143"/>
            <a:ext cx="736099" cy="1229581"/>
            <a:chOff x="10030307" y="3444875"/>
            <a:chExt cx="736099" cy="1229581"/>
          </a:xfrm>
        </p:grpSpPr>
        <p:sp>
          <p:nvSpPr>
            <p:cNvPr id="6242" name="Google Shape;6242;p79"/>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t=1</a:t>
              </a:r>
              <a:endParaRPr/>
            </a:p>
          </p:txBody>
        </p:sp>
        <p:grpSp>
          <p:nvGrpSpPr>
            <p:cNvPr id="6243" name="Google Shape;6243;p79"/>
            <p:cNvGrpSpPr/>
            <p:nvPr/>
          </p:nvGrpSpPr>
          <p:grpSpPr>
            <a:xfrm>
              <a:off x="10034588" y="3444875"/>
              <a:ext cx="682627" cy="682625"/>
              <a:chOff x="10034589" y="3444875"/>
              <a:chExt cx="682627" cy="682625"/>
            </a:xfrm>
          </p:grpSpPr>
          <p:sp>
            <p:nvSpPr>
              <p:cNvPr id="6244" name="Google Shape;6244;p79"/>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6245" name="Google Shape;6245;p79"/>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246" name="Google Shape;6246;p79"/>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247" name="Google Shape;6247;p79"/>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248" name="Google Shape;6248;p79"/>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249" name="Google Shape;6249;p79"/>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250" name="Google Shape;6250;p79"/>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251" name="Google Shape;6251;p79"/>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252" name="Google Shape;6252;p79"/>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253" name="Google Shape;6253;p79"/>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254" name="Google Shape;6254;p79"/>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255" name="Google Shape;6255;p79"/>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256" name="Google Shape;6256;p79"/>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6257" name="Google Shape;6257;p79"/>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cxnSp>
        <p:nvCxnSpPr>
          <p:cNvPr id="6258" name="Google Shape;6258;p79"/>
          <p:cNvCxnSpPr/>
          <p:nvPr/>
        </p:nvCxnSpPr>
        <p:spPr>
          <a:xfrm>
            <a:off x="919556" y="1995948"/>
            <a:ext cx="0" cy="196031"/>
          </a:xfrm>
          <a:prstGeom prst="straightConnector1">
            <a:avLst/>
          </a:prstGeom>
          <a:noFill/>
          <a:ln cap="flat" cmpd="sng" w="25400">
            <a:solidFill>
              <a:srgbClr val="C00000"/>
            </a:solidFill>
            <a:prstDash val="solid"/>
            <a:miter lim="8000"/>
            <a:headEnd len="sm" w="sm" type="none"/>
            <a:tailEnd len="sm" w="sm" type="none"/>
          </a:ln>
        </p:spPr>
      </p:cxnSp>
      <p:sp>
        <p:nvSpPr>
          <p:cNvPr id="6259" name="Google Shape;6259;p79"/>
          <p:cNvSpPr txBox="1"/>
          <p:nvPr/>
        </p:nvSpPr>
        <p:spPr>
          <a:xfrm flipH="1">
            <a:off x="348626" y="3078991"/>
            <a:ext cx="2195814" cy="840230"/>
          </a:xfrm>
          <a:prstGeom prst="rect">
            <a:avLst/>
          </a:prstGeom>
          <a:noFill/>
          <a:ln>
            <a:noFill/>
          </a:ln>
        </p:spPr>
        <p:txBody>
          <a:bodyPr anchorCtr="0" anchor="t" bIns="45700" lIns="91425" spcFirstLastPara="1" rIns="91425" wrap="square" tIns="45700">
            <a:spAutoFit/>
          </a:bodyPr>
          <a:lstStyle/>
          <a:p>
            <a:pPr indent="-285750" lvl="0" marL="285750"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b receives DVs from a, c, e, computes:</a:t>
            </a:r>
            <a:endParaRPr/>
          </a:p>
        </p:txBody>
      </p:sp>
      <p:sp>
        <p:nvSpPr>
          <p:cNvPr id="6260" name="Google Shape;6260;p79"/>
          <p:cNvSpPr/>
          <p:nvPr/>
        </p:nvSpPr>
        <p:spPr>
          <a:xfrm>
            <a:off x="4973224" y="193798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261" name="Google Shape;6261;p79"/>
          <p:cNvSpPr/>
          <p:nvPr/>
        </p:nvSpPr>
        <p:spPr>
          <a:xfrm rot="10800000">
            <a:off x="7631559" y="191970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262" name="Google Shape;6262;p79"/>
          <p:cNvGrpSpPr/>
          <p:nvPr/>
        </p:nvGrpSpPr>
        <p:grpSpPr>
          <a:xfrm>
            <a:off x="4333785" y="1906063"/>
            <a:ext cx="4395351" cy="404576"/>
            <a:chOff x="4333785" y="5772213"/>
            <a:chExt cx="4395351" cy="404576"/>
          </a:xfrm>
        </p:grpSpPr>
        <p:grpSp>
          <p:nvGrpSpPr>
            <p:cNvPr id="6263" name="Google Shape;6263;p79"/>
            <p:cNvGrpSpPr/>
            <p:nvPr/>
          </p:nvGrpSpPr>
          <p:grpSpPr>
            <a:xfrm>
              <a:off x="4333785" y="5772213"/>
              <a:ext cx="531821" cy="369069"/>
              <a:chOff x="1348328" y="2475647"/>
              <a:chExt cx="603916" cy="419100"/>
            </a:xfrm>
          </p:grpSpPr>
          <p:grpSp>
            <p:nvGrpSpPr>
              <p:cNvPr id="6264" name="Google Shape;6264;p79"/>
              <p:cNvGrpSpPr/>
              <p:nvPr/>
            </p:nvGrpSpPr>
            <p:grpSpPr>
              <a:xfrm>
                <a:off x="1348328" y="2555748"/>
                <a:ext cx="603916" cy="308999"/>
                <a:chOff x="5278570" y="2983486"/>
                <a:chExt cx="501650" cy="233363"/>
              </a:xfrm>
            </p:grpSpPr>
            <p:sp>
              <p:nvSpPr>
                <p:cNvPr id="6265" name="Google Shape;6265;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266" name="Google Shape;6266;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267" name="Google Shape;6267;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268" name="Google Shape;6268;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269" name="Google Shape;6269;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270" name="Google Shape;6270;p79"/>
              <p:cNvGrpSpPr/>
              <p:nvPr/>
            </p:nvGrpSpPr>
            <p:grpSpPr>
              <a:xfrm>
                <a:off x="1456374" y="2475647"/>
                <a:ext cx="355165" cy="419100"/>
                <a:chOff x="2944" y="2405"/>
                <a:chExt cx="227" cy="264"/>
              </a:xfrm>
            </p:grpSpPr>
            <p:sp>
              <p:nvSpPr>
                <p:cNvPr id="6271" name="Google Shape;6271;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272" name="Google Shape;6272;p79"/>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6273" name="Google Shape;6273;p79"/>
            <p:cNvGrpSpPr/>
            <p:nvPr/>
          </p:nvGrpSpPr>
          <p:grpSpPr>
            <a:xfrm>
              <a:off x="6263949" y="5807720"/>
              <a:ext cx="531821" cy="369069"/>
              <a:chOff x="1348328" y="2507397"/>
              <a:chExt cx="603916" cy="419100"/>
            </a:xfrm>
          </p:grpSpPr>
          <p:grpSp>
            <p:nvGrpSpPr>
              <p:cNvPr id="6274" name="Google Shape;6274;p79"/>
              <p:cNvGrpSpPr/>
              <p:nvPr/>
            </p:nvGrpSpPr>
            <p:grpSpPr>
              <a:xfrm>
                <a:off x="1348328" y="2555748"/>
                <a:ext cx="603916" cy="308999"/>
                <a:chOff x="5278570" y="2983486"/>
                <a:chExt cx="501650" cy="233363"/>
              </a:xfrm>
            </p:grpSpPr>
            <p:sp>
              <p:nvSpPr>
                <p:cNvPr id="6275" name="Google Shape;6275;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276" name="Google Shape;6276;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277" name="Google Shape;6277;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278" name="Google Shape;6278;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279" name="Google Shape;6279;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280" name="Google Shape;6280;p79"/>
              <p:cNvGrpSpPr/>
              <p:nvPr/>
            </p:nvGrpSpPr>
            <p:grpSpPr>
              <a:xfrm>
                <a:off x="1456374" y="2507397"/>
                <a:ext cx="355165" cy="419100"/>
                <a:chOff x="2944" y="2425"/>
                <a:chExt cx="227" cy="264"/>
              </a:xfrm>
            </p:grpSpPr>
            <p:sp>
              <p:nvSpPr>
                <p:cNvPr id="6281" name="Google Shape;6281;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282" name="Google Shape;6282;p79"/>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6283" name="Google Shape;6283;p79"/>
            <p:cNvGrpSpPr/>
            <p:nvPr/>
          </p:nvGrpSpPr>
          <p:grpSpPr>
            <a:xfrm>
              <a:off x="8197315" y="5805271"/>
              <a:ext cx="531821" cy="369069"/>
              <a:chOff x="1348328" y="2507397"/>
              <a:chExt cx="603916" cy="419100"/>
            </a:xfrm>
          </p:grpSpPr>
          <p:grpSp>
            <p:nvGrpSpPr>
              <p:cNvPr id="6284" name="Google Shape;6284;p79"/>
              <p:cNvGrpSpPr/>
              <p:nvPr/>
            </p:nvGrpSpPr>
            <p:grpSpPr>
              <a:xfrm>
                <a:off x="1348328" y="2555748"/>
                <a:ext cx="603916" cy="308999"/>
                <a:chOff x="5278570" y="2983486"/>
                <a:chExt cx="501650" cy="233363"/>
              </a:xfrm>
            </p:grpSpPr>
            <p:sp>
              <p:nvSpPr>
                <p:cNvPr id="6285" name="Google Shape;6285;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286" name="Google Shape;6286;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287" name="Google Shape;6287;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288" name="Google Shape;6288;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289" name="Google Shape;6289;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290" name="Google Shape;6290;p79"/>
              <p:cNvGrpSpPr/>
              <p:nvPr/>
            </p:nvGrpSpPr>
            <p:grpSpPr>
              <a:xfrm>
                <a:off x="1464216" y="2507397"/>
                <a:ext cx="341085" cy="419100"/>
                <a:chOff x="2949" y="2425"/>
                <a:chExt cx="218" cy="264"/>
              </a:xfrm>
            </p:grpSpPr>
            <p:sp>
              <p:nvSpPr>
                <p:cNvPr id="6291" name="Google Shape;6291;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292" name="Google Shape;6292;p79"/>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grpSp>
        <p:nvGrpSpPr>
          <p:cNvPr id="6293" name="Google Shape;6293;p79"/>
          <p:cNvGrpSpPr/>
          <p:nvPr/>
        </p:nvGrpSpPr>
        <p:grpSpPr>
          <a:xfrm>
            <a:off x="4336458" y="3833790"/>
            <a:ext cx="4395351" cy="404576"/>
            <a:chOff x="4333785" y="5772213"/>
            <a:chExt cx="4395351" cy="404576"/>
          </a:xfrm>
        </p:grpSpPr>
        <p:grpSp>
          <p:nvGrpSpPr>
            <p:cNvPr id="6294" name="Google Shape;6294;p79"/>
            <p:cNvGrpSpPr/>
            <p:nvPr/>
          </p:nvGrpSpPr>
          <p:grpSpPr>
            <a:xfrm>
              <a:off x="4333785" y="5772213"/>
              <a:ext cx="531821" cy="369069"/>
              <a:chOff x="1348328" y="2475647"/>
              <a:chExt cx="603916" cy="419100"/>
            </a:xfrm>
          </p:grpSpPr>
          <p:grpSp>
            <p:nvGrpSpPr>
              <p:cNvPr id="6295" name="Google Shape;6295;p79"/>
              <p:cNvGrpSpPr/>
              <p:nvPr/>
            </p:nvGrpSpPr>
            <p:grpSpPr>
              <a:xfrm>
                <a:off x="1348328" y="2555748"/>
                <a:ext cx="603916" cy="308999"/>
                <a:chOff x="5278570" y="2983486"/>
                <a:chExt cx="501650" cy="233363"/>
              </a:xfrm>
            </p:grpSpPr>
            <p:sp>
              <p:nvSpPr>
                <p:cNvPr id="6296" name="Google Shape;6296;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297" name="Google Shape;6297;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298" name="Google Shape;6298;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299" name="Google Shape;6299;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300" name="Google Shape;6300;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301" name="Google Shape;6301;p79"/>
              <p:cNvGrpSpPr/>
              <p:nvPr/>
            </p:nvGrpSpPr>
            <p:grpSpPr>
              <a:xfrm>
                <a:off x="1456374" y="2475647"/>
                <a:ext cx="355165" cy="419100"/>
                <a:chOff x="2944" y="2405"/>
                <a:chExt cx="227" cy="264"/>
              </a:xfrm>
            </p:grpSpPr>
            <p:sp>
              <p:nvSpPr>
                <p:cNvPr id="6302" name="Google Shape;6302;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303" name="Google Shape;6303;p79"/>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6304" name="Google Shape;6304;p79"/>
            <p:cNvGrpSpPr/>
            <p:nvPr/>
          </p:nvGrpSpPr>
          <p:grpSpPr>
            <a:xfrm>
              <a:off x="6263949" y="5807720"/>
              <a:ext cx="531821" cy="369069"/>
              <a:chOff x="1348328" y="2507397"/>
              <a:chExt cx="603916" cy="419100"/>
            </a:xfrm>
          </p:grpSpPr>
          <p:grpSp>
            <p:nvGrpSpPr>
              <p:cNvPr id="6305" name="Google Shape;6305;p79"/>
              <p:cNvGrpSpPr/>
              <p:nvPr/>
            </p:nvGrpSpPr>
            <p:grpSpPr>
              <a:xfrm>
                <a:off x="1348328" y="2555748"/>
                <a:ext cx="603916" cy="308999"/>
                <a:chOff x="5278570" y="2983486"/>
                <a:chExt cx="501650" cy="233363"/>
              </a:xfrm>
            </p:grpSpPr>
            <p:sp>
              <p:nvSpPr>
                <p:cNvPr id="6306" name="Google Shape;6306;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307" name="Google Shape;6307;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308" name="Google Shape;6308;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309" name="Google Shape;6309;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310" name="Google Shape;6310;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311" name="Google Shape;6311;p79"/>
              <p:cNvGrpSpPr/>
              <p:nvPr/>
            </p:nvGrpSpPr>
            <p:grpSpPr>
              <a:xfrm>
                <a:off x="1456374" y="2507397"/>
                <a:ext cx="355165" cy="419100"/>
                <a:chOff x="2944" y="2425"/>
                <a:chExt cx="227" cy="264"/>
              </a:xfrm>
            </p:grpSpPr>
            <p:sp>
              <p:nvSpPr>
                <p:cNvPr id="6312" name="Google Shape;6312;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313" name="Google Shape;6313;p79"/>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6314" name="Google Shape;6314;p79"/>
            <p:cNvGrpSpPr/>
            <p:nvPr/>
          </p:nvGrpSpPr>
          <p:grpSpPr>
            <a:xfrm>
              <a:off x="8197315" y="5805271"/>
              <a:ext cx="531821" cy="369069"/>
              <a:chOff x="1348328" y="2507397"/>
              <a:chExt cx="603916" cy="419100"/>
            </a:xfrm>
          </p:grpSpPr>
          <p:grpSp>
            <p:nvGrpSpPr>
              <p:cNvPr id="6315" name="Google Shape;6315;p79"/>
              <p:cNvGrpSpPr/>
              <p:nvPr/>
            </p:nvGrpSpPr>
            <p:grpSpPr>
              <a:xfrm>
                <a:off x="1348328" y="2555748"/>
                <a:ext cx="603916" cy="308999"/>
                <a:chOff x="5278570" y="2983486"/>
                <a:chExt cx="501650" cy="233363"/>
              </a:xfrm>
            </p:grpSpPr>
            <p:sp>
              <p:nvSpPr>
                <p:cNvPr id="6316" name="Google Shape;6316;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317" name="Google Shape;6317;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318" name="Google Shape;6318;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319" name="Google Shape;6319;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320" name="Google Shape;6320;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321" name="Google Shape;6321;p79"/>
              <p:cNvGrpSpPr/>
              <p:nvPr/>
            </p:nvGrpSpPr>
            <p:grpSpPr>
              <a:xfrm>
                <a:off x="1492372" y="2507397"/>
                <a:ext cx="283194" cy="419100"/>
                <a:chOff x="2967" y="2425"/>
                <a:chExt cx="181" cy="264"/>
              </a:xfrm>
            </p:grpSpPr>
            <p:sp>
              <p:nvSpPr>
                <p:cNvPr id="6322" name="Google Shape;6322;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323" name="Google Shape;6323;p79"/>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sp>
        <p:nvSpPr>
          <p:cNvPr id="6324" name="Google Shape;6324;p79"/>
          <p:cNvSpPr/>
          <p:nvPr/>
        </p:nvSpPr>
        <p:spPr>
          <a:xfrm>
            <a:off x="3078478" y="2885440"/>
            <a:ext cx="5923281" cy="3820160"/>
          </a:xfrm>
          <a:custGeom>
            <a:rect b="b" l="l" r="r" t="t"/>
            <a:pathLst>
              <a:path extrusionOk="0" h="3820160" w="5760999">
                <a:moveTo>
                  <a:pt x="1239799" y="0"/>
                </a:moveTo>
                <a:lnTo>
                  <a:pt x="2987319" y="0"/>
                </a:lnTo>
                <a:lnTo>
                  <a:pt x="2987319" y="955040"/>
                </a:lnTo>
                <a:lnTo>
                  <a:pt x="5730519" y="782320"/>
                </a:lnTo>
                <a:lnTo>
                  <a:pt x="5760999" y="3820160"/>
                </a:lnTo>
                <a:lnTo>
                  <a:pt x="0" y="3810000"/>
                </a:lnTo>
                <a:lnTo>
                  <a:pt x="69172" y="955040"/>
                </a:lnTo>
                <a:lnTo>
                  <a:pt x="917184" y="904240"/>
                </a:lnTo>
                <a:lnTo>
                  <a:pt x="1239799"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325" name="Google Shape;6325;p79"/>
          <p:cNvGrpSpPr/>
          <p:nvPr/>
        </p:nvGrpSpPr>
        <p:grpSpPr>
          <a:xfrm>
            <a:off x="7010562" y="5133094"/>
            <a:ext cx="2128849" cy="1445342"/>
            <a:chOff x="7344204" y="108155"/>
            <a:chExt cx="2128849" cy="1445342"/>
          </a:xfrm>
        </p:grpSpPr>
        <p:sp>
          <p:nvSpPr>
            <p:cNvPr id="6326" name="Google Shape;6326;p79"/>
            <p:cNvSpPr/>
            <p:nvPr/>
          </p:nvSpPr>
          <p:spPr>
            <a:xfrm>
              <a:off x="7413523" y="108155"/>
              <a:ext cx="1936954" cy="14355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327" name="Google Shape;6327;p79"/>
            <p:cNvGrpSpPr/>
            <p:nvPr/>
          </p:nvGrpSpPr>
          <p:grpSpPr>
            <a:xfrm>
              <a:off x="7344204" y="120836"/>
              <a:ext cx="2128849" cy="1432661"/>
              <a:chOff x="7344204" y="120836"/>
              <a:chExt cx="2128849" cy="1432661"/>
            </a:xfrm>
          </p:grpSpPr>
          <p:sp>
            <p:nvSpPr>
              <p:cNvPr id="6328" name="Google Shape;6328;p79"/>
              <p:cNvSpPr/>
              <p:nvPr/>
            </p:nvSpPr>
            <p:spPr>
              <a:xfrm>
                <a:off x="7409951" y="124866"/>
                <a:ext cx="1940525"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29" name="Google Shape;6329;p79"/>
              <p:cNvSpPr txBox="1"/>
              <p:nvPr/>
            </p:nvSpPr>
            <p:spPr>
              <a:xfrm>
                <a:off x="7799764" y="120836"/>
                <a:ext cx="111719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b:</a:t>
                </a:r>
                <a:endParaRPr/>
              </a:p>
            </p:txBody>
          </p:sp>
          <p:cxnSp>
            <p:nvCxnSpPr>
              <p:cNvPr id="6330" name="Google Shape;6330;p79"/>
              <p:cNvCxnSpPr/>
              <p:nvPr/>
            </p:nvCxnSpPr>
            <p:spPr>
              <a:xfrm>
                <a:off x="7401895" y="49525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331" name="Google Shape;6331;p79"/>
              <p:cNvSpPr/>
              <p:nvPr/>
            </p:nvSpPr>
            <p:spPr>
              <a:xfrm>
                <a:off x="7404189" y="124866"/>
                <a:ext cx="1936455" cy="142863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32" name="Google Shape;6332;p79"/>
              <p:cNvSpPr txBox="1"/>
              <p:nvPr/>
            </p:nvSpPr>
            <p:spPr>
              <a:xfrm>
                <a:off x="8362008" y="560500"/>
                <a:ext cx="1111045"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(f) =2</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(g)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(h) = 2</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sp>
            <p:nvSpPr>
              <p:cNvPr id="6333" name="Google Shape;6333;p79"/>
              <p:cNvSpPr txBox="1"/>
              <p:nvPr/>
            </p:nvSpPr>
            <p:spPr>
              <a:xfrm>
                <a:off x="7344204" y="557387"/>
                <a:ext cx="1117197" cy="978729"/>
              </a:xfrm>
              <a:prstGeom prst="rect">
                <a:avLst/>
              </a:prstGeom>
              <a:noFill/>
              <a:ln>
                <a:noFill/>
              </a:ln>
            </p:spPr>
            <p:txBody>
              <a:bodyPr anchorCtr="0" anchor="t" bIns="45700" lIns="91425" spcFirstLastPara="1" rIns="91425" wrap="square" tIns="45700">
                <a:spAutoFit/>
              </a:bodyPr>
              <a:lstStyle/>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(a) = 8</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(c) = 1</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(d) = 2</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p:txBody>
          </p:sp>
        </p:grpSp>
      </p:grpSp>
      <p:grpSp>
        <p:nvGrpSpPr>
          <p:cNvPr id="6334" name="Google Shape;6334;p79"/>
          <p:cNvGrpSpPr/>
          <p:nvPr/>
        </p:nvGrpSpPr>
        <p:grpSpPr>
          <a:xfrm>
            <a:off x="6256790" y="3442384"/>
            <a:ext cx="531821" cy="369069"/>
            <a:chOff x="1348328" y="2507397"/>
            <a:chExt cx="603916" cy="419100"/>
          </a:xfrm>
        </p:grpSpPr>
        <p:grpSp>
          <p:nvGrpSpPr>
            <p:cNvPr id="6335" name="Google Shape;6335;p79"/>
            <p:cNvGrpSpPr/>
            <p:nvPr/>
          </p:nvGrpSpPr>
          <p:grpSpPr>
            <a:xfrm>
              <a:off x="1348328" y="2555748"/>
              <a:ext cx="603916" cy="308999"/>
              <a:chOff x="5278570" y="2983486"/>
              <a:chExt cx="501650" cy="233363"/>
            </a:xfrm>
          </p:grpSpPr>
          <p:sp>
            <p:nvSpPr>
              <p:cNvPr id="6336" name="Google Shape;6336;p79"/>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337" name="Google Shape;6337;p79"/>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338" name="Google Shape;6338;p79"/>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339" name="Google Shape;6339;p79"/>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340" name="Google Shape;6340;p79"/>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341" name="Google Shape;6341;p79"/>
            <p:cNvGrpSpPr/>
            <p:nvPr/>
          </p:nvGrpSpPr>
          <p:grpSpPr>
            <a:xfrm>
              <a:off x="1456374" y="2507397"/>
              <a:ext cx="355165" cy="419100"/>
              <a:chOff x="2944" y="2425"/>
              <a:chExt cx="227" cy="264"/>
            </a:xfrm>
          </p:grpSpPr>
          <p:sp>
            <p:nvSpPr>
              <p:cNvPr id="6342" name="Google Shape;6342;p79"/>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343" name="Google Shape;6343;p79"/>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sp>
        <p:nvSpPr>
          <p:cNvPr id="6344" name="Google Shape;6344;p79"/>
          <p:cNvSpPr/>
          <p:nvPr/>
        </p:nvSpPr>
        <p:spPr>
          <a:xfrm rot="-5400000">
            <a:off x="6307392" y="303096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45" name="Google Shape;6345;p79"/>
          <p:cNvSpPr/>
          <p:nvPr/>
        </p:nvSpPr>
        <p:spPr>
          <a:xfrm>
            <a:off x="6784256" y="3016538"/>
            <a:ext cx="2899862" cy="2634390"/>
          </a:xfrm>
          <a:custGeom>
            <a:rect b="b" l="l" r="r" t="t"/>
            <a:pathLst>
              <a:path extrusionOk="0" h="2634390" w="2899862">
                <a:moveTo>
                  <a:pt x="657" y="541101"/>
                </a:moveTo>
                <a:cubicBezTo>
                  <a:pt x="1842566" y="465721"/>
                  <a:pt x="1787505" y="533564"/>
                  <a:pt x="2879541" y="0"/>
                </a:cubicBezTo>
                <a:cubicBezTo>
                  <a:pt x="2879541" y="783303"/>
                  <a:pt x="2899862" y="1851087"/>
                  <a:pt x="2899862" y="2634390"/>
                </a:cubicBezTo>
                <a:cubicBezTo>
                  <a:pt x="2640945" y="598784"/>
                  <a:pt x="2154903" y="642374"/>
                  <a:pt x="0" y="708250"/>
                </a:cubicBezTo>
                <a:lnTo>
                  <a:pt x="657" y="541101"/>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46" name="Google Shape;6346;p79"/>
          <p:cNvSpPr/>
          <p:nvPr/>
        </p:nvSpPr>
        <p:spPr>
          <a:xfrm rot="-5400000">
            <a:off x="6612907" y="5410623"/>
            <a:ext cx="339615" cy="560629"/>
          </a:xfrm>
          <a:prstGeom prst="downArrow">
            <a:avLst>
              <a:gd fmla="val 50000" name="adj1"/>
              <a:gd fmla="val 50000" name="adj2"/>
            </a:avLst>
          </a:prstGeom>
          <a:gradFill>
            <a:gsLst>
              <a:gs pos="0">
                <a:schemeClr val="lt1"/>
              </a:gs>
              <a:gs pos="100000">
                <a:srgbClr val="BBD6E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347" name="Google Shape;6347;p79"/>
          <p:cNvGrpSpPr/>
          <p:nvPr/>
        </p:nvGrpSpPr>
        <p:grpSpPr>
          <a:xfrm>
            <a:off x="751840" y="2113280"/>
            <a:ext cx="6014720" cy="4541520"/>
            <a:chOff x="751840" y="2113280"/>
            <a:chExt cx="6014720" cy="4541520"/>
          </a:xfrm>
        </p:grpSpPr>
        <p:sp>
          <p:nvSpPr>
            <p:cNvPr id="6348" name="Google Shape;6348;p79"/>
            <p:cNvSpPr/>
            <p:nvPr/>
          </p:nvSpPr>
          <p:spPr>
            <a:xfrm>
              <a:off x="782320" y="3942080"/>
              <a:ext cx="5659120" cy="271272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49" name="Google Shape;6349;p79"/>
            <p:cNvSpPr/>
            <p:nvPr/>
          </p:nvSpPr>
          <p:spPr>
            <a:xfrm>
              <a:off x="751840" y="2113280"/>
              <a:ext cx="6014720" cy="1838960"/>
            </a:xfrm>
            <a:custGeom>
              <a:rect b="b" l="l" r="r" t="t"/>
              <a:pathLst>
                <a:path extrusionOk="0" h="1838960" w="6014720">
                  <a:moveTo>
                    <a:pt x="6014720" y="0"/>
                  </a:moveTo>
                  <a:cubicBezTo>
                    <a:pt x="4937760" y="795867"/>
                    <a:pt x="5008880" y="1479973"/>
                    <a:pt x="5659120" y="1838960"/>
                  </a:cubicBezTo>
                  <a:lnTo>
                    <a:pt x="0" y="1838960"/>
                  </a:lnTo>
                  <a:cubicBezTo>
                    <a:pt x="3772747" y="1642533"/>
                    <a:pt x="3776133" y="1578187"/>
                    <a:pt x="5496560" y="0"/>
                  </a:cubicBezTo>
                  <a:lnTo>
                    <a:pt x="6014720" y="0"/>
                  </a:lnTo>
                  <a:close/>
                </a:path>
              </a:pathLst>
            </a:custGeom>
            <a:gradFill>
              <a:gsLst>
                <a:gs pos="0">
                  <a:schemeClr val="lt1"/>
                </a:gs>
                <a:gs pos="100000">
                  <a:srgbClr val="DDEAF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6350" name="Google Shape;6350;p79"/>
          <p:cNvGrpSpPr/>
          <p:nvPr/>
        </p:nvGrpSpPr>
        <p:grpSpPr>
          <a:xfrm>
            <a:off x="5852446" y="1758989"/>
            <a:ext cx="1196054" cy="1022555"/>
            <a:chOff x="9655277" y="2349909"/>
            <a:chExt cx="1196054" cy="1022555"/>
          </a:xfrm>
        </p:grpSpPr>
        <p:sp>
          <p:nvSpPr>
            <p:cNvPr id="6351" name="Google Shape;6351;p79"/>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52" name="Google Shape;6352;p79"/>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sp>
        <p:nvSpPr>
          <p:cNvPr id="6353" name="Google Shape;6353;p79"/>
          <p:cNvSpPr txBox="1"/>
          <p:nvPr/>
        </p:nvSpPr>
        <p:spPr>
          <a:xfrm>
            <a:off x="6355429" y="1927737"/>
            <a:ext cx="31931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Calibri"/>
                <a:ea typeface="Calibri"/>
                <a:cs typeface="Calibri"/>
                <a:sym typeface="Calibri"/>
              </a:rPr>
              <a:t>b</a:t>
            </a:r>
            <a:endParaRPr/>
          </a:p>
        </p:txBody>
      </p:sp>
      <p:sp>
        <p:nvSpPr>
          <p:cNvPr id="6354" name="Google Shape;6354;p79"/>
          <p:cNvSpPr txBox="1"/>
          <p:nvPr/>
        </p:nvSpPr>
        <p:spPr>
          <a:xfrm>
            <a:off x="894080" y="4021574"/>
            <a:ext cx="556768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(a) = min{c</a:t>
            </a:r>
            <a:r>
              <a:rPr baseline="-25000" lang="en-US" sz="1600">
                <a:solidFill>
                  <a:srgbClr val="000000"/>
                </a:solidFill>
                <a:latin typeface="Calibri"/>
                <a:ea typeface="Calibri"/>
                <a:cs typeface="Calibri"/>
                <a:sym typeface="Calibri"/>
              </a:rPr>
              <a:t>b,a</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(a), c</a:t>
            </a:r>
            <a:r>
              <a:rPr baseline="-25000" lang="en-US" sz="1600">
                <a:solidFill>
                  <a:srgbClr val="000000"/>
                </a:solidFill>
                <a:latin typeface="Calibri"/>
                <a:ea typeface="Calibri"/>
                <a:cs typeface="Calibri"/>
                <a:sym typeface="Calibri"/>
              </a:rPr>
              <a:t>b,c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(a), c</a:t>
            </a:r>
            <a:r>
              <a:rPr baseline="-25000" lang="en-US" sz="1600">
                <a:solidFill>
                  <a:srgbClr val="000000"/>
                </a:solidFill>
                <a:latin typeface="Calibri"/>
                <a:ea typeface="Calibri"/>
                <a:cs typeface="Calibri"/>
                <a:sym typeface="Calibri"/>
              </a:rPr>
              <a:t>b,e</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(a)}  = min{8,∞,∞} = 8 </a:t>
            </a:r>
            <a:endParaRPr/>
          </a:p>
        </p:txBody>
      </p:sp>
      <p:sp>
        <p:nvSpPr>
          <p:cNvPr id="6355" name="Google Shape;6355;p79"/>
          <p:cNvSpPr txBox="1"/>
          <p:nvPr/>
        </p:nvSpPr>
        <p:spPr>
          <a:xfrm>
            <a:off x="894080" y="4346694"/>
            <a:ext cx="55372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(c) = min{c</a:t>
            </a:r>
            <a:r>
              <a:rPr baseline="-25000" lang="en-US" sz="1600">
                <a:solidFill>
                  <a:srgbClr val="000000"/>
                </a:solidFill>
                <a:latin typeface="Calibri"/>
                <a:ea typeface="Calibri"/>
                <a:cs typeface="Calibri"/>
                <a:sym typeface="Calibri"/>
              </a:rPr>
              <a:t>b,a</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(c), c</a:t>
            </a:r>
            <a:r>
              <a:rPr baseline="-25000" lang="en-US" sz="1600">
                <a:solidFill>
                  <a:srgbClr val="000000"/>
                </a:solidFill>
                <a:latin typeface="Calibri"/>
                <a:ea typeface="Calibri"/>
                <a:cs typeface="Calibri"/>
                <a:sym typeface="Calibri"/>
              </a:rPr>
              <a:t>b,c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(c), c</a:t>
            </a:r>
            <a:r>
              <a:rPr baseline="-25000" lang="en-US" sz="1600">
                <a:solidFill>
                  <a:srgbClr val="000000"/>
                </a:solidFill>
                <a:latin typeface="Calibri"/>
                <a:ea typeface="Calibri"/>
                <a:cs typeface="Calibri"/>
                <a:sym typeface="Calibri"/>
              </a:rPr>
              <a:t> b,e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(c)}  = min{∞,1,∞} = 1 </a:t>
            </a:r>
            <a:endParaRPr sz="1600">
              <a:solidFill>
                <a:srgbClr val="000000"/>
              </a:solidFill>
              <a:latin typeface="Calibri"/>
              <a:ea typeface="Calibri"/>
              <a:cs typeface="Calibri"/>
              <a:sym typeface="Calibri"/>
            </a:endParaRPr>
          </a:p>
        </p:txBody>
      </p:sp>
      <p:sp>
        <p:nvSpPr>
          <p:cNvPr id="6356" name="Google Shape;6356;p79"/>
          <p:cNvSpPr txBox="1"/>
          <p:nvPr/>
        </p:nvSpPr>
        <p:spPr>
          <a:xfrm>
            <a:off x="883920" y="4671814"/>
            <a:ext cx="552704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(d) = min{c</a:t>
            </a:r>
            <a:r>
              <a:rPr baseline="-25000" lang="en-US" sz="1600">
                <a:solidFill>
                  <a:srgbClr val="000000"/>
                </a:solidFill>
                <a:latin typeface="Calibri"/>
                <a:ea typeface="Calibri"/>
                <a:cs typeface="Calibri"/>
                <a:sym typeface="Calibri"/>
              </a:rPr>
              <a:t>b,a</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(d), c</a:t>
            </a:r>
            <a:r>
              <a:rPr baseline="-25000" lang="en-US" sz="1600">
                <a:solidFill>
                  <a:srgbClr val="000000"/>
                </a:solidFill>
                <a:latin typeface="Calibri"/>
                <a:ea typeface="Calibri"/>
                <a:cs typeface="Calibri"/>
                <a:sym typeface="Calibri"/>
              </a:rPr>
              <a:t>b,c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(d), c</a:t>
            </a:r>
            <a:r>
              <a:rPr baseline="-25000" lang="en-US" sz="1600">
                <a:solidFill>
                  <a:srgbClr val="000000"/>
                </a:solidFill>
                <a:latin typeface="Calibri"/>
                <a:ea typeface="Calibri"/>
                <a:cs typeface="Calibri"/>
                <a:sym typeface="Calibri"/>
              </a:rPr>
              <a:t> b,e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(d)}  = min{9,2,∞} = 2 </a:t>
            </a:r>
            <a:endParaRPr sz="1600">
              <a:solidFill>
                <a:srgbClr val="000000"/>
              </a:solidFill>
              <a:latin typeface="Calibri"/>
              <a:ea typeface="Calibri"/>
              <a:cs typeface="Calibri"/>
              <a:sym typeface="Calibri"/>
            </a:endParaRPr>
          </a:p>
        </p:txBody>
      </p:sp>
      <p:sp>
        <p:nvSpPr>
          <p:cNvPr id="6357" name="Google Shape;6357;p79"/>
          <p:cNvSpPr txBox="1"/>
          <p:nvPr/>
        </p:nvSpPr>
        <p:spPr>
          <a:xfrm>
            <a:off x="883920" y="5301734"/>
            <a:ext cx="54965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(f) = min{c</a:t>
            </a:r>
            <a:r>
              <a:rPr baseline="-25000" lang="en-US" sz="1600">
                <a:solidFill>
                  <a:srgbClr val="000000"/>
                </a:solidFill>
                <a:latin typeface="Calibri"/>
                <a:ea typeface="Calibri"/>
                <a:cs typeface="Calibri"/>
                <a:sym typeface="Calibri"/>
              </a:rPr>
              <a:t>b,a</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(f), c</a:t>
            </a:r>
            <a:r>
              <a:rPr baseline="-25000" lang="en-US" sz="1600">
                <a:solidFill>
                  <a:srgbClr val="000000"/>
                </a:solidFill>
                <a:latin typeface="Calibri"/>
                <a:ea typeface="Calibri"/>
                <a:cs typeface="Calibri"/>
                <a:sym typeface="Calibri"/>
              </a:rPr>
              <a:t>b,c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(f), c</a:t>
            </a:r>
            <a:r>
              <a:rPr baseline="-25000" lang="en-US" sz="1600">
                <a:solidFill>
                  <a:srgbClr val="000000"/>
                </a:solidFill>
                <a:latin typeface="Calibri"/>
                <a:ea typeface="Calibri"/>
                <a:cs typeface="Calibri"/>
                <a:sym typeface="Calibri"/>
              </a:rPr>
              <a:t> b,e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(f)}  = min{∞,∞,2} = 2 </a:t>
            </a:r>
            <a:endParaRPr sz="1600">
              <a:solidFill>
                <a:srgbClr val="000000"/>
              </a:solidFill>
              <a:latin typeface="Calibri"/>
              <a:ea typeface="Calibri"/>
              <a:cs typeface="Calibri"/>
              <a:sym typeface="Calibri"/>
            </a:endParaRPr>
          </a:p>
        </p:txBody>
      </p:sp>
      <p:sp>
        <p:nvSpPr>
          <p:cNvPr id="6358" name="Google Shape;6358;p79"/>
          <p:cNvSpPr txBox="1"/>
          <p:nvPr/>
        </p:nvSpPr>
        <p:spPr>
          <a:xfrm>
            <a:off x="894080" y="6244828"/>
            <a:ext cx="546608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(i) = min{c</a:t>
            </a:r>
            <a:r>
              <a:rPr baseline="-25000" lang="en-US" sz="1600">
                <a:solidFill>
                  <a:srgbClr val="000000"/>
                </a:solidFill>
                <a:latin typeface="Calibri"/>
                <a:ea typeface="Calibri"/>
                <a:cs typeface="Calibri"/>
                <a:sym typeface="Calibri"/>
              </a:rPr>
              <a:t>b,a</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(i), c</a:t>
            </a:r>
            <a:r>
              <a:rPr baseline="-25000" lang="en-US" sz="1600">
                <a:solidFill>
                  <a:srgbClr val="000000"/>
                </a:solidFill>
                <a:latin typeface="Calibri"/>
                <a:ea typeface="Calibri"/>
                <a:cs typeface="Calibri"/>
                <a:sym typeface="Calibri"/>
              </a:rPr>
              <a:t>b,c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c</a:t>
            </a:r>
            <a:r>
              <a:rPr baseline="-25000" lang="en-US" sz="1600">
                <a:solidFill>
                  <a:srgbClr val="000000"/>
                </a:solidFill>
                <a:latin typeface="Calibri"/>
                <a:ea typeface="Calibri"/>
                <a:cs typeface="Calibri"/>
                <a:sym typeface="Calibri"/>
              </a:rPr>
              <a:t> b,e</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(i)}  = min{∞,</a:t>
            </a:r>
            <a:r>
              <a:rPr baseline="-25000" lang="en-US" sz="1600">
                <a:solidFill>
                  <a:srgbClr val="000000"/>
                </a:solidFill>
                <a:latin typeface="Calibri"/>
                <a:ea typeface="Calibri"/>
                <a:cs typeface="Calibri"/>
                <a:sym typeface="Calibri"/>
              </a:rPr>
              <a:t> </a:t>
            </a:r>
            <a:r>
              <a:rPr lang="en-US" sz="1600">
                <a:solidFill>
                  <a:srgbClr val="000000"/>
                </a:solidFill>
                <a:latin typeface="Calibri"/>
                <a:ea typeface="Calibri"/>
                <a:cs typeface="Calibri"/>
                <a:sym typeface="Calibri"/>
              </a:rPr>
              <a:t>∞, ∞} = ∞ </a:t>
            </a:r>
            <a:endParaRPr sz="1600">
              <a:solidFill>
                <a:srgbClr val="000000"/>
              </a:solidFill>
              <a:latin typeface="Calibri"/>
              <a:ea typeface="Calibri"/>
              <a:cs typeface="Calibri"/>
              <a:sym typeface="Calibri"/>
            </a:endParaRPr>
          </a:p>
        </p:txBody>
      </p:sp>
      <p:sp>
        <p:nvSpPr>
          <p:cNvPr id="6359" name="Google Shape;6359;p79"/>
          <p:cNvSpPr txBox="1"/>
          <p:nvPr/>
        </p:nvSpPr>
        <p:spPr>
          <a:xfrm>
            <a:off x="883920" y="5940028"/>
            <a:ext cx="55473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(h) = min{c</a:t>
            </a:r>
            <a:r>
              <a:rPr baseline="-25000" lang="en-US" sz="1600">
                <a:solidFill>
                  <a:srgbClr val="000000"/>
                </a:solidFill>
                <a:latin typeface="Calibri"/>
                <a:ea typeface="Calibri"/>
                <a:cs typeface="Calibri"/>
                <a:sym typeface="Calibri"/>
              </a:rPr>
              <a:t>b,a</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(h), c</a:t>
            </a:r>
            <a:r>
              <a:rPr baseline="-25000" lang="en-US" sz="1600">
                <a:solidFill>
                  <a:srgbClr val="000000"/>
                </a:solidFill>
                <a:latin typeface="Calibri"/>
                <a:ea typeface="Calibri"/>
                <a:cs typeface="Calibri"/>
                <a:sym typeface="Calibri"/>
              </a:rPr>
              <a:t>b,c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(h), c</a:t>
            </a:r>
            <a:r>
              <a:rPr baseline="-25000" lang="en-US" sz="1600">
                <a:solidFill>
                  <a:srgbClr val="000000"/>
                </a:solidFill>
                <a:latin typeface="Calibri"/>
                <a:ea typeface="Calibri"/>
                <a:cs typeface="Calibri"/>
                <a:sym typeface="Calibri"/>
              </a:rPr>
              <a:t> b,e</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(h)}  = min{∞,</a:t>
            </a:r>
            <a:r>
              <a:rPr baseline="-25000" lang="en-US" sz="1600">
                <a:solidFill>
                  <a:srgbClr val="000000"/>
                </a:solidFill>
                <a:latin typeface="Calibri"/>
                <a:ea typeface="Calibri"/>
                <a:cs typeface="Calibri"/>
                <a:sym typeface="Calibri"/>
              </a:rPr>
              <a:t> </a:t>
            </a:r>
            <a:r>
              <a:rPr lang="en-US" sz="1600">
                <a:solidFill>
                  <a:srgbClr val="000000"/>
                </a:solidFill>
                <a:latin typeface="Calibri"/>
                <a:ea typeface="Calibri"/>
                <a:cs typeface="Calibri"/>
                <a:sym typeface="Calibri"/>
              </a:rPr>
              <a:t>∞, 2} = 2 </a:t>
            </a:r>
            <a:endParaRPr sz="1600">
              <a:solidFill>
                <a:srgbClr val="000000"/>
              </a:solidFill>
              <a:latin typeface="Calibri"/>
              <a:ea typeface="Calibri"/>
              <a:cs typeface="Calibri"/>
              <a:sym typeface="Calibri"/>
            </a:endParaRPr>
          </a:p>
        </p:txBody>
      </p:sp>
      <p:sp>
        <p:nvSpPr>
          <p:cNvPr id="6360" name="Google Shape;6360;p79"/>
          <p:cNvSpPr txBox="1"/>
          <p:nvPr/>
        </p:nvSpPr>
        <p:spPr>
          <a:xfrm>
            <a:off x="894080" y="4976614"/>
            <a:ext cx="54457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(e) = min{c</a:t>
            </a:r>
            <a:r>
              <a:rPr baseline="-25000" lang="en-US" sz="1600">
                <a:solidFill>
                  <a:srgbClr val="000000"/>
                </a:solidFill>
                <a:latin typeface="Calibri"/>
                <a:ea typeface="Calibri"/>
                <a:cs typeface="Calibri"/>
                <a:sym typeface="Calibri"/>
              </a:rPr>
              <a:t>b,a</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(e), c</a:t>
            </a:r>
            <a:r>
              <a:rPr baseline="-25000" lang="en-US" sz="1600">
                <a:solidFill>
                  <a:srgbClr val="000000"/>
                </a:solidFill>
                <a:latin typeface="Calibri"/>
                <a:ea typeface="Calibri"/>
                <a:cs typeface="Calibri"/>
                <a:sym typeface="Calibri"/>
              </a:rPr>
              <a:t>b,c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(e), c</a:t>
            </a:r>
            <a:r>
              <a:rPr baseline="-25000" lang="en-US" sz="1600">
                <a:solidFill>
                  <a:srgbClr val="000000"/>
                </a:solidFill>
                <a:latin typeface="Calibri"/>
                <a:ea typeface="Calibri"/>
                <a:cs typeface="Calibri"/>
                <a:sym typeface="Calibri"/>
              </a:rPr>
              <a:t> b,e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(e)}  = min{∞,∞,1} = 1 </a:t>
            </a:r>
            <a:endParaRPr sz="1600">
              <a:solidFill>
                <a:srgbClr val="000000"/>
              </a:solidFill>
              <a:latin typeface="Calibri"/>
              <a:ea typeface="Calibri"/>
              <a:cs typeface="Calibri"/>
              <a:sym typeface="Calibri"/>
            </a:endParaRPr>
          </a:p>
        </p:txBody>
      </p:sp>
      <p:sp>
        <p:nvSpPr>
          <p:cNvPr id="6361" name="Google Shape;6361;p79"/>
          <p:cNvSpPr txBox="1"/>
          <p:nvPr/>
        </p:nvSpPr>
        <p:spPr>
          <a:xfrm>
            <a:off x="894080" y="5616694"/>
            <a:ext cx="55473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(g) = min{c</a:t>
            </a:r>
            <a:r>
              <a:rPr baseline="-25000" lang="en-US" sz="1600">
                <a:solidFill>
                  <a:srgbClr val="000000"/>
                </a:solidFill>
                <a:latin typeface="Calibri"/>
                <a:ea typeface="Calibri"/>
                <a:cs typeface="Calibri"/>
                <a:sym typeface="Calibri"/>
              </a:rPr>
              <a:t>b,a</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(g), c</a:t>
            </a:r>
            <a:r>
              <a:rPr baseline="-25000" lang="en-US" sz="1600">
                <a:solidFill>
                  <a:srgbClr val="000000"/>
                </a:solidFill>
                <a:latin typeface="Calibri"/>
                <a:ea typeface="Calibri"/>
                <a:cs typeface="Calibri"/>
                <a:sym typeface="Calibri"/>
              </a:rPr>
              <a:t>b,c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(g), c</a:t>
            </a:r>
            <a:r>
              <a:rPr baseline="-25000" lang="en-US" sz="1600">
                <a:solidFill>
                  <a:srgbClr val="000000"/>
                </a:solidFill>
                <a:latin typeface="Calibri"/>
                <a:ea typeface="Calibri"/>
                <a:cs typeface="Calibri"/>
                <a:sym typeface="Calibri"/>
              </a:rPr>
              <a:t> b,e</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(g)}  = min{∞,</a:t>
            </a:r>
            <a:r>
              <a:rPr baseline="-25000" lang="en-US" sz="1600">
                <a:solidFill>
                  <a:srgbClr val="000000"/>
                </a:solidFill>
                <a:latin typeface="Calibri"/>
                <a:ea typeface="Calibri"/>
                <a:cs typeface="Calibri"/>
                <a:sym typeface="Calibri"/>
              </a:rPr>
              <a:t> </a:t>
            </a:r>
            <a:r>
              <a:rPr lang="en-US" sz="1600">
                <a:solidFill>
                  <a:srgbClr val="000000"/>
                </a:solidFill>
                <a:latin typeface="Calibri"/>
                <a:ea typeface="Calibri"/>
                <a:cs typeface="Calibri"/>
                <a:sym typeface="Calibri"/>
              </a:rPr>
              <a:t>∞, ∞} = ∞ </a:t>
            </a:r>
            <a:endParaRPr sz="1600">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324"/>
                                        </p:tgtEl>
                                        <p:attrNameLst>
                                          <p:attrName>style.visibility</p:attrName>
                                        </p:attrNameLst>
                                      </p:cBhvr>
                                      <p:to>
                                        <p:strVal val="visible"/>
                                      </p:to>
                                    </p:set>
                                    <p:animEffect filter="fade" transition="in">
                                      <p:cBhvr>
                                        <p:cTn dur="500"/>
                                        <p:tgtEl>
                                          <p:spTgt spid="6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7"/>
                                        </p:tgtEl>
                                        <p:attrNameLst>
                                          <p:attrName>style.visibility</p:attrName>
                                        </p:attrNameLst>
                                      </p:cBhvr>
                                      <p:to>
                                        <p:strVal val="visible"/>
                                      </p:to>
                                    </p:set>
                                    <p:animEffect filter="fade" transition="in">
                                      <p:cBhvr>
                                        <p:cTn dur="500"/>
                                        <p:tgtEl>
                                          <p:spTgt spid="6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4"/>
                                        </p:tgtEl>
                                        <p:attrNameLst>
                                          <p:attrName>style.visibility</p:attrName>
                                        </p:attrNameLst>
                                      </p:cBhvr>
                                      <p:to>
                                        <p:strVal val="visible"/>
                                      </p:to>
                                    </p:set>
                                    <p:animEffect filter="fade" transition="in">
                                      <p:cBhvr>
                                        <p:cTn dur="500"/>
                                        <p:tgtEl>
                                          <p:spTgt spid="6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5"/>
                                        </p:tgtEl>
                                        <p:attrNameLst>
                                          <p:attrName>style.visibility</p:attrName>
                                        </p:attrNameLst>
                                      </p:cBhvr>
                                      <p:to>
                                        <p:strVal val="visible"/>
                                      </p:to>
                                    </p:set>
                                    <p:animEffect filter="fade" transition="in">
                                      <p:cBhvr>
                                        <p:cTn dur="500"/>
                                        <p:tgtEl>
                                          <p:spTgt spid="6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6"/>
                                        </p:tgtEl>
                                        <p:attrNameLst>
                                          <p:attrName>style.visibility</p:attrName>
                                        </p:attrNameLst>
                                      </p:cBhvr>
                                      <p:to>
                                        <p:strVal val="visible"/>
                                      </p:to>
                                    </p:set>
                                    <p:animEffect filter="fade" transition="in">
                                      <p:cBhvr>
                                        <p:cTn dur="500"/>
                                        <p:tgtEl>
                                          <p:spTgt spid="6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0"/>
                                        </p:tgtEl>
                                        <p:attrNameLst>
                                          <p:attrName>style.visibility</p:attrName>
                                        </p:attrNameLst>
                                      </p:cBhvr>
                                      <p:to>
                                        <p:strVal val="visible"/>
                                      </p:to>
                                    </p:set>
                                    <p:animEffect filter="fade" transition="in">
                                      <p:cBhvr>
                                        <p:cTn dur="500"/>
                                        <p:tgtEl>
                                          <p:spTgt spid="6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7"/>
                                        </p:tgtEl>
                                        <p:attrNameLst>
                                          <p:attrName>style.visibility</p:attrName>
                                        </p:attrNameLst>
                                      </p:cBhvr>
                                      <p:to>
                                        <p:strVal val="visible"/>
                                      </p:to>
                                    </p:set>
                                    <p:animEffect filter="fade" transition="in">
                                      <p:cBhvr>
                                        <p:cTn dur="500"/>
                                        <p:tgtEl>
                                          <p:spTgt spid="6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1"/>
                                        </p:tgtEl>
                                        <p:attrNameLst>
                                          <p:attrName>style.visibility</p:attrName>
                                        </p:attrNameLst>
                                      </p:cBhvr>
                                      <p:to>
                                        <p:strVal val="visible"/>
                                      </p:to>
                                    </p:set>
                                    <p:animEffect filter="fade" transition="in">
                                      <p:cBhvr>
                                        <p:cTn dur="500"/>
                                        <p:tgtEl>
                                          <p:spTgt spid="6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9"/>
                                        </p:tgtEl>
                                        <p:attrNameLst>
                                          <p:attrName>style.visibility</p:attrName>
                                        </p:attrNameLst>
                                      </p:cBhvr>
                                      <p:to>
                                        <p:strVal val="visible"/>
                                      </p:to>
                                    </p:set>
                                    <p:animEffect filter="fade" transition="in">
                                      <p:cBhvr>
                                        <p:cTn dur="500"/>
                                        <p:tgtEl>
                                          <p:spTgt spid="6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8"/>
                                        </p:tgtEl>
                                        <p:attrNameLst>
                                          <p:attrName>style.visibility</p:attrName>
                                        </p:attrNameLst>
                                      </p:cBhvr>
                                      <p:to>
                                        <p:strVal val="visible"/>
                                      </p:to>
                                    </p:set>
                                    <p:animEffect filter="fade" transition="in">
                                      <p:cBhvr>
                                        <p:cTn dur="500"/>
                                        <p:tgtEl>
                                          <p:spTgt spid="6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6"/>
                                        </p:tgtEl>
                                        <p:attrNameLst>
                                          <p:attrName>style.visibility</p:attrName>
                                        </p:attrNameLst>
                                      </p:cBhvr>
                                      <p:to>
                                        <p:strVal val="visible"/>
                                      </p:to>
                                    </p:set>
                                    <p:animEffect filter="fade" transition="in">
                                      <p:cBhvr>
                                        <p:cTn dur="500"/>
                                        <p:tgtEl>
                                          <p:spTgt spid="63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325"/>
                                        </p:tgtEl>
                                        <p:attrNameLst>
                                          <p:attrName>style.visibility</p:attrName>
                                        </p:attrNameLst>
                                      </p:cBhvr>
                                      <p:to>
                                        <p:strVal val="visible"/>
                                      </p:to>
                                    </p:set>
                                    <p:animEffect filter="fade" transition="in">
                                      <p:cBhvr>
                                        <p:cTn dur="500"/>
                                        <p:tgtEl>
                                          <p:spTgt spid="6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6" name="Shape 6366"/>
        <p:cNvGrpSpPr/>
        <p:nvPr/>
      </p:nvGrpSpPr>
      <p:grpSpPr>
        <a:xfrm>
          <a:off x="0" y="0"/>
          <a:ext cx="0" cy="0"/>
          <a:chOff x="0" y="0"/>
          <a:chExt cx="0" cy="0"/>
        </a:xfrm>
      </p:grpSpPr>
      <p:grpSp>
        <p:nvGrpSpPr>
          <p:cNvPr id="6367" name="Google Shape;6367;p80"/>
          <p:cNvGrpSpPr/>
          <p:nvPr/>
        </p:nvGrpSpPr>
        <p:grpSpPr>
          <a:xfrm>
            <a:off x="2827965" y="1130710"/>
            <a:ext cx="1547391" cy="2620631"/>
            <a:chOff x="3221255" y="1012723"/>
            <a:chExt cx="1547391" cy="2620631"/>
          </a:xfrm>
        </p:grpSpPr>
        <p:sp>
          <p:nvSpPr>
            <p:cNvPr id="6368" name="Google Shape;6368;p80"/>
            <p:cNvSpPr/>
            <p:nvPr/>
          </p:nvSpPr>
          <p:spPr>
            <a:xfrm>
              <a:off x="4316362" y="1042219"/>
              <a:ext cx="452284" cy="2389239"/>
            </a:xfrm>
            <a:custGeom>
              <a:rect b="b" l="l" r="r" t="t"/>
              <a:pathLst>
                <a:path extrusionOk="0" h="2389239" w="452284">
                  <a:moveTo>
                    <a:pt x="0" y="0"/>
                  </a:moveTo>
                  <a:cubicBezTo>
                    <a:pt x="170425" y="625988"/>
                    <a:pt x="242530" y="681703"/>
                    <a:pt x="452284" y="904568"/>
                  </a:cubicBezTo>
                  <a:lnTo>
                    <a:pt x="452284" y="1052052"/>
                  </a:lnTo>
                  <a:cubicBezTo>
                    <a:pt x="206477" y="1507613"/>
                    <a:pt x="137653" y="1825523"/>
                    <a:pt x="9833" y="2389239"/>
                  </a:cubicBezTo>
                  <a:cubicBezTo>
                    <a:pt x="6555" y="1592826"/>
                    <a:pt x="3278" y="796413"/>
                    <a:pt x="0" y="0"/>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369" name="Google Shape;6369;p80"/>
            <p:cNvGrpSpPr/>
            <p:nvPr/>
          </p:nvGrpSpPr>
          <p:grpSpPr>
            <a:xfrm>
              <a:off x="3221255" y="1012723"/>
              <a:ext cx="1172904" cy="2620631"/>
              <a:chOff x="3221255" y="1012723"/>
              <a:chExt cx="1172904" cy="2620631"/>
            </a:xfrm>
          </p:grpSpPr>
          <p:sp>
            <p:nvSpPr>
              <p:cNvPr id="6370" name="Google Shape;6370;p80"/>
              <p:cNvSpPr/>
              <p:nvPr/>
            </p:nvSpPr>
            <p:spPr>
              <a:xfrm>
                <a:off x="3224981" y="1012723"/>
                <a:ext cx="1111045" cy="241873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371" name="Google Shape;6371;p80"/>
              <p:cNvGrpSpPr/>
              <p:nvPr/>
            </p:nvGrpSpPr>
            <p:grpSpPr>
              <a:xfrm>
                <a:off x="3221255" y="1017253"/>
                <a:ext cx="1172904" cy="2616101"/>
                <a:chOff x="9477371" y="702026"/>
                <a:chExt cx="1172904" cy="2616101"/>
              </a:xfrm>
            </p:grpSpPr>
            <p:sp>
              <p:nvSpPr>
                <p:cNvPr id="6372" name="Google Shape;6372;p80"/>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73" name="Google Shape;6373;p80"/>
                <p:cNvSpPr txBox="1"/>
                <p:nvPr/>
              </p:nvSpPr>
              <p:spPr>
                <a:xfrm>
                  <a:off x="9533078" y="702026"/>
                  <a:ext cx="1117197" cy="26161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FFFF"/>
                      </a:solidFill>
                      <a:latin typeface="Calibri"/>
                      <a:ea typeface="Calibri"/>
                      <a:cs typeface="Calibri"/>
                      <a:sym typeface="Calibri"/>
                    </a:rPr>
                    <a:t>DV in a: </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(a)=0</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(b) = 8</a:t>
                  </a:r>
                  <a:endParaRPr sz="1600">
                    <a:solidFill>
                      <a:srgbClr val="000000"/>
                    </a:solidFill>
                    <a:latin typeface="Calibri"/>
                    <a:ea typeface="Calibri"/>
                    <a:cs typeface="Calibri"/>
                    <a:sym typeface="Calibri"/>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(c)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(d) = 1</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(e)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(f)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(g)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(h) = ∞</a:t>
                  </a:r>
                  <a:endParaRPr/>
                </a:p>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a</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374" name="Google Shape;6374;p80"/>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375" name="Google Shape;6375;p80"/>
                <p:cNvSpPr/>
                <p:nvPr/>
              </p:nvSpPr>
              <p:spPr>
                <a:xfrm>
                  <a:off x="9479666" y="706056"/>
                  <a:ext cx="1122744" cy="2589450"/>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sp>
        <p:nvSpPr>
          <p:cNvPr id="6376" name="Google Shape;6376;p80"/>
          <p:cNvSpPr txBox="1"/>
          <p:nvPr>
            <p:ph type="title"/>
          </p:nvPr>
        </p:nvSpPr>
        <p:spPr>
          <a:xfrm>
            <a:off x="826624" y="174028"/>
            <a:ext cx="10893427"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 computation</a:t>
            </a:r>
            <a:endParaRPr/>
          </a:p>
        </p:txBody>
      </p:sp>
      <p:sp>
        <p:nvSpPr>
          <p:cNvPr id="6377" name="Google Shape;6377;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6378" name="Google Shape;6378;p80"/>
          <p:cNvCxnSpPr>
            <a:stCxn id="6379" idx="2"/>
            <a:endCxn id="6379"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6380" name="Google Shape;6380;p80"/>
          <p:cNvCxnSpPr>
            <a:stCxn id="6379" idx="1"/>
            <a:endCxn id="6379"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6379" name="Google Shape;6379;p80"/>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6381" name="Google Shape;6381;p80"/>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6382" name="Google Shape;6382;p80"/>
          <p:cNvGrpSpPr/>
          <p:nvPr/>
        </p:nvGrpSpPr>
        <p:grpSpPr>
          <a:xfrm>
            <a:off x="4333785" y="5772213"/>
            <a:ext cx="4395351" cy="404576"/>
            <a:chOff x="4333785" y="5772213"/>
            <a:chExt cx="4395351" cy="404576"/>
          </a:xfrm>
        </p:grpSpPr>
        <p:grpSp>
          <p:nvGrpSpPr>
            <p:cNvPr id="6383" name="Google Shape;6383;p80"/>
            <p:cNvGrpSpPr/>
            <p:nvPr/>
          </p:nvGrpSpPr>
          <p:grpSpPr>
            <a:xfrm>
              <a:off x="4333785" y="5772213"/>
              <a:ext cx="531821" cy="369069"/>
              <a:chOff x="1348328" y="2475647"/>
              <a:chExt cx="603916" cy="419100"/>
            </a:xfrm>
          </p:grpSpPr>
          <p:grpSp>
            <p:nvGrpSpPr>
              <p:cNvPr id="6384" name="Google Shape;6384;p80"/>
              <p:cNvGrpSpPr/>
              <p:nvPr/>
            </p:nvGrpSpPr>
            <p:grpSpPr>
              <a:xfrm>
                <a:off x="1348328" y="2555748"/>
                <a:ext cx="603916" cy="308999"/>
                <a:chOff x="5278570" y="2983486"/>
                <a:chExt cx="501650" cy="233363"/>
              </a:xfrm>
            </p:grpSpPr>
            <p:sp>
              <p:nvSpPr>
                <p:cNvPr id="6385" name="Google Shape;6385;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386" name="Google Shape;6386;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387" name="Google Shape;6387;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388" name="Google Shape;6388;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389" name="Google Shape;6389;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390" name="Google Shape;6390;p80"/>
              <p:cNvGrpSpPr/>
              <p:nvPr/>
            </p:nvGrpSpPr>
            <p:grpSpPr>
              <a:xfrm>
                <a:off x="1456374" y="2475647"/>
                <a:ext cx="355165" cy="419100"/>
                <a:chOff x="2944" y="2405"/>
                <a:chExt cx="227" cy="264"/>
              </a:xfrm>
            </p:grpSpPr>
            <p:sp>
              <p:nvSpPr>
                <p:cNvPr id="6391" name="Google Shape;6391;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392" name="Google Shape;6392;p80"/>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6393" name="Google Shape;6393;p80"/>
            <p:cNvGrpSpPr/>
            <p:nvPr/>
          </p:nvGrpSpPr>
          <p:grpSpPr>
            <a:xfrm>
              <a:off x="6263949" y="5807720"/>
              <a:ext cx="531821" cy="369069"/>
              <a:chOff x="1348328" y="2507397"/>
              <a:chExt cx="603916" cy="419100"/>
            </a:xfrm>
          </p:grpSpPr>
          <p:grpSp>
            <p:nvGrpSpPr>
              <p:cNvPr id="6394" name="Google Shape;6394;p80"/>
              <p:cNvGrpSpPr/>
              <p:nvPr/>
            </p:nvGrpSpPr>
            <p:grpSpPr>
              <a:xfrm>
                <a:off x="1348328" y="2555748"/>
                <a:ext cx="603916" cy="308999"/>
                <a:chOff x="5278570" y="2983486"/>
                <a:chExt cx="501650" cy="233363"/>
              </a:xfrm>
            </p:grpSpPr>
            <p:sp>
              <p:nvSpPr>
                <p:cNvPr id="6395" name="Google Shape;6395;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396" name="Google Shape;6396;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397" name="Google Shape;6397;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398" name="Google Shape;6398;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399" name="Google Shape;6399;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400" name="Google Shape;6400;p80"/>
              <p:cNvGrpSpPr/>
              <p:nvPr/>
            </p:nvGrpSpPr>
            <p:grpSpPr>
              <a:xfrm>
                <a:off x="1456374" y="2507397"/>
                <a:ext cx="355165" cy="419100"/>
                <a:chOff x="2944" y="2425"/>
                <a:chExt cx="227" cy="264"/>
              </a:xfrm>
            </p:grpSpPr>
            <p:sp>
              <p:nvSpPr>
                <p:cNvPr id="6401" name="Google Shape;6401;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402" name="Google Shape;6402;p80"/>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6403" name="Google Shape;6403;p80"/>
            <p:cNvGrpSpPr/>
            <p:nvPr/>
          </p:nvGrpSpPr>
          <p:grpSpPr>
            <a:xfrm>
              <a:off x="8197315" y="5805271"/>
              <a:ext cx="531821" cy="369069"/>
              <a:chOff x="1348328" y="2507397"/>
              <a:chExt cx="603916" cy="419100"/>
            </a:xfrm>
          </p:grpSpPr>
          <p:grpSp>
            <p:nvGrpSpPr>
              <p:cNvPr id="6404" name="Google Shape;6404;p80"/>
              <p:cNvGrpSpPr/>
              <p:nvPr/>
            </p:nvGrpSpPr>
            <p:grpSpPr>
              <a:xfrm>
                <a:off x="1348328" y="2555748"/>
                <a:ext cx="603916" cy="308999"/>
                <a:chOff x="5278570" y="2983486"/>
                <a:chExt cx="501650" cy="233363"/>
              </a:xfrm>
            </p:grpSpPr>
            <p:sp>
              <p:nvSpPr>
                <p:cNvPr id="6405" name="Google Shape;6405;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406" name="Google Shape;6406;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407" name="Google Shape;6407;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408" name="Google Shape;6408;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409" name="Google Shape;6409;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410" name="Google Shape;6410;p80"/>
              <p:cNvGrpSpPr/>
              <p:nvPr/>
            </p:nvGrpSpPr>
            <p:grpSpPr>
              <a:xfrm>
                <a:off x="1500196" y="2507397"/>
                <a:ext cx="267548" cy="419100"/>
                <a:chOff x="2972" y="2425"/>
                <a:chExt cx="171" cy="264"/>
              </a:xfrm>
            </p:grpSpPr>
            <p:sp>
              <p:nvSpPr>
                <p:cNvPr id="6411" name="Google Shape;6411;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412" name="Google Shape;6412;p80"/>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6413" name="Google Shape;6413;p80"/>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14" name="Google Shape;6414;p80"/>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15" name="Google Shape;6415;p80"/>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16" name="Google Shape;6416;p80"/>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17" name="Google Shape;6417;p80"/>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18" name="Google Shape;6418;p80"/>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19" name="Google Shape;6419;p80"/>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20" name="Google Shape;6420;p80"/>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21" name="Google Shape;6421;p80"/>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422" name="Google Shape;6422;p80"/>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6423" name="Google Shape;6423;p80"/>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grpSp>
        <p:nvGrpSpPr>
          <p:cNvPr id="6424" name="Google Shape;6424;p80"/>
          <p:cNvGrpSpPr/>
          <p:nvPr/>
        </p:nvGrpSpPr>
        <p:grpSpPr>
          <a:xfrm>
            <a:off x="584365" y="1859143"/>
            <a:ext cx="736099" cy="1229581"/>
            <a:chOff x="10030307" y="3444875"/>
            <a:chExt cx="736099" cy="1229581"/>
          </a:xfrm>
        </p:grpSpPr>
        <p:sp>
          <p:nvSpPr>
            <p:cNvPr id="6425" name="Google Shape;6425;p80"/>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t=1</a:t>
              </a:r>
              <a:endParaRPr/>
            </a:p>
          </p:txBody>
        </p:sp>
        <p:grpSp>
          <p:nvGrpSpPr>
            <p:cNvPr id="6426" name="Google Shape;6426;p80"/>
            <p:cNvGrpSpPr/>
            <p:nvPr/>
          </p:nvGrpSpPr>
          <p:grpSpPr>
            <a:xfrm>
              <a:off x="10034588" y="3444875"/>
              <a:ext cx="682627" cy="682625"/>
              <a:chOff x="10034589" y="3444875"/>
              <a:chExt cx="682627" cy="682625"/>
            </a:xfrm>
          </p:grpSpPr>
          <p:sp>
            <p:nvSpPr>
              <p:cNvPr id="6427" name="Google Shape;6427;p80"/>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6428" name="Google Shape;6428;p80"/>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429" name="Google Shape;6429;p80"/>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430" name="Google Shape;6430;p80"/>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431" name="Google Shape;6431;p80"/>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432" name="Google Shape;6432;p80"/>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433" name="Google Shape;6433;p80"/>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434" name="Google Shape;6434;p80"/>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435" name="Google Shape;6435;p80"/>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436" name="Google Shape;6436;p80"/>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437" name="Google Shape;6437;p80"/>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438" name="Google Shape;6438;p80"/>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439" name="Google Shape;6439;p80"/>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6440" name="Google Shape;6440;p80"/>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cxnSp>
        <p:nvCxnSpPr>
          <p:cNvPr id="6441" name="Google Shape;6441;p80"/>
          <p:cNvCxnSpPr/>
          <p:nvPr/>
        </p:nvCxnSpPr>
        <p:spPr>
          <a:xfrm>
            <a:off x="919556" y="1995948"/>
            <a:ext cx="0" cy="196031"/>
          </a:xfrm>
          <a:prstGeom prst="straightConnector1">
            <a:avLst/>
          </a:prstGeom>
          <a:noFill/>
          <a:ln cap="flat" cmpd="sng" w="25400">
            <a:solidFill>
              <a:srgbClr val="C00000"/>
            </a:solidFill>
            <a:prstDash val="solid"/>
            <a:miter lim="8000"/>
            <a:headEnd len="sm" w="sm" type="none"/>
            <a:tailEnd len="sm" w="sm" type="none"/>
          </a:ln>
        </p:spPr>
      </p:cxnSp>
      <p:sp>
        <p:nvSpPr>
          <p:cNvPr id="6442" name="Google Shape;6442;p80"/>
          <p:cNvSpPr/>
          <p:nvPr/>
        </p:nvSpPr>
        <p:spPr>
          <a:xfrm>
            <a:off x="6626942" y="275303"/>
            <a:ext cx="3038168" cy="629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443" name="Google Shape;6443;p80"/>
          <p:cNvGrpSpPr/>
          <p:nvPr/>
        </p:nvGrpSpPr>
        <p:grpSpPr>
          <a:xfrm>
            <a:off x="6656438" y="235974"/>
            <a:ext cx="2493133" cy="1917291"/>
            <a:chOff x="7010400" y="108155"/>
            <a:chExt cx="2493133" cy="1917291"/>
          </a:xfrm>
        </p:grpSpPr>
        <p:sp>
          <p:nvSpPr>
            <p:cNvPr id="6444" name="Google Shape;6444;p80"/>
            <p:cNvSpPr/>
            <p:nvPr/>
          </p:nvSpPr>
          <p:spPr>
            <a:xfrm>
              <a:off x="7010400" y="176982"/>
              <a:ext cx="2340077" cy="1848464"/>
            </a:xfrm>
            <a:custGeom>
              <a:rect b="b" l="l" r="r" t="t"/>
              <a:pathLst>
                <a:path extrusionOk="0" h="1848464" w="2340077">
                  <a:moveTo>
                    <a:pt x="0" y="1691148"/>
                  </a:moveTo>
                  <a:cubicBezTo>
                    <a:pt x="167148" y="1304412"/>
                    <a:pt x="285136" y="770193"/>
                    <a:pt x="383458" y="0"/>
                  </a:cubicBezTo>
                  <a:lnTo>
                    <a:pt x="2340077" y="1386348"/>
                  </a:lnTo>
                  <a:cubicBezTo>
                    <a:pt x="871794" y="1579716"/>
                    <a:pt x="740695" y="1645264"/>
                    <a:pt x="137651" y="1848464"/>
                  </a:cubicBezTo>
                  <a:lnTo>
                    <a:pt x="0" y="1691148"/>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445" name="Google Shape;6445;p80"/>
            <p:cNvGrpSpPr/>
            <p:nvPr/>
          </p:nvGrpSpPr>
          <p:grpSpPr>
            <a:xfrm>
              <a:off x="7323884" y="108155"/>
              <a:ext cx="2179649" cy="1445342"/>
              <a:chOff x="7323884" y="108155"/>
              <a:chExt cx="2179649" cy="1445342"/>
            </a:xfrm>
          </p:grpSpPr>
          <p:sp>
            <p:nvSpPr>
              <p:cNvPr id="6446" name="Google Shape;6446;p80"/>
              <p:cNvSpPr/>
              <p:nvPr/>
            </p:nvSpPr>
            <p:spPr>
              <a:xfrm>
                <a:off x="7413523" y="108155"/>
                <a:ext cx="1936954" cy="14355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447" name="Google Shape;6447;p80"/>
              <p:cNvGrpSpPr/>
              <p:nvPr/>
            </p:nvGrpSpPr>
            <p:grpSpPr>
              <a:xfrm>
                <a:off x="7323884" y="120836"/>
                <a:ext cx="2179649" cy="1432661"/>
                <a:chOff x="7323884" y="120836"/>
                <a:chExt cx="2179649" cy="1432661"/>
              </a:xfrm>
            </p:grpSpPr>
            <p:sp>
              <p:nvSpPr>
                <p:cNvPr id="6448" name="Google Shape;6448;p80"/>
                <p:cNvSpPr/>
                <p:nvPr/>
              </p:nvSpPr>
              <p:spPr>
                <a:xfrm>
                  <a:off x="7409951" y="124866"/>
                  <a:ext cx="1940525"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449" name="Google Shape;6449;p80"/>
                <p:cNvSpPr txBox="1"/>
                <p:nvPr/>
              </p:nvSpPr>
              <p:spPr>
                <a:xfrm>
                  <a:off x="7799764" y="120836"/>
                  <a:ext cx="111719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b:</a:t>
                  </a:r>
                  <a:endParaRPr/>
                </a:p>
              </p:txBody>
            </p:sp>
            <p:cxnSp>
              <p:nvCxnSpPr>
                <p:cNvPr id="6450" name="Google Shape;6450;p80"/>
                <p:cNvCxnSpPr/>
                <p:nvPr/>
              </p:nvCxnSpPr>
              <p:spPr>
                <a:xfrm>
                  <a:off x="7401895" y="49525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451" name="Google Shape;6451;p80"/>
                <p:cNvSpPr/>
                <p:nvPr/>
              </p:nvSpPr>
              <p:spPr>
                <a:xfrm>
                  <a:off x="7404189" y="124866"/>
                  <a:ext cx="1936455" cy="142863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452" name="Google Shape;6452;p80"/>
                <p:cNvSpPr txBox="1"/>
                <p:nvPr/>
              </p:nvSpPr>
              <p:spPr>
                <a:xfrm>
                  <a:off x="8392488" y="560500"/>
                  <a:ext cx="1111045"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(f)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(g)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(h)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sp>
              <p:nvSpPr>
                <p:cNvPr id="6453" name="Google Shape;6453;p80"/>
                <p:cNvSpPr txBox="1"/>
                <p:nvPr/>
              </p:nvSpPr>
              <p:spPr>
                <a:xfrm>
                  <a:off x="7323884" y="557387"/>
                  <a:ext cx="1117197" cy="978729"/>
                </a:xfrm>
                <a:prstGeom prst="rect">
                  <a:avLst/>
                </a:prstGeom>
                <a:noFill/>
                <a:ln>
                  <a:noFill/>
                </a:ln>
              </p:spPr>
              <p:txBody>
                <a:bodyPr anchorCtr="0" anchor="t" bIns="45700" lIns="91425" spcFirstLastPara="1" rIns="91425" wrap="square" tIns="45700">
                  <a:spAutoFit/>
                </a:bodyPr>
                <a:lstStyle/>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(a) = 8</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(c) = 1</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p:txBody>
            </p:sp>
          </p:grpSp>
        </p:grpSp>
      </p:grpSp>
      <p:sp>
        <p:nvSpPr>
          <p:cNvPr id="6454" name="Google Shape;6454;p80"/>
          <p:cNvSpPr txBox="1"/>
          <p:nvPr/>
        </p:nvSpPr>
        <p:spPr>
          <a:xfrm flipH="1">
            <a:off x="348626" y="3078991"/>
            <a:ext cx="2195814" cy="5909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c receives DVs from b</a:t>
            </a:r>
            <a:endParaRPr/>
          </a:p>
        </p:txBody>
      </p:sp>
      <p:sp>
        <p:nvSpPr>
          <p:cNvPr id="6455" name="Google Shape;6455;p80"/>
          <p:cNvSpPr/>
          <p:nvPr/>
        </p:nvSpPr>
        <p:spPr>
          <a:xfrm rot="-5400000">
            <a:off x="6346718" y="340688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456" name="Google Shape;6456;p80"/>
          <p:cNvSpPr/>
          <p:nvPr/>
        </p:nvSpPr>
        <p:spPr>
          <a:xfrm>
            <a:off x="4973224" y="193798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457" name="Google Shape;6457;p80"/>
          <p:cNvSpPr/>
          <p:nvPr/>
        </p:nvSpPr>
        <p:spPr>
          <a:xfrm rot="10800000">
            <a:off x="7631559" y="1919702"/>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458" name="Google Shape;6458;p80"/>
          <p:cNvGrpSpPr/>
          <p:nvPr/>
        </p:nvGrpSpPr>
        <p:grpSpPr>
          <a:xfrm>
            <a:off x="4333785" y="1906063"/>
            <a:ext cx="4395351" cy="404576"/>
            <a:chOff x="4333785" y="5772213"/>
            <a:chExt cx="4395351" cy="404576"/>
          </a:xfrm>
        </p:grpSpPr>
        <p:grpSp>
          <p:nvGrpSpPr>
            <p:cNvPr id="6459" name="Google Shape;6459;p80"/>
            <p:cNvGrpSpPr/>
            <p:nvPr/>
          </p:nvGrpSpPr>
          <p:grpSpPr>
            <a:xfrm>
              <a:off x="4333785" y="5772213"/>
              <a:ext cx="531821" cy="369069"/>
              <a:chOff x="1348328" y="2475647"/>
              <a:chExt cx="603916" cy="419100"/>
            </a:xfrm>
          </p:grpSpPr>
          <p:grpSp>
            <p:nvGrpSpPr>
              <p:cNvPr id="6460" name="Google Shape;6460;p80"/>
              <p:cNvGrpSpPr/>
              <p:nvPr/>
            </p:nvGrpSpPr>
            <p:grpSpPr>
              <a:xfrm>
                <a:off x="1348328" y="2555748"/>
                <a:ext cx="603916" cy="308999"/>
                <a:chOff x="5278570" y="2983486"/>
                <a:chExt cx="501650" cy="233363"/>
              </a:xfrm>
            </p:grpSpPr>
            <p:sp>
              <p:nvSpPr>
                <p:cNvPr id="6461" name="Google Shape;6461;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462" name="Google Shape;6462;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463" name="Google Shape;6463;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464" name="Google Shape;6464;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465" name="Google Shape;6465;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466" name="Google Shape;6466;p80"/>
              <p:cNvGrpSpPr/>
              <p:nvPr/>
            </p:nvGrpSpPr>
            <p:grpSpPr>
              <a:xfrm>
                <a:off x="1456374" y="2475647"/>
                <a:ext cx="355165" cy="419100"/>
                <a:chOff x="2944" y="2405"/>
                <a:chExt cx="227" cy="264"/>
              </a:xfrm>
            </p:grpSpPr>
            <p:sp>
              <p:nvSpPr>
                <p:cNvPr id="6467" name="Google Shape;6467;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468" name="Google Shape;6468;p80"/>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6469" name="Google Shape;6469;p80"/>
            <p:cNvGrpSpPr/>
            <p:nvPr/>
          </p:nvGrpSpPr>
          <p:grpSpPr>
            <a:xfrm>
              <a:off x="6263949" y="5807720"/>
              <a:ext cx="531821" cy="369069"/>
              <a:chOff x="1348328" y="2507397"/>
              <a:chExt cx="603916" cy="419100"/>
            </a:xfrm>
          </p:grpSpPr>
          <p:grpSp>
            <p:nvGrpSpPr>
              <p:cNvPr id="6470" name="Google Shape;6470;p80"/>
              <p:cNvGrpSpPr/>
              <p:nvPr/>
            </p:nvGrpSpPr>
            <p:grpSpPr>
              <a:xfrm>
                <a:off x="1348328" y="2555748"/>
                <a:ext cx="603916" cy="308999"/>
                <a:chOff x="5278570" y="2983486"/>
                <a:chExt cx="501650" cy="233363"/>
              </a:xfrm>
            </p:grpSpPr>
            <p:sp>
              <p:nvSpPr>
                <p:cNvPr id="6471" name="Google Shape;6471;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472" name="Google Shape;6472;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473" name="Google Shape;6473;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474" name="Google Shape;6474;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475" name="Google Shape;6475;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476" name="Google Shape;6476;p80"/>
              <p:cNvGrpSpPr/>
              <p:nvPr/>
            </p:nvGrpSpPr>
            <p:grpSpPr>
              <a:xfrm>
                <a:off x="1456374" y="2507397"/>
                <a:ext cx="355165" cy="419100"/>
                <a:chOff x="2944" y="2425"/>
                <a:chExt cx="227" cy="264"/>
              </a:xfrm>
            </p:grpSpPr>
            <p:sp>
              <p:nvSpPr>
                <p:cNvPr id="6477" name="Google Shape;6477;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478" name="Google Shape;6478;p80"/>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6479" name="Google Shape;6479;p80"/>
            <p:cNvGrpSpPr/>
            <p:nvPr/>
          </p:nvGrpSpPr>
          <p:grpSpPr>
            <a:xfrm>
              <a:off x="8197315" y="5805271"/>
              <a:ext cx="531821" cy="369069"/>
              <a:chOff x="1348328" y="2507397"/>
              <a:chExt cx="603916" cy="419100"/>
            </a:xfrm>
          </p:grpSpPr>
          <p:grpSp>
            <p:nvGrpSpPr>
              <p:cNvPr id="6480" name="Google Shape;6480;p80"/>
              <p:cNvGrpSpPr/>
              <p:nvPr/>
            </p:nvGrpSpPr>
            <p:grpSpPr>
              <a:xfrm>
                <a:off x="1348328" y="2555748"/>
                <a:ext cx="603916" cy="308999"/>
                <a:chOff x="5278570" y="2983486"/>
                <a:chExt cx="501650" cy="233363"/>
              </a:xfrm>
            </p:grpSpPr>
            <p:sp>
              <p:nvSpPr>
                <p:cNvPr id="6481" name="Google Shape;6481;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482" name="Google Shape;6482;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483" name="Google Shape;6483;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484" name="Google Shape;6484;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485" name="Google Shape;6485;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486" name="Google Shape;6486;p80"/>
              <p:cNvGrpSpPr/>
              <p:nvPr/>
            </p:nvGrpSpPr>
            <p:grpSpPr>
              <a:xfrm>
                <a:off x="1464216" y="2507397"/>
                <a:ext cx="341085" cy="419100"/>
                <a:chOff x="2949" y="2425"/>
                <a:chExt cx="218" cy="264"/>
              </a:xfrm>
            </p:grpSpPr>
            <p:sp>
              <p:nvSpPr>
                <p:cNvPr id="6487" name="Google Shape;6487;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488" name="Google Shape;6488;p80"/>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grpSp>
        <p:nvGrpSpPr>
          <p:cNvPr id="6489" name="Google Shape;6489;p80"/>
          <p:cNvGrpSpPr/>
          <p:nvPr/>
        </p:nvGrpSpPr>
        <p:grpSpPr>
          <a:xfrm>
            <a:off x="4336458" y="3833790"/>
            <a:ext cx="4395351" cy="404576"/>
            <a:chOff x="4333785" y="5772213"/>
            <a:chExt cx="4395351" cy="404576"/>
          </a:xfrm>
        </p:grpSpPr>
        <p:grpSp>
          <p:nvGrpSpPr>
            <p:cNvPr id="6490" name="Google Shape;6490;p80"/>
            <p:cNvGrpSpPr/>
            <p:nvPr/>
          </p:nvGrpSpPr>
          <p:grpSpPr>
            <a:xfrm>
              <a:off x="4333785" y="5772213"/>
              <a:ext cx="531821" cy="369069"/>
              <a:chOff x="1348328" y="2475647"/>
              <a:chExt cx="603916" cy="419100"/>
            </a:xfrm>
          </p:grpSpPr>
          <p:grpSp>
            <p:nvGrpSpPr>
              <p:cNvPr id="6491" name="Google Shape;6491;p80"/>
              <p:cNvGrpSpPr/>
              <p:nvPr/>
            </p:nvGrpSpPr>
            <p:grpSpPr>
              <a:xfrm>
                <a:off x="1348328" y="2555748"/>
                <a:ext cx="603916" cy="308999"/>
                <a:chOff x="5278570" y="2983486"/>
                <a:chExt cx="501650" cy="233363"/>
              </a:xfrm>
            </p:grpSpPr>
            <p:sp>
              <p:nvSpPr>
                <p:cNvPr id="6492" name="Google Shape;6492;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493" name="Google Shape;6493;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494" name="Google Shape;6494;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495" name="Google Shape;6495;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496" name="Google Shape;6496;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497" name="Google Shape;6497;p80"/>
              <p:cNvGrpSpPr/>
              <p:nvPr/>
            </p:nvGrpSpPr>
            <p:grpSpPr>
              <a:xfrm>
                <a:off x="1456374" y="2475647"/>
                <a:ext cx="355165" cy="419100"/>
                <a:chOff x="2944" y="2405"/>
                <a:chExt cx="227" cy="264"/>
              </a:xfrm>
            </p:grpSpPr>
            <p:sp>
              <p:nvSpPr>
                <p:cNvPr id="6498" name="Google Shape;6498;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499" name="Google Shape;6499;p80"/>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6500" name="Google Shape;6500;p80"/>
            <p:cNvGrpSpPr/>
            <p:nvPr/>
          </p:nvGrpSpPr>
          <p:grpSpPr>
            <a:xfrm>
              <a:off x="6263949" y="5807720"/>
              <a:ext cx="531821" cy="369069"/>
              <a:chOff x="1348328" y="2507397"/>
              <a:chExt cx="603916" cy="419100"/>
            </a:xfrm>
          </p:grpSpPr>
          <p:grpSp>
            <p:nvGrpSpPr>
              <p:cNvPr id="6501" name="Google Shape;6501;p80"/>
              <p:cNvGrpSpPr/>
              <p:nvPr/>
            </p:nvGrpSpPr>
            <p:grpSpPr>
              <a:xfrm>
                <a:off x="1348328" y="2555748"/>
                <a:ext cx="603916" cy="308999"/>
                <a:chOff x="5278570" y="2983486"/>
                <a:chExt cx="501650" cy="233363"/>
              </a:xfrm>
            </p:grpSpPr>
            <p:sp>
              <p:nvSpPr>
                <p:cNvPr id="6502" name="Google Shape;6502;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503" name="Google Shape;6503;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504" name="Google Shape;6504;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505" name="Google Shape;6505;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506" name="Google Shape;6506;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507" name="Google Shape;6507;p80"/>
              <p:cNvGrpSpPr/>
              <p:nvPr/>
            </p:nvGrpSpPr>
            <p:grpSpPr>
              <a:xfrm>
                <a:off x="1456374" y="2507397"/>
                <a:ext cx="355165" cy="419100"/>
                <a:chOff x="2944" y="2425"/>
                <a:chExt cx="227" cy="264"/>
              </a:xfrm>
            </p:grpSpPr>
            <p:sp>
              <p:nvSpPr>
                <p:cNvPr id="6508" name="Google Shape;6508;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509" name="Google Shape;6509;p80"/>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6510" name="Google Shape;6510;p80"/>
            <p:cNvGrpSpPr/>
            <p:nvPr/>
          </p:nvGrpSpPr>
          <p:grpSpPr>
            <a:xfrm>
              <a:off x="8197315" y="5805271"/>
              <a:ext cx="531821" cy="369069"/>
              <a:chOff x="1348328" y="2507397"/>
              <a:chExt cx="603916" cy="419100"/>
            </a:xfrm>
          </p:grpSpPr>
          <p:grpSp>
            <p:nvGrpSpPr>
              <p:cNvPr id="6511" name="Google Shape;6511;p80"/>
              <p:cNvGrpSpPr/>
              <p:nvPr/>
            </p:nvGrpSpPr>
            <p:grpSpPr>
              <a:xfrm>
                <a:off x="1348328" y="2555748"/>
                <a:ext cx="603916" cy="308999"/>
                <a:chOff x="5278570" y="2983486"/>
                <a:chExt cx="501650" cy="233363"/>
              </a:xfrm>
            </p:grpSpPr>
            <p:sp>
              <p:nvSpPr>
                <p:cNvPr id="6512" name="Google Shape;6512;p80"/>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513" name="Google Shape;6513;p80"/>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514" name="Google Shape;6514;p80"/>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515" name="Google Shape;6515;p80"/>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516" name="Google Shape;6516;p80"/>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517" name="Google Shape;6517;p80"/>
              <p:cNvGrpSpPr/>
              <p:nvPr/>
            </p:nvGrpSpPr>
            <p:grpSpPr>
              <a:xfrm>
                <a:off x="1492372" y="2507397"/>
                <a:ext cx="283194" cy="419100"/>
                <a:chOff x="2967" y="2425"/>
                <a:chExt cx="181" cy="264"/>
              </a:xfrm>
            </p:grpSpPr>
            <p:sp>
              <p:nvSpPr>
                <p:cNvPr id="6518" name="Google Shape;6518;p80"/>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519" name="Google Shape;6519;p80"/>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6520" name="Google Shape;6520;p80"/>
          <p:cNvGrpSpPr/>
          <p:nvPr/>
        </p:nvGrpSpPr>
        <p:grpSpPr>
          <a:xfrm>
            <a:off x="8740877" y="219997"/>
            <a:ext cx="2045109" cy="2667397"/>
            <a:chOff x="8740877" y="219997"/>
            <a:chExt cx="2045109" cy="2667397"/>
          </a:xfrm>
        </p:grpSpPr>
        <p:sp>
          <p:nvSpPr>
            <p:cNvPr id="6521" name="Google Shape;6521;p80"/>
            <p:cNvSpPr/>
            <p:nvPr/>
          </p:nvSpPr>
          <p:spPr>
            <a:xfrm>
              <a:off x="8740877" y="247036"/>
              <a:ext cx="924232" cy="2428567"/>
            </a:xfrm>
            <a:custGeom>
              <a:rect b="b" l="l" r="r" t="t"/>
              <a:pathLst>
                <a:path extrusionOk="0" h="2428567" w="1170039">
                  <a:moveTo>
                    <a:pt x="1" y="1809135"/>
                  </a:moveTo>
                  <a:cubicBezTo>
                    <a:pt x="353962" y="1681316"/>
                    <a:pt x="875071" y="865238"/>
                    <a:pt x="1160207" y="0"/>
                  </a:cubicBezTo>
                  <a:cubicBezTo>
                    <a:pt x="1163484" y="809522"/>
                    <a:pt x="1166762" y="1619045"/>
                    <a:pt x="1170039" y="2428567"/>
                  </a:cubicBezTo>
                  <a:cubicBezTo>
                    <a:pt x="819356" y="2058219"/>
                    <a:pt x="714478" y="2090992"/>
                    <a:pt x="0" y="1946786"/>
                  </a:cubicBezTo>
                  <a:cubicBezTo>
                    <a:pt x="0" y="1900902"/>
                    <a:pt x="1" y="1855019"/>
                    <a:pt x="1" y="1809135"/>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522" name="Google Shape;6522;p80"/>
            <p:cNvGrpSpPr/>
            <p:nvPr/>
          </p:nvGrpSpPr>
          <p:grpSpPr>
            <a:xfrm>
              <a:off x="9636528" y="219997"/>
              <a:ext cx="1149458" cy="2667397"/>
              <a:chOff x="9764348" y="1447800"/>
              <a:chExt cx="1149458" cy="2667397"/>
            </a:xfrm>
          </p:grpSpPr>
          <p:sp>
            <p:nvSpPr>
              <p:cNvPr id="6523" name="Google Shape;6523;p80"/>
              <p:cNvSpPr/>
              <p:nvPr/>
            </p:nvSpPr>
            <p:spPr>
              <a:xfrm>
                <a:off x="9783097" y="1447800"/>
                <a:ext cx="1130709" cy="24261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524" name="Google Shape;6524;p80"/>
              <p:cNvGrpSpPr/>
              <p:nvPr/>
            </p:nvGrpSpPr>
            <p:grpSpPr>
              <a:xfrm>
                <a:off x="9764348" y="1447800"/>
                <a:ext cx="1130291" cy="2667397"/>
                <a:chOff x="9472119" y="702026"/>
                <a:chExt cx="1130291" cy="2667397"/>
              </a:xfrm>
            </p:grpSpPr>
            <p:sp>
              <p:nvSpPr>
                <p:cNvPr id="6525" name="Google Shape;6525;p80"/>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526" name="Google Shape;6526;p80"/>
                <p:cNvSpPr txBox="1"/>
                <p:nvPr/>
              </p:nvSpPr>
              <p:spPr>
                <a:xfrm>
                  <a:off x="9472119" y="702026"/>
                  <a:ext cx="1088020"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c:</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(b)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(c)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(e)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(f)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(h) = ∞</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527" name="Google Shape;6527;p80"/>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528" name="Google Shape;6528;p80"/>
                <p:cNvSpPr/>
                <p:nvPr/>
              </p:nvSpPr>
              <p:spPr>
                <a:xfrm>
                  <a:off x="9479666" y="706055"/>
                  <a:ext cx="1122744" cy="262077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sp>
        <p:nvSpPr>
          <p:cNvPr id="6529" name="Google Shape;6529;p80"/>
          <p:cNvSpPr/>
          <p:nvPr/>
        </p:nvSpPr>
        <p:spPr>
          <a:xfrm>
            <a:off x="6794417" y="3016538"/>
            <a:ext cx="2889702" cy="2634390"/>
          </a:xfrm>
          <a:custGeom>
            <a:rect b="b" l="l" r="r" t="t"/>
            <a:pathLst>
              <a:path extrusionOk="0" h="2634390" w="2889702">
                <a:moveTo>
                  <a:pt x="10817" y="896701"/>
                </a:moveTo>
                <a:cubicBezTo>
                  <a:pt x="1751126" y="516521"/>
                  <a:pt x="1777345" y="533564"/>
                  <a:pt x="2869381" y="0"/>
                </a:cubicBezTo>
                <a:cubicBezTo>
                  <a:pt x="2869381" y="783303"/>
                  <a:pt x="2889702" y="1851087"/>
                  <a:pt x="2889702" y="2634390"/>
                </a:cubicBezTo>
                <a:cubicBezTo>
                  <a:pt x="2630785" y="598784"/>
                  <a:pt x="2043143" y="642374"/>
                  <a:pt x="0" y="1094330"/>
                </a:cubicBezTo>
                <a:lnTo>
                  <a:pt x="10817" y="896701"/>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530" name="Google Shape;6530;p80"/>
          <p:cNvGrpSpPr/>
          <p:nvPr/>
        </p:nvGrpSpPr>
        <p:grpSpPr>
          <a:xfrm>
            <a:off x="9654637" y="3018176"/>
            <a:ext cx="1131350" cy="2675039"/>
            <a:chOff x="9762792" y="4031226"/>
            <a:chExt cx="1131350" cy="2675039"/>
          </a:xfrm>
        </p:grpSpPr>
        <p:sp>
          <p:nvSpPr>
            <p:cNvPr id="6531" name="Google Shape;6531;p80"/>
            <p:cNvSpPr/>
            <p:nvPr/>
          </p:nvSpPr>
          <p:spPr>
            <a:xfrm>
              <a:off x="9792929" y="4031226"/>
              <a:ext cx="1101213" cy="238923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532" name="Google Shape;6532;p80"/>
            <p:cNvGrpSpPr/>
            <p:nvPr/>
          </p:nvGrpSpPr>
          <p:grpSpPr>
            <a:xfrm>
              <a:off x="9762792" y="4038868"/>
              <a:ext cx="1130292" cy="2667397"/>
              <a:chOff x="9472118" y="702026"/>
              <a:chExt cx="1130292" cy="2667397"/>
            </a:xfrm>
          </p:grpSpPr>
          <p:sp>
            <p:nvSpPr>
              <p:cNvPr id="6533" name="Google Shape;6533;p80"/>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534" name="Google Shape;6534;p80"/>
              <p:cNvSpPr txBox="1"/>
              <p:nvPr/>
            </p:nvSpPr>
            <p:spPr>
              <a:xfrm>
                <a:off x="9472118" y="702026"/>
                <a:ext cx="1117197"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e:</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(b)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(c)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(d)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(e)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(f)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(h) = 1</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535" name="Google Shape;6535;p80"/>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536" name="Google Shape;6536;p80"/>
              <p:cNvSpPr/>
              <p:nvPr/>
            </p:nvSpPr>
            <p:spPr>
              <a:xfrm>
                <a:off x="9479666" y="706055"/>
                <a:ext cx="1122744" cy="261911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sp>
        <p:nvSpPr>
          <p:cNvPr id="6537" name="Google Shape;6537;p80"/>
          <p:cNvSpPr/>
          <p:nvPr/>
        </p:nvSpPr>
        <p:spPr>
          <a:xfrm>
            <a:off x="6977380" y="192782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54"/>
                                        </p:tgtEl>
                                        <p:attrNameLst>
                                          <p:attrName>style.visibility</p:attrName>
                                        </p:attrNameLst>
                                      </p:cBhvr>
                                      <p:to>
                                        <p:strVal val="visible"/>
                                      </p:to>
                                    </p:set>
                                    <p:animEffect filter="fade" transition="in">
                                      <p:cBhvr>
                                        <p:cTn dur="500"/>
                                        <p:tgtEl>
                                          <p:spTgt spid="6454"/>
                                        </p:tgtEl>
                                      </p:cBhvr>
                                    </p:animEffect>
                                  </p:childTnLst>
                                </p:cTn>
                              </p:par>
                              <p:par>
                                <p:cTn fill="hold" nodeType="withEffect" presetClass="exit" presetID="10" presetSubtype="0">
                                  <p:stCondLst>
                                    <p:cond delay="0"/>
                                  </p:stCondLst>
                                  <p:childTnLst>
                                    <p:animEffect filter="fade" transition="out">
                                      <p:cBhvr>
                                        <p:cTn dur="500"/>
                                        <p:tgtEl>
                                          <p:spTgt spid="6456"/>
                                        </p:tgtEl>
                                      </p:cBhvr>
                                    </p:animEffect>
                                    <p:set>
                                      <p:cBhvr>
                                        <p:cTn dur="1" fill="hold">
                                          <p:stCondLst>
                                            <p:cond delay="500"/>
                                          </p:stCondLst>
                                        </p:cTn>
                                        <p:tgtEl>
                                          <p:spTgt spid="645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367"/>
                                        </p:tgtEl>
                                      </p:cBhvr>
                                    </p:animEffect>
                                    <p:set>
                                      <p:cBhvr>
                                        <p:cTn dur="1" fill="hold">
                                          <p:stCondLst>
                                            <p:cond delay="500"/>
                                          </p:stCondLst>
                                        </p:cTn>
                                        <p:tgtEl>
                                          <p:spTgt spid="636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30"/>
                                        </p:tgtEl>
                                      </p:cBhvr>
                                    </p:animEffect>
                                    <p:set>
                                      <p:cBhvr>
                                        <p:cTn dur="1" fill="hold">
                                          <p:stCondLst>
                                            <p:cond delay="500"/>
                                          </p:stCondLst>
                                        </p:cTn>
                                        <p:tgtEl>
                                          <p:spTgt spid="653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455"/>
                                        </p:tgtEl>
                                      </p:cBhvr>
                                    </p:animEffect>
                                    <p:set>
                                      <p:cBhvr>
                                        <p:cTn dur="1" fill="hold">
                                          <p:stCondLst>
                                            <p:cond delay="500"/>
                                          </p:stCondLst>
                                        </p:cTn>
                                        <p:tgtEl>
                                          <p:spTgt spid="645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457"/>
                                        </p:tgtEl>
                                      </p:cBhvr>
                                    </p:animEffect>
                                    <p:set>
                                      <p:cBhvr>
                                        <p:cTn dur="1" fill="hold">
                                          <p:stCondLst>
                                            <p:cond delay="500"/>
                                          </p:stCondLst>
                                        </p:cTn>
                                        <p:tgtEl>
                                          <p:spTgt spid="645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537"/>
                                        </p:tgtEl>
                                        <p:attrNameLst>
                                          <p:attrName>style.visibility</p:attrName>
                                        </p:attrNameLst>
                                      </p:cBhvr>
                                      <p:to>
                                        <p:strVal val="visible"/>
                                      </p:to>
                                    </p:set>
                                    <p:animEffect filter="fade" transition="in">
                                      <p:cBhvr>
                                        <p:cTn dur="500"/>
                                        <p:tgtEl>
                                          <p:spTgt spid="6537"/>
                                        </p:tgtEl>
                                      </p:cBhvr>
                                    </p:animEffect>
                                  </p:childTnLst>
                                </p:cTn>
                              </p:par>
                              <p:par>
                                <p:cTn fill="hold" nodeType="withEffect" presetClass="exit" presetID="10" presetSubtype="0">
                                  <p:stCondLst>
                                    <p:cond delay="0"/>
                                  </p:stCondLst>
                                  <p:childTnLst>
                                    <p:animEffect filter="fade" transition="out">
                                      <p:cBhvr>
                                        <p:cTn dur="500"/>
                                        <p:tgtEl>
                                          <p:spTgt spid="6529"/>
                                        </p:tgtEl>
                                      </p:cBhvr>
                                    </p:animEffect>
                                    <p:set>
                                      <p:cBhvr>
                                        <p:cTn dur="1" fill="hold">
                                          <p:stCondLst>
                                            <p:cond delay="500"/>
                                          </p:stCondLst>
                                        </p:cTn>
                                        <p:tgtEl>
                                          <p:spTgt spid="652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2" name="Shape 6542"/>
        <p:cNvGrpSpPr/>
        <p:nvPr/>
      </p:nvGrpSpPr>
      <p:grpSpPr>
        <a:xfrm>
          <a:off x="0" y="0"/>
          <a:ext cx="0" cy="0"/>
          <a:chOff x="0" y="0"/>
          <a:chExt cx="0" cy="0"/>
        </a:xfrm>
      </p:grpSpPr>
      <p:sp>
        <p:nvSpPr>
          <p:cNvPr id="6543" name="Google Shape;6543;p81"/>
          <p:cNvSpPr txBox="1"/>
          <p:nvPr>
            <p:ph type="title"/>
          </p:nvPr>
        </p:nvSpPr>
        <p:spPr>
          <a:xfrm>
            <a:off x="826624" y="174028"/>
            <a:ext cx="10893427"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 computation</a:t>
            </a:r>
            <a:endParaRPr/>
          </a:p>
        </p:txBody>
      </p:sp>
      <p:sp>
        <p:nvSpPr>
          <p:cNvPr id="6544" name="Google Shape;6544;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6545" name="Google Shape;6545;p81"/>
          <p:cNvCxnSpPr>
            <a:stCxn id="6546" idx="2"/>
            <a:endCxn id="6546"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6547" name="Google Shape;6547;p81"/>
          <p:cNvCxnSpPr>
            <a:stCxn id="6546" idx="1"/>
            <a:endCxn id="6546"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6546" name="Google Shape;6546;p81"/>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6548" name="Google Shape;6548;p81"/>
          <p:cNvSpPr/>
          <p:nvPr/>
        </p:nvSpPr>
        <p:spPr>
          <a:xfrm>
            <a:off x="8380337" y="222079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grpSp>
        <p:nvGrpSpPr>
          <p:cNvPr id="6549" name="Google Shape;6549;p81"/>
          <p:cNvGrpSpPr/>
          <p:nvPr/>
        </p:nvGrpSpPr>
        <p:grpSpPr>
          <a:xfrm>
            <a:off x="4333785" y="5772213"/>
            <a:ext cx="4395351" cy="404576"/>
            <a:chOff x="4333785" y="5772213"/>
            <a:chExt cx="4395351" cy="404576"/>
          </a:xfrm>
        </p:grpSpPr>
        <p:grpSp>
          <p:nvGrpSpPr>
            <p:cNvPr id="6550" name="Google Shape;6550;p81"/>
            <p:cNvGrpSpPr/>
            <p:nvPr/>
          </p:nvGrpSpPr>
          <p:grpSpPr>
            <a:xfrm>
              <a:off x="4333785" y="5772213"/>
              <a:ext cx="531821" cy="369069"/>
              <a:chOff x="1348328" y="2475647"/>
              <a:chExt cx="603916" cy="419100"/>
            </a:xfrm>
          </p:grpSpPr>
          <p:grpSp>
            <p:nvGrpSpPr>
              <p:cNvPr id="6551" name="Google Shape;6551;p81"/>
              <p:cNvGrpSpPr/>
              <p:nvPr/>
            </p:nvGrpSpPr>
            <p:grpSpPr>
              <a:xfrm>
                <a:off x="1348328" y="2555748"/>
                <a:ext cx="603916" cy="308999"/>
                <a:chOff x="5278570" y="2983486"/>
                <a:chExt cx="501650" cy="233363"/>
              </a:xfrm>
            </p:grpSpPr>
            <p:sp>
              <p:nvSpPr>
                <p:cNvPr id="6552" name="Google Shape;6552;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553" name="Google Shape;6553;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554" name="Google Shape;6554;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555" name="Google Shape;6555;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556" name="Google Shape;6556;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557" name="Google Shape;6557;p81"/>
              <p:cNvGrpSpPr/>
              <p:nvPr/>
            </p:nvGrpSpPr>
            <p:grpSpPr>
              <a:xfrm>
                <a:off x="1456374" y="2475647"/>
                <a:ext cx="355165" cy="419100"/>
                <a:chOff x="2944" y="2405"/>
                <a:chExt cx="227" cy="264"/>
              </a:xfrm>
            </p:grpSpPr>
            <p:sp>
              <p:nvSpPr>
                <p:cNvPr id="6558" name="Google Shape;6558;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559" name="Google Shape;6559;p81"/>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6560" name="Google Shape;6560;p81"/>
            <p:cNvGrpSpPr/>
            <p:nvPr/>
          </p:nvGrpSpPr>
          <p:grpSpPr>
            <a:xfrm>
              <a:off x="6263949" y="5807720"/>
              <a:ext cx="531821" cy="369069"/>
              <a:chOff x="1348328" y="2507397"/>
              <a:chExt cx="603916" cy="419100"/>
            </a:xfrm>
          </p:grpSpPr>
          <p:grpSp>
            <p:nvGrpSpPr>
              <p:cNvPr id="6561" name="Google Shape;6561;p81"/>
              <p:cNvGrpSpPr/>
              <p:nvPr/>
            </p:nvGrpSpPr>
            <p:grpSpPr>
              <a:xfrm>
                <a:off x="1348328" y="2555748"/>
                <a:ext cx="603916" cy="308999"/>
                <a:chOff x="5278570" y="2983486"/>
                <a:chExt cx="501650" cy="233363"/>
              </a:xfrm>
            </p:grpSpPr>
            <p:sp>
              <p:nvSpPr>
                <p:cNvPr id="6562" name="Google Shape;6562;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563" name="Google Shape;6563;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564" name="Google Shape;6564;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565" name="Google Shape;6565;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566" name="Google Shape;6566;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567" name="Google Shape;6567;p81"/>
              <p:cNvGrpSpPr/>
              <p:nvPr/>
            </p:nvGrpSpPr>
            <p:grpSpPr>
              <a:xfrm>
                <a:off x="1456374" y="2507397"/>
                <a:ext cx="355165" cy="419100"/>
                <a:chOff x="2944" y="2425"/>
                <a:chExt cx="227" cy="264"/>
              </a:xfrm>
            </p:grpSpPr>
            <p:sp>
              <p:nvSpPr>
                <p:cNvPr id="6568" name="Google Shape;6568;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569" name="Google Shape;6569;p81"/>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6570" name="Google Shape;6570;p81"/>
            <p:cNvGrpSpPr/>
            <p:nvPr/>
          </p:nvGrpSpPr>
          <p:grpSpPr>
            <a:xfrm>
              <a:off x="8197315" y="5805271"/>
              <a:ext cx="531821" cy="369069"/>
              <a:chOff x="1348328" y="2507397"/>
              <a:chExt cx="603916" cy="419100"/>
            </a:xfrm>
          </p:grpSpPr>
          <p:grpSp>
            <p:nvGrpSpPr>
              <p:cNvPr id="6571" name="Google Shape;6571;p81"/>
              <p:cNvGrpSpPr/>
              <p:nvPr/>
            </p:nvGrpSpPr>
            <p:grpSpPr>
              <a:xfrm>
                <a:off x="1348328" y="2555748"/>
                <a:ext cx="603916" cy="308999"/>
                <a:chOff x="5278570" y="2983486"/>
                <a:chExt cx="501650" cy="233363"/>
              </a:xfrm>
            </p:grpSpPr>
            <p:sp>
              <p:nvSpPr>
                <p:cNvPr id="6572" name="Google Shape;6572;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573" name="Google Shape;6573;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574" name="Google Shape;6574;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575" name="Google Shape;6575;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576" name="Google Shape;6576;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577" name="Google Shape;6577;p81"/>
              <p:cNvGrpSpPr/>
              <p:nvPr/>
            </p:nvGrpSpPr>
            <p:grpSpPr>
              <a:xfrm>
                <a:off x="1500196" y="2507397"/>
                <a:ext cx="267548" cy="419100"/>
                <a:chOff x="2972" y="2425"/>
                <a:chExt cx="171" cy="264"/>
              </a:xfrm>
            </p:grpSpPr>
            <p:sp>
              <p:nvSpPr>
                <p:cNvPr id="6578" name="Google Shape;6578;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579" name="Google Shape;6579;p81"/>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6580" name="Google Shape;6580;p81"/>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581" name="Google Shape;6581;p81"/>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582" name="Google Shape;6582;p81"/>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6583" name="Google Shape;6583;p81"/>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grpSp>
        <p:nvGrpSpPr>
          <p:cNvPr id="6584" name="Google Shape;6584;p81"/>
          <p:cNvGrpSpPr/>
          <p:nvPr/>
        </p:nvGrpSpPr>
        <p:grpSpPr>
          <a:xfrm>
            <a:off x="584365" y="1859143"/>
            <a:ext cx="736099" cy="1229581"/>
            <a:chOff x="10030307" y="3444875"/>
            <a:chExt cx="736099" cy="1229581"/>
          </a:xfrm>
        </p:grpSpPr>
        <p:sp>
          <p:nvSpPr>
            <p:cNvPr id="6585" name="Google Shape;6585;p81"/>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t=1</a:t>
              </a:r>
              <a:endParaRPr/>
            </a:p>
          </p:txBody>
        </p:sp>
        <p:grpSp>
          <p:nvGrpSpPr>
            <p:cNvPr id="6586" name="Google Shape;6586;p81"/>
            <p:cNvGrpSpPr/>
            <p:nvPr/>
          </p:nvGrpSpPr>
          <p:grpSpPr>
            <a:xfrm>
              <a:off x="10034588" y="3444875"/>
              <a:ext cx="682627" cy="682625"/>
              <a:chOff x="10034589" y="3444875"/>
              <a:chExt cx="682627" cy="682625"/>
            </a:xfrm>
          </p:grpSpPr>
          <p:sp>
            <p:nvSpPr>
              <p:cNvPr id="6587" name="Google Shape;6587;p81"/>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6588" name="Google Shape;6588;p81"/>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589" name="Google Shape;6589;p81"/>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590" name="Google Shape;6590;p81"/>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591" name="Google Shape;6591;p81"/>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592" name="Google Shape;6592;p81"/>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593" name="Google Shape;6593;p81"/>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594" name="Google Shape;6594;p81"/>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595" name="Google Shape;6595;p81"/>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596" name="Google Shape;6596;p81"/>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597" name="Google Shape;6597;p81"/>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598" name="Google Shape;6598;p81"/>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599" name="Google Shape;6599;p81"/>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6600" name="Google Shape;6600;p81"/>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cxnSp>
        <p:nvCxnSpPr>
          <p:cNvPr id="6601" name="Google Shape;6601;p81"/>
          <p:cNvCxnSpPr/>
          <p:nvPr/>
        </p:nvCxnSpPr>
        <p:spPr>
          <a:xfrm>
            <a:off x="919556" y="1995948"/>
            <a:ext cx="0" cy="196031"/>
          </a:xfrm>
          <a:prstGeom prst="straightConnector1">
            <a:avLst/>
          </a:prstGeom>
          <a:noFill/>
          <a:ln cap="flat" cmpd="sng" w="25400">
            <a:solidFill>
              <a:srgbClr val="C00000"/>
            </a:solidFill>
            <a:prstDash val="solid"/>
            <a:miter lim="8000"/>
            <a:headEnd len="sm" w="sm" type="none"/>
            <a:tailEnd len="sm" w="sm" type="none"/>
          </a:ln>
        </p:spPr>
      </p:cxnSp>
      <p:sp>
        <p:nvSpPr>
          <p:cNvPr id="6602" name="Google Shape;6602;p81"/>
          <p:cNvSpPr/>
          <p:nvPr/>
        </p:nvSpPr>
        <p:spPr>
          <a:xfrm>
            <a:off x="6626942" y="275303"/>
            <a:ext cx="3038168" cy="629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603" name="Google Shape;6603;p81"/>
          <p:cNvGrpSpPr/>
          <p:nvPr/>
        </p:nvGrpSpPr>
        <p:grpSpPr>
          <a:xfrm>
            <a:off x="6656438" y="235974"/>
            <a:ext cx="2493133" cy="1917291"/>
            <a:chOff x="7010400" y="108155"/>
            <a:chExt cx="2493133" cy="1917291"/>
          </a:xfrm>
        </p:grpSpPr>
        <p:sp>
          <p:nvSpPr>
            <p:cNvPr id="6604" name="Google Shape;6604;p81"/>
            <p:cNvSpPr/>
            <p:nvPr/>
          </p:nvSpPr>
          <p:spPr>
            <a:xfrm>
              <a:off x="7010400" y="176982"/>
              <a:ext cx="2340077" cy="1848464"/>
            </a:xfrm>
            <a:custGeom>
              <a:rect b="b" l="l" r="r" t="t"/>
              <a:pathLst>
                <a:path extrusionOk="0" h="1848464" w="2340077">
                  <a:moveTo>
                    <a:pt x="0" y="1691148"/>
                  </a:moveTo>
                  <a:cubicBezTo>
                    <a:pt x="167148" y="1304412"/>
                    <a:pt x="285136" y="770193"/>
                    <a:pt x="383458" y="0"/>
                  </a:cubicBezTo>
                  <a:lnTo>
                    <a:pt x="2340077" y="1386348"/>
                  </a:lnTo>
                  <a:cubicBezTo>
                    <a:pt x="871794" y="1579716"/>
                    <a:pt x="740695" y="1645264"/>
                    <a:pt x="137651" y="1848464"/>
                  </a:cubicBezTo>
                  <a:lnTo>
                    <a:pt x="0" y="1691148"/>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605" name="Google Shape;6605;p81"/>
            <p:cNvGrpSpPr/>
            <p:nvPr/>
          </p:nvGrpSpPr>
          <p:grpSpPr>
            <a:xfrm>
              <a:off x="7323884" y="108155"/>
              <a:ext cx="2179649" cy="1445342"/>
              <a:chOff x="7323884" y="108155"/>
              <a:chExt cx="2179649" cy="1445342"/>
            </a:xfrm>
          </p:grpSpPr>
          <p:sp>
            <p:nvSpPr>
              <p:cNvPr id="6606" name="Google Shape;6606;p81"/>
              <p:cNvSpPr/>
              <p:nvPr/>
            </p:nvSpPr>
            <p:spPr>
              <a:xfrm>
                <a:off x="7413523" y="108155"/>
                <a:ext cx="1936954" cy="14355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607" name="Google Shape;6607;p81"/>
              <p:cNvGrpSpPr/>
              <p:nvPr/>
            </p:nvGrpSpPr>
            <p:grpSpPr>
              <a:xfrm>
                <a:off x="7323884" y="120836"/>
                <a:ext cx="2179649" cy="1432661"/>
                <a:chOff x="7323884" y="120836"/>
                <a:chExt cx="2179649" cy="1432661"/>
              </a:xfrm>
            </p:grpSpPr>
            <p:sp>
              <p:nvSpPr>
                <p:cNvPr id="6608" name="Google Shape;6608;p81"/>
                <p:cNvSpPr/>
                <p:nvPr/>
              </p:nvSpPr>
              <p:spPr>
                <a:xfrm>
                  <a:off x="7409951" y="124866"/>
                  <a:ext cx="1940525"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609" name="Google Shape;6609;p81"/>
                <p:cNvSpPr txBox="1"/>
                <p:nvPr/>
              </p:nvSpPr>
              <p:spPr>
                <a:xfrm>
                  <a:off x="7799764" y="120836"/>
                  <a:ext cx="111719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b:</a:t>
                  </a:r>
                  <a:endParaRPr/>
                </a:p>
              </p:txBody>
            </p:sp>
            <p:cxnSp>
              <p:nvCxnSpPr>
                <p:cNvPr id="6610" name="Google Shape;6610;p81"/>
                <p:cNvCxnSpPr/>
                <p:nvPr/>
              </p:nvCxnSpPr>
              <p:spPr>
                <a:xfrm>
                  <a:off x="7401895" y="49525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611" name="Google Shape;6611;p81"/>
                <p:cNvSpPr/>
                <p:nvPr/>
              </p:nvSpPr>
              <p:spPr>
                <a:xfrm>
                  <a:off x="7404189" y="124866"/>
                  <a:ext cx="1936455" cy="142863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612" name="Google Shape;6612;p81"/>
                <p:cNvSpPr txBox="1"/>
                <p:nvPr/>
              </p:nvSpPr>
              <p:spPr>
                <a:xfrm>
                  <a:off x="8392488" y="560500"/>
                  <a:ext cx="1111045"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(f)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(g)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(h)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sp>
              <p:nvSpPr>
                <p:cNvPr id="6613" name="Google Shape;6613;p81"/>
                <p:cNvSpPr txBox="1"/>
                <p:nvPr/>
              </p:nvSpPr>
              <p:spPr>
                <a:xfrm>
                  <a:off x="7323884" y="557387"/>
                  <a:ext cx="1117197" cy="978729"/>
                </a:xfrm>
                <a:prstGeom prst="rect">
                  <a:avLst/>
                </a:prstGeom>
                <a:noFill/>
                <a:ln>
                  <a:noFill/>
                </a:ln>
              </p:spPr>
              <p:txBody>
                <a:bodyPr anchorCtr="0" anchor="t" bIns="45700" lIns="91425" spcFirstLastPara="1" rIns="91425" wrap="square" tIns="45700">
                  <a:spAutoFit/>
                </a:bodyPr>
                <a:lstStyle/>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(a) = 8</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(c) = 1</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p:txBody>
            </p:sp>
          </p:grpSp>
        </p:grpSp>
      </p:grpSp>
      <p:sp>
        <p:nvSpPr>
          <p:cNvPr id="6614" name="Google Shape;6614;p81"/>
          <p:cNvSpPr txBox="1"/>
          <p:nvPr/>
        </p:nvSpPr>
        <p:spPr>
          <a:xfrm flipH="1">
            <a:off x="348626" y="3078991"/>
            <a:ext cx="2195814" cy="5909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c receives DVs from b computes:</a:t>
            </a:r>
            <a:endParaRPr/>
          </a:p>
        </p:txBody>
      </p:sp>
      <p:grpSp>
        <p:nvGrpSpPr>
          <p:cNvPr id="6615" name="Google Shape;6615;p81"/>
          <p:cNvGrpSpPr/>
          <p:nvPr/>
        </p:nvGrpSpPr>
        <p:grpSpPr>
          <a:xfrm>
            <a:off x="4333785" y="1906063"/>
            <a:ext cx="4395351" cy="404576"/>
            <a:chOff x="4333785" y="5772213"/>
            <a:chExt cx="4395351" cy="404576"/>
          </a:xfrm>
        </p:grpSpPr>
        <p:grpSp>
          <p:nvGrpSpPr>
            <p:cNvPr id="6616" name="Google Shape;6616;p81"/>
            <p:cNvGrpSpPr/>
            <p:nvPr/>
          </p:nvGrpSpPr>
          <p:grpSpPr>
            <a:xfrm>
              <a:off x="4333785" y="5772213"/>
              <a:ext cx="531821" cy="369069"/>
              <a:chOff x="1348328" y="2475647"/>
              <a:chExt cx="603916" cy="419100"/>
            </a:xfrm>
          </p:grpSpPr>
          <p:grpSp>
            <p:nvGrpSpPr>
              <p:cNvPr id="6617" name="Google Shape;6617;p81"/>
              <p:cNvGrpSpPr/>
              <p:nvPr/>
            </p:nvGrpSpPr>
            <p:grpSpPr>
              <a:xfrm>
                <a:off x="1348328" y="2555748"/>
                <a:ext cx="603916" cy="308999"/>
                <a:chOff x="5278570" y="2983486"/>
                <a:chExt cx="501650" cy="233363"/>
              </a:xfrm>
            </p:grpSpPr>
            <p:sp>
              <p:nvSpPr>
                <p:cNvPr id="6618" name="Google Shape;6618;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619" name="Google Shape;6619;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620" name="Google Shape;6620;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621" name="Google Shape;6621;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622" name="Google Shape;6622;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623" name="Google Shape;6623;p81"/>
              <p:cNvGrpSpPr/>
              <p:nvPr/>
            </p:nvGrpSpPr>
            <p:grpSpPr>
              <a:xfrm>
                <a:off x="1456374" y="2475647"/>
                <a:ext cx="355165" cy="419100"/>
                <a:chOff x="2944" y="2405"/>
                <a:chExt cx="227" cy="264"/>
              </a:xfrm>
            </p:grpSpPr>
            <p:sp>
              <p:nvSpPr>
                <p:cNvPr id="6624" name="Google Shape;6624;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625" name="Google Shape;6625;p81"/>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6626" name="Google Shape;6626;p81"/>
            <p:cNvGrpSpPr/>
            <p:nvPr/>
          </p:nvGrpSpPr>
          <p:grpSpPr>
            <a:xfrm>
              <a:off x="6263949" y="5807720"/>
              <a:ext cx="531821" cy="369069"/>
              <a:chOff x="1348328" y="2507397"/>
              <a:chExt cx="603916" cy="419100"/>
            </a:xfrm>
          </p:grpSpPr>
          <p:grpSp>
            <p:nvGrpSpPr>
              <p:cNvPr id="6627" name="Google Shape;6627;p81"/>
              <p:cNvGrpSpPr/>
              <p:nvPr/>
            </p:nvGrpSpPr>
            <p:grpSpPr>
              <a:xfrm>
                <a:off x="1348328" y="2555748"/>
                <a:ext cx="603916" cy="308999"/>
                <a:chOff x="5278570" y="2983486"/>
                <a:chExt cx="501650" cy="233363"/>
              </a:xfrm>
            </p:grpSpPr>
            <p:sp>
              <p:nvSpPr>
                <p:cNvPr id="6628" name="Google Shape;6628;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629" name="Google Shape;6629;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630" name="Google Shape;6630;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631" name="Google Shape;6631;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632" name="Google Shape;6632;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633" name="Google Shape;6633;p81"/>
              <p:cNvGrpSpPr/>
              <p:nvPr/>
            </p:nvGrpSpPr>
            <p:grpSpPr>
              <a:xfrm>
                <a:off x="1456374" y="2507397"/>
                <a:ext cx="355165" cy="419100"/>
                <a:chOff x="2944" y="2425"/>
                <a:chExt cx="227" cy="264"/>
              </a:xfrm>
            </p:grpSpPr>
            <p:sp>
              <p:nvSpPr>
                <p:cNvPr id="6634" name="Google Shape;6634;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635" name="Google Shape;6635;p81"/>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6636" name="Google Shape;6636;p81"/>
            <p:cNvGrpSpPr/>
            <p:nvPr/>
          </p:nvGrpSpPr>
          <p:grpSpPr>
            <a:xfrm>
              <a:off x="8197315" y="5805271"/>
              <a:ext cx="531821" cy="369069"/>
              <a:chOff x="1348328" y="2507397"/>
              <a:chExt cx="603916" cy="419100"/>
            </a:xfrm>
          </p:grpSpPr>
          <p:grpSp>
            <p:nvGrpSpPr>
              <p:cNvPr id="6637" name="Google Shape;6637;p81"/>
              <p:cNvGrpSpPr/>
              <p:nvPr/>
            </p:nvGrpSpPr>
            <p:grpSpPr>
              <a:xfrm>
                <a:off x="1348328" y="2555748"/>
                <a:ext cx="603916" cy="308999"/>
                <a:chOff x="5278570" y="2983486"/>
                <a:chExt cx="501650" cy="233363"/>
              </a:xfrm>
            </p:grpSpPr>
            <p:sp>
              <p:nvSpPr>
                <p:cNvPr id="6638" name="Google Shape;6638;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639" name="Google Shape;6639;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640" name="Google Shape;6640;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641" name="Google Shape;6641;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642" name="Google Shape;6642;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643" name="Google Shape;6643;p81"/>
              <p:cNvGrpSpPr/>
              <p:nvPr/>
            </p:nvGrpSpPr>
            <p:grpSpPr>
              <a:xfrm>
                <a:off x="1464216" y="2507397"/>
                <a:ext cx="341085" cy="419100"/>
                <a:chOff x="2949" y="2425"/>
                <a:chExt cx="218" cy="264"/>
              </a:xfrm>
            </p:grpSpPr>
            <p:sp>
              <p:nvSpPr>
                <p:cNvPr id="6644" name="Google Shape;6644;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645" name="Google Shape;6645;p81"/>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grpSp>
        <p:nvGrpSpPr>
          <p:cNvPr id="6646" name="Google Shape;6646;p81"/>
          <p:cNvGrpSpPr/>
          <p:nvPr/>
        </p:nvGrpSpPr>
        <p:grpSpPr>
          <a:xfrm>
            <a:off x="4336458" y="3833790"/>
            <a:ext cx="4395351" cy="404576"/>
            <a:chOff x="4333785" y="5772213"/>
            <a:chExt cx="4395351" cy="404576"/>
          </a:xfrm>
        </p:grpSpPr>
        <p:grpSp>
          <p:nvGrpSpPr>
            <p:cNvPr id="6647" name="Google Shape;6647;p81"/>
            <p:cNvGrpSpPr/>
            <p:nvPr/>
          </p:nvGrpSpPr>
          <p:grpSpPr>
            <a:xfrm>
              <a:off x="4333785" y="5772213"/>
              <a:ext cx="531821" cy="369069"/>
              <a:chOff x="1348328" y="2475647"/>
              <a:chExt cx="603916" cy="419100"/>
            </a:xfrm>
          </p:grpSpPr>
          <p:grpSp>
            <p:nvGrpSpPr>
              <p:cNvPr id="6648" name="Google Shape;6648;p81"/>
              <p:cNvGrpSpPr/>
              <p:nvPr/>
            </p:nvGrpSpPr>
            <p:grpSpPr>
              <a:xfrm>
                <a:off x="1348328" y="2555748"/>
                <a:ext cx="603916" cy="308999"/>
                <a:chOff x="5278570" y="2983486"/>
                <a:chExt cx="501650" cy="233363"/>
              </a:xfrm>
            </p:grpSpPr>
            <p:sp>
              <p:nvSpPr>
                <p:cNvPr id="6649" name="Google Shape;6649;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650" name="Google Shape;6650;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651" name="Google Shape;6651;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652" name="Google Shape;6652;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653" name="Google Shape;6653;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654" name="Google Shape;6654;p81"/>
              <p:cNvGrpSpPr/>
              <p:nvPr/>
            </p:nvGrpSpPr>
            <p:grpSpPr>
              <a:xfrm>
                <a:off x="1456374" y="2475647"/>
                <a:ext cx="355165" cy="419100"/>
                <a:chOff x="2944" y="2405"/>
                <a:chExt cx="227" cy="264"/>
              </a:xfrm>
            </p:grpSpPr>
            <p:sp>
              <p:nvSpPr>
                <p:cNvPr id="6655" name="Google Shape;6655;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656" name="Google Shape;6656;p81"/>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6657" name="Google Shape;6657;p81"/>
            <p:cNvGrpSpPr/>
            <p:nvPr/>
          </p:nvGrpSpPr>
          <p:grpSpPr>
            <a:xfrm>
              <a:off x="6263949" y="5807720"/>
              <a:ext cx="531821" cy="369069"/>
              <a:chOff x="1348328" y="2507397"/>
              <a:chExt cx="603916" cy="419100"/>
            </a:xfrm>
          </p:grpSpPr>
          <p:grpSp>
            <p:nvGrpSpPr>
              <p:cNvPr id="6658" name="Google Shape;6658;p81"/>
              <p:cNvGrpSpPr/>
              <p:nvPr/>
            </p:nvGrpSpPr>
            <p:grpSpPr>
              <a:xfrm>
                <a:off x="1348328" y="2555748"/>
                <a:ext cx="603916" cy="308999"/>
                <a:chOff x="5278570" y="2983486"/>
                <a:chExt cx="501650" cy="233363"/>
              </a:xfrm>
            </p:grpSpPr>
            <p:sp>
              <p:nvSpPr>
                <p:cNvPr id="6659" name="Google Shape;6659;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660" name="Google Shape;6660;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661" name="Google Shape;6661;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662" name="Google Shape;6662;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663" name="Google Shape;6663;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664" name="Google Shape;6664;p81"/>
              <p:cNvGrpSpPr/>
              <p:nvPr/>
            </p:nvGrpSpPr>
            <p:grpSpPr>
              <a:xfrm>
                <a:off x="1456374" y="2507397"/>
                <a:ext cx="355165" cy="419100"/>
                <a:chOff x="2944" y="2425"/>
                <a:chExt cx="227" cy="264"/>
              </a:xfrm>
            </p:grpSpPr>
            <p:sp>
              <p:nvSpPr>
                <p:cNvPr id="6665" name="Google Shape;6665;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666" name="Google Shape;6666;p81"/>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6667" name="Google Shape;6667;p81"/>
            <p:cNvGrpSpPr/>
            <p:nvPr/>
          </p:nvGrpSpPr>
          <p:grpSpPr>
            <a:xfrm>
              <a:off x="8197315" y="5805271"/>
              <a:ext cx="531821" cy="369069"/>
              <a:chOff x="1348328" y="2507397"/>
              <a:chExt cx="603916" cy="419100"/>
            </a:xfrm>
          </p:grpSpPr>
          <p:grpSp>
            <p:nvGrpSpPr>
              <p:cNvPr id="6668" name="Google Shape;6668;p81"/>
              <p:cNvGrpSpPr/>
              <p:nvPr/>
            </p:nvGrpSpPr>
            <p:grpSpPr>
              <a:xfrm>
                <a:off x="1348328" y="2555748"/>
                <a:ext cx="603916" cy="308999"/>
                <a:chOff x="5278570" y="2983486"/>
                <a:chExt cx="501650" cy="233363"/>
              </a:xfrm>
            </p:grpSpPr>
            <p:sp>
              <p:nvSpPr>
                <p:cNvPr id="6669" name="Google Shape;6669;p81"/>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670" name="Google Shape;6670;p81"/>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671" name="Google Shape;6671;p81"/>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672" name="Google Shape;6672;p81"/>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673" name="Google Shape;6673;p81"/>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674" name="Google Shape;6674;p81"/>
              <p:cNvGrpSpPr/>
              <p:nvPr/>
            </p:nvGrpSpPr>
            <p:grpSpPr>
              <a:xfrm>
                <a:off x="1492372" y="2507397"/>
                <a:ext cx="283194" cy="419100"/>
                <a:chOff x="2967" y="2425"/>
                <a:chExt cx="181" cy="264"/>
              </a:xfrm>
            </p:grpSpPr>
            <p:sp>
              <p:nvSpPr>
                <p:cNvPr id="6675" name="Google Shape;6675;p81"/>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676" name="Google Shape;6676;p81"/>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grpSp>
        <p:nvGrpSpPr>
          <p:cNvPr id="6677" name="Google Shape;6677;p81"/>
          <p:cNvGrpSpPr/>
          <p:nvPr/>
        </p:nvGrpSpPr>
        <p:grpSpPr>
          <a:xfrm>
            <a:off x="8740877" y="219997"/>
            <a:ext cx="2045109" cy="2667397"/>
            <a:chOff x="8740877" y="219997"/>
            <a:chExt cx="2045109" cy="2667397"/>
          </a:xfrm>
        </p:grpSpPr>
        <p:sp>
          <p:nvSpPr>
            <p:cNvPr id="6678" name="Google Shape;6678;p81"/>
            <p:cNvSpPr/>
            <p:nvPr/>
          </p:nvSpPr>
          <p:spPr>
            <a:xfrm>
              <a:off x="8740877" y="247036"/>
              <a:ext cx="924232" cy="2428567"/>
            </a:xfrm>
            <a:custGeom>
              <a:rect b="b" l="l" r="r" t="t"/>
              <a:pathLst>
                <a:path extrusionOk="0" h="2428567" w="1170039">
                  <a:moveTo>
                    <a:pt x="1" y="1809135"/>
                  </a:moveTo>
                  <a:cubicBezTo>
                    <a:pt x="353962" y="1681316"/>
                    <a:pt x="875071" y="865238"/>
                    <a:pt x="1160207" y="0"/>
                  </a:cubicBezTo>
                  <a:cubicBezTo>
                    <a:pt x="1163484" y="809522"/>
                    <a:pt x="1166762" y="1619045"/>
                    <a:pt x="1170039" y="2428567"/>
                  </a:cubicBezTo>
                  <a:cubicBezTo>
                    <a:pt x="819356" y="2058219"/>
                    <a:pt x="714478" y="2090992"/>
                    <a:pt x="0" y="1946786"/>
                  </a:cubicBezTo>
                  <a:cubicBezTo>
                    <a:pt x="0" y="1900902"/>
                    <a:pt x="1" y="1855019"/>
                    <a:pt x="1" y="1809135"/>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679" name="Google Shape;6679;p81"/>
            <p:cNvGrpSpPr/>
            <p:nvPr/>
          </p:nvGrpSpPr>
          <p:grpSpPr>
            <a:xfrm>
              <a:off x="9636528" y="219997"/>
              <a:ext cx="1149458" cy="2667397"/>
              <a:chOff x="9764348" y="1447800"/>
              <a:chExt cx="1149458" cy="2667397"/>
            </a:xfrm>
          </p:grpSpPr>
          <p:sp>
            <p:nvSpPr>
              <p:cNvPr id="6680" name="Google Shape;6680;p81"/>
              <p:cNvSpPr/>
              <p:nvPr/>
            </p:nvSpPr>
            <p:spPr>
              <a:xfrm>
                <a:off x="9783097" y="1447800"/>
                <a:ext cx="1130709" cy="24261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681" name="Google Shape;6681;p81"/>
              <p:cNvGrpSpPr/>
              <p:nvPr/>
            </p:nvGrpSpPr>
            <p:grpSpPr>
              <a:xfrm>
                <a:off x="9764348" y="1447800"/>
                <a:ext cx="1130291" cy="2667397"/>
                <a:chOff x="9472119" y="702026"/>
                <a:chExt cx="1130291" cy="2667397"/>
              </a:xfrm>
            </p:grpSpPr>
            <p:sp>
              <p:nvSpPr>
                <p:cNvPr id="6682" name="Google Shape;6682;p81"/>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683" name="Google Shape;6683;p81"/>
                <p:cNvSpPr txBox="1"/>
                <p:nvPr/>
              </p:nvSpPr>
              <p:spPr>
                <a:xfrm>
                  <a:off x="9472119" y="702026"/>
                  <a:ext cx="1088020"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c:</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(b)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(c)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(e)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(f)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(h) = ∞</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684" name="Google Shape;6684;p81"/>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685" name="Google Shape;6685;p81"/>
                <p:cNvSpPr/>
                <p:nvPr/>
              </p:nvSpPr>
              <p:spPr>
                <a:xfrm>
                  <a:off x="9479666" y="706055"/>
                  <a:ext cx="1122744" cy="262077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sp>
        <p:nvSpPr>
          <p:cNvPr id="6686" name="Google Shape;6686;p81"/>
          <p:cNvSpPr/>
          <p:nvPr/>
        </p:nvSpPr>
        <p:spPr>
          <a:xfrm>
            <a:off x="6977380" y="1927827"/>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687" name="Google Shape;6687;p81"/>
          <p:cNvSpPr/>
          <p:nvPr/>
        </p:nvSpPr>
        <p:spPr>
          <a:xfrm>
            <a:off x="3281678" y="1747520"/>
            <a:ext cx="5923281" cy="4988560"/>
          </a:xfrm>
          <a:custGeom>
            <a:rect b="b" l="l" r="r" t="t"/>
            <a:pathLst>
              <a:path extrusionOk="0" h="4988560" w="5760999">
                <a:moveTo>
                  <a:pt x="2524413" y="30480"/>
                </a:moveTo>
                <a:lnTo>
                  <a:pt x="2829213" y="568960"/>
                </a:lnTo>
                <a:lnTo>
                  <a:pt x="3570336" y="782320"/>
                </a:lnTo>
                <a:lnTo>
                  <a:pt x="5730519" y="1950720"/>
                </a:lnTo>
                <a:lnTo>
                  <a:pt x="5760999" y="4988560"/>
                </a:lnTo>
                <a:lnTo>
                  <a:pt x="0" y="4978400"/>
                </a:lnTo>
                <a:lnTo>
                  <a:pt x="138344" y="20320"/>
                </a:lnTo>
                <a:lnTo>
                  <a:pt x="936947" y="0"/>
                </a:lnTo>
                <a:lnTo>
                  <a:pt x="2524413" y="3048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688" name="Google Shape;6688;p81"/>
          <p:cNvSpPr/>
          <p:nvPr/>
        </p:nvSpPr>
        <p:spPr>
          <a:xfrm>
            <a:off x="3068320" y="3810000"/>
            <a:ext cx="3535680" cy="271272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689" name="Google Shape;6689;p81"/>
          <p:cNvSpPr txBox="1"/>
          <p:nvPr/>
        </p:nvSpPr>
        <p:spPr>
          <a:xfrm>
            <a:off x="3180080" y="3889494"/>
            <a:ext cx="33528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(a) = min{c</a:t>
            </a:r>
            <a:r>
              <a:rPr baseline="-25000" lang="en-US" sz="1600">
                <a:solidFill>
                  <a:srgbClr val="000000"/>
                </a:solidFill>
                <a:latin typeface="Calibri"/>
                <a:ea typeface="Calibri"/>
                <a:cs typeface="Calibri"/>
                <a:sym typeface="Calibri"/>
              </a:rPr>
              <a:t>c,b</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(a}} = 1 + 8 = 9 </a:t>
            </a:r>
            <a:endParaRPr/>
          </a:p>
        </p:txBody>
      </p:sp>
      <p:sp>
        <p:nvSpPr>
          <p:cNvPr id="6690" name="Google Shape;6690;p81"/>
          <p:cNvSpPr txBox="1"/>
          <p:nvPr/>
        </p:nvSpPr>
        <p:spPr>
          <a:xfrm>
            <a:off x="3180080" y="4214614"/>
            <a:ext cx="33528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(b) = min{c</a:t>
            </a:r>
            <a:r>
              <a:rPr baseline="-25000" lang="en-US" sz="1600">
                <a:solidFill>
                  <a:srgbClr val="000000"/>
                </a:solidFill>
                <a:latin typeface="Calibri"/>
                <a:ea typeface="Calibri"/>
                <a:cs typeface="Calibri"/>
                <a:sym typeface="Calibri"/>
              </a:rPr>
              <a:t>c,b</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(b)} = 1 + 0 = 1</a:t>
            </a:r>
            <a:endParaRPr/>
          </a:p>
        </p:txBody>
      </p:sp>
      <p:sp>
        <p:nvSpPr>
          <p:cNvPr id="6691" name="Google Shape;6691;p81"/>
          <p:cNvSpPr txBox="1"/>
          <p:nvPr/>
        </p:nvSpPr>
        <p:spPr>
          <a:xfrm>
            <a:off x="3169920" y="4539734"/>
            <a:ext cx="344424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(d) = min{c</a:t>
            </a:r>
            <a:r>
              <a:rPr baseline="-25000" lang="en-US" sz="1600">
                <a:solidFill>
                  <a:srgbClr val="000000"/>
                </a:solidFill>
                <a:latin typeface="Calibri"/>
                <a:ea typeface="Calibri"/>
                <a:cs typeface="Calibri"/>
                <a:sym typeface="Calibri"/>
              </a:rPr>
              <a:t>c,b</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(d)} = 1+ ∞ = ∞ </a:t>
            </a:r>
            <a:endParaRPr sz="1600">
              <a:solidFill>
                <a:srgbClr val="000000"/>
              </a:solidFill>
              <a:latin typeface="Calibri"/>
              <a:ea typeface="Calibri"/>
              <a:cs typeface="Calibri"/>
              <a:sym typeface="Calibri"/>
            </a:endParaRPr>
          </a:p>
        </p:txBody>
      </p:sp>
      <p:sp>
        <p:nvSpPr>
          <p:cNvPr id="6692" name="Google Shape;6692;p81"/>
          <p:cNvSpPr txBox="1"/>
          <p:nvPr/>
        </p:nvSpPr>
        <p:spPr>
          <a:xfrm>
            <a:off x="3180080" y="4844534"/>
            <a:ext cx="327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(e) = min{c</a:t>
            </a:r>
            <a:r>
              <a:rPr baseline="-25000" lang="en-US" sz="1600">
                <a:solidFill>
                  <a:srgbClr val="000000"/>
                </a:solidFill>
                <a:latin typeface="Calibri"/>
                <a:ea typeface="Calibri"/>
                <a:cs typeface="Calibri"/>
                <a:sym typeface="Calibri"/>
              </a:rPr>
              <a:t>c,b</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(e)} = 1 + 1 = 2</a:t>
            </a:r>
            <a:endParaRPr/>
          </a:p>
        </p:txBody>
      </p:sp>
      <p:sp>
        <p:nvSpPr>
          <p:cNvPr id="6693" name="Google Shape;6693;p81"/>
          <p:cNvSpPr txBox="1"/>
          <p:nvPr/>
        </p:nvSpPr>
        <p:spPr>
          <a:xfrm>
            <a:off x="3169920" y="5169654"/>
            <a:ext cx="33629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(f) = min{c</a:t>
            </a:r>
            <a:r>
              <a:rPr baseline="-25000" lang="en-US" sz="1600">
                <a:solidFill>
                  <a:srgbClr val="000000"/>
                </a:solidFill>
                <a:latin typeface="Calibri"/>
                <a:ea typeface="Calibri"/>
                <a:cs typeface="Calibri"/>
                <a:sym typeface="Calibri"/>
              </a:rPr>
              <a:t>c,b</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(f)} = 1+ ∞ = ∞ </a:t>
            </a:r>
            <a:endParaRPr sz="1600">
              <a:solidFill>
                <a:srgbClr val="000000"/>
              </a:solidFill>
              <a:latin typeface="Calibri"/>
              <a:ea typeface="Calibri"/>
              <a:cs typeface="Calibri"/>
              <a:sym typeface="Calibri"/>
            </a:endParaRPr>
          </a:p>
        </p:txBody>
      </p:sp>
      <p:sp>
        <p:nvSpPr>
          <p:cNvPr id="6694" name="Google Shape;6694;p81"/>
          <p:cNvSpPr txBox="1"/>
          <p:nvPr/>
        </p:nvSpPr>
        <p:spPr>
          <a:xfrm>
            <a:off x="3180080" y="5484614"/>
            <a:ext cx="32207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(g) = min{c</a:t>
            </a:r>
            <a:r>
              <a:rPr baseline="-25000" lang="en-US" sz="1600">
                <a:solidFill>
                  <a:srgbClr val="000000"/>
                </a:solidFill>
                <a:latin typeface="Calibri"/>
                <a:ea typeface="Calibri"/>
                <a:cs typeface="Calibri"/>
                <a:sym typeface="Calibri"/>
              </a:rPr>
              <a:t>c,b</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(g)} = 1+ ∞ = ∞ </a:t>
            </a:r>
            <a:endParaRPr sz="1600">
              <a:solidFill>
                <a:srgbClr val="000000"/>
              </a:solidFill>
              <a:latin typeface="Calibri"/>
              <a:ea typeface="Calibri"/>
              <a:cs typeface="Calibri"/>
              <a:sym typeface="Calibri"/>
            </a:endParaRPr>
          </a:p>
        </p:txBody>
      </p:sp>
      <p:sp>
        <p:nvSpPr>
          <p:cNvPr id="6695" name="Google Shape;6695;p81"/>
          <p:cNvSpPr txBox="1"/>
          <p:nvPr/>
        </p:nvSpPr>
        <p:spPr>
          <a:xfrm>
            <a:off x="3180080" y="6112748"/>
            <a:ext cx="33731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min{c</a:t>
            </a:r>
            <a:r>
              <a:rPr baseline="-25000" lang="en-US" sz="1600">
                <a:solidFill>
                  <a:srgbClr val="000000"/>
                </a:solidFill>
                <a:latin typeface="Calibri"/>
                <a:ea typeface="Calibri"/>
                <a:cs typeface="Calibri"/>
                <a:sym typeface="Calibri"/>
              </a:rPr>
              <a:t>c,b</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(i)} = 1+ ∞ = ∞ </a:t>
            </a:r>
            <a:endParaRPr sz="1600">
              <a:solidFill>
                <a:srgbClr val="000000"/>
              </a:solidFill>
              <a:latin typeface="Calibri"/>
              <a:ea typeface="Calibri"/>
              <a:cs typeface="Calibri"/>
              <a:sym typeface="Calibri"/>
            </a:endParaRPr>
          </a:p>
        </p:txBody>
      </p:sp>
      <p:sp>
        <p:nvSpPr>
          <p:cNvPr id="6696" name="Google Shape;6696;p81"/>
          <p:cNvSpPr txBox="1"/>
          <p:nvPr/>
        </p:nvSpPr>
        <p:spPr>
          <a:xfrm>
            <a:off x="3169920" y="5807948"/>
            <a:ext cx="338328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(h) = min{c</a:t>
            </a:r>
            <a:r>
              <a:rPr baseline="-25000" lang="en-US" sz="1600">
                <a:solidFill>
                  <a:srgbClr val="000000"/>
                </a:solidFill>
                <a:latin typeface="Calibri"/>
                <a:ea typeface="Calibri"/>
                <a:cs typeface="Calibri"/>
                <a:sym typeface="Calibri"/>
              </a:rPr>
              <a:t>bc,b</a:t>
            </a: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(h)} = 1+ ∞ = ∞ </a:t>
            </a:r>
            <a:endParaRPr sz="1600">
              <a:solidFill>
                <a:srgbClr val="000000"/>
              </a:solidFill>
              <a:latin typeface="Calibri"/>
              <a:ea typeface="Calibri"/>
              <a:cs typeface="Calibri"/>
              <a:sym typeface="Calibri"/>
            </a:endParaRPr>
          </a:p>
        </p:txBody>
      </p:sp>
      <p:sp>
        <p:nvSpPr>
          <p:cNvPr id="6697" name="Google Shape;6697;p81"/>
          <p:cNvSpPr/>
          <p:nvPr/>
        </p:nvSpPr>
        <p:spPr>
          <a:xfrm rot="-5400000">
            <a:off x="6704347" y="5410623"/>
            <a:ext cx="339615" cy="560629"/>
          </a:xfrm>
          <a:prstGeom prst="downArrow">
            <a:avLst>
              <a:gd fmla="val 50000" name="adj1"/>
              <a:gd fmla="val 50000" name="adj2"/>
            </a:avLst>
          </a:prstGeom>
          <a:gradFill>
            <a:gsLst>
              <a:gs pos="0">
                <a:schemeClr val="lt1"/>
              </a:gs>
              <a:gs pos="100000">
                <a:srgbClr val="BBD6E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698" name="Google Shape;6698;p81"/>
          <p:cNvGrpSpPr/>
          <p:nvPr/>
        </p:nvGrpSpPr>
        <p:grpSpPr>
          <a:xfrm>
            <a:off x="7147328" y="3969037"/>
            <a:ext cx="1149458" cy="2667397"/>
            <a:chOff x="9764348" y="1447800"/>
            <a:chExt cx="1149458" cy="2667397"/>
          </a:xfrm>
        </p:grpSpPr>
        <p:sp>
          <p:nvSpPr>
            <p:cNvPr id="6699" name="Google Shape;6699;p81"/>
            <p:cNvSpPr/>
            <p:nvPr/>
          </p:nvSpPr>
          <p:spPr>
            <a:xfrm>
              <a:off x="9783097" y="1447800"/>
              <a:ext cx="1130709" cy="24261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700" name="Google Shape;6700;p81"/>
            <p:cNvGrpSpPr/>
            <p:nvPr/>
          </p:nvGrpSpPr>
          <p:grpSpPr>
            <a:xfrm>
              <a:off x="9764348" y="1447800"/>
              <a:ext cx="1130291" cy="2667397"/>
              <a:chOff x="9472119" y="702026"/>
              <a:chExt cx="1130291" cy="2667397"/>
            </a:xfrm>
          </p:grpSpPr>
          <p:sp>
            <p:nvSpPr>
              <p:cNvPr id="6701" name="Google Shape;6701;p81"/>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702" name="Google Shape;6702;p81"/>
              <p:cNvSpPr txBox="1"/>
              <p:nvPr/>
            </p:nvSpPr>
            <p:spPr>
              <a:xfrm>
                <a:off x="9472119" y="702026"/>
                <a:ext cx="1088020"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c:</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(a) = 9</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(b)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(c)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(d) = 2</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(e)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(f)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(h) = ∞</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703" name="Google Shape;6703;p81"/>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704" name="Google Shape;6704;p81"/>
              <p:cNvSpPr/>
              <p:nvPr/>
            </p:nvSpPr>
            <p:spPr>
              <a:xfrm>
                <a:off x="9479666" y="706055"/>
                <a:ext cx="1122744" cy="262077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sp>
        <p:nvSpPr>
          <p:cNvPr id="6705" name="Google Shape;6705;p81"/>
          <p:cNvSpPr/>
          <p:nvPr/>
        </p:nvSpPr>
        <p:spPr>
          <a:xfrm>
            <a:off x="3068320" y="2194560"/>
            <a:ext cx="5598160" cy="1625600"/>
          </a:xfrm>
          <a:custGeom>
            <a:rect b="b" l="l" r="r" t="t"/>
            <a:pathLst>
              <a:path extrusionOk="0" h="1625600" w="5598160">
                <a:moveTo>
                  <a:pt x="5120640" y="0"/>
                </a:moveTo>
                <a:cubicBezTo>
                  <a:pt x="3495040" y="812800"/>
                  <a:pt x="2540000" y="1127760"/>
                  <a:pt x="0" y="1615440"/>
                </a:cubicBezTo>
                <a:lnTo>
                  <a:pt x="3535680" y="1625600"/>
                </a:lnTo>
                <a:cubicBezTo>
                  <a:pt x="4087707" y="988907"/>
                  <a:pt x="4243493" y="890693"/>
                  <a:pt x="5598160" y="50800"/>
                </a:cubicBezTo>
                <a:cubicBezTo>
                  <a:pt x="5317067" y="98213"/>
                  <a:pt x="5259493" y="115147"/>
                  <a:pt x="5120640" y="0"/>
                </a:cubicBezTo>
                <a:close/>
              </a:path>
            </a:pathLst>
          </a:custGeom>
          <a:gradFill>
            <a:gsLst>
              <a:gs pos="0">
                <a:schemeClr val="lt1"/>
              </a:gs>
              <a:gs pos="100000">
                <a:srgbClr val="DDEAF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706" name="Google Shape;6706;p81"/>
          <p:cNvGrpSpPr/>
          <p:nvPr/>
        </p:nvGrpSpPr>
        <p:grpSpPr>
          <a:xfrm>
            <a:off x="7868428" y="1698029"/>
            <a:ext cx="1196054" cy="1022555"/>
            <a:chOff x="9655277" y="2349909"/>
            <a:chExt cx="1196054" cy="1022555"/>
          </a:xfrm>
        </p:grpSpPr>
        <p:sp>
          <p:nvSpPr>
            <p:cNvPr id="6707" name="Google Shape;6707;p81"/>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708" name="Google Shape;6708;p81"/>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sp>
        <p:nvSpPr>
          <p:cNvPr id="6709" name="Google Shape;6709;p81"/>
          <p:cNvSpPr txBox="1"/>
          <p:nvPr/>
        </p:nvSpPr>
        <p:spPr>
          <a:xfrm>
            <a:off x="8542751" y="5433536"/>
            <a:ext cx="3544284"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Check out the online interactive exercises for more examples: h</a:t>
            </a:r>
            <a:r>
              <a:rPr lang="en-US" sz="1200">
                <a:solidFill>
                  <a:srgbClr val="000000"/>
                </a:solidFill>
                <a:latin typeface="Arial"/>
                <a:ea typeface="Arial"/>
                <a:cs typeface="Arial"/>
                <a:sym typeface="Arial"/>
              </a:rPr>
              <a:t>ttp://gaia.cs.umass.edu/kurose_ross/interactive/</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87"/>
                                        </p:tgtEl>
                                        <p:attrNameLst>
                                          <p:attrName>style.visibility</p:attrName>
                                        </p:attrNameLst>
                                      </p:cBhvr>
                                      <p:to>
                                        <p:strVal val="visible"/>
                                      </p:to>
                                    </p:set>
                                    <p:animEffect filter="fade" transition="in">
                                      <p:cBhvr>
                                        <p:cTn dur="1000"/>
                                        <p:tgtEl>
                                          <p:spTgt spid="6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5"/>
                                        </p:tgtEl>
                                        <p:attrNameLst>
                                          <p:attrName>style.visibility</p:attrName>
                                        </p:attrNameLst>
                                      </p:cBhvr>
                                      <p:to>
                                        <p:strVal val="visible"/>
                                      </p:to>
                                    </p:set>
                                    <p:animEffect filter="fade" transition="in">
                                      <p:cBhvr>
                                        <p:cTn dur="500"/>
                                        <p:tgtEl>
                                          <p:spTgt spid="67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88"/>
                                        </p:tgtEl>
                                        <p:attrNameLst>
                                          <p:attrName>style.visibility</p:attrName>
                                        </p:attrNameLst>
                                      </p:cBhvr>
                                      <p:to>
                                        <p:strVal val="visible"/>
                                      </p:to>
                                    </p:set>
                                    <p:animEffect filter="fade" transition="in">
                                      <p:cBhvr>
                                        <p:cTn dur="500"/>
                                        <p:tgtEl>
                                          <p:spTgt spid="66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9"/>
                                        </p:tgtEl>
                                        <p:attrNameLst>
                                          <p:attrName>style.visibility</p:attrName>
                                        </p:attrNameLst>
                                      </p:cBhvr>
                                      <p:to>
                                        <p:strVal val="visible"/>
                                      </p:to>
                                    </p:set>
                                    <p:animEffect filter="fade" transition="in">
                                      <p:cBhvr>
                                        <p:cTn dur="500"/>
                                        <p:tgtEl>
                                          <p:spTgt spid="6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0"/>
                                        </p:tgtEl>
                                        <p:attrNameLst>
                                          <p:attrName>style.visibility</p:attrName>
                                        </p:attrNameLst>
                                      </p:cBhvr>
                                      <p:to>
                                        <p:strVal val="visible"/>
                                      </p:to>
                                    </p:set>
                                    <p:animEffect filter="fade" transition="in">
                                      <p:cBhvr>
                                        <p:cTn dur="500"/>
                                        <p:tgtEl>
                                          <p:spTgt spid="66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1"/>
                                        </p:tgtEl>
                                        <p:attrNameLst>
                                          <p:attrName>style.visibility</p:attrName>
                                        </p:attrNameLst>
                                      </p:cBhvr>
                                      <p:to>
                                        <p:strVal val="visible"/>
                                      </p:to>
                                    </p:set>
                                    <p:animEffect filter="fade" transition="in">
                                      <p:cBhvr>
                                        <p:cTn dur="500"/>
                                        <p:tgtEl>
                                          <p:spTgt spid="6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2"/>
                                        </p:tgtEl>
                                        <p:attrNameLst>
                                          <p:attrName>style.visibility</p:attrName>
                                        </p:attrNameLst>
                                      </p:cBhvr>
                                      <p:to>
                                        <p:strVal val="visible"/>
                                      </p:to>
                                    </p:set>
                                    <p:animEffect filter="fade" transition="in">
                                      <p:cBhvr>
                                        <p:cTn dur="500"/>
                                        <p:tgtEl>
                                          <p:spTgt spid="66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3"/>
                                        </p:tgtEl>
                                        <p:attrNameLst>
                                          <p:attrName>style.visibility</p:attrName>
                                        </p:attrNameLst>
                                      </p:cBhvr>
                                      <p:to>
                                        <p:strVal val="visible"/>
                                      </p:to>
                                    </p:set>
                                    <p:animEffect filter="fade" transition="in">
                                      <p:cBhvr>
                                        <p:cTn dur="500"/>
                                        <p:tgtEl>
                                          <p:spTgt spid="6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4"/>
                                        </p:tgtEl>
                                        <p:attrNameLst>
                                          <p:attrName>style.visibility</p:attrName>
                                        </p:attrNameLst>
                                      </p:cBhvr>
                                      <p:to>
                                        <p:strVal val="visible"/>
                                      </p:to>
                                    </p:set>
                                    <p:animEffect filter="fade" transition="in">
                                      <p:cBhvr>
                                        <p:cTn dur="500"/>
                                        <p:tgtEl>
                                          <p:spTgt spid="66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6"/>
                                        </p:tgtEl>
                                        <p:attrNameLst>
                                          <p:attrName>style.visibility</p:attrName>
                                        </p:attrNameLst>
                                      </p:cBhvr>
                                      <p:to>
                                        <p:strVal val="visible"/>
                                      </p:to>
                                    </p:set>
                                    <p:animEffect filter="fade" transition="in">
                                      <p:cBhvr>
                                        <p:cTn dur="500"/>
                                        <p:tgtEl>
                                          <p:spTgt spid="66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5"/>
                                        </p:tgtEl>
                                        <p:attrNameLst>
                                          <p:attrName>style.visibility</p:attrName>
                                        </p:attrNameLst>
                                      </p:cBhvr>
                                      <p:to>
                                        <p:strVal val="visible"/>
                                      </p:to>
                                    </p:set>
                                    <p:animEffect filter="fade" transition="in">
                                      <p:cBhvr>
                                        <p:cTn dur="500"/>
                                        <p:tgtEl>
                                          <p:spTgt spid="66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7"/>
                                        </p:tgtEl>
                                        <p:attrNameLst>
                                          <p:attrName>style.visibility</p:attrName>
                                        </p:attrNameLst>
                                      </p:cBhvr>
                                      <p:to>
                                        <p:strVal val="visible"/>
                                      </p:to>
                                    </p:set>
                                    <p:animEffect filter="fade" transition="in">
                                      <p:cBhvr>
                                        <p:cTn dur="500"/>
                                        <p:tgtEl>
                                          <p:spTgt spid="66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98"/>
                                        </p:tgtEl>
                                        <p:attrNameLst>
                                          <p:attrName>style.visibility</p:attrName>
                                        </p:attrNameLst>
                                      </p:cBhvr>
                                      <p:to>
                                        <p:strVal val="visible"/>
                                      </p:to>
                                    </p:set>
                                    <p:animEffect filter="fade" transition="in">
                                      <p:cBhvr>
                                        <p:cTn dur="500"/>
                                        <p:tgtEl>
                                          <p:spTgt spid="66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4" name="Shape 6714"/>
        <p:cNvGrpSpPr/>
        <p:nvPr/>
      </p:nvGrpSpPr>
      <p:grpSpPr>
        <a:xfrm>
          <a:off x="0" y="0"/>
          <a:ext cx="0" cy="0"/>
          <a:chOff x="0" y="0"/>
          <a:chExt cx="0" cy="0"/>
        </a:xfrm>
      </p:grpSpPr>
      <p:sp>
        <p:nvSpPr>
          <p:cNvPr id="6715" name="Google Shape;6715;p82"/>
          <p:cNvSpPr txBox="1"/>
          <p:nvPr>
            <p:ph type="title"/>
          </p:nvPr>
        </p:nvSpPr>
        <p:spPr>
          <a:xfrm>
            <a:off x="826624" y="174028"/>
            <a:ext cx="10893427"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Distance vector example: computation</a:t>
            </a:r>
            <a:endParaRPr/>
          </a:p>
        </p:txBody>
      </p:sp>
      <p:sp>
        <p:nvSpPr>
          <p:cNvPr id="6716" name="Google Shape;6716;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cxnSp>
        <p:nvCxnSpPr>
          <p:cNvPr id="6717" name="Google Shape;6717;p82"/>
          <p:cNvCxnSpPr>
            <a:stCxn id="6718" idx="2"/>
            <a:endCxn id="6718" idx="0"/>
          </p:cNvCxnSpPr>
          <p:nvPr/>
        </p:nvCxnSpPr>
        <p:spPr>
          <a:xfrm rot="10800000">
            <a:off x="6530326" y="2129131"/>
            <a:ext cx="0" cy="3863100"/>
          </a:xfrm>
          <a:prstGeom prst="straightConnector1">
            <a:avLst/>
          </a:prstGeom>
          <a:noFill/>
          <a:ln cap="flat" cmpd="sng" w="12700">
            <a:solidFill>
              <a:schemeClr val="dk1"/>
            </a:solidFill>
            <a:prstDash val="solid"/>
            <a:miter lim="8000"/>
            <a:headEnd len="sm" w="sm" type="none"/>
            <a:tailEnd len="sm" w="sm" type="none"/>
          </a:ln>
        </p:spPr>
      </p:cxnSp>
      <p:cxnSp>
        <p:nvCxnSpPr>
          <p:cNvPr id="6719" name="Google Shape;6719;p82"/>
          <p:cNvCxnSpPr>
            <a:stCxn id="6718" idx="1"/>
            <a:endCxn id="6718" idx="3"/>
          </p:cNvCxnSpPr>
          <p:nvPr/>
        </p:nvCxnSpPr>
        <p:spPr>
          <a:xfrm>
            <a:off x="4598770" y="4060676"/>
            <a:ext cx="3863100" cy="0"/>
          </a:xfrm>
          <a:prstGeom prst="straightConnector1">
            <a:avLst/>
          </a:prstGeom>
          <a:noFill/>
          <a:ln cap="flat" cmpd="sng" w="12700">
            <a:solidFill>
              <a:schemeClr val="dk1"/>
            </a:solidFill>
            <a:prstDash val="solid"/>
            <a:miter lim="8000"/>
            <a:headEnd len="sm" w="sm" type="none"/>
            <a:tailEnd len="sm" w="sm" type="none"/>
          </a:ln>
        </p:spPr>
      </p:cxnSp>
      <p:sp>
        <p:nvSpPr>
          <p:cNvPr id="6718" name="Google Shape;6718;p82"/>
          <p:cNvSpPr/>
          <p:nvPr/>
        </p:nvSpPr>
        <p:spPr>
          <a:xfrm>
            <a:off x="4598770" y="2129120"/>
            <a:ext cx="3863111" cy="386311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6720" name="Google Shape;6720;p82"/>
          <p:cNvSpPr/>
          <p:nvPr/>
        </p:nvSpPr>
        <p:spPr>
          <a:xfrm>
            <a:off x="8380337" y="2200470"/>
            <a:ext cx="132508" cy="1855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FFFF"/>
              </a:solidFill>
              <a:latin typeface="Calibri"/>
              <a:ea typeface="Calibri"/>
              <a:cs typeface="Calibri"/>
              <a:sym typeface="Calibri"/>
            </a:endParaRPr>
          </a:p>
        </p:txBody>
      </p:sp>
      <p:sp>
        <p:nvSpPr>
          <p:cNvPr id="6721" name="Google Shape;6721;p82"/>
          <p:cNvSpPr txBox="1"/>
          <p:nvPr/>
        </p:nvSpPr>
        <p:spPr>
          <a:xfrm>
            <a:off x="4305782" y="2870522"/>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22" name="Google Shape;6722;p82"/>
          <p:cNvSpPr txBox="1"/>
          <p:nvPr/>
        </p:nvSpPr>
        <p:spPr>
          <a:xfrm>
            <a:off x="6217534" y="2860877"/>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23" name="Google Shape;6723;p82"/>
          <p:cNvSpPr txBox="1"/>
          <p:nvPr/>
        </p:nvSpPr>
        <p:spPr>
          <a:xfrm>
            <a:off x="4296138" y="488644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24" name="Google Shape;6724;p82"/>
          <p:cNvSpPr txBox="1"/>
          <p:nvPr/>
        </p:nvSpPr>
        <p:spPr>
          <a:xfrm>
            <a:off x="6231040" y="488837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25" name="Google Shape;6725;p82"/>
          <p:cNvSpPr txBox="1"/>
          <p:nvPr/>
        </p:nvSpPr>
        <p:spPr>
          <a:xfrm>
            <a:off x="8154365" y="4890306"/>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26" name="Google Shape;6726;p82"/>
          <p:cNvSpPr txBox="1"/>
          <p:nvPr/>
        </p:nvSpPr>
        <p:spPr>
          <a:xfrm>
            <a:off x="5442030" y="4029920"/>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27" name="Google Shape;6727;p82"/>
          <p:cNvSpPr txBox="1"/>
          <p:nvPr/>
        </p:nvSpPr>
        <p:spPr>
          <a:xfrm>
            <a:off x="7353782" y="4020275"/>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28" name="Google Shape;6728;p82"/>
          <p:cNvSpPr txBox="1"/>
          <p:nvPr/>
        </p:nvSpPr>
        <p:spPr>
          <a:xfrm>
            <a:off x="5443958" y="5953247"/>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29" name="Google Shape;6729;p82"/>
          <p:cNvSpPr txBox="1"/>
          <p:nvPr/>
        </p:nvSpPr>
        <p:spPr>
          <a:xfrm>
            <a:off x="7355710" y="5943602"/>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6730" name="Google Shape;6730;p82"/>
          <p:cNvSpPr txBox="1"/>
          <p:nvPr/>
        </p:nvSpPr>
        <p:spPr>
          <a:xfrm>
            <a:off x="5445886" y="2123956"/>
            <a:ext cx="30168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a:p>
        </p:txBody>
      </p:sp>
      <p:sp>
        <p:nvSpPr>
          <p:cNvPr id="6731" name="Google Shape;6731;p82"/>
          <p:cNvSpPr txBox="1"/>
          <p:nvPr/>
        </p:nvSpPr>
        <p:spPr>
          <a:xfrm>
            <a:off x="7357638" y="2114311"/>
            <a:ext cx="28886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grpSp>
        <p:nvGrpSpPr>
          <p:cNvPr id="6732" name="Google Shape;6732;p82"/>
          <p:cNvGrpSpPr/>
          <p:nvPr/>
        </p:nvGrpSpPr>
        <p:grpSpPr>
          <a:xfrm>
            <a:off x="584365" y="1859143"/>
            <a:ext cx="736099" cy="1229581"/>
            <a:chOff x="10030307" y="3444875"/>
            <a:chExt cx="736099" cy="1229581"/>
          </a:xfrm>
        </p:grpSpPr>
        <p:sp>
          <p:nvSpPr>
            <p:cNvPr id="6733" name="Google Shape;6733;p82"/>
            <p:cNvSpPr txBox="1"/>
            <p:nvPr/>
          </p:nvSpPr>
          <p:spPr>
            <a:xfrm>
              <a:off x="10030307" y="4089681"/>
              <a:ext cx="73609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t=1</a:t>
              </a:r>
              <a:endParaRPr/>
            </a:p>
          </p:txBody>
        </p:sp>
        <p:grpSp>
          <p:nvGrpSpPr>
            <p:cNvPr id="6734" name="Google Shape;6734;p82"/>
            <p:cNvGrpSpPr/>
            <p:nvPr/>
          </p:nvGrpSpPr>
          <p:grpSpPr>
            <a:xfrm>
              <a:off x="10034588" y="3444875"/>
              <a:ext cx="682627" cy="682625"/>
              <a:chOff x="10034589" y="3444875"/>
              <a:chExt cx="682627" cy="682625"/>
            </a:xfrm>
          </p:grpSpPr>
          <p:sp>
            <p:nvSpPr>
              <p:cNvPr id="6735" name="Google Shape;6735;p82"/>
              <p:cNvSpPr/>
              <p:nvPr/>
            </p:nvSpPr>
            <p:spPr>
              <a:xfrm>
                <a:off x="10039551" y="3449256"/>
                <a:ext cx="671332" cy="671332"/>
              </a:xfrm>
              <a:prstGeom prst="ellipse">
                <a:avLst/>
              </a:prstGeom>
              <a:noFill/>
              <a:ln cap="flat" cmpd="sng" w="34925">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6736" name="Google Shape;6736;p82"/>
              <p:cNvCxnSpPr/>
              <p:nvPr/>
            </p:nvCxnSpPr>
            <p:spPr>
              <a:xfrm>
                <a:off x="10372725" y="34448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737" name="Google Shape;6737;p82"/>
              <p:cNvCxnSpPr/>
              <p:nvPr/>
            </p:nvCxnSpPr>
            <p:spPr>
              <a:xfrm>
                <a:off x="10372725" y="406717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738" name="Google Shape;6738;p82"/>
              <p:cNvCxnSpPr/>
              <p:nvPr/>
            </p:nvCxnSpPr>
            <p:spPr>
              <a:xfrm rot="10800000">
                <a:off x="10064751"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739" name="Google Shape;6739;p82"/>
              <p:cNvCxnSpPr/>
              <p:nvPr/>
            </p:nvCxnSpPr>
            <p:spPr>
              <a:xfrm rot="10800000">
                <a:off x="10687053" y="3756025"/>
                <a:ext cx="0" cy="60325"/>
              </a:xfrm>
              <a:prstGeom prst="straightConnector1">
                <a:avLst/>
              </a:prstGeom>
              <a:noFill/>
              <a:ln cap="rnd" cmpd="sng" w="25400">
                <a:solidFill>
                  <a:srgbClr val="C00000"/>
                </a:solidFill>
                <a:prstDash val="solid"/>
                <a:miter lim="8000"/>
                <a:headEnd len="sm" w="sm" type="none"/>
                <a:tailEnd len="sm" w="sm" type="none"/>
              </a:ln>
            </p:spPr>
          </p:cxnSp>
          <p:cxnSp>
            <p:nvCxnSpPr>
              <p:cNvPr id="6740" name="Google Shape;6740;p82"/>
              <p:cNvCxnSpPr/>
              <p:nvPr/>
            </p:nvCxnSpPr>
            <p:spPr>
              <a:xfrm>
                <a:off x="10523542" y="40370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741" name="Google Shape;6741;p82"/>
              <p:cNvCxnSpPr/>
              <p:nvPr/>
            </p:nvCxnSpPr>
            <p:spPr>
              <a:xfrm>
                <a:off x="10202867" y="3490913"/>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742" name="Google Shape;6742;p82"/>
              <p:cNvCxnSpPr/>
              <p:nvPr/>
            </p:nvCxnSpPr>
            <p:spPr>
              <a:xfrm flipH="1">
                <a:off x="10196517" y="40338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743" name="Google Shape;6743;p82"/>
              <p:cNvCxnSpPr/>
              <p:nvPr/>
            </p:nvCxnSpPr>
            <p:spPr>
              <a:xfrm flipH="1">
                <a:off x="10517192" y="3487738"/>
                <a:ext cx="26983" cy="42862"/>
              </a:xfrm>
              <a:prstGeom prst="straightConnector1">
                <a:avLst/>
              </a:prstGeom>
              <a:noFill/>
              <a:ln cap="rnd" cmpd="sng" w="25400">
                <a:solidFill>
                  <a:srgbClr val="C00000"/>
                </a:solidFill>
                <a:prstDash val="solid"/>
                <a:miter lim="8000"/>
                <a:headEnd len="sm" w="sm" type="none"/>
                <a:tailEnd len="sm" w="sm" type="none"/>
              </a:ln>
            </p:spPr>
          </p:cxnSp>
          <p:cxnSp>
            <p:nvCxnSpPr>
              <p:cNvPr id="6744" name="Google Shape;6744;p82"/>
              <p:cNvCxnSpPr/>
              <p:nvPr/>
            </p:nvCxnSpPr>
            <p:spPr>
              <a:xfrm flipH="1">
                <a:off x="10631493" y="36115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745" name="Google Shape;6745;p82"/>
              <p:cNvCxnSpPr/>
              <p:nvPr/>
            </p:nvCxnSpPr>
            <p:spPr>
              <a:xfrm flipH="1">
                <a:off x="10085393" y="3929065"/>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746" name="Google Shape;6746;p82"/>
              <p:cNvCxnSpPr/>
              <p:nvPr/>
            </p:nvCxnSpPr>
            <p:spPr>
              <a:xfrm rot="10800000">
                <a:off x="10094918" y="3614740"/>
                <a:ext cx="36507" cy="26985"/>
              </a:xfrm>
              <a:prstGeom prst="straightConnector1">
                <a:avLst/>
              </a:prstGeom>
              <a:noFill/>
              <a:ln cap="rnd" cmpd="sng" w="25400">
                <a:solidFill>
                  <a:srgbClr val="C00000"/>
                </a:solidFill>
                <a:prstDash val="solid"/>
                <a:miter lim="8000"/>
                <a:headEnd len="sm" w="sm" type="none"/>
                <a:tailEnd len="sm" w="sm" type="none"/>
              </a:ln>
            </p:spPr>
          </p:cxnSp>
          <p:cxnSp>
            <p:nvCxnSpPr>
              <p:cNvPr id="6747" name="Google Shape;6747;p82"/>
              <p:cNvCxnSpPr/>
              <p:nvPr/>
            </p:nvCxnSpPr>
            <p:spPr>
              <a:xfrm rot="10800000">
                <a:off x="10631493" y="3932240"/>
                <a:ext cx="36507" cy="26985"/>
              </a:xfrm>
              <a:prstGeom prst="straightConnector1">
                <a:avLst/>
              </a:prstGeom>
              <a:noFill/>
              <a:ln cap="rnd" cmpd="sng" w="25400">
                <a:solidFill>
                  <a:srgbClr val="C00000"/>
                </a:solidFill>
                <a:prstDash val="solid"/>
                <a:miter lim="8000"/>
                <a:headEnd len="sm" w="sm" type="none"/>
                <a:tailEnd len="sm" w="sm" type="none"/>
              </a:ln>
            </p:spPr>
          </p:cxnSp>
          <p:sp>
            <p:nvSpPr>
              <p:cNvPr id="6748" name="Google Shape;6748;p82"/>
              <p:cNvSpPr/>
              <p:nvPr/>
            </p:nvSpPr>
            <p:spPr>
              <a:xfrm>
                <a:off x="10331450" y="3743325"/>
                <a:ext cx="82550" cy="87136"/>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cxnSp>
        <p:nvCxnSpPr>
          <p:cNvPr id="6749" name="Google Shape;6749;p82"/>
          <p:cNvCxnSpPr/>
          <p:nvPr/>
        </p:nvCxnSpPr>
        <p:spPr>
          <a:xfrm>
            <a:off x="919556" y="1995948"/>
            <a:ext cx="0" cy="196031"/>
          </a:xfrm>
          <a:prstGeom prst="straightConnector1">
            <a:avLst/>
          </a:prstGeom>
          <a:noFill/>
          <a:ln cap="flat" cmpd="sng" w="25400">
            <a:solidFill>
              <a:srgbClr val="C00000"/>
            </a:solidFill>
            <a:prstDash val="solid"/>
            <a:miter lim="8000"/>
            <a:headEnd len="sm" w="sm" type="none"/>
            <a:tailEnd len="sm" w="sm" type="none"/>
          </a:ln>
        </p:spPr>
      </p:cxnSp>
      <p:sp>
        <p:nvSpPr>
          <p:cNvPr id="6750" name="Google Shape;6750;p82"/>
          <p:cNvSpPr/>
          <p:nvPr/>
        </p:nvSpPr>
        <p:spPr>
          <a:xfrm>
            <a:off x="6626942" y="275303"/>
            <a:ext cx="3038168" cy="629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751" name="Google Shape;6751;p82"/>
          <p:cNvGrpSpPr/>
          <p:nvPr/>
        </p:nvGrpSpPr>
        <p:grpSpPr>
          <a:xfrm>
            <a:off x="6656438" y="235974"/>
            <a:ext cx="2493133" cy="1917291"/>
            <a:chOff x="7010400" y="108155"/>
            <a:chExt cx="2493133" cy="1917291"/>
          </a:xfrm>
        </p:grpSpPr>
        <p:sp>
          <p:nvSpPr>
            <p:cNvPr id="6752" name="Google Shape;6752;p82"/>
            <p:cNvSpPr/>
            <p:nvPr/>
          </p:nvSpPr>
          <p:spPr>
            <a:xfrm>
              <a:off x="7010400" y="176982"/>
              <a:ext cx="2340077" cy="1848464"/>
            </a:xfrm>
            <a:custGeom>
              <a:rect b="b" l="l" r="r" t="t"/>
              <a:pathLst>
                <a:path extrusionOk="0" h="1848464" w="2340077">
                  <a:moveTo>
                    <a:pt x="0" y="1691148"/>
                  </a:moveTo>
                  <a:cubicBezTo>
                    <a:pt x="167148" y="1304412"/>
                    <a:pt x="285136" y="770193"/>
                    <a:pt x="383458" y="0"/>
                  </a:cubicBezTo>
                  <a:lnTo>
                    <a:pt x="2340077" y="1386348"/>
                  </a:lnTo>
                  <a:cubicBezTo>
                    <a:pt x="871794" y="1579716"/>
                    <a:pt x="740695" y="1645264"/>
                    <a:pt x="137651" y="1848464"/>
                  </a:cubicBezTo>
                  <a:lnTo>
                    <a:pt x="0" y="1691148"/>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753" name="Google Shape;6753;p82"/>
            <p:cNvGrpSpPr/>
            <p:nvPr/>
          </p:nvGrpSpPr>
          <p:grpSpPr>
            <a:xfrm>
              <a:off x="7323884" y="108155"/>
              <a:ext cx="2179649" cy="1445342"/>
              <a:chOff x="7323884" y="108155"/>
              <a:chExt cx="2179649" cy="1445342"/>
            </a:xfrm>
          </p:grpSpPr>
          <p:sp>
            <p:nvSpPr>
              <p:cNvPr id="6754" name="Google Shape;6754;p82"/>
              <p:cNvSpPr/>
              <p:nvPr/>
            </p:nvSpPr>
            <p:spPr>
              <a:xfrm>
                <a:off x="7413523" y="108155"/>
                <a:ext cx="1936954" cy="14355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755" name="Google Shape;6755;p82"/>
              <p:cNvGrpSpPr/>
              <p:nvPr/>
            </p:nvGrpSpPr>
            <p:grpSpPr>
              <a:xfrm>
                <a:off x="7323884" y="120836"/>
                <a:ext cx="2179649" cy="1432661"/>
                <a:chOff x="7323884" y="120836"/>
                <a:chExt cx="2179649" cy="1432661"/>
              </a:xfrm>
            </p:grpSpPr>
            <p:sp>
              <p:nvSpPr>
                <p:cNvPr id="6756" name="Google Shape;6756;p82"/>
                <p:cNvSpPr/>
                <p:nvPr/>
              </p:nvSpPr>
              <p:spPr>
                <a:xfrm>
                  <a:off x="7409951" y="124866"/>
                  <a:ext cx="1940525"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757" name="Google Shape;6757;p82"/>
                <p:cNvSpPr txBox="1"/>
                <p:nvPr/>
              </p:nvSpPr>
              <p:spPr>
                <a:xfrm>
                  <a:off x="7799764" y="120836"/>
                  <a:ext cx="111719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b:</a:t>
                  </a:r>
                  <a:endParaRPr/>
                </a:p>
              </p:txBody>
            </p:sp>
            <p:cxnSp>
              <p:nvCxnSpPr>
                <p:cNvPr id="6758" name="Google Shape;6758;p82"/>
                <p:cNvCxnSpPr/>
                <p:nvPr/>
              </p:nvCxnSpPr>
              <p:spPr>
                <a:xfrm>
                  <a:off x="7401895" y="49525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759" name="Google Shape;6759;p82"/>
                <p:cNvSpPr/>
                <p:nvPr/>
              </p:nvSpPr>
              <p:spPr>
                <a:xfrm>
                  <a:off x="7404189" y="124866"/>
                  <a:ext cx="1936455" cy="1428631"/>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760" name="Google Shape;6760;p82"/>
                <p:cNvSpPr txBox="1"/>
                <p:nvPr/>
              </p:nvSpPr>
              <p:spPr>
                <a:xfrm>
                  <a:off x="8392488" y="560500"/>
                  <a:ext cx="1111045"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(f)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(g)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(h) = ∞</a:t>
                  </a:r>
                  <a:endParaRPr/>
                </a:p>
                <a:p>
                  <a:pPr indent="0" lvl="0" marL="0" marR="0" rtl="0" algn="l">
                    <a:lnSpc>
                      <a:spcPct val="90000"/>
                    </a:lnSpc>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b</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sp>
              <p:nvSpPr>
                <p:cNvPr id="6761" name="Google Shape;6761;p82"/>
                <p:cNvSpPr txBox="1"/>
                <p:nvPr/>
              </p:nvSpPr>
              <p:spPr>
                <a:xfrm>
                  <a:off x="7323884" y="557387"/>
                  <a:ext cx="1117197" cy="978729"/>
                </a:xfrm>
                <a:prstGeom prst="rect">
                  <a:avLst/>
                </a:prstGeom>
                <a:noFill/>
                <a:ln>
                  <a:noFill/>
                </a:ln>
              </p:spPr>
              <p:txBody>
                <a:bodyPr anchorCtr="0" anchor="t" bIns="45700" lIns="91425" spcFirstLastPara="1" rIns="91425" wrap="square" tIns="45700">
                  <a:spAutoFit/>
                </a:bodyPr>
                <a:lstStyle/>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(a) = 8</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(c) = 1</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lnSpc>
                      <a:spcPct val="90000"/>
                    </a:lnSpc>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b</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p:txBody>
            </p:sp>
          </p:grpSp>
        </p:grpSp>
      </p:grpSp>
      <p:sp>
        <p:nvSpPr>
          <p:cNvPr id="6762" name="Google Shape;6762;p82"/>
          <p:cNvSpPr txBox="1"/>
          <p:nvPr/>
        </p:nvSpPr>
        <p:spPr>
          <a:xfrm flipH="1">
            <a:off x="348626" y="3078991"/>
            <a:ext cx="2195814" cy="5909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90000"/>
              </a:lnSpc>
              <a:spcBef>
                <a:spcPts val="0"/>
              </a:spcBef>
              <a:spcAft>
                <a:spcPts val="0"/>
              </a:spcAft>
              <a:buClr>
                <a:srgbClr val="0000A8"/>
              </a:buClr>
              <a:buSzPts val="1800"/>
              <a:buFont typeface="Noto Sans Symbols"/>
              <a:buChar char="▪"/>
            </a:pPr>
            <a:r>
              <a:rPr lang="en-US" sz="1800">
                <a:solidFill>
                  <a:srgbClr val="000000"/>
                </a:solidFill>
                <a:latin typeface="Calibri"/>
                <a:ea typeface="Calibri"/>
                <a:cs typeface="Calibri"/>
                <a:sym typeface="Calibri"/>
              </a:rPr>
              <a:t>e receives DVs from b, d, f, h</a:t>
            </a:r>
            <a:endParaRPr/>
          </a:p>
        </p:txBody>
      </p:sp>
      <p:grpSp>
        <p:nvGrpSpPr>
          <p:cNvPr id="6763" name="Google Shape;6763;p82"/>
          <p:cNvGrpSpPr/>
          <p:nvPr/>
        </p:nvGrpSpPr>
        <p:grpSpPr>
          <a:xfrm>
            <a:off x="4333785" y="1906063"/>
            <a:ext cx="4395351" cy="404576"/>
            <a:chOff x="4333785" y="5772213"/>
            <a:chExt cx="4395351" cy="404576"/>
          </a:xfrm>
        </p:grpSpPr>
        <p:grpSp>
          <p:nvGrpSpPr>
            <p:cNvPr id="6764" name="Google Shape;6764;p82"/>
            <p:cNvGrpSpPr/>
            <p:nvPr/>
          </p:nvGrpSpPr>
          <p:grpSpPr>
            <a:xfrm>
              <a:off x="4333785" y="5772213"/>
              <a:ext cx="531821" cy="369069"/>
              <a:chOff x="1348328" y="2475647"/>
              <a:chExt cx="603916" cy="419100"/>
            </a:xfrm>
          </p:grpSpPr>
          <p:grpSp>
            <p:nvGrpSpPr>
              <p:cNvPr id="6765" name="Google Shape;6765;p82"/>
              <p:cNvGrpSpPr/>
              <p:nvPr/>
            </p:nvGrpSpPr>
            <p:grpSpPr>
              <a:xfrm>
                <a:off x="1348328" y="2555748"/>
                <a:ext cx="603916" cy="308999"/>
                <a:chOff x="5278570" y="2983486"/>
                <a:chExt cx="501650" cy="233363"/>
              </a:xfrm>
            </p:grpSpPr>
            <p:sp>
              <p:nvSpPr>
                <p:cNvPr id="6766" name="Google Shape;6766;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767" name="Google Shape;6767;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768" name="Google Shape;6768;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769" name="Google Shape;6769;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770" name="Google Shape;6770;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771" name="Google Shape;6771;p82"/>
              <p:cNvGrpSpPr/>
              <p:nvPr/>
            </p:nvGrpSpPr>
            <p:grpSpPr>
              <a:xfrm>
                <a:off x="1456374" y="2475647"/>
                <a:ext cx="355165" cy="419100"/>
                <a:chOff x="2944" y="2405"/>
                <a:chExt cx="227" cy="264"/>
              </a:xfrm>
            </p:grpSpPr>
            <p:sp>
              <p:nvSpPr>
                <p:cNvPr id="6772" name="Google Shape;6772;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773" name="Google Shape;6773;p82"/>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a:t>
                  </a:r>
                  <a:endParaRPr sz="2000">
                    <a:solidFill>
                      <a:srgbClr val="000000"/>
                    </a:solidFill>
                    <a:latin typeface="Arial"/>
                    <a:ea typeface="Arial"/>
                    <a:cs typeface="Arial"/>
                    <a:sym typeface="Arial"/>
                  </a:endParaRPr>
                </a:p>
              </p:txBody>
            </p:sp>
          </p:grpSp>
        </p:grpSp>
        <p:grpSp>
          <p:nvGrpSpPr>
            <p:cNvPr id="6774" name="Google Shape;6774;p82"/>
            <p:cNvGrpSpPr/>
            <p:nvPr/>
          </p:nvGrpSpPr>
          <p:grpSpPr>
            <a:xfrm>
              <a:off x="6263949" y="5807720"/>
              <a:ext cx="531821" cy="369069"/>
              <a:chOff x="1348328" y="2507397"/>
              <a:chExt cx="603916" cy="419100"/>
            </a:xfrm>
          </p:grpSpPr>
          <p:grpSp>
            <p:nvGrpSpPr>
              <p:cNvPr id="6775" name="Google Shape;6775;p82"/>
              <p:cNvGrpSpPr/>
              <p:nvPr/>
            </p:nvGrpSpPr>
            <p:grpSpPr>
              <a:xfrm>
                <a:off x="1348328" y="2555748"/>
                <a:ext cx="603916" cy="308999"/>
                <a:chOff x="5278570" y="2983486"/>
                <a:chExt cx="501650" cy="233363"/>
              </a:xfrm>
            </p:grpSpPr>
            <p:sp>
              <p:nvSpPr>
                <p:cNvPr id="6776" name="Google Shape;6776;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777" name="Google Shape;6777;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778" name="Google Shape;6778;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779" name="Google Shape;6779;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780" name="Google Shape;6780;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781" name="Google Shape;6781;p82"/>
              <p:cNvGrpSpPr/>
              <p:nvPr/>
            </p:nvGrpSpPr>
            <p:grpSpPr>
              <a:xfrm>
                <a:off x="1456374" y="2507397"/>
                <a:ext cx="355165" cy="419100"/>
                <a:chOff x="2944" y="2425"/>
                <a:chExt cx="227" cy="264"/>
              </a:xfrm>
            </p:grpSpPr>
            <p:sp>
              <p:nvSpPr>
                <p:cNvPr id="6782" name="Google Shape;6782;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783" name="Google Shape;6783;p82"/>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a:t>
                  </a:r>
                  <a:endParaRPr sz="2000">
                    <a:solidFill>
                      <a:srgbClr val="000000"/>
                    </a:solidFill>
                    <a:latin typeface="Arial"/>
                    <a:ea typeface="Arial"/>
                    <a:cs typeface="Arial"/>
                    <a:sym typeface="Arial"/>
                  </a:endParaRPr>
                </a:p>
              </p:txBody>
            </p:sp>
          </p:grpSp>
        </p:grpSp>
        <p:grpSp>
          <p:nvGrpSpPr>
            <p:cNvPr id="6784" name="Google Shape;6784;p82"/>
            <p:cNvGrpSpPr/>
            <p:nvPr/>
          </p:nvGrpSpPr>
          <p:grpSpPr>
            <a:xfrm>
              <a:off x="8197315" y="5805271"/>
              <a:ext cx="531821" cy="369069"/>
              <a:chOff x="1348328" y="2507397"/>
              <a:chExt cx="603916" cy="419100"/>
            </a:xfrm>
          </p:grpSpPr>
          <p:grpSp>
            <p:nvGrpSpPr>
              <p:cNvPr id="6785" name="Google Shape;6785;p82"/>
              <p:cNvGrpSpPr/>
              <p:nvPr/>
            </p:nvGrpSpPr>
            <p:grpSpPr>
              <a:xfrm>
                <a:off x="1348328" y="2555748"/>
                <a:ext cx="603916" cy="308999"/>
                <a:chOff x="5278570" y="2983486"/>
                <a:chExt cx="501650" cy="233363"/>
              </a:xfrm>
            </p:grpSpPr>
            <p:sp>
              <p:nvSpPr>
                <p:cNvPr id="6786" name="Google Shape;6786;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787" name="Google Shape;6787;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788" name="Google Shape;6788;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789" name="Google Shape;6789;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790" name="Google Shape;6790;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791" name="Google Shape;6791;p82"/>
              <p:cNvGrpSpPr/>
              <p:nvPr/>
            </p:nvGrpSpPr>
            <p:grpSpPr>
              <a:xfrm>
                <a:off x="1464216" y="2507397"/>
                <a:ext cx="341085" cy="419100"/>
                <a:chOff x="2949" y="2425"/>
                <a:chExt cx="218" cy="264"/>
              </a:xfrm>
            </p:grpSpPr>
            <p:sp>
              <p:nvSpPr>
                <p:cNvPr id="6792" name="Google Shape;6792;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793" name="Google Shape;6793;p82"/>
                <p:cNvSpPr txBox="1"/>
                <p:nvPr/>
              </p:nvSpPr>
              <p:spPr>
                <a:xfrm>
                  <a:off x="2949" y="2425"/>
                  <a:ext cx="218"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a:t>
                  </a:r>
                  <a:endParaRPr sz="2000">
                    <a:solidFill>
                      <a:srgbClr val="000000"/>
                    </a:solidFill>
                    <a:latin typeface="Arial"/>
                    <a:ea typeface="Arial"/>
                    <a:cs typeface="Arial"/>
                    <a:sym typeface="Arial"/>
                  </a:endParaRPr>
                </a:p>
              </p:txBody>
            </p:sp>
          </p:grpSp>
        </p:grpSp>
      </p:grpSp>
      <p:sp>
        <p:nvSpPr>
          <p:cNvPr id="6794" name="Google Shape;6794;p82"/>
          <p:cNvSpPr/>
          <p:nvPr/>
        </p:nvSpPr>
        <p:spPr>
          <a:xfrm>
            <a:off x="6774755" y="1106458"/>
            <a:ext cx="2967758" cy="3014570"/>
          </a:xfrm>
          <a:custGeom>
            <a:rect b="b" l="l" r="r" t="t"/>
            <a:pathLst>
              <a:path extrusionOk="0" h="3014570" w="2967758">
                <a:moveTo>
                  <a:pt x="0" y="2877901"/>
                </a:moveTo>
                <a:cubicBezTo>
                  <a:pt x="1740309" y="2497721"/>
                  <a:pt x="2305008" y="1488604"/>
                  <a:pt x="2919524" y="0"/>
                </a:cubicBezTo>
                <a:cubicBezTo>
                  <a:pt x="2919524" y="783303"/>
                  <a:pt x="2990645" y="1719007"/>
                  <a:pt x="2960165" y="2583590"/>
                </a:cubicBezTo>
                <a:cubicBezTo>
                  <a:pt x="2152608" y="2386944"/>
                  <a:pt x="1676726" y="2623574"/>
                  <a:pt x="50143" y="3014570"/>
                </a:cubicBezTo>
                <a:lnTo>
                  <a:pt x="0" y="2877901"/>
                </a:ln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795" name="Google Shape;6795;p82"/>
          <p:cNvSpPr/>
          <p:nvPr/>
        </p:nvSpPr>
        <p:spPr>
          <a:xfrm>
            <a:off x="8446236" y="3874156"/>
            <a:ext cx="1239192" cy="2428567"/>
          </a:xfrm>
          <a:custGeom>
            <a:rect b="b" l="l" r="r" t="t"/>
            <a:pathLst>
              <a:path extrusionOk="0" h="2428567" w="1568765">
                <a:moveTo>
                  <a:pt x="360141" y="224175"/>
                </a:moveTo>
                <a:cubicBezTo>
                  <a:pt x="978394" y="281530"/>
                  <a:pt x="1236509" y="288085"/>
                  <a:pt x="1558933" y="0"/>
                </a:cubicBezTo>
                <a:cubicBezTo>
                  <a:pt x="1562210" y="809522"/>
                  <a:pt x="1565488" y="1619045"/>
                  <a:pt x="1568765" y="2428567"/>
                </a:cubicBezTo>
                <a:cubicBezTo>
                  <a:pt x="1218082" y="2058219"/>
                  <a:pt x="714478" y="485712"/>
                  <a:pt x="0" y="341506"/>
                </a:cubicBezTo>
                <a:cubicBezTo>
                  <a:pt x="0" y="295622"/>
                  <a:pt x="360141" y="270059"/>
                  <a:pt x="360141" y="224175"/>
                </a:cubicBezTo>
                <a:close/>
              </a:path>
            </a:pathLst>
          </a:custGeom>
          <a:gradFill>
            <a:gsLst>
              <a:gs pos="0">
                <a:srgbClr val="F2F2F2"/>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796" name="Google Shape;6796;p82"/>
          <p:cNvGrpSpPr/>
          <p:nvPr/>
        </p:nvGrpSpPr>
        <p:grpSpPr>
          <a:xfrm>
            <a:off x="9656848" y="3847117"/>
            <a:ext cx="1149458" cy="2667397"/>
            <a:chOff x="9764348" y="1447800"/>
            <a:chExt cx="1149458" cy="2667397"/>
          </a:xfrm>
        </p:grpSpPr>
        <p:sp>
          <p:nvSpPr>
            <p:cNvPr id="6797" name="Google Shape;6797;p82"/>
            <p:cNvSpPr/>
            <p:nvPr/>
          </p:nvSpPr>
          <p:spPr>
            <a:xfrm>
              <a:off x="9783097" y="1447800"/>
              <a:ext cx="1130709" cy="24261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798" name="Google Shape;6798;p82"/>
            <p:cNvGrpSpPr/>
            <p:nvPr/>
          </p:nvGrpSpPr>
          <p:grpSpPr>
            <a:xfrm>
              <a:off x="9764348" y="1447800"/>
              <a:ext cx="1130291" cy="2667397"/>
              <a:chOff x="9472119" y="702026"/>
              <a:chExt cx="1130291" cy="2667397"/>
            </a:xfrm>
          </p:grpSpPr>
          <p:sp>
            <p:nvSpPr>
              <p:cNvPr id="6799" name="Google Shape;6799;p82"/>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00" name="Google Shape;6800;p82"/>
              <p:cNvSpPr txBox="1"/>
              <p:nvPr/>
            </p:nvSpPr>
            <p:spPr>
              <a:xfrm>
                <a:off x="9472119" y="702026"/>
                <a:ext cx="1088020"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f:</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(b)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(c)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(f)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(h) = ∞</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1</a:t>
                </a:r>
                <a:endParaRPr sz="1600">
                  <a:solidFill>
                    <a:srgbClr val="000000"/>
                  </a:solidFill>
                  <a:latin typeface="Calibri"/>
                  <a:ea typeface="Calibri"/>
                  <a:cs typeface="Calibri"/>
                  <a:sym typeface="Calibri"/>
                </a:endParaRPr>
              </a:p>
            </p:txBody>
          </p:sp>
          <p:cxnSp>
            <p:nvCxnSpPr>
              <p:cNvPr id="6801" name="Google Shape;6801;p82"/>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802" name="Google Shape;6802;p82"/>
              <p:cNvSpPr/>
              <p:nvPr/>
            </p:nvSpPr>
            <p:spPr>
              <a:xfrm>
                <a:off x="9479666" y="706055"/>
                <a:ext cx="1122744" cy="262077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nvGrpSpPr>
          <p:cNvPr id="6803" name="Google Shape;6803;p82"/>
          <p:cNvGrpSpPr/>
          <p:nvPr/>
        </p:nvGrpSpPr>
        <p:grpSpPr>
          <a:xfrm>
            <a:off x="9685117" y="1067456"/>
            <a:ext cx="1155603" cy="2672477"/>
            <a:chOff x="10325197" y="813456"/>
            <a:chExt cx="1155603" cy="2672477"/>
          </a:xfrm>
        </p:grpSpPr>
        <p:sp>
          <p:nvSpPr>
            <p:cNvPr id="6804" name="Google Shape;6804;p82"/>
            <p:cNvSpPr/>
            <p:nvPr/>
          </p:nvSpPr>
          <p:spPr>
            <a:xfrm>
              <a:off x="10355334" y="813456"/>
              <a:ext cx="1125466" cy="263078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05" name="Google Shape;6805;p82"/>
            <p:cNvSpPr/>
            <p:nvPr/>
          </p:nvSpPr>
          <p:spPr>
            <a:xfrm>
              <a:off x="10338507" y="825123"/>
              <a:ext cx="1141582" cy="407835"/>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06" name="Google Shape;6806;p82"/>
            <p:cNvSpPr txBox="1"/>
            <p:nvPr/>
          </p:nvSpPr>
          <p:spPr>
            <a:xfrm>
              <a:off x="10325197" y="821098"/>
              <a:ext cx="1117197" cy="266483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e:</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(b)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(c)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(d)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(e)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(f)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(g)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e</a:t>
              </a:r>
              <a:r>
                <a:rPr b="0" i="0" lang="en-US" sz="1600" u="none" cap="none" strike="noStrike">
                  <a:solidFill>
                    <a:srgbClr val="000000"/>
                  </a:solidFill>
                  <a:latin typeface="Calibri"/>
                  <a:ea typeface="Calibri"/>
                  <a:cs typeface="Calibri"/>
                  <a:sym typeface="Calibri"/>
                </a:rPr>
                <a:t>(h) = 1</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e</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807" name="Google Shape;6807;p82"/>
            <p:cNvCxnSpPr/>
            <p:nvPr/>
          </p:nvCxnSpPr>
          <p:spPr>
            <a:xfrm>
              <a:off x="10330450" y="1225636"/>
              <a:ext cx="1148618" cy="0"/>
            </a:xfrm>
            <a:prstGeom prst="straightConnector1">
              <a:avLst/>
            </a:prstGeom>
            <a:noFill/>
            <a:ln cap="flat" cmpd="sng" w="12700">
              <a:solidFill>
                <a:schemeClr val="dk1"/>
              </a:solidFill>
              <a:prstDash val="solid"/>
              <a:miter lim="8000"/>
              <a:headEnd len="sm" w="sm" type="none"/>
              <a:tailEnd len="sm" w="sm" type="none"/>
            </a:ln>
          </p:spPr>
        </p:cxnSp>
        <p:sp>
          <p:nvSpPr>
            <p:cNvPr id="6808" name="Google Shape;6808;p82"/>
            <p:cNvSpPr/>
            <p:nvPr/>
          </p:nvSpPr>
          <p:spPr>
            <a:xfrm>
              <a:off x="10332745" y="825123"/>
              <a:ext cx="1122744" cy="2616597"/>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6809" name="Google Shape;6809;p82"/>
          <p:cNvGrpSpPr/>
          <p:nvPr/>
        </p:nvGrpSpPr>
        <p:grpSpPr>
          <a:xfrm>
            <a:off x="2595648" y="4070637"/>
            <a:ext cx="1149458" cy="2667397"/>
            <a:chOff x="9764348" y="1447800"/>
            <a:chExt cx="1149458" cy="2667397"/>
          </a:xfrm>
        </p:grpSpPr>
        <p:sp>
          <p:nvSpPr>
            <p:cNvPr id="6810" name="Google Shape;6810;p82"/>
            <p:cNvSpPr/>
            <p:nvPr/>
          </p:nvSpPr>
          <p:spPr>
            <a:xfrm>
              <a:off x="9783097" y="1447800"/>
              <a:ext cx="1130709" cy="24261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811" name="Google Shape;6811;p82"/>
            <p:cNvGrpSpPr/>
            <p:nvPr/>
          </p:nvGrpSpPr>
          <p:grpSpPr>
            <a:xfrm>
              <a:off x="9764348" y="1447800"/>
              <a:ext cx="1130291" cy="2667397"/>
              <a:chOff x="9472119" y="702026"/>
              <a:chExt cx="1130291" cy="2667397"/>
            </a:xfrm>
          </p:grpSpPr>
          <p:sp>
            <p:nvSpPr>
              <p:cNvPr id="6812" name="Google Shape;6812;p82"/>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13" name="Google Shape;6813;p82"/>
              <p:cNvSpPr txBox="1"/>
              <p:nvPr/>
            </p:nvSpPr>
            <p:spPr>
              <a:xfrm>
                <a:off x="9472119" y="702026"/>
                <a:ext cx="1088020"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h:</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(a) = ∞</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(b)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(c)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(d)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(f)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(g)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(h) = 0</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1</a:t>
                </a:r>
                <a:endParaRPr sz="1600">
                  <a:solidFill>
                    <a:srgbClr val="000000"/>
                  </a:solidFill>
                  <a:latin typeface="Calibri"/>
                  <a:ea typeface="Calibri"/>
                  <a:cs typeface="Calibri"/>
                  <a:sym typeface="Calibri"/>
                </a:endParaRPr>
              </a:p>
            </p:txBody>
          </p:sp>
          <p:cxnSp>
            <p:nvCxnSpPr>
              <p:cNvPr id="6814" name="Google Shape;6814;p82"/>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815" name="Google Shape;6815;p82"/>
              <p:cNvSpPr/>
              <p:nvPr/>
            </p:nvSpPr>
            <p:spPr>
              <a:xfrm>
                <a:off x="9479666" y="706055"/>
                <a:ext cx="1122744" cy="262077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grpSp>
        <p:nvGrpSpPr>
          <p:cNvPr id="6816" name="Google Shape;6816;p82"/>
          <p:cNvGrpSpPr/>
          <p:nvPr/>
        </p:nvGrpSpPr>
        <p:grpSpPr>
          <a:xfrm>
            <a:off x="2544848" y="1246157"/>
            <a:ext cx="1149458" cy="2667397"/>
            <a:chOff x="9764348" y="1447800"/>
            <a:chExt cx="1149458" cy="2667397"/>
          </a:xfrm>
        </p:grpSpPr>
        <p:sp>
          <p:nvSpPr>
            <p:cNvPr id="6817" name="Google Shape;6817;p82"/>
            <p:cNvSpPr/>
            <p:nvPr/>
          </p:nvSpPr>
          <p:spPr>
            <a:xfrm>
              <a:off x="9783097" y="1447800"/>
              <a:ext cx="1130709" cy="24261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818" name="Google Shape;6818;p82"/>
            <p:cNvGrpSpPr/>
            <p:nvPr/>
          </p:nvGrpSpPr>
          <p:grpSpPr>
            <a:xfrm>
              <a:off x="9764348" y="1447800"/>
              <a:ext cx="1130291" cy="2667397"/>
              <a:chOff x="9472119" y="702026"/>
              <a:chExt cx="1130291" cy="2667397"/>
            </a:xfrm>
          </p:grpSpPr>
          <p:sp>
            <p:nvSpPr>
              <p:cNvPr id="6819" name="Google Shape;6819;p82"/>
              <p:cNvSpPr/>
              <p:nvPr/>
            </p:nvSpPr>
            <p:spPr>
              <a:xfrm>
                <a:off x="9485428" y="706056"/>
                <a:ext cx="1116982" cy="370390"/>
              </a:xfrm>
              <a:prstGeom prst="rect">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20" name="Google Shape;6820;p82"/>
              <p:cNvSpPr txBox="1"/>
              <p:nvPr/>
            </p:nvSpPr>
            <p:spPr>
              <a:xfrm>
                <a:off x="9472119" y="702026"/>
                <a:ext cx="1088020" cy="26673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FFFF"/>
                    </a:solidFill>
                    <a:latin typeface="Calibri"/>
                    <a:ea typeface="Calibri"/>
                    <a:cs typeface="Calibri"/>
                    <a:sym typeface="Calibri"/>
                  </a:rPr>
                  <a:t>DV in d:</a:t>
                </a:r>
                <a:endParaRPr/>
              </a:p>
              <a:p>
                <a:pPr indent="0" lvl="1" marL="114300" marR="0" rtl="0" algn="l">
                  <a:spcBef>
                    <a:spcPts val="40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(a)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(b)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(c) = ∞</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(d) = 0</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(e) = 1</a:t>
                </a:r>
                <a:endParaRPr b="0" i="0" sz="1600" u="none" cap="none" strike="noStrike">
                  <a:solidFill>
                    <a:srgbClr val="000000"/>
                  </a:solidFill>
                  <a:latin typeface="Calibri"/>
                  <a:ea typeface="Calibri"/>
                  <a:cs typeface="Calibri"/>
                  <a:sym typeface="Calibri"/>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(f) = ∞ 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(g) = 1</a:t>
                </a:r>
                <a:endParaRPr/>
              </a:p>
              <a:p>
                <a:pPr indent="0" lvl="1" marL="114300" marR="0" rtl="0" algn="l">
                  <a:spcBef>
                    <a:spcPts val="0"/>
                  </a:spcBef>
                  <a:spcAft>
                    <a:spcPts val="0"/>
                  </a:spcAft>
                  <a:buNone/>
                </a:pPr>
                <a:r>
                  <a:rPr b="0" i="0" lang="en-US" sz="1600" u="none" cap="none" strike="noStrike">
                    <a:solidFill>
                      <a:srgbClr val="000000"/>
                    </a:solidFill>
                    <a:latin typeface="Calibri"/>
                    <a:ea typeface="Calibri"/>
                    <a:cs typeface="Calibri"/>
                    <a:sym typeface="Calibri"/>
                  </a:rPr>
                  <a:t>D</a:t>
                </a:r>
                <a:r>
                  <a:rPr b="0" baseline="-25000" i="0" lang="en-US" sz="1600" u="none" cap="none" strike="noStrike">
                    <a:solidFill>
                      <a:srgbClr val="000000"/>
                    </a:solidFill>
                    <a:latin typeface="Calibri"/>
                    <a:ea typeface="Calibri"/>
                    <a:cs typeface="Calibri"/>
                    <a:sym typeface="Calibri"/>
                  </a:rPr>
                  <a:t>c</a:t>
                </a:r>
                <a:r>
                  <a:rPr b="0" i="0" lang="en-US" sz="1600" u="none" cap="none" strike="noStrike">
                    <a:solidFill>
                      <a:srgbClr val="000000"/>
                    </a:solidFill>
                    <a:latin typeface="Calibri"/>
                    <a:ea typeface="Calibri"/>
                    <a:cs typeface="Calibri"/>
                    <a:sym typeface="Calibri"/>
                  </a:rPr>
                  <a:t>(h) = ∞</a:t>
                </a:r>
                <a:endParaRPr b="0" i="0" sz="1600" u="none" cap="none" strike="noStrike">
                  <a:solidFill>
                    <a:srgbClr val="000000"/>
                  </a:solidFill>
                  <a:latin typeface="Calibri"/>
                  <a:ea typeface="Calibri"/>
                  <a:cs typeface="Calibri"/>
                  <a:sym typeface="Calibri"/>
                </a:endParaRPr>
              </a:p>
              <a:p>
                <a:pPr indent="0" lvl="0" marL="114300" marR="0" rtl="0" algn="l">
                  <a:spcBef>
                    <a:spcPts val="0"/>
                  </a:spcBef>
                  <a:spcAft>
                    <a:spcPts val="0"/>
                  </a:spcAft>
                  <a:buNone/>
                </a:pPr>
                <a:r>
                  <a:rPr lang="en-US" sz="1600">
                    <a:solidFill>
                      <a:srgbClr val="000000"/>
                    </a:solidFill>
                    <a:latin typeface="Calibri"/>
                    <a:ea typeface="Calibri"/>
                    <a:cs typeface="Calibri"/>
                    <a:sym typeface="Calibri"/>
                  </a:rPr>
                  <a:t>D</a:t>
                </a:r>
                <a:r>
                  <a:rPr baseline="-25000" lang="en-US" sz="1600">
                    <a:solidFill>
                      <a:srgbClr val="000000"/>
                    </a:solidFill>
                    <a:latin typeface="Calibri"/>
                    <a:ea typeface="Calibri"/>
                    <a:cs typeface="Calibri"/>
                    <a:sym typeface="Calibri"/>
                  </a:rPr>
                  <a:t>c</a:t>
                </a:r>
                <a:r>
                  <a:rPr lang="en-US" sz="1600">
                    <a:solidFill>
                      <a:srgbClr val="000000"/>
                    </a:solidFill>
                    <a:latin typeface="Calibri"/>
                    <a:ea typeface="Calibri"/>
                    <a:cs typeface="Calibri"/>
                    <a:sym typeface="Calibri"/>
                  </a:rPr>
                  <a:t>(i) = ∞</a:t>
                </a:r>
                <a:endParaRPr sz="1600">
                  <a:solidFill>
                    <a:srgbClr val="000000"/>
                  </a:solidFill>
                  <a:latin typeface="Calibri"/>
                  <a:ea typeface="Calibri"/>
                  <a:cs typeface="Calibri"/>
                  <a:sym typeface="Calibri"/>
                </a:endParaRPr>
              </a:p>
            </p:txBody>
          </p:sp>
          <p:cxnSp>
            <p:nvCxnSpPr>
              <p:cNvPr id="6821" name="Google Shape;6821;p82"/>
              <p:cNvCxnSpPr/>
              <p:nvPr/>
            </p:nvCxnSpPr>
            <p:spPr>
              <a:xfrm>
                <a:off x="9477371" y="1076444"/>
                <a:ext cx="1123866" cy="0"/>
              </a:xfrm>
              <a:prstGeom prst="straightConnector1">
                <a:avLst/>
              </a:prstGeom>
              <a:noFill/>
              <a:ln cap="flat" cmpd="sng" w="12700">
                <a:solidFill>
                  <a:schemeClr val="dk1"/>
                </a:solidFill>
                <a:prstDash val="solid"/>
                <a:miter lim="8000"/>
                <a:headEnd len="sm" w="sm" type="none"/>
                <a:tailEnd len="sm" w="sm" type="none"/>
              </a:ln>
            </p:spPr>
          </p:cxnSp>
          <p:sp>
            <p:nvSpPr>
              <p:cNvPr id="6822" name="Google Shape;6822;p82"/>
              <p:cNvSpPr/>
              <p:nvPr/>
            </p:nvSpPr>
            <p:spPr>
              <a:xfrm>
                <a:off x="9479666" y="706055"/>
                <a:ext cx="1122744" cy="2620773"/>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sp>
        <p:nvSpPr>
          <p:cNvPr id="6823" name="Google Shape;6823;p82"/>
          <p:cNvSpPr/>
          <p:nvPr/>
        </p:nvSpPr>
        <p:spPr>
          <a:xfrm>
            <a:off x="3677920" y="1280160"/>
            <a:ext cx="853440" cy="2824480"/>
          </a:xfrm>
          <a:custGeom>
            <a:rect b="b" l="l" r="r" t="t"/>
            <a:pathLst>
              <a:path extrusionOk="0" h="2824480" w="853440">
                <a:moveTo>
                  <a:pt x="680720" y="2824480"/>
                </a:moveTo>
                <a:cubicBezTo>
                  <a:pt x="443653" y="2705947"/>
                  <a:pt x="328507" y="2658533"/>
                  <a:pt x="0" y="2590800"/>
                </a:cubicBezTo>
                <a:lnTo>
                  <a:pt x="0" y="0"/>
                </a:lnTo>
                <a:cubicBezTo>
                  <a:pt x="254000" y="1222587"/>
                  <a:pt x="447040" y="1835573"/>
                  <a:pt x="853440" y="2631440"/>
                </a:cubicBezTo>
                <a:lnTo>
                  <a:pt x="680720" y="2824480"/>
                </a:lnTo>
                <a:close/>
              </a:path>
            </a:pathLst>
          </a:custGeom>
          <a:gradFill>
            <a:gsLst>
              <a:gs pos="0">
                <a:srgbClr val="F2F2F2"/>
              </a:gs>
              <a:gs pos="100000">
                <a:srgbClr val="BFBFBF"/>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824" name="Google Shape;6824;p82"/>
          <p:cNvGrpSpPr/>
          <p:nvPr/>
        </p:nvGrpSpPr>
        <p:grpSpPr>
          <a:xfrm>
            <a:off x="4336458" y="3833790"/>
            <a:ext cx="4395351" cy="404576"/>
            <a:chOff x="4333785" y="5772213"/>
            <a:chExt cx="4395351" cy="404576"/>
          </a:xfrm>
        </p:grpSpPr>
        <p:grpSp>
          <p:nvGrpSpPr>
            <p:cNvPr id="6825" name="Google Shape;6825;p82"/>
            <p:cNvGrpSpPr/>
            <p:nvPr/>
          </p:nvGrpSpPr>
          <p:grpSpPr>
            <a:xfrm>
              <a:off x="4333785" y="5772213"/>
              <a:ext cx="531821" cy="369069"/>
              <a:chOff x="1348328" y="2475647"/>
              <a:chExt cx="603916" cy="419100"/>
            </a:xfrm>
          </p:grpSpPr>
          <p:grpSp>
            <p:nvGrpSpPr>
              <p:cNvPr id="6826" name="Google Shape;6826;p82"/>
              <p:cNvGrpSpPr/>
              <p:nvPr/>
            </p:nvGrpSpPr>
            <p:grpSpPr>
              <a:xfrm>
                <a:off x="1348328" y="2555748"/>
                <a:ext cx="603916" cy="308999"/>
                <a:chOff x="5278570" y="2983486"/>
                <a:chExt cx="501650" cy="233363"/>
              </a:xfrm>
            </p:grpSpPr>
            <p:sp>
              <p:nvSpPr>
                <p:cNvPr id="6827" name="Google Shape;6827;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828" name="Google Shape;6828;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829" name="Google Shape;6829;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830" name="Google Shape;6830;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831" name="Google Shape;6831;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832" name="Google Shape;6832;p82"/>
              <p:cNvGrpSpPr/>
              <p:nvPr/>
            </p:nvGrpSpPr>
            <p:grpSpPr>
              <a:xfrm>
                <a:off x="1456374" y="2475647"/>
                <a:ext cx="355165" cy="419100"/>
                <a:chOff x="2944" y="2405"/>
                <a:chExt cx="227" cy="264"/>
              </a:xfrm>
            </p:grpSpPr>
            <p:sp>
              <p:nvSpPr>
                <p:cNvPr id="6833" name="Google Shape;6833;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834" name="Google Shape;6834;p82"/>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d</a:t>
                  </a:r>
                  <a:endParaRPr sz="2000">
                    <a:solidFill>
                      <a:srgbClr val="000000"/>
                    </a:solidFill>
                    <a:latin typeface="Arial"/>
                    <a:ea typeface="Arial"/>
                    <a:cs typeface="Arial"/>
                    <a:sym typeface="Arial"/>
                  </a:endParaRPr>
                </a:p>
              </p:txBody>
            </p:sp>
          </p:grpSp>
        </p:grpSp>
        <p:grpSp>
          <p:nvGrpSpPr>
            <p:cNvPr id="6835" name="Google Shape;6835;p82"/>
            <p:cNvGrpSpPr/>
            <p:nvPr/>
          </p:nvGrpSpPr>
          <p:grpSpPr>
            <a:xfrm>
              <a:off x="6263949" y="5807720"/>
              <a:ext cx="531821" cy="369069"/>
              <a:chOff x="1348328" y="2507397"/>
              <a:chExt cx="603916" cy="419100"/>
            </a:xfrm>
          </p:grpSpPr>
          <p:grpSp>
            <p:nvGrpSpPr>
              <p:cNvPr id="6836" name="Google Shape;6836;p82"/>
              <p:cNvGrpSpPr/>
              <p:nvPr/>
            </p:nvGrpSpPr>
            <p:grpSpPr>
              <a:xfrm>
                <a:off x="1348328" y="2555748"/>
                <a:ext cx="603916" cy="308999"/>
                <a:chOff x="5278570" y="2983486"/>
                <a:chExt cx="501650" cy="233363"/>
              </a:xfrm>
            </p:grpSpPr>
            <p:sp>
              <p:nvSpPr>
                <p:cNvPr id="6837" name="Google Shape;6837;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838" name="Google Shape;6838;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839" name="Google Shape;6839;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840" name="Google Shape;6840;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841" name="Google Shape;6841;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842" name="Google Shape;6842;p82"/>
              <p:cNvGrpSpPr/>
              <p:nvPr/>
            </p:nvGrpSpPr>
            <p:grpSpPr>
              <a:xfrm>
                <a:off x="1456374" y="2507397"/>
                <a:ext cx="355165" cy="419100"/>
                <a:chOff x="2944" y="2425"/>
                <a:chExt cx="227" cy="264"/>
              </a:xfrm>
            </p:grpSpPr>
            <p:sp>
              <p:nvSpPr>
                <p:cNvPr id="6843" name="Google Shape;6843;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844" name="Google Shape;6844;p82"/>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e</a:t>
                  </a:r>
                  <a:endParaRPr sz="2000">
                    <a:solidFill>
                      <a:srgbClr val="000000"/>
                    </a:solidFill>
                    <a:latin typeface="Arial"/>
                    <a:ea typeface="Arial"/>
                    <a:cs typeface="Arial"/>
                    <a:sym typeface="Arial"/>
                  </a:endParaRPr>
                </a:p>
              </p:txBody>
            </p:sp>
          </p:grpSp>
        </p:grpSp>
        <p:grpSp>
          <p:nvGrpSpPr>
            <p:cNvPr id="6845" name="Google Shape;6845;p82"/>
            <p:cNvGrpSpPr/>
            <p:nvPr/>
          </p:nvGrpSpPr>
          <p:grpSpPr>
            <a:xfrm>
              <a:off x="8197315" y="5805271"/>
              <a:ext cx="531821" cy="369069"/>
              <a:chOff x="1348328" y="2507397"/>
              <a:chExt cx="603916" cy="419100"/>
            </a:xfrm>
          </p:grpSpPr>
          <p:grpSp>
            <p:nvGrpSpPr>
              <p:cNvPr id="6846" name="Google Shape;6846;p82"/>
              <p:cNvGrpSpPr/>
              <p:nvPr/>
            </p:nvGrpSpPr>
            <p:grpSpPr>
              <a:xfrm>
                <a:off x="1348328" y="2555748"/>
                <a:ext cx="603916" cy="308999"/>
                <a:chOff x="5278570" y="2983486"/>
                <a:chExt cx="501650" cy="233363"/>
              </a:xfrm>
            </p:grpSpPr>
            <p:sp>
              <p:nvSpPr>
                <p:cNvPr id="6847" name="Google Shape;6847;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848" name="Google Shape;6848;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849" name="Google Shape;6849;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850" name="Google Shape;6850;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851" name="Google Shape;6851;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852" name="Google Shape;6852;p82"/>
              <p:cNvGrpSpPr/>
              <p:nvPr/>
            </p:nvGrpSpPr>
            <p:grpSpPr>
              <a:xfrm>
                <a:off x="1492372" y="2507397"/>
                <a:ext cx="283194" cy="419100"/>
                <a:chOff x="2967" y="2425"/>
                <a:chExt cx="181" cy="264"/>
              </a:xfrm>
            </p:grpSpPr>
            <p:sp>
              <p:nvSpPr>
                <p:cNvPr id="6853" name="Google Shape;6853;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854" name="Google Shape;6854;p82"/>
                <p:cNvSpPr txBox="1"/>
                <p:nvPr/>
              </p:nvSpPr>
              <p:spPr>
                <a:xfrm>
                  <a:off x="2967" y="2425"/>
                  <a:ext cx="18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f</a:t>
                  </a:r>
                  <a:endParaRPr sz="2000">
                    <a:solidFill>
                      <a:srgbClr val="000000"/>
                    </a:solidFill>
                    <a:latin typeface="Arial"/>
                    <a:ea typeface="Arial"/>
                    <a:cs typeface="Arial"/>
                    <a:sym typeface="Arial"/>
                  </a:endParaRPr>
                </a:p>
              </p:txBody>
            </p:sp>
          </p:grpSp>
        </p:grpSp>
      </p:grpSp>
      <p:sp>
        <p:nvSpPr>
          <p:cNvPr id="6855" name="Google Shape;6855;p82"/>
          <p:cNvSpPr/>
          <p:nvPr/>
        </p:nvSpPr>
        <p:spPr>
          <a:xfrm>
            <a:off x="3728720" y="4114800"/>
            <a:ext cx="2722880" cy="2560320"/>
          </a:xfrm>
          <a:custGeom>
            <a:rect b="b" l="l" r="r" t="t"/>
            <a:pathLst>
              <a:path extrusionOk="0" h="2560320" w="2722880">
                <a:moveTo>
                  <a:pt x="2550160" y="1950720"/>
                </a:moveTo>
                <a:cubicBezTo>
                  <a:pt x="931333" y="1507067"/>
                  <a:pt x="399627" y="1347893"/>
                  <a:pt x="20320" y="2560320"/>
                </a:cubicBezTo>
                <a:lnTo>
                  <a:pt x="0" y="0"/>
                </a:lnTo>
                <a:cubicBezTo>
                  <a:pt x="1148080" y="887307"/>
                  <a:pt x="1513840" y="1297093"/>
                  <a:pt x="2722880" y="1757680"/>
                </a:cubicBezTo>
                <a:lnTo>
                  <a:pt x="2550160" y="1950720"/>
                </a:lnTo>
                <a:close/>
              </a:path>
            </a:pathLst>
          </a:custGeom>
          <a:gradFill>
            <a:gsLst>
              <a:gs pos="0">
                <a:srgbClr val="F2F2F2"/>
              </a:gs>
              <a:gs pos="100000">
                <a:srgbClr val="BFBFBF"/>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856" name="Google Shape;6856;p82"/>
          <p:cNvGrpSpPr/>
          <p:nvPr/>
        </p:nvGrpSpPr>
        <p:grpSpPr>
          <a:xfrm>
            <a:off x="4333785" y="5772213"/>
            <a:ext cx="4395351" cy="404576"/>
            <a:chOff x="4333785" y="5772213"/>
            <a:chExt cx="4395351" cy="404576"/>
          </a:xfrm>
        </p:grpSpPr>
        <p:grpSp>
          <p:nvGrpSpPr>
            <p:cNvPr id="6857" name="Google Shape;6857;p82"/>
            <p:cNvGrpSpPr/>
            <p:nvPr/>
          </p:nvGrpSpPr>
          <p:grpSpPr>
            <a:xfrm>
              <a:off x="4333785" y="5772213"/>
              <a:ext cx="531821" cy="369069"/>
              <a:chOff x="1348328" y="2475647"/>
              <a:chExt cx="603916" cy="419100"/>
            </a:xfrm>
          </p:grpSpPr>
          <p:grpSp>
            <p:nvGrpSpPr>
              <p:cNvPr id="6858" name="Google Shape;6858;p82"/>
              <p:cNvGrpSpPr/>
              <p:nvPr/>
            </p:nvGrpSpPr>
            <p:grpSpPr>
              <a:xfrm>
                <a:off x="1348328" y="2555748"/>
                <a:ext cx="603916" cy="308999"/>
                <a:chOff x="5278570" y="2983486"/>
                <a:chExt cx="501650" cy="233363"/>
              </a:xfrm>
            </p:grpSpPr>
            <p:sp>
              <p:nvSpPr>
                <p:cNvPr id="6859" name="Google Shape;6859;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860" name="Google Shape;6860;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861" name="Google Shape;6861;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862" name="Google Shape;6862;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863" name="Google Shape;6863;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864" name="Google Shape;6864;p82"/>
              <p:cNvGrpSpPr/>
              <p:nvPr/>
            </p:nvGrpSpPr>
            <p:grpSpPr>
              <a:xfrm>
                <a:off x="1456374" y="2475647"/>
                <a:ext cx="355165" cy="419100"/>
                <a:chOff x="2944" y="2405"/>
                <a:chExt cx="227" cy="264"/>
              </a:xfrm>
            </p:grpSpPr>
            <p:sp>
              <p:nvSpPr>
                <p:cNvPr id="6865" name="Google Shape;6865;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866" name="Google Shape;6866;p82"/>
                <p:cNvSpPr txBox="1"/>
                <p:nvPr/>
              </p:nvSpPr>
              <p:spPr>
                <a:xfrm>
                  <a:off x="2944" y="240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a:t>
                  </a:r>
                  <a:endParaRPr sz="2000">
                    <a:solidFill>
                      <a:srgbClr val="000000"/>
                    </a:solidFill>
                    <a:latin typeface="Arial"/>
                    <a:ea typeface="Arial"/>
                    <a:cs typeface="Arial"/>
                    <a:sym typeface="Arial"/>
                  </a:endParaRPr>
                </a:p>
              </p:txBody>
            </p:sp>
          </p:grpSp>
        </p:grpSp>
        <p:grpSp>
          <p:nvGrpSpPr>
            <p:cNvPr id="6867" name="Google Shape;6867;p82"/>
            <p:cNvGrpSpPr/>
            <p:nvPr/>
          </p:nvGrpSpPr>
          <p:grpSpPr>
            <a:xfrm>
              <a:off x="6263949" y="5807720"/>
              <a:ext cx="531821" cy="369069"/>
              <a:chOff x="1348328" y="2507397"/>
              <a:chExt cx="603916" cy="419100"/>
            </a:xfrm>
          </p:grpSpPr>
          <p:grpSp>
            <p:nvGrpSpPr>
              <p:cNvPr id="6868" name="Google Shape;6868;p82"/>
              <p:cNvGrpSpPr/>
              <p:nvPr/>
            </p:nvGrpSpPr>
            <p:grpSpPr>
              <a:xfrm>
                <a:off x="1348328" y="2555748"/>
                <a:ext cx="603916" cy="308999"/>
                <a:chOff x="5278570" y="2983486"/>
                <a:chExt cx="501650" cy="233363"/>
              </a:xfrm>
            </p:grpSpPr>
            <p:sp>
              <p:nvSpPr>
                <p:cNvPr id="6869" name="Google Shape;6869;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870" name="Google Shape;6870;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871" name="Google Shape;6871;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872" name="Google Shape;6872;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873" name="Google Shape;6873;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874" name="Google Shape;6874;p82"/>
              <p:cNvGrpSpPr/>
              <p:nvPr/>
            </p:nvGrpSpPr>
            <p:grpSpPr>
              <a:xfrm>
                <a:off x="1456374" y="2507397"/>
                <a:ext cx="355165" cy="419100"/>
                <a:chOff x="2944" y="2425"/>
                <a:chExt cx="227" cy="264"/>
              </a:xfrm>
            </p:grpSpPr>
            <p:sp>
              <p:nvSpPr>
                <p:cNvPr id="6875" name="Google Shape;6875;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876" name="Google Shape;6876;p82"/>
                <p:cNvSpPr txBox="1"/>
                <p:nvPr/>
              </p:nvSpPr>
              <p:spPr>
                <a:xfrm>
                  <a:off x="2944" y="2425"/>
                  <a:ext cx="227"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h</a:t>
                  </a:r>
                  <a:endParaRPr sz="2000">
                    <a:solidFill>
                      <a:srgbClr val="000000"/>
                    </a:solidFill>
                    <a:latin typeface="Arial"/>
                    <a:ea typeface="Arial"/>
                    <a:cs typeface="Arial"/>
                    <a:sym typeface="Arial"/>
                  </a:endParaRPr>
                </a:p>
              </p:txBody>
            </p:sp>
          </p:grpSp>
        </p:grpSp>
        <p:grpSp>
          <p:nvGrpSpPr>
            <p:cNvPr id="6877" name="Google Shape;6877;p82"/>
            <p:cNvGrpSpPr/>
            <p:nvPr/>
          </p:nvGrpSpPr>
          <p:grpSpPr>
            <a:xfrm>
              <a:off x="8197315" y="5805271"/>
              <a:ext cx="531821" cy="369069"/>
              <a:chOff x="1348328" y="2507397"/>
              <a:chExt cx="603916" cy="419100"/>
            </a:xfrm>
          </p:grpSpPr>
          <p:grpSp>
            <p:nvGrpSpPr>
              <p:cNvPr id="6878" name="Google Shape;6878;p82"/>
              <p:cNvGrpSpPr/>
              <p:nvPr/>
            </p:nvGrpSpPr>
            <p:grpSpPr>
              <a:xfrm>
                <a:off x="1348328" y="2555748"/>
                <a:ext cx="603916" cy="308999"/>
                <a:chOff x="5278570" y="2983486"/>
                <a:chExt cx="501650" cy="233363"/>
              </a:xfrm>
            </p:grpSpPr>
            <p:sp>
              <p:nvSpPr>
                <p:cNvPr id="6879" name="Google Shape;6879;p82"/>
                <p:cNvSpPr/>
                <p:nvPr/>
              </p:nvSpPr>
              <p:spPr>
                <a:xfrm>
                  <a:off x="5283332" y="3088261"/>
                  <a:ext cx="496888" cy="128588"/>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880" name="Google Shape;6880;p82"/>
                <p:cNvCxnSpPr/>
                <p:nvPr/>
              </p:nvCxnSpPr>
              <p:spPr>
                <a:xfrm>
                  <a:off x="5283332" y="3077148"/>
                  <a:ext cx="0" cy="79375"/>
                </a:xfrm>
                <a:prstGeom prst="straightConnector1">
                  <a:avLst/>
                </a:prstGeom>
                <a:noFill/>
                <a:ln cap="flat" cmpd="sng" w="12700">
                  <a:solidFill>
                    <a:srgbClr val="000000"/>
                  </a:solidFill>
                  <a:prstDash val="solid"/>
                  <a:round/>
                  <a:headEnd len="med" w="med" type="none"/>
                  <a:tailEnd len="med" w="med" type="none"/>
                </a:ln>
              </p:spPr>
            </p:cxnSp>
            <p:cxnSp>
              <p:nvCxnSpPr>
                <p:cNvPr id="6881" name="Google Shape;6881;p82"/>
                <p:cNvCxnSpPr/>
                <p:nvPr/>
              </p:nvCxnSpPr>
              <p:spPr>
                <a:xfrm>
                  <a:off x="5780220" y="3077148"/>
                  <a:ext cx="0" cy="79375"/>
                </a:xfrm>
                <a:prstGeom prst="straightConnector1">
                  <a:avLst/>
                </a:prstGeom>
                <a:noFill/>
                <a:ln cap="flat" cmpd="sng" w="12700">
                  <a:solidFill>
                    <a:srgbClr val="000000"/>
                  </a:solidFill>
                  <a:prstDash val="solid"/>
                  <a:round/>
                  <a:headEnd len="med" w="med" type="none"/>
                  <a:tailEnd len="med" w="med" type="none"/>
                </a:ln>
              </p:spPr>
            </p:cxnSp>
            <p:sp>
              <p:nvSpPr>
                <p:cNvPr id="6882" name="Google Shape;6882;p82"/>
                <p:cNvSpPr/>
                <p:nvPr/>
              </p:nvSpPr>
              <p:spPr>
                <a:xfrm>
                  <a:off x="5283332" y="3077148"/>
                  <a:ext cx="492125" cy="7778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Arial"/>
                    <a:ea typeface="Arial"/>
                    <a:cs typeface="Arial"/>
                    <a:sym typeface="Arial"/>
                  </a:endParaRPr>
                </a:p>
              </p:txBody>
            </p:sp>
            <p:sp>
              <p:nvSpPr>
                <p:cNvPr id="6883" name="Google Shape;6883;p82"/>
                <p:cNvSpPr/>
                <p:nvPr/>
              </p:nvSpPr>
              <p:spPr>
                <a:xfrm>
                  <a:off x="5278570" y="2983486"/>
                  <a:ext cx="496888" cy="150813"/>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6884" name="Google Shape;6884;p82"/>
              <p:cNvGrpSpPr/>
              <p:nvPr/>
            </p:nvGrpSpPr>
            <p:grpSpPr>
              <a:xfrm>
                <a:off x="1500196" y="2507397"/>
                <a:ext cx="267548" cy="419100"/>
                <a:chOff x="2972" y="2425"/>
                <a:chExt cx="171" cy="264"/>
              </a:xfrm>
            </p:grpSpPr>
            <p:sp>
              <p:nvSpPr>
                <p:cNvPr id="6885" name="Google Shape;6885;p82"/>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886" name="Google Shape;6886;p82"/>
                <p:cNvSpPr txBox="1"/>
                <p:nvPr/>
              </p:nvSpPr>
              <p:spPr>
                <a:xfrm>
                  <a:off x="2972" y="2425"/>
                  <a:ext cx="171" cy="2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i</a:t>
                  </a:r>
                  <a:endParaRPr sz="2000">
                    <a:solidFill>
                      <a:srgbClr val="000000"/>
                    </a:solidFill>
                    <a:latin typeface="Arial"/>
                    <a:ea typeface="Arial"/>
                    <a:cs typeface="Arial"/>
                    <a:sym typeface="Arial"/>
                  </a:endParaRPr>
                </a:p>
              </p:txBody>
            </p:sp>
          </p:grpSp>
        </p:grpSp>
      </p:grpSp>
      <p:sp>
        <p:nvSpPr>
          <p:cNvPr id="6887" name="Google Shape;6887;p82"/>
          <p:cNvSpPr/>
          <p:nvPr/>
        </p:nvSpPr>
        <p:spPr>
          <a:xfrm>
            <a:off x="4765040" y="2611120"/>
            <a:ext cx="3535680" cy="64008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Q: what is new DV computed in e at </a:t>
            </a:r>
            <a:r>
              <a:rPr i="1" lang="en-US" sz="1800">
                <a:solidFill>
                  <a:srgbClr val="000000"/>
                </a:solidFill>
                <a:latin typeface="Calibri"/>
                <a:ea typeface="Calibri"/>
                <a:cs typeface="Calibri"/>
                <a:sym typeface="Calibri"/>
              </a:rPr>
              <a:t>t=1</a:t>
            </a:r>
            <a:r>
              <a:rPr lang="en-US" sz="1800">
                <a:solidFill>
                  <a:srgbClr val="000000"/>
                </a:solidFill>
                <a:latin typeface="Calibri"/>
                <a:ea typeface="Calibri"/>
                <a:cs typeface="Calibri"/>
                <a:sym typeface="Calibri"/>
              </a:rPr>
              <a:t>?</a:t>
            </a:r>
            <a:endParaRPr/>
          </a:p>
        </p:txBody>
      </p:sp>
      <p:sp>
        <p:nvSpPr>
          <p:cNvPr id="6888" name="Google Shape;6888;p82"/>
          <p:cNvSpPr/>
          <p:nvPr/>
        </p:nvSpPr>
        <p:spPr>
          <a:xfrm flipH="1" rot="-5400000">
            <a:off x="6297558" y="3456041"/>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89" name="Google Shape;6889;p82"/>
          <p:cNvSpPr/>
          <p:nvPr/>
        </p:nvSpPr>
        <p:spPr>
          <a:xfrm flipH="1" rot="5400000">
            <a:off x="6312308" y="4454022"/>
            <a:ext cx="639100" cy="157317"/>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90" name="Google Shape;6890;p82"/>
          <p:cNvSpPr/>
          <p:nvPr/>
        </p:nvSpPr>
        <p:spPr>
          <a:xfrm flipH="1" rot="10800000">
            <a:off x="5651998" y="3904611"/>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91" name="Google Shape;6891;p82"/>
          <p:cNvSpPr/>
          <p:nvPr/>
        </p:nvSpPr>
        <p:spPr>
          <a:xfrm flipH="1">
            <a:off x="6833078" y="3912200"/>
            <a:ext cx="575190" cy="152414"/>
          </a:xfrm>
          <a:prstGeom prst="rightArrow">
            <a:avLst>
              <a:gd fmla="val 50000" name="adj1"/>
              <a:gd fmla="val 50000" name="adj2"/>
            </a:avLst>
          </a:prstGeom>
          <a:gradFill>
            <a:gsLst>
              <a:gs pos="0">
                <a:srgbClr val="F2F2F2"/>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892" name="Google Shape;6892;p82"/>
          <p:cNvGrpSpPr/>
          <p:nvPr/>
        </p:nvGrpSpPr>
        <p:grpSpPr>
          <a:xfrm>
            <a:off x="6039628" y="3567469"/>
            <a:ext cx="1196054" cy="1022555"/>
            <a:chOff x="9655277" y="2349909"/>
            <a:chExt cx="1196054" cy="1022555"/>
          </a:xfrm>
        </p:grpSpPr>
        <p:sp>
          <p:nvSpPr>
            <p:cNvPr id="6893" name="Google Shape;6893;p82"/>
            <p:cNvSpPr/>
            <p:nvPr/>
          </p:nvSpPr>
          <p:spPr>
            <a:xfrm>
              <a:off x="9655277" y="2349909"/>
              <a:ext cx="1196054" cy="1022555"/>
            </a:xfrm>
            <a:custGeom>
              <a:rect b="b" l="l" r="r" t="t"/>
              <a:pathLst>
                <a:path extrusionOk="0" h="2290046" w="2820074">
                  <a:moveTo>
                    <a:pt x="1416106" y="606903"/>
                  </a:moveTo>
                  <a:lnTo>
                    <a:pt x="1096471" y="222531"/>
                  </a:lnTo>
                  <a:lnTo>
                    <a:pt x="954860" y="667593"/>
                  </a:lnTo>
                  <a:lnTo>
                    <a:pt x="89012" y="242761"/>
                  </a:lnTo>
                  <a:lnTo>
                    <a:pt x="610948" y="797066"/>
                  </a:lnTo>
                  <a:lnTo>
                    <a:pt x="0" y="902262"/>
                  </a:lnTo>
                  <a:lnTo>
                    <a:pt x="481476" y="1246174"/>
                  </a:lnTo>
                  <a:lnTo>
                    <a:pt x="36414" y="1533441"/>
                  </a:lnTo>
                  <a:lnTo>
                    <a:pt x="760651" y="1476797"/>
                  </a:lnTo>
                  <a:lnTo>
                    <a:pt x="623086" y="1869260"/>
                  </a:lnTo>
                  <a:lnTo>
                    <a:pt x="1003412" y="1658867"/>
                  </a:lnTo>
                  <a:lnTo>
                    <a:pt x="1104563" y="2290046"/>
                  </a:lnTo>
                  <a:lnTo>
                    <a:pt x="1383738" y="1569855"/>
                  </a:lnTo>
                  <a:lnTo>
                    <a:pt x="1743833" y="2091791"/>
                  </a:lnTo>
                  <a:lnTo>
                    <a:pt x="1836892" y="1529395"/>
                  </a:lnTo>
                  <a:lnTo>
                    <a:pt x="2375012" y="1889491"/>
                  </a:lnTo>
                  <a:lnTo>
                    <a:pt x="2209125" y="1351370"/>
                  </a:lnTo>
                  <a:lnTo>
                    <a:pt x="2820074" y="1399922"/>
                  </a:lnTo>
                  <a:lnTo>
                    <a:pt x="2310276" y="1092425"/>
                  </a:lnTo>
                  <a:lnTo>
                    <a:pt x="2775568" y="837526"/>
                  </a:lnTo>
                  <a:lnTo>
                    <a:pt x="2196987" y="768744"/>
                  </a:lnTo>
                  <a:lnTo>
                    <a:pt x="2427610" y="441016"/>
                  </a:lnTo>
                  <a:lnTo>
                    <a:pt x="1844984" y="546213"/>
                  </a:lnTo>
                  <a:lnTo>
                    <a:pt x="1901628" y="0"/>
                  </a:lnTo>
                  <a:lnTo>
                    <a:pt x="1416106" y="606903"/>
                  </a:lnTo>
                  <a:close/>
                </a:path>
              </a:pathLst>
            </a:custGeom>
            <a:solidFill>
              <a:srgbClr val="FFFF00">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94" name="Google Shape;6894;p82"/>
            <p:cNvSpPr txBox="1"/>
            <p:nvPr/>
          </p:nvSpPr>
          <p:spPr>
            <a:xfrm>
              <a:off x="9753600" y="2635045"/>
              <a:ext cx="10202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compute</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2"/>
                                        </p:tgtEl>
                                        <p:attrNameLst>
                                          <p:attrName>style.visibility</p:attrName>
                                        </p:attrNameLst>
                                      </p:cBhvr>
                                      <p:to>
                                        <p:strVal val="visible"/>
                                      </p:to>
                                    </p:set>
                                    <p:animEffect filter="fade" transition="in">
                                      <p:cBhvr>
                                        <p:cTn dur="500"/>
                                        <p:tgtEl>
                                          <p:spTgt spid="6762"/>
                                        </p:tgtEl>
                                      </p:cBhvr>
                                    </p:animEffect>
                                  </p:childTnLst>
                                </p:cTn>
                              </p:par>
                              <p:par>
                                <p:cTn fill="hold" nodeType="withEffect" presetClass="entr" presetID="10" presetSubtype="0">
                                  <p:stCondLst>
                                    <p:cond delay="0"/>
                                  </p:stCondLst>
                                  <p:childTnLst>
                                    <p:set>
                                      <p:cBhvr>
                                        <p:cTn dur="1" fill="hold">
                                          <p:stCondLst>
                                            <p:cond delay="0"/>
                                          </p:stCondLst>
                                        </p:cTn>
                                        <p:tgtEl>
                                          <p:spTgt spid="6890"/>
                                        </p:tgtEl>
                                        <p:attrNameLst>
                                          <p:attrName>style.visibility</p:attrName>
                                        </p:attrNameLst>
                                      </p:cBhvr>
                                      <p:to>
                                        <p:strVal val="visible"/>
                                      </p:to>
                                    </p:set>
                                    <p:animEffect filter="fade" transition="in">
                                      <p:cBhvr>
                                        <p:cTn dur="1000"/>
                                        <p:tgtEl>
                                          <p:spTgt spid="6890"/>
                                        </p:tgtEl>
                                      </p:cBhvr>
                                    </p:animEffect>
                                  </p:childTnLst>
                                </p:cTn>
                              </p:par>
                              <p:par>
                                <p:cTn fill="hold" nodeType="withEffect" presetClass="entr" presetID="10" presetSubtype="0">
                                  <p:stCondLst>
                                    <p:cond delay="0"/>
                                  </p:stCondLst>
                                  <p:childTnLst>
                                    <p:set>
                                      <p:cBhvr>
                                        <p:cTn dur="1" fill="hold">
                                          <p:stCondLst>
                                            <p:cond delay="0"/>
                                          </p:stCondLst>
                                        </p:cTn>
                                        <p:tgtEl>
                                          <p:spTgt spid="6888"/>
                                        </p:tgtEl>
                                        <p:attrNameLst>
                                          <p:attrName>style.visibility</p:attrName>
                                        </p:attrNameLst>
                                      </p:cBhvr>
                                      <p:to>
                                        <p:strVal val="visible"/>
                                      </p:to>
                                    </p:set>
                                    <p:animEffect filter="fade" transition="in">
                                      <p:cBhvr>
                                        <p:cTn dur="1000"/>
                                        <p:tgtEl>
                                          <p:spTgt spid="6888"/>
                                        </p:tgtEl>
                                      </p:cBhvr>
                                    </p:animEffect>
                                  </p:childTnLst>
                                </p:cTn>
                              </p:par>
                              <p:par>
                                <p:cTn fill="hold" nodeType="withEffect" presetClass="entr" presetID="10" presetSubtype="0">
                                  <p:stCondLst>
                                    <p:cond delay="0"/>
                                  </p:stCondLst>
                                  <p:childTnLst>
                                    <p:set>
                                      <p:cBhvr>
                                        <p:cTn dur="1" fill="hold">
                                          <p:stCondLst>
                                            <p:cond delay="0"/>
                                          </p:stCondLst>
                                        </p:cTn>
                                        <p:tgtEl>
                                          <p:spTgt spid="6891"/>
                                        </p:tgtEl>
                                        <p:attrNameLst>
                                          <p:attrName>style.visibility</p:attrName>
                                        </p:attrNameLst>
                                      </p:cBhvr>
                                      <p:to>
                                        <p:strVal val="visible"/>
                                      </p:to>
                                    </p:set>
                                    <p:animEffect filter="fade" transition="in">
                                      <p:cBhvr>
                                        <p:cTn dur="1000"/>
                                        <p:tgtEl>
                                          <p:spTgt spid="6891"/>
                                        </p:tgtEl>
                                      </p:cBhvr>
                                    </p:animEffect>
                                  </p:childTnLst>
                                </p:cTn>
                              </p:par>
                              <p:par>
                                <p:cTn fill="hold" nodeType="withEffect" presetClass="entr" presetID="10" presetSubtype="0">
                                  <p:stCondLst>
                                    <p:cond delay="0"/>
                                  </p:stCondLst>
                                  <p:childTnLst>
                                    <p:set>
                                      <p:cBhvr>
                                        <p:cTn dur="1" fill="hold">
                                          <p:stCondLst>
                                            <p:cond delay="0"/>
                                          </p:stCondLst>
                                        </p:cTn>
                                        <p:tgtEl>
                                          <p:spTgt spid="6889"/>
                                        </p:tgtEl>
                                        <p:attrNameLst>
                                          <p:attrName>style.visibility</p:attrName>
                                        </p:attrNameLst>
                                      </p:cBhvr>
                                      <p:to>
                                        <p:strVal val="visible"/>
                                      </p:to>
                                    </p:set>
                                    <p:animEffect filter="fade" transition="in">
                                      <p:cBhvr>
                                        <p:cTn dur="1000"/>
                                        <p:tgtEl>
                                          <p:spTgt spid="68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892"/>
                                        </p:tgtEl>
                                        <p:attrNameLst>
                                          <p:attrName>style.visibility</p:attrName>
                                        </p:attrNameLst>
                                      </p:cBhvr>
                                      <p:to>
                                        <p:strVal val="visible"/>
                                      </p:to>
                                    </p:set>
                                    <p:animEffect filter="fade" transition="in">
                                      <p:cBhvr>
                                        <p:cTn dur="500"/>
                                        <p:tgtEl>
                                          <p:spTgt spid="68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7"/>
                                        </p:tgtEl>
                                        <p:attrNameLst>
                                          <p:attrName>style.visibility</p:attrName>
                                        </p:attrNameLst>
                                      </p:cBhvr>
                                      <p:to>
                                        <p:strVal val="visible"/>
                                      </p:to>
                                    </p:set>
                                    <p:animEffect filter="fade" transition="in">
                                      <p:cBhvr>
                                        <p:cTn dur="500"/>
                                        <p:tgtEl>
                                          <p:spTgt spid="68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8" name="Shape 6898"/>
        <p:cNvGrpSpPr/>
        <p:nvPr/>
      </p:nvGrpSpPr>
      <p:grpSpPr>
        <a:xfrm>
          <a:off x="0" y="0"/>
          <a:ext cx="0" cy="0"/>
          <a:chOff x="0" y="0"/>
          <a:chExt cx="0" cy="0"/>
        </a:xfrm>
      </p:grpSpPr>
      <p:sp>
        <p:nvSpPr>
          <p:cNvPr id="6899" name="Google Shape;6899;p8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Comparison of LS and DV algorithms</a:t>
            </a:r>
            <a:endParaRPr/>
          </a:p>
        </p:txBody>
      </p:sp>
      <p:sp>
        <p:nvSpPr>
          <p:cNvPr id="6900" name="Google Shape;6900;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6901" name="Google Shape;6901;p83"/>
          <p:cNvSpPr txBox="1"/>
          <p:nvPr/>
        </p:nvSpPr>
        <p:spPr>
          <a:xfrm>
            <a:off x="749342" y="1478070"/>
            <a:ext cx="5162943" cy="1615859"/>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0000A8"/>
                </a:solidFill>
                <a:latin typeface="Calibri"/>
                <a:ea typeface="Calibri"/>
                <a:cs typeface="Calibri"/>
                <a:sym typeface="Calibri"/>
              </a:rPr>
              <a:t>message complexity</a:t>
            </a:r>
            <a:endParaRPr/>
          </a:p>
          <a:p>
            <a:pPr indent="-349250" lvl="1" marL="696913" marR="0" rtl="0" algn="l">
              <a:lnSpc>
                <a:spcPct val="90000"/>
              </a:lnSpc>
              <a:spcBef>
                <a:spcPts val="500"/>
              </a:spcBef>
              <a:spcAft>
                <a:spcPts val="0"/>
              </a:spcAft>
              <a:buClr>
                <a:srgbClr val="0000A8"/>
              </a:buClr>
              <a:buSzPts val="2400"/>
              <a:buFont typeface="Arial"/>
              <a:buNone/>
            </a:pPr>
            <a:r>
              <a:rPr b="0" i="0" lang="en-US" sz="2400" u="none" cap="none" strike="noStrike">
                <a:solidFill>
                  <a:srgbClr val="0000A8"/>
                </a:solidFill>
                <a:latin typeface="Calibri"/>
                <a:ea typeface="Calibri"/>
                <a:cs typeface="Calibri"/>
                <a:sym typeface="Calibri"/>
              </a:rPr>
              <a:t>LS: </a:t>
            </a:r>
            <a:r>
              <a:rPr b="0" i="1" lang="en-US" sz="2400" u="none" cap="none" strike="noStrike">
                <a:solidFill>
                  <a:srgbClr val="0000A8"/>
                </a:solidFill>
                <a:latin typeface="Calibri"/>
                <a:ea typeface="Calibri"/>
                <a:cs typeface="Calibri"/>
                <a:sym typeface="Calibri"/>
              </a:rPr>
              <a:t>n</a:t>
            </a:r>
            <a:r>
              <a:rPr b="0" i="0" lang="en-US" sz="2400" u="none" cap="none" strike="noStrike">
                <a:solidFill>
                  <a:srgbClr val="0000A8"/>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routers, O(</a:t>
            </a:r>
            <a:r>
              <a:rPr b="0" i="1" lang="en-US" sz="2400" u="none" cap="none" strike="noStrike">
                <a:solidFill>
                  <a:srgbClr val="000000"/>
                </a:solidFill>
                <a:latin typeface="Calibri"/>
                <a:ea typeface="Calibri"/>
                <a:cs typeface="Calibri"/>
                <a:sym typeface="Calibri"/>
              </a:rPr>
              <a:t>n</a:t>
            </a:r>
            <a:r>
              <a:rPr b="0" baseline="30000" i="1" lang="en-US" sz="2400" u="none" cap="none" strike="noStrike">
                <a:solidFill>
                  <a:srgbClr val="000000"/>
                </a:solidFill>
                <a:latin typeface="Calibri"/>
                <a:ea typeface="Calibri"/>
                <a:cs typeface="Calibri"/>
                <a:sym typeface="Calibri"/>
              </a:rPr>
              <a:t>2</a:t>
            </a:r>
            <a:r>
              <a:rPr b="0" i="0" lang="en-US" sz="2400" u="none" cap="none" strike="noStrike">
                <a:solidFill>
                  <a:srgbClr val="000000"/>
                </a:solidFill>
                <a:latin typeface="Calibri"/>
                <a:ea typeface="Calibri"/>
                <a:cs typeface="Calibri"/>
                <a:sym typeface="Calibri"/>
              </a:rPr>
              <a:t>) messages sent  </a:t>
            </a:r>
            <a:endParaRPr/>
          </a:p>
          <a:p>
            <a:pPr indent="-349250" lvl="1" marL="696913" marR="0" rtl="0" algn="l">
              <a:lnSpc>
                <a:spcPct val="90000"/>
              </a:lnSpc>
              <a:spcBef>
                <a:spcPts val="500"/>
              </a:spcBef>
              <a:spcAft>
                <a:spcPts val="0"/>
              </a:spcAft>
              <a:buClr>
                <a:srgbClr val="0000A8"/>
              </a:buClr>
              <a:buSzPts val="2400"/>
              <a:buFont typeface="Arial"/>
              <a:buNone/>
            </a:pPr>
            <a:r>
              <a:rPr b="0" i="0" lang="en-US" sz="2400" u="none" cap="none" strike="noStrike">
                <a:solidFill>
                  <a:srgbClr val="0000A8"/>
                </a:solidFill>
                <a:latin typeface="Calibri"/>
                <a:ea typeface="Calibri"/>
                <a:cs typeface="Calibri"/>
                <a:sym typeface="Calibri"/>
              </a:rPr>
              <a:t>DV: </a:t>
            </a:r>
            <a:r>
              <a:rPr b="0" i="0" lang="en-US" sz="2400" u="none" cap="none" strike="noStrike">
                <a:solidFill>
                  <a:srgbClr val="000000"/>
                </a:solidFill>
                <a:latin typeface="Calibri"/>
                <a:ea typeface="Calibri"/>
                <a:cs typeface="Calibri"/>
                <a:sym typeface="Calibri"/>
              </a:rPr>
              <a:t>exchange between neighbors; convergence time varies</a:t>
            </a:r>
            <a:endParaRPr/>
          </a:p>
        </p:txBody>
      </p:sp>
      <p:sp>
        <p:nvSpPr>
          <p:cNvPr id="6902" name="Google Shape;6902;p83"/>
          <p:cNvSpPr txBox="1"/>
          <p:nvPr/>
        </p:nvSpPr>
        <p:spPr>
          <a:xfrm>
            <a:off x="738904" y="3382027"/>
            <a:ext cx="5060647" cy="2367419"/>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0000A8"/>
                </a:solidFill>
                <a:latin typeface="Calibri"/>
                <a:ea typeface="Calibri"/>
                <a:cs typeface="Calibri"/>
                <a:sym typeface="Calibri"/>
              </a:rPr>
              <a:t>speed of convergence</a:t>
            </a:r>
            <a:endParaRPr/>
          </a:p>
          <a:p>
            <a:pPr indent="-349250" lvl="0" marL="696913" marR="0" rtl="0" algn="l">
              <a:lnSpc>
                <a:spcPct val="90000"/>
              </a:lnSpc>
              <a:spcBef>
                <a:spcPts val="600"/>
              </a:spcBef>
              <a:spcAft>
                <a:spcPts val="0"/>
              </a:spcAft>
              <a:buClr>
                <a:srgbClr val="0000A3"/>
              </a:buClr>
              <a:buSzPts val="2400"/>
              <a:buFont typeface="Noto Sans Symbols"/>
              <a:buNone/>
            </a:pPr>
            <a:r>
              <a:rPr lang="en-US" sz="2400">
                <a:solidFill>
                  <a:srgbClr val="0000A8"/>
                </a:solidFill>
                <a:latin typeface="Calibri"/>
                <a:ea typeface="Calibri"/>
                <a:cs typeface="Calibri"/>
                <a:sym typeface="Calibri"/>
              </a:rPr>
              <a:t>LS: </a:t>
            </a:r>
            <a:r>
              <a:rPr lang="en-US" sz="2400">
                <a:solidFill>
                  <a:srgbClr val="000000"/>
                </a:solidFill>
                <a:latin typeface="Calibri"/>
                <a:ea typeface="Calibri"/>
                <a:cs typeface="Calibri"/>
                <a:sym typeface="Calibri"/>
              </a:rPr>
              <a:t>O(</a:t>
            </a:r>
            <a:r>
              <a:rPr i="1" lang="en-US" sz="2400">
                <a:solidFill>
                  <a:srgbClr val="000000"/>
                </a:solidFill>
                <a:latin typeface="Calibri"/>
                <a:ea typeface="Calibri"/>
                <a:cs typeface="Calibri"/>
                <a:sym typeface="Calibri"/>
              </a:rPr>
              <a:t>n</a:t>
            </a:r>
            <a:r>
              <a:rPr b="1" baseline="30000" i="1" lang="en-US" sz="2400">
                <a:solidFill>
                  <a:srgbClr val="000000"/>
                </a:solidFill>
                <a:latin typeface="Calibri"/>
                <a:ea typeface="Calibri"/>
                <a:cs typeface="Calibri"/>
                <a:sym typeface="Calibri"/>
              </a:rPr>
              <a:t>2</a:t>
            </a:r>
            <a:r>
              <a:rPr lang="en-US" sz="2400">
                <a:solidFill>
                  <a:srgbClr val="000000"/>
                </a:solidFill>
                <a:latin typeface="Calibri"/>
                <a:ea typeface="Calibri"/>
                <a:cs typeface="Calibri"/>
                <a:sym typeface="Calibri"/>
              </a:rPr>
              <a:t>) algorithm, O(</a:t>
            </a:r>
            <a:r>
              <a:rPr i="1" lang="en-US" sz="2400">
                <a:solidFill>
                  <a:srgbClr val="000000"/>
                </a:solidFill>
                <a:latin typeface="Calibri"/>
                <a:ea typeface="Calibri"/>
                <a:cs typeface="Calibri"/>
                <a:sym typeface="Calibri"/>
              </a:rPr>
              <a:t>n</a:t>
            </a:r>
            <a:r>
              <a:rPr baseline="30000" i="1" lang="en-US" sz="2400">
                <a:solidFill>
                  <a:srgbClr val="000000"/>
                </a:solidFill>
                <a:latin typeface="Calibri"/>
                <a:ea typeface="Calibri"/>
                <a:cs typeface="Calibri"/>
                <a:sym typeface="Calibri"/>
              </a:rPr>
              <a:t>2</a:t>
            </a:r>
            <a:r>
              <a:rPr lang="en-US" sz="2400">
                <a:solidFill>
                  <a:srgbClr val="000000"/>
                </a:solidFill>
                <a:latin typeface="Calibri"/>
                <a:ea typeface="Calibri"/>
                <a:cs typeface="Calibri"/>
                <a:sym typeface="Calibri"/>
              </a:rPr>
              <a:t>) messages</a:t>
            </a:r>
            <a:endParaRPr/>
          </a:p>
          <a:p>
            <a:pPr indent="-236538" lvl="1" marL="696913"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have oscillations</a:t>
            </a:r>
            <a:endParaRPr b="0" i="0" sz="2000" u="none" cap="none" strike="noStrike">
              <a:solidFill>
                <a:srgbClr val="000000"/>
              </a:solidFill>
              <a:latin typeface="Calibri"/>
              <a:ea typeface="Calibri"/>
              <a:cs typeface="Calibri"/>
              <a:sym typeface="Calibri"/>
            </a:endParaRPr>
          </a:p>
          <a:p>
            <a:pPr indent="-349250" lvl="0" marL="696913" marR="0" rtl="0" algn="l">
              <a:lnSpc>
                <a:spcPct val="90000"/>
              </a:lnSpc>
              <a:spcBef>
                <a:spcPts val="600"/>
              </a:spcBef>
              <a:spcAft>
                <a:spcPts val="0"/>
              </a:spcAft>
              <a:buClr>
                <a:srgbClr val="0000A3"/>
              </a:buClr>
              <a:buSzPts val="2400"/>
              <a:buFont typeface="Noto Sans Symbols"/>
              <a:buNone/>
            </a:pPr>
            <a:r>
              <a:rPr lang="en-US" sz="2400">
                <a:solidFill>
                  <a:srgbClr val="0000A8"/>
                </a:solidFill>
                <a:latin typeface="Calibri"/>
                <a:ea typeface="Calibri"/>
                <a:cs typeface="Calibri"/>
                <a:sym typeface="Calibri"/>
              </a:rPr>
              <a:t>DV: </a:t>
            </a:r>
            <a:r>
              <a:rPr lang="en-US" sz="2400">
                <a:solidFill>
                  <a:srgbClr val="000000"/>
                </a:solidFill>
                <a:latin typeface="Calibri"/>
                <a:ea typeface="Calibri"/>
                <a:cs typeface="Calibri"/>
                <a:sym typeface="Calibri"/>
              </a:rPr>
              <a:t>convergence time varies</a:t>
            </a:r>
            <a:endParaRPr/>
          </a:p>
          <a:p>
            <a:pPr indent="-236538" lvl="1" marL="696913"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have routing loops</a:t>
            </a:r>
            <a:endParaRPr/>
          </a:p>
          <a:p>
            <a:pPr indent="-236538" lvl="1" marL="696913"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count-to-infinity problem</a:t>
            </a:r>
            <a:endParaRPr b="0" i="0" sz="1800" u="none" cap="none" strike="noStrike">
              <a:solidFill>
                <a:srgbClr val="000000"/>
              </a:solidFill>
              <a:latin typeface="Calibri"/>
              <a:ea typeface="Calibri"/>
              <a:cs typeface="Calibri"/>
              <a:sym typeface="Calibri"/>
            </a:endParaRPr>
          </a:p>
        </p:txBody>
      </p:sp>
      <p:sp>
        <p:nvSpPr>
          <p:cNvPr id="6903" name="Google Shape;6903;p83"/>
          <p:cNvSpPr txBox="1"/>
          <p:nvPr/>
        </p:nvSpPr>
        <p:spPr>
          <a:xfrm>
            <a:off x="6087648" y="1498948"/>
            <a:ext cx="5574083" cy="493943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0000A8"/>
                </a:solidFill>
                <a:latin typeface="Calibri"/>
                <a:ea typeface="Calibri"/>
                <a:cs typeface="Calibri"/>
                <a:sym typeface="Calibri"/>
              </a:rPr>
              <a:t>robustness: </a:t>
            </a:r>
            <a:r>
              <a:rPr lang="en-US" sz="2800">
                <a:solidFill>
                  <a:srgbClr val="000000"/>
                </a:solidFill>
                <a:latin typeface="Calibri"/>
                <a:ea typeface="Calibri"/>
                <a:cs typeface="Calibri"/>
                <a:sym typeface="Calibri"/>
              </a:rPr>
              <a:t>what happens if router malfunctions, or is compromised?</a:t>
            </a:r>
            <a:endParaRPr/>
          </a:p>
          <a:p>
            <a:pPr indent="-222250" lvl="0" marL="352425" marR="0" rtl="0" algn="l">
              <a:lnSpc>
                <a:spcPct val="90000"/>
              </a:lnSpc>
              <a:spcBef>
                <a:spcPts val="1000"/>
              </a:spcBef>
              <a:spcAft>
                <a:spcPts val="0"/>
              </a:spcAft>
              <a:buClr>
                <a:srgbClr val="0000A3"/>
              </a:buClr>
              <a:buSzPts val="2400"/>
              <a:buFont typeface="Noto Sans Symbols"/>
              <a:buNone/>
            </a:pPr>
            <a:r>
              <a:rPr lang="en-US" sz="2400">
                <a:solidFill>
                  <a:srgbClr val="0000A8"/>
                </a:solidFill>
                <a:latin typeface="Calibri"/>
                <a:ea typeface="Calibri"/>
                <a:cs typeface="Calibri"/>
                <a:sym typeface="Calibri"/>
              </a:rPr>
              <a:t>LS: </a:t>
            </a:r>
            <a:endParaRPr/>
          </a:p>
          <a:p>
            <a:pPr indent="-236538" lvl="1" marL="5222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router can advertise incorrect </a:t>
            </a:r>
            <a:r>
              <a:rPr b="0" i="1" lang="en-US" sz="2400" u="none" cap="none" strike="noStrike">
                <a:solidFill>
                  <a:srgbClr val="000099"/>
                </a:solidFill>
                <a:latin typeface="Calibri"/>
                <a:ea typeface="Calibri"/>
                <a:cs typeface="Calibri"/>
                <a:sym typeface="Calibri"/>
              </a:rPr>
              <a:t>link</a:t>
            </a:r>
            <a:r>
              <a:rPr b="0" i="0" lang="en-US" sz="2400" u="none" cap="none" strike="noStrike">
                <a:solidFill>
                  <a:srgbClr val="000000"/>
                </a:solidFill>
                <a:latin typeface="Calibri"/>
                <a:ea typeface="Calibri"/>
                <a:cs typeface="Calibri"/>
                <a:sym typeface="Calibri"/>
              </a:rPr>
              <a:t> cost</a:t>
            </a:r>
            <a:endParaRPr/>
          </a:p>
          <a:p>
            <a:pPr indent="-236538" lvl="1" marL="5222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each router computes only its </a:t>
            </a:r>
            <a:r>
              <a:rPr b="0" i="1" lang="en-US" sz="2400" u="none" cap="none" strike="noStrike">
                <a:solidFill>
                  <a:srgbClr val="000000"/>
                </a:solidFill>
                <a:latin typeface="Calibri"/>
                <a:ea typeface="Calibri"/>
                <a:cs typeface="Calibri"/>
                <a:sym typeface="Calibri"/>
              </a:rPr>
              <a:t>own</a:t>
            </a:r>
            <a:r>
              <a:rPr b="0" i="0" lang="en-US" sz="2400" u="none" cap="none" strike="noStrike">
                <a:solidFill>
                  <a:srgbClr val="000000"/>
                </a:solidFill>
                <a:latin typeface="Calibri"/>
                <a:ea typeface="Calibri"/>
                <a:cs typeface="Calibri"/>
                <a:sym typeface="Calibri"/>
              </a:rPr>
              <a:t> table</a:t>
            </a:r>
            <a:endParaRPr/>
          </a:p>
          <a:p>
            <a:pPr indent="-222250" lvl="0" marL="352425" marR="0" rtl="0" algn="l">
              <a:lnSpc>
                <a:spcPct val="90000"/>
              </a:lnSpc>
              <a:spcBef>
                <a:spcPts val="1000"/>
              </a:spcBef>
              <a:spcAft>
                <a:spcPts val="0"/>
              </a:spcAft>
              <a:buClr>
                <a:srgbClr val="0000A3"/>
              </a:buClr>
              <a:buSzPts val="2400"/>
              <a:buFont typeface="Noto Sans Symbols"/>
              <a:buNone/>
            </a:pPr>
            <a:r>
              <a:rPr lang="en-US" sz="2400">
                <a:solidFill>
                  <a:srgbClr val="0000A8"/>
                </a:solidFill>
                <a:latin typeface="Calibri"/>
                <a:ea typeface="Calibri"/>
                <a:cs typeface="Calibri"/>
                <a:sym typeface="Calibri"/>
              </a:rPr>
              <a:t>DV:</a:t>
            </a:r>
            <a:endParaRPr/>
          </a:p>
          <a:p>
            <a:pPr indent="-223838" lvl="1" marL="46037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DV router can advertise incorrect </a:t>
            </a:r>
            <a:r>
              <a:rPr b="0" i="1" lang="en-US" sz="2400" u="none" cap="none" strike="noStrike">
                <a:solidFill>
                  <a:srgbClr val="000099"/>
                </a:solidFill>
                <a:latin typeface="Calibri"/>
                <a:ea typeface="Calibri"/>
                <a:cs typeface="Calibri"/>
                <a:sym typeface="Calibri"/>
              </a:rPr>
              <a:t>path</a:t>
            </a:r>
            <a:r>
              <a:rPr b="0" i="0" lang="en-US" sz="2400" u="none" cap="none" strike="noStrike">
                <a:solidFill>
                  <a:srgbClr val="000000"/>
                </a:solidFill>
                <a:latin typeface="Calibri"/>
                <a:ea typeface="Calibri"/>
                <a:cs typeface="Calibri"/>
                <a:sym typeface="Calibri"/>
              </a:rPr>
              <a:t> cost (“I have a </a:t>
            </a:r>
            <a:r>
              <a:rPr b="0" i="1" lang="en-US" sz="2400" u="none" cap="none" strike="noStrike">
                <a:solidFill>
                  <a:srgbClr val="000000"/>
                </a:solidFill>
                <a:latin typeface="Calibri"/>
                <a:ea typeface="Calibri"/>
                <a:cs typeface="Calibri"/>
                <a:sym typeface="Calibri"/>
              </a:rPr>
              <a:t>really</a:t>
            </a:r>
            <a:r>
              <a:rPr b="0" i="0" lang="en-US" sz="2400" u="none" cap="none" strike="noStrike">
                <a:solidFill>
                  <a:srgbClr val="000000"/>
                </a:solidFill>
                <a:latin typeface="Calibri"/>
                <a:ea typeface="Calibri"/>
                <a:cs typeface="Calibri"/>
                <a:sym typeface="Calibri"/>
              </a:rPr>
              <a:t> low cost path to everywhere”): black-holing</a:t>
            </a:r>
            <a:endParaRPr/>
          </a:p>
          <a:p>
            <a:pPr indent="-223838" lvl="1" marL="46037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each router’s table used by others: error propagate thru network</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2"/>
                                        </p:tgtEl>
                                        <p:attrNameLst>
                                          <p:attrName>style.visibility</p:attrName>
                                        </p:attrNameLst>
                                      </p:cBhvr>
                                      <p:to>
                                        <p:strVal val="visible"/>
                                      </p:to>
                                    </p:set>
                                    <p:animEffect filter="fade" transition="in">
                                      <p:cBhvr>
                                        <p:cTn dur="500"/>
                                        <p:tgtEl>
                                          <p:spTgt spid="6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3"/>
                                        </p:tgtEl>
                                        <p:attrNameLst>
                                          <p:attrName>style.visibility</p:attrName>
                                        </p:attrNameLst>
                                      </p:cBhvr>
                                      <p:to>
                                        <p:strVal val="visible"/>
                                      </p:to>
                                    </p:set>
                                    <p:animEffect filter="fade" transition="in">
                                      <p:cBhvr>
                                        <p:cTn dur="500"/>
                                        <p:tgtEl>
                                          <p:spTgt spid="69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7" name="Shape 6907"/>
        <p:cNvGrpSpPr/>
        <p:nvPr/>
      </p:nvGrpSpPr>
      <p:grpSpPr>
        <a:xfrm>
          <a:off x="0" y="0"/>
          <a:ext cx="0" cy="0"/>
          <a:chOff x="0" y="0"/>
          <a:chExt cx="0" cy="0"/>
        </a:xfrm>
      </p:grpSpPr>
      <p:sp>
        <p:nvSpPr>
          <p:cNvPr id="6908" name="Google Shape;6908;p84"/>
          <p:cNvSpPr txBox="1"/>
          <p:nvPr>
            <p:ph idx="1" type="body"/>
          </p:nvPr>
        </p:nvSpPr>
        <p:spPr>
          <a:xfrm>
            <a:off x="788096" y="1561188"/>
            <a:ext cx="10515600" cy="4351338"/>
          </a:xfrm>
          <a:prstGeom prst="rect">
            <a:avLst/>
          </a:prstGeom>
          <a:noFill/>
          <a:ln>
            <a:noFill/>
          </a:ln>
        </p:spPr>
        <p:txBody>
          <a:bodyPr anchorCtr="0" anchor="t" bIns="45700" lIns="91425" spcFirstLastPara="1" rIns="91425" wrap="square" tIns="45700">
            <a:normAutofit/>
          </a:bodyPr>
          <a:lstStyle/>
          <a:p>
            <a:pPr indent="0" lvl="0" marL="130175" rtl="0" algn="l">
              <a:lnSpc>
                <a:spcPct val="90000"/>
              </a:lnSpc>
              <a:spcBef>
                <a:spcPts val="0"/>
              </a:spcBef>
              <a:spcAft>
                <a:spcPts val="0"/>
              </a:spcAft>
              <a:buSzPts val="3200"/>
              <a:buNone/>
            </a:pPr>
            <a:r>
              <a:rPr lang="en-US" sz="3200"/>
              <a:t>our routing study thus far - idealized </a:t>
            </a:r>
            <a:endParaRPr/>
          </a:p>
          <a:p>
            <a:pPr indent="-285750" lvl="0" marL="522288" rtl="0" algn="l">
              <a:lnSpc>
                <a:spcPct val="90000"/>
              </a:lnSpc>
              <a:spcBef>
                <a:spcPts val="400"/>
              </a:spcBef>
              <a:spcAft>
                <a:spcPts val="0"/>
              </a:spcAft>
              <a:buSzPts val="2800"/>
              <a:buChar char="▪"/>
            </a:pPr>
            <a:r>
              <a:rPr lang="en-US"/>
              <a:t>all routers identical</a:t>
            </a:r>
            <a:endParaRPr/>
          </a:p>
          <a:p>
            <a:pPr indent="-285750" lvl="0" marL="522288" rtl="0" algn="l">
              <a:lnSpc>
                <a:spcPct val="90000"/>
              </a:lnSpc>
              <a:spcBef>
                <a:spcPts val="400"/>
              </a:spcBef>
              <a:spcAft>
                <a:spcPts val="0"/>
              </a:spcAft>
              <a:buSzPts val="2800"/>
              <a:buChar char="▪"/>
            </a:pPr>
            <a:r>
              <a:rPr lang="en-US"/>
              <a:t>network “flat”</a:t>
            </a:r>
            <a:endParaRPr/>
          </a:p>
          <a:p>
            <a:pPr indent="0" lvl="0" marL="130175" rtl="0" algn="l">
              <a:lnSpc>
                <a:spcPct val="90000"/>
              </a:lnSpc>
              <a:spcBef>
                <a:spcPts val="1000"/>
              </a:spcBef>
              <a:spcAft>
                <a:spcPts val="0"/>
              </a:spcAft>
              <a:buSzPts val="2800"/>
              <a:buNone/>
            </a:pPr>
            <a:r>
              <a:rPr lang="en-US"/>
              <a:t>… not true in practice</a:t>
            </a:r>
            <a:endParaRPr/>
          </a:p>
          <a:p>
            <a:pPr indent="-44450" lvl="0" marL="352425" rtl="0" algn="l">
              <a:lnSpc>
                <a:spcPct val="90000"/>
              </a:lnSpc>
              <a:spcBef>
                <a:spcPts val="1000"/>
              </a:spcBef>
              <a:spcAft>
                <a:spcPts val="0"/>
              </a:spcAft>
              <a:buSzPts val="2800"/>
              <a:buNone/>
            </a:pPr>
            <a:r>
              <a:t/>
            </a:r>
            <a:endParaRPr/>
          </a:p>
        </p:txBody>
      </p:sp>
      <p:sp>
        <p:nvSpPr>
          <p:cNvPr id="6909" name="Google Shape;6909;p8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Making routing scalable</a:t>
            </a:r>
            <a:endParaRPr sz="4800">
              <a:latin typeface="Calibri"/>
              <a:ea typeface="Calibri"/>
              <a:cs typeface="Calibri"/>
              <a:sym typeface="Calibri"/>
            </a:endParaRPr>
          </a:p>
        </p:txBody>
      </p:sp>
      <p:sp>
        <p:nvSpPr>
          <p:cNvPr id="6910" name="Google Shape;6910;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6911" name="Google Shape;6911;p84"/>
          <p:cNvSpPr txBox="1"/>
          <p:nvPr/>
        </p:nvSpPr>
        <p:spPr>
          <a:xfrm>
            <a:off x="990600" y="3666994"/>
            <a:ext cx="4984315" cy="22669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None/>
            </a:pPr>
            <a:r>
              <a:rPr lang="en-US" sz="2800">
                <a:solidFill>
                  <a:srgbClr val="C00000"/>
                </a:solidFill>
                <a:latin typeface="Calibri"/>
                <a:ea typeface="Calibri"/>
                <a:cs typeface="Calibri"/>
                <a:sym typeface="Calibri"/>
              </a:rPr>
              <a:t>scale: </a:t>
            </a:r>
            <a:r>
              <a:rPr lang="en-US" sz="2800">
                <a:solidFill>
                  <a:srgbClr val="000000"/>
                </a:solidFill>
                <a:latin typeface="Calibri"/>
                <a:ea typeface="Calibri"/>
                <a:cs typeface="Calibri"/>
                <a:sym typeface="Calibri"/>
              </a:rPr>
              <a:t>billions of destinations:</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can’t store all destinations in routing tables!</a:t>
            </a:r>
            <a:endParaRPr/>
          </a:p>
          <a:p>
            <a:pPr indent="-342900" lvl="0" marL="342900" marR="0" rtl="0" algn="l">
              <a:lnSpc>
                <a:spcPct val="85000"/>
              </a:lnSpc>
              <a:spcBef>
                <a:spcPts val="56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routing table exchange would swamp links!</a:t>
            </a:r>
            <a:r>
              <a:rPr lang="en-US" sz="2800">
                <a:solidFill>
                  <a:srgbClr val="000000"/>
                </a:solidFill>
                <a:latin typeface="Calibri"/>
                <a:ea typeface="Calibri"/>
                <a:cs typeface="Calibri"/>
                <a:sym typeface="Calibri"/>
              </a:rPr>
              <a:t> </a:t>
            </a:r>
            <a:endParaRPr/>
          </a:p>
          <a:p>
            <a:pPr indent="-165100" lvl="0" marL="342900" marR="0" rtl="0" algn="l">
              <a:lnSpc>
                <a:spcPct val="85000"/>
              </a:lnSpc>
              <a:spcBef>
                <a:spcPts val="560"/>
              </a:spcBef>
              <a:spcAft>
                <a:spcPts val="0"/>
              </a:spcAft>
              <a:buClr>
                <a:srgbClr val="000099"/>
              </a:buClr>
              <a:buSzPts val="2800"/>
              <a:buFont typeface="Noto Sans Symbols"/>
              <a:buNone/>
            </a:pPr>
            <a:r>
              <a:t/>
            </a:r>
            <a:endParaRPr sz="2800">
              <a:solidFill>
                <a:srgbClr val="000000"/>
              </a:solidFill>
              <a:latin typeface="Gill Sans"/>
              <a:ea typeface="Gill Sans"/>
              <a:cs typeface="Gill Sans"/>
              <a:sym typeface="Gill Sans"/>
            </a:endParaRPr>
          </a:p>
          <a:p>
            <a:pPr indent="-165100" lvl="0" marL="342900" marR="0" rtl="0" algn="l">
              <a:lnSpc>
                <a:spcPct val="85000"/>
              </a:lnSpc>
              <a:spcBef>
                <a:spcPts val="560"/>
              </a:spcBef>
              <a:spcAft>
                <a:spcPts val="0"/>
              </a:spcAft>
              <a:buClr>
                <a:srgbClr val="000099"/>
              </a:buClr>
              <a:buSzPts val="2800"/>
              <a:buFont typeface="Noto Sans Symbols"/>
              <a:buNone/>
            </a:pPr>
            <a:r>
              <a:t/>
            </a:r>
            <a:endParaRPr sz="2800">
              <a:solidFill>
                <a:srgbClr val="000000"/>
              </a:solidFill>
              <a:latin typeface="Gill Sans"/>
              <a:ea typeface="Gill Sans"/>
              <a:cs typeface="Gill Sans"/>
              <a:sym typeface="Gill Sans"/>
            </a:endParaRPr>
          </a:p>
        </p:txBody>
      </p:sp>
      <p:sp>
        <p:nvSpPr>
          <p:cNvPr id="6912" name="Google Shape;6912;p84"/>
          <p:cNvSpPr txBox="1"/>
          <p:nvPr/>
        </p:nvSpPr>
        <p:spPr>
          <a:xfrm>
            <a:off x="6413326" y="3654991"/>
            <a:ext cx="5361270" cy="2514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None/>
            </a:pPr>
            <a:r>
              <a:rPr lang="en-US" sz="2800">
                <a:solidFill>
                  <a:srgbClr val="C00000"/>
                </a:solidFill>
                <a:latin typeface="Calibri"/>
                <a:ea typeface="Calibri"/>
                <a:cs typeface="Calibri"/>
                <a:sym typeface="Calibri"/>
              </a:rPr>
              <a:t>administrative autonomy:</a:t>
            </a:r>
            <a:endParaRPr/>
          </a:p>
          <a:p>
            <a:pPr indent="-219075"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Internet: a network of networks</a:t>
            </a:r>
            <a:endParaRPr/>
          </a:p>
          <a:p>
            <a:pPr indent="-219075" lvl="0" marL="342900"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each network admin may want to control routing in its own network</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1"/>
                                        </p:tgtEl>
                                        <p:attrNameLst>
                                          <p:attrName>style.visibility</p:attrName>
                                        </p:attrNameLst>
                                      </p:cBhvr>
                                      <p:to>
                                        <p:strVal val="visible"/>
                                      </p:to>
                                    </p:set>
                                    <p:animEffect filter="fade" transition="in">
                                      <p:cBhvr>
                                        <p:cTn dur="500"/>
                                        <p:tgtEl>
                                          <p:spTgt spid="69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2"/>
                                        </p:tgtEl>
                                        <p:attrNameLst>
                                          <p:attrName>style.visibility</p:attrName>
                                        </p:attrNameLst>
                                      </p:cBhvr>
                                      <p:to>
                                        <p:strVal val="visible"/>
                                      </p:to>
                                    </p:set>
                                    <p:animEffect filter="fade" transition="in">
                                      <p:cBhvr>
                                        <p:cTn dur="500"/>
                                        <p:tgtEl>
                                          <p:spTgt spid="69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6" name="Shape 6916"/>
        <p:cNvGrpSpPr/>
        <p:nvPr/>
      </p:nvGrpSpPr>
      <p:grpSpPr>
        <a:xfrm>
          <a:off x="0" y="0"/>
          <a:ext cx="0" cy="0"/>
          <a:chOff x="0" y="0"/>
          <a:chExt cx="0" cy="0"/>
        </a:xfrm>
      </p:grpSpPr>
      <p:sp>
        <p:nvSpPr>
          <p:cNvPr id="6917" name="Google Shape;6917;p85"/>
          <p:cNvSpPr txBox="1"/>
          <p:nvPr>
            <p:ph idx="1" type="body"/>
          </p:nvPr>
        </p:nvSpPr>
        <p:spPr>
          <a:xfrm>
            <a:off x="788096" y="1561188"/>
            <a:ext cx="10515600" cy="4351338"/>
          </a:xfrm>
          <a:prstGeom prst="rect">
            <a:avLst/>
          </a:prstGeom>
          <a:noFill/>
          <a:ln>
            <a:noFill/>
          </a:ln>
        </p:spPr>
        <p:txBody>
          <a:bodyPr anchorCtr="0" anchor="t" bIns="45700" lIns="91425" spcFirstLastPara="1" rIns="91425" wrap="square" tIns="45700">
            <a:normAutofit/>
          </a:bodyPr>
          <a:lstStyle/>
          <a:p>
            <a:pPr indent="0" lvl="0" marL="130175" rtl="0" algn="l">
              <a:lnSpc>
                <a:spcPct val="90000"/>
              </a:lnSpc>
              <a:spcBef>
                <a:spcPts val="0"/>
              </a:spcBef>
              <a:spcAft>
                <a:spcPts val="0"/>
              </a:spcAft>
              <a:buSzPts val="3200"/>
              <a:buNone/>
            </a:pPr>
            <a:r>
              <a:rPr lang="en-US" sz="3200"/>
              <a:t>aggregate routers into regions known as </a:t>
            </a:r>
            <a:r>
              <a:rPr lang="en-US" sz="3200">
                <a:solidFill>
                  <a:srgbClr val="0000A8"/>
                </a:solidFill>
              </a:rPr>
              <a:t>“autonomous systems”</a:t>
            </a:r>
            <a:r>
              <a:rPr lang="en-US" sz="3200"/>
              <a:t> (AS) (a.k.a. “</a:t>
            </a:r>
            <a:r>
              <a:rPr lang="en-US" sz="3200">
                <a:solidFill>
                  <a:srgbClr val="0000A8"/>
                </a:solidFill>
              </a:rPr>
              <a:t>domains</a:t>
            </a:r>
            <a:r>
              <a:rPr lang="en-US" sz="3200"/>
              <a:t>”)</a:t>
            </a:r>
            <a:endParaRPr/>
          </a:p>
        </p:txBody>
      </p:sp>
      <p:sp>
        <p:nvSpPr>
          <p:cNvPr id="6918" name="Google Shape;6918;p8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approach to scalable routing</a:t>
            </a:r>
            <a:endParaRPr sz="4800">
              <a:latin typeface="Calibri"/>
              <a:ea typeface="Calibri"/>
              <a:cs typeface="Calibri"/>
              <a:sym typeface="Calibri"/>
            </a:endParaRPr>
          </a:p>
        </p:txBody>
      </p:sp>
      <p:sp>
        <p:nvSpPr>
          <p:cNvPr id="6919" name="Google Shape;6919;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6920" name="Google Shape;6920;p85"/>
          <p:cNvSpPr txBox="1"/>
          <p:nvPr/>
        </p:nvSpPr>
        <p:spPr>
          <a:xfrm>
            <a:off x="952500" y="2904546"/>
            <a:ext cx="5635668" cy="36595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3200"/>
              <a:buFont typeface="Noto Sans Symbols"/>
              <a:buNone/>
            </a:pPr>
            <a:r>
              <a:rPr lang="en-US" sz="3200">
                <a:solidFill>
                  <a:srgbClr val="C00000"/>
                </a:solidFill>
                <a:latin typeface="Calibri"/>
                <a:ea typeface="Calibri"/>
                <a:cs typeface="Calibri"/>
                <a:sym typeface="Calibri"/>
              </a:rPr>
              <a:t>intra-AS (aka “intra-domain”): </a:t>
            </a:r>
            <a:r>
              <a:rPr lang="en-US" sz="2800">
                <a:solidFill>
                  <a:srgbClr val="000000"/>
                </a:solidFill>
                <a:latin typeface="Calibri"/>
                <a:ea typeface="Calibri"/>
                <a:cs typeface="Calibri"/>
                <a:sym typeface="Calibri"/>
              </a:rPr>
              <a:t>routing among </a:t>
            </a:r>
            <a:r>
              <a:rPr i="1" lang="en-US" sz="2800">
                <a:solidFill>
                  <a:srgbClr val="000000"/>
                </a:solidFill>
                <a:latin typeface="Calibri"/>
                <a:ea typeface="Calibri"/>
                <a:cs typeface="Calibri"/>
                <a:sym typeface="Calibri"/>
              </a:rPr>
              <a:t>within same AS (“network”)</a:t>
            </a:r>
            <a:endParaRPr/>
          </a:p>
          <a:p>
            <a:pPr indent="-342900" lvl="0" marL="342900" marR="0" rtl="0" algn="l">
              <a:lnSpc>
                <a:spcPct val="90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all routers in AS must run same intra-domain protocol</a:t>
            </a:r>
            <a:endParaRPr/>
          </a:p>
          <a:p>
            <a:pPr indent="-342900" lvl="0" marL="342900" marR="0" rtl="0" algn="l">
              <a:lnSpc>
                <a:spcPct val="90000"/>
              </a:lnSpc>
              <a:spcBef>
                <a:spcPts val="4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routers in different AS can run different intra-domain routing protocols</a:t>
            </a:r>
            <a:endParaRPr/>
          </a:p>
          <a:p>
            <a:pPr indent="-342900" lvl="0" marL="342900" marR="0" rtl="0" algn="l">
              <a:lnSpc>
                <a:spcPct val="90000"/>
              </a:lnSpc>
              <a:spcBef>
                <a:spcPts val="400"/>
              </a:spcBef>
              <a:spcAft>
                <a:spcPts val="0"/>
              </a:spcAft>
              <a:buClr>
                <a:srgbClr val="000099"/>
              </a:buClr>
              <a:buSzPts val="2400"/>
              <a:buFont typeface="Noto Sans Symbols"/>
              <a:buChar char="▪"/>
            </a:pPr>
            <a:r>
              <a:rPr lang="en-US" sz="2400">
                <a:solidFill>
                  <a:srgbClr val="0000A8"/>
                </a:solidFill>
                <a:latin typeface="Calibri"/>
                <a:ea typeface="Calibri"/>
                <a:cs typeface="Calibri"/>
                <a:sym typeface="Calibri"/>
              </a:rPr>
              <a:t>gateway router: </a:t>
            </a:r>
            <a:r>
              <a:rPr lang="en-US" sz="2400">
                <a:solidFill>
                  <a:srgbClr val="000000"/>
                </a:solidFill>
                <a:latin typeface="Calibri"/>
                <a:ea typeface="Calibri"/>
                <a:cs typeface="Calibri"/>
                <a:sym typeface="Calibri"/>
              </a:rPr>
              <a:t>at “edge” of its own AS, has link(s) to router(s) in other AS’es</a:t>
            </a:r>
            <a:endParaRPr/>
          </a:p>
          <a:p>
            <a:pPr indent="-165100" lvl="0" marL="342900" marR="0" rtl="0" algn="l">
              <a:lnSpc>
                <a:spcPct val="85000"/>
              </a:lnSpc>
              <a:spcBef>
                <a:spcPts val="560"/>
              </a:spcBef>
              <a:spcAft>
                <a:spcPts val="0"/>
              </a:spcAft>
              <a:buClr>
                <a:srgbClr val="000099"/>
              </a:buClr>
              <a:buSzPts val="2800"/>
              <a:buFont typeface="Noto Sans Symbols"/>
              <a:buNone/>
            </a:pPr>
            <a:r>
              <a:t/>
            </a:r>
            <a:endParaRPr sz="2800">
              <a:solidFill>
                <a:srgbClr val="000000"/>
              </a:solidFill>
              <a:latin typeface="Gill Sans"/>
              <a:ea typeface="Gill Sans"/>
              <a:cs typeface="Gill Sans"/>
              <a:sym typeface="Gill Sans"/>
            </a:endParaRPr>
          </a:p>
          <a:p>
            <a:pPr indent="-165100" lvl="0" marL="342900" marR="0" rtl="0" algn="l">
              <a:lnSpc>
                <a:spcPct val="85000"/>
              </a:lnSpc>
              <a:spcBef>
                <a:spcPts val="560"/>
              </a:spcBef>
              <a:spcAft>
                <a:spcPts val="0"/>
              </a:spcAft>
              <a:buClr>
                <a:srgbClr val="000099"/>
              </a:buClr>
              <a:buSzPts val="2800"/>
              <a:buFont typeface="Noto Sans Symbols"/>
              <a:buNone/>
            </a:pPr>
            <a:r>
              <a:t/>
            </a:r>
            <a:endParaRPr sz="2800">
              <a:solidFill>
                <a:srgbClr val="000000"/>
              </a:solidFill>
              <a:latin typeface="Gill Sans"/>
              <a:ea typeface="Gill Sans"/>
              <a:cs typeface="Gill Sans"/>
              <a:sym typeface="Gill Sans"/>
            </a:endParaRPr>
          </a:p>
        </p:txBody>
      </p:sp>
      <p:sp>
        <p:nvSpPr>
          <p:cNvPr id="6921" name="Google Shape;6921;p85"/>
          <p:cNvSpPr txBox="1"/>
          <p:nvPr/>
        </p:nvSpPr>
        <p:spPr>
          <a:xfrm>
            <a:off x="6864096" y="2928482"/>
            <a:ext cx="5160890" cy="2514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lang="en-US" sz="3200">
                <a:solidFill>
                  <a:srgbClr val="CC0000"/>
                </a:solidFill>
                <a:latin typeface="Calibri"/>
                <a:ea typeface="Calibri"/>
                <a:cs typeface="Calibri"/>
                <a:sym typeface="Calibri"/>
              </a:rPr>
              <a:t>inter-AS (aka “inter-domain”): </a:t>
            </a:r>
            <a:r>
              <a:rPr lang="en-US" sz="2800">
                <a:solidFill>
                  <a:srgbClr val="000000"/>
                </a:solidFill>
                <a:latin typeface="Calibri"/>
                <a:ea typeface="Calibri"/>
                <a:cs typeface="Calibri"/>
                <a:sym typeface="Calibri"/>
              </a:rPr>
              <a:t>routing </a:t>
            </a:r>
            <a:r>
              <a:rPr i="1" lang="en-US" sz="2800">
                <a:solidFill>
                  <a:srgbClr val="0000A8"/>
                </a:solidFill>
                <a:latin typeface="Calibri"/>
                <a:ea typeface="Calibri"/>
                <a:cs typeface="Calibri"/>
                <a:sym typeface="Calibri"/>
              </a:rPr>
              <a:t>among</a:t>
            </a:r>
            <a:r>
              <a:rPr lang="en-US" sz="2800">
                <a:solidFill>
                  <a:srgbClr val="000000"/>
                </a:solidFill>
                <a:latin typeface="Calibri"/>
                <a:ea typeface="Calibri"/>
                <a:cs typeface="Calibri"/>
                <a:sym typeface="Calibri"/>
              </a:rPr>
              <a:t> AS’es</a:t>
            </a:r>
            <a:endParaRPr/>
          </a:p>
          <a:p>
            <a:pPr indent="-285750" lvl="0" marL="409575" marR="0" rtl="0" algn="l">
              <a:lnSpc>
                <a:spcPct val="85000"/>
              </a:lnSpc>
              <a:spcBef>
                <a:spcPts val="48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gateways perform inter-domain routing (as well as intra-domain routing)</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0"/>
                                        </p:tgtEl>
                                        <p:attrNameLst>
                                          <p:attrName>style.visibility</p:attrName>
                                        </p:attrNameLst>
                                      </p:cBhvr>
                                      <p:to>
                                        <p:strVal val="visible"/>
                                      </p:to>
                                    </p:set>
                                    <p:animEffect filter="fade" transition="in">
                                      <p:cBhvr>
                                        <p:cTn dur="500"/>
                                        <p:tgtEl>
                                          <p:spTgt spid="6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1"/>
                                        </p:tgtEl>
                                        <p:attrNameLst>
                                          <p:attrName>style.visibility</p:attrName>
                                        </p:attrNameLst>
                                      </p:cBhvr>
                                      <p:to>
                                        <p:strVal val="visible"/>
                                      </p:to>
                                    </p:set>
                                    <p:animEffect filter="fade" transition="in">
                                      <p:cBhvr>
                                        <p:cTn dur="500"/>
                                        <p:tgtEl>
                                          <p:spTgt spid="69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5" name="Shape 6925"/>
        <p:cNvGrpSpPr/>
        <p:nvPr/>
      </p:nvGrpSpPr>
      <p:grpSpPr>
        <a:xfrm>
          <a:off x="0" y="0"/>
          <a:ext cx="0" cy="0"/>
          <a:chOff x="0" y="0"/>
          <a:chExt cx="0" cy="0"/>
        </a:xfrm>
      </p:grpSpPr>
      <p:sp>
        <p:nvSpPr>
          <p:cNvPr id="6926" name="Google Shape;6926;p8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Interconnected ASes</a:t>
            </a:r>
            <a:endParaRPr sz="4800">
              <a:latin typeface="Calibri"/>
              <a:ea typeface="Calibri"/>
              <a:cs typeface="Calibri"/>
              <a:sym typeface="Calibri"/>
            </a:endParaRPr>
          </a:p>
        </p:txBody>
      </p:sp>
      <p:sp>
        <p:nvSpPr>
          <p:cNvPr id="6927" name="Google Shape;6927;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6928" name="Google Shape;6928;p86"/>
          <p:cNvSpPr/>
          <p:nvPr/>
        </p:nvSpPr>
        <p:spPr>
          <a:xfrm>
            <a:off x="5446783" y="4100650"/>
            <a:ext cx="2351995" cy="1511508"/>
          </a:xfrm>
          <a:custGeom>
            <a:rect b="b" l="l" r="r" t="t"/>
            <a:pathLst>
              <a:path extrusionOk="0" h="543" w="1162">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29" name="Google Shape;6929;p86"/>
          <p:cNvSpPr/>
          <p:nvPr/>
        </p:nvSpPr>
        <p:spPr>
          <a:xfrm>
            <a:off x="1620228" y="3847012"/>
            <a:ext cx="1832250" cy="1498236"/>
          </a:xfrm>
          <a:custGeom>
            <a:rect b="b" l="l" r="r" t="t"/>
            <a:pathLst>
              <a:path extrusionOk="0" h="451" w="1198">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30" name="Google Shape;6930;p86"/>
          <p:cNvSpPr/>
          <p:nvPr/>
        </p:nvSpPr>
        <p:spPr>
          <a:xfrm>
            <a:off x="2802795" y="4927925"/>
            <a:ext cx="2930139" cy="1167917"/>
          </a:xfrm>
          <a:custGeom>
            <a:rect b="b" l="l" r="r" t="t"/>
            <a:pathLst>
              <a:path extrusionOk="0" h="682" w="1583">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31" name="Google Shape;6931;p86"/>
          <p:cNvSpPr/>
          <p:nvPr/>
        </p:nvSpPr>
        <p:spPr>
          <a:xfrm>
            <a:off x="2001278" y="4926450"/>
            <a:ext cx="456967" cy="11944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6932" name="Google Shape;6932;p86"/>
          <p:cNvCxnSpPr/>
          <p:nvPr/>
        </p:nvCxnSpPr>
        <p:spPr>
          <a:xfrm>
            <a:off x="2001278" y="4916128"/>
            <a:ext cx="0" cy="76681"/>
          </a:xfrm>
          <a:prstGeom prst="straightConnector1">
            <a:avLst/>
          </a:prstGeom>
          <a:noFill/>
          <a:ln cap="flat" cmpd="sng" w="12700">
            <a:solidFill>
              <a:srgbClr val="000000"/>
            </a:solidFill>
            <a:prstDash val="solid"/>
            <a:round/>
            <a:headEnd len="med" w="med" type="none"/>
            <a:tailEnd len="med" w="med" type="none"/>
          </a:ln>
        </p:spPr>
      </p:cxnSp>
      <p:cxnSp>
        <p:nvCxnSpPr>
          <p:cNvPr id="6933" name="Google Shape;6933;p86"/>
          <p:cNvCxnSpPr/>
          <p:nvPr/>
        </p:nvCxnSpPr>
        <p:spPr>
          <a:xfrm>
            <a:off x="2458245" y="4916128"/>
            <a:ext cx="0" cy="76681"/>
          </a:xfrm>
          <a:prstGeom prst="straightConnector1">
            <a:avLst/>
          </a:prstGeom>
          <a:noFill/>
          <a:ln cap="flat" cmpd="sng" w="12700">
            <a:solidFill>
              <a:srgbClr val="000000"/>
            </a:solidFill>
            <a:prstDash val="solid"/>
            <a:round/>
            <a:headEnd len="med" w="med" type="none"/>
            <a:tailEnd len="med" w="med" type="none"/>
          </a:ln>
        </p:spPr>
      </p:cxnSp>
      <p:sp>
        <p:nvSpPr>
          <p:cNvPr id="6934" name="Google Shape;6934;p86"/>
          <p:cNvSpPr/>
          <p:nvPr/>
        </p:nvSpPr>
        <p:spPr>
          <a:xfrm>
            <a:off x="2001278" y="4916128"/>
            <a:ext cx="452588" cy="75207"/>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6935" name="Google Shape;6935;p86"/>
          <p:cNvSpPr/>
          <p:nvPr/>
        </p:nvSpPr>
        <p:spPr>
          <a:xfrm>
            <a:off x="1996898" y="4829124"/>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36" name="Google Shape;6936;p86"/>
          <p:cNvSpPr/>
          <p:nvPr/>
        </p:nvSpPr>
        <p:spPr>
          <a:xfrm>
            <a:off x="2123914" y="4848294"/>
            <a:ext cx="205854" cy="182856"/>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37" name="Google Shape;6937;p86"/>
          <p:cNvSpPr txBox="1"/>
          <p:nvPr/>
        </p:nvSpPr>
        <p:spPr>
          <a:xfrm>
            <a:off x="1998358" y="4752442"/>
            <a:ext cx="467187" cy="3966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3b</a:t>
            </a:r>
            <a:endParaRPr sz="2400">
              <a:solidFill>
                <a:srgbClr val="000000"/>
              </a:solidFill>
              <a:latin typeface="Arial"/>
              <a:ea typeface="Arial"/>
              <a:cs typeface="Arial"/>
              <a:sym typeface="Arial"/>
            </a:endParaRPr>
          </a:p>
        </p:txBody>
      </p:sp>
      <p:sp>
        <p:nvSpPr>
          <p:cNvPr id="6938" name="Google Shape;6938;p86"/>
          <p:cNvSpPr/>
          <p:nvPr/>
        </p:nvSpPr>
        <p:spPr>
          <a:xfrm>
            <a:off x="3779509" y="5820083"/>
            <a:ext cx="456967" cy="11944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6939" name="Google Shape;6939;p86"/>
          <p:cNvCxnSpPr/>
          <p:nvPr/>
        </p:nvCxnSpPr>
        <p:spPr>
          <a:xfrm>
            <a:off x="3779509" y="5809761"/>
            <a:ext cx="0" cy="76681"/>
          </a:xfrm>
          <a:prstGeom prst="straightConnector1">
            <a:avLst/>
          </a:prstGeom>
          <a:noFill/>
          <a:ln cap="flat" cmpd="sng" w="12700">
            <a:solidFill>
              <a:srgbClr val="000000"/>
            </a:solidFill>
            <a:prstDash val="solid"/>
            <a:round/>
            <a:headEnd len="med" w="med" type="none"/>
            <a:tailEnd len="med" w="med" type="none"/>
          </a:ln>
        </p:spPr>
      </p:cxnSp>
      <p:cxnSp>
        <p:nvCxnSpPr>
          <p:cNvPr id="6940" name="Google Shape;6940;p86"/>
          <p:cNvCxnSpPr/>
          <p:nvPr/>
        </p:nvCxnSpPr>
        <p:spPr>
          <a:xfrm>
            <a:off x="4236476" y="5809761"/>
            <a:ext cx="0" cy="76681"/>
          </a:xfrm>
          <a:prstGeom prst="straightConnector1">
            <a:avLst/>
          </a:prstGeom>
          <a:noFill/>
          <a:ln cap="flat" cmpd="sng" w="12700">
            <a:solidFill>
              <a:srgbClr val="000000"/>
            </a:solidFill>
            <a:prstDash val="solid"/>
            <a:round/>
            <a:headEnd len="med" w="med" type="none"/>
            <a:tailEnd len="med" w="med" type="none"/>
          </a:ln>
        </p:spPr>
      </p:cxnSp>
      <p:sp>
        <p:nvSpPr>
          <p:cNvPr id="6941" name="Google Shape;6941;p86"/>
          <p:cNvSpPr/>
          <p:nvPr/>
        </p:nvSpPr>
        <p:spPr>
          <a:xfrm>
            <a:off x="3779509" y="5809761"/>
            <a:ext cx="452588" cy="75207"/>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6942" name="Google Shape;6942;p86"/>
          <p:cNvSpPr/>
          <p:nvPr/>
        </p:nvSpPr>
        <p:spPr>
          <a:xfrm>
            <a:off x="3775129" y="5722757"/>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6943" name="Google Shape;6943;p86"/>
          <p:cNvGrpSpPr/>
          <p:nvPr/>
        </p:nvGrpSpPr>
        <p:grpSpPr>
          <a:xfrm>
            <a:off x="3778049" y="5637228"/>
            <a:ext cx="468647" cy="396679"/>
            <a:chOff x="2897" y="2425"/>
            <a:chExt cx="323" cy="269"/>
          </a:xfrm>
        </p:grpSpPr>
        <p:sp>
          <p:nvSpPr>
            <p:cNvPr id="6944" name="Google Shape;6944;p86"/>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45" name="Google Shape;6945;p86"/>
            <p:cNvSpPr txBox="1"/>
            <p:nvPr/>
          </p:nvSpPr>
          <p:spPr>
            <a:xfrm>
              <a:off x="2897" y="2425"/>
              <a:ext cx="323" cy="2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1d</a:t>
              </a:r>
              <a:endParaRPr/>
            </a:p>
          </p:txBody>
        </p:sp>
      </p:grpSp>
      <p:sp>
        <p:nvSpPr>
          <p:cNvPr id="6946" name="Google Shape;6946;p86"/>
          <p:cNvSpPr/>
          <p:nvPr/>
        </p:nvSpPr>
        <p:spPr>
          <a:xfrm>
            <a:off x="2820315" y="4731797"/>
            <a:ext cx="456967" cy="1223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6947" name="Google Shape;6947;p86"/>
          <p:cNvCxnSpPr/>
          <p:nvPr/>
        </p:nvCxnSpPr>
        <p:spPr>
          <a:xfrm>
            <a:off x="2820315" y="4721475"/>
            <a:ext cx="0" cy="73732"/>
          </a:xfrm>
          <a:prstGeom prst="straightConnector1">
            <a:avLst/>
          </a:prstGeom>
          <a:noFill/>
          <a:ln cap="flat" cmpd="sng" w="12700">
            <a:solidFill>
              <a:srgbClr val="000000"/>
            </a:solidFill>
            <a:prstDash val="solid"/>
            <a:round/>
            <a:headEnd len="med" w="med" type="none"/>
            <a:tailEnd len="med" w="med" type="none"/>
          </a:ln>
        </p:spPr>
      </p:cxnSp>
      <p:cxnSp>
        <p:nvCxnSpPr>
          <p:cNvPr id="6948" name="Google Shape;6948;p86"/>
          <p:cNvCxnSpPr/>
          <p:nvPr/>
        </p:nvCxnSpPr>
        <p:spPr>
          <a:xfrm>
            <a:off x="3277282" y="4721475"/>
            <a:ext cx="0" cy="73732"/>
          </a:xfrm>
          <a:prstGeom prst="straightConnector1">
            <a:avLst/>
          </a:prstGeom>
          <a:noFill/>
          <a:ln cap="flat" cmpd="sng" w="12700">
            <a:solidFill>
              <a:srgbClr val="000000"/>
            </a:solidFill>
            <a:prstDash val="solid"/>
            <a:round/>
            <a:headEnd len="med" w="med" type="none"/>
            <a:tailEnd len="med" w="med" type="none"/>
          </a:ln>
        </p:spPr>
      </p:cxnSp>
      <p:sp>
        <p:nvSpPr>
          <p:cNvPr id="6949" name="Google Shape;6949;p86"/>
          <p:cNvSpPr/>
          <p:nvPr/>
        </p:nvSpPr>
        <p:spPr>
          <a:xfrm>
            <a:off x="2820315" y="4721475"/>
            <a:ext cx="452588" cy="6930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6950" name="Google Shape;6950;p86"/>
          <p:cNvSpPr/>
          <p:nvPr/>
        </p:nvSpPr>
        <p:spPr>
          <a:xfrm>
            <a:off x="2815935" y="4634471"/>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51" name="Google Shape;6951;p86"/>
          <p:cNvSpPr/>
          <p:nvPr/>
        </p:nvSpPr>
        <p:spPr>
          <a:xfrm>
            <a:off x="2942952" y="4653641"/>
            <a:ext cx="207314" cy="162211"/>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52" name="Google Shape;6952;p86"/>
          <p:cNvSpPr txBox="1"/>
          <p:nvPr/>
        </p:nvSpPr>
        <p:spPr>
          <a:xfrm>
            <a:off x="2818855" y="4556315"/>
            <a:ext cx="467187" cy="3966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3a</a:t>
            </a:r>
            <a:endParaRPr sz="2400">
              <a:solidFill>
                <a:srgbClr val="000000"/>
              </a:solidFill>
              <a:latin typeface="Arial"/>
              <a:ea typeface="Arial"/>
              <a:cs typeface="Arial"/>
              <a:sym typeface="Arial"/>
            </a:endParaRPr>
          </a:p>
        </p:txBody>
      </p:sp>
      <p:sp>
        <p:nvSpPr>
          <p:cNvPr id="6953" name="Google Shape;6953;p86"/>
          <p:cNvSpPr/>
          <p:nvPr/>
        </p:nvSpPr>
        <p:spPr>
          <a:xfrm>
            <a:off x="3726950" y="5236125"/>
            <a:ext cx="456967" cy="11944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6954" name="Google Shape;6954;p86"/>
          <p:cNvCxnSpPr/>
          <p:nvPr/>
        </p:nvCxnSpPr>
        <p:spPr>
          <a:xfrm>
            <a:off x="3726950" y="5227277"/>
            <a:ext cx="0" cy="75207"/>
          </a:xfrm>
          <a:prstGeom prst="straightConnector1">
            <a:avLst/>
          </a:prstGeom>
          <a:noFill/>
          <a:ln cap="flat" cmpd="sng" w="12700">
            <a:solidFill>
              <a:srgbClr val="000000"/>
            </a:solidFill>
            <a:prstDash val="solid"/>
            <a:round/>
            <a:headEnd len="med" w="med" type="none"/>
            <a:tailEnd len="med" w="med" type="none"/>
          </a:ln>
        </p:spPr>
      </p:cxnSp>
      <p:cxnSp>
        <p:nvCxnSpPr>
          <p:cNvPr id="6955" name="Google Shape;6955;p86"/>
          <p:cNvCxnSpPr/>
          <p:nvPr/>
        </p:nvCxnSpPr>
        <p:spPr>
          <a:xfrm>
            <a:off x="4183917" y="5227277"/>
            <a:ext cx="0" cy="75207"/>
          </a:xfrm>
          <a:prstGeom prst="straightConnector1">
            <a:avLst/>
          </a:prstGeom>
          <a:noFill/>
          <a:ln cap="flat" cmpd="sng" w="12700">
            <a:solidFill>
              <a:srgbClr val="000000"/>
            </a:solidFill>
            <a:prstDash val="solid"/>
            <a:round/>
            <a:headEnd len="med" w="med" type="none"/>
            <a:tailEnd len="med" w="med" type="none"/>
          </a:ln>
        </p:spPr>
      </p:cxnSp>
      <p:sp>
        <p:nvSpPr>
          <p:cNvPr id="6956" name="Google Shape;6956;p86"/>
          <p:cNvSpPr/>
          <p:nvPr/>
        </p:nvSpPr>
        <p:spPr>
          <a:xfrm>
            <a:off x="3726950" y="5227277"/>
            <a:ext cx="452588" cy="70783"/>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6957" name="Google Shape;6957;p86"/>
          <p:cNvSpPr/>
          <p:nvPr/>
        </p:nvSpPr>
        <p:spPr>
          <a:xfrm>
            <a:off x="3722570" y="5138799"/>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6958" name="Google Shape;6958;p86"/>
          <p:cNvGrpSpPr/>
          <p:nvPr/>
        </p:nvGrpSpPr>
        <p:grpSpPr>
          <a:xfrm>
            <a:off x="3729870" y="5053269"/>
            <a:ext cx="452588" cy="398153"/>
            <a:chOff x="2899" y="2425"/>
            <a:chExt cx="319" cy="270"/>
          </a:xfrm>
        </p:grpSpPr>
        <p:sp>
          <p:nvSpPr>
            <p:cNvPr id="6959" name="Google Shape;6959;p8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60" name="Google Shape;6960;p86"/>
            <p:cNvSpPr txBox="1"/>
            <p:nvPr/>
          </p:nvSpPr>
          <p:spPr>
            <a:xfrm>
              <a:off x="2899" y="2425"/>
              <a:ext cx="319" cy="27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1c</a:t>
              </a:r>
              <a:endParaRPr/>
            </a:p>
          </p:txBody>
        </p:sp>
      </p:grpSp>
      <p:cxnSp>
        <p:nvCxnSpPr>
          <p:cNvPr id="6961" name="Google Shape;6961;p86"/>
          <p:cNvCxnSpPr/>
          <p:nvPr/>
        </p:nvCxnSpPr>
        <p:spPr>
          <a:xfrm>
            <a:off x="6347578" y="4971418"/>
            <a:ext cx="449668" cy="144515"/>
          </a:xfrm>
          <a:prstGeom prst="straightConnector1">
            <a:avLst/>
          </a:prstGeom>
          <a:noFill/>
          <a:ln cap="flat" cmpd="sng" w="28575">
            <a:solidFill>
              <a:srgbClr val="000000"/>
            </a:solidFill>
            <a:prstDash val="solid"/>
            <a:round/>
            <a:headEnd len="med" w="med" type="none"/>
            <a:tailEnd len="med" w="med" type="none"/>
          </a:ln>
        </p:spPr>
      </p:cxnSp>
      <p:cxnSp>
        <p:nvCxnSpPr>
          <p:cNvPr id="6962" name="Google Shape;6962;p86"/>
          <p:cNvCxnSpPr/>
          <p:nvPr/>
        </p:nvCxnSpPr>
        <p:spPr>
          <a:xfrm>
            <a:off x="6820605" y="4846819"/>
            <a:ext cx="132856" cy="171058"/>
          </a:xfrm>
          <a:prstGeom prst="straightConnector1">
            <a:avLst/>
          </a:prstGeom>
          <a:noFill/>
          <a:ln cap="flat" cmpd="sng" w="28575">
            <a:solidFill>
              <a:srgbClr val="000000"/>
            </a:solidFill>
            <a:prstDash val="solid"/>
            <a:round/>
            <a:headEnd len="med" w="med" type="none"/>
            <a:tailEnd len="med" w="med" type="none"/>
          </a:ln>
        </p:spPr>
      </p:cxnSp>
      <p:cxnSp>
        <p:nvCxnSpPr>
          <p:cNvPr id="6963" name="Google Shape;6963;p86"/>
          <p:cNvCxnSpPr/>
          <p:nvPr/>
        </p:nvCxnSpPr>
        <p:spPr>
          <a:xfrm flipH="1" rot="10800000">
            <a:off x="6248301" y="4781935"/>
            <a:ext cx="166435" cy="112073"/>
          </a:xfrm>
          <a:prstGeom prst="straightConnector1">
            <a:avLst/>
          </a:prstGeom>
          <a:noFill/>
          <a:ln cap="flat" cmpd="sng" w="28575">
            <a:solidFill>
              <a:srgbClr val="000000"/>
            </a:solidFill>
            <a:prstDash val="solid"/>
            <a:round/>
            <a:headEnd len="med" w="med" type="none"/>
            <a:tailEnd len="med" w="med" type="none"/>
          </a:ln>
        </p:spPr>
      </p:cxnSp>
      <p:sp>
        <p:nvSpPr>
          <p:cNvPr id="6964" name="Google Shape;6964;p86"/>
          <p:cNvSpPr/>
          <p:nvPr/>
        </p:nvSpPr>
        <p:spPr>
          <a:xfrm>
            <a:off x="4233556" y="5716858"/>
            <a:ext cx="385429" cy="120921"/>
          </a:xfrm>
          <a:custGeom>
            <a:rect b="b" l="l" r="r" t="t"/>
            <a:pathLst>
              <a:path extrusionOk="0" h="82" w="264">
                <a:moveTo>
                  <a:pt x="0" y="82"/>
                </a:moveTo>
                <a:lnTo>
                  <a:pt x="264" y="0"/>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65" name="Google Shape;6965;p86"/>
          <p:cNvSpPr/>
          <p:nvPr/>
        </p:nvSpPr>
        <p:spPr>
          <a:xfrm>
            <a:off x="3561975" y="5663771"/>
            <a:ext cx="221914" cy="174008"/>
          </a:xfrm>
          <a:custGeom>
            <a:rect b="b" l="l" r="r" t="t"/>
            <a:pathLst>
              <a:path extrusionOk="0" h="118" w="152">
                <a:moveTo>
                  <a:pt x="0" y="0"/>
                </a:moveTo>
                <a:lnTo>
                  <a:pt x="152" y="118"/>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66" name="Google Shape;6966;p86"/>
          <p:cNvSpPr/>
          <p:nvPr/>
        </p:nvSpPr>
        <p:spPr>
          <a:xfrm>
            <a:off x="3743010" y="5560546"/>
            <a:ext cx="823417" cy="120921"/>
          </a:xfrm>
          <a:custGeom>
            <a:rect b="b" l="l" r="r" t="t"/>
            <a:pathLst>
              <a:path extrusionOk="0" h="82" w="564">
                <a:moveTo>
                  <a:pt x="0" y="0"/>
                </a:moveTo>
                <a:lnTo>
                  <a:pt x="564" y="82"/>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67" name="Google Shape;6967;p86"/>
          <p:cNvSpPr/>
          <p:nvPr/>
        </p:nvSpPr>
        <p:spPr>
          <a:xfrm>
            <a:off x="3652492" y="5321654"/>
            <a:ext cx="110957" cy="138616"/>
          </a:xfrm>
          <a:custGeom>
            <a:rect b="b" l="l" r="r" t="t"/>
            <a:pathLst>
              <a:path extrusionOk="0" h="94" w="76">
                <a:moveTo>
                  <a:pt x="0" y="94"/>
                </a:moveTo>
                <a:lnTo>
                  <a:pt x="76" y="0"/>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68" name="Google Shape;6968;p86"/>
          <p:cNvSpPr/>
          <p:nvPr/>
        </p:nvSpPr>
        <p:spPr>
          <a:xfrm>
            <a:off x="2446565" y="4767189"/>
            <a:ext cx="367910" cy="168109"/>
          </a:xfrm>
          <a:custGeom>
            <a:rect b="b" l="l" r="r" t="t"/>
            <a:pathLst>
              <a:path extrusionOk="0" h="114" w="252">
                <a:moveTo>
                  <a:pt x="0" y="114"/>
                </a:moveTo>
                <a:lnTo>
                  <a:pt x="252" y="0"/>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69" name="Google Shape;6969;p86"/>
          <p:cNvSpPr/>
          <p:nvPr/>
        </p:nvSpPr>
        <p:spPr>
          <a:xfrm>
            <a:off x="3083108" y="4855667"/>
            <a:ext cx="648222" cy="380458"/>
          </a:xfrm>
          <a:custGeom>
            <a:rect b="b" l="l" r="r" t="t"/>
            <a:pathLst>
              <a:path extrusionOk="0" h="258" w="444">
                <a:moveTo>
                  <a:pt x="0" y="0"/>
                </a:moveTo>
                <a:lnTo>
                  <a:pt x="444" y="258"/>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70" name="Google Shape;6970;p86"/>
          <p:cNvSpPr/>
          <p:nvPr/>
        </p:nvSpPr>
        <p:spPr>
          <a:xfrm>
            <a:off x="5016095" y="5029675"/>
            <a:ext cx="954814" cy="619350"/>
          </a:xfrm>
          <a:custGeom>
            <a:rect b="b" l="l" r="r" t="t"/>
            <a:pathLst>
              <a:path extrusionOk="0" h="420" w="654">
                <a:moveTo>
                  <a:pt x="0" y="420"/>
                </a:moveTo>
                <a:lnTo>
                  <a:pt x="654" y="0"/>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71" name="Google Shape;6971;p86"/>
          <p:cNvSpPr/>
          <p:nvPr/>
        </p:nvSpPr>
        <p:spPr>
          <a:xfrm>
            <a:off x="5890611" y="4936773"/>
            <a:ext cx="456967" cy="12092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6972" name="Google Shape;6972;p86"/>
          <p:cNvCxnSpPr/>
          <p:nvPr/>
        </p:nvCxnSpPr>
        <p:spPr>
          <a:xfrm>
            <a:off x="5890611" y="4924975"/>
            <a:ext cx="0" cy="73732"/>
          </a:xfrm>
          <a:prstGeom prst="straightConnector1">
            <a:avLst/>
          </a:prstGeom>
          <a:noFill/>
          <a:ln cap="flat" cmpd="sng" w="12700">
            <a:solidFill>
              <a:srgbClr val="000000"/>
            </a:solidFill>
            <a:prstDash val="solid"/>
            <a:round/>
            <a:headEnd len="med" w="med" type="none"/>
            <a:tailEnd len="med" w="med" type="none"/>
          </a:ln>
        </p:spPr>
      </p:cxnSp>
      <p:cxnSp>
        <p:nvCxnSpPr>
          <p:cNvPr id="6973" name="Google Shape;6973;p86"/>
          <p:cNvCxnSpPr/>
          <p:nvPr/>
        </p:nvCxnSpPr>
        <p:spPr>
          <a:xfrm>
            <a:off x="6347578" y="4924975"/>
            <a:ext cx="0" cy="73732"/>
          </a:xfrm>
          <a:prstGeom prst="straightConnector1">
            <a:avLst/>
          </a:prstGeom>
          <a:noFill/>
          <a:ln cap="flat" cmpd="sng" w="12700">
            <a:solidFill>
              <a:srgbClr val="000000"/>
            </a:solidFill>
            <a:prstDash val="solid"/>
            <a:round/>
            <a:headEnd len="med" w="med" type="none"/>
            <a:tailEnd len="med" w="med" type="none"/>
          </a:ln>
        </p:spPr>
      </p:cxnSp>
      <p:sp>
        <p:nvSpPr>
          <p:cNvPr id="6974" name="Google Shape;6974;p86"/>
          <p:cNvSpPr/>
          <p:nvPr/>
        </p:nvSpPr>
        <p:spPr>
          <a:xfrm>
            <a:off x="5890611" y="4924975"/>
            <a:ext cx="452588" cy="737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6975" name="Google Shape;6975;p86"/>
          <p:cNvSpPr/>
          <p:nvPr/>
        </p:nvSpPr>
        <p:spPr>
          <a:xfrm>
            <a:off x="5886231" y="4837972"/>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76" name="Google Shape;6976;p86"/>
          <p:cNvSpPr/>
          <p:nvPr/>
        </p:nvSpPr>
        <p:spPr>
          <a:xfrm>
            <a:off x="6013247" y="4857142"/>
            <a:ext cx="205854" cy="179906"/>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77" name="Google Shape;6977;p86"/>
          <p:cNvSpPr txBox="1"/>
          <p:nvPr/>
        </p:nvSpPr>
        <p:spPr>
          <a:xfrm>
            <a:off x="5887691" y="4761290"/>
            <a:ext cx="467187" cy="3966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2a</a:t>
            </a:r>
            <a:endParaRPr sz="2400">
              <a:solidFill>
                <a:srgbClr val="000000"/>
              </a:solidFill>
              <a:latin typeface="Arial"/>
              <a:ea typeface="Arial"/>
              <a:cs typeface="Arial"/>
              <a:sym typeface="Arial"/>
            </a:endParaRPr>
          </a:p>
        </p:txBody>
      </p:sp>
      <p:sp>
        <p:nvSpPr>
          <p:cNvPr id="6978" name="Google Shape;6978;p86"/>
          <p:cNvSpPr txBox="1"/>
          <p:nvPr/>
        </p:nvSpPr>
        <p:spPr>
          <a:xfrm>
            <a:off x="1840470" y="5215261"/>
            <a:ext cx="665742" cy="396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Arial"/>
                <a:ea typeface="Arial"/>
                <a:cs typeface="Arial"/>
                <a:sym typeface="Arial"/>
              </a:rPr>
              <a:t>AS3</a:t>
            </a:r>
            <a:endParaRPr sz="1800">
              <a:solidFill>
                <a:srgbClr val="000000"/>
              </a:solidFill>
              <a:latin typeface="Arial"/>
              <a:ea typeface="Arial"/>
              <a:cs typeface="Arial"/>
              <a:sym typeface="Arial"/>
            </a:endParaRPr>
          </a:p>
        </p:txBody>
      </p:sp>
      <p:sp>
        <p:nvSpPr>
          <p:cNvPr id="6979" name="Google Shape;6979;p86"/>
          <p:cNvSpPr txBox="1"/>
          <p:nvPr/>
        </p:nvSpPr>
        <p:spPr>
          <a:xfrm>
            <a:off x="5345452" y="5839068"/>
            <a:ext cx="665742" cy="396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Arial"/>
                <a:ea typeface="Arial"/>
                <a:cs typeface="Arial"/>
                <a:sym typeface="Arial"/>
              </a:rPr>
              <a:t>AS1</a:t>
            </a:r>
            <a:endParaRPr sz="1800">
              <a:solidFill>
                <a:srgbClr val="000000"/>
              </a:solidFill>
              <a:latin typeface="Arial"/>
              <a:ea typeface="Arial"/>
              <a:cs typeface="Arial"/>
              <a:sym typeface="Arial"/>
            </a:endParaRPr>
          </a:p>
        </p:txBody>
      </p:sp>
      <p:sp>
        <p:nvSpPr>
          <p:cNvPr id="6980" name="Google Shape;6980;p86"/>
          <p:cNvSpPr txBox="1"/>
          <p:nvPr/>
        </p:nvSpPr>
        <p:spPr>
          <a:xfrm>
            <a:off x="7116511" y="5463035"/>
            <a:ext cx="616103" cy="3686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AS2</a:t>
            </a:r>
            <a:endParaRPr/>
          </a:p>
        </p:txBody>
      </p:sp>
      <p:sp>
        <p:nvSpPr>
          <p:cNvPr id="6981" name="Google Shape;6981;p86"/>
          <p:cNvSpPr/>
          <p:nvPr/>
        </p:nvSpPr>
        <p:spPr>
          <a:xfrm>
            <a:off x="3280202" y="5545800"/>
            <a:ext cx="456967" cy="11944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6982" name="Google Shape;6982;p86"/>
          <p:cNvCxnSpPr/>
          <p:nvPr/>
        </p:nvCxnSpPr>
        <p:spPr>
          <a:xfrm>
            <a:off x="3280202" y="5535477"/>
            <a:ext cx="0" cy="73732"/>
          </a:xfrm>
          <a:prstGeom prst="straightConnector1">
            <a:avLst/>
          </a:prstGeom>
          <a:noFill/>
          <a:ln cap="flat" cmpd="sng" w="12700">
            <a:solidFill>
              <a:srgbClr val="000000"/>
            </a:solidFill>
            <a:prstDash val="solid"/>
            <a:round/>
            <a:headEnd len="med" w="med" type="none"/>
            <a:tailEnd len="med" w="med" type="none"/>
          </a:ln>
        </p:spPr>
      </p:cxnSp>
      <p:cxnSp>
        <p:nvCxnSpPr>
          <p:cNvPr id="6983" name="Google Shape;6983;p86"/>
          <p:cNvCxnSpPr/>
          <p:nvPr/>
        </p:nvCxnSpPr>
        <p:spPr>
          <a:xfrm>
            <a:off x="3738630" y="5535477"/>
            <a:ext cx="0" cy="73732"/>
          </a:xfrm>
          <a:prstGeom prst="straightConnector1">
            <a:avLst/>
          </a:prstGeom>
          <a:noFill/>
          <a:ln cap="flat" cmpd="sng" w="12700">
            <a:solidFill>
              <a:srgbClr val="000000"/>
            </a:solidFill>
            <a:prstDash val="solid"/>
            <a:round/>
            <a:headEnd len="med" w="med" type="none"/>
            <a:tailEnd len="med" w="med" type="none"/>
          </a:ln>
        </p:spPr>
      </p:cxnSp>
      <p:sp>
        <p:nvSpPr>
          <p:cNvPr id="6984" name="Google Shape;6984;p86"/>
          <p:cNvSpPr/>
          <p:nvPr/>
        </p:nvSpPr>
        <p:spPr>
          <a:xfrm>
            <a:off x="3280202" y="5535477"/>
            <a:ext cx="452588" cy="6930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6985" name="Google Shape;6985;p86"/>
          <p:cNvSpPr/>
          <p:nvPr/>
        </p:nvSpPr>
        <p:spPr>
          <a:xfrm>
            <a:off x="3275822" y="5455847"/>
            <a:ext cx="456967" cy="14156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86" name="Google Shape;6986;p86"/>
          <p:cNvSpPr/>
          <p:nvPr/>
        </p:nvSpPr>
        <p:spPr>
          <a:xfrm>
            <a:off x="3399919" y="5494187"/>
            <a:ext cx="207314" cy="141566"/>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87" name="Google Shape;6987;p86"/>
          <p:cNvSpPr txBox="1"/>
          <p:nvPr/>
        </p:nvSpPr>
        <p:spPr>
          <a:xfrm>
            <a:off x="3280202" y="5367368"/>
            <a:ext cx="467187" cy="3966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1a</a:t>
            </a:r>
            <a:endParaRPr sz="2400">
              <a:solidFill>
                <a:srgbClr val="000000"/>
              </a:solidFill>
              <a:latin typeface="Arial"/>
              <a:ea typeface="Arial"/>
              <a:cs typeface="Arial"/>
              <a:sym typeface="Arial"/>
            </a:endParaRPr>
          </a:p>
        </p:txBody>
      </p:sp>
      <p:grpSp>
        <p:nvGrpSpPr>
          <p:cNvPr id="6988" name="Google Shape;6988;p86"/>
          <p:cNvGrpSpPr/>
          <p:nvPr/>
        </p:nvGrpSpPr>
        <p:grpSpPr>
          <a:xfrm>
            <a:off x="6394297" y="4593181"/>
            <a:ext cx="461347" cy="396679"/>
            <a:chOff x="4320" y="1936"/>
            <a:chExt cx="316" cy="269"/>
          </a:xfrm>
        </p:grpSpPr>
        <p:sp>
          <p:nvSpPr>
            <p:cNvPr id="6989" name="Google Shape;6989;p86"/>
            <p:cNvSpPr/>
            <p:nvPr/>
          </p:nvSpPr>
          <p:spPr>
            <a:xfrm>
              <a:off x="4323" y="2054"/>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6990" name="Google Shape;6990;p86"/>
            <p:cNvCxnSpPr/>
            <p:nvPr/>
          </p:nvCxnSpPr>
          <p:spPr>
            <a:xfrm>
              <a:off x="4323" y="2047"/>
              <a:ext cx="0" cy="52"/>
            </a:xfrm>
            <a:prstGeom prst="straightConnector1">
              <a:avLst/>
            </a:prstGeom>
            <a:noFill/>
            <a:ln cap="flat" cmpd="sng" w="12700">
              <a:solidFill>
                <a:srgbClr val="000000"/>
              </a:solidFill>
              <a:prstDash val="solid"/>
              <a:round/>
              <a:headEnd len="med" w="med" type="none"/>
              <a:tailEnd len="med" w="med" type="none"/>
            </a:ln>
          </p:spPr>
        </p:cxnSp>
        <p:cxnSp>
          <p:nvCxnSpPr>
            <p:cNvPr id="6991" name="Google Shape;6991;p86"/>
            <p:cNvCxnSpPr/>
            <p:nvPr/>
          </p:nvCxnSpPr>
          <p:spPr>
            <a:xfrm>
              <a:off x="4636" y="2047"/>
              <a:ext cx="0" cy="52"/>
            </a:xfrm>
            <a:prstGeom prst="straightConnector1">
              <a:avLst/>
            </a:prstGeom>
            <a:noFill/>
            <a:ln cap="flat" cmpd="sng" w="12700">
              <a:solidFill>
                <a:srgbClr val="000000"/>
              </a:solidFill>
              <a:prstDash val="solid"/>
              <a:round/>
              <a:headEnd len="med" w="med" type="none"/>
              <a:tailEnd len="med" w="med" type="none"/>
            </a:ln>
          </p:spPr>
        </p:cxnSp>
        <p:sp>
          <p:nvSpPr>
            <p:cNvPr id="6992" name="Google Shape;6992;p86"/>
            <p:cNvSpPr/>
            <p:nvPr/>
          </p:nvSpPr>
          <p:spPr>
            <a:xfrm>
              <a:off x="4323" y="2047"/>
              <a:ext cx="310" cy="51"/>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6993" name="Google Shape;6993;p86"/>
            <p:cNvSpPr/>
            <p:nvPr/>
          </p:nvSpPr>
          <p:spPr>
            <a:xfrm>
              <a:off x="4320" y="1988"/>
              <a:ext cx="313" cy="97"/>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94" name="Google Shape;6994;p86"/>
            <p:cNvSpPr/>
            <p:nvPr/>
          </p:nvSpPr>
          <p:spPr>
            <a:xfrm>
              <a:off x="4407" y="2001"/>
              <a:ext cx="141" cy="11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95" name="Google Shape;6995;p86"/>
            <p:cNvSpPr txBox="1"/>
            <p:nvPr/>
          </p:nvSpPr>
          <p:spPr>
            <a:xfrm>
              <a:off x="4325" y="1936"/>
              <a:ext cx="310" cy="2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2c</a:t>
              </a:r>
              <a:endParaRPr sz="2400">
                <a:solidFill>
                  <a:srgbClr val="000000"/>
                </a:solidFill>
                <a:latin typeface="Arial"/>
                <a:ea typeface="Arial"/>
                <a:cs typeface="Arial"/>
                <a:sym typeface="Arial"/>
              </a:endParaRPr>
            </a:p>
          </p:txBody>
        </p:sp>
      </p:grpSp>
      <p:grpSp>
        <p:nvGrpSpPr>
          <p:cNvPr id="6996" name="Google Shape;6996;p86"/>
          <p:cNvGrpSpPr/>
          <p:nvPr/>
        </p:nvGrpSpPr>
        <p:grpSpPr>
          <a:xfrm>
            <a:off x="6797246" y="4920552"/>
            <a:ext cx="468647" cy="396679"/>
            <a:chOff x="4596" y="2158"/>
            <a:chExt cx="321" cy="269"/>
          </a:xfrm>
        </p:grpSpPr>
        <p:sp>
          <p:nvSpPr>
            <p:cNvPr id="6997" name="Google Shape;6997;p86"/>
            <p:cNvSpPr/>
            <p:nvPr/>
          </p:nvSpPr>
          <p:spPr>
            <a:xfrm>
              <a:off x="4599" y="2276"/>
              <a:ext cx="311"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6998" name="Google Shape;6998;p86"/>
            <p:cNvCxnSpPr/>
            <p:nvPr/>
          </p:nvCxnSpPr>
          <p:spPr>
            <a:xfrm>
              <a:off x="4599" y="2269"/>
              <a:ext cx="0" cy="52"/>
            </a:xfrm>
            <a:prstGeom prst="straightConnector1">
              <a:avLst/>
            </a:prstGeom>
            <a:noFill/>
            <a:ln cap="flat" cmpd="sng" w="12700">
              <a:solidFill>
                <a:srgbClr val="000000"/>
              </a:solidFill>
              <a:prstDash val="solid"/>
              <a:round/>
              <a:headEnd len="med" w="med" type="none"/>
              <a:tailEnd len="med" w="med" type="none"/>
            </a:ln>
          </p:spPr>
        </p:cxnSp>
        <p:cxnSp>
          <p:nvCxnSpPr>
            <p:cNvPr id="6999" name="Google Shape;6999;p86"/>
            <p:cNvCxnSpPr/>
            <p:nvPr/>
          </p:nvCxnSpPr>
          <p:spPr>
            <a:xfrm>
              <a:off x="4910" y="2269"/>
              <a:ext cx="0" cy="52"/>
            </a:xfrm>
            <a:prstGeom prst="straightConnector1">
              <a:avLst/>
            </a:prstGeom>
            <a:noFill/>
            <a:ln cap="flat" cmpd="sng" w="12700">
              <a:solidFill>
                <a:srgbClr val="000000"/>
              </a:solidFill>
              <a:prstDash val="solid"/>
              <a:round/>
              <a:headEnd len="med" w="med" type="none"/>
              <a:tailEnd len="med" w="med" type="none"/>
            </a:ln>
          </p:spPr>
        </p:cxnSp>
        <p:sp>
          <p:nvSpPr>
            <p:cNvPr id="7000" name="Google Shape;7000;p86"/>
            <p:cNvSpPr/>
            <p:nvPr/>
          </p:nvSpPr>
          <p:spPr>
            <a:xfrm>
              <a:off x="4599" y="2269"/>
              <a:ext cx="310" cy="51"/>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001" name="Google Shape;7001;p86"/>
            <p:cNvSpPr/>
            <p:nvPr/>
          </p:nvSpPr>
          <p:spPr>
            <a:xfrm>
              <a:off x="4596" y="2208"/>
              <a:ext cx="313" cy="97"/>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02" name="Google Shape;7002;p86"/>
            <p:cNvSpPr/>
            <p:nvPr/>
          </p:nvSpPr>
          <p:spPr>
            <a:xfrm>
              <a:off x="4683" y="2221"/>
              <a:ext cx="141" cy="11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03" name="Google Shape;7003;p86"/>
            <p:cNvSpPr txBox="1"/>
            <p:nvPr/>
          </p:nvSpPr>
          <p:spPr>
            <a:xfrm>
              <a:off x="4598" y="2158"/>
              <a:ext cx="319" cy="2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2b</a:t>
              </a:r>
              <a:endParaRPr sz="2400">
                <a:solidFill>
                  <a:srgbClr val="000000"/>
                </a:solidFill>
                <a:latin typeface="Arial"/>
                <a:ea typeface="Arial"/>
                <a:cs typeface="Arial"/>
                <a:sym typeface="Arial"/>
              </a:endParaRPr>
            </a:p>
          </p:txBody>
        </p:sp>
      </p:grpSp>
      <p:grpSp>
        <p:nvGrpSpPr>
          <p:cNvPr id="7004" name="Google Shape;7004;p86"/>
          <p:cNvGrpSpPr/>
          <p:nvPr/>
        </p:nvGrpSpPr>
        <p:grpSpPr>
          <a:xfrm>
            <a:off x="4562047" y="5466169"/>
            <a:ext cx="468647" cy="396679"/>
            <a:chOff x="2015" y="1976"/>
            <a:chExt cx="321" cy="269"/>
          </a:xfrm>
        </p:grpSpPr>
        <p:sp>
          <p:nvSpPr>
            <p:cNvPr id="7005" name="Google Shape;7005;p86"/>
            <p:cNvSpPr/>
            <p:nvPr/>
          </p:nvSpPr>
          <p:spPr>
            <a:xfrm>
              <a:off x="2019" y="2102"/>
              <a:ext cx="311"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006" name="Google Shape;7006;p86"/>
            <p:cNvCxnSpPr/>
            <p:nvPr/>
          </p:nvCxnSpPr>
          <p:spPr>
            <a:xfrm>
              <a:off x="2019" y="2097"/>
              <a:ext cx="0" cy="50"/>
            </a:xfrm>
            <a:prstGeom prst="straightConnector1">
              <a:avLst/>
            </a:prstGeom>
            <a:noFill/>
            <a:ln cap="flat" cmpd="sng" w="12700">
              <a:solidFill>
                <a:srgbClr val="000000"/>
              </a:solidFill>
              <a:prstDash val="solid"/>
              <a:round/>
              <a:headEnd len="med" w="med" type="none"/>
              <a:tailEnd len="med" w="med" type="none"/>
            </a:ln>
          </p:spPr>
        </p:cxnSp>
        <p:cxnSp>
          <p:nvCxnSpPr>
            <p:cNvPr id="7007" name="Google Shape;7007;p86"/>
            <p:cNvCxnSpPr/>
            <p:nvPr/>
          </p:nvCxnSpPr>
          <p:spPr>
            <a:xfrm>
              <a:off x="2330" y="2097"/>
              <a:ext cx="0" cy="50"/>
            </a:xfrm>
            <a:prstGeom prst="straightConnector1">
              <a:avLst/>
            </a:prstGeom>
            <a:noFill/>
            <a:ln cap="flat" cmpd="sng" w="12700">
              <a:solidFill>
                <a:srgbClr val="000000"/>
              </a:solidFill>
              <a:prstDash val="solid"/>
              <a:round/>
              <a:headEnd len="med" w="med" type="none"/>
              <a:tailEnd len="med" w="med" type="none"/>
            </a:ln>
          </p:spPr>
        </p:cxnSp>
        <p:sp>
          <p:nvSpPr>
            <p:cNvPr id="7008" name="Google Shape;7008;p86"/>
            <p:cNvSpPr/>
            <p:nvPr/>
          </p:nvSpPr>
          <p:spPr>
            <a:xfrm>
              <a:off x="2019" y="2097"/>
              <a:ext cx="310" cy="47"/>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009" name="Google Shape;7009;p86"/>
            <p:cNvSpPr/>
            <p:nvPr/>
          </p:nvSpPr>
          <p:spPr>
            <a:xfrm>
              <a:off x="2016" y="2036"/>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010" name="Google Shape;7010;p86"/>
            <p:cNvGrpSpPr/>
            <p:nvPr/>
          </p:nvGrpSpPr>
          <p:grpSpPr>
            <a:xfrm>
              <a:off x="2015" y="1976"/>
              <a:ext cx="321" cy="269"/>
              <a:chOff x="2894" y="2425"/>
              <a:chExt cx="328" cy="269"/>
            </a:xfrm>
          </p:grpSpPr>
          <p:sp>
            <p:nvSpPr>
              <p:cNvPr id="7011" name="Google Shape;7011;p86"/>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12" name="Google Shape;7012;p86"/>
              <p:cNvSpPr txBox="1"/>
              <p:nvPr/>
            </p:nvSpPr>
            <p:spPr>
              <a:xfrm>
                <a:off x="2894" y="2425"/>
                <a:ext cx="328" cy="2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1b</a:t>
                </a:r>
                <a:endParaRPr sz="2400">
                  <a:solidFill>
                    <a:srgbClr val="000000"/>
                  </a:solidFill>
                  <a:latin typeface="Arial"/>
                  <a:ea typeface="Arial"/>
                  <a:cs typeface="Arial"/>
                  <a:sym typeface="Arial"/>
                </a:endParaRPr>
              </a:p>
            </p:txBody>
          </p:sp>
        </p:grpSp>
      </p:grpSp>
      <p:grpSp>
        <p:nvGrpSpPr>
          <p:cNvPr id="7013" name="Google Shape;7013;p86"/>
          <p:cNvGrpSpPr/>
          <p:nvPr/>
        </p:nvGrpSpPr>
        <p:grpSpPr>
          <a:xfrm>
            <a:off x="2231951" y="4354289"/>
            <a:ext cx="461347" cy="393730"/>
            <a:chOff x="2016" y="1976"/>
            <a:chExt cx="316" cy="267"/>
          </a:xfrm>
        </p:grpSpPr>
        <p:sp>
          <p:nvSpPr>
            <p:cNvPr id="7014" name="Google Shape;7014;p86"/>
            <p:cNvSpPr/>
            <p:nvPr/>
          </p:nvSpPr>
          <p:spPr>
            <a:xfrm>
              <a:off x="2019" y="2102"/>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015" name="Google Shape;7015;p86"/>
            <p:cNvCxnSpPr/>
            <p:nvPr/>
          </p:nvCxnSpPr>
          <p:spPr>
            <a:xfrm>
              <a:off x="2019" y="2095"/>
              <a:ext cx="0" cy="50"/>
            </a:xfrm>
            <a:prstGeom prst="straightConnector1">
              <a:avLst/>
            </a:prstGeom>
            <a:noFill/>
            <a:ln cap="flat" cmpd="sng" w="12700">
              <a:solidFill>
                <a:srgbClr val="000000"/>
              </a:solidFill>
              <a:prstDash val="solid"/>
              <a:round/>
              <a:headEnd len="med" w="med" type="none"/>
              <a:tailEnd len="med" w="med" type="none"/>
            </a:ln>
          </p:spPr>
        </p:cxnSp>
        <p:cxnSp>
          <p:nvCxnSpPr>
            <p:cNvPr id="7016" name="Google Shape;7016;p86"/>
            <p:cNvCxnSpPr/>
            <p:nvPr/>
          </p:nvCxnSpPr>
          <p:spPr>
            <a:xfrm>
              <a:off x="2332" y="2095"/>
              <a:ext cx="0" cy="50"/>
            </a:xfrm>
            <a:prstGeom prst="straightConnector1">
              <a:avLst/>
            </a:prstGeom>
            <a:noFill/>
            <a:ln cap="flat" cmpd="sng" w="12700">
              <a:solidFill>
                <a:srgbClr val="000000"/>
              </a:solidFill>
              <a:prstDash val="solid"/>
              <a:round/>
              <a:headEnd len="med" w="med" type="none"/>
              <a:tailEnd len="med" w="med" type="none"/>
            </a:ln>
          </p:spPr>
        </p:cxnSp>
        <p:sp>
          <p:nvSpPr>
            <p:cNvPr id="7017" name="Google Shape;7017;p86"/>
            <p:cNvSpPr/>
            <p:nvPr/>
          </p:nvSpPr>
          <p:spPr>
            <a:xfrm>
              <a:off x="2019" y="2095"/>
              <a:ext cx="310" cy="50"/>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018" name="Google Shape;7018;p86"/>
            <p:cNvSpPr/>
            <p:nvPr/>
          </p:nvSpPr>
          <p:spPr>
            <a:xfrm>
              <a:off x="2016" y="2037"/>
              <a:ext cx="313" cy="94"/>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019" name="Google Shape;7019;p86"/>
            <p:cNvGrpSpPr/>
            <p:nvPr/>
          </p:nvGrpSpPr>
          <p:grpSpPr>
            <a:xfrm>
              <a:off x="2020" y="1976"/>
              <a:ext cx="308" cy="267"/>
              <a:chOff x="2899" y="2425"/>
              <a:chExt cx="315" cy="267"/>
            </a:xfrm>
          </p:grpSpPr>
          <p:sp>
            <p:nvSpPr>
              <p:cNvPr id="7020" name="Google Shape;7020;p86"/>
              <p:cNvSpPr/>
              <p:nvPr/>
            </p:nvSpPr>
            <p:spPr>
              <a:xfrm>
                <a:off x="2982" y="2490"/>
                <a:ext cx="142" cy="130"/>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21" name="Google Shape;7021;p86"/>
              <p:cNvSpPr txBox="1"/>
              <p:nvPr/>
            </p:nvSpPr>
            <p:spPr>
              <a:xfrm>
                <a:off x="2899" y="2425"/>
                <a:ext cx="315" cy="26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3c</a:t>
                </a:r>
                <a:endParaRPr sz="2400">
                  <a:solidFill>
                    <a:srgbClr val="000000"/>
                  </a:solidFill>
                  <a:latin typeface="Arial"/>
                  <a:ea typeface="Arial"/>
                  <a:cs typeface="Arial"/>
                  <a:sym typeface="Arial"/>
                </a:endParaRPr>
              </a:p>
            </p:txBody>
          </p:sp>
        </p:grpSp>
      </p:grpSp>
      <p:cxnSp>
        <p:nvCxnSpPr>
          <p:cNvPr id="7022" name="Google Shape;7022;p86"/>
          <p:cNvCxnSpPr/>
          <p:nvPr/>
        </p:nvCxnSpPr>
        <p:spPr>
          <a:xfrm flipH="1">
            <a:off x="2266990" y="4669862"/>
            <a:ext cx="90518" cy="159261"/>
          </a:xfrm>
          <a:prstGeom prst="straightConnector1">
            <a:avLst/>
          </a:prstGeom>
          <a:noFill/>
          <a:ln cap="flat" cmpd="sng" w="28575">
            <a:solidFill>
              <a:srgbClr val="000000"/>
            </a:solidFill>
            <a:prstDash val="solid"/>
            <a:round/>
            <a:headEnd len="med" w="med" type="none"/>
            <a:tailEnd len="med" w="med" type="none"/>
          </a:ln>
        </p:spPr>
      </p:cxnSp>
      <p:cxnSp>
        <p:nvCxnSpPr>
          <p:cNvPr id="7023" name="Google Shape;7023;p86"/>
          <p:cNvCxnSpPr/>
          <p:nvPr/>
        </p:nvCxnSpPr>
        <p:spPr>
          <a:xfrm>
            <a:off x="1818783" y="4737696"/>
            <a:ext cx="211694" cy="162211"/>
          </a:xfrm>
          <a:prstGeom prst="straightConnector1">
            <a:avLst/>
          </a:prstGeom>
          <a:noFill/>
          <a:ln cap="flat" cmpd="sng" w="9525">
            <a:solidFill>
              <a:srgbClr val="000000"/>
            </a:solidFill>
            <a:prstDash val="solid"/>
            <a:round/>
            <a:headEnd len="med" w="med" type="none"/>
            <a:tailEnd len="med" w="med" type="none"/>
          </a:ln>
        </p:spPr>
      </p:cxnSp>
      <p:cxnSp>
        <p:nvCxnSpPr>
          <p:cNvPr id="7024" name="Google Shape;7024;p86"/>
          <p:cNvCxnSpPr/>
          <p:nvPr/>
        </p:nvCxnSpPr>
        <p:spPr>
          <a:xfrm flipH="1">
            <a:off x="2547302" y="4214198"/>
            <a:ext cx="198555" cy="224146"/>
          </a:xfrm>
          <a:prstGeom prst="straightConnector1">
            <a:avLst/>
          </a:prstGeom>
          <a:noFill/>
          <a:ln cap="flat" cmpd="sng" w="9525">
            <a:solidFill>
              <a:srgbClr val="000000"/>
            </a:solidFill>
            <a:prstDash val="solid"/>
            <a:round/>
            <a:headEnd len="med" w="med" type="none"/>
            <a:tailEnd len="med" w="med" type="none"/>
          </a:ln>
        </p:spPr>
      </p:cxnSp>
      <p:cxnSp>
        <p:nvCxnSpPr>
          <p:cNvPr id="7025" name="Google Shape;7025;p86"/>
          <p:cNvCxnSpPr/>
          <p:nvPr/>
        </p:nvCxnSpPr>
        <p:spPr>
          <a:xfrm>
            <a:off x="2139974" y="4200926"/>
            <a:ext cx="175195" cy="262486"/>
          </a:xfrm>
          <a:prstGeom prst="straightConnector1">
            <a:avLst/>
          </a:prstGeom>
          <a:noFill/>
          <a:ln cap="flat" cmpd="sng" w="9525">
            <a:solidFill>
              <a:srgbClr val="000000"/>
            </a:solidFill>
            <a:prstDash val="solid"/>
            <a:round/>
            <a:headEnd len="med" w="med" type="none"/>
            <a:tailEnd len="med" w="med" type="none"/>
          </a:ln>
        </p:spPr>
      </p:cxnSp>
      <p:cxnSp>
        <p:nvCxnSpPr>
          <p:cNvPr id="7026" name="Google Shape;7026;p86"/>
          <p:cNvCxnSpPr/>
          <p:nvPr/>
        </p:nvCxnSpPr>
        <p:spPr>
          <a:xfrm flipH="1">
            <a:off x="3103547" y="4338068"/>
            <a:ext cx="102197" cy="303776"/>
          </a:xfrm>
          <a:prstGeom prst="straightConnector1">
            <a:avLst/>
          </a:prstGeom>
          <a:noFill/>
          <a:ln cap="flat" cmpd="sng" w="9525">
            <a:solidFill>
              <a:srgbClr val="000000"/>
            </a:solidFill>
            <a:prstDash val="solid"/>
            <a:round/>
            <a:headEnd len="med" w="med" type="none"/>
            <a:tailEnd len="med" w="med" type="none"/>
          </a:ln>
        </p:spPr>
      </p:cxnSp>
      <p:cxnSp>
        <p:nvCxnSpPr>
          <p:cNvPr id="7027" name="Google Shape;7027;p86"/>
          <p:cNvCxnSpPr/>
          <p:nvPr/>
        </p:nvCxnSpPr>
        <p:spPr>
          <a:xfrm>
            <a:off x="7246913" y="5100458"/>
            <a:ext cx="324111" cy="0"/>
          </a:xfrm>
          <a:prstGeom prst="straightConnector1">
            <a:avLst/>
          </a:prstGeom>
          <a:noFill/>
          <a:ln cap="flat" cmpd="sng" w="9525">
            <a:solidFill>
              <a:srgbClr val="000000"/>
            </a:solidFill>
            <a:prstDash val="solid"/>
            <a:round/>
            <a:headEnd len="med" w="med" type="none"/>
            <a:tailEnd len="med" w="med" type="none"/>
          </a:ln>
        </p:spPr>
      </p:cxnSp>
      <p:cxnSp>
        <p:nvCxnSpPr>
          <p:cNvPr id="7028" name="Google Shape;7028;p86"/>
          <p:cNvCxnSpPr/>
          <p:nvPr/>
        </p:nvCxnSpPr>
        <p:spPr>
          <a:xfrm flipH="1" rot="10800000">
            <a:off x="7160776" y="4638895"/>
            <a:ext cx="382509" cy="374559"/>
          </a:xfrm>
          <a:prstGeom prst="straightConnector1">
            <a:avLst/>
          </a:prstGeom>
          <a:noFill/>
          <a:ln cap="flat" cmpd="sng" w="9525">
            <a:solidFill>
              <a:srgbClr val="000000"/>
            </a:solidFill>
            <a:prstDash val="solid"/>
            <a:round/>
            <a:headEnd len="med" w="med" type="none"/>
            <a:tailEnd len="med" w="med" type="none"/>
          </a:ln>
        </p:spPr>
      </p:cxnSp>
      <p:cxnSp>
        <p:nvCxnSpPr>
          <p:cNvPr id="7029" name="Google Shape;7029;p86"/>
          <p:cNvCxnSpPr/>
          <p:nvPr/>
        </p:nvCxnSpPr>
        <p:spPr>
          <a:xfrm rot="10800000">
            <a:off x="6356338" y="4388206"/>
            <a:ext cx="185415" cy="297878"/>
          </a:xfrm>
          <a:prstGeom prst="straightConnector1">
            <a:avLst/>
          </a:prstGeom>
          <a:noFill/>
          <a:ln cap="flat" cmpd="sng" w="9525">
            <a:solidFill>
              <a:srgbClr val="000000"/>
            </a:solidFill>
            <a:prstDash val="solid"/>
            <a:round/>
            <a:headEnd len="med" w="med" type="none"/>
            <a:tailEnd len="med" w="med" type="none"/>
          </a:ln>
        </p:spPr>
      </p:cxnSp>
      <p:cxnSp>
        <p:nvCxnSpPr>
          <p:cNvPr id="7030" name="Google Shape;7030;p86"/>
          <p:cNvCxnSpPr/>
          <p:nvPr/>
        </p:nvCxnSpPr>
        <p:spPr>
          <a:xfrm rot="10800000">
            <a:off x="5900830" y="4538619"/>
            <a:ext cx="198555" cy="272809"/>
          </a:xfrm>
          <a:prstGeom prst="straightConnector1">
            <a:avLst/>
          </a:prstGeom>
          <a:noFill/>
          <a:ln cap="flat" cmpd="sng" w="9525">
            <a:solidFill>
              <a:srgbClr val="000000"/>
            </a:solidFill>
            <a:prstDash val="solid"/>
            <a:round/>
            <a:headEnd len="med" w="med" type="none"/>
            <a:tailEnd len="med" w="med" type="none"/>
          </a:ln>
        </p:spPr>
      </p:cxnSp>
      <p:cxnSp>
        <p:nvCxnSpPr>
          <p:cNvPr id="7031" name="Google Shape;7031;p86"/>
          <p:cNvCxnSpPr/>
          <p:nvPr/>
        </p:nvCxnSpPr>
        <p:spPr>
          <a:xfrm flipH="1">
            <a:off x="3141506" y="5637228"/>
            <a:ext cx="197095" cy="172533"/>
          </a:xfrm>
          <a:prstGeom prst="straightConnector1">
            <a:avLst/>
          </a:prstGeom>
          <a:noFill/>
          <a:ln cap="flat" cmpd="sng" w="9525">
            <a:solidFill>
              <a:srgbClr val="000000"/>
            </a:solidFill>
            <a:prstDash val="solid"/>
            <a:round/>
            <a:headEnd len="med" w="med" type="none"/>
            <a:tailEnd len="med" w="med" type="none"/>
          </a:ln>
        </p:spPr>
      </p:cxnSp>
      <p:cxnSp>
        <p:nvCxnSpPr>
          <p:cNvPr id="7032" name="Google Shape;7032;p86"/>
          <p:cNvCxnSpPr/>
          <p:nvPr/>
        </p:nvCxnSpPr>
        <p:spPr>
          <a:xfrm rot="10800000">
            <a:off x="3091868" y="5488289"/>
            <a:ext cx="185415" cy="11797"/>
          </a:xfrm>
          <a:prstGeom prst="straightConnector1">
            <a:avLst/>
          </a:prstGeom>
          <a:noFill/>
          <a:ln cap="flat" cmpd="sng" w="9525">
            <a:solidFill>
              <a:srgbClr val="000000"/>
            </a:solidFill>
            <a:prstDash val="solid"/>
            <a:round/>
            <a:headEnd len="med" w="med" type="none"/>
            <a:tailEnd len="med" w="med" type="none"/>
          </a:ln>
        </p:spPr>
      </p:cxnSp>
      <p:cxnSp>
        <p:nvCxnSpPr>
          <p:cNvPr id="7033" name="Google Shape;7033;p86"/>
          <p:cNvCxnSpPr/>
          <p:nvPr/>
        </p:nvCxnSpPr>
        <p:spPr>
          <a:xfrm flipH="1">
            <a:off x="3487517" y="5887917"/>
            <a:ext cx="309511" cy="22120"/>
          </a:xfrm>
          <a:prstGeom prst="straightConnector1">
            <a:avLst/>
          </a:prstGeom>
          <a:noFill/>
          <a:ln cap="flat" cmpd="sng" w="9525">
            <a:solidFill>
              <a:srgbClr val="000000"/>
            </a:solidFill>
            <a:prstDash val="solid"/>
            <a:round/>
            <a:headEnd len="med" w="med" type="none"/>
            <a:tailEnd len="med" w="med" type="none"/>
          </a:ln>
        </p:spPr>
      </p:cxnSp>
      <p:cxnSp>
        <p:nvCxnSpPr>
          <p:cNvPr id="7034" name="Google Shape;7034;p86"/>
          <p:cNvCxnSpPr/>
          <p:nvPr/>
        </p:nvCxnSpPr>
        <p:spPr>
          <a:xfrm flipH="1" rot="10800000">
            <a:off x="4192677" y="5212531"/>
            <a:ext cx="334331" cy="14746"/>
          </a:xfrm>
          <a:prstGeom prst="straightConnector1">
            <a:avLst/>
          </a:prstGeom>
          <a:noFill/>
          <a:ln cap="flat" cmpd="sng" w="9525">
            <a:solidFill>
              <a:srgbClr val="000000"/>
            </a:solidFill>
            <a:prstDash val="solid"/>
            <a:round/>
            <a:headEnd len="med" w="med" type="none"/>
            <a:tailEnd len="med" w="med" type="none"/>
          </a:ln>
        </p:spPr>
      </p:cxnSp>
      <p:cxnSp>
        <p:nvCxnSpPr>
          <p:cNvPr id="7035" name="Google Shape;7035;p86"/>
          <p:cNvCxnSpPr/>
          <p:nvPr/>
        </p:nvCxnSpPr>
        <p:spPr>
          <a:xfrm>
            <a:off x="4859879" y="5762572"/>
            <a:ext cx="173735" cy="162211"/>
          </a:xfrm>
          <a:prstGeom prst="straightConnector1">
            <a:avLst/>
          </a:prstGeom>
          <a:noFill/>
          <a:ln cap="flat" cmpd="sng" w="9525">
            <a:solidFill>
              <a:srgbClr val="000000"/>
            </a:solidFill>
            <a:prstDash val="solid"/>
            <a:round/>
            <a:headEnd len="med" w="med" type="none"/>
            <a:tailEnd len="med" w="med" type="none"/>
          </a:ln>
        </p:spPr>
      </p:cxnSp>
      <p:cxnSp>
        <p:nvCxnSpPr>
          <p:cNvPr id="7036" name="Google Shape;7036;p86"/>
          <p:cNvCxnSpPr/>
          <p:nvPr/>
        </p:nvCxnSpPr>
        <p:spPr>
          <a:xfrm>
            <a:off x="4156178" y="5324603"/>
            <a:ext cx="211694" cy="110598"/>
          </a:xfrm>
          <a:prstGeom prst="straightConnector1">
            <a:avLst/>
          </a:prstGeom>
          <a:noFill/>
          <a:ln cap="flat" cmpd="sng" w="9525">
            <a:solidFill>
              <a:srgbClr val="000000"/>
            </a:solidFill>
            <a:prstDash val="solid"/>
            <a:round/>
            <a:headEnd len="med" w="med" type="none"/>
            <a:tailEnd len="med" w="med" type="none"/>
          </a:ln>
        </p:spPr>
      </p:cxnSp>
      <p:grpSp>
        <p:nvGrpSpPr>
          <p:cNvPr id="7037" name="Google Shape;7037;p86"/>
          <p:cNvGrpSpPr/>
          <p:nvPr/>
        </p:nvGrpSpPr>
        <p:grpSpPr>
          <a:xfrm>
            <a:off x="1778696" y="3924256"/>
            <a:ext cx="5968456" cy="2124592"/>
            <a:chOff x="3175544" y="3748892"/>
            <a:chExt cx="5968456" cy="2124592"/>
          </a:xfrm>
        </p:grpSpPr>
        <p:grpSp>
          <p:nvGrpSpPr>
            <p:cNvPr id="7038" name="Google Shape;7038;p86"/>
            <p:cNvGrpSpPr/>
            <p:nvPr/>
          </p:nvGrpSpPr>
          <p:grpSpPr>
            <a:xfrm>
              <a:off x="3175544" y="3748892"/>
              <a:ext cx="1609399" cy="1316010"/>
              <a:chOff x="3188070" y="3748892"/>
              <a:chExt cx="1609399" cy="1316010"/>
            </a:xfrm>
          </p:grpSpPr>
          <p:sp>
            <p:nvSpPr>
              <p:cNvPr id="7039" name="Google Shape;7039;p86"/>
              <p:cNvSpPr/>
              <p:nvPr/>
            </p:nvSpPr>
            <p:spPr>
              <a:xfrm>
                <a:off x="3188070" y="3748892"/>
                <a:ext cx="1609399" cy="1316010"/>
              </a:xfrm>
              <a:custGeom>
                <a:rect b="b" l="l" r="r" t="t"/>
                <a:pathLst>
                  <a:path extrusionOk="0" h="451" w="1198">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gradFill>
                <a:gsLst>
                  <a:gs pos="0">
                    <a:schemeClr val="lt1"/>
                  </a:gs>
                  <a:gs pos="24000">
                    <a:schemeClr val="lt1"/>
                  </a:gs>
                  <a:gs pos="99000">
                    <a:srgbClr val="FFFFFF">
                      <a:alpha val="67059"/>
                    </a:srgbClr>
                  </a:gs>
                  <a:gs pos="100000">
                    <a:srgbClr val="FFFFFF">
                      <a:alpha val="67059"/>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040" name="Google Shape;7040;p86"/>
              <p:cNvGrpSpPr/>
              <p:nvPr/>
            </p:nvGrpSpPr>
            <p:grpSpPr>
              <a:xfrm>
                <a:off x="3323010" y="3984960"/>
                <a:ext cx="1290181" cy="895439"/>
                <a:chOff x="2145563" y="2093530"/>
                <a:chExt cx="1290181" cy="895439"/>
              </a:xfrm>
            </p:grpSpPr>
            <p:sp>
              <p:nvSpPr>
                <p:cNvPr id="7041" name="Google Shape;7041;p86"/>
                <p:cNvSpPr txBox="1"/>
                <p:nvPr/>
              </p:nvSpPr>
              <p:spPr>
                <a:xfrm>
                  <a:off x="2307787" y="2257804"/>
                  <a:ext cx="1017010" cy="61786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2000">
                      <a:solidFill>
                        <a:srgbClr val="0000A8"/>
                      </a:solidFill>
                      <a:latin typeface="Calibri"/>
                      <a:ea typeface="Calibri"/>
                      <a:cs typeface="Calibri"/>
                      <a:sym typeface="Calibri"/>
                    </a:rPr>
                    <a:t>intra-AS</a:t>
                  </a:r>
                  <a:endParaRPr/>
                </a:p>
                <a:p>
                  <a:pPr indent="0" lvl="0" marL="0" marR="0" rtl="0" algn="ctr">
                    <a:lnSpc>
                      <a:spcPct val="85000"/>
                    </a:lnSpc>
                    <a:spcBef>
                      <a:spcPts val="0"/>
                    </a:spcBef>
                    <a:spcAft>
                      <a:spcPts val="0"/>
                    </a:spcAft>
                    <a:buNone/>
                  </a:pPr>
                  <a:r>
                    <a:rPr lang="en-US" sz="2000">
                      <a:solidFill>
                        <a:srgbClr val="0000A8"/>
                      </a:solidFill>
                      <a:latin typeface="Calibri"/>
                      <a:ea typeface="Calibri"/>
                      <a:cs typeface="Calibri"/>
                      <a:sym typeface="Calibri"/>
                    </a:rPr>
                    <a:t>routing</a:t>
                  </a:r>
                  <a:endParaRPr/>
                </a:p>
              </p:txBody>
            </p:sp>
            <p:sp>
              <p:nvSpPr>
                <p:cNvPr id="7042" name="Google Shape;7042;p86"/>
                <p:cNvSpPr/>
                <p:nvPr/>
              </p:nvSpPr>
              <p:spPr>
                <a:xfrm>
                  <a:off x="2145563" y="2093530"/>
                  <a:ext cx="1290181" cy="864296"/>
                </a:xfrm>
                <a:prstGeom prst="ellipse">
                  <a:avLst/>
                </a:prstGeom>
                <a:noFill/>
                <a:ln cap="flat" cmpd="sng" w="381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043" name="Google Shape;7043;p86"/>
                <p:cNvSpPr/>
                <p:nvPr/>
              </p:nvSpPr>
              <p:spPr>
                <a:xfrm>
                  <a:off x="2417523" y="2844399"/>
                  <a:ext cx="776614" cy="1445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7044" name="Google Shape;7044;p86"/>
                <p:cNvCxnSpPr/>
                <p:nvPr/>
              </p:nvCxnSpPr>
              <p:spPr>
                <a:xfrm flipH="1">
                  <a:off x="3111009" y="2833557"/>
                  <a:ext cx="138182" cy="97585"/>
                </a:xfrm>
                <a:prstGeom prst="straightConnector1">
                  <a:avLst/>
                </a:prstGeom>
                <a:noFill/>
                <a:ln cap="flat" cmpd="sng" w="38100">
                  <a:solidFill>
                    <a:srgbClr val="0000A8"/>
                  </a:solidFill>
                  <a:prstDash val="solid"/>
                  <a:miter lim="8000"/>
                  <a:headEnd len="sm" w="sm" type="none"/>
                  <a:tailEnd len="med" w="med" type="triangle"/>
                </a:ln>
              </p:spPr>
            </p:cxnSp>
          </p:grpSp>
        </p:grpSp>
        <p:grpSp>
          <p:nvGrpSpPr>
            <p:cNvPr id="7045" name="Google Shape;7045;p86"/>
            <p:cNvGrpSpPr/>
            <p:nvPr/>
          </p:nvGrpSpPr>
          <p:grpSpPr>
            <a:xfrm>
              <a:off x="4345585" y="4779701"/>
              <a:ext cx="2744147" cy="1093783"/>
              <a:chOff x="4345585" y="4779701"/>
              <a:chExt cx="2744147" cy="1093783"/>
            </a:xfrm>
          </p:grpSpPr>
          <p:sp>
            <p:nvSpPr>
              <p:cNvPr id="7046" name="Google Shape;7046;p86"/>
              <p:cNvSpPr/>
              <p:nvPr/>
            </p:nvSpPr>
            <p:spPr>
              <a:xfrm>
                <a:off x="4345585" y="4779701"/>
                <a:ext cx="2744147" cy="1093783"/>
              </a:xfrm>
              <a:custGeom>
                <a:rect b="b" l="l" r="r" t="t"/>
                <a:pathLst>
                  <a:path extrusionOk="0" h="682" w="1583">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gradFill>
                <a:gsLst>
                  <a:gs pos="0">
                    <a:schemeClr val="lt1"/>
                  </a:gs>
                  <a:gs pos="20000">
                    <a:schemeClr val="lt1"/>
                  </a:gs>
                  <a:gs pos="99000">
                    <a:srgbClr val="FFFFFF">
                      <a:alpha val="72941"/>
                    </a:srgbClr>
                  </a:gs>
                  <a:gs pos="100000">
                    <a:srgbClr val="FFFFFF">
                      <a:alpha val="7294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047" name="Google Shape;7047;p86"/>
              <p:cNvGrpSpPr/>
              <p:nvPr/>
            </p:nvGrpSpPr>
            <p:grpSpPr>
              <a:xfrm>
                <a:off x="4915903" y="4888922"/>
                <a:ext cx="1290181" cy="895439"/>
                <a:chOff x="2158089" y="2093530"/>
                <a:chExt cx="1290181" cy="895439"/>
              </a:xfrm>
            </p:grpSpPr>
            <p:sp>
              <p:nvSpPr>
                <p:cNvPr id="7048" name="Google Shape;7048;p86"/>
                <p:cNvSpPr txBox="1"/>
                <p:nvPr/>
              </p:nvSpPr>
              <p:spPr>
                <a:xfrm>
                  <a:off x="2307787" y="2257804"/>
                  <a:ext cx="1017010" cy="61786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2000">
                      <a:solidFill>
                        <a:srgbClr val="0000A8"/>
                      </a:solidFill>
                      <a:latin typeface="Calibri"/>
                      <a:ea typeface="Calibri"/>
                      <a:cs typeface="Calibri"/>
                      <a:sym typeface="Calibri"/>
                    </a:rPr>
                    <a:t>intra-AS</a:t>
                  </a:r>
                  <a:endParaRPr/>
                </a:p>
                <a:p>
                  <a:pPr indent="0" lvl="0" marL="0" marR="0" rtl="0" algn="ctr">
                    <a:lnSpc>
                      <a:spcPct val="85000"/>
                    </a:lnSpc>
                    <a:spcBef>
                      <a:spcPts val="0"/>
                    </a:spcBef>
                    <a:spcAft>
                      <a:spcPts val="0"/>
                    </a:spcAft>
                    <a:buNone/>
                  </a:pPr>
                  <a:r>
                    <a:rPr lang="en-US" sz="2000">
                      <a:solidFill>
                        <a:srgbClr val="0000A8"/>
                      </a:solidFill>
                      <a:latin typeface="Calibri"/>
                      <a:ea typeface="Calibri"/>
                      <a:cs typeface="Calibri"/>
                      <a:sym typeface="Calibri"/>
                    </a:rPr>
                    <a:t>routing</a:t>
                  </a:r>
                  <a:endParaRPr/>
                </a:p>
              </p:txBody>
            </p:sp>
            <p:sp>
              <p:nvSpPr>
                <p:cNvPr id="7049" name="Google Shape;7049;p86"/>
                <p:cNvSpPr/>
                <p:nvPr/>
              </p:nvSpPr>
              <p:spPr>
                <a:xfrm>
                  <a:off x="2158089" y="2093530"/>
                  <a:ext cx="1290181" cy="864296"/>
                </a:xfrm>
                <a:prstGeom prst="ellipse">
                  <a:avLst/>
                </a:prstGeom>
                <a:noFill/>
                <a:ln cap="flat" cmpd="sng" w="381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050" name="Google Shape;7050;p86"/>
                <p:cNvSpPr/>
                <p:nvPr/>
              </p:nvSpPr>
              <p:spPr>
                <a:xfrm>
                  <a:off x="2417523" y="2844399"/>
                  <a:ext cx="776614" cy="1445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7051" name="Google Shape;7051;p86"/>
                <p:cNvCxnSpPr/>
                <p:nvPr/>
              </p:nvCxnSpPr>
              <p:spPr>
                <a:xfrm flipH="1">
                  <a:off x="3111009" y="2833557"/>
                  <a:ext cx="138182" cy="97585"/>
                </a:xfrm>
                <a:prstGeom prst="straightConnector1">
                  <a:avLst/>
                </a:prstGeom>
                <a:noFill/>
                <a:ln cap="flat" cmpd="sng" w="38100">
                  <a:solidFill>
                    <a:srgbClr val="0000A8"/>
                  </a:solidFill>
                  <a:prstDash val="solid"/>
                  <a:miter lim="8000"/>
                  <a:headEnd len="sm" w="sm" type="none"/>
                  <a:tailEnd len="med" w="med" type="triangle"/>
                </a:ln>
              </p:spPr>
            </p:cxnSp>
          </p:grpSp>
        </p:grpSp>
        <p:grpSp>
          <p:nvGrpSpPr>
            <p:cNvPr id="7052" name="Google Shape;7052;p86"/>
            <p:cNvGrpSpPr/>
            <p:nvPr/>
          </p:nvGrpSpPr>
          <p:grpSpPr>
            <a:xfrm>
              <a:off x="6989573" y="3977477"/>
              <a:ext cx="2154427" cy="1384541"/>
              <a:chOff x="6989573" y="3977477"/>
              <a:chExt cx="2154427" cy="1384541"/>
            </a:xfrm>
          </p:grpSpPr>
          <p:sp>
            <p:nvSpPr>
              <p:cNvPr id="7053" name="Google Shape;7053;p86"/>
              <p:cNvSpPr/>
              <p:nvPr/>
            </p:nvSpPr>
            <p:spPr>
              <a:xfrm>
                <a:off x="6989573" y="3977477"/>
                <a:ext cx="2154427" cy="1384541"/>
              </a:xfrm>
              <a:custGeom>
                <a:rect b="b" l="l" r="r" t="t"/>
                <a:pathLst>
                  <a:path extrusionOk="0" h="543" w="1162">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gradFill>
                <a:gsLst>
                  <a:gs pos="0">
                    <a:schemeClr val="lt1"/>
                  </a:gs>
                  <a:gs pos="24000">
                    <a:schemeClr val="lt1"/>
                  </a:gs>
                  <a:gs pos="99000">
                    <a:srgbClr val="FFFFFF">
                      <a:alpha val="67059"/>
                    </a:srgbClr>
                  </a:gs>
                  <a:gs pos="100000">
                    <a:srgbClr val="FFFFFF">
                      <a:alpha val="67059"/>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054" name="Google Shape;7054;p86"/>
              <p:cNvGrpSpPr/>
              <p:nvPr/>
            </p:nvGrpSpPr>
            <p:grpSpPr>
              <a:xfrm>
                <a:off x="7396057" y="4300199"/>
                <a:ext cx="1290181" cy="895439"/>
                <a:chOff x="2158089" y="2093530"/>
                <a:chExt cx="1290181" cy="895439"/>
              </a:xfrm>
            </p:grpSpPr>
            <p:sp>
              <p:nvSpPr>
                <p:cNvPr id="7055" name="Google Shape;7055;p86"/>
                <p:cNvSpPr txBox="1"/>
                <p:nvPr/>
              </p:nvSpPr>
              <p:spPr>
                <a:xfrm>
                  <a:off x="2307787" y="2257804"/>
                  <a:ext cx="1017010" cy="61786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2000">
                      <a:solidFill>
                        <a:srgbClr val="0000A8"/>
                      </a:solidFill>
                      <a:latin typeface="Calibri"/>
                      <a:ea typeface="Calibri"/>
                      <a:cs typeface="Calibri"/>
                      <a:sym typeface="Calibri"/>
                    </a:rPr>
                    <a:t>intra-AS</a:t>
                  </a:r>
                  <a:endParaRPr/>
                </a:p>
                <a:p>
                  <a:pPr indent="0" lvl="0" marL="0" marR="0" rtl="0" algn="ctr">
                    <a:lnSpc>
                      <a:spcPct val="85000"/>
                    </a:lnSpc>
                    <a:spcBef>
                      <a:spcPts val="0"/>
                    </a:spcBef>
                    <a:spcAft>
                      <a:spcPts val="0"/>
                    </a:spcAft>
                    <a:buNone/>
                  </a:pPr>
                  <a:r>
                    <a:rPr lang="en-US" sz="2000">
                      <a:solidFill>
                        <a:srgbClr val="0000A8"/>
                      </a:solidFill>
                      <a:latin typeface="Calibri"/>
                      <a:ea typeface="Calibri"/>
                      <a:cs typeface="Calibri"/>
                      <a:sym typeface="Calibri"/>
                    </a:rPr>
                    <a:t>routing</a:t>
                  </a:r>
                  <a:endParaRPr/>
                </a:p>
              </p:txBody>
            </p:sp>
            <p:sp>
              <p:nvSpPr>
                <p:cNvPr id="7056" name="Google Shape;7056;p86"/>
                <p:cNvSpPr/>
                <p:nvPr/>
              </p:nvSpPr>
              <p:spPr>
                <a:xfrm>
                  <a:off x="2158089" y="2093530"/>
                  <a:ext cx="1290181" cy="864296"/>
                </a:xfrm>
                <a:prstGeom prst="ellipse">
                  <a:avLst/>
                </a:prstGeom>
                <a:noFill/>
                <a:ln cap="flat" cmpd="sng" w="38100">
                  <a:solidFill>
                    <a:srgbClr val="0000A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057" name="Google Shape;7057;p86"/>
                <p:cNvSpPr/>
                <p:nvPr/>
              </p:nvSpPr>
              <p:spPr>
                <a:xfrm>
                  <a:off x="2417523" y="2844399"/>
                  <a:ext cx="776614" cy="1445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7058" name="Google Shape;7058;p86"/>
                <p:cNvCxnSpPr/>
                <p:nvPr/>
              </p:nvCxnSpPr>
              <p:spPr>
                <a:xfrm flipH="1">
                  <a:off x="3111009" y="2833557"/>
                  <a:ext cx="138182" cy="97585"/>
                </a:xfrm>
                <a:prstGeom prst="straightConnector1">
                  <a:avLst/>
                </a:prstGeom>
                <a:noFill/>
                <a:ln cap="flat" cmpd="sng" w="38100">
                  <a:solidFill>
                    <a:srgbClr val="0000A8"/>
                  </a:solidFill>
                  <a:prstDash val="solid"/>
                  <a:miter lim="8000"/>
                  <a:headEnd len="sm" w="sm" type="none"/>
                  <a:tailEnd len="med" w="med" type="triangle"/>
                </a:ln>
              </p:spPr>
            </p:cxnSp>
          </p:grpSp>
        </p:grpSp>
      </p:grpSp>
      <p:grpSp>
        <p:nvGrpSpPr>
          <p:cNvPr id="7059" name="Google Shape;7059;p86"/>
          <p:cNvGrpSpPr/>
          <p:nvPr/>
        </p:nvGrpSpPr>
        <p:grpSpPr>
          <a:xfrm>
            <a:off x="1812296" y="3939436"/>
            <a:ext cx="5968456" cy="2124592"/>
            <a:chOff x="3202684" y="3763506"/>
            <a:chExt cx="5968456" cy="2124592"/>
          </a:xfrm>
        </p:grpSpPr>
        <p:grpSp>
          <p:nvGrpSpPr>
            <p:cNvPr id="7060" name="Google Shape;7060;p86"/>
            <p:cNvGrpSpPr/>
            <p:nvPr/>
          </p:nvGrpSpPr>
          <p:grpSpPr>
            <a:xfrm>
              <a:off x="3202684" y="3763506"/>
              <a:ext cx="5968456" cy="2124592"/>
              <a:chOff x="2563856" y="-1509951"/>
              <a:chExt cx="5968456" cy="2124592"/>
            </a:xfrm>
          </p:grpSpPr>
          <p:sp>
            <p:nvSpPr>
              <p:cNvPr id="7061" name="Google Shape;7061;p86"/>
              <p:cNvSpPr/>
              <p:nvPr/>
            </p:nvSpPr>
            <p:spPr>
              <a:xfrm>
                <a:off x="2563856" y="-1509951"/>
                <a:ext cx="1609399" cy="1316010"/>
              </a:xfrm>
              <a:custGeom>
                <a:rect b="b" l="l" r="r" t="t"/>
                <a:pathLst>
                  <a:path extrusionOk="0" h="451" w="1198">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gradFill>
                <a:gsLst>
                  <a:gs pos="0">
                    <a:schemeClr val="lt1"/>
                  </a:gs>
                  <a:gs pos="24000">
                    <a:schemeClr val="lt1"/>
                  </a:gs>
                  <a:gs pos="99000">
                    <a:srgbClr val="FFFFFF">
                      <a:alpha val="67059"/>
                    </a:srgbClr>
                  </a:gs>
                  <a:gs pos="100000">
                    <a:srgbClr val="FFFFFF">
                      <a:alpha val="67059"/>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62" name="Google Shape;7062;p86"/>
              <p:cNvSpPr/>
              <p:nvPr/>
            </p:nvSpPr>
            <p:spPr>
              <a:xfrm>
                <a:off x="3733897" y="-479142"/>
                <a:ext cx="2744147" cy="1093783"/>
              </a:xfrm>
              <a:custGeom>
                <a:rect b="b" l="l" r="r" t="t"/>
                <a:pathLst>
                  <a:path extrusionOk="0" h="682" w="1583">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gradFill>
                <a:gsLst>
                  <a:gs pos="0">
                    <a:schemeClr val="lt1"/>
                  </a:gs>
                  <a:gs pos="20000">
                    <a:schemeClr val="lt1"/>
                  </a:gs>
                  <a:gs pos="99000">
                    <a:srgbClr val="FFFFFF">
                      <a:alpha val="72941"/>
                    </a:srgbClr>
                  </a:gs>
                  <a:gs pos="100000">
                    <a:srgbClr val="FFFFFF">
                      <a:alpha val="7294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63" name="Google Shape;7063;p86"/>
              <p:cNvSpPr/>
              <p:nvPr/>
            </p:nvSpPr>
            <p:spPr>
              <a:xfrm>
                <a:off x="6377885" y="-1281366"/>
                <a:ext cx="2154427" cy="1384541"/>
              </a:xfrm>
              <a:custGeom>
                <a:rect b="b" l="l" r="r" t="t"/>
                <a:pathLst>
                  <a:path extrusionOk="0" h="543" w="1162">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gradFill>
                <a:gsLst>
                  <a:gs pos="0">
                    <a:schemeClr val="lt1"/>
                  </a:gs>
                  <a:gs pos="24000">
                    <a:schemeClr val="lt1"/>
                  </a:gs>
                  <a:gs pos="99000">
                    <a:srgbClr val="FFFFFF">
                      <a:alpha val="67059"/>
                    </a:srgbClr>
                  </a:gs>
                  <a:gs pos="100000">
                    <a:srgbClr val="FFFFFF">
                      <a:alpha val="67059"/>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064" name="Google Shape;7064;p86"/>
              <p:cNvCxnSpPr/>
              <p:nvPr/>
            </p:nvCxnSpPr>
            <p:spPr>
              <a:xfrm flipH="1" rot="10800000">
                <a:off x="5824603" y="-501042"/>
                <a:ext cx="814192" cy="501042"/>
              </a:xfrm>
              <a:prstGeom prst="straightConnector1">
                <a:avLst/>
              </a:prstGeom>
              <a:noFill/>
              <a:ln cap="flat" cmpd="sng" w="38100">
                <a:solidFill>
                  <a:srgbClr val="C00000"/>
                </a:solidFill>
                <a:prstDash val="solid"/>
                <a:miter lim="8000"/>
                <a:headEnd len="med" w="med" type="triangle"/>
                <a:tailEnd len="med" w="med" type="triangle"/>
              </a:ln>
            </p:spPr>
          </p:cxnSp>
          <p:cxnSp>
            <p:nvCxnSpPr>
              <p:cNvPr id="7065" name="Google Shape;7065;p86"/>
              <p:cNvCxnSpPr/>
              <p:nvPr/>
            </p:nvCxnSpPr>
            <p:spPr>
              <a:xfrm>
                <a:off x="4010416" y="-711896"/>
                <a:ext cx="724423" cy="436323"/>
              </a:xfrm>
              <a:prstGeom prst="straightConnector1">
                <a:avLst/>
              </a:prstGeom>
              <a:noFill/>
              <a:ln cap="flat" cmpd="sng" w="38100">
                <a:solidFill>
                  <a:srgbClr val="C00000"/>
                </a:solidFill>
                <a:prstDash val="solid"/>
                <a:miter lim="8000"/>
                <a:headEnd len="med" w="med" type="triangle"/>
                <a:tailEnd len="med" w="med" type="triangle"/>
              </a:ln>
            </p:spPr>
          </p:cxnSp>
        </p:grpSp>
        <p:sp>
          <p:nvSpPr>
            <p:cNvPr id="7066" name="Google Shape;7066;p86"/>
            <p:cNvSpPr txBox="1"/>
            <p:nvPr/>
          </p:nvSpPr>
          <p:spPr>
            <a:xfrm>
              <a:off x="4935255" y="4346532"/>
              <a:ext cx="22171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Calibri"/>
                  <a:ea typeface="Calibri"/>
                  <a:cs typeface="Calibri"/>
                  <a:sym typeface="Calibri"/>
                </a:rPr>
                <a:t>inter-AS routing</a:t>
              </a:r>
              <a:endParaRPr/>
            </a:p>
          </p:txBody>
        </p:sp>
      </p:grpSp>
      <p:grpSp>
        <p:nvGrpSpPr>
          <p:cNvPr id="7067" name="Google Shape;7067;p86"/>
          <p:cNvGrpSpPr/>
          <p:nvPr/>
        </p:nvGrpSpPr>
        <p:grpSpPr>
          <a:xfrm>
            <a:off x="3723768" y="1866380"/>
            <a:ext cx="2334629" cy="3331019"/>
            <a:chOff x="5176788" y="1691016"/>
            <a:chExt cx="2334629" cy="3331019"/>
          </a:xfrm>
        </p:grpSpPr>
        <p:sp>
          <p:nvSpPr>
            <p:cNvPr id="7068" name="Google Shape;7068;p86"/>
            <p:cNvSpPr/>
            <p:nvPr/>
          </p:nvSpPr>
          <p:spPr>
            <a:xfrm flipH="1">
              <a:off x="5219204" y="3674178"/>
              <a:ext cx="2255450" cy="1347857"/>
            </a:xfrm>
            <a:custGeom>
              <a:rect b="b" l="l" r="r" t="t"/>
              <a:pathLst>
                <a:path extrusionOk="0" h="1349639" w="2254368">
                  <a:moveTo>
                    <a:pt x="1855043" y="1349639"/>
                  </a:moveTo>
                  <a:cubicBezTo>
                    <a:pt x="1304110" y="746280"/>
                    <a:pt x="628999" y="499249"/>
                    <a:pt x="0" y="310"/>
                  </a:cubicBezTo>
                  <a:cubicBezTo>
                    <a:pt x="333077" y="4877"/>
                    <a:pt x="1918156" y="-3099"/>
                    <a:pt x="2251233" y="1468"/>
                  </a:cubicBezTo>
                  <a:cubicBezTo>
                    <a:pt x="2089546" y="493074"/>
                    <a:pt x="2029736" y="828030"/>
                    <a:pt x="2254368" y="1315058"/>
                  </a:cubicBezTo>
                  <a:cubicBezTo>
                    <a:pt x="2028914" y="1268083"/>
                    <a:pt x="1915520" y="1271535"/>
                    <a:pt x="1855043" y="1349639"/>
                  </a:cubicBezTo>
                  <a:close/>
                </a:path>
              </a:pathLst>
            </a:custGeom>
            <a:gradFill>
              <a:gsLst>
                <a:gs pos="0">
                  <a:srgbClr val="F2F2F2"/>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grpSp>
          <p:nvGrpSpPr>
            <p:cNvPr id="7069" name="Google Shape;7069;p86"/>
            <p:cNvGrpSpPr/>
            <p:nvPr/>
          </p:nvGrpSpPr>
          <p:grpSpPr>
            <a:xfrm>
              <a:off x="5176788" y="1691016"/>
              <a:ext cx="2334629" cy="2102478"/>
              <a:chOff x="5176788" y="1691016"/>
              <a:chExt cx="2334629" cy="2102478"/>
            </a:xfrm>
          </p:grpSpPr>
          <p:grpSp>
            <p:nvGrpSpPr>
              <p:cNvPr id="7070" name="Google Shape;7070;p86"/>
              <p:cNvGrpSpPr/>
              <p:nvPr/>
            </p:nvGrpSpPr>
            <p:grpSpPr>
              <a:xfrm>
                <a:off x="5176788" y="1691016"/>
                <a:ext cx="2334629" cy="2102478"/>
                <a:chOff x="1858002" y="3709936"/>
                <a:chExt cx="1045872" cy="1739638"/>
              </a:xfrm>
            </p:grpSpPr>
            <p:sp>
              <p:nvSpPr>
                <p:cNvPr id="7071" name="Google Shape;7071;p86"/>
                <p:cNvSpPr/>
                <p:nvPr/>
              </p:nvSpPr>
              <p:spPr>
                <a:xfrm rot="10800000">
                  <a:off x="1867527" y="3957547"/>
                  <a:ext cx="1033544" cy="61109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grpSp>
              <p:nvGrpSpPr>
                <p:cNvPr id="7072" name="Google Shape;7072;p86"/>
                <p:cNvGrpSpPr/>
                <p:nvPr/>
              </p:nvGrpSpPr>
              <p:grpSpPr>
                <a:xfrm>
                  <a:off x="1859590" y="5089265"/>
                  <a:ext cx="1035050" cy="360309"/>
                  <a:chOff x="4129067" y="3606966"/>
                  <a:chExt cx="567968" cy="338045"/>
                </a:xfrm>
              </p:grpSpPr>
              <p:sp>
                <p:nvSpPr>
                  <p:cNvPr id="7073" name="Google Shape;7073;p86"/>
                  <p:cNvSpPr/>
                  <p:nvPr/>
                </p:nvSpPr>
                <p:spPr>
                  <a:xfrm>
                    <a:off x="4129067" y="3720144"/>
                    <a:ext cx="567968" cy="22486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sp>
                <p:nvSpPr>
                  <p:cNvPr id="7074" name="Google Shape;7074;p86"/>
                  <p:cNvSpPr/>
                  <p:nvPr/>
                </p:nvSpPr>
                <p:spPr>
                  <a:xfrm>
                    <a:off x="4129067" y="3720144"/>
                    <a:ext cx="567968" cy="111689"/>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sp>
                <p:nvSpPr>
                  <p:cNvPr id="7075" name="Google Shape;7075;p86"/>
                  <p:cNvSpPr/>
                  <p:nvPr/>
                </p:nvSpPr>
                <p:spPr>
                  <a:xfrm>
                    <a:off x="4129067" y="3606966"/>
                    <a:ext cx="567968" cy="224867"/>
                  </a:xfrm>
                  <a:prstGeom prst="ellipse">
                    <a:avLst/>
                  </a:prstGeom>
                  <a:solidFill>
                    <a:srgbClr val="8383E0">
                      <a:alpha val="7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cxnSp>
                <p:nvCxnSpPr>
                  <p:cNvPr id="7076" name="Google Shape;7076;p86"/>
                  <p:cNvCxnSpPr/>
                  <p:nvPr/>
                </p:nvCxnSpPr>
                <p:spPr>
                  <a:xfrm>
                    <a:off x="4697035" y="3720144"/>
                    <a:ext cx="0" cy="111689"/>
                  </a:xfrm>
                  <a:prstGeom prst="straightConnector1">
                    <a:avLst/>
                  </a:prstGeom>
                  <a:noFill/>
                  <a:ln cap="flat" cmpd="sng" w="9525">
                    <a:solidFill>
                      <a:srgbClr val="000000"/>
                    </a:solidFill>
                    <a:prstDash val="solid"/>
                    <a:round/>
                    <a:headEnd len="sm" w="sm" type="none"/>
                    <a:tailEnd len="sm" w="sm" type="none"/>
                  </a:ln>
                </p:spPr>
              </p:cxnSp>
              <p:cxnSp>
                <p:nvCxnSpPr>
                  <p:cNvPr id="7077" name="Google Shape;7077;p86"/>
                  <p:cNvCxnSpPr/>
                  <p:nvPr/>
                </p:nvCxnSpPr>
                <p:spPr>
                  <a:xfrm>
                    <a:off x="4129067" y="3720144"/>
                    <a:ext cx="0" cy="111689"/>
                  </a:xfrm>
                  <a:prstGeom prst="straightConnector1">
                    <a:avLst/>
                  </a:prstGeom>
                  <a:noFill/>
                  <a:ln cap="flat" cmpd="sng" w="9525">
                    <a:solidFill>
                      <a:srgbClr val="000000"/>
                    </a:solidFill>
                    <a:prstDash val="solid"/>
                    <a:round/>
                    <a:headEnd len="sm" w="sm" type="none"/>
                    <a:tailEnd len="sm" w="sm" type="none"/>
                  </a:ln>
                </p:spPr>
              </p:cxnSp>
            </p:grpSp>
            <p:sp>
              <p:nvSpPr>
                <p:cNvPr id="7078" name="Google Shape;7078;p86"/>
                <p:cNvSpPr/>
                <p:nvPr/>
              </p:nvSpPr>
              <p:spPr>
                <a:xfrm>
                  <a:off x="1859676" y="4691826"/>
                  <a:ext cx="1037420" cy="522210"/>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cxnSp>
              <p:nvCxnSpPr>
                <p:cNvPr id="7079" name="Google Shape;7079;p86"/>
                <p:cNvCxnSpPr>
                  <a:stCxn id="7080" idx="1"/>
                </p:cNvCxnSpPr>
                <p:nvPr/>
              </p:nvCxnSpPr>
              <p:spPr>
                <a:xfrm flipH="1">
                  <a:off x="1861285" y="3924839"/>
                  <a:ext cx="900" cy="1295100"/>
                </a:xfrm>
                <a:prstGeom prst="straightConnector1">
                  <a:avLst/>
                </a:prstGeom>
                <a:noFill/>
                <a:ln cap="flat" cmpd="sng" w="9525">
                  <a:solidFill>
                    <a:srgbClr val="000000"/>
                  </a:solidFill>
                  <a:prstDash val="dash"/>
                  <a:round/>
                  <a:headEnd len="sm" w="sm" type="none"/>
                  <a:tailEnd len="sm" w="sm" type="none"/>
                </a:ln>
              </p:spPr>
            </p:cxnSp>
            <p:cxnSp>
              <p:nvCxnSpPr>
                <p:cNvPr id="7081" name="Google Shape;7081;p86"/>
                <p:cNvCxnSpPr/>
                <p:nvPr/>
              </p:nvCxnSpPr>
              <p:spPr>
                <a:xfrm flipH="1">
                  <a:off x="2894641" y="3971833"/>
                  <a:ext cx="6350" cy="1269810"/>
                </a:xfrm>
                <a:prstGeom prst="straightConnector1">
                  <a:avLst/>
                </a:prstGeom>
                <a:noFill/>
                <a:ln cap="flat" cmpd="sng" w="9525">
                  <a:solidFill>
                    <a:srgbClr val="000000"/>
                  </a:solidFill>
                  <a:prstDash val="dash"/>
                  <a:round/>
                  <a:headEnd len="sm" w="sm" type="none"/>
                  <a:tailEnd len="sm" w="sm" type="none"/>
                </a:ln>
              </p:spPr>
            </p:cxnSp>
            <p:grpSp>
              <p:nvGrpSpPr>
                <p:cNvPr id="7082" name="Google Shape;7082;p86"/>
                <p:cNvGrpSpPr/>
                <p:nvPr/>
              </p:nvGrpSpPr>
              <p:grpSpPr>
                <a:xfrm>
                  <a:off x="1858002" y="3709936"/>
                  <a:ext cx="1045872" cy="398402"/>
                  <a:chOff x="2185125" y="1574638"/>
                  <a:chExt cx="1201487" cy="429505"/>
                </a:xfrm>
              </p:grpSpPr>
              <p:sp>
                <p:nvSpPr>
                  <p:cNvPr id="7083" name="Google Shape;7083;p86"/>
                  <p:cNvSpPr/>
                  <p:nvPr/>
                </p:nvSpPr>
                <p:spPr>
                  <a:xfrm flipH="1" rot="10800000">
                    <a:off x="2185125" y="1689286"/>
                    <a:ext cx="1196349" cy="314857"/>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sp>
                <p:nvSpPr>
                  <p:cNvPr id="7080" name="Google Shape;7080;p86"/>
                  <p:cNvSpPr/>
                  <p:nvPr/>
                </p:nvSpPr>
                <p:spPr>
                  <a:xfrm>
                    <a:off x="2189930" y="1749849"/>
                    <a:ext cx="1195120" cy="112938"/>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sp>
                <p:nvSpPr>
                  <p:cNvPr id="7084" name="Google Shape;7084;p86"/>
                  <p:cNvSpPr/>
                  <p:nvPr/>
                </p:nvSpPr>
                <p:spPr>
                  <a:xfrm flipH="1" rot="10800000">
                    <a:off x="2189930" y="1574638"/>
                    <a:ext cx="1196349" cy="3148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sp>
                <p:nvSpPr>
                  <p:cNvPr id="7085" name="Google Shape;7085;p86"/>
                  <p:cNvSpPr/>
                  <p:nvPr/>
                </p:nvSpPr>
                <p:spPr>
                  <a:xfrm>
                    <a:off x="2489684" y="1670464"/>
                    <a:ext cx="581761" cy="15742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Gill Sans"/>
                      <a:ea typeface="Gill Sans"/>
                      <a:cs typeface="Gill Sans"/>
                      <a:sym typeface="Gill Sans"/>
                    </a:endParaRPr>
                  </a:p>
                </p:txBody>
              </p:sp>
              <p:sp>
                <p:nvSpPr>
                  <p:cNvPr id="7086" name="Google Shape;7086;p86"/>
                  <p:cNvSpPr/>
                  <p:nvPr/>
                </p:nvSpPr>
                <p:spPr>
                  <a:xfrm>
                    <a:off x="2429501" y="1629396"/>
                    <a:ext cx="703949" cy="11122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87" name="Google Shape;7087;p86"/>
                  <p:cNvSpPr/>
                  <p:nvPr/>
                </p:nvSpPr>
                <p:spPr>
                  <a:xfrm>
                    <a:off x="2892722" y="1723510"/>
                    <a:ext cx="257143" cy="95826"/>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88" name="Google Shape;7088;p86"/>
                  <p:cNvSpPr/>
                  <p:nvPr/>
                </p:nvSpPr>
                <p:spPr>
                  <a:xfrm>
                    <a:off x="2416736" y="1725222"/>
                    <a:ext cx="255318" cy="94114"/>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089" name="Google Shape;7089;p86"/>
                  <p:cNvCxnSpPr>
                    <a:endCxn id="7084" idx="2"/>
                  </p:cNvCxnSpPr>
                  <p:nvPr/>
                </p:nvCxnSpPr>
                <p:spPr>
                  <a:xfrm rot="10800000">
                    <a:off x="2189930" y="1732067"/>
                    <a:ext cx="1800" cy="1215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8039"/>
                      </a:srgbClr>
                    </a:outerShdw>
                  </a:effectLst>
                </p:spPr>
              </p:cxnSp>
              <p:cxnSp>
                <p:nvCxnSpPr>
                  <p:cNvPr id="7090" name="Google Shape;7090;p86"/>
                  <p:cNvCxnSpPr/>
                  <p:nvPr/>
                </p:nvCxnSpPr>
                <p:spPr>
                  <a:xfrm rot="10800000">
                    <a:off x="3384788" y="1728644"/>
                    <a:ext cx="1824" cy="12149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8039"/>
                      </a:srgbClr>
                    </a:outerShdw>
                  </a:effectLst>
                </p:spPr>
              </p:cxnSp>
            </p:grpSp>
          </p:grpSp>
          <p:grpSp>
            <p:nvGrpSpPr>
              <p:cNvPr id="7091" name="Google Shape;7091;p86"/>
              <p:cNvGrpSpPr/>
              <p:nvPr/>
            </p:nvGrpSpPr>
            <p:grpSpPr>
              <a:xfrm>
                <a:off x="5741299" y="2747246"/>
                <a:ext cx="1221860" cy="1008038"/>
                <a:chOff x="1992768" y="2310128"/>
                <a:chExt cx="1136650" cy="928372"/>
              </a:xfrm>
            </p:grpSpPr>
            <p:sp>
              <p:nvSpPr>
                <p:cNvPr id="7092" name="Google Shape;7092;p86"/>
                <p:cNvSpPr/>
                <p:nvPr/>
              </p:nvSpPr>
              <p:spPr>
                <a:xfrm>
                  <a:off x="1992768" y="2337583"/>
                  <a:ext cx="1136650" cy="900917"/>
                </a:xfrm>
                <a:prstGeom prst="rect">
                  <a:avLst/>
                </a:prstGeom>
                <a:solidFill>
                  <a:schemeClr val="lt1"/>
                </a:solidFill>
                <a:ln cap="flat" cmpd="sng" w="19050">
                  <a:solidFill>
                    <a:srgbClr val="C00000"/>
                  </a:solidFill>
                  <a:prstDash val="solid"/>
                  <a:miter lim="8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7093" name="Google Shape;7093;p86"/>
                <p:cNvCxnSpPr/>
                <p:nvPr/>
              </p:nvCxnSpPr>
              <p:spPr>
                <a:xfrm>
                  <a:off x="1992768" y="2735763"/>
                  <a:ext cx="1136650" cy="0"/>
                </a:xfrm>
                <a:prstGeom prst="straightConnector1">
                  <a:avLst/>
                </a:prstGeom>
                <a:noFill/>
                <a:ln cap="flat" cmpd="sng" w="12700">
                  <a:solidFill>
                    <a:schemeClr val="dk1"/>
                  </a:solidFill>
                  <a:prstDash val="solid"/>
                  <a:miter lim="8000"/>
                  <a:headEnd len="sm" w="sm" type="none"/>
                  <a:tailEnd len="sm" w="sm" type="none"/>
                </a:ln>
              </p:spPr>
            </p:cxnSp>
            <p:cxnSp>
              <p:nvCxnSpPr>
                <p:cNvPr id="7094" name="Google Shape;7094;p86"/>
                <p:cNvCxnSpPr/>
                <p:nvPr/>
              </p:nvCxnSpPr>
              <p:spPr>
                <a:xfrm rot="10800000">
                  <a:off x="2543809" y="2758130"/>
                  <a:ext cx="0" cy="452102"/>
                </a:xfrm>
                <a:prstGeom prst="straightConnector1">
                  <a:avLst/>
                </a:prstGeom>
                <a:noFill/>
                <a:ln cap="flat" cmpd="sng" w="12700">
                  <a:solidFill>
                    <a:schemeClr val="dk1"/>
                  </a:solidFill>
                  <a:prstDash val="solid"/>
                  <a:miter lim="8000"/>
                  <a:headEnd len="sm" w="sm" type="none"/>
                  <a:tailEnd len="sm" w="sm" type="none"/>
                </a:ln>
              </p:spPr>
            </p:cxnSp>
            <p:sp>
              <p:nvSpPr>
                <p:cNvPr id="7095" name="Google Shape;7095;p86"/>
                <p:cNvSpPr txBox="1"/>
                <p:nvPr/>
              </p:nvSpPr>
              <p:spPr>
                <a:xfrm>
                  <a:off x="2011312" y="2310128"/>
                  <a:ext cx="1094850" cy="39153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600">
                      <a:solidFill>
                        <a:srgbClr val="000000"/>
                      </a:solidFill>
                      <a:latin typeface="Calibri"/>
                      <a:ea typeface="Calibri"/>
                      <a:cs typeface="Calibri"/>
                      <a:sym typeface="Calibri"/>
                    </a:rPr>
                    <a:t>forwarding</a:t>
                  </a:r>
                  <a:endParaRPr/>
                </a:p>
                <a:p>
                  <a:pPr indent="0" lvl="0" marL="0" marR="0" rtl="0" algn="ctr">
                    <a:lnSpc>
                      <a:spcPct val="80000"/>
                    </a:lnSpc>
                    <a:spcBef>
                      <a:spcPts val="0"/>
                    </a:spcBef>
                    <a:spcAft>
                      <a:spcPts val="0"/>
                    </a:spcAft>
                    <a:buNone/>
                  </a:pPr>
                  <a:r>
                    <a:rPr lang="en-US" sz="1600">
                      <a:solidFill>
                        <a:srgbClr val="000000"/>
                      </a:solidFill>
                      <a:latin typeface="Calibri"/>
                      <a:ea typeface="Calibri"/>
                      <a:cs typeface="Calibri"/>
                      <a:sym typeface="Calibri"/>
                    </a:rPr>
                    <a:t>table</a:t>
                  </a:r>
                  <a:endParaRPr/>
                </a:p>
              </p:txBody>
            </p:sp>
          </p:grpSp>
        </p:grpSp>
      </p:grpSp>
      <p:sp>
        <p:nvSpPr>
          <p:cNvPr id="7096" name="Google Shape;7096;p86"/>
          <p:cNvSpPr txBox="1"/>
          <p:nvPr/>
        </p:nvSpPr>
        <p:spPr>
          <a:xfrm>
            <a:off x="6300592" y="1641655"/>
            <a:ext cx="5711869" cy="845513"/>
          </a:xfrm>
          <a:prstGeom prst="rect">
            <a:avLst/>
          </a:prstGeom>
          <a:noFill/>
          <a:ln>
            <a:noFill/>
          </a:ln>
        </p:spPr>
        <p:txBody>
          <a:bodyPr anchorCtr="0" anchor="t" bIns="45700" lIns="91425" spcFirstLastPara="1" rIns="91425" wrap="square" tIns="45700">
            <a:noAutofit/>
          </a:bodyPr>
          <a:lstStyle/>
          <a:p>
            <a:pPr indent="0" lvl="0" marL="130175" marR="0" rtl="0" algn="l">
              <a:lnSpc>
                <a:spcPct val="90000"/>
              </a:lnSpc>
              <a:spcBef>
                <a:spcPts val="0"/>
              </a:spcBef>
              <a:spcAft>
                <a:spcPts val="0"/>
              </a:spcAft>
              <a:buClr>
                <a:srgbClr val="0000A3"/>
              </a:buClr>
              <a:buSzPts val="2800"/>
              <a:buFont typeface="Noto Sans Symbols"/>
              <a:buNone/>
            </a:pPr>
            <a:r>
              <a:rPr lang="en-US" sz="2800">
                <a:solidFill>
                  <a:srgbClr val="000000"/>
                </a:solidFill>
                <a:latin typeface="Calibri"/>
                <a:ea typeface="Calibri"/>
                <a:cs typeface="Calibri"/>
                <a:sym typeface="Calibri"/>
              </a:rPr>
              <a:t>forwarding table  configured by intra- and inter-AS routing algorithms</a:t>
            </a:r>
            <a:endParaRPr/>
          </a:p>
        </p:txBody>
      </p:sp>
      <p:grpSp>
        <p:nvGrpSpPr>
          <p:cNvPr id="7097" name="Google Shape;7097;p86"/>
          <p:cNvGrpSpPr/>
          <p:nvPr/>
        </p:nvGrpSpPr>
        <p:grpSpPr>
          <a:xfrm>
            <a:off x="3770936" y="2327478"/>
            <a:ext cx="989852" cy="1051967"/>
            <a:chOff x="-167080" y="2120214"/>
            <a:chExt cx="989852" cy="1051967"/>
          </a:xfrm>
        </p:grpSpPr>
        <p:grpSp>
          <p:nvGrpSpPr>
            <p:cNvPr id="7098" name="Google Shape;7098;p86"/>
            <p:cNvGrpSpPr/>
            <p:nvPr/>
          </p:nvGrpSpPr>
          <p:grpSpPr>
            <a:xfrm>
              <a:off x="-167080" y="2120214"/>
              <a:ext cx="989852" cy="697506"/>
              <a:chOff x="1653" y="2898"/>
              <a:chExt cx="678" cy="473"/>
            </a:xfrm>
          </p:grpSpPr>
          <p:sp>
            <p:nvSpPr>
              <p:cNvPr id="7099" name="Google Shape;7099;p86"/>
              <p:cNvSpPr/>
              <p:nvPr/>
            </p:nvSpPr>
            <p:spPr>
              <a:xfrm>
                <a:off x="1653" y="2898"/>
                <a:ext cx="678" cy="378"/>
              </a:xfrm>
              <a:prstGeom prst="ellipse">
                <a:avLst/>
              </a:prstGeom>
              <a:solidFill>
                <a:schemeClr val="lt1"/>
              </a:solidFill>
              <a:ln cap="flat" cmpd="sng" w="9525">
                <a:solidFill>
                  <a:srgbClr val="3333CC"/>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00" name="Google Shape;7100;p86"/>
              <p:cNvSpPr txBox="1"/>
              <p:nvPr/>
            </p:nvSpPr>
            <p:spPr>
              <a:xfrm>
                <a:off x="1733" y="2933"/>
                <a:ext cx="517" cy="438"/>
              </a:xfrm>
              <a:prstGeom prst="rect">
                <a:avLst/>
              </a:prstGeom>
              <a:noFill/>
              <a:ln>
                <a:noFill/>
              </a:ln>
              <a:effectLst>
                <a:outerShdw blurRad="50800" rotWithShape="0" algn="bl" dir="18900000"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99"/>
                    </a:solidFill>
                    <a:latin typeface="Arial"/>
                    <a:ea typeface="Arial"/>
                    <a:cs typeface="Arial"/>
                    <a:sym typeface="Arial"/>
                  </a:rPr>
                  <a:t>Intra-AS</a:t>
                </a:r>
                <a:endParaRPr/>
              </a:p>
              <a:p>
                <a:pPr indent="0" lvl="0" marL="0" marR="0" rtl="0" algn="l">
                  <a:spcBef>
                    <a:spcPts val="0"/>
                  </a:spcBef>
                  <a:spcAft>
                    <a:spcPts val="0"/>
                  </a:spcAft>
                  <a:buNone/>
                </a:pPr>
                <a:r>
                  <a:rPr lang="en-US" sz="1200">
                    <a:solidFill>
                      <a:srgbClr val="000099"/>
                    </a:solidFill>
                    <a:latin typeface="Arial"/>
                    <a:ea typeface="Arial"/>
                    <a:cs typeface="Arial"/>
                    <a:sym typeface="Arial"/>
                  </a:rPr>
                  <a:t>Routing </a:t>
                </a:r>
                <a:endParaRPr/>
              </a:p>
              <a:p>
                <a:pPr indent="0" lvl="0" marL="0" marR="0" rtl="0" algn="l">
                  <a:spcBef>
                    <a:spcPts val="0"/>
                  </a:spcBef>
                  <a:spcAft>
                    <a:spcPts val="0"/>
                  </a:spcAft>
                  <a:buNone/>
                </a:pPr>
                <a:r>
                  <a:t/>
                </a:r>
                <a:endParaRPr sz="1200">
                  <a:solidFill>
                    <a:srgbClr val="000099"/>
                  </a:solidFill>
                  <a:latin typeface="Arial"/>
                  <a:ea typeface="Arial"/>
                  <a:cs typeface="Arial"/>
                  <a:sym typeface="Arial"/>
                </a:endParaRPr>
              </a:p>
            </p:txBody>
          </p:sp>
        </p:grpSp>
        <p:sp>
          <p:nvSpPr>
            <p:cNvPr id="7101" name="Google Shape;7101;p86"/>
            <p:cNvSpPr/>
            <p:nvPr/>
          </p:nvSpPr>
          <p:spPr>
            <a:xfrm rot="5400000">
              <a:off x="-37103" y="2815767"/>
              <a:ext cx="524728" cy="188100"/>
            </a:xfrm>
            <a:prstGeom prst="bentUpArrow">
              <a:avLst>
                <a:gd fmla="val 16723" name="adj1"/>
                <a:gd fmla="val 25000" name="adj2"/>
                <a:gd fmla="val 25000" name="adj3"/>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7102" name="Google Shape;7102;p86"/>
          <p:cNvGrpSpPr/>
          <p:nvPr/>
        </p:nvGrpSpPr>
        <p:grpSpPr>
          <a:xfrm>
            <a:off x="5032107" y="2338321"/>
            <a:ext cx="989852" cy="1047923"/>
            <a:chOff x="1057515" y="2118865"/>
            <a:chExt cx="989852" cy="1047923"/>
          </a:xfrm>
        </p:grpSpPr>
        <p:grpSp>
          <p:nvGrpSpPr>
            <p:cNvPr id="7103" name="Google Shape;7103;p86"/>
            <p:cNvGrpSpPr/>
            <p:nvPr/>
          </p:nvGrpSpPr>
          <p:grpSpPr>
            <a:xfrm>
              <a:off x="1057515" y="2118865"/>
              <a:ext cx="989852" cy="697506"/>
              <a:chOff x="1653" y="2898"/>
              <a:chExt cx="678" cy="473"/>
            </a:xfrm>
          </p:grpSpPr>
          <p:sp>
            <p:nvSpPr>
              <p:cNvPr id="7104" name="Google Shape;7104;p86"/>
              <p:cNvSpPr/>
              <p:nvPr/>
            </p:nvSpPr>
            <p:spPr>
              <a:xfrm>
                <a:off x="1653" y="2898"/>
                <a:ext cx="678" cy="378"/>
              </a:xfrm>
              <a:prstGeom prst="ellipse">
                <a:avLst/>
              </a:prstGeom>
              <a:solidFill>
                <a:schemeClr val="lt1"/>
              </a:solidFill>
              <a:ln cap="flat" cmpd="sng" w="9525">
                <a:solidFill>
                  <a:srgbClr val="C00000"/>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05" name="Google Shape;7105;p86"/>
              <p:cNvSpPr txBox="1"/>
              <p:nvPr/>
            </p:nvSpPr>
            <p:spPr>
              <a:xfrm>
                <a:off x="1733" y="2933"/>
                <a:ext cx="517" cy="438"/>
              </a:xfrm>
              <a:prstGeom prst="rect">
                <a:avLst/>
              </a:prstGeom>
              <a:noFill/>
              <a:ln>
                <a:noFill/>
              </a:ln>
              <a:effectLst>
                <a:outerShdw blurRad="50800" rotWithShape="0" algn="bl" dir="18900000"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C00000"/>
                    </a:solidFill>
                    <a:latin typeface="Arial"/>
                    <a:ea typeface="Arial"/>
                    <a:cs typeface="Arial"/>
                    <a:sym typeface="Arial"/>
                  </a:rPr>
                  <a:t>Inter-AS</a:t>
                </a:r>
                <a:endParaRPr/>
              </a:p>
              <a:p>
                <a:pPr indent="0" lvl="0" marL="0" marR="0" rtl="0" algn="l">
                  <a:spcBef>
                    <a:spcPts val="0"/>
                  </a:spcBef>
                  <a:spcAft>
                    <a:spcPts val="0"/>
                  </a:spcAft>
                  <a:buNone/>
                </a:pPr>
                <a:r>
                  <a:rPr lang="en-US" sz="1200">
                    <a:solidFill>
                      <a:srgbClr val="C00000"/>
                    </a:solidFill>
                    <a:latin typeface="Arial"/>
                    <a:ea typeface="Arial"/>
                    <a:cs typeface="Arial"/>
                    <a:sym typeface="Arial"/>
                  </a:rPr>
                  <a:t>Routing </a:t>
                </a:r>
                <a:endParaRPr/>
              </a:p>
              <a:p>
                <a:pPr indent="0" lvl="0" marL="0" marR="0" rtl="0" algn="l">
                  <a:spcBef>
                    <a:spcPts val="0"/>
                  </a:spcBef>
                  <a:spcAft>
                    <a:spcPts val="0"/>
                  </a:spcAft>
                  <a:buNone/>
                </a:pPr>
                <a:r>
                  <a:t/>
                </a:r>
                <a:endParaRPr sz="1200">
                  <a:solidFill>
                    <a:srgbClr val="000099"/>
                  </a:solidFill>
                  <a:latin typeface="Arial"/>
                  <a:ea typeface="Arial"/>
                  <a:cs typeface="Arial"/>
                  <a:sym typeface="Arial"/>
                </a:endParaRPr>
              </a:p>
            </p:txBody>
          </p:sp>
        </p:grpSp>
        <p:sp>
          <p:nvSpPr>
            <p:cNvPr id="7106" name="Google Shape;7106;p86"/>
            <p:cNvSpPr/>
            <p:nvPr/>
          </p:nvSpPr>
          <p:spPr>
            <a:xfrm flipH="1" rot="-5400000">
              <a:off x="1454529" y="2810374"/>
              <a:ext cx="524728" cy="188100"/>
            </a:xfrm>
            <a:prstGeom prst="bentUpArrow">
              <a:avLst>
                <a:gd fmla="val 16723" name="adj1"/>
                <a:gd fmla="val 25000" name="adj2"/>
                <a:gd fmla="val 25000" name="adj3"/>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7107" name="Google Shape;7107;p86"/>
          <p:cNvSpPr txBox="1"/>
          <p:nvPr/>
        </p:nvSpPr>
        <p:spPr>
          <a:xfrm>
            <a:off x="6392032" y="2464615"/>
            <a:ext cx="5711869" cy="680921"/>
          </a:xfrm>
          <a:prstGeom prst="rect">
            <a:avLst/>
          </a:prstGeom>
          <a:noFill/>
          <a:ln>
            <a:noFill/>
          </a:ln>
        </p:spPr>
        <p:txBody>
          <a:bodyPr anchorCtr="0" anchor="t" bIns="45700" lIns="91425" spcFirstLastPara="1" rIns="91425" wrap="square" tIns="45700">
            <a:noAutofit/>
          </a:bodyPr>
          <a:lstStyle/>
          <a:p>
            <a:pPr indent="-236538" lvl="1" marL="522288"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intra-AS routing determine entries for destinations within AS</a:t>
            </a:r>
            <a:endParaRPr/>
          </a:p>
        </p:txBody>
      </p:sp>
      <p:sp>
        <p:nvSpPr>
          <p:cNvPr id="7108" name="Google Shape;7108;p86"/>
          <p:cNvSpPr txBox="1"/>
          <p:nvPr/>
        </p:nvSpPr>
        <p:spPr>
          <a:xfrm>
            <a:off x="6385936" y="3165655"/>
            <a:ext cx="5711869" cy="760169"/>
          </a:xfrm>
          <a:prstGeom prst="rect">
            <a:avLst/>
          </a:prstGeom>
          <a:noFill/>
          <a:ln>
            <a:noFill/>
          </a:ln>
        </p:spPr>
        <p:txBody>
          <a:bodyPr anchorCtr="0" anchor="t" bIns="45700" lIns="91425" spcFirstLastPara="1" rIns="91425" wrap="square" tIns="45700">
            <a:noAutofit/>
          </a:bodyPr>
          <a:lstStyle/>
          <a:p>
            <a:pPr indent="-236538" lvl="1" marL="522288"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inter-AS &amp; intra-AS determine entries for external destinations</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7"/>
                                        </p:tgtEl>
                                        <p:attrNameLst>
                                          <p:attrName>style.visibility</p:attrName>
                                        </p:attrNameLst>
                                      </p:cBhvr>
                                      <p:to>
                                        <p:strVal val="visible"/>
                                      </p:to>
                                    </p:set>
                                    <p:animEffect filter="fade" transition="in">
                                      <p:cBhvr>
                                        <p:cTn dur="500"/>
                                        <p:tgtEl>
                                          <p:spTgt spid="7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037"/>
                                        </p:tgtEl>
                                      </p:cBhvr>
                                    </p:animEffect>
                                    <p:set>
                                      <p:cBhvr>
                                        <p:cTn dur="1" fill="hold">
                                          <p:stCondLst>
                                            <p:cond delay="500"/>
                                          </p:stCondLst>
                                        </p:cTn>
                                        <p:tgtEl>
                                          <p:spTgt spid="703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059"/>
                                        </p:tgtEl>
                                        <p:attrNameLst>
                                          <p:attrName>style.visibility</p:attrName>
                                        </p:attrNameLst>
                                      </p:cBhvr>
                                      <p:to>
                                        <p:strVal val="visible"/>
                                      </p:to>
                                    </p:set>
                                    <p:animEffect filter="fade" transition="in">
                                      <p:cBhvr>
                                        <p:cTn dur="500"/>
                                        <p:tgtEl>
                                          <p:spTgt spid="7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059"/>
                                        </p:tgtEl>
                                      </p:cBhvr>
                                    </p:animEffect>
                                    <p:set>
                                      <p:cBhvr>
                                        <p:cTn dur="1" fill="hold">
                                          <p:stCondLst>
                                            <p:cond delay="500"/>
                                          </p:stCondLst>
                                        </p:cTn>
                                        <p:tgtEl>
                                          <p:spTgt spid="705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096"/>
                                        </p:tgtEl>
                                        <p:attrNameLst>
                                          <p:attrName>style.visibility</p:attrName>
                                        </p:attrNameLst>
                                      </p:cBhvr>
                                      <p:to>
                                        <p:strVal val="visible"/>
                                      </p:to>
                                    </p:set>
                                    <p:animEffect filter="fade" transition="in">
                                      <p:cBhvr>
                                        <p:cTn dur="500"/>
                                        <p:tgtEl>
                                          <p:spTgt spid="7096"/>
                                        </p:tgtEl>
                                      </p:cBhvr>
                                    </p:animEffect>
                                  </p:childTnLst>
                                </p:cTn>
                              </p:par>
                              <p:par>
                                <p:cTn fill="hold" nodeType="withEffect" presetClass="entr" presetID="10" presetSubtype="0">
                                  <p:stCondLst>
                                    <p:cond delay="0"/>
                                  </p:stCondLst>
                                  <p:childTnLst>
                                    <p:set>
                                      <p:cBhvr>
                                        <p:cTn dur="1" fill="hold">
                                          <p:stCondLst>
                                            <p:cond delay="0"/>
                                          </p:stCondLst>
                                        </p:cTn>
                                        <p:tgtEl>
                                          <p:spTgt spid="7067"/>
                                        </p:tgtEl>
                                        <p:attrNameLst>
                                          <p:attrName>style.visibility</p:attrName>
                                        </p:attrNameLst>
                                      </p:cBhvr>
                                      <p:to>
                                        <p:strVal val="visible"/>
                                      </p:to>
                                    </p:set>
                                    <p:animEffect filter="fade" transition="in">
                                      <p:cBhvr>
                                        <p:cTn dur="500"/>
                                        <p:tgtEl>
                                          <p:spTgt spid="70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7"/>
                                        </p:tgtEl>
                                        <p:attrNameLst>
                                          <p:attrName>style.visibility</p:attrName>
                                        </p:attrNameLst>
                                      </p:cBhvr>
                                      <p:to>
                                        <p:strVal val="visible"/>
                                      </p:to>
                                    </p:set>
                                    <p:animEffect filter="fade" transition="in">
                                      <p:cBhvr>
                                        <p:cTn dur="500"/>
                                        <p:tgtEl>
                                          <p:spTgt spid="7107"/>
                                        </p:tgtEl>
                                      </p:cBhvr>
                                    </p:animEffect>
                                  </p:childTnLst>
                                </p:cTn>
                              </p:par>
                              <p:par>
                                <p:cTn fill="hold" nodeType="withEffect" presetClass="entr" presetID="10" presetSubtype="0">
                                  <p:stCondLst>
                                    <p:cond delay="0"/>
                                  </p:stCondLst>
                                  <p:childTnLst>
                                    <p:set>
                                      <p:cBhvr>
                                        <p:cTn dur="1" fill="hold">
                                          <p:stCondLst>
                                            <p:cond delay="0"/>
                                          </p:stCondLst>
                                        </p:cTn>
                                        <p:tgtEl>
                                          <p:spTgt spid="7097"/>
                                        </p:tgtEl>
                                        <p:attrNameLst>
                                          <p:attrName>style.visibility</p:attrName>
                                        </p:attrNameLst>
                                      </p:cBhvr>
                                      <p:to>
                                        <p:strVal val="visible"/>
                                      </p:to>
                                    </p:set>
                                    <p:animEffect filter="fade" transition="in">
                                      <p:cBhvr>
                                        <p:cTn dur="500"/>
                                        <p:tgtEl>
                                          <p:spTgt spid="7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8"/>
                                        </p:tgtEl>
                                        <p:attrNameLst>
                                          <p:attrName>style.visibility</p:attrName>
                                        </p:attrNameLst>
                                      </p:cBhvr>
                                      <p:to>
                                        <p:strVal val="visible"/>
                                      </p:to>
                                    </p:set>
                                    <p:animEffect filter="fade" transition="in">
                                      <p:cBhvr>
                                        <p:cTn dur="500"/>
                                        <p:tgtEl>
                                          <p:spTgt spid="7108"/>
                                        </p:tgtEl>
                                      </p:cBhvr>
                                    </p:animEffect>
                                  </p:childTnLst>
                                </p:cTn>
                              </p:par>
                              <p:par>
                                <p:cTn fill="hold" nodeType="withEffect" presetClass="entr" presetID="10" presetSubtype="0">
                                  <p:stCondLst>
                                    <p:cond delay="0"/>
                                  </p:stCondLst>
                                  <p:childTnLst>
                                    <p:set>
                                      <p:cBhvr>
                                        <p:cTn dur="1" fill="hold">
                                          <p:stCondLst>
                                            <p:cond delay="0"/>
                                          </p:stCondLst>
                                        </p:cTn>
                                        <p:tgtEl>
                                          <p:spTgt spid="7102"/>
                                        </p:tgtEl>
                                        <p:attrNameLst>
                                          <p:attrName>style.visibility</p:attrName>
                                        </p:attrNameLst>
                                      </p:cBhvr>
                                      <p:to>
                                        <p:strVal val="visible"/>
                                      </p:to>
                                    </p:set>
                                    <p:animEffect filter="fade" transition="in">
                                      <p:cBhvr>
                                        <p:cTn dur="500"/>
                                        <p:tgtEl>
                                          <p:spTgt spid="7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2" name="Shape 7112"/>
        <p:cNvGrpSpPr/>
        <p:nvPr/>
      </p:nvGrpSpPr>
      <p:grpSpPr>
        <a:xfrm>
          <a:off x="0" y="0"/>
          <a:ext cx="0" cy="0"/>
          <a:chOff x="0" y="0"/>
          <a:chExt cx="0" cy="0"/>
        </a:xfrm>
      </p:grpSpPr>
      <p:sp>
        <p:nvSpPr>
          <p:cNvPr id="7113" name="Google Shape;7113;p87"/>
          <p:cNvSpPr txBox="1"/>
          <p:nvPr>
            <p:ph type="title"/>
          </p:nvPr>
        </p:nvSpPr>
        <p:spPr>
          <a:xfrm>
            <a:off x="838200" y="451821"/>
            <a:ext cx="10873636"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99"/>
              </a:buClr>
              <a:buSzPts val="4000"/>
              <a:buFont typeface="Calibri"/>
              <a:buNone/>
            </a:pPr>
            <a:r>
              <a:rPr b="0" lang="en-US" sz="4000">
                <a:solidFill>
                  <a:srgbClr val="000099"/>
                </a:solidFill>
                <a:latin typeface="Calibri"/>
                <a:ea typeface="Calibri"/>
                <a:cs typeface="Calibri"/>
                <a:sym typeface="Calibri"/>
              </a:rPr>
              <a:t>Inter-AS routing:  a role in intradomain forwarding</a:t>
            </a:r>
            <a:endParaRPr sz="4000">
              <a:latin typeface="Calibri"/>
              <a:ea typeface="Calibri"/>
              <a:cs typeface="Calibri"/>
              <a:sym typeface="Calibri"/>
            </a:endParaRPr>
          </a:p>
        </p:txBody>
      </p:sp>
      <p:sp>
        <p:nvSpPr>
          <p:cNvPr id="7114" name="Google Shape;7114;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7115" name="Google Shape;7115;p87"/>
          <p:cNvSpPr/>
          <p:nvPr/>
        </p:nvSpPr>
        <p:spPr>
          <a:xfrm>
            <a:off x="5446783" y="4100650"/>
            <a:ext cx="2351995" cy="1511508"/>
          </a:xfrm>
          <a:custGeom>
            <a:rect b="b" l="l" r="r" t="t"/>
            <a:pathLst>
              <a:path extrusionOk="0" h="543" w="1162">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16" name="Google Shape;7116;p87"/>
          <p:cNvSpPr/>
          <p:nvPr/>
        </p:nvSpPr>
        <p:spPr>
          <a:xfrm>
            <a:off x="1620228" y="3847012"/>
            <a:ext cx="1832250" cy="1498236"/>
          </a:xfrm>
          <a:custGeom>
            <a:rect b="b" l="l" r="r" t="t"/>
            <a:pathLst>
              <a:path extrusionOk="0" h="451" w="1198">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17" name="Google Shape;7117;p87"/>
          <p:cNvSpPr/>
          <p:nvPr/>
        </p:nvSpPr>
        <p:spPr>
          <a:xfrm>
            <a:off x="2802795" y="4927925"/>
            <a:ext cx="2930139" cy="1167917"/>
          </a:xfrm>
          <a:custGeom>
            <a:rect b="b" l="l" r="r" t="t"/>
            <a:pathLst>
              <a:path extrusionOk="0" h="682" w="1583">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18" name="Google Shape;7118;p87"/>
          <p:cNvSpPr/>
          <p:nvPr/>
        </p:nvSpPr>
        <p:spPr>
          <a:xfrm>
            <a:off x="2001278" y="4926450"/>
            <a:ext cx="456967" cy="11944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19" name="Google Shape;7119;p87"/>
          <p:cNvCxnSpPr/>
          <p:nvPr/>
        </p:nvCxnSpPr>
        <p:spPr>
          <a:xfrm>
            <a:off x="2001278" y="4916128"/>
            <a:ext cx="0" cy="76681"/>
          </a:xfrm>
          <a:prstGeom prst="straightConnector1">
            <a:avLst/>
          </a:prstGeom>
          <a:noFill/>
          <a:ln cap="flat" cmpd="sng" w="12700">
            <a:solidFill>
              <a:srgbClr val="000000"/>
            </a:solidFill>
            <a:prstDash val="solid"/>
            <a:round/>
            <a:headEnd len="med" w="med" type="none"/>
            <a:tailEnd len="med" w="med" type="none"/>
          </a:ln>
        </p:spPr>
      </p:cxnSp>
      <p:cxnSp>
        <p:nvCxnSpPr>
          <p:cNvPr id="7120" name="Google Shape;7120;p87"/>
          <p:cNvCxnSpPr/>
          <p:nvPr/>
        </p:nvCxnSpPr>
        <p:spPr>
          <a:xfrm>
            <a:off x="2458245" y="4916128"/>
            <a:ext cx="0" cy="76681"/>
          </a:xfrm>
          <a:prstGeom prst="straightConnector1">
            <a:avLst/>
          </a:prstGeom>
          <a:noFill/>
          <a:ln cap="flat" cmpd="sng" w="12700">
            <a:solidFill>
              <a:srgbClr val="000000"/>
            </a:solidFill>
            <a:prstDash val="solid"/>
            <a:round/>
            <a:headEnd len="med" w="med" type="none"/>
            <a:tailEnd len="med" w="med" type="none"/>
          </a:ln>
        </p:spPr>
      </p:cxnSp>
      <p:sp>
        <p:nvSpPr>
          <p:cNvPr id="7121" name="Google Shape;7121;p87"/>
          <p:cNvSpPr/>
          <p:nvPr/>
        </p:nvSpPr>
        <p:spPr>
          <a:xfrm>
            <a:off x="2001278" y="4916128"/>
            <a:ext cx="452588" cy="75207"/>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22" name="Google Shape;7122;p87"/>
          <p:cNvSpPr/>
          <p:nvPr/>
        </p:nvSpPr>
        <p:spPr>
          <a:xfrm>
            <a:off x="1996898" y="4829124"/>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23" name="Google Shape;7123;p87"/>
          <p:cNvSpPr/>
          <p:nvPr/>
        </p:nvSpPr>
        <p:spPr>
          <a:xfrm>
            <a:off x="2123914" y="4848294"/>
            <a:ext cx="205854" cy="182856"/>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24" name="Google Shape;7124;p87"/>
          <p:cNvSpPr txBox="1"/>
          <p:nvPr/>
        </p:nvSpPr>
        <p:spPr>
          <a:xfrm>
            <a:off x="1998358" y="4752442"/>
            <a:ext cx="467187" cy="3966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3b</a:t>
            </a:r>
            <a:endParaRPr sz="2400">
              <a:solidFill>
                <a:srgbClr val="000000"/>
              </a:solidFill>
              <a:latin typeface="Arial"/>
              <a:ea typeface="Arial"/>
              <a:cs typeface="Arial"/>
              <a:sym typeface="Arial"/>
            </a:endParaRPr>
          </a:p>
        </p:txBody>
      </p:sp>
      <p:sp>
        <p:nvSpPr>
          <p:cNvPr id="7125" name="Google Shape;7125;p87"/>
          <p:cNvSpPr/>
          <p:nvPr/>
        </p:nvSpPr>
        <p:spPr>
          <a:xfrm>
            <a:off x="3779509" y="5820083"/>
            <a:ext cx="456967" cy="11944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26" name="Google Shape;7126;p87"/>
          <p:cNvCxnSpPr/>
          <p:nvPr/>
        </p:nvCxnSpPr>
        <p:spPr>
          <a:xfrm>
            <a:off x="3779509" y="5809761"/>
            <a:ext cx="0" cy="76681"/>
          </a:xfrm>
          <a:prstGeom prst="straightConnector1">
            <a:avLst/>
          </a:prstGeom>
          <a:noFill/>
          <a:ln cap="flat" cmpd="sng" w="12700">
            <a:solidFill>
              <a:srgbClr val="000000"/>
            </a:solidFill>
            <a:prstDash val="solid"/>
            <a:round/>
            <a:headEnd len="med" w="med" type="none"/>
            <a:tailEnd len="med" w="med" type="none"/>
          </a:ln>
        </p:spPr>
      </p:cxnSp>
      <p:cxnSp>
        <p:nvCxnSpPr>
          <p:cNvPr id="7127" name="Google Shape;7127;p87"/>
          <p:cNvCxnSpPr/>
          <p:nvPr/>
        </p:nvCxnSpPr>
        <p:spPr>
          <a:xfrm>
            <a:off x="4236476" y="5809761"/>
            <a:ext cx="0" cy="76681"/>
          </a:xfrm>
          <a:prstGeom prst="straightConnector1">
            <a:avLst/>
          </a:prstGeom>
          <a:noFill/>
          <a:ln cap="flat" cmpd="sng" w="12700">
            <a:solidFill>
              <a:srgbClr val="000000"/>
            </a:solidFill>
            <a:prstDash val="solid"/>
            <a:round/>
            <a:headEnd len="med" w="med" type="none"/>
            <a:tailEnd len="med" w="med" type="none"/>
          </a:ln>
        </p:spPr>
      </p:cxnSp>
      <p:sp>
        <p:nvSpPr>
          <p:cNvPr id="7128" name="Google Shape;7128;p87"/>
          <p:cNvSpPr/>
          <p:nvPr/>
        </p:nvSpPr>
        <p:spPr>
          <a:xfrm>
            <a:off x="3779509" y="5809761"/>
            <a:ext cx="452588" cy="75207"/>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29" name="Google Shape;7129;p87"/>
          <p:cNvSpPr/>
          <p:nvPr/>
        </p:nvSpPr>
        <p:spPr>
          <a:xfrm>
            <a:off x="3775129" y="5722757"/>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130" name="Google Shape;7130;p87"/>
          <p:cNvGrpSpPr/>
          <p:nvPr/>
        </p:nvGrpSpPr>
        <p:grpSpPr>
          <a:xfrm>
            <a:off x="3778049" y="5637228"/>
            <a:ext cx="468647" cy="396679"/>
            <a:chOff x="2897" y="2425"/>
            <a:chExt cx="323" cy="269"/>
          </a:xfrm>
        </p:grpSpPr>
        <p:sp>
          <p:nvSpPr>
            <p:cNvPr id="7131" name="Google Shape;7131;p87"/>
            <p:cNvSpPr/>
            <p:nvPr/>
          </p:nvSpPr>
          <p:spPr>
            <a:xfrm>
              <a:off x="2982" y="2490"/>
              <a:ext cx="142"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32" name="Google Shape;7132;p87"/>
            <p:cNvSpPr txBox="1"/>
            <p:nvPr/>
          </p:nvSpPr>
          <p:spPr>
            <a:xfrm>
              <a:off x="2897" y="2425"/>
              <a:ext cx="323" cy="2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1d</a:t>
              </a:r>
              <a:endParaRPr/>
            </a:p>
          </p:txBody>
        </p:sp>
      </p:grpSp>
      <p:sp>
        <p:nvSpPr>
          <p:cNvPr id="7133" name="Google Shape;7133;p87"/>
          <p:cNvSpPr/>
          <p:nvPr/>
        </p:nvSpPr>
        <p:spPr>
          <a:xfrm>
            <a:off x="2820315" y="4731797"/>
            <a:ext cx="456967" cy="1223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34" name="Google Shape;7134;p87"/>
          <p:cNvCxnSpPr/>
          <p:nvPr/>
        </p:nvCxnSpPr>
        <p:spPr>
          <a:xfrm>
            <a:off x="2820315" y="4721475"/>
            <a:ext cx="0" cy="73732"/>
          </a:xfrm>
          <a:prstGeom prst="straightConnector1">
            <a:avLst/>
          </a:prstGeom>
          <a:noFill/>
          <a:ln cap="flat" cmpd="sng" w="12700">
            <a:solidFill>
              <a:srgbClr val="000000"/>
            </a:solidFill>
            <a:prstDash val="solid"/>
            <a:round/>
            <a:headEnd len="med" w="med" type="none"/>
            <a:tailEnd len="med" w="med" type="none"/>
          </a:ln>
        </p:spPr>
      </p:cxnSp>
      <p:cxnSp>
        <p:nvCxnSpPr>
          <p:cNvPr id="7135" name="Google Shape;7135;p87"/>
          <p:cNvCxnSpPr/>
          <p:nvPr/>
        </p:nvCxnSpPr>
        <p:spPr>
          <a:xfrm>
            <a:off x="3277282" y="4721475"/>
            <a:ext cx="0" cy="73732"/>
          </a:xfrm>
          <a:prstGeom prst="straightConnector1">
            <a:avLst/>
          </a:prstGeom>
          <a:noFill/>
          <a:ln cap="flat" cmpd="sng" w="12700">
            <a:solidFill>
              <a:srgbClr val="000000"/>
            </a:solidFill>
            <a:prstDash val="solid"/>
            <a:round/>
            <a:headEnd len="med" w="med" type="none"/>
            <a:tailEnd len="med" w="med" type="none"/>
          </a:ln>
        </p:spPr>
      </p:cxnSp>
      <p:sp>
        <p:nvSpPr>
          <p:cNvPr id="7136" name="Google Shape;7136;p87"/>
          <p:cNvSpPr/>
          <p:nvPr/>
        </p:nvSpPr>
        <p:spPr>
          <a:xfrm>
            <a:off x="2820315" y="4721475"/>
            <a:ext cx="452588" cy="6930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37" name="Google Shape;7137;p87"/>
          <p:cNvSpPr/>
          <p:nvPr/>
        </p:nvSpPr>
        <p:spPr>
          <a:xfrm>
            <a:off x="2815935" y="4634471"/>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38" name="Google Shape;7138;p87"/>
          <p:cNvSpPr/>
          <p:nvPr/>
        </p:nvSpPr>
        <p:spPr>
          <a:xfrm>
            <a:off x="2942952" y="4653641"/>
            <a:ext cx="207314" cy="162211"/>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39" name="Google Shape;7139;p87"/>
          <p:cNvSpPr txBox="1"/>
          <p:nvPr/>
        </p:nvSpPr>
        <p:spPr>
          <a:xfrm>
            <a:off x="2818855" y="4556315"/>
            <a:ext cx="467187" cy="3966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3a</a:t>
            </a:r>
            <a:endParaRPr sz="2400">
              <a:solidFill>
                <a:srgbClr val="000000"/>
              </a:solidFill>
              <a:latin typeface="Arial"/>
              <a:ea typeface="Arial"/>
              <a:cs typeface="Arial"/>
              <a:sym typeface="Arial"/>
            </a:endParaRPr>
          </a:p>
        </p:txBody>
      </p:sp>
      <p:sp>
        <p:nvSpPr>
          <p:cNvPr id="7140" name="Google Shape;7140;p87"/>
          <p:cNvSpPr/>
          <p:nvPr/>
        </p:nvSpPr>
        <p:spPr>
          <a:xfrm>
            <a:off x="3726950" y="5236125"/>
            <a:ext cx="456967" cy="11944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41" name="Google Shape;7141;p87"/>
          <p:cNvCxnSpPr/>
          <p:nvPr/>
        </p:nvCxnSpPr>
        <p:spPr>
          <a:xfrm>
            <a:off x="3726950" y="5227277"/>
            <a:ext cx="0" cy="75207"/>
          </a:xfrm>
          <a:prstGeom prst="straightConnector1">
            <a:avLst/>
          </a:prstGeom>
          <a:noFill/>
          <a:ln cap="flat" cmpd="sng" w="12700">
            <a:solidFill>
              <a:srgbClr val="000000"/>
            </a:solidFill>
            <a:prstDash val="solid"/>
            <a:round/>
            <a:headEnd len="med" w="med" type="none"/>
            <a:tailEnd len="med" w="med" type="none"/>
          </a:ln>
        </p:spPr>
      </p:cxnSp>
      <p:cxnSp>
        <p:nvCxnSpPr>
          <p:cNvPr id="7142" name="Google Shape;7142;p87"/>
          <p:cNvCxnSpPr/>
          <p:nvPr/>
        </p:nvCxnSpPr>
        <p:spPr>
          <a:xfrm>
            <a:off x="4183917" y="5227277"/>
            <a:ext cx="0" cy="75207"/>
          </a:xfrm>
          <a:prstGeom prst="straightConnector1">
            <a:avLst/>
          </a:prstGeom>
          <a:noFill/>
          <a:ln cap="flat" cmpd="sng" w="12700">
            <a:solidFill>
              <a:srgbClr val="000000"/>
            </a:solidFill>
            <a:prstDash val="solid"/>
            <a:round/>
            <a:headEnd len="med" w="med" type="none"/>
            <a:tailEnd len="med" w="med" type="none"/>
          </a:ln>
        </p:spPr>
      </p:cxnSp>
      <p:sp>
        <p:nvSpPr>
          <p:cNvPr id="7143" name="Google Shape;7143;p87"/>
          <p:cNvSpPr/>
          <p:nvPr/>
        </p:nvSpPr>
        <p:spPr>
          <a:xfrm>
            <a:off x="3726950" y="5227277"/>
            <a:ext cx="452588" cy="70783"/>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44" name="Google Shape;7144;p87"/>
          <p:cNvSpPr/>
          <p:nvPr/>
        </p:nvSpPr>
        <p:spPr>
          <a:xfrm>
            <a:off x="3722570" y="5138799"/>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145" name="Google Shape;7145;p87"/>
          <p:cNvGrpSpPr/>
          <p:nvPr/>
        </p:nvGrpSpPr>
        <p:grpSpPr>
          <a:xfrm>
            <a:off x="3729870" y="5053269"/>
            <a:ext cx="452588" cy="398153"/>
            <a:chOff x="2899" y="2425"/>
            <a:chExt cx="319" cy="270"/>
          </a:xfrm>
        </p:grpSpPr>
        <p:sp>
          <p:nvSpPr>
            <p:cNvPr id="7146" name="Google Shape;7146;p87"/>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47" name="Google Shape;7147;p87"/>
            <p:cNvSpPr txBox="1"/>
            <p:nvPr/>
          </p:nvSpPr>
          <p:spPr>
            <a:xfrm>
              <a:off x="2899" y="2425"/>
              <a:ext cx="319" cy="27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1c</a:t>
              </a:r>
              <a:endParaRPr/>
            </a:p>
          </p:txBody>
        </p:sp>
      </p:grpSp>
      <p:cxnSp>
        <p:nvCxnSpPr>
          <p:cNvPr id="7148" name="Google Shape;7148;p87"/>
          <p:cNvCxnSpPr/>
          <p:nvPr/>
        </p:nvCxnSpPr>
        <p:spPr>
          <a:xfrm>
            <a:off x="6347578" y="4971418"/>
            <a:ext cx="449668" cy="144515"/>
          </a:xfrm>
          <a:prstGeom prst="straightConnector1">
            <a:avLst/>
          </a:prstGeom>
          <a:noFill/>
          <a:ln cap="flat" cmpd="sng" w="28575">
            <a:solidFill>
              <a:srgbClr val="000000"/>
            </a:solidFill>
            <a:prstDash val="solid"/>
            <a:round/>
            <a:headEnd len="med" w="med" type="none"/>
            <a:tailEnd len="med" w="med" type="none"/>
          </a:ln>
        </p:spPr>
      </p:cxnSp>
      <p:cxnSp>
        <p:nvCxnSpPr>
          <p:cNvPr id="7149" name="Google Shape;7149;p87"/>
          <p:cNvCxnSpPr/>
          <p:nvPr/>
        </p:nvCxnSpPr>
        <p:spPr>
          <a:xfrm>
            <a:off x="6820605" y="4846819"/>
            <a:ext cx="132856" cy="171058"/>
          </a:xfrm>
          <a:prstGeom prst="straightConnector1">
            <a:avLst/>
          </a:prstGeom>
          <a:noFill/>
          <a:ln cap="flat" cmpd="sng" w="28575">
            <a:solidFill>
              <a:srgbClr val="000000"/>
            </a:solidFill>
            <a:prstDash val="solid"/>
            <a:round/>
            <a:headEnd len="med" w="med" type="none"/>
            <a:tailEnd len="med" w="med" type="none"/>
          </a:ln>
        </p:spPr>
      </p:cxnSp>
      <p:cxnSp>
        <p:nvCxnSpPr>
          <p:cNvPr id="7150" name="Google Shape;7150;p87"/>
          <p:cNvCxnSpPr/>
          <p:nvPr/>
        </p:nvCxnSpPr>
        <p:spPr>
          <a:xfrm flipH="1" rot="10800000">
            <a:off x="6248301" y="4781935"/>
            <a:ext cx="166435" cy="112073"/>
          </a:xfrm>
          <a:prstGeom prst="straightConnector1">
            <a:avLst/>
          </a:prstGeom>
          <a:noFill/>
          <a:ln cap="flat" cmpd="sng" w="28575">
            <a:solidFill>
              <a:srgbClr val="000000"/>
            </a:solidFill>
            <a:prstDash val="solid"/>
            <a:round/>
            <a:headEnd len="med" w="med" type="none"/>
            <a:tailEnd len="med" w="med" type="none"/>
          </a:ln>
        </p:spPr>
      </p:cxnSp>
      <p:sp>
        <p:nvSpPr>
          <p:cNvPr id="7151" name="Google Shape;7151;p87"/>
          <p:cNvSpPr/>
          <p:nvPr/>
        </p:nvSpPr>
        <p:spPr>
          <a:xfrm>
            <a:off x="4233556" y="5716858"/>
            <a:ext cx="385429" cy="120921"/>
          </a:xfrm>
          <a:custGeom>
            <a:rect b="b" l="l" r="r" t="t"/>
            <a:pathLst>
              <a:path extrusionOk="0" h="82" w="264">
                <a:moveTo>
                  <a:pt x="0" y="82"/>
                </a:moveTo>
                <a:lnTo>
                  <a:pt x="264" y="0"/>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52" name="Google Shape;7152;p87"/>
          <p:cNvSpPr/>
          <p:nvPr/>
        </p:nvSpPr>
        <p:spPr>
          <a:xfrm>
            <a:off x="3561975" y="5663771"/>
            <a:ext cx="221914" cy="174008"/>
          </a:xfrm>
          <a:custGeom>
            <a:rect b="b" l="l" r="r" t="t"/>
            <a:pathLst>
              <a:path extrusionOk="0" h="118" w="152">
                <a:moveTo>
                  <a:pt x="0" y="0"/>
                </a:moveTo>
                <a:lnTo>
                  <a:pt x="152" y="118"/>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53" name="Google Shape;7153;p87"/>
          <p:cNvSpPr/>
          <p:nvPr/>
        </p:nvSpPr>
        <p:spPr>
          <a:xfrm>
            <a:off x="3743010" y="5560546"/>
            <a:ext cx="823417" cy="120921"/>
          </a:xfrm>
          <a:custGeom>
            <a:rect b="b" l="l" r="r" t="t"/>
            <a:pathLst>
              <a:path extrusionOk="0" h="82" w="564">
                <a:moveTo>
                  <a:pt x="0" y="0"/>
                </a:moveTo>
                <a:lnTo>
                  <a:pt x="564" y="82"/>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54" name="Google Shape;7154;p87"/>
          <p:cNvSpPr/>
          <p:nvPr/>
        </p:nvSpPr>
        <p:spPr>
          <a:xfrm>
            <a:off x="3652492" y="5321654"/>
            <a:ext cx="110957" cy="138616"/>
          </a:xfrm>
          <a:custGeom>
            <a:rect b="b" l="l" r="r" t="t"/>
            <a:pathLst>
              <a:path extrusionOk="0" h="94" w="76">
                <a:moveTo>
                  <a:pt x="0" y="94"/>
                </a:moveTo>
                <a:lnTo>
                  <a:pt x="76" y="0"/>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55" name="Google Shape;7155;p87"/>
          <p:cNvSpPr/>
          <p:nvPr/>
        </p:nvSpPr>
        <p:spPr>
          <a:xfrm>
            <a:off x="2446565" y="4767189"/>
            <a:ext cx="367910" cy="168109"/>
          </a:xfrm>
          <a:custGeom>
            <a:rect b="b" l="l" r="r" t="t"/>
            <a:pathLst>
              <a:path extrusionOk="0" h="114" w="252">
                <a:moveTo>
                  <a:pt x="0" y="114"/>
                </a:moveTo>
                <a:lnTo>
                  <a:pt x="252" y="0"/>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56" name="Google Shape;7156;p87"/>
          <p:cNvSpPr/>
          <p:nvPr/>
        </p:nvSpPr>
        <p:spPr>
          <a:xfrm>
            <a:off x="3083108" y="4855667"/>
            <a:ext cx="648222" cy="380458"/>
          </a:xfrm>
          <a:custGeom>
            <a:rect b="b" l="l" r="r" t="t"/>
            <a:pathLst>
              <a:path extrusionOk="0" h="258" w="444">
                <a:moveTo>
                  <a:pt x="0" y="0"/>
                </a:moveTo>
                <a:lnTo>
                  <a:pt x="444" y="258"/>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57" name="Google Shape;7157;p87"/>
          <p:cNvSpPr/>
          <p:nvPr/>
        </p:nvSpPr>
        <p:spPr>
          <a:xfrm>
            <a:off x="5016095" y="5029675"/>
            <a:ext cx="954814" cy="619350"/>
          </a:xfrm>
          <a:custGeom>
            <a:rect b="b" l="l" r="r" t="t"/>
            <a:pathLst>
              <a:path extrusionOk="0" h="420" w="654">
                <a:moveTo>
                  <a:pt x="0" y="420"/>
                </a:moveTo>
                <a:lnTo>
                  <a:pt x="654" y="0"/>
                </a:lnTo>
              </a:path>
            </a:pathLst>
          </a:cu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58" name="Google Shape;7158;p87"/>
          <p:cNvSpPr/>
          <p:nvPr/>
        </p:nvSpPr>
        <p:spPr>
          <a:xfrm>
            <a:off x="5890611" y="4936773"/>
            <a:ext cx="456967" cy="12092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59" name="Google Shape;7159;p87"/>
          <p:cNvCxnSpPr/>
          <p:nvPr/>
        </p:nvCxnSpPr>
        <p:spPr>
          <a:xfrm>
            <a:off x="5890611" y="4924975"/>
            <a:ext cx="0" cy="73732"/>
          </a:xfrm>
          <a:prstGeom prst="straightConnector1">
            <a:avLst/>
          </a:prstGeom>
          <a:noFill/>
          <a:ln cap="flat" cmpd="sng" w="12700">
            <a:solidFill>
              <a:srgbClr val="000000"/>
            </a:solidFill>
            <a:prstDash val="solid"/>
            <a:round/>
            <a:headEnd len="med" w="med" type="none"/>
            <a:tailEnd len="med" w="med" type="none"/>
          </a:ln>
        </p:spPr>
      </p:cxnSp>
      <p:cxnSp>
        <p:nvCxnSpPr>
          <p:cNvPr id="7160" name="Google Shape;7160;p87"/>
          <p:cNvCxnSpPr/>
          <p:nvPr/>
        </p:nvCxnSpPr>
        <p:spPr>
          <a:xfrm>
            <a:off x="6347578" y="4924975"/>
            <a:ext cx="0" cy="73732"/>
          </a:xfrm>
          <a:prstGeom prst="straightConnector1">
            <a:avLst/>
          </a:prstGeom>
          <a:noFill/>
          <a:ln cap="flat" cmpd="sng" w="12700">
            <a:solidFill>
              <a:srgbClr val="000000"/>
            </a:solidFill>
            <a:prstDash val="solid"/>
            <a:round/>
            <a:headEnd len="med" w="med" type="none"/>
            <a:tailEnd len="med" w="med" type="none"/>
          </a:ln>
        </p:spPr>
      </p:cxnSp>
      <p:sp>
        <p:nvSpPr>
          <p:cNvPr id="7161" name="Google Shape;7161;p87"/>
          <p:cNvSpPr/>
          <p:nvPr/>
        </p:nvSpPr>
        <p:spPr>
          <a:xfrm>
            <a:off x="5890611" y="4924975"/>
            <a:ext cx="452588" cy="737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62" name="Google Shape;7162;p87"/>
          <p:cNvSpPr/>
          <p:nvPr/>
        </p:nvSpPr>
        <p:spPr>
          <a:xfrm>
            <a:off x="5886231" y="4837972"/>
            <a:ext cx="456967" cy="14009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63" name="Google Shape;7163;p87"/>
          <p:cNvSpPr/>
          <p:nvPr/>
        </p:nvSpPr>
        <p:spPr>
          <a:xfrm>
            <a:off x="6013247" y="4857142"/>
            <a:ext cx="205854" cy="179906"/>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64" name="Google Shape;7164;p87"/>
          <p:cNvSpPr txBox="1"/>
          <p:nvPr/>
        </p:nvSpPr>
        <p:spPr>
          <a:xfrm>
            <a:off x="5887691" y="4761290"/>
            <a:ext cx="467187" cy="3966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2a</a:t>
            </a:r>
            <a:endParaRPr sz="2400">
              <a:solidFill>
                <a:srgbClr val="000000"/>
              </a:solidFill>
              <a:latin typeface="Arial"/>
              <a:ea typeface="Arial"/>
              <a:cs typeface="Arial"/>
              <a:sym typeface="Arial"/>
            </a:endParaRPr>
          </a:p>
        </p:txBody>
      </p:sp>
      <p:sp>
        <p:nvSpPr>
          <p:cNvPr id="7165" name="Google Shape;7165;p87"/>
          <p:cNvSpPr txBox="1"/>
          <p:nvPr/>
        </p:nvSpPr>
        <p:spPr>
          <a:xfrm>
            <a:off x="1840470" y="5215261"/>
            <a:ext cx="665742" cy="396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Arial"/>
                <a:ea typeface="Arial"/>
                <a:cs typeface="Arial"/>
                <a:sym typeface="Arial"/>
              </a:rPr>
              <a:t>AS3</a:t>
            </a:r>
            <a:endParaRPr sz="1800">
              <a:solidFill>
                <a:srgbClr val="000000"/>
              </a:solidFill>
              <a:latin typeface="Arial"/>
              <a:ea typeface="Arial"/>
              <a:cs typeface="Arial"/>
              <a:sym typeface="Arial"/>
            </a:endParaRPr>
          </a:p>
        </p:txBody>
      </p:sp>
      <p:sp>
        <p:nvSpPr>
          <p:cNvPr id="7166" name="Google Shape;7166;p87"/>
          <p:cNvSpPr txBox="1"/>
          <p:nvPr/>
        </p:nvSpPr>
        <p:spPr>
          <a:xfrm>
            <a:off x="5345452" y="5839068"/>
            <a:ext cx="665742" cy="396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Arial"/>
                <a:ea typeface="Arial"/>
                <a:cs typeface="Arial"/>
                <a:sym typeface="Arial"/>
              </a:rPr>
              <a:t>AS1</a:t>
            </a:r>
            <a:endParaRPr sz="1800">
              <a:solidFill>
                <a:srgbClr val="000000"/>
              </a:solidFill>
              <a:latin typeface="Arial"/>
              <a:ea typeface="Arial"/>
              <a:cs typeface="Arial"/>
              <a:sym typeface="Arial"/>
            </a:endParaRPr>
          </a:p>
        </p:txBody>
      </p:sp>
      <p:sp>
        <p:nvSpPr>
          <p:cNvPr id="7167" name="Google Shape;7167;p87"/>
          <p:cNvSpPr txBox="1"/>
          <p:nvPr/>
        </p:nvSpPr>
        <p:spPr>
          <a:xfrm>
            <a:off x="7116511" y="5463035"/>
            <a:ext cx="616103" cy="3686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AS2</a:t>
            </a:r>
            <a:endParaRPr/>
          </a:p>
        </p:txBody>
      </p:sp>
      <p:sp>
        <p:nvSpPr>
          <p:cNvPr id="7168" name="Google Shape;7168;p87"/>
          <p:cNvSpPr/>
          <p:nvPr/>
        </p:nvSpPr>
        <p:spPr>
          <a:xfrm>
            <a:off x="3280202" y="5545800"/>
            <a:ext cx="456967" cy="11944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69" name="Google Shape;7169;p87"/>
          <p:cNvCxnSpPr/>
          <p:nvPr/>
        </p:nvCxnSpPr>
        <p:spPr>
          <a:xfrm>
            <a:off x="3280202" y="5535477"/>
            <a:ext cx="0" cy="73732"/>
          </a:xfrm>
          <a:prstGeom prst="straightConnector1">
            <a:avLst/>
          </a:prstGeom>
          <a:noFill/>
          <a:ln cap="flat" cmpd="sng" w="12700">
            <a:solidFill>
              <a:srgbClr val="000000"/>
            </a:solidFill>
            <a:prstDash val="solid"/>
            <a:round/>
            <a:headEnd len="med" w="med" type="none"/>
            <a:tailEnd len="med" w="med" type="none"/>
          </a:ln>
        </p:spPr>
      </p:cxnSp>
      <p:cxnSp>
        <p:nvCxnSpPr>
          <p:cNvPr id="7170" name="Google Shape;7170;p87"/>
          <p:cNvCxnSpPr/>
          <p:nvPr/>
        </p:nvCxnSpPr>
        <p:spPr>
          <a:xfrm>
            <a:off x="3738630" y="5535477"/>
            <a:ext cx="0" cy="73732"/>
          </a:xfrm>
          <a:prstGeom prst="straightConnector1">
            <a:avLst/>
          </a:prstGeom>
          <a:noFill/>
          <a:ln cap="flat" cmpd="sng" w="12700">
            <a:solidFill>
              <a:srgbClr val="000000"/>
            </a:solidFill>
            <a:prstDash val="solid"/>
            <a:round/>
            <a:headEnd len="med" w="med" type="none"/>
            <a:tailEnd len="med" w="med" type="none"/>
          </a:ln>
        </p:spPr>
      </p:cxnSp>
      <p:sp>
        <p:nvSpPr>
          <p:cNvPr id="7171" name="Google Shape;7171;p87"/>
          <p:cNvSpPr/>
          <p:nvPr/>
        </p:nvSpPr>
        <p:spPr>
          <a:xfrm>
            <a:off x="3280202" y="5535477"/>
            <a:ext cx="452588" cy="6930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72" name="Google Shape;7172;p87"/>
          <p:cNvSpPr/>
          <p:nvPr/>
        </p:nvSpPr>
        <p:spPr>
          <a:xfrm>
            <a:off x="3275822" y="5455847"/>
            <a:ext cx="456967" cy="141566"/>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73" name="Google Shape;7173;p87"/>
          <p:cNvSpPr/>
          <p:nvPr/>
        </p:nvSpPr>
        <p:spPr>
          <a:xfrm>
            <a:off x="3399919" y="5494187"/>
            <a:ext cx="207314" cy="141566"/>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74" name="Google Shape;7174;p87"/>
          <p:cNvSpPr txBox="1"/>
          <p:nvPr/>
        </p:nvSpPr>
        <p:spPr>
          <a:xfrm>
            <a:off x="3280202" y="5367368"/>
            <a:ext cx="467187" cy="3966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1a</a:t>
            </a:r>
            <a:endParaRPr sz="2400">
              <a:solidFill>
                <a:srgbClr val="000000"/>
              </a:solidFill>
              <a:latin typeface="Arial"/>
              <a:ea typeface="Arial"/>
              <a:cs typeface="Arial"/>
              <a:sym typeface="Arial"/>
            </a:endParaRPr>
          </a:p>
        </p:txBody>
      </p:sp>
      <p:grpSp>
        <p:nvGrpSpPr>
          <p:cNvPr id="7175" name="Google Shape;7175;p87"/>
          <p:cNvGrpSpPr/>
          <p:nvPr/>
        </p:nvGrpSpPr>
        <p:grpSpPr>
          <a:xfrm>
            <a:off x="6394297" y="4593181"/>
            <a:ext cx="461347" cy="396679"/>
            <a:chOff x="4320" y="1936"/>
            <a:chExt cx="316" cy="269"/>
          </a:xfrm>
        </p:grpSpPr>
        <p:sp>
          <p:nvSpPr>
            <p:cNvPr id="7176" name="Google Shape;7176;p87"/>
            <p:cNvSpPr/>
            <p:nvPr/>
          </p:nvSpPr>
          <p:spPr>
            <a:xfrm>
              <a:off x="4323" y="2054"/>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77" name="Google Shape;7177;p87"/>
            <p:cNvCxnSpPr/>
            <p:nvPr/>
          </p:nvCxnSpPr>
          <p:spPr>
            <a:xfrm>
              <a:off x="4323" y="2047"/>
              <a:ext cx="0" cy="52"/>
            </a:xfrm>
            <a:prstGeom prst="straightConnector1">
              <a:avLst/>
            </a:prstGeom>
            <a:noFill/>
            <a:ln cap="flat" cmpd="sng" w="12700">
              <a:solidFill>
                <a:srgbClr val="000000"/>
              </a:solidFill>
              <a:prstDash val="solid"/>
              <a:round/>
              <a:headEnd len="med" w="med" type="none"/>
              <a:tailEnd len="med" w="med" type="none"/>
            </a:ln>
          </p:spPr>
        </p:cxnSp>
        <p:cxnSp>
          <p:nvCxnSpPr>
            <p:cNvPr id="7178" name="Google Shape;7178;p87"/>
            <p:cNvCxnSpPr/>
            <p:nvPr/>
          </p:nvCxnSpPr>
          <p:spPr>
            <a:xfrm>
              <a:off x="4636" y="2047"/>
              <a:ext cx="0" cy="52"/>
            </a:xfrm>
            <a:prstGeom prst="straightConnector1">
              <a:avLst/>
            </a:prstGeom>
            <a:noFill/>
            <a:ln cap="flat" cmpd="sng" w="12700">
              <a:solidFill>
                <a:srgbClr val="000000"/>
              </a:solidFill>
              <a:prstDash val="solid"/>
              <a:round/>
              <a:headEnd len="med" w="med" type="none"/>
              <a:tailEnd len="med" w="med" type="none"/>
            </a:ln>
          </p:spPr>
        </p:cxnSp>
        <p:sp>
          <p:nvSpPr>
            <p:cNvPr id="7179" name="Google Shape;7179;p87"/>
            <p:cNvSpPr/>
            <p:nvPr/>
          </p:nvSpPr>
          <p:spPr>
            <a:xfrm>
              <a:off x="4323" y="2047"/>
              <a:ext cx="310" cy="51"/>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80" name="Google Shape;7180;p87"/>
            <p:cNvSpPr/>
            <p:nvPr/>
          </p:nvSpPr>
          <p:spPr>
            <a:xfrm>
              <a:off x="4320" y="1988"/>
              <a:ext cx="313" cy="97"/>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81" name="Google Shape;7181;p87"/>
            <p:cNvSpPr/>
            <p:nvPr/>
          </p:nvSpPr>
          <p:spPr>
            <a:xfrm>
              <a:off x="4407" y="2001"/>
              <a:ext cx="141" cy="118"/>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82" name="Google Shape;7182;p87"/>
            <p:cNvSpPr txBox="1"/>
            <p:nvPr/>
          </p:nvSpPr>
          <p:spPr>
            <a:xfrm>
              <a:off x="4325" y="1936"/>
              <a:ext cx="310" cy="2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2c</a:t>
              </a:r>
              <a:endParaRPr sz="2400">
                <a:solidFill>
                  <a:srgbClr val="000000"/>
                </a:solidFill>
                <a:latin typeface="Arial"/>
                <a:ea typeface="Arial"/>
                <a:cs typeface="Arial"/>
                <a:sym typeface="Arial"/>
              </a:endParaRPr>
            </a:p>
          </p:txBody>
        </p:sp>
      </p:grpSp>
      <p:grpSp>
        <p:nvGrpSpPr>
          <p:cNvPr id="7183" name="Google Shape;7183;p87"/>
          <p:cNvGrpSpPr/>
          <p:nvPr/>
        </p:nvGrpSpPr>
        <p:grpSpPr>
          <a:xfrm>
            <a:off x="6797246" y="4920552"/>
            <a:ext cx="468647" cy="396679"/>
            <a:chOff x="4596" y="2158"/>
            <a:chExt cx="321" cy="269"/>
          </a:xfrm>
        </p:grpSpPr>
        <p:sp>
          <p:nvSpPr>
            <p:cNvPr id="7184" name="Google Shape;7184;p87"/>
            <p:cNvSpPr/>
            <p:nvPr/>
          </p:nvSpPr>
          <p:spPr>
            <a:xfrm>
              <a:off x="4599" y="2276"/>
              <a:ext cx="311"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85" name="Google Shape;7185;p87"/>
            <p:cNvCxnSpPr/>
            <p:nvPr/>
          </p:nvCxnSpPr>
          <p:spPr>
            <a:xfrm>
              <a:off x="4599" y="2269"/>
              <a:ext cx="0" cy="52"/>
            </a:xfrm>
            <a:prstGeom prst="straightConnector1">
              <a:avLst/>
            </a:prstGeom>
            <a:noFill/>
            <a:ln cap="flat" cmpd="sng" w="12700">
              <a:solidFill>
                <a:srgbClr val="000000"/>
              </a:solidFill>
              <a:prstDash val="solid"/>
              <a:round/>
              <a:headEnd len="med" w="med" type="none"/>
              <a:tailEnd len="med" w="med" type="none"/>
            </a:ln>
          </p:spPr>
        </p:cxnSp>
        <p:cxnSp>
          <p:nvCxnSpPr>
            <p:cNvPr id="7186" name="Google Shape;7186;p87"/>
            <p:cNvCxnSpPr/>
            <p:nvPr/>
          </p:nvCxnSpPr>
          <p:spPr>
            <a:xfrm>
              <a:off x="4910" y="2269"/>
              <a:ext cx="0" cy="52"/>
            </a:xfrm>
            <a:prstGeom prst="straightConnector1">
              <a:avLst/>
            </a:prstGeom>
            <a:noFill/>
            <a:ln cap="flat" cmpd="sng" w="12700">
              <a:solidFill>
                <a:srgbClr val="000000"/>
              </a:solidFill>
              <a:prstDash val="solid"/>
              <a:round/>
              <a:headEnd len="med" w="med" type="none"/>
              <a:tailEnd len="med" w="med" type="none"/>
            </a:ln>
          </p:spPr>
        </p:cxnSp>
        <p:sp>
          <p:nvSpPr>
            <p:cNvPr id="7187" name="Google Shape;7187;p87"/>
            <p:cNvSpPr/>
            <p:nvPr/>
          </p:nvSpPr>
          <p:spPr>
            <a:xfrm>
              <a:off x="4599" y="2269"/>
              <a:ext cx="310" cy="51"/>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88" name="Google Shape;7188;p87"/>
            <p:cNvSpPr/>
            <p:nvPr/>
          </p:nvSpPr>
          <p:spPr>
            <a:xfrm>
              <a:off x="4596" y="2208"/>
              <a:ext cx="313" cy="97"/>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89" name="Google Shape;7189;p87"/>
            <p:cNvSpPr/>
            <p:nvPr/>
          </p:nvSpPr>
          <p:spPr>
            <a:xfrm>
              <a:off x="4683" y="2221"/>
              <a:ext cx="141" cy="11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90" name="Google Shape;7190;p87"/>
            <p:cNvSpPr txBox="1"/>
            <p:nvPr/>
          </p:nvSpPr>
          <p:spPr>
            <a:xfrm>
              <a:off x="4598" y="2158"/>
              <a:ext cx="319" cy="2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2b</a:t>
              </a:r>
              <a:endParaRPr sz="2400">
                <a:solidFill>
                  <a:srgbClr val="000000"/>
                </a:solidFill>
                <a:latin typeface="Arial"/>
                <a:ea typeface="Arial"/>
                <a:cs typeface="Arial"/>
                <a:sym typeface="Arial"/>
              </a:endParaRPr>
            </a:p>
          </p:txBody>
        </p:sp>
      </p:grpSp>
      <p:grpSp>
        <p:nvGrpSpPr>
          <p:cNvPr id="7191" name="Google Shape;7191;p87"/>
          <p:cNvGrpSpPr/>
          <p:nvPr/>
        </p:nvGrpSpPr>
        <p:grpSpPr>
          <a:xfrm>
            <a:off x="4562047" y="5466169"/>
            <a:ext cx="468647" cy="396679"/>
            <a:chOff x="2015" y="1976"/>
            <a:chExt cx="321" cy="269"/>
          </a:xfrm>
        </p:grpSpPr>
        <p:sp>
          <p:nvSpPr>
            <p:cNvPr id="7192" name="Google Shape;7192;p87"/>
            <p:cNvSpPr/>
            <p:nvPr/>
          </p:nvSpPr>
          <p:spPr>
            <a:xfrm>
              <a:off x="2019" y="2102"/>
              <a:ext cx="311"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193" name="Google Shape;7193;p87"/>
            <p:cNvCxnSpPr/>
            <p:nvPr/>
          </p:nvCxnSpPr>
          <p:spPr>
            <a:xfrm>
              <a:off x="2019" y="2097"/>
              <a:ext cx="0" cy="50"/>
            </a:xfrm>
            <a:prstGeom prst="straightConnector1">
              <a:avLst/>
            </a:prstGeom>
            <a:noFill/>
            <a:ln cap="flat" cmpd="sng" w="12700">
              <a:solidFill>
                <a:srgbClr val="000000"/>
              </a:solidFill>
              <a:prstDash val="solid"/>
              <a:round/>
              <a:headEnd len="med" w="med" type="none"/>
              <a:tailEnd len="med" w="med" type="none"/>
            </a:ln>
          </p:spPr>
        </p:cxnSp>
        <p:cxnSp>
          <p:nvCxnSpPr>
            <p:cNvPr id="7194" name="Google Shape;7194;p87"/>
            <p:cNvCxnSpPr/>
            <p:nvPr/>
          </p:nvCxnSpPr>
          <p:spPr>
            <a:xfrm>
              <a:off x="2330" y="2097"/>
              <a:ext cx="0" cy="50"/>
            </a:xfrm>
            <a:prstGeom prst="straightConnector1">
              <a:avLst/>
            </a:prstGeom>
            <a:noFill/>
            <a:ln cap="flat" cmpd="sng" w="12700">
              <a:solidFill>
                <a:srgbClr val="000000"/>
              </a:solidFill>
              <a:prstDash val="solid"/>
              <a:round/>
              <a:headEnd len="med" w="med" type="none"/>
              <a:tailEnd len="med" w="med" type="none"/>
            </a:ln>
          </p:spPr>
        </p:cxnSp>
        <p:sp>
          <p:nvSpPr>
            <p:cNvPr id="7195" name="Google Shape;7195;p87"/>
            <p:cNvSpPr/>
            <p:nvPr/>
          </p:nvSpPr>
          <p:spPr>
            <a:xfrm>
              <a:off x="2019" y="2097"/>
              <a:ext cx="310" cy="47"/>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196" name="Google Shape;7196;p87"/>
            <p:cNvSpPr/>
            <p:nvPr/>
          </p:nvSpPr>
          <p:spPr>
            <a:xfrm>
              <a:off x="2016" y="2036"/>
              <a:ext cx="313" cy="95"/>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197" name="Google Shape;7197;p87"/>
            <p:cNvGrpSpPr/>
            <p:nvPr/>
          </p:nvGrpSpPr>
          <p:grpSpPr>
            <a:xfrm>
              <a:off x="2015" y="1976"/>
              <a:ext cx="321" cy="269"/>
              <a:chOff x="2894" y="2425"/>
              <a:chExt cx="328" cy="269"/>
            </a:xfrm>
          </p:grpSpPr>
          <p:sp>
            <p:nvSpPr>
              <p:cNvPr id="7198" name="Google Shape;7198;p87"/>
              <p:cNvSpPr/>
              <p:nvPr/>
            </p:nvSpPr>
            <p:spPr>
              <a:xfrm>
                <a:off x="2982" y="2490"/>
                <a:ext cx="144" cy="132"/>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99" name="Google Shape;7199;p87"/>
              <p:cNvSpPr txBox="1"/>
              <p:nvPr/>
            </p:nvSpPr>
            <p:spPr>
              <a:xfrm>
                <a:off x="2894" y="2425"/>
                <a:ext cx="328" cy="2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1b</a:t>
                </a:r>
                <a:endParaRPr sz="2400">
                  <a:solidFill>
                    <a:srgbClr val="000000"/>
                  </a:solidFill>
                  <a:latin typeface="Arial"/>
                  <a:ea typeface="Arial"/>
                  <a:cs typeface="Arial"/>
                  <a:sym typeface="Arial"/>
                </a:endParaRPr>
              </a:p>
            </p:txBody>
          </p:sp>
        </p:grpSp>
      </p:grpSp>
      <p:grpSp>
        <p:nvGrpSpPr>
          <p:cNvPr id="7200" name="Google Shape;7200;p87"/>
          <p:cNvGrpSpPr/>
          <p:nvPr/>
        </p:nvGrpSpPr>
        <p:grpSpPr>
          <a:xfrm>
            <a:off x="2231951" y="4354289"/>
            <a:ext cx="461347" cy="393730"/>
            <a:chOff x="2016" y="1976"/>
            <a:chExt cx="316" cy="267"/>
          </a:xfrm>
        </p:grpSpPr>
        <p:sp>
          <p:nvSpPr>
            <p:cNvPr id="7201" name="Google Shape;7201;p87"/>
            <p:cNvSpPr/>
            <p:nvPr/>
          </p:nvSpPr>
          <p:spPr>
            <a:xfrm>
              <a:off x="2019" y="2102"/>
              <a:ext cx="313" cy="81"/>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202" name="Google Shape;7202;p87"/>
            <p:cNvCxnSpPr/>
            <p:nvPr/>
          </p:nvCxnSpPr>
          <p:spPr>
            <a:xfrm>
              <a:off x="2019" y="2095"/>
              <a:ext cx="0" cy="50"/>
            </a:xfrm>
            <a:prstGeom prst="straightConnector1">
              <a:avLst/>
            </a:prstGeom>
            <a:noFill/>
            <a:ln cap="flat" cmpd="sng" w="12700">
              <a:solidFill>
                <a:srgbClr val="000000"/>
              </a:solidFill>
              <a:prstDash val="solid"/>
              <a:round/>
              <a:headEnd len="med" w="med" type="none"/>
              <a:tailEnd len="med" w="med" type="none"/>
            </a:ln>
          </p:spPr>
        </p:cxnSp>
        <p:cxnSp>
          <p:nvCxnSpPr>
            <p:cNvPr id="7203" name="Google Shape;7203;p87"/>
            <p:cNvCxnSpPr/>
            <p:nvPr/>
          </p:nvCxnSpPr>
          <p:spPr>
            <a:xfrm>
              <a:off x="2332" y="2095"/>
              <a:ext cx="0" cy="50"/>
            </a:xfrm>
            <a:prstGeom prst="straightConnector1">
              <a:avLst/>
            </a:prstGeom>
            <a:noFill/>
            <a:ln cap="flat" cmpd="sng" w="12700">
              <a:solidFill>
                <a:srgbClr val="000000"/>
              </a:solidFill>
              <a:prstDash val="solid"/>
              <a:round/>
              <a:headEnd len="med" w="med" type="none"/>
              <a:tailEnd len="med" w="med" type="none"/>
            </a:ln>
          </p:spPr>
        </p:cxnSp>
        <p:sp>
          <p:nvSpPr>
            <p:cNvPr id="7204" name="Google Shape;7204;p87"/>
            <p:cNvSpPr/>
            <p:nvPr/>
          </p:nvSpPr>
          <p:spPr>
            <a:xfrm>
              <a:off x="2019" y="2095"/>
              <a:ext cx="310" cy="50"/>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sp>
          <p:nvSpPr>
            <p:cNvPr id="7205" name="Google Shape;7205;p87"/>
            <p:cNvSpPr/>
            <p:nvPr/>
          </p:nvSpPr>
          <p:spPr>
            <a:xfrm>
              <a:off x="2016" y="2037"/>
              <a:ext cx="313" cy="94"/>
            </a:xfrm>
            <a:prstGeom prst="ellipse">
              <a:avLst/>
            </a:prstGeom>
            <a:solidFill>
              <a:srgbClr val="CCCC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7206" name="Google Shape;7206;p87"/>
            <p:cNvGrpSpPr/>
            <p:nvPr/>
          </p:nvGrpSpPr>
          <p:grpSpPr>
            <a:xfrm>
              <a:off x="2020" y="1976"/>
              <a:ext cx="308" cy="267"/>
              <a:chOff x="2899" y="2425"/>
              <a:chExt cx="315" cy="267"/>
            </a:xfrm>
          </p:grpSpPr>
          <p:sp>
            <p:nvSpPr>
              <p:cNvPr id="7207" name="Google Shape;7207;p87"/>
              <p:cNvSpPr/>
              <p:nvPr/>
            </p:nvSpPr>
            <p:spPr>
              <a:xfrm>
                <a:off x="2982" y="2490"/>
                <a:ext cx="142" cy="130"/>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208" name="Google Shape;7208;p87"/>
              <p:cNvSpPr txBox="1"/>
              <p:nvPr/>
            </p:nvSpPr>
            <p:spPr>
              <a:xfrm>
                <a:off x="2899" y="2425"/>
                <a:ext cx="315" cy="26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3c</a:t>
                </a:r>
                <a:endParaRPr sz="2400">
                  <a:solidFill>
                    <a:srgbClr val="000000"/>
                  </a:solidFill>
                  <a:latin typeface="Arial"/>
                  <a:ea typeface="Arial"/>
                  <a:cs typeface="Arial"/>
                  <a:sym typeface="Arial"/>
                </a:endParaRPr>
              </a:p>
            </p:txBody>
          </p:sp>
        </p:grpSp>
      </p:grpSp>
      <p:cxnSp>
        <p:nvCxnSpPr>
          <p:cNvPr id="7209" name="Google Shape;7209;p87"/>
          <p:cNvCxnSpPr/>
          <p:nvPr/>
        </p:nvCxnSpPr>
        <p:spPr>
          <a:xfrm flipH="1">
            <a:off x="2266990" y="4669862"/>
            <a:ext cx="90518" cy="159261"/>
          </a:xfrm>
          <a:prstGeom prst="straightConnector1">
            <a:avLst/>
          </a:prstGeom>
          <a:noFill/>
          <a:ln cap="flat" cmpd="sng" w="28575">
            <a:solidFill>
              <a:srgbClr val="000000"/>
            </a:solidFill>
            <a:prstDash val="solid"/>
            <a:round/>
            <a:headEnd len="med" w="med" type="none"/>
            <a:tailEnd len="med" w="med" type="none"/>
          </a:ln>
        </p:spPr>
      </p:cxnSp>
      <p:cxnSp>
        <p:nvCxnSpPr>
          <p:cNvPr id="7210" name="Google Shape;7210;p87"/>
          <p:cNvCxnSpPr/>
          <p:nvPr/>
        </p:nvCxnSpPr>
        <p:spPr>
          <a:xfrm>
            <a:off x="1818783" y="4737696"/>
            <a:ext cx="211694" cy="162211"/>
          </a:xfrm>
          <a:prstGeom prst="straightConnector1">
            <a:avLst/>
          </a:prstGeom>
          <a:noFill/>
          <a:ln cap="flat" cmpd="sng" w="9525">
            <a:solidFill>
              <a:srgbClr val="000000"/>
            </a:solidFill>
            <a:prstDash val="solid"/>
            <a:round/>
            <a:headEnd len="med" w="med" type="none"/>
            <a:tailEnd len="med" w="med" type="none"/>
          </a:ln>
        </p:spPr>
      </p:cxnSp>
      <p:cxnSp>
        <p:nvCxnSpPr>
          <p:cNvPr id="7211" name="Google Shape;7211;p87"/>
          <p:cNvCxnSpPr/>
          <p:nvPr/>
        </p:nvCxnSpPr>
        <p:spPr>
          <a:xfrm flipH="1">
            <a:off x="2547302" y="4214198"/>
            <a:ext cx="198555" cy="224146"/>
          </a:xfrm>
          <a:prstGeom prst="straightConnector1">
            <a:avLst/>
          </a:prstGeom>
          <a:noFill/>
          <a:ln cap="flat" cmpd="sng" w="9525">
            <a:solidFill>
              <a:srgbClr val="000000"/>
            </a:solidFill>
            <a:prstDash val="solid"/>
            <a:round/>
            <a:headEnd len="med" w="med" type="none"/>
            <a:tailEnd len="med" w="med" type="none"/>
          </a:ln>
        </p:spPr>
      </p:cxnSp>
      <p:cxnSp>
        <p:nvCxnSpPr>
          <p:cNvPr id="7212" name="Google Shape;7212;p87"/>
          <p:cNvCxnSpPr/>
          <p:nvPr/>
        </p:nvCxnSpPr>
        <p:spPr>
          <a:xfrm>
            <a:off x="2139974" y="4200926"/>
            <a:ext cx="175195" cy="262486"/>
          </a:xfrm>
          <a:prstGeom prst="straightConnector1">
            <a:avLst/>
          </a:prstGeom>
          <a:noFill/>
          <a:ln cap="flat" cmpd="sng" w="9525">
            <a:solidFill>
              <a:srgbClr val="000000"/>
            </a:solidFill>
            <a:prstDash val="solid"/>
            <a:round/>
            <a:headEnd len="med" w="med" type="none"/>
            <a:tailEnd len="med" w="med" type="none"/>
          </a:ln>
        </p:spPr>
      </p:cxnSp>
      <p:cxnSp>
        <p:nvCxnSpPr>
          <p:cNvPr id="7213" name="Google Shape;7213;p87"/>
          <p:cNvCxnSpPr/>
          <p:nvPr/>
        </p:nvCxnSpPr>
        <p:spPr>
          <a:xfrm flipH="1">
            <a:off x="3103547" y="4338068"/>
            <a:ext cx="102197" cy="303776"/>
          </a:xfrm>
          <a:prstGeom prst="straightConnector1">
            <a:avLst/>
          </a:prstGeom>
          <a:noFill/>
          <a:ln cap="flat" cmpd="sng" w="9525">
            <a:solidFill>
              <a:srgbClr val="000000"/>
            </a:solidFill>
            <a:prstDash val="solid"/>
            <a:round/>
            <a:headEnd len="med" w="med" type="none"/>
            <a:tailEnd len="med" w="med" type="none"/>
          </a:ln>
        </p:spPr>
      </p:cxnSp>
      <p:cxnSp>
        <p:nvCxnSpPr>
          <p:cNvPr id="7214" name="Google Shape;7214;p87"/>
          <p:cNvCxnSpPr/>
          <p:nvPr/>
        </p:nvCxnSpPr>
        <p:spPr>
          <a:xfrm rot="10800000">
            <a:off x="6356338" y="4388206"/>
            <a:ext cx="185415" cy="297878"/>
          </a:xfrm>
          <a:prstGeom prst="straightConnector1">
            <a:avLst/>
          </a:prstGeom>
          <a:noFill/>
          <a:ln cap="flat" cmpd="sng" w="9525">
            <a:solidFill>
              <a:srgbClr val="000000"/>
            </a:solidFill>
            <a:prstDash val="solid"/>
            <a:round/>
            <a:headEnd len="med" w="med" type="none"/>
            <a:tailEnd len="med" w="med" type="none"/>
          </a:ln>
        </p:spPr>
      </p:cxnSp>
      <p:cxnSp>
        <p:nvCxnSpPr>
          <p:cNvPr id="7215" name="Google Shape;7215;p87"/>
          <p:cNvCxnSpPr/>
          <p:nvPr/>
        </p:nvCxnSpPr>
        <p:spPr>
          <a:xfrm rot="10800000">
            <a:off x="5900830" y="4538619"/>
            <a:ext cx="198555" cy="272809"/>
          </a:xfrm>
          <a:prstGeom prst="straightConnector1">
            <a:avLst/>
          </a:prstGeom>
          <a:noFill/>
          <a:ln cap="flat" cmpd="sng" w="9525">
            <a:solidFill>
              <a:srgbClr val="000000"/>
            </a:solidFill>
            <a:prstDash val="solid"/>
            <a:round/>
            <a:headEnd len="med" w="med" type="none"/>
            <a:tailEnd len="med" w="med" type="none"/>
          </a:ln>
        </p:spPr>
      </p:cxnSp>
      <p:cxnSp>
        <p:nvCxnSpPr>
          <p:cNvPr id="7216" name="Google Shape;7216;p87"/>
          <p:cNvCxnSpPr/>
          <p:nvPr/>
        </p:nvCxnSpPr>
        <p:spPr>
          <a:xfrm flipH="1">
            <a:off x="3141506" y="5637228"/>
            <a:ext cx="197095" cy="172533"/>
          </a:xfrm>
          <a:prstGeom prst="straightConnector1">
            <a:avLst/>
          </a:prstGeom>
          <a:noFill/>
          <a:ln cap="flat" cmpd="sng" w="9525">
            <a:solidFill>
              <a:srgbClr val="000000"/>
            </a:solidFill>
            <a:prstDash val="solid"/>
            <a:round/>
            <a:headEnd len="med" w="med" type="none"/>
            <a:tailEnd len="med" w="med" type="none"/>
          </a:ln>
        </p:spPr>
      </p:cxnSp>
      <p:cxnSp>
        <p:nvCxnSpPr>
          <p:cNvPr id="7217" name="Google Shape;7217;p87"/>
          <p:cNvCxnSpPr/>
          <p:nvPr/>
        </p:nvCxnSpPr>
        <p:spPr>
          <a:xfrm rot="10800000">
            <a:off x="3091868" y="5488289"/>
            <a:ext cx="185415" cy="11797"/>
          </a:xfrm>
          <a:prstGeom prst="straightConnector1">
            <a:avLst/>
          </a:prstGeom>
          <a:noFill/>
          <a:ln cap="flat" cmpd="sng" w="9525">
            <a:solidFill>
              <a:srgbClr val="000000"/>
            </a:solidFill>
            <a:prstDash val="solid"/>
            <a:round/>
            <a:headEnd len="med" w="med" type="none"/>
            <a:tailEnd len="med" w="med" type="none"/>
          </a:ln>
        </p:spPr>
      </p:cxnSp>
      <p:cxnSp>
        <p:nvCxnSpPr>
          <p:cNvPr id="7218" name="Google Shape;7218;p87"/>
          <p:cNvCxnSpPr/>
          <p:nvPr/>
        </p:nvCxnSpPr>
        <p:spPr>
          <a:xfrm flipH="1">
            <a:off x="3487517" y="5887917"/>
            <a:ext cx="309511" cy="22120"/>
          </a:xfrm>
          <a:prstGeom prst="straightConnector1">
            <a:avLst/>
          </a:prstGeom>
          <a:noFill/>
          <a:ln cap="flat" cmpd="sng" w="9525">
            <a:solidFill>
              <a:srgbClr val="000000"/>
            </a:solidFill>
            <a:prstDash val="solid"/>
            <a:round/>
            <a:headEnd len="med" w="med" type="none"/>
            <a:tailEnd len="med" w="med" type="none"/>
          </a:ln>
        </p:spPr>
      </p:cxnSp>
      <p:cxnSp>
        <p:nvCxnSpPr>
          <p:cNvPr id="7219" name="Google Shape;7219;p87"/>
          <p:cNvCxnSpPr/>
          <p:nvPr/>
        </p:nvCxnSpPr>
        <p:spPr>
          <a:xfrm flipH="1" rot="10800000">
            <a:off x="4192677" y="5212531"/>
            <a:ext cx="334331" cy="14746"/>
          </a:xfrm>
          <a:prstGeom prst="straightConnector1">
            <a:avLst/>
          </a:prstGeom>
          <a:noFill/>
          <a:ln cap="flat" cmpd="sng" w="9525">
            <a:solidFill>
              <a:srgbClr val="000000"/>
            </a:solidFill>
            <a:prstDash val="solid"/>
            <a:round/>
            <a:headEnd len="med" w="med" type="none"/>
            <a:tailEnd len="med" w="med" type="none"/>
          </a:ln>
        </p:spPr>
      </p:cxnSp>
      <p:cxnSp>
        <p:nvCxnSpPr>
          <p:cNvPr id="7220" name="Google Shape;7220;p87"/>
          <p:cNvCxnSpPr/>
          <p:nvPr/>
        </p:nvCxnSpPr>
        <p:spPr>
          <a:xfrm>
            <a:off x="4859879" y="5762572"/>
            <a:ext cx="173735" cy="162211"/>
          </a:xfrm>
          <a:prstGeom prst="straightConnector1">
            <a:avLst/>
          </a:prstGeom>
          <a:noFill/>
          <a:ln cap="flat" cmpd="sng" w="9525">
            <a:solidFill>
              <a:srgbClr val="000000"/>
            </a:solidFill>
            <a:prstDash val="solid"/>
            <a:round/>
            <a:headEnd len="med" w="med" type="none"/>
            <a:tailEnd len="med" w="med" type="none"/>
          </a:ln>
        </p:spPr>
      </p:cxnSp>
      <p:cxnSp>
        <p:nvCxnSpPr>
          <p:cNvPr id="7221" name="Google Shape;7221;p87"/>
          <p:cNvCxnSpPr/>
          <p:nvPr/>
        </p:nvCxnSpPr>
        <p:spPr>
          <a:xfrm>
            <a:off x="4156178" y="5324603"/>
            <a:ext cx="211694" cy="110598"/>
          </a:xfrm>
          <a:prstGeom prst="straightConnector1">
            <a:avLst/>
          </a:prstGeom>
          <a:noFill/>
          <a:ln cap="flat" cmpd="sng" w="9525">
            <a:solidFill>
              <a:srgbClr val="000000"/>
            </a:solidFill>
            <a:prstDash val="solid"/>
            <a:round/>
            <a:headEnd len="med" w="med" type="none"/>
            <a:tailEnd len="med" w="med" type="none"/>
          </a:ln>
        </p:spPr>
      </p:cxnSp>
      <p:sp>
        <p:nvSpPr>
          <p:cNvPr id="7222" name="Google Shape;7222;p87"/>
          <p:cNvSpPr/>
          <p:nvPr/>
        </p:nvSpPr>
        <p:spPr>
          <a:xfrm flipH="1">
            <a:off x="642829" y="4609186"/>
            <a:ext cx="1171575" cy="1758950"/>
          </a:xfrm>
          <a:custGeom>
            <a:rect b="b" l="l" r="r" t="t"/>
            <a:pathLst>
              <a:path extrusionOk="0" h="1108" w="73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a:gsLst>
              <a:gs pos="0">
                <a:srgbClr val="9CE0FA"/>
              </a:gs>
              <a:gs pos="100000">
                <a:srgbClr val="FFFF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23" name="Google Shape;7223;p87"/>
          <p:cNvSpPr txBox="1"/>
          <p:nvPr/>
        </p:nvSpPr>
        <p:spPr>
          <a:xfrm>
            <a:off x="699979" y="5393411"/>
            <a:ext cx="893763" cy="5175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other</a:t>
            </a:r>
            <a:endParaRPr/>
          </a:p>
          <a:p>
            <a:pPr indent="0" lvl="0" marL="0" marR="0" rtl="0" algn="l">
              <a:spcBef>
                <a:spcPts val="0"/>
              </a:spcBef>
              <a:spcAft>
                <a:spcPts val="0"/>
              </a:spcAft>
              <a:buNone/>
            </a:pPr>
            <a:r>
              <a:rPr lang="en-US" sz="1400">
                <a:solidFill>
                  <a:srgbClr val="000000"/>
                </a:solidFill>
                <a:latin typeface="Arial"/>
                <a:ea typeface="Arial"/>
                <a:cs typeface="Arial"/>
                <a:sym typeface="Arial"/>
              </a:rPr>
              <a:t>networks</a:t>
            </a:r>
            <a:endParaRPr/>
          </a:p>
        </p:txBody>
      </p:sp>
      <p:cxnSp>
        <p:nvCxnSpPr>
          <p:cNvPr id="7224" name="Google Shape;7224;p87"/>
          <p:cNvCxnSpPr/>
          <p:nvPr/>
        </p:nvCxnSpPr>
        <p:spPr>
          <a:xfrm flipH="1">
            <a:off x="1500079" y="4955261"/>
            <a:ext cx="468313" cy="268288"/>
          </a:xfrm>
          <a:prstGeom prst="straightConnector1">
            <a:avLst/>
          </a:prstGeom>
          <a:noFill/>
          <a:ln cap="flat" cmpd="sng" w="12700">
            <a:solidFill>
              <a:schemeClr val="dk1"/>
            </a:solidFill>
            <a:prstDash val="solid"/>
            <a:round/>
            <a:headEnd len="med" w="med" type="none"/>
            <a:tailEnd len="med" w="med" type="none"/>
          </a:ln>
        </p:spPr>
      </p:cxnSp>
      <p:sp>
        <p:nvSpPr>
          <p:cNvPr id="7225" name="Google Shape;7225;p87"/>
          <p:cNvSpPr/>
          <p:nvPr/>
        </p:nvSpPr>
        <p:spPr>
          <a:xfrm>
            <a:off x="8053714" y="3961226"/>
            <a:ext cx="1171575" cy="1758950"/>
          </a:xfrm>
          <a:custGeom>
            <a:rect b="b" l="l" r="r" t="t"/>
            <a:pathLst>
              <a:path extrusionOk="0" h="1108" w="73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a:gsLst>
              <a:gs pos="0">
                <a:srgbClr val="9CE0FA"/>
              </a:gs>
              <a:gs pos="100000">
                <a:srgbClr val="FFFF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7226" name="Google Shape;7226;p87"/>
          <p:cNvCxnSpPr/>
          <p:nvPr/>
        </p:nvCxnSpPr>
        <p:spPr>
          <a:xfrm>
            <a:off x="6848694" y="4790989"/>
            <a:ext cx="1318276" cy="0"/>
          </a:xfrm>
          <a:prstGeom prst="straightConnector1">
            <a:avLst/>
          </a:prstGeom>
          <a:noFill/>
          <a:ln cap="flat" cmpd="sng" w="9525">
            <a:solidFill>
              <a:schemeClr val="dk1"/>
            </a:solidFill>
            <a:prstDash val="solid"/>
            <a:round/>
            <a:headEnd len="med" w="med" type="none"/>
            <a:tailEnd len="med" w="med" type="none"/>
          </a:ln>
        </p:spPr>
      </p:cxnSp>
      <p:cxnSp>
        <p:nvCxnSpPr>
          <p:cNvPr id="7227" name="Google Shape;7227;p87"/>
          <p:cNvCxnSpPr/>
          <p:nvPr/>
        </p:nvCxnSpPr>
        <p:spPr>
          <a:xfrm>
            <a:off x="7290584" y="5105814"/>
            <a:ext cx="1339849" cy="0"/>
          </a:xfrm>
          <a:prstGeom prst="straightConnector1">
            <a:avLst/>
          </a:prstGeom>
          <a:noFill/>
          <a:ln cap="flat" cmpd="sng" w="9525">
            <a:solidFill>
              <a:schemeClr val="dk1"/>
            </a:solidFill>
            <a:prstDash val="solid"/>
            <a:round/>
            <a:headEnd len="med" w="med" type="none"/>
            <a:tailEnd len="med" w="med" type="none"/>
          </a:ln>
        </p:spPr>
      </p:cxnSp>
      <p:sp>
        <p:nvSpPr>
          <p:cNvPr id="7228" name="Google Shape;7228;p87"/>
          <p:cNvSpPr txBox="1"/>
          <p:nvPr/>
        </p:nvSpPr>
        <p:spPr>
          <a:xfrm>
            <a:off x="8433127" y="4558126"/>
            <a:ext cx="893762" cy="5175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other</a:t>
            </a:r>
            <a:endParaRPr/>
          </a:p>
          <a:p>
            <a:pPr indent="0" lvl="0" marL="0" marR="0" rtl="0" algn="l">
              <a:spcBef>
                <a:spcPts val="0"/>
              </a:spcBef>
              <a:spcAft>
                <a:spcPts val="0"/>
              </a:spcAft>
              <a:buNone/>
            </a:pPr>
            <a:r>
              <a:rPr lang="en-US" sz="1400">
                <a:solidFill>
                  <a:srgbClr val="000000"/>
                </a:solidFill>
                <a:latin typeface="Arial"/>
                <a:ea typeface="Arial"/>
                <a:cs typeface="Arial"/>
                <a:sym typeface="Arial"/>
              </a:rPr>
              <a:t>networks</a:t>
            </a:r>
            <a:endParaRPr/>
          </a:p>
        </p:txBody>
      </p:sp>
      <p:sp>
        <p:nvSpPr>
          <p:cNvPr id="7229" name="Google Shape;7229;p87"/>
          <p:cNvSpPr txBox="1"/>
          <p:nvPr/>
        </p:nvSpPr>
        <p:spPr>
          <a:xfrm>
            <a:off x="657073" y="1558642"/>
            <a:ext cx="5004692" cy="721262"/>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2400"/>
              <a:buFont typeface="Noto Sans Symbols"/>
              <a:buChar char="▪"/>
            </a:pPr>
            <a:r>
              <a:rPr lang="en-US" sz="2400">
                <a:solidFill>
                  <a:srgbClr val="000000"/>
                </a:solidFill>
                <a:latin typeface="Calibri"/>
                <a:ea typeface="Calibri"/>
                <a:cs typeface="Calibri"/>
                <a:sym typeface="Calibri"/>
              </a:rPr>
              <a:t>suppose router in AS</a:t>
            </a:r>
            <a:r>
              <a:rPr lang="en-US" sz="2400">
                <a:solidFill>
                  <a:srgbClr val="000000"/>
                </a:solidFill>
                <a:latin typeface="Arial"/>
                <a:ea typeface="Arial"/>
                <a:cs typeface="Arial"/>
                <a:sym typeface="Arial"/>
              </a:rPr>
              <a:t>1</a:t>
            </a:r>
            <a:r>
              <a:rPr lang="en-US" sz="2400">
                <a:solidFill>
                  <a:srgbClr val="000000"/>
                </a:solidFill>
                <a:latin typeface="Calibri"/>
                <a:ea typeface="Calibri"/>
                <a:cs typeface="Calibri"/>
                <a:sym typeface="Calibri"/>
              </a:rPr>
              <a:t> receives datagram destined outside of AS</a:t>
            </a:r>
            <a:r>
              <a:rPr lang="en-US" sz="2400">
                <a:solidFill>
                  <a:srgbClr val="000000"/>
                </a:solidFill>
                <a:latin typeface="Arial"/>
                <a:ea typeface="Arial"/>
                <a:cs typeface="Arial"/>
                <a:sym typeface="Arial"/>
              </a:rPr>
              <a:t>1</a:t>
            </a:r>
            <a:r>
              <a:rPr lang="en-US" sz="2400">
                <a:solidFill>
                  <a:srgbClr val="000000"/>
                </a:solidFill>
                <a:latin typeface="Calibri"/>
                <a:ea typeface="Calibri"/>
                <a:cs typeface="Calibri"/>
                <a:sym typeface="Calibri"/>
              </a:rPr>
              <a: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230" name="Google Shape;7230;p87"/>
          <p:cNvSpPr/>
          <p:nvPr/>
        </p:nvSpPr>
        <p:spPr>
          <a:xfrm>
            <a:off x="6108525" y="1488552"/>
            <a:ext cx="5490576" cy="2000548"/>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CC0000"/>
              </a:buClr>
              <a:buSzPts val="2800"/>
              <a:buFont typeface="Noto Sans Symbols"/>
              <a:buNone/>
            </a:pPr>
            <a:r>
              <a:rPr lang="en-US" sz="2800">
                <a:solidFill>
                  <a:srgbClr val="CC0000"/>
                </a:solidFill>
                <a:latin typeface="Calibri"/>
                <a:ea typeface="Calibri"/>
                <a:cs typeface="Calibri"/>
                <a:sym typeface="Calibri"/>
              </a:rPr>
              <a:t>AS1 inter-domain routing must:</a:t>
            </a:r>
            <a:endParaRPr/>
          </a:p>
          <a:p>
            <a:pPr indent="-333375" lvl="0" marL="457200" marR="0" rtl="0" algn="l">
              <a:spcBef>
                <a:spcPts val="0"/>
              </a:spcBef>
              <a:spcAft>
                <a:spcPts val="0"/>
              </a:spcAft>
              <a:buClr>
                <a:srgbClr val="000000"/>
              </a:buClr>
              <a:buSzPts val="2400"/>
              <a:buFont typeface="Arial"/>
              <a:buAutoNum type="arabicPeriod"/>
            </a:pPr>
            <a:r>
              <a:rPr lang="en-US" sz="2400">
                <a:solidFill>
                  <a:srgbClr val="000000"/>
                </a:solidFill>
                <a:latin typeface="Calibri"/>
                <a:ea typeface="Calibri"/>
                <a:cs typeface="Calibri"/>
                <a:sym typeface="Calibri"/>
              </a:rPr>
              <a:t>learn which destinations reachable through AS2, which through AS3</a:t>
            </a:r>
            <a:endParaRPr/>
          </a:p>
          <a:p>
            <a:pPr indent="-333375" lvl="0" marL="457200" marR="0" rtl="0" algn="l">
              <a:spcBef>
                <a:spcPts val="0"/>
              </a:spcBef>
              <a:spcAft>
                <a:spcPts val="0"/>
              </a:spcAft>
              <a:buClr>
                <a:srgbClr val="000000"/>
              </a:buClr>
              <a:buSzPts val="2400"/>
              <a:buFont typeface="Arial"/>
              <a:buAutoNum type="arabicPeriod"/>
            </a:pPr>
            <a:r>
              <a:rPr lang="en-US" sz="2400">
                <a:solidFill>
                  <a:srgbClr val="000000"/>
                </a:solidFill>
                <a:latin typeface="Calibri"/>
                <a:ea typeface="Calibri"/>
                <a:cs typeface="Calibri"/>
                <a:sym typeface="Calibri"/>
              </a:rPr>
              <a:t>propagate this reachability info to all routers in AS1</a:t>
            </a:r>
            <a:endParaRPr/>
          </a:p>
        </p:txBody>
      </p:sp>
      <p:grpSp>
        <p:nvGrpSpPr>
          <p:cNvPr id="7231" name="Google Shape;7231;p87"/>
          <p:cNvGrpSpPr/>
          <p:nvPr/>
        </p:nvGrpSpPr>
        <p:grpSpPr>
          <a:xfrm>
            <a:off x="2670048" y="5636768"/>
            <a:ext cx="765291" cy="508222"/>
            <a:chOff x="2670048" y="5636768"/>
            <a:chExt cx="765291" cy="508222"/>
          </a:xfrm>
        </p:grpSpPr>
        <p:sp>
          <p:nvSpPr>
            <p:cNvPr id="7232" name="Google Shape;7232;p87"/>
            <p:cNvSpPr/>
            <p:nvPr/>
          </p:nvSpPr>
          <p:spPr>
            <a:xfrm rot="-2425119">
              <a:off x="2896614" y="5786744"/>
              <a:ext cx="537176" cy="202520"/>
            </a:xfrm>
            <a:prstGeom prst="rightArrow">
              <a:avLst>
                <a:gd fmla="val 50000" name="adj1"/>
                <a:gd fmla="val 50000" name="adj2"/>
              </a:avLst>
            </a:prstGeom>
            <a:gradFill>
              <a:gsLst>
                <a:gs pos="0">
                  <a:srgbClr val="F5F7FC"/>
                </a:gs>
                <a:gs pos="35000">
                  <a:srgbClr val="D8E2F3"/>
                </a:gs>
                <a:gs pos="68000">
                  <a:srgbClr val="A9BEE4"/>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7233" name="Google Shape;7233;p87"/>
            <p:cNvGrpSpPr/>
            <p:nvPr/>
          </p:nvGrpSpPr>
          <p:grpSpPr>
            <a:xfrm>
              <a:off x="2670048" y="5701792"/>
              <a:ext cx="245122" cy="443198"/>
              <a:chOff x="375561" y="297711"/>
              <a:chExt cx="1252683" cy="2138362"/>
            </a:xfrm>
          </p:grpSpPr>
          <p:sp>
            <p:nvSpPr>
              <p:cNvPr id="7234" name="Google Shape;7234;p87"/>
              <p:cNvSpPr/>
              <p:nvPr/>
            </p:nvSpPr>
            <p:spPr>
              <a:xfrm>
                <a:off x="375561" y="297711"/>
                <a:ext cx="971072" cy="2138362"/>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235" name="Google Shape;7235;p87"/>
              <p:cNvSpPr/>
              <p:nvPr/>
            </p:nvSpPr>
            <p:spPr>
              <a:xfrm>
                <a:off x="375561" y="309724"/>
                <a:ext cx="1247826" cy="768849"/>
              </a:xfrm>
              <a:custGeom>
                <a:rect b="b" l="l" r="r" t="t"/>
                <a:pathLst>
                  <a:path extrusionOk="0" h="758069" w="1248448">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236" name="Google Shape;7236;p87"/>
              <p:cNvSpPr/>
              <p:nvPr/>
            </p:nvSpPr>
            <p:spPr>
              <a:xfrm>
                <a:off x="1332065" y="1066560"/>
                <a:ext cx="296179" cy="136350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sp>
        <p:nvSpPr>
          <p:cNvPr id="7237" name="Google Shape;7237;p87"/>
          <p:cNvSpPr txBox="1"/>
          <p:nvPr/>
        </p:nvSpPr>
        <p:spPr>
          <a:xfrm>
            <a:off x="602209" y="2259682"/>
            <a:ext cx="5004692" cy="1998750"/>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router should forward packet to gateway router in AS1, but which one?</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7238" name="Google Shape;7238;p87"/>
          <p:cNvGrpSpPr/>
          <p:nvPr/>
        </p:nvGrpSpPr>
        <p:grpSpPr>
          <a:xfrm>
            <a:off x="528828" y="2261616"/>
            <a:ext cx="3400044" cy="3791712"/>
            <a:chOff x="528828" y="2261616"/>
            <a:chExt cx="3400044" cy="3791712"/>
          </a:xfrm>
        </p:grpSpPr>
        <p:pic>
          <p:nvPicPr>
            <p:cNvPr descr="A close up of a sign&#10;&#10;Description automatically generated" id="7239" name="Google Shape;7239;p87"/>
            <p:cNvPicPr preferRelativeResize="0"/>
            <p:nvPr/>
          </p:nvPicPr>
          <p:blipFill rotWithShape="1">
            <a:blip r:embed="rId3">
              <a:alphaModFix/>
            </a:blip>
            <a:srcRect b="0" l="0" r="0" t="0"/>
            <a:stretch/>
          </p:blipFill>
          <p:spPr>
            <a:xfrm>
              <a:off x="3081528" y="5205984"/>
              <a:ext cx="847344" cy="847344"/>
            </a:xfrm>
            <a:prstGeom prst="rect">
              <a:avLst/>
            </a:prstGeom>
            <a:noFill/>
            <a:ln>
              <a:noFill/>
            </a:ln>
          </p:spPr>
        </p:pic>
        <p:pic>
          <p:nvPicPr>
            <p:cNvPr descr="A close up of a sign&#10;&#10;Description automatically generated" id="7240" name="Google Shape;7240;p87"/>
            <p:cNvPicPr preferRelativeResize="0"/>
            <p:nvPr/>
          </p:nvPicPr>
          <p:blipFill rotWithShape="1">
            <a:blip r:embed="rId3">
              <a:alphaModFix/>
            </a:blip>
            <a:srcRect b="0" l="0" r="0" t="0"/>
            <a:stretch/>
          </p:blipFill>
          <p:spPr>
            <a:xfrm>
              <a:off x="528828" y="2261616"/>
              <a:ext cx="847344" cy="847344"/>
            </a:xfrm>
            <a:prstGeom prst="rect">
              <a:avLst/>
            </a:prstGeom>
            <a:noFill/>
            <a:ln>
              <a:noFill/>
            </a:ln>
          </p:spPr>
        </p:pic>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231"/>
                                        </p:tgtEl>
                                        <p:attrNameLst>
                                          <p:attrName>style.visibility</p:attrName>
                                        </p:attrNameLst>
                                      </p:cBhvr>
                                      <p:to>
                                        <p:strVal val="visible"/>
                                      </p:to>
                                    </p:set>
                                    <p:animEffect filter="fade" transition="in">
                                      <p:cBhvr>
                                        <p:cTn dur="500"/>
                                        <p:tgtEl>
                                          <p:spTgt spid="7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7"/>
                                        </p:tgtEl>
                                        <p:attrNameLst>
                                          <p:attrName>style.visibility</p:attrName>
                                        </p:attrNameLst>
                                      </p:cBhvr>
                                      <p:to>
                                        <p:strVal val="visible"/>
                                      </p:to>
                                    </p:set>
                                    <p:animEffect filter="fade" transition="in">
                                      <p:cBhvr>
                                        <p:cTn dur="500"/>
                                        <p:tgtEl>
                                          <p:spTgt spid="7237"/>
                                        </p:tgtEl>
                                      </p:cBhvr>
                                    </p:animEffect>
                                  </p:childTnLst>
                                </p:cTn>
                              </p:par>
                              <p:par>
                                <p:cTn fill="hold" nodeType="withEffect" presetClass="entr" presetID="10" presetSubtype="0">
                                  <p:stCondLst>
                                    <p:cond delay="0"/>
                                  </p:stCondLst>
                                  <p:childTnLst>
                                    <p:set>
                                      <p:cBhvr>
                                        <p:cTn dur="1" fill="hold">
                                          <p:stCondLst>
                                            <p:cond delay="0"/>
                                          </p:stCondLst>
                                        </p:cTn>
                                        <p:tgtEl>
                                          <p:spTgt spid="7238"/>
                                        </p:tgtEl>
                                        <p:attrNameLst>
                                          <p:attrName>style.visibility</p:attrName>
                                        </p:attrNameLst>
                                      </p:cBhvr>
                                      <p:to>
                                        <p:strVal val="visible"/>
                                      </p:to>
                                    </p:set>
                                    <p:animEffect filter="fade" transition="in">
                                      <p:cBhvr>
                                        <p:cTn dur="500"/>
                                        <p:tgtEl>
                                          <p:spTgt spid="7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0"/>
                                        </p:tgtEl>
                                        <p:attrNameLst>
                                          <p:attrName>style.visibility</p:attrName>
                                        </p:attrNameLst>
                                      </p:cBhvr>
                                      <p:to>
                                        <p:strVal val="visible"/>
                                      </p:to>
                                    </p:set>
                                    <p:animEffect filter="fade" transition="in">
                                      <p:cBhvr>
                                        <p:cTn dur="500"/>
                                        <p:tgtEl>
                                          <p:spTgt spid="7230"/>
                                        </p:tgtEl>
                                      </p:cBhvr>
                                    </p:animEffect>
                                  </p:childTnLst>
                                </p:cTn>
                              </p:par>
                              <p:par>
                                <p:cTn fill="hold" nodeType="withEffect" presetClass="exit" presetID="10" presetSubtype="0">
                                  <p:stCondLst>
                                    <p:cond delay="0"/>
                                  </p:stCondLst>
                                  <p:childTnLst>
                                    <p:animEffect filter="fade" transition="out">
                                      <p:cBhvr>
                                        <p:cTn dur="500"/>
                                        <p:tgtEl>
                                          <p:spTgt spid="7238"/>
                                        </p:tgtEl>
                                      </p:cBhvr>
                                    </p:animEffect>
                                    <p:set>
                                      <p:cBhvr>
                                        <p:cTn dur="1" fill="hold">
                                          <p:stCondLst>
                                            <p:cond delay="500"/>
                                          </p:stCondLst>
                                        </p:cTn>
                                        <p:tgtEl>
                                          <p:spTgt spid="723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4" name="Shape 7244"/>
        <p:cNvGrpSpPr/>
        <p:nvPr/>
      </p:nvGrpSpPr>
      <p:grpSpPr>
        <a:xfrm>
          <a:off x="0" y="0"/>
          <a:ext cx="0" cy="0"/>
          <a:chOff x="0" y="0"/>
          <a:chExt cx="0" cy="0"/>
        </a:xfrm>
      </p:grpSpPr>
      <p:sp>
        <p:nvSpPr>
          <p:cNvPr id="7245" name="Google Shape;7245;p88"/>
          <p:cNvSpPr txBox="1"/>
          <p:nvPr>
            <p:ph type="title"/>
          </p:nvPr>
        </p:nvSpPr>
        <p:spPr>
          <a:xfrm>
            <a:off x="838200" y="451821"/>
            <a:ext cx="10873636"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99"/>
              </a:buClr>
              <a:buSzPts val="4000"/>
              <a:buFont typeface="Calibri"/>
              <a:buNone/>
            </a:pPr>
            <a:r>
              <a:rPr b="0" lang="en-US" sz="4000">
                <a:solidFill>
                  <a:srgbClr val="000099"/>
                </a:solidFill>
                <a:latin typeface="Calibri"/>
                <a:ea typeface="Calibri"/>
                <a:cs typeface="Calibri"/>
                <a:sym typeface="Calibri"/>
              </a:rPr>
              <a:t>Inter-AS routing:  routing within an AS</a:t>
            </a:r>
            <a:endParaRPr sz="4000">
              <a:latin typeface="Calibri"/>
              <a:ea typeface="Calibri"/>
              <a:cs typeface="Calibri"/>
              <a:sym typeface="Calibri"/>
            </a:endParaRPr>
          </a:p>
        </p:txBody>
      </p:sp>
      <p:sp>
        <p:nvSpPr>
          <p:cNvPr id="7246" name="Google Shape;7246;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solidFill>
                  <a:srgbClr val="7F7F7F"/>
                </a:solidFill>
              </a:rPr>
              <a:t>Network Layer: 5-</a:t>
            </a:r>
            <a:fld id="{00000000-1234-1234-1234-123412341234}" type="slidenum">
              <a:rPr lang="en-US">
                <a:solidFill>
                  <a:srgbClr val="7F7F7F"/>
                </a:solidFill>
              </a:rPr>
              <a:t>‹#›</a:t>
            </a:fld>
            <a:endParaRPr>
              <a:solidFill>
                <a:srgbClr val="7F7F7F"/>
              </a:solidFill>
            </a:endParaRPr>
          </a:p>
        </p:txBody>
      </p:sp>
      <p:sp>
        <p:nvSpPr>
          <p:cNvPr id="7247" name="Google Shape;7247;p88"/>
          <p:cNvSpPr txBox="1"/>
          <p:nvPr/>
        </p:nvSpPr>
        <p:spPr>
          <a:xfrm>
            <a:off x="857488" y="1558642"/>
            <a:ext cx="10942029" cy="4767002"/>
          </a:xfrm>
          <a:prstGeom prst="rect">
            <a:avLst/>
          </a:prstGeom>
          <a:noFill/>
          <a:ln>
            <a:noFill/>
          </a:ln>
        </p:spPr>
        <p:txBody>
          <a:bodyPr anchorCtr="0" anchor="t" bIns="45700" lIns="91425" spcFirstLastPara="1" rIns="91425" wrap="square" tIns="45700">
            <a:normAutofit/>
          </a:bodyPr>
          <a:lstStyle/>
          <a:p>
            <a:pPr indent="0" lvl="0" marL="11113" marR="0" rtl="0" algn="l">
              <a:lnSpc>
                <a:spcPct val="90000"/>
              </a:lnSpc>
              <a:spcBef>
                <a:spcPts val="0"/>
              </a:spcBef>
              <a:spcAft>
                <a:spcPts val="0"/>
              </a:spcAft>
              <a:buClr>
                <a:srgbClr val="0000A3"/>
              </a:buClr>
              <a:buSzPts val="3200"/>
              <a:buFont typeface="Noto Sans Symbols"/>
              <a:buNone/>
            </a:pPr>
            <a:r>
              <a:rPr lang="en-US" sz="3200">
                <a:solidFill>
                  <a:srgbClr val="000000"/>
                </a:solidFill>
                <a:latin typeface="Calibri"/>
                <a:ea typeface="Calibri"/>
                <a:cs typeface="Calibri"/>
                <a:sym typeface="Calibri"/>
              </a:rPr>
              <a:t>most common intra-AS routing protocols: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rgbClr val="C00000"/>
                </a:solidFill>
                <a:latin typeface="Calibri"/>
                <a:ea typeface="Calibri"/>
                <a:cs typeface="Calibri"/>
                <a:sym typeface="Calibri"/>
              </a:rPr>
              <a:t>RIP: Routing Information Protocol</a:t>
            </a:r>
            <a:r>
              <a:rPr lang="en-US" sz="2800">
                <a:solidFill>
                  <a:srgbClr val="000000"/>
                </a:solidFill>
                <a:latin typeface="Calibri"/>
                <a:ea typeface="Calibri"/>
                <a:cs typeface="Calibri"/>
                <a:sym typeface="Calibri"/>
              </a:rPr>
              <a:t> </a:t>
            </a:r>
            <a:r>
              <a:rPr lang="en-US" sz="2400">
                <a:solidFill>
                  <a:srgbClr val="000000"/>
                </a:solidFill>
                <a:latin typeface="Calibri"/>
                <a:ea typeface="Calibri"/>
                <a:cs typeface="Calibri"/>
                <a:sym typeface="Calibri"/>
              </a:rPr>
              <a:t>[RFC 1723]</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classic DV: DVs exchanged every 30 secs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longer widely used</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rgbClr val="C00000"/>
                </a:solidFill>
                <a:latin typeface="Calibri"/>
                <a:ea typeface="Calibri"/>
                <a:cs typeface="Calibri"/>
                <a:sym typeface="Calibri"/>
              </a:rPr>
              <a:t>EIGRP: Enhanced Interior Gateway Routing Protocol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DV based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formerly Cisco-proprietary for decades (became open in 2013 [RFC 7868])</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rgbClr val="000000"/>
                </a:solidFill>
                <a:latin typeface="Calibri"/>
                <a:ea typeface="Calibri"/>
                <a:cs typeface="Calibri"/>
                <a:sym typeface="Calibri"/>
              </a:rPr>
              <a:t> </a:t>
            </a:r>
            <a:r>
              <a:rPr lang="en-US" sz="2800">
                <a:solidFill>
                  <a:srgbClr val="C00000"/>
                </a:solidFill>
                <a:latin typeface="Calibri"/>
                <a:ea typeface="Calibri"/>
                <a:cs typeface="Calibri"/>
                <a:sym typeface="Calibri"/>
              </a:rPr>
              <a:t>OSPF: Open Shortest Path First  </a:t>
            </a:r>
            <a:r>
              <a:rPr lang="en-US" sz="2000">
                <a:solidFill>
                  <a:srgbClr val="C00000"/>
                </a:solidFill>
                <a:latin typeface="Calibri"/>
                <a:ea typeface="Calibri"/>
                <a:cs typeface="Calibri"/>
                <a:sym typeface="Calibri"/>
              </a:rPr>
              <a:t>[RFC 2328]</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link-state routing</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IS-IS protocol (ISO standard, not RFC standard) essentially same as OSPF</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2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2020-01-18T07:24:59Z</dcterms:created>
  <dc:creator>James Kurose</dc:creator>
</cp:coreProperties>
</file>